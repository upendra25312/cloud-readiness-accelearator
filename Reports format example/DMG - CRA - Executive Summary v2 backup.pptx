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5.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6.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7.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8.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theme/theme9.xml" ContentType="application/vnd.openxmlformats-officedocument.theme+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10.xml" ContentType="application/vnd.openxmlformats-officedocument.theme+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theme/theme11.xml" ContentType="application/vnd.openxmlformats-officedocument.theme+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12.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1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8_9BB6C9CB.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23_60935789.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7" r:id="rId17"/>
    <p:sldId id="300" r:id="rId18"/>
    <p:sldId id="2147483644" r:id="rId19"/>
    <p:sldId id="276" r:id="rId20"/>
    <p:sldId id="307" r:id="rId21"/>
    <p:sldId id="279" r:id="rId22"/>
    <p:sldId id="280" r:id="rId23"/>
    <p:sldId id="304" r:id="rId24"/>
    <p:sldId id="2147478929" r:id="rId25"/>
    <p:sldId id="2147483647" r:id="rId26"/>
    <p:sldId id="278" r:id="rId27"/>
    <p:sldId id="263" r:id="rId28"/>
    <p:sldId id="273" r:id="rId29"/>
    <p:sldId id="274" r:id="rId30"/>
    <p:sldId id="264" r:id="rId31"/>
    <p:sldId id="284" r:id="rId32"/>
    <p:sldId id="262" r:id="rId33"/>
    <p:sldId id="269" r:id="rId34"/>
    <p:sldId id="258" r:id="rId35"/>
    <p:sldId id="289" r:id="rId36"/>
    <p:sldId id="294" r:id="rId37"/>
    <p:sldId id="291" r:id="rId38"/>
    <p:sldId id="301" r:id="rId39"/>
    <p:sldId id="272" r:id="rId40"/>
    <p:sldId id="305" r:id="rId41"/>
    <p:sldId id="260" r:id="rId42"/>
    <p:sldId id="266" r:id="rId43"/>
    <p:sldId id="268" r:id="rId44"/>
    <p:sldId id="259" r:id="rId45"/>
    <p:sldId id="267" r:id="rId46"/>
    <p:sldId id="308" r:id="rId47"/>
    <p:sldId id="256" r:id="rId48"/>
    <p:sldId id="265" r:id="rId49"/>
    <p:sldId id="288" r:id="rId50"/>
    <p:sldId id="281" r:id="rId51"/>
    <p:sldId id="287" r:id="rId52"/>
    <p:sldId id="309" r:id="rId53"/>
    <p:sldId id="270" r:id="rId54"/>
    <p:sldId id="295" r:id="rId55"/>
    <p:sldId id="275" r:id="rId56"/>
    <p:sldId id="261" r:id="rId57"/>
    <p:sldId id="292" r:id="rId58"/>
    <p:sldId id="293" r:id="rId59"/>
    <p:sldId id="271" r:id="rId60"/>
    <p:sldId id="277" r:id="rId61"/>
    <p:sldId id="282" r:id="rId62"/>
    <p:sldId id="296" r:id="rId63"/>
    <p:sldId id="297" r:id="rId64"/>
    <p:sldId id="283" r:id="rId65"/>
    <p:sldId id="310" r:id="rId66"/>
    <p:sldId id="285" r:id="rId67"/>
    <p:sldId id="290" r:id="rId68"/>
    <p:sldId id="298" r:id="rId69"/>
    <p:sldId id="299" r:id="rId70"/>
    <p:sldId id="302" r:id="rId71"/>
    <p:sldId id="306" r:id="rId72"/>
    <p:sldId id="303" r:id="rId73"/>
    <p:sldId id="286" r:id="rId74"/>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slide" Target="slides/slide52.xml"/><Relationship Id="rId84" Type="http://schemas.microsoft.com/office/2018/10/relationships/authors" Target="authors.xml"/><Relationship Id="rId16" Type="http://schemas.openxmlformats.org/officeDocument/2006/relationships/slideMaster" Target="slideMasters/slideMaster13.xml"/><Relationship Id="rId11" Type="http://schemas.openxmlformats.org/officeDocument/2006/relationships/slideMaster" Target="slideMasters/slideMaster8.xml"/><Relationship Id="rId32" Type="http://schemas.openxmlformats.org/officeDocument/2006/relationships/slide" Target="slides/slide16.xml"/><Relationship Id="rId37" Type="http://schemas.openxmlformats.org/officeDocument/2006/relationships/slide" Target="slides/slide21.xml"/><Relationship Id="rId53" Type="http://schemas.openxmlformats.org/officeDocument/2006/relationships/slide" Target="slides/slide37.xml"/><Relationship Id="rId58" Type="http://schemas.openxmlformats.org/officeDocument/2006/relationships/slide" Target="slides/slide42.xml"/><Relationship Id="rId74" Type="http://schemas.openxmlformats.org/officeDocument/2006/relationships/slide" Target="slides/slide58.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45.xml"/><Relationship Id="rId82" Type="http://schemas.microsoft.com/office/2016/11/relationships/changesInfo" Target="changesInfos/changesInfo1.xml"/><Relationship Id="rId19" Type="http://schemas.openxmlformats.org/officeDocument/2006/relationships/slide" Target="slides/slide3.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slide" Target="slides/slide40.xml"/><Relationship Id="rId64" Type="http://schemas.openxmlformats.org/officeDocument/2006/relationships/slide" Target="slides/slide48.xml"/><Relationship Id="rId69" Type="http://schemas.openxmlformats.org/officeDocument/2006/relationships/slide" Target="slides/slide53.xml"/><Relationship Id="rId77"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35.xml"/><Relationship Id="rId72" Type="http://schemas.openxmlformats.org/officeDocument/2006/relationships/slide" Target="slides/slide56.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slide" Target="slides/slide51.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slide" Target="slides/slide54.xml"/><Relationship Id="rId75" Type="http://schemas.openxmlformats.org/officeDocument/2006/relationships/notesMaster" Target="notesMasters/notesMaster1.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7.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slide" Target="slides/slide49.xml"/><Relationship Id="rId73" Type="http://schemas.openxmlformats.org/officeDocument/2006/relationships/slide" Target="slides/slide57.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6" Type="http://schemas.openxmlformats.org/officeDocument/2006/relationships/handoutMaster" Target="handoutMasters/handoutMaster1.xml"/><Relationship Id="rId7" Type="http://schemas.openxmlformats.org/officeDocument/2006/relationships/slideMaster" Target="slideMasters/slideMaster4.xml"/><Relationship Id="rId71" Type="http://schemas.openxmlformats.org/officeDocument/2006/relationships/slide" Target="slides/slide55.xml"/><Relationship Id="rId2" Type="http://schemas.openxmlformats.org/officeDocument/2006/relationships/customXml" Target="../customXml/item2.xml"/><Relationship Id="rId29" Type="http://schemas.openxmlformats.org/officeDocument/2006/relationships/slide" Target="slides/slide13.xml"/><Relationship Id="rId24" Type="http://schemas.openxmlformats.org/officeDocument/2006/relationships/slide" Target="slides/slide8.xml"/><Relationship Id="rId40" Type="http://schemas.openxmlformats.org/officeDocument/2006/relationships/slide" Target="slides/slide24.xml"/><Relationship Id="rId45" Type="http://schemas.openxmlformats.org/officeDocument/2006/relationships/slide" Target="slides/slide29.xml"/><Relationship Id="rId66"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comments/modernComment_118_9BB6C9CB.xml><?xml version="1.0" encoding="utf-8"?>
<p188:cmLst xmlns:a="http://schemas.openxmlformats.org/drawingml/2006/main" xmlns:r="http://schemas.openxmlformats.org/officeDocument/2006/relationships" xmlns:p188="http://schemas.microsoft.com/office/powerpoint/2018/8/main">
  <p188:cm id="{729E3C22-28C4-4AC6-B170-5614233D7024}" authorId="{E8978822-E693-3C50-0FF3-6484C5E26D79}" created="2026-04-27T09:56:31.706">
    <ac:deMkLst xmlns:ac="http://schemas.microsoft.com/office/drawing/2013/main/command">
      <pc:docMk xmlns:pc="http://schemas.microsoft.com/office/powerpoint/2013/main/command"/>
      <pc:sldMk xmlns:pc="http://schemas.microsoft.com/office/powerpoint/2013/main/command" cId="2612447691" sldId="280"/>
      <ac:spMk id="3" creationId="{978A4662-A97E-CABF-4174-13351A59134F}"/>
    </ac:deMkLst>
    <p188:replyLst>
      <p188:reply id="{F9B27846-728D-444F-9D0B-AD0F7CD6B1BC}" authorId="{E8978822-E693-3C50-0FF3-6484C5E26D79}" created="2026-04-27T09:56:48.162">
        <p188:txBody>
          <a:bodyPr/>
          <a:lstStyle/>
          <a:p>
            <a:r>
              <a:rPr lang="en-GB"/>
              <a:t>“people process &amp; technology”</a:t>
            </a:r>
          </a:p>
        </p188:txBody>
      </p188:reply>
    </p188:replyLst>
    <p188:txBody>
      <a:bodyPr/>
      <a:lstStyle/>
      <a:p>
        <a:r>
          <a:rPr lang="en-GB"/>
          <a:t>The transformation work which this will involve needs to be more explicit here. </a:t>
        </a:r>
      </a:p>
    </p188:txBody>
  </p188:cm>
</p188:cmLst>
</file>

<file path=ppt/comments/modernComment_123_60935789.xml><?xml version="1.0" encoding="utf-8"?>
<p188:cmLst xmlns:a="http://schemas.openxmlformats.org/drawingml/2006/main" xmlns:r="http://schemas.openxmlformats.org/officeDocument/2006/relationships" xmlns:p188="http://schemas.microsoft.com/office/powerpoint/2018/8/main">
  <p188:cm id="{F1E2E516-A273-4000-A838-7F5868739266}" authorId="{E8978822-E693-3C50-0FF3-6484C5E26D79}" created="2026-04-27T10:25:44.349">
    <pc:sldMkLst xmlns:pc="http://schemas.microsoft.com/office/powerpoint/2013/main/command">
      <pc:docMk/>
      <pc:sldMk cId="1620268937" sldId="291"/>
    </pc:sldMkLst>
    <p188:txBody>
      <a:bodyPr/>
      <a:lstStyle/>
      <a:p>
        <a:r>
          <a:rPr lang="en-GB"/>
          <a:t>Need to call out the work to remediate this. Make sure that we call out the problems they have.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Skills Gap</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err="1">
              <a:solidFill>
                <a:srgbClr val="FF0000"/>
              </a:solidFill>
              <a:latin typeface="Fira Sans Light" panose="020B0403050000020004" pitchFamily="34" charset="0"/>
            </a:rPr>
            <a:t>Vmware</a:t>
          </a:r>
          <a:r>
            <a:rPr lang="en-GB" noProof="0">
              <a:solidFill>
                <a:srgbClr val="FF0000"/>
              </a:solidFill>
              <a:latin typeface="Fira Sans Light" panose="020B0403050000020004" pitchFamily="34" charset="0"/>
            </a:rPr>
            <a:t> Tools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Appliances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Cloud Skills required</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16954F88-3A74-664C-8130-FCC27D52769A}">
      <dgm:prSet/>
      <dgm:spPr/>
      <dgm:t>
        <a:bodyPr/>
        <a:lstStyle/>
        <a:p>
          <a:r>
            <a:rPr lang="en-GB" noProof="0">
              <a:latin typeface="Fira Sans" panose="020B0503050000020004" pitchFamily="34" charset="0"/>
            </a:rPr>
            <a:t>Suggest partner to aid during transition phase</a:t>
          </a:r>
        </a:p>
      </dgm:t>
    </dgm:pt>
    <dgm:pt modelId="{DD57F892-C7E0-C641-BC4A-39B2D06EAA0A}" type="parTrans" cxnId="{A82F1264-B424-2D41-81EC-06E85E22579D}">
      <dgm:prSet/>
      <dgm:spPr/>
      <dgm:t>
        <a:bodyPr/>
        <a:lstStyle/>
        <a:p>
          <a:endParaRPr lang="en-GB"/>
        </a:p>
      </dgm:t>
    </dgm:pt>
    <dgm:pt modelId="{32B515B4-389B-694F-B8E6-A6D00A827070}" type="sibTrans" cxnId="{A82F1264-B424-2D41-81EC-06E85E22579D}">
      <dgm:prSet/>
      <dgm:spPr/>
      <dgm:t>
        <a:bodyPr/>
        <a:lstStyle/>
        <a:p>
          <a:endParaRPr lang="en-GB"/>
        </a:p>
      </dgm:t>
    </dgm:pt>
    <dgm:pt modelId="{0A7472A9-B525-7F4F-8C44-C17EC33EBA19}">
      <dgm:prSet/>
      <dgm:spPr/>
      <dgm:t>
        <a:bodyPr/>
        <a:lstStyle/>
        <a:p>
          <a:r>
            <a:rPr lang="en-GB" noProof="0">
              <a:latin typeface="Fira Sans" panose="020B0503050000020004" pitchFamily="34" charset="0"/>
            </a:rPr>
            <a:t>Build fully featured LZ</a:t>
          </a:r>
        </a:p>
      </dgm:t>
    </dgm:pt>
    <dgm:pt modelId="{645F45D7-5CA7-7742-8973-D8AC8F02723C}" type="parTrans" cxnId="{30B61044-C2A0-814A-812E-228E61537756}">
      <dgm:prSet/>
      <dgm:spPr/>
      <dgm:t>
        <a:bodyPr/>
        <a:lstStyle/>
        <a:p>
          <a:endParaRPr lang="en-GB"/>
        </a:p>
      </dgm:t>
    </dgm:pt>
    <dgm:pt modelId="{22BCDA6D-D79D-FB4A-BB05-DD0999909D92}" type="sibTrans" cxnId="{30B61044-C2A0-814A-812E-228E61537756}">
      <dgm:prSet/>
      <dgm:spPr/>
      <dgm:t>
        <a:bodyPr/>
        <a:lstStyle/>
        <a:p>
          <a:endParaRPr lang="en-GB"/>
        </a:p>
      </dgm:t>
    </dgm:pt>
    <dgm:pt modelId="{8C35E451-1656-0A46-84DA-72611F217055}">
      <dgm:prSet/>
      <dgm:spPr/>
      <dgm:t>
        <a:bodyPr/>
        <a:lstStyle/>
        <a:p>
          <a:r>
            <a:rPr lang="en-GB" noProof="0">
              <a:latin typeface="Fira Sans" panose="020B0503050000020004" pitchFamily="34" charset="0"/>
            </a:rPr>
            <a:t>Assist with migrations</a:t>
          </a:r>
        </a:p>
      </dgm:t>
    </dgm:pt>
    <dgm:pt modelId="{63EF9B05-7D0C-4D4B-9DCB-B4B79F0EDB64}" type="parTrans" cxnId="{B10653F7-BE42-0E4C-B44B-E84CE9285AAA}">
      <dgm:prSet/>
      <dgm:spPr/>
      <dgm:t>
        <a:bodyPr/>
        <a:lstStyle/>
        <a:p>
          <a:endParaRPr lang="en-GB"/>
        </a:p>
      </dgm:t>
    </dgm:pt>
    <dgm:pt modelId="{38D61FE1-3F7B-2D47-AD21-5E16BF6D989E}" type="sibTrans" cxnId="{B10653F7-BE42-0E4C-B44B-E84CE9285AAA}">
      <dgm:prSet/>
      <dgm:spPr/>
      <dgm:t>
        <a:bodyPr/>
        <a:lstStyle/>
        <a:p>
          <a:endParaRPr lang="en-GB"/>
        </a:p>
      </dgm:t>
    </dgm:pt>
    <dgm:pt modelId="{75213998-756B-E54B-A368-8A7F9703B2BD}">
      <dgm:prSet/>
      <dgm:spPr/>
      <dgm:t>
        <a:bodyPr/>
        <a:lstStyle/>
        <a:p>
          <a:r>
            <a:rPr lang="en-GB" noProof="0">
              <a:latin typeface="Fira Sans" panose="020B0503050000020004" pitchFamily="34" charset="0"/>
            </a:rPr>
            <a:t>Develop core security practices</a:t>
          </a:r>
        </a:p>
      </dgm:t>
    </dgm:pt>
    <dgm:pt modelId="{92A05DDC-EB76-DA49-AB57-C7BD161368E3}" type="parTrans" cxnId="{39EAFCF2-F1B1-7C41-874F-FB07E5C12D08}">
      <dgm:prSet/>
      <dgm:spPr/>
      <dgm:t>
        <a:bodyPr/>
        <a:lstStyle/>
        <a:p>
          <a:endParaRPr lang="en-GB"/>
        </a:p>
      </dgm:t>
    </dgm:pt>
    <dgm:pt modelId="{6B4B8AD9-069D-E74E-8825-5A3DDF43059C}" type="sibTrans" cxnId="{39EAFCF2-F1B1-7C41-874F-FB07E5C12D08}">
      <dgm:prSet/>
      <dgm:spPr/>
      <dgm:t>
        <a:bodyPr/>
        <a:lstStyle/>
        <a:p>
          <a:endParaRPr lang="en-GB"/>
        </a:p>
      </dgm:t>
    </dgm:pt>
    <dgm:pt modelId="{93B87697-539B-134A-B943-F534150F60CE}">
      <dgm:prSet/>
      <dgm:spPr/>
      <dgm:t>
        <a:bodyPr/>
        <a:lstStyle/>
        <a:p>
          <a:r>
            <a:rPr lang="en-GB" noProof="0">
              <a:latin typeface="Fira Sans" panose="020B0503050000020004" pitchFamily="34" charset="0"/>
            </a:rPr>
            <a:t>Build foundational FinOps concept</a:t>
          </a:r>
        </a:p>
      </dgm:t>
    </dgm:pt>
    <dgm:pt modelId="{A11B60DD-3467-874B-8CFD-54E64F89D5A2}" type="parTrans" cxnId="{819045B1-0944-1847-9735-2C0B4DBF4E2E}">
      <dgm:prSet/>
      <dgm:spPr/>
      <dgm:t>
        <a:bodyPr/>
        <a:lstStyle/>
        <a:p>
          <a:endParaRPr lang="en-GB"/>
        </a:p>
      </dgm:t>
    </dgm:pt>
    <dgm:pt modelId="{CF97E92E-7F45-1F40-B1E3-FACDF2AE138B}" type="sibTrans" cxnId="{819045B1-0944-1847-9735-2C0B4DBF4E2E}">
      <dgm:prSet/>
      <dgm:spPr/>
      <dgm:t>
        <a:bodyPr/>
        <a:lstStyle/>
        <a:p>
          <a:endParaRPr lang="en-GB"/>
        </a:p>
      </dgm:t>
    </dgm:pt>
    <dgm:pt modelId="{AB2CF87C-0892-BA4C-8637-E8B5894053FE}">
      <dgm:prSet/>
      <dgm:spPr/>
      <dgm:t>
        <a:bodyPr/>
        <a:lstStyle/>
        <a:p>
          <a:r>
            <a:rPr lang="en-GB" noProof="0">
              <a:latin typeface="Fira Sans" panose="020B0503050000020004" pitchFamily="34" charset="0"/>
            </a:rPr>
            <a:t>Develop DevOps automation processes</a:t>
          </a:r>
        </a:p>
      </dgm:t>
    </dgm:pt>
    <dgm:pt modelId="{7C1BB8D1-166C-7244-846D-31DCF1BF36A5}" type="parTrans" cxnId="{23BFAC70-F648-744E-B08A-78E93E82391B}">
      <dgm:prSet/>
      <dgm:spPr/>
      <dgm:t>
        <a:bodyPr/>
        <a:lstStyle/>
        <a:p>
          <a:endParaRPr lang="en-GB"/>
        </a:p>
      </dgm:t>
    </dgm:pt>
    <dgm:pt modelId="{7B011FB4-2E62-3A40-BC75-0FE4A15C5155}" type="sibTrans" cxnId="{23BFAC70-F648-744E-B08A-78E93E82391B}">
      <dgm:prSet/>
      <dgm:spPr/>
      <dgm:t>
        <a:bodyPr/>
        <a:lstStyle/>
        <a:p>
          <a:endParaRPr lang="en-GB"/>
        </a:p>
      </dgm:t>
    </dgm:pt>
    <dgm:pt modelId="{E073F3B9-C127-C744-9B8E-DAD4B2A7D9B6}">
      <dgm:prSet/>
      <dgm:spPr/>
      <dgm:t>
        <a:bodyPr/>
        <a:lstStyle/>
        <a:p>
          <a:r>
            <a:rPr lang="en-GB" noProof="0">
              <a:latin typeface="Fira Sans" panose="020B0503050000020004" pitchFamily="34" charset="0"/>
            </a:rPr>
            <a:t>Upskill in-house team</a:t>
          </a:r>
        </a:p>
      </dgm:t>
    </dgm:pt>
    <dgm:pt modelId="{3E18BAAF-620F-FD4B-8F65-4D0892E92959}" type="parTrans" cxnId="{82E4A26D-FA54-BA41-9C42-6175E2A995B2}">
      <dgm:prSet/>
      <dgm:spPr/>
      <dgm:t>
        <a:bodyPr/>
        <a:lstStyle/>
        <a:p>
          <a:endParaRPr lang="en-GB"/>
        </a:p>
      </dgm:t>
    </dgm:pt>
    <dgm:pt modelId="{242E5462-48EC-5F43-872D-8DDF2846A091}" type="sibTrans" cxnId="{82E4A26D-FA54-BA41-9C42-6175E2A995B2}">
      <dgm:prSet/>
      <dgm:spPr/>
      <dgm:t>
        <a:bodyPr/>
        <a:lstStyle/>
        <a:p>
          <a:endParaRPr lang="en-GB"/>
        </a:p>
      </dgm:t>
    </dgm:pt>
    <dgm:pt modelId="{81E4F34C-D836-7D4E-9845-B2A76B4C2A15}">
      <dgm:prSet/>
      <dgm:spPr/>
      <dgm:t>
        <a:bodyPr/>
        <a:lstStyle/>
        <a:p>
          <a:r>
            <a:rPr lang="en-GB" noProof="0">
              <a:latin typeface="Fira Sans" panose="020B0503050000020004" pitchFamily="34" charset="0"/>
            </a:rPr>
            <a:t>Where possible having </a:t>
          </a:r>
          <a:r>
            <a:rPr lang="en-GB" noProof="0" err="1">
              <a:latin typeface="Fira Sans" panose="020B0503050000020004" pitchFamily="34" charset="0"/>
            </a:rPr>
            <a:t>vmware</a:t>
          </a:r>
          <a:r>
            <a:rPr lang="en-GB" noProof="0">
              <a:latin typeface="Fira Sans" panose="020B0503050000020004" pitchFamily="34" charset="0"/>
            </a:rPr>
            <a:t> tools enabled gives a better perspective of performance inside the VM</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189F5D36-4D28-AD40-BF8C-80A2160ABA3A}">
      <dgm:prSet/>
      <dgm:spPr/>
      <dgm:t>
        <a:bodyPr/>
        <a:lstStyle/>
        <a:p>
          <a:r>
            <a:rPr lang="en-GB" noProof="0">
              <a:latin typeface="Fira Sans" panose="020B0503050000020004" pitchFamily="34" charset="0"/>
            </a:rPr>
            <a:t>Update where possible</a:t>
          </a:r>
        </a:p>
      </dgm:t>
    </dgm:pt>
    <dgm:pt modelId="{D4C7E502-1277-4549-A3D5-5ED28B0136CF}" type="parTrans" cxnId="{E1C8DCEA-E3E0-B94E-ABD1-61D6AE7FADF0}">
      <dgm:prSet/>
      <dgm:spPr/>
      <dgm:t>
        <a:bodyPr/>
        <a:lstStyle/>
        <a:p>
          <a:endParaRPr lang="en-GB"/>
        </a:p>
      </dgm:t>
    </dgm:pt>
    <dgm:pt modelId="{C7B8A242-B684-3C4F-9D52-2024316B229E}" type="sibTrans" cxnId="{E1C8DCEA-E3E0-B94E-ABD1-61D6AE7FADF0}">
      <dgm:prSet/>
      <dgm:spPr/>
      <dgm:t>
        <a:bodyPr/>
        <a:lstStyle/>
        <a:p>
          <a:endParaRPr lang="en-GB"/>
        </a:p>
      </dgm:t>
    </dgm:pt>
    <dgm:pt modelId="{42CF1815-E0C4-4145-ACB2-028AD54AEA4D}">
      <dgm:prSet/>
      <dgm:spPr/>
      <dgm:t>
        <a:bodyPr/>
        <a:lstStyle/>
        <a:p>
          <a:r>
            <a:rPr lang="en-GB" noProof="0">
              <a:highlight>
                <a:srgbClr val="FFFF00"/>
              </a:highlight>
              <a:latin typeface="Fira Sans" panose="020B0503050000020004" pitchFamily="34" charset="0"/>
            </a:rPr>
            <a:t>challenge</a:t>
          </a:r>
          <a:endParaRPr lang="en-GB">
            <a:highlight>
              <a:srgbClr val="FFFF00"/>
            </a:highlight>
          </a:endParaRPr>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40BF7488-157F-484F-BDD9-FD7EB27E7C1F}">
      <dgm:prSet/>
      <dgm:spPr/>
      <dgm:t>
        <a:bodyPr/>
        <a:lstStyle/>
        <a:p>
          <a:r>
            <a:rPr lang="en-GB">
              <a:highlight>
                <a:srgbClr val="FFFF00"/>
              </a:highlight>
            </a:rPr>
            <a:t>response</a:t>
          </a:r>
        </a:p>
      </dgm:t>
    </dgm:pt>
    <dgm:pt modelId="{7D9D8C42-D9AD-614B-82FA-70BDE6EACA66}" type="parTrans" cxnId="{661830A7-1D81-B14D-AD0A-9CC9E387F888}">
      <dgm:prSet/>
      <dgm:spPr/>
      <dgm:t>
        <a:bodyPr/>
        <a:lstStyle/>
        <a:p>
          <a:endParaRPr lang="en-GB"/>
        </a:p>
      </dgm:t>
    </dgm:pt>
    <dgm:pt modelId="{76F448E5-FF89-2B48-8399-861826BE4A78}" type="sibTrans" cxnId="{661830A7-1D81-B14D-AD0A-9CC9E387F888}">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BD40D908-17F7-824E-B7EF-3CE16B79531E}" type="presOf" srcId="{8991AD4B-0CB7-2F49-90F8-8706A88E8773}" destId="{1861625B-4C31-AC44-9FC7-4500A780C9AA}" srcOrd="1" destOrd="0" presId="urn:microsoft.com/office/officeart/2005/8/layout/list1"/>
    <dgm:cxn modelId="{E78F260A-C447-1341-AFDE-241ABB152CA2}" type="presOf" srcId="{9F50EAA7-9774-4045-99BA-BD72AD537A36}" destId="{18912804-9AEF-6C4F-A7BD-95034F12280A}" srcOrd="0" destOrd="0" presId="urn:microsoft.com/office/officeart/2005/8/layout/list1"/>
    <dgm:cxn modelId="{9A24F216-E6B5-1F4F-ADAB-361463774BDD}" type="presOf" srcId="{75213998-756B-E54B-A368-8A7F9703B2BD}" destId="{A7946707-CC26-B84C-AD3D-ADCEF5197422}" srcOrd="0" destOrd="4" presId="urn:microsoft.com/office/officeart/2005/8/layout/list1"/>
    <dgm:cxn modelId="{462A3519-B79A-D34E-844E-859B8EDFBEAD}" type="presOf" srcId="{0A7472A9-B525-7F4F-8C44-C17EC33EBA19}"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DA141E3C-33D2-E943-AF4D-3D924954471E}" type="presOf" srcId="{1662FC78-A305-C440-8706-2E62710DD74C}" destId="{92EF13FC-0710-DF41-932B-2F4AF28A143F}" srcOrd="0" destOrd="0" presId="urn:microsoft.com/office/officeart/2005/8/layout/list1"/>
    <dgm:cxn modelId="{6191FB3D-DCF4-5844-872D-FA925FB38F8B}" type="presOf" srcId="{1662FC78-A305-C440-8706-2E62710DD74C}" destId="{F91A1701-4279-DA45-AB93-345512E9FE74}" srcOrd="1" destOrd="0" presId="urn:microsoft.com/office/officeart/2005/8/layout/list1"/>
    <dgm:cxn modelId="{30B61044-C2A0-814A-812E-228E61537756}" srcId="{9F50EAA7-9774-4045-99BA-BD72AD537A36}" destId="{0A7472A9-B525-7F4F-8C44-C17EC33EBA19}" srcOrd="2" destOrd="0" parTransId="{645F45D7-5CA7-7742-8973-D8AC8F02723C}" sibTransId="{22BCDA6D-D79D-FB4A-BB05-DD0999909D92}"/>
    <dgm:cxn modelId="{A82F1264-B424-2D41-81EC-06E85E22579D}" srcId="{9F50EAA7-9774-4045-99BA-BD72AD537A36}" destId="{16954F88-3A74-664C-8130-FCC27D52769A}" srcOrd="1" destOrd="0" parTransId="{DD57F892-C7E0-C641-BC4A-39B2D06EAA0A}" sibTransId="{32B515B4-389B-694F-B8E6-A6D00A827070}"/>
    <dgm:cxn modelId="{82E4A26D-FA54-BA41-9C42-6175E2A995B2}" srcId="{9F50EAA7-9774-4045-99BA-BD72AD537A36}" destId="{E073F3B9-C127-C744-9B8E-DAD4B2A7D9B6}" srcOrd="7" destOrd="0" parTransId="{3E18BAAF-620F-FD4B-8F65-4D0892E92959}" sibTransId="{242E5462-48EC-5F43-872D-8DDF2846A091}"/>
    <dgm:cxn modelId="{76035C4E-8583-1D41-96ED-6821A1021342}" srcId="{37306C49-EB3B-F04D-98FE-2509FB0D9ACD}" destId="{1662FC78-A305-C440-8706-2E62710DD74C}" srcOrd="1" destOrd="0" parTransId="{E6EF2829-939B-C54B-8D26-09F3CB5CDA68}" sibTransId="{98AFFD20-2257-F641-B9EC-73DC618DCB94}"/>
    <dgm:cxn modelId="{D59B8D4E-1A4B-BF4C-A1D4-0709F0378BEE}" type="presOf" srcId="{81E4F34C-D836-7D4E-9845-B2A76B4C2A15}" destId="{6EF8F0BE-A990-2C46-B789-BD6D93B89083}" srcOrd="0" destOrd="0" presId="urn:microsoft.com/office/officeart/2005/8/layout/list1"/>
    <dgm:cxn modelId="{23BFAC70-F648-744E-B08A-78E93E82391B}" srcId="{9F50EAA7-9774-4045-99BA-BD72AD537A36}" destId="{AB2CF87C-0892-BA4C-8637-E8B5894053FE}" srcOrd="6" destOrd="0" parTransId="{7C1BB8D1-166C-7244-846D-31DCF1BF36A5}" sibTransId="{7B011FB4-2E62-3A40-BC75-0FE4A15C5155}"/>
    <dgm:cxn modelId="{E27C635A-778C-A448-B94F-D7610D1FD525}" type="presOf" srcId="{93B87697-539B-134A-B943-F534150F60CE}" destId="{A7946707-CC26-B84C-AD3D-ADCEF5197422}" srcOrd="0" destOrd="5" presId="urn:microsoft.com/office/officeart/2005/8/layout/list1"/>
    <dgm:cxn modelId="{4E3BE07E-86A5-AE4D-A287-931257A2560D}" type="presOf" srcId="{8C35E451-1656-0A46-84DA-72611F217055}" destId="{A7946707-CC26-B84C-AD3D-ADCEF5197422}" srcOrd="0" destOrd="3"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E7CD9682-B65B-0849-91EC-4363AA7AC99A}" type="presOf" srcId="{E073F3B9-C127-C744-9B8E-DAD4B2A7D9B6}" destId="{A7946707-CC26-B84C-AD3D-ADCEF5197422}" srcOrd="0" destOrd="7" presId="urn:microsoft.com/office/officeart/2005/8/layout/list1"/>
    <dgm:cxn modelId="{B9E78E89-F7D5-B94F-81A3-850393511D04}" type="presOf" srcId="{0123180F-55F9-9B43-9D90-6050C97D9B85}" destId="{A7946707-CC26-B84C-AD3D-ADCEF5197422}" srcOrd="0" destOrd="0" presId="urn:microsoft.com/office/officeart/2005/8/layout/list1"/>
    <dgm:cxn modelId="{17D9E18E-D7EA-7C40-802F-59CF06625096}" srcId="{9F50EAA7-9774-4045-99BA-BD72AD537A36}" destId="{0123180F-55F9-9B43-9D90-6050C97D9B85}" srcOrd="0" destOrd="0" parTransId="{AD63FBCB-E2AA-4A47-B13D-96B05DCAB120}" sibTransId="{D8E077D4-D57D-914E-B869-5E89F4852011}"/>
    <dgm:cxn modelId="{A6EDF78E-CB0F-624A-AE33-2BCF51BB85C8}" type="presOf" srcId="{8991AD4B-0CB7-2F49-90F8-8706A88E8773}" destId="{B3C2A1F5-65A9-5744-9FA4-BF78532F0A84}" srcOrd="0" destOrd="0"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661830A7-1D81-B14D-AD0A-9CC9E387F888}" srcId="{8991AD4B-0CB7-2F49-90F8-8706A88E8773}" destId="{40BF7488-157F-484F-BDD9-FD7EB27E7C1F}" srcOrd="1" destOrd="0" parTransId="{7D9D8C42-D9AD-614B-82FA-70BDE6EACA66}" sibTransId="{76F448E5-FF89-2B48-8399-861826BE4A78}"/>
    <dgm:cxn modelId="{D0D234A9-AA2E-9747-A89F-4DE6109D45A5}" type="presOf" srcId="{42CF1815-E0C4-4145-ACB2-028AD54AEA4D}" destId="{022DB784-03D2-A845-9D72-54957B3FC1F9}" srcOrd="0" destOrd="0" presId="urn:microsoft.com/office/officeart/2005/8/layout/list1"/>
    <dgm:cxn modelId="{F209AFAA-B7A2-5D47-AB8E-365C993D7EB1}" type="presOf" srcId="{189F5D36-4D28-AD40-BF8C-80A2160ABA3A}" destId="{6EF8F0BE-A990-2C46-B789-BD6D93B89083}" srcOrd="0" destOrd="1" presId="urn:microsoft.com/office/officeart/2005/8/layout/list1"/>
    <dgm:cxn modelId="{819045B1-0944-1847-9735-2C0B4DBF4E2E}" srcId="{9F50EAA7-9774-4045-99BA-BD72AD537A36}" destId="{93B87697-539B-134A-B943-F534150F60CE}" srcOrd="5" destOrd="0" parTransId="{A11B60DD-3467-874B-8CFD-54E64F89D5A2}" sibTransId="{CF97E92E-7F45-1F40-B1E3-FACDF2AE138B}"/>
    <dgm:cxn modelId="{8F4F51C2-88B1-F24B-B3B0-9A825ED849C1}" srcId="{37306C49-EB3B-F04D-98FE-2509FB0D9ACD}" destId="{9F50EAA7-9774-4045-99BA-BD72AD537A36}" srcOrd="0" destOrd="0" parTransId="{5B9A9636-FE89-8746-BAD0-3D3D065055A0}" sibTransId="{62809083-D5F4-2848-8AD5-3687489C2B0C}"/>
    <dgm:cxn modelId="{6BAE8ACC-D504-944D-900A-6B8DE302295F}" type="presOf" srcId="{9F50EAA7-9774-4045-99BA-BD72AD537A36}" destId="{40FE246F-30B4-0241-855E-3F1CA0A4AD4E}" srcOrd="1" destOrd="0" presId="urn:microsoft.com/office/officeart/2005/8/layout/list1"/>
    <dgm:cxn modelId="{B04651E7-E8A6-EB49-A530-2C2E103EAABE}" type="presOf" srcId="{AB2CF87C-0892-BA4C-8637-E8B5894053FE}" destId="{A7946707-CC26-B84C-AD3D-ADCEF5197422}" srcOrd="0" destOrd="6" presId="urn:microsoft.com/office/officeart/2005/8/layout/list1"/>
    <dgm:cxn modelId="{E1C8DCEA-E3E0-B94E-ABD1-61D6AE7FADF0}" srcId="{1662FC78-A305-C440-8706-2E62710DD74C}" destId="{189F5D36-4D28-AD40-BF8C-80A2160ABA3A}" srcOrd="1" destOrd="0" parTransId="{D4C7E502-1277-4549-A3D5-5ED28B0136CF}" sibTransId="{C7B8A242-B684-3C4F-9D52-2024316B229E}"/>
    <dgm:cxn modelId="{F79426F0-D792-5045-B7A5-7F9F6CB64641}" type="presOf" srcId="{16954F88-3A74-664C-8130-FCC27D52769A}" destId="{A7946707-CC26-B84C-AD3D-ADCEF5197422}" srcOrd="0" destOrd="1" presId="urn:microsoft.com/office/officeart/2005/8/layout/list1"/>
    <dgm:cxn modelId="{39EAFCF2-F1B1-7C41-874F-FB07E5C12D08}" srcId="{9F50EAA7-9774-4045-99BA-BD72AD537A36}" destId="{75213998-756B-E54B-A368-8A7F9703B2BD}" srcOrd="4" destOrd="0" parTransId="{92A05DDC-EB76-DA49-AB57-C7BD161368E3}" sibTransId="{6B4B8AD9-069D-E74E-8825-5A3DDF43059C}"/>
    <dgm:cxn modelId="{B10653F7-BE42-0E4C-B44B-E84CE9285AAA}" srcId="{9F50EAA7-9774-4045-99BA-BD72AD537A36}" destId="{8C35E451-1656-0A46-84DA-72611F217055}" srcOrd="3" destOrd="0" parTransId="{63EF9B05-7D0C-4D4B-9DCB-B4B79F0EDB64}" sibTransId="{38D61FE1-3F7B-2D47-AD21-5E16BF6D989E}"/>
    <dgm:cxn modelId="{1679A3F8-6D80-FA4B-8680-A5B6C2834DC7}" type="presOf" srcId="{40BF7488-157F-484F-BDD9-FD7EB27E7C1F}" destId="{022DB784-03D2-A845-9D72-54957B3FC1F9}" srcOrd="0" destOrd="1" presId="urn:microsoft.com/office/officeart/2005/8/layout/list1"/>
    <dgm:cxn modelId="{3F254E4C-498B-9348-B8F1-9F6E37962E49}" type="presParOf" srcId="{1DB2552C-4861-624B-8106-2ABC70D7774A}" destId="{4D214363-F676-274A-9F5A-3FA40C6AE313}" srcOrd="0" destOrd="0" presId="urn:microsoft.com/office/officeart/2005/8/layout/list1"/>
    <dgm:cxn modelId="{FB5C0A1F-2BA8-FD48-87B1-C11E68E2A0A0}" type="presParOf" srcId="{4D214363-F676-274A-9F5A-3FA40C6AE313}" destId="{18912804-9AEF-6C4F-A7BD-95034F12280A}" srcOrd="0" destOrd="0" presId="urn:microsoft.com/office/officeart/2005/8/layout/list1"/>
    <dgm:cxn modelId="{7695FE12-73C7-DF41-9FC1-E97C21A1F656}" type="presParOf" srcId="{4D214363-F676-274A-9F5A-3FA40C6AE313}" destId="{40FE246F-30B4-0241-855E-3F1CA0A4AD4E}" srcOrd="1" destOrd="0" presId="urn:microsoft.com/office/officeart/2005/8/layout/list1"/>
    <dgm:cxn modelId="{43B405F7-D499-EE4D-BCD1-45C45AA59957}" type="presParOf" srcId="{1DB2552C-4861-624B-8106-2ABC70D7774A}" destId="{AA101175-655D-AF47-8CBB-19B65FD1A423}" srcOrd="1" destOrd="0" presId="urn:microsoft.com/office/officeart/2005/8/layout/list1"/>
    <dgm:cxn modelId="{E05F38A8-E7F3-2748-964A-EC8807A37D71}" type="presParOf" srcId="{1DB2552C-4861-624B-8106-2ABC70D7774A}" destId="{A7946707-CC26-B84C-AD3D-ADCEF5197422}" srcOrd="2" destOrd="0" presId="urn:microsoft.com/office/officeart/2005/8/layout/list1"/>
    <dgm:cxn modelId="{22AAA826-52D6-FE4F-9034-59963AD394E1}" type="presParOf" srcId="{1DB2552C-4861-624B-8106-2ABC70D7774A}" destId="{FA79C2BC-D1E9-FE47-95B5-C330B7C545FC}" srcOrd="3" destOrd="0" presId="urn:microsoft.com/office/officeart/2005/8/layout/list1"/>
    <dgm:cxn modelId="{7E8B9944-6B8D-B64F-9266-F4CFE1D251D0}" type="presParOf" srcId="{1DB2552C-4861-624B-8106-2ABC70D7774A}" destId="{43DC8091-A1AA-6745-83FE-A2E55E9DFA5E}" srcOrd="4" destOrd="0" presId="urn:microsoft.com/office/officeart/2005/8/layout/list1"/>
    <dgm:cxn modelId="{7337F7A0-F115-B94C-BAAD-C1A9A92B6DA7}" type="presParOf" srcId="{43DC8091-A1AA-6745-83FE-A2E55E9DFA5E}" destId="{92EF13FC-0710-DF41-932B-2F4AF28A143F}" srcOrd="0" destOrd="0" presId="urn:microsoft.com/office/officeart/2005/8/layout/list1"/>
    <dgm:cxn modelId="{DE93740A-2D52-124D-8200-CB351E643D17}" type="presParOf" srcId="{43DC8091-A1AA-6745-83FE-A2E55E9DFA5E}" destId="{F91A1701-4279-DA45-AB93-345512E9FE74}" srcOrd="1" destOrd="0" presId="urn:microsoft.com/office/officeart/2005/8/layout/list1"/>
    <dgm:cxn modelId="{4D30765C-589D-5942-B476-0755BE7326D3}" type="presParOf" srcId="{1DB2552C-4861-624B-8106-2ABC70D7774A}" destId="{0F26F94E-6FE7-BD4C-A6B0-72661D46F6B5}" srcOrd="5" destOrd="0" presId="urn:microsoft.com/office/officeart/2005/8/layout/list1"/>
    <dgm:cxn modelId="{C63C79AC-CE0E-E348-BD17-6D56779EF91D}" type="presParOf" srcId="{1DB2552C-4861-624B-8106-2ABC70D7774A}" destId="{6EF8F0BE-A990-2C46-B789-BD6D93B89083}" srcOrd="6" destOrd="0" presId="urn:microsoft.com/office/officeart/2005/8/layout/list1"/>
    <dgm:cxn modelId="{4450E3C4-60C3-F94A-A917-268F8CA12FC9}" type="presParOf" srcId="{1DB2552C-4861-624B-8106-2ABC70D7774A}" destId="{0D0ED172-AE17-854F-A0FA-410DF75FED16}" srcOrd="7" destOrd="0" presId="urn:microsoft.com/office/officeart/2005/8/layout/list1"/>
    <dgm:cxn modelId="{8BA9AFE3-DECA-7541-B147-0CF1C0485E54}" type="presParOf" srcId="{1DB2552C-4861-624B-8106-2ABC70D7774A}" destId="{0E60A50C-456A-1241-97D4-5F96AF310345}" srcOrd="8" destOrd="0" presId="urn:microsoft.com/office/officeart/2005/8/layout/list1"/>
    <dgm:cxn modelId="{20FE2B25-0423-5A4C-BED4-D20ECC5B728F}" type="presParOf" srcId="{0E60A50C-456A-1241-97D4-5F96AF310345}" destId="{B3C2A1F5-65A9-5744-9FA4-BF78532F0A84}" srcOrd="0" destOrd="0" presId="urn:microsoft.com/office/officeart/2005/8/layout/list1"/>
    <dgm:cxn modelId="{A9EA51BA-CD99-F94A-8DA9-3743A53E7518}" type="presParOf" srcId="{0E60A50C-456A-1241-97D4-5F96AF310345}" destId="{1861625B-4C31-AC44-9FC7-4500A780C9AA}" srcOrd="1" destOrd="0" presId="urn:microsoft.com/office/officeart/2005/8/layout/list1"/>
    <dgm:cxn modelId="{6DC82F1E-F1BF-1349-8A2E-FA1644A2E8CA}" type="presParOf" srcId="{1DB2552C-4861-624B-8106-2ABC70D7774A}" destId="{DDAAB8AC-2D22-1943-9822-CF8FCF6BC02A}" srcOrd="9" destOrd="0" presId="urn:microsoft.com/office/officeart/2005/8/layout/list1"/>
    <dgm:cxn modelId="{04CCCE67-0D83-024D-92B5-25FBFE6D5BAC}"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Standardised Access</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a:solidFill>
                <a:srgbClr val="FF0000"/>
              </a:solidFill>
              <a:latin typeface="Fira Sans Light" panose="020B0403050000020004" pitchFamily="34" charset="0"/>
            </a:rPr>
            <a:t>Legacy OS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Naming Conventions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Consistent logins required for administrator access</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81E4F34C-D836-7D4E-9845-B2A76B4C2A15}">
      <dgm:prSet/>
      <dgm:spPr/>
      <dgm:t>
        <a:bodyPr/>
        <a:lstStyle/>
        <a:p>
          <a:r>
            <a:rPr lang="en-GB" noProof="0">
              <a:latin typeface="Fira Sans" panose="020B0503050000020004" pitchFamily="34" charset="0"/>
            </a:rPr>
            <a:t>Old unsupported OS types will take longer to move to Cloud</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42CF1815-E0C4-4145-ACB2-028AD54AEA4D}">
      <dgm:prSet/>
      <dgm:spPr/>
      <dgm:t>
        <a:bodyPr/>
        <a:lstStyle/>
        <a:p>
          <a:r>
            <a:rPr lang="en-GB" noProof="0">
              <a:latin typeface="Fira Sans" panose="020B0503050000020004" pitchFamily="34" charset="0"/>
            </a:rPr>
            <a:t>Risk of duplication or accidentally leaving out of migration</a:t>
          </a:r>
          <a:endParaRPr lang="en-GB"/>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5F97BEB5-3EBB-E349-B815-C48E38B212E4}">
      <dgm:prSet/>
      <dgm:spPr/>
      <dgm:t>
        <a:bodyPr/>
        <a:lstStyle/>
        <a:p>
          <a:r>
            <a:rPr lang="en-GB" noProof="0">
              <a:latin typeface="Fira Sans" panose="020B0503050000020004" pitchFamily="34" charset="0"/>
            </a:rPr>
            <a:t>Standardised login methods for Linux/Windows</a:t>
          </a:r>
        </a:p>
      </dgm:t>
    </dgm:pt>
    <dgm:pt modelId="{914FBD76-94A2-1B4F-A71C-0F66171DEEA3}" type="parTrans" cxnId="{72E80ED8-9B69-4B3C-AE71-1FF0514FF819}">
      <dgm:prSet/>
      <dgm:spPr/>
      <dgm:t>
        <a:bodyPr/>
        <a:lstStyle/>
        <a:p>
          <a:endParaRPr lang="en-GB"/>
        </a:p>
      </dgm:t>
    </dgm:pt>
    <dgm:pt modelId="{A7A859A6-F26C-3A47-89D6-2D005FB5033B}" type="sibTrans" cxnId="{72E80ED8-9B69-4B3C-AE71-1FF0514FF819}">
      <dgm:prSet/>
      <dgm:spPr/>
      <dgm:t>
        <a:bodyPr/>
        <a:lstStyle/>
        <a:p>
          <a:endParaRPr lang="en-GB"/>
        </a:p>
      </dgm:t>
    </dgm:pt>
    <dgm:pt modelId="{54A5018D-96B0-194C-A585-4857B7729CE0}">
      <dgm:prSet/>
      <dgm:spPr/>
      <dgm:t>
        <a:bodyPr/>
        <a:lstStyle/>
        <a:p>
          <a:r>
            <a:rPr lang="en-GB" noProof="0">
              <a:latin typeface="Fira Sans" panose="020B0503050000020004" pitchFamily="34" charset="0"/>
            </a:rPr>
            <a:t>Standardised accounts across MOL/ANL</a:t>
          </a:r>
        </a:p>
      </dgm:t>
    </dgm:pt>
    <dgm:pt modelId="{700D8648-930A-4D49-BB83-C89E55E3DBE2}" type="parTrans" cxnId="{D6975989-CD91-446D-A61E-1927C1D86958}">
      <dgm:prSet/>
      <dgm:spPr/>
      <dgm:t>
        <a:bodyPr/>
        <a:lstStyle/>
        <a:p>
          <a:endParaRPr lang="en-GB"/>
        </a:p>
      </dgm:t>
    </dgm:pt>
    <dgm:pt modelId="{B892E025-73B2-6546-95CD-E76D5B8DA7B7}" type="sibTrans" cxnId="{D6975989-CD91-446D-A61E-1927C1D86958}">
      <dgm:prSet/>
      <dgm:spPr/>
      <dgm:t>
        <a:bodyPr/>
        <a:lstStyle/>
        <a:p>
          <a:endParaRPr lang="en-GB"/>
        </a:p>
      </dgm:t>
    </dgm:pt>
    <dgm:pt modelId="{31FC5491-07E7-6447-A7ED-42DFBCD7C9F4}">
      <dgm:prSet/>
      <dgm:spPr/>
      <dgm:t>
        <a:bodyPr/>
        <a:lstStyle/>
        <a:p>
          <a:r>
            <a:rPr lang="en-GB" noProof="0">
              <a:latin typeface="Fira Sans" panose="020B0503050000020004" pitchFamily="34" charset="0"/>
            </a:rPr>
            <a:t>Ability to make changes</a:t>
          </a:r>
        </a:p>
      </dgm:t>
    </dgm:pt>
    <dgm:pt modelId="{EC2136DB-5E6A-F344-8462-BF1EA81501D3}" type="parTrans" cxnId="{62303B00-4F94-4897-8F30-0D59955A2EDD}">
      <dgm:prSet/>
      <dgm:spPr/>
      <dgm:t>
        <a:bodyPr/>
        <a:lstStyle/>
        <a:p>
          <a:endParaRPr lang="en-GB"/>
        </a:p>
      </dgm:t>
    </dgm:pt>
    <dgm:pt modelId="{B669F63E-2B33-A94E-B529-E9FED4E059F9}" type="sibTrans" cxnId="{62303B00-4F94-4897-8F30-0D59955A2EDD}">
      <dgm:prSet/>
      <dgm:spPr/>
      <dgm:t>
        <a:bodyPr/>
        <a:lstStyle/>
        <a:p>
          <a:endParaRPr lang="en-GB"/>
        </a:p>
      </dgm:t>
    </dgm:pt>
    <dgm:pt modelId="{58BE3162-18F1-9044-A496-7688104E1749}">
      <dgm:prSet/>
      <dgm:spPr/>
      <dgm:t>
        <a:bodyPr/>
        <a:lstStyle/>
        <a:p>
          <a:r>
            <a:rPr lang="en-GB" noProof="0">
              <a:latin typeface="Fira Sans" panose="020B0503050000020004" pitchFamily="34" charset="0"/>
            </a:rPr>
            <a:t>Some customers prefer to use a tool to manage PAM. (eg: Cyberark)</a:t>
          </a:r>
        </a:p>
      </dgm:t>
    </dgm:pt>
    <dgm:pt modelId="{5728CCF3-4385-E84A-A909-72A0D62EA9C8}" type="parTrans" cxnId="{0C7B65E8-F3E7-405F-8833-8779F78C2DB0}">
      <dgm:prSet/>
      <dgm:spPr/>
      <dgm:t>
        <a:bodyPr/>
        <a:lstStyle/>
        <a:p>
          <a:endParaRPr lang="en-GB"/>
        </a:p>
      </dgm:t>
    </dgm:pt>
    <dgm:pt modelId="{720C5B11-0693-7948-84D7-C03715D2B61E}" type="sibTrans" cxnId="{0C7B65E8-F3E7-405F-8833-8779F78C2DB0}">
      <dgm:prSet/>
      <dgm:spPr/>
      <dgm:t>
        <a:bodyPr/>
        <a:lstStyle/>
        <a:p>
          <a:endParaRPr lang="en-GB"/>
        </a:p>
      </dgm:t>
    </dgm:pt>
    <dgm:pt modelId="{442854AC-D80D-9745-83BF-432287E44EF8}">
      <dgm:prSet/>
      <dgm:spPr/>
      <dgm:t>
        <a:bodyPr/>
        <a:lstStyle/>
        <a:p>
          <a:r>
            <a:rPr lang="en-GB" noProof="0" err="1">
              <a:latin typeface="Fira Sans" panose="020B0503050000020004" pitchFamily="34" charset="0"/>
            </a:rPr>
            <a:t>Replatforming</a:t>
          </a:r>
          <a:r>
            <a:rPr lang="en-GB" noProof="0">
              <a:latin typeface="Fira Sans" panose="020B0503050000020004" pitchFamily="34" charset="0"/>
            </a:rPr>
            <a:t> is possible but must be factored into timeline.</a:t>
          </a:r>
        </a:p>
      </dgm:t>
    </dgm:pt>
    <dgm:pt modelId="{D53A772B-D5E0-8547-B64F-CC2F2FA79236}" type="parTrans" cxnId="{88C44342-F82B-4D5C-9D48-ADFFBA90D1CF}">
      <dgm:prSet/>
      <dgm:spPr/>
      <dgm:t>
        <a:bodyPr/>
        <a:lstStyle/>
        <a:p>
          <a:endParaRPr lang="en-GB"/>
        </a:p>
      </dgm:t>
    </dgm:pt>
    <dgm:pt modelId="{DDEB7E54-5AED-CF43-A2BA-0CFC5F34C298}" type="sibTrans" cxnId="{88C44342-F82B-4D5C-9D48-ADFFBA90D1CF}">
      <dgm:prSet/>
      <dgm:spPr/>
      <dgm:t>
        <a:bodyPr/>
        <a:lstStyle/>
        <a:p>
          <a:endParaRPr lang="en-GB"/>
        </a:p>
      </dgm:t>
    </dgm:pt>
    <dgm:pt modelId="{F4B476B1-A512-E14C-805B-F7845592FF81}">
      <dgm:prSet/>
      <dgm:spPr/>
      <dgm:t>
        <a:bodyPr/>
        <a:lstStyle/>
        <a:p>
          <a:r>
            <a:rPr lang="en-GB" noProof="0">
              <a:latin typeface="Fira Sans" panose="020B0503050000020004" pitchFamily="34" charset="0"/>
            </a:rPr>
            <a:t>Same hostnames with .int and .hsk </a:t>
          </a:r>
        </a:p>
      </dgm:t>
    </dgm:pt>
    <dgm:pt modelId="{CB6803C7-E131-F04B-B107-188B18F4925E}" type="parTrans" cxnId="{20D19A39-7FC5-4F5B-BBC3-C6063BA7B549}">
      <dgm:prSet/>
      <dgm:spPr/>
      <dgm:t>
        <a:bodyPr/>
        <a:lstStyle/>
        <a:p>
          <a:endParaRPr lang="en-GB"/>
        </a:p>
      </dgm:t>
    </dgm:pt>
    <dgm:pt modelId="{48736AFD-215A-F647-B4C2-6DDB87911505}" type="sibTrans" cxnId="{20D19A39-7FC5-4F5B-BBC3-C6063BA7B549}">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62303B00-4F94-4897-8F30-0D59955A2EDD}" srcId="{5F97BEB5-3EBB-E349-B815-C48E38B212E4}" destId="{31FC5491-07E7-6447-A7ED-42DFBCD7C9F4}" srcOrd="1" destOrd="0" parTransId="{EC2136DB-5E6A-F344-8462-BF1EA81501D3}" sibTransId="{B669F63E-2B33-A94E-B529-E9FED4E059F9}"/>
    <dgm:cxn modelId="{75EB3C04-9959-4F3C-AB5C-FDE9FA204C6B}" type="presOf" srcId="{8991AD4B-0CB7-2F49-90F8-8706A88E8773}" destId="{1861625B-4C31-AC44-9FC7-4500A780C9AA}" srcOrd="1" destOrd="0" presId="urn:microsoft.com/office/officeart/2005/8/layout/list1"/>
    <dgm:cxn modelId="{D9FE0512-5D7A-498C-B1A8-944E7B977D3C}" type="presOf" srcId="{5F97BEB5-3EBB-E349-B815-C48E38B212E4}" destId="{A7946707-CC26-B84C-AD3D-ADCEF5197422}" srcOrd="0" destOrd="1" presId="urn:microsoft.com/office/officeart/2005/8/layout/list1"/>
    <dgm:cxn modelId="{D2202212-C0CA-4674-A609-E16375E059C8}" type="presOf" srcId="{8991AD4B-0CB7-2F49-90F8-8706A88E8773}" destId="{B3C2A1F5-65A9-5744-9FA4-BF78532F0A84}" srcOrd="0" destOrd="0" presId="urn:microsoft.com/office/officeart/2005/8/layout/list1"/>
    <dgm:cxn modelId="{20C98812-8338-4F9F-9677-3B004FAF92DC}" type="presOf" srcId="{1662FC78-A305-C440-8706-2E62710DD74C}" destId="{F91A1701-4279-DA45-AB93-345512E9FE74}" srcOrd="1" destOrd="0" presId="urn:microsoft.com/office/officeart/2005/8/layout/list1"/>
    <dgm:cxn modelId="{7202731F-6101-4E26-96E0-FBDC6F9DDBBA}" type="presOf" srcId="{54A5018D-96B0-194C-A585-4857B7729CE0}"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20D19A39-7FC5-4F5B-BBC3-C6063BA7B549}" srcId="{8991AD4B-0CB7-2F49-90F8-8706A88E8773}" destId="{F4B476B1-A512-E14C-805B-F7845592FF81}" srcOrd="1" destOrd="0" parTransId="{CB6803C7-E131-F04B-B107-188B18F4925E}" sibTransId="{48736AFD-215A-F647-B4C2-6DDB87911505}"/>
    <dgm:cxn modelId="{646E773A-57F1-4011-978B-04D06AF1421C}" type="presOf" srcId="{9F50EAA7-9774-4045-99BA-BD72AD537A36}" destId="{18912804-9AEF-6C4F-A7BD-95034F12280A}" srcOrd="0" destOrd="0" presId="urn:microsoft.com/office/officeart/2005/8/layout/list1"/>
    <dgm:cxn modelId="{88C44342-F82B-4D5C-9D48-ADFFBA90D1CF}" srcId="{1662FC78-A305-C440-8706-2E62710DD74C}" destId="{442854AC-D80D-9745-83BF-432287E44EF8}" srcOrd="1" destOrd="0" parTransId="{D53A772B-D5E0-8547-B64F-CC2F2FA79236}" sibTransId="{DDEB7E54-5AED-CF43-A2BA-0CFC5F34C298}"/>
    <dgm:cxn modelId="{32A93147-8990-4325-8638-D4E135C649B0}" type="presOf" srcId="{442854AC-D80D-9745-83BF-432287E44EF8}" destId="{6EF8F0BE-A990-2C46-B789-BD6D93B89083}" srcOrd="0" destOrd="1" presId="urn:microsoft.com/office/officeart/2005/8/layout/list1"/>
    <dgm:cxn modelId="{76035C4E-8583-1D41-96ED-6821A1021342}" srcId="{37306C49-EB3B-F04D-98FE-2509FB0D9ACD}" destId="{1662FC78-A305-C440-8706-2E62710DD74C}" srcOrd="1" destOrd="0" parTransId="{E6EF2829-939B-C54B-8D26-09F3CB5CDA68}" sibTransId="{98AFFD20-2257-F641-B9EC-73DC618DCB94}"/>
    <dgm:cxn modelId="{D1D72F7B-B683-4071-B33D-86EA49D51754}" type="presOf" srcId="{81E4F34C-D836-7D4E-9845-B2A76B4C2A15}" destId="{6EF8F0BE-A990-2C46-B789-BD6D93B89083}" srcOrd="0" destOrd="0" presId="urn:microsoft.com/office/officeart/2005/8/layout/list1"/>
    <dgm:cxn modelId="{EDA0497C-4C87-4B38-BD21-BA4E9362A5E9}" type="presOf" srcId="{42CF1815-E0C4-4145-ACB2-028AD54AEA4D}" destId="{022DB784-03D2-A845-9D72-54957B3FC1F9}" srcOrd="0" destOrd="0"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D6975989-CD91-446D-A61E-1927C1D86958}" srcId="{5F97BEB5-3EBB-E349-B815-C48E38B212E4}" destId="{54A5018D-96B0-194C-A585-4857B7729CE0}" srcOrd="0" destOrd="0" parTransId="{700D8648-930A-4D49-BB83-C89E55E3DBE2}" sibTransId="{B892E025-73B2-6546-95CD-E76D5B8DA7B7}"/>
    <dgm:cxn modelId="{17D9E18E-D7EA-7C40-802F-59CF06625096}" srcId="{9F50EAA7-9774-4045-99BA-BD72AD537A36}" destId="{0123180F-55F9-9B43-9D90-6050C97D9B85}" srcOrd="0" destOrd="0" parTransId="{AD63FBCB-E2AA-4A47-B13D-96B05DCAB120}" sibTransId="{D8E077D4-D57D-914E-B869-5E89F4852011}"/>
    <dgm:cxn modelId="{9200E890-28AD-4560-B2C9-BD814DCDDB82}" type="presOf" srcId="{F4B476B1-A512-E14C-805B-F7845592FF81}" destId="{022DB784-03D2-A845-9D72-54957B3FC1F9}" srcOrd="0" destOrd="1"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8F4F51C2-88B1-F24B-B3B0-9A825ED849C1}" srcId="{37306C49-EB3B-F04D-98FE-2509FB0D9ACD}" destId="{9F50EAA7-9774-4045-99BA-BD72AD537A36}" srcOrd="0" destOrd="0" parTransId="{5B9A9636-FE89-8746-BAD0-3D3D065055A0}" sibTransId="{62809083-D5F4-2848-8AD5-3687489C2B0C}"/>
    <dgm:cxn modelId="{446D32CD-B337-4C40-8D66-0751FFEFE0FE}" type="presOf" srcId="{9F50EAA7-9774-4045-99BA-BD72AD537A36}" destId="{40FE246F-30B4-0241-855E-3F1CA0A4AD4E}" srcOrd="1" destOrd="0" presId="urn:microsoft.com/office/officeart/2005/8/layout/list1"/>
    <dgm:cxn modelId="{72E80ED8-9B69-4B3C-AE71-1FF0514FF819}" srcId="{9F50EAA7-9774-4045-99BA-BD72AD537A36}" destId="{5F97BEB5-3EBB-E349-B815-C48E38B212E4}" srcOrd="1" destOrd="0" parTransId="{914FBD76-94A2-1B4F-A71C-0F66171DEEA3}" sibTransId="{A7A859A6-F26C-3A47-89D6-2D005FB5033B}"/>
    <dgm:cxn modelId="{8A2AC8D9-EF23-47E3-AF3E-942852BD9AC9}" type="presOf" srcId="{0123180F-55F9-9B43-9D90-6050C97D9B85}" destId="{A7946707-CC26-B84C-AD3D-ADCEF5197422}" srcOrd="0" destOrd="0" presId="urn:microsoft.com/office/officeart/2005/8/layout/list1"/>
    <dgm:cxn modelId="{0DB19AE6-94F1-436B-90C1-F89CFB4FDC12}" type="presOf" srcId="{1662FC78-A305-C440-8706-2E62710DD74C}" destId="{92EF13FC-0710-DF41-932B-2F4AF28A143F}" srcOrd="0" destOrd="0" presId="urn:microsoft.com/office/officeart/2005/8/layout/list1"/>
    <dgm:cxn modelId="{0C7B65E8-F3E7-405F-8833-8779F78C2DB0}" srcId="{9F50EAA7-9774-4045-99BA-BD72AD537A36}" destId="{58BE3162-18F1-9044-A496-7688104E1749}" srcOrd="2" destOrd="0" parTransId="{5728CCF3-4385-E84A-A909-72A0D62EA9C8}" sibTransId="{720C5B11-0693-7948-84D7-C03715D2B61E}"/>
    <dgm:cxn modelId="{4A0113F1-88E2-40EC-A541-C618250F13A9}" type="presOf" srcId="{58BE3162-18F1-9044-A496-7688104E1749}" destId="{A7946707-CC26-B84C-AD3D-ADCEF5197422}" srcOrd="0" destOrd="4" presId="urn:microsoft.com/office/officeart/2005/8/layout/list1"/>
    <dgm:cxn modelId="{0D3B70FD-B068-4741-9ADC-2D9C76F3B439}" type="presOf" srcId="{31FC5491-07E7-6447-A7ED-42DFBCD7C9F4}" destId="{A7946707-CC26-B84C-AD3D-ADCEF5197422}" srcOrd="0" destOrd="3" presId="urn:microsoft.com/office/officeart/2005/8/layout/list1"/>
    <dgm:cxn modelId="{9B2BED6C-AEE1-4380-AA4D-704621607AF3}" type="presParOf" srcId="{1DB2552C-4861-624B-8106-2ABC70D7774A}" destId="{4D214363-F676-274A-9F5A-3FA40C6AE313}" srcOrd="0" destOrd="0" presId="urn:microsoft.com/office/officeart/2005/8/layout/list1"/>
    <dgm:cxn modelId="{34D6FC92-ED6E-490D-AFFA-31661350D3F3}" type="presParOf" srcId="{4D214363-F676-274A-9F5A-3FA40C6AE313}" destId="{18912804-9AEF-6C4F-A7BD-95034F12280A}" srcOrd="0" destOrd="0" presId="urn:microsoft.com/office/officeart/2005/8/layout/list1"/>
    <dgm:cxn modelId="{6A118DDB-6DD5-41DA-8E70-D51E8C3AF7B5}" type="presParOf" srcId="{4D214363-F676-274A-9F5A-3FA40C6AE313}" destId="{40FE246F-30B4-0241-855E-3F1CA0A4AD4E}" srcOrd="1" destOrd="0" presId="urn:microsoft.com/office/officeart/2005/8/layout/list1"/>
    <dgm:cxn modelId="{AC904689-67E8-46EC-93A5-5547ECAD3DEE}" type="presParOf" srcId="{1DB2552C-4861-624B-8106-2ABC70D7774A}" destId="{AA101175-655D-AF47-8CBB-19B65FD1A423}" srcOrd="1" destOrd="0" presId="urn:microsoft.com/office/officeart/2005/8/layout/list1"/>
    <dgm:cxn modelId="{1AE38A5A-3C77-420F-81F9-27B960149058}" type="presParOf" srcId="{1DB2552C-4861-624B-8106-2ABC70D7774A}" destId="{A7946707-CC26-B84C-AD3D-ADCEF5197422}" srcOrd="2" destOrd="0" presId="urn:microsoft.com/office/officeart/2005/8/layout/list1"/>
    <dgm:cxn modelId="{44348DBE-C2B3-4214-BF2C-90E9C9D72E3F}" type="presParOf" srcId="{1DB2552C-4861-624B-8106-2ABC70D7774A}" destId="{FA79C2BC-D1E9-FE47-95B5-C330B7C545FC}" srcOrd="3" destOrd="0" presId="urn:microsoft.com/office/officeart/2005/8/layout/list1"/>
    <dgm:cxn modelId="{A515A5EF-1047-4D7F-97D4-19F8279F1071}" type="presParOf" srcId="{1DB2552C-4861-624B-8106-2ABC70D7774A}" destId="{43DC8091-A1AA-6745-83FE-A2E55E9DFA5E}" srcOrd="4" destOrd="0" presId="urn:microsoft.com/office/officeart/2005/8/layout/list1"/>
    <dgm:cxn modelId="{A980A245-3FBA-4B9F-A2D7-4D342412D97C}" type="presParOf" srcId="{43DC8091-A1AA-6745-83FE-A2E55E9DFA5E}" destId="{92EF13FC-0710-DF41-932B-2F4AF28A143F}" srcOrd="0" destOrd="0" presId="urn:microsoft.com/office/officeart/2005/8/layout/list1"/>
    <dgm:cxn modelId="{DB01B4B6-29C1-4586-9745-737F1A366C6C}" type="presParOf" srcId="{43DC8091-A1AA-6745-83FE-A2E55E9DFA5E}" destId="{F91A1701-4279-DA45-AB93-345512E9FE74}" srcOrd="1" destOrd="0" presId="urn:microsoft.com/office/officeart/2005/8/layout/list1"/>
    <dgm:cxn modelId="{4A2A64F9-821F-4C79-AE11-0E2EB1A1B18F}" type="presParOf" srcId="{1DB2552C-4861-624B-8106-2ABC70D7774A}" destId="{0F26F94E-6FE7-BD4C-A6B0-72661D46F6B5}" srcOrd="5" destOrd="0" presId="urn:microsoft.com/office/officeart/2005/8/layout/list1"/>
    <dgm:cxn modelId="{85A8AE43-3E75-45FB-BEF1-3D1607F557B8}" type="presParOf" srcId="{1DB2552C-4861-624B-8106-2ABC70D7774A}" destId="{6EF8F0BE-A990-2C46-B789-BD6D93B89083}" srcOrd="6" destOrd="0" presId="urn:microsoft.com/office/officeart/2005/8/layout/list1"/>
    <dgm:cxn modelId="{849AF7A4-149A-4970-BAA1-607420C9B912}" type="presParOf" srcId="{1DB2552C-4861-624B-8106-2ABC70D7774A}" destId="{0D0ED172-AE17-854F-A0FA-410DF75FED16}" srcOrd="7" destOrd="0" presId="urn:microsoft.com/office/officeart/2005/8/layout/list1"/>
    <dgm:cxn modelId="{279CBC6C-DAC5-47C7-AB7A-DA518AD7E4CC}" type="presParOf" srcId="{1DB2552C-4861-624B-8106-2ABC70D7774A}" destId="{0E60A50C-456A-1241-97D4-5F96AF310345}" srcOrd="8" destOrd="0" presId="urn:microsoft.com/office/officeart/2005/8/layout/list1"/>
    <dgm:cxn modelId="{97704C92-F0B5-441F-800B-6573C9C22341}" type="presParOf" srcId="{0E60A50C-456A-1241-97D4-5F96AF310345}" destId="{B3C2A1F5-65A9-5744-9FA4-BF78532F0A84}" srcOrd="0" destOrd="0" presId="urn:microsoft.com/office/officeart/2005/8/layout/list1"/>
    <dgm:cxn modelId="{57D2D07A-8EB4-4807-8973-641BA25D3EBE}" type="presParOf" srcId="{0E60A50C-456A-1241-97D4-5F96AF310345}" destId="{1861625B-4C31-AC44-9FC7-4500A780C9AA}" srcOrd="1" destOrd="0" presId="urn:microsoft.com/office/officeart/2005/8/layout/list1"/>
    <dgm:cxn modelId="{708EEB50-DBBB-4C5B-A219-2B28533BE12D}" type="presParOf" srcId="{1DB2552C-4861-624B-8106-2ABC70D7774A}" destId="{DDAAB8AC-2D22-1943-9822-CF8FCF6BC02A}" srcOrd="9" destOrd="0" presId="urn:microsoft.com/office/officeart/2005/8/layout/list1"/>
    <dgm:cxn modelId="{A064028A-4F92-4DB8-BF65-634A4464D597}"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2DAF3A-D415-4FB4-B92B-C40C431FA191}" type="doc">
      <dgm:prSet loTypeId="urn:microsoft.com/office/officeart/2005/8/layout/vList5" loCatId="list" qsTypeId="urn:microsoft.com/office/officeart/2005/8/quickstyle/simple1" qsCatId="simple" csTypeId="urn:microsoft.com/office/officeart/2005/8/colors/accent0_2" csCatId="mainScheme" phldr="1"/>
      <dgm:spPr/>
      <dgm:t>
        <a:bodyPr/>
        <a:lstStyle/>
        <a:p>
          <a:endParaRPr lang="en-IN"/>
        </a:p>
      </dgm:t>
    </dgm:pt>
    <dgm:pt modelId="{67D195BA-6773-42B0-8AD8-CBB4AE998CF7}">
      <dgm:prSet phldrT="[Text]" phldr="0"/>
      <dgm:spPr/>
      <dgm:t>
        <a:bodyPr/>
        <a:lstStyle/>
        <a:p>
          <a:r>
            <a:rPr lang="en-IN">
              <a:latin typeface="Fira Sans" panose="020B0503050000020004" pitchFamily="34" charset="0"/>
            </a:rPr>
            <a:t>Application Assessment</a:t>
          </a:r>
        </a:p>
      </dgm:t>
    </dgm:pt>
    <dgm:pt modelId="{9A6212C1-78E5-4461-8EFE-B02D54A10C7B}" type="parTrans" cxnId="{FD1D986E-248E-40DC-97E4-FA3DD6EB94B4}">
      <dgm:prSet/>
      <dgm:spPr/>
      <dgm:t>
        <a:bodyPr/>
        <a:lstStyle/>
        <a:p>
          <a:endParaRPr lang="en-IN">
            <a:latin typeface="Fira Sans" panose="020B0503050000020004" pitchFamily="34" charset="0"/>
          </a:endParaRPr>
        </a:p>
      </dgm:t>
    </dgm:pt>
    <dgm:pt modelId="{26B5A77C-10F1-4B91-8C98-D85DC2263675}" type="sibTrans" cxnId="{FD1D986E-248E-40DC-97E4-FA3DD6EB94B4}">
      <dgm:prSet/>
      <dgm:spPr/>
      <dgm:t>
        <a:bodyPr/>
        <a:lstStyle/>
        <a:p>
          <a:endParaRPr lang="en-IN">
            <a:latin typeface="Fira Sans" panose="020B0503050000020004" pitchFamily="34" charset="0"/>
          </a:endParaRPr>
        </a:p>
      </dgm:t>
    </dgm:pt>
    <dgm:pt modelId="{4368DBCA-21BB-4CAF-83A8-616E1F1886C4}">
      <dgm:prSet phldrT="[Text]" custT="1"/>
      <dgm:spPr/>
      <dgm:t>
        <a:bodyPr/>
        <a:lstStyle/>
        <a:p>
          <a:r>
            <a:rPr lang="en-IN" sz="2800">
              <a:solidFill>
                <a:schemeClr val="tx1"/>
              </a:solidFill>
              <a:latin typeface="Fira Sans" panose="020B0503050000020004" pitchFamily="34" charset="0"/>
            </a:rPr>
            <a:t>Scoping &amp; Profiling workshops</a:t>
          </a:r>
        </a:p>
      </dgm:t>
    </dgm:pt>
    <dgm:pt modelId="{A4472896-0330-4268-8654-BF8E199CEED7}" type="parTrans" cxnId="{8C0AE59F-86F4-4E11-A486-0CCB76A68E5D}">
      <dgm:prSet/>
      <dgm:spPr/>
      <dgm:t>
        <a:bodyPr/>
        <a:lstStyle/>
        <a:p>
          <a:endParaRPr lang="en-IN">
            <a:latin typeface="Fira Sans" panose="020B0503050000020004" pitchFamily="34" charset="0"/>
          </a:endParaRPr>
        </a:p>
      </dgm:t>
    </dgm:pt>
    <dgm:pt modelId="{74408ECB-BD21-4C16-863D-565FCBCC0F0B}" type="sibTrans" cxnId="{8C0AE59F-86F4-4E11-A486-0CCB76A68E5D}">
      <dgm:prSet/>
      <dgm:spPr/>
      <dgm:t>
        <a:bodyPr/>
        <a:lstStyle/>
        <a:p>
          <a:endParaRPr lang="en-IN">
            <a:latin typeface="Fira Sans" panose="020B0503050000020004" pitchFamily="34" charset="0"/>
          </a:endParaRPr>
        </a:p>
      </dgm:t>
    </dgm:pt>
    <dgm:pt modelId="{57F38E0C-BAAD-43CE-8B76-3C2D662D58E4}">
      <dgm:prSet phldrT="[Text]" phldr="0"/>
      <dgm:spPr/>
      <dgm:t>
        <a:bodyPr/>
        <a:lstStyle/>
        <a:p>
          <a:r>
            <a:rPr lang="en-IN">
              <a:latin typeface="Fira Sans" panose="020B0503050000020004" pitchFamily="34" charset="0"/>
            </a:rPr>
            <a:t>Infrastructure &amp; Security Assessment</a:t>
          </a:r>
        </a:p>
      </dgm:t>
    </dgm:pt>
    <dgm:pt modelId="{4C044333-2E03-40E7-B4F4-51FB3E499FEB}" type="parTrans" cxnId="{8BBCA138-38E6-40BD-9E22-6D661CE94297}">
      <dgm:prSet/>
      <dgm:spPr/>
      <dgm:t>
        <a:bodyPr/>
        <a:lstStyle/>
        <a:p>
          <a:endParaRPr lang="en-IN">
            <a:latin typeface="Fira Sans" panose="020B0503050000020004" pitchFamily="34" charset="0"/>
          </a:endParaRPr>
        </a:p>
      </dgm:t>
    </dgm:pt>
    <dgm:pt modelId="{24B6FA3F-A317-4D07-BD6F-A9404FCFDB5A}" type="sibTrans" cxnId="{8BBCA138-38E6-40BD-9E22-6D661CE94297}">
      <dgm:prSet/>
      <dgm:spPr/>
      <dgm:t>
        <a:bodyPr/>
        <a:lstStyle/>
        <a:p>
          <a:endParaRPr lang="en-IN">
            <a:latin typeface="Fira Sans" panose="020B0503050000020004" pitchFamily="34" charset="0"/>
          </a:endParaRPr>
        </a:p>
      </dgm:t>
    </dgm:pt>
    <dgm:pt modelId="{0DFFC9C5-DF8D-4A55-8201-AD6B099890AF}">
      <dgm:prSet phldrT="[Text]" custT="1"/>
      <dgm:spPr/>
      <dgm:t>
        <a:bodyPr/>
        <a:lstStyle/>
        <a:p>
          <a:r>
            <a:rPr lang="en-IN" sz="2800">
              <a:solidFill>
                <a:schemeClr val="tx1"/>
              </a:solidFill>
              <a:latin typeface="Fira Sans" panose="020B0503050000020004" pitchFamily="34" charset="0"/>
            </a:rPr>
            <a:t>Right-sizing of workloads</a:t>
          </a:r>
        </a:p>
      </dgm:t>
    </dgm:pt>
    <dgm:pt modelId="{83948DC6-A194-4B29-928B-F2B9FEFF81A9}" type="parTrans" cxnId="{3529C82D-98DE-41FF-91D7-F9ECD90C163B}">
      <dgm:prSet/>
      <dgm:spPr/>
      <dgm:t>
        <a:bodyPr/>
        <a:lstStyle/>
        <a:p>
          <a:endParaRPr lang="en-IN">
            <a:latin typeface="Fira Sans" panose="020B0503050000020004" pitchFamily="34" charset="0"/>
          </a:endParaRPr>
        </a:p>
      </dgm:t>
    </dgm:pt>
    <dgm:pt modelId="{45E2C07A-6660-45D0-9D83-919B32A0028D}" type="sibTrans" cxnId="{3529C82D-98DE-41FF-91D7-F9ECD90C163B}">
      <dgm:prSet/>
      <dgm:spPr/>
      <dgm:t>
        <a:bodyPr/>
        <a:lstStyle/>
        <a:p>
          <a:endParaRPr lang="en-IN">
            <a:latin typeface="Fira Sans" panose="020B0503050000020004" pitchFamily="34" charset="0"/>
          </a:endParaRPr>
        </a:p>
      </dgm:t>
    </dgm:pt>
    <dgm:pt modelId="{E3AF57B9-6C38-4E97-A5A9-A7189DE993CD}">
      <dgm:prSet phldrT="[Text]" phldr="0"/>
      <dgm:spPr/>
      <dgm:t>
        <a:bodyPr/>
        <a:lstStyle/>
        <a:p>
          <a:r>
            <a:rPr lang="en-IN">
              <a:latin typeface="Fira Sans" panose="020B0503050000020004" pitchFamily="34" charset="0"/>
            </a:rPr>
            <a:t>Database Modernization Assessment</a:t>
          </a:r>
        </a:p>
      </dgm:t>
    </dgm:pt>
    <dgm:pt modelId="{C47BE4C0-70B5-4A56-99C2-15337293BDA7}" type="parTrans" cxnId="{90F530F0-ABCC-4475-AC85-77AF8235C262}">
      <dgm:prSet/>
      <dgm:spPr/>
      <dgm:t>
        <a:bodyPr/>
        <a:lstStyle/>
        <a:p>
          <a:endParaRPr lang="en-IN">
            <a:latin typeface="Fira Sans" panose="020B0503050000020004" pitchFamily="34" charset="0"/>
          </a:endParaRPr>
        </a:p>
      </dgm:t>
    </dgm:pt>
    <dgm:pt modelId="{8635A3DE-563B-4499-ABCE-1B8C84D956B4}" type="sibTrans" cxnId="{90F530F0-ABCC-4475-AC85-77AF8235C262}">
      <dgm:prSet/>
      <dgm:spPr/>
      <dgm:t>
        <a:bodyPr/>
        <a:lstStyle/>
        <a:p>
          <a:endParaRPr lang="en-IN">
            <a:latin typeface="Fira Sans" panose="020B0503050000020004" pitchFamily="34" charset="0"/>
          </a:endParaRPr>
        </a:p>
      </dgm:t>
    </dgm:pt>
    <dgm:pt modelId="{BBBEA5D4-9FBE-4E3E-A78D-E809E20102BE}">
      <dgm:prSet phldrT="[Text]" custT="1"/>
      <dgm:spPr/>
      <dgm:t>
        <a:bodyPr/>
        <a:lstStyle/>
        <a:p>
          <a:r>
            <a:rPr lang="en-IN" sz="2800">
              <a:solidFill>
                <a:schemeClr val="tx1"/>
              </a:solidFill>
              <a:latin typeface="Fira Sans" panose="020B0503050000020004" pitchFamily="34" charset="0"/>
            </a:rPr>
            <a:t>Deep dive on Oracle database modernization</a:t>
          </a:r>
        </a:p>
      </dgm:t>
    </dgm:pt>
    <dgm:pt modelId="{3C43FF0A-DA76-413D-BDDD-81BA333A9DEE}" type="parTrans" cxnId="{F2660E46-F9D8-4E23-BC92-82C48DCED22B}">
      <dgm:prSet/>
      <dgm:spPr/>
      <dgm:t>
        <a:bodyPr/>
        <a:lstStyle/>
        <a:p>
          <a:endParaRPr lang="en-IN">
            <a:latin typeface="Fira Sans" panose="020B0503050000020004" pitchFamily="34" charset="0"/>
          </a:endParaRPr>
        </a:p>
      </dgm:t>
    </dgm:pt>
    <dgm:pt modelId="{0ACA4CCE-F1FC-484F-8EEF-D81D37C9605D}" type="sibTrans" cxnId="{F2660E46-F9D8-4E23-BC92-82C48DCED22B}">
      <dgm:prSet/>
      <dgm:spPr/>
      <dgm:t>
        <a:bodyPr/>
        <a:lstStyle/>
        <a:p>
          <a:endParaRPr lang="en-IN">
            <a:latin typeface="Fira Sans" panose="020B0503050000020004" pitchFamily="34" charset="0"/>
          </a:endParaRPr>
        </a:p>
      </dgm:t>
    </dgm:pt>
    <dgm:pt modelId="{D96B0EA0-FAA3-4C3B-BFA2-7F2791F9B3D0}">
      <dgm:prSet phldrT="[Text]" custT="1"/>
      <dgm:spPr/>
      <dgm:t>
        <a:bodyPr/>
        <a:lstStyle/>
        <a:p>
          <a:r>
            <a:rPr lang="en-IN" sz="2800">
              <a:solidFill>
                <a:schemeClr val="tx1"/>
              </a:solidFill>
              <a:latin typeface="Fira Sans" panose="020B0503050000020004" pitchFamily="34" charset="0"/>
            </a:rPr>
            <a:t>SQL Server licensing optimisation</a:t>
          </a:r>
        </a:p>
      </dgm:t>
    </dgm:pt>
    <dgm:pt modelId="{F78537DD-1AF5-4FD3-9226-249BC99045B1}" type="parTrans" cxnId="{DE28E0D6-87EE-47FF-970D-13E0D53D9D67}">
      <dgm:prSet/>
      <dgm:spPr/>
      <dgm:t>
        <a:bodyPr/>
        <a:lstStyle/>
        <a:p>
          <a:endParaRPr lang="en-IN">
            <a:latin typeface="Fira Sans" panose="020B0503050000020004" pitchFamily="34" charset="0"/>
          </a:endParaRPr>
        </a:p>
      </dgm:t>
    </dgm:pt>
    <dgm:pt modelId="{66515871-255A-4B72-9F7D-6DBBE71C7E6F}" type="sibTrans" cxnId="{DE28E0D6-87EE-47FF-970D-13E0D53D9D67}">
      <dgm:prSet/>
      <dgm:spPr/>
      <dgm:t>
        <a:bodyPr/>
        <a:lstStyle/>
        <a:p>
          <a:endParaRPr lang="en-IN">
            <a:latin typeface="Fira Sans" panose="020B0503050000020004" pitchFamily="34" charset="0"/>
          </a:endParaRPr>
        </a:p>
      </dgm:t>
    </dgm:pt>
    <dgm:pt modelId="{3AF0990B-7205-4DF8-816E-DB71C6BD6FFF}">
      <dgm:prSet phldrT="[Text]" custT="1"/>
      <dgm:spPr/>
      <dgm:t>
        <a:bodyPr/>
        <a:lstStyle/>
        <a:p>
          <a:r>
            <a:rPr lang="en-IN" sz="2800">
              <a:solidFill>
                <a:schemeClr val="tx1"/>
              </a:solidFill>
              <a:latin typeface="Fira Sans" panose="020B0503050000020004" pitchFamily="34" charset="0"/>
            </a:rPr>
            <a:t>7R’s disposition analysis</a:t>
          </a:r>
        </a:p>
      </dgm:t>
    </dgm:pt>
    <dgm:pt modelId="{B598E66F-F4A3-47DD-9A16-801A7F40C956}" type="parTrans" cxnId="{8BA547BD-B69F-4054-851D-5AF1D07AD310}">
      <dgm:prSet/>
      <dgm:spPr/>
      <dgm:t>
        <a:bodyPr/>
        <a:lstStyle/>
        <a:p>
          <a:endParaRPr lang="en-IN"/>
        </a:p>
      </dgm:t>
    </dgm:pt>
    <dgm:pt modelId="{2C7295F7-1D83-4251-815B-0B62378A9C67}" type="sibTrans" cxnId="{8BA547BD-B69F-4054-851D-5AF1D07AD310}">
      <dgm:prSet/>
      <dgm:spPr/>
      <dgm:t>
        <a:bodyPr/>
        <a:lstStyle/>
        <a:p>
          <a:endParaRPr lang="en-IN"/>
        </a:p>
      </dgm:t>
    </dgm:pt>
    <dgm:pt modelId="{E24DB78B-4231-4550-90C5-A4B9ADAA6444}">
      <dgm:prSet phldrT="[Text]" custT="1"/>
      <dgm:spPr/>
      <dgm:t>
        <a:bodyPr/>
        <a:lstStyle/>
        <a:p>
          <a:r>
            <a:rPr lang="en-IN" sz="2800">
              <a:solidFill>
                <a:schemeClr val="tx1"/>
              </a:solidFill>
              <a:latin typeface="Fira Sans" panose="020B0503050000020004" pitchFamily="34" charset="0"/>
            </a:rPr>
            <a:t>Obsolescence analysis of legacy OS</a:t>
          </a:r>
        </a:p>
      </dgm:t>
    </dgm:pt>
    <dgm:pt modelId="{A0A8B820-6940-400E-A3E8-74D5FCFDD5C2}" type="parTrans" cxnId="{AF56C73B-F11F-48FB-BE5E-8DCEFDED7741}">
      <dgm:prSet/>
      <dgm:spPr/>
      <dgm:t>
        <a:bodyPr/>
        <a:lstStyle/>
        <a:p>
          <a:endParaRPr lang="en-IN"/>
        </a:p>
      </dgm:t>
    </dgm:pt>
    <dgm:pt modelId="{7D0A9E30-EC2F-49C8-9D07-F21653993397}" type="sibTrans" cxnId="{AF56C73B-F11F-48FB-BE5E-8DCEFDED7741}">
      <dgm:prSet/>
      <dgm:spPr/>
      <dgm:t>
        <a:bodyPr/>
        <a:lstStyle/>
        <a:p>
          <a:endParaRPr lang="en-IN"/>
        </a:p>
      </dgm:t>
    </dgm:pt>
    <dgm:pt modelId="{D8DCDC97-B382-4484-8065-017E4A5EB6AC}">
      <dgm:prSet phldrT="[Text]" custT="1"/>
      <dgm:spPr/>
      <dgm:t>
        <a:bodyPr/>
        <a:lstStyle/>
        <a:p>
          <a:r>
            <a:rPr lang="en-IN" sz="2800">
              <a:solidFill>
                <a:schemeClr val="tx1"/>
              </a:solidFill>
              <a:latin typeface="Fira Sans" panose="020B0503050000020004" pitchFamily="34" charset="0"/>
            </a:rPr>
            <a:t>Review of IAM &amp; Firewall rules </a:t>
          </a:r>
        </a:p>
      </dgm:t>
    </dgm:pt>
    <dgm:pt modelId="{28F5E989-9963-466D-9C75-CE717B3D1F73}" type="parTrans" cxnId="{984EEF87-978C-408E-AC84-4B99DDEE93C1}">
      <dgm:prSet/>
      <dgm:spPr/>
      <dgm:t>
        <a:bodyPr/>
        <a:lstStyle/>
        <a:p>
          <a:endParaRPr lang="en-IN"/>
        </a:p>
      </dgm:t>
    </dgm:pt>
    <dgm:pt modelId="{B737FD57-7270-4029-9008-5000AC3C1C09}" type="sibTrans" cxnId="{984EEF87-978C-408E-AC84-4B99DDEE93C1}">
      <dgm:prSet/>
      <dgm:spPr/>
      <dgm:t>
        <a:bodyPr/>
        <a:lstStyle/>
        <a:p>
          <a:endParaRPr lang="en-IN"/>
        </a:p>
      </dgm:t>
    </dgm:pt>
    <dgm:pt modelId="{73F3FD8E-554A-407E-95E4-C8ECF55C880E}">
      <dgm:prSet phldrT="[Text]" custT="1"/>
      <dgm:spPr/>
      <dgm:t>
        <a:bodyPr/>
        <a:lstStyle/>
        <a:p>
          <a:r>
            <a:rPr lang="en-IN" sz="2800">
              <a:solidFill>
                <a:schemeClr val="tx1"/>
              </a:solidFill>
              <a:latin typeface="Fira Sans" panose="020B0503050000020004" pitchFamily="34" charset="0"/>
            </a:rPr>
            <a:t>App Charter &amp; Migration strategy</a:t>
          </a:r>
        </a:p>
      </dgm:t>
    </dgm:pt>
    <dgm:pt modelId="{CB10DF02-BBD9-40EE-AA88-F44640F3A9B7}" type="parTrans" cxnId="{DA132A16-BC01-43BC-8581-0FE3079F5F19}">
      <dgm:prSet/>
      <dgm:spPr/>
      <dgm:t>
        <a:bodyPr/>
        <a:lstStyle/>
        <a:p>
          <a:endParaRPr lang="en-IN"/>
        </a:p>
      </dgm:t>
    </dgm:pt>
    <dgm:pt modelId="{3FFFBDB1-75BB-4CE4-B726-F6E87491BAD4}" type="sibTrans" cxnId="{DA132A16-BC01-43BC-8581-0FE3079F5F19}">
      <dgm:prSet/>
      <dgm:spPr/>
      <dgm:t>
        <a:bodyPr/>
        <a:lstStyle/>
        <a:p>
          <a:endParaRPr lang="en-IN"/>
        </a:p>
      </dgm:t>
    </dgm:pt>
    <dgm:pt modelId="{9996A890-6F7E-4C13-B244-C3390B5FB025}" type="pres">
      <dgm:prSet presAssocID="{882DAF3A-D415-4FB4-B92B-C40C431FA191}" presName="Name0" presStyleCnt="0">
        <dgm:presLayoutVars>
          <dgm:dir/>
          <dgm:animLvl val="lvl"/>
          <dgm:resizeHandles val="exact"/>
        </dgm:presLayoutVars>
      </dgm:prSet>
      <dgm:spPr/>
    </dgm:pt>
    <dgm:pt modelId="{E6D3F967-E869-4ECB-8799-B3D64537C524}" type="pres">
      <dgm:prSet presAssocID="{67D195BA-6773-42B0-8AD8-CBB4AE998CF7}" presName="linNode" presStyleCnt="0"/>
      <dgm:spPr/>
    </dgm:pt>
    <dgm:pt modelId="{FA96151B-5072-42AB-8191-1F458EC7494F}" type="pres">
      <dgm:prSet presAssocID="{67D195BA-6773-42B0-8AD8-CBB4AE998CF7}" presName="parentText" presStyleLbl="node1" presStyleIdx="0" presStyleCnt="3">
        <dgm:presLayoutVars>
          <dgm:chMax val="1"/>
          <dgm:bulletEnabled val="1"/>
        </dgm:presLayoutVars>
      </dgm:prSet>
      <dgm:spPr/>
    </dgm:pt>
    <dgm:pt modelId="{A081CFFA-22B3-49BC-8171-BAEC85CDC543}" type="pres">
      <dgm:prSet presAssocID="{67D195BA-6773-42B0-8AD8-CBB4AE998CF7}" presName="descendantText" presStyleLbl="alignAccFollowNode1" presStyleIdx="0" presStyleCnt="3">
        <dgm:presLayoutVars>
          <dgm:bulletEnabled val="1"/>
        </dgm:presLayoutVars>
      </dgm:prSet>
      <dgm:spPr/>
    </dgm:pt>
    <dgm:pt modelId="{8B7248D2-51D7-4CCA-9D2B-1AE543ECF706}" type="pres">
      <dgm:prSet presAssocID="{26B5A77C-10F1-4B91-8C98-D85DC2263675}" presName="sp" presStyleCnt="0"/>
      <dgm:spPr/>
    </dgm:pt>
    <dgm:pt modelId="{308A25D8-F13C-41AE-AFF6-C53FE0277381}" type="pres">
      <dgm:prSet presAssocID="{57F38E0C-BAAD-43CE-8B76-3C2D662D58E4}" presName="linNode" presStyleCnt="0"/>
      <dgm:spPr/>
    </dgm:pt>
    <dgm:pt modelId="{CE52BF42-3FDD-4DFA-9E9B-1D275E0389BC}" type="pres">
      <dgm:prSet presAssocID="{57F38E0C-BAAD-43CE-8B76-3C2D662D58E4}" presName="parentText" presStyleLbl="node1" presStyleIdx="1" presStyleCnt="3">
        <dgm:presLayoutVars>
          <dgm:chMax val="1"/>
          <dgm:bulletEnabled val="1"/>
        </dgm:presLayoutVars>
      </dgm:prSet>
      <dgm:spPr/>
    </dgm:pt>
    <dgm:pt modelId="{541D4A01-3A5C-49AB-BE70-E7CEAA356F70}" type="pres">
      <dgm:prSet presAssocID="{57F38E0C-BAAD-43CE-8B76-3C2D662D58E4}" presName="descendantText" presStyleLbl="alignAccFollowNode1" presStyleIdx="1" presStyleCnt="3">
        <dgm:presLayoutVars>
          <dgm:bulletEnabled val="1"/>
        </dgm:presLayoutVars>
      </dgm:prSet>
      <dgm:spPr/>
    </dgm:pt>
    <dgm:pt modelId="{E935F221-7307-4127-BFCA-06DB71F9613A}" type="pres">
      <dgm:prSet presAssocID="{24B6FA3F-A317-4D07-BD6F-A9404FCFDB5A}" presName="sp" presStyleCnt="0"/>
      <dgm:spPr/>
    </dgm:pt>
    <dgm:pt modelId="{5C7FE912-8D5D-4A48-AB6A-BCE6A388FD16}" type="pres">
      <dgm:prSet presAssocID="{E3AF57B9-6C38-4E97-A5A9-A7189DE993CD}" presName="linNode" presStyleCnt="0"/>
      <dgm:spPr/>
    </dgm:pt>
    <dgm:pt modelId="{6D7C665C-12A8-4F6D-B089-50DC37EEA787}" type="pres">
      <dgm:prSet presAssocID="{E3AF57B9-6C38-4E97-A5A9-A7189DE993CD}" presName="parentText" presStyleLbl="node1" presStyleIdx="2" presStyleCnt="3">
        <dgm:presLayoutVars>
          <dgm:chMax val="1"/>
          <dgm:bulletEnabled val="1"/>
        </dgm:presLayoutVars>
      </dgm:prSet>
      <dgm:spPr/>
    </dgm:pt>
    <dgm:pt modelId="{0D544D50-484E-4721-A367-E7D15778C077}" type="pres">
      <dgm:prSet presAssocID="{E3AF57B9-6C38-4E97-A5A9-A7189DE993CD}" presName="descendantText" presStyleLbl="alignAccFollowNode1" presStyleIdx="2" presStyleCnt="3">
        <dgm:presLayoutVars>
          <dgm:bulletEnabled val="1"/>
        </dgm:presLayoutVars>
      </dgm:prSet>
      <dgm:spPr/>
    </dgm:pt>
  </dgm:ptLst>
  <dgm:cxnLst>
    <dgm:cxn modelId="{DA132A16-BC01-43BC-8581-0FE3079F5F19}" srcId="{67D195BA-6773-42B0-8AD8-CBB4AE998CF7}" destId="{73F3FD8E-554A-407E-95E4-C8ECF55C880E}" srcOrd="2" destOrd="0" parTransId="{CB10DF02-BBD9-40EE-AA88-F44640F3A9B7}" sibTransId="{3FFFBDB1-75BB-4CE4-B726-F6E87491BAD4}"/>
    <dgm:cxn modelId="{3529C82D-98DE-41FF-91D7-F9ECD90C163B}" srcId="{57F38E0C-BAAD-43CE-8B76-3C2D662D58E4}" destId="{0DFFC9C5-DF8D-4A55-8201-AD6B099890AF}" srcOrd="0" destOrd="0" parTransId="{83948DC6-A194-4B29-928B-F2B9FEFF81A9}" sibTransId="{45E2C07A-6660-45D0-9D83-919B32A0028D}"/>
    <dgm:cxn modelId="{8BBCA138-38E6-40BD-9E22-6D661CE94297}" srcId="{882DAF3A-D415-4FB4-B92B-C40C431FA191}" destId="{57F38E0C-BAAD-43CE-8B76-3C2D662D58E4}" srcOrd="1" destOrd="0" parTransId="{4C044333-2E03-40E7-B4F4-51FB3E499FEB}" sibTransId="{24B6FA3F-A317-4D07-BD6F-A9404FCFDB5A}"/>
    <dgm:cxn modelId="{AF56C73B-F11F-48FB-BE5E-8DCEFDED7741}" srcId="{57F38E0C-BAAD-43CE-8B76-3C2D662D58E4}" destId="{E24DB78B-4231-4550-90C5-A4B9ADAA6444}" srcOrd="1" destOrd="0" parTransId="{A0A8B820-6940-400E-A3E8-74D5FCFDD5C2}" sibTransId="{7D0A9E30-EC2F-49C8-9D07-F21653993397}"/>
    <dgm:cxn modelId="{46BBE944-4245-456C-B130-C6BC8D1DD748}" type="presOf" srcId="{D8DCDC97-B382-4484-8065-017E4A5EB6AC}" destId="{541D4A01-3A5C-49AB-BE70-E7CEAA356F70}" srcOrd="0" destOrd="2" presId="urn:microsoft.com/office/officeart/2005/8/layout/vList5"/>
    <dgm:cxn modelId="{F2660E46-F9D8-4E23-BC92-82C48DCED22B}" srcId="{E3AF57B9-6C38-4E97-A5A9-A7189DE993CD}" destId="{BBBEA5D4-9FBE-4E3E-A78D-E809E20102BE}" srcOrd="0" destOrd="0" parTransId="{3C43FF0A-DA76-413D-BDDD-81BA333A9DEE}" sibTransId="{0ACA4CCE-F1FC-484F-8EEF-D81D37C9605D}"/>
    <dgm:cxn modelId="{FD1D986E-248E-40DC-97E4-FA3DD6EB94B4}" srcId="{882DAF3A-D415-4FB4-B92B-C40C431FA191}" destId="{67D195BA-6773-42B0-8AD8-CBB4AE998CF7}" srcOrd="0" destOrd="0" parTransId="{9A6212C1-78E5-4461-8EFE-B02D54A10C7B}" sibTransId="{26B5A77C-10F1-4B91-8C98-D85DC2263675}"/>
    <dgm:cxn modelId="{45F74C72-70C3-4DE4-A9EF-4F299412A1A2}" type="presOf" srcId="{D96B0EA0-FAA3-4C3B-BFA2-7F2791F9B3D0}" destId="{0D544D50-484E-4721-A367-E7D15778C077}" srcOrd="0" destOrd="1" presId="urn:microsoft.com/office/officeart/2005/8/layout/vList5"/>
    <dgm:cxn modelId="{3EA2AF72-940A-49C9-A1C7-709AF47D40F3}" type="presOf" srcId="{0DFFC9C5-DF8D-4A55-8201-AD6B099890AF}" destId="{541D4A01-3A5C-49AB-BE70-E7CEAA356F70}" srcOrd="0" destOrd="0" presId="urn:microsoft.com/office/officeart/2005/8/layout/vList5"/>
    <dgm:cxn modelId="{86F9DD59-2D21-4BB4-BEEE-2705ECC319A8}" type="presOf" srcId="{E24DB78B-4231-4550-90C5-A4B9ADAA6444}" destId="{541D4A01-3A5C-49AB-BE70-E7CEAA356F70}" srcOrd="0" destOrd="1" presId="urn:microsoft.com/office/officeart/2005/8/layout/vList5"/>
    <dgm:cxn modelId="{984EEF87-978C-408E-AC84-4B99DDEE93C1}" srcId="{57F38E0C-BAAD-43CE-8B76-3C2D662D58E4}" destId="{D8DCDC97-B382-4484-8065-017E4A5EB6AC}" srcOrd="2" destOrd="0" parTransId="{28F5E989-9963-466D-9C75-CE717B3D1F73}" sibTransId="{B737FD57-7270-4029-9008-5000AC3C1C09}"/>
    <dgm:cxn modelId="{8C0AE59F-86F4-4E11-A486-0CCB76A68E5D}" srcId="{67D195BA-6773-42B0-8AD8-CBB4AE998CF7}" destId="{4368DBCA-21BB-4CAF-83A8-616E1F1886C4}" srcOrd="0" destOrd="0" parTransId="{A4472896-0330-4268-8654-BF8E199CEED7}" sibTransId="{74408ECB-BD21-4C16-863D-565FCBCC0F0B}"/>
    <dgm:cxn modelId="{6DADEEB0-0FE1-4AC6-BF61-8B95DF919729}" type="presOf" srcId="{73F3FD8E-554A-407E-95E4-C8ECF55C880E}" destId="{A081CFFA-22B3-49BC-8171-BAEC85CDC543}" srcOrd="0" destOrd="2" presId="urn:microsoft.com/office/officeart/2005/8/layout/vList5"/>
    <dgm:cxn modelId="{F98101B8-5F9D-41B4-AD15-8C8FA655D85A}" type="presOf" srcId="{3AF0990B-7205-4DF8-816E-DB71C6BD6FFF}" destId="{A081CFFA-22B3-49BC-8171-BAEC85CDC543}" srcOrd="0" destOrd="1" presId="urn:microsoft.com/office/officeart/2005/8/layout/vList5"/>
    <dgm:cxn modelId="{44E223BA-5FDB-4426-A4C9-37F737F95FBC}" type="presOf" srcId="{4368DBCA-21BB-4CAF-83A8-616E1F1886C4}" destId="{A081CFFA-22B3-49BC-8171-BAEC85CDC543}" srcOrd="0" destOrd="0" presId="urn:microsoft.com/office/officeart/2005/8/layout/vList5"/>
    <dgm:cxn modelId="{8BA547BD-B69F-4054-851D-5AF1D07AD310}" srcId="{67D195BA-6773-42B0-8AD8-CBB4AE998CF7}" destId="{3AF0990B-7205-4DF8-816E-DB71C6BD6FFF}" srcOrd="1" destOrd="0" parTransId="{B598E66F-F4A3-47DD-9A16-801A7F40C956}" sibTransId="{2C7295F7-1D83-4251-815B-0B62378A9C67}"/>
    <dgm:cxn modelId="{4F8AD9C2-1869-4E6A-BD63-F43EEC10F7A3}" type="presOf" srcId="{57F38E0C-BAAD-43CE-8B76-3C2D662D58E4}" destId="{CE52BF42-3FDD-4DFA-9E9B-1D275E0389BC}" srcOrd="0" destOrd="0" presId="urn:microsoft.com/office/officeart/2005/8/layout/vList5"/>
    <dgm:cxn modelId="{DE28E0D6-87EE-47FF-970D-13E0D53D9D67}" srcId="{E3AF57B9-6C38-4E97-A5A9-A7189DE993CD}" destId="{D96B0EA0-FAA3-4C3B-BFA2-7F2791F9B3D0}" srcOrd="1" destOrd="0" parTransId="{F78537DD-1AF5-4FD3-9226-249BC99045B1}" sibTransId="{66515871-255A-4B72-9F7D-6DBBE71C7E6F}"/>
    <dgm:cxn modelId="{E4C71BE2-1360-4B75-8895-DB1425758C1C}" type="presOf" srcId="{67D195BA-6773-42B0-8AD8-CBB4AE998CF7}" destId="{FA96151B-5072-42AB-8191-1F458EC7494F}" srcOrd="0" destOrd="0" presId="urn:microsoft.com/office/officeart/2005/8/layout/vList5"/>
    <dgm:cxn modelId="{9A0408E3-3457-40E6-A29F-46A26BA896EB}" type="presOf" srcId="{882DAF3A-D415-4FB4-B92B-C40C431FA191}" destId="{9996A890-6F7E-4C13-B244-C3390B5FB025}" srcOrd="0" destOrd="0" presId="urn:microsoft.com/office/officeart/2005/8/layout/vList5"/>
    <dgm:cxn modelId="{A37652E9-0687-4967-8D75-BCF18AAC99CE}" type="presOf" srcId="{E3AF57B9-6C38-4E97-A5A9-A7189DE993CD}" destId="{6D7C665C-12A8-4F6D-B089-50DC37EEA787}" srcOrd="0" destOrd="0" presId="urn:microsoft.com/office/officeart/2005/8/layout/vList5"/>
    <dgm:cxn modelId="{90F530F0-ABCC-4475-AC85-77AF8235C262}" srcId="{882DAF3A-D415-4FB4-B92B-C40C431FA191}" destId="{E3AF57B9-6C38-4E97-A5A9-A7189DE993CD}" srcOrd="2" destOrd="0" parTransId="{C47BE4C0-70B5-4A56-99C2-15337293BDA7}" sibTransId="{8635A3DE-563B-4499-ABCE-1B8C84D956B4}"/>
    <dgm:cxn modelId="{C49945F2-9233-496F-849B-855CB671A102}" type="presOf" srcId="{BBBEA5D4-9FBE-4E3E-A78D-E809E20102BE}" destId="{0D544D50-484E-4721-A367-E7D15778C077}" srcOrd="0" destOrd="0" presId="urn:microsoft.com/office/officeart/2005/8/layout/vList5"/>
    <dgm:cxn modelId="{F1282664-3DB2-4344-BF79-B675020D6BB5}" type="presParOf" srcId="{9996A890-6F7E-4C13-B244-C3390B5FB025}" destId="{E6D3F967-E869-4ECB-8799-B3D64537C524}" srcOrd="0" destOrd="0" presId="urn:microsoft.com/office/officeart/2005/8/layout/vList5"/>
    <dgm:cxn modelId="{5F4A0D4A-D732-4266-9FAE-022B79D0F2BA}" type="presParOf" srcId="{E6D3F967-E869-4ECB-8799-B3D64537C524}" destId="{FA96151B-5072-42AB-8191-1F458EC7494F}" srcOrd="0" destOrd="0" presId="urn:microsoft.com/office/officeart/2005/8/layout/vList5"/>
    <dgm:cxn modelId="{0F5F4FF0-9040-4175-836A-71E53DCAD34A}" type="presParOf" srcId="{E6D3F967-E869-4ECB-8799-B3D64537C524}" destId="{A081CFFA-22B3-49BC-8171-BAEC85CDC543}" srcOrd="1" destOrd="0" presId="urn:microsoft.com/office/officeart/2005/8/layout/vList5"/>
    <dgm:cxn modelId="{2EAA8024-278A-4DBD-9F79-1113AFD6CD65}" type="presParOf" srcId="{9996A890-6F7E-4C13-B244-C3390B5FB025}" destId="{8B7248D2-51D7-4CCA-9D2B-1AE543ECF706}" srcOrd="1" destOrd="0" presId="urn:microsoft.com/office/officeart/2005/8/layout/vList5"/>
    <dgm:cxn modelId="{495A765F-ADB3-4F2B-9323-53459EA571C1}" type="presParOf" srcId="{9996A890-6F7E-4C13-B244-C3390B5FB025}" destId="{308A25D8-F13C-41AE-AFF6-C53FE0277381}" srcOrd="2" destOrd="0" presId="urn:microsoft.com/office/officeart/2005/8/layout/vList5"/>
    <dgm:cxn modelId="{DCD2697C-E56B-4ABA-9C34-10C13AAA3A36}" type="presParOf" srcId="{308A25D8-F13C-41AE-AFF6-C53FE0277381}" destId="{CE52BF42-3FDD-4DFA-9E9B-1D275E0389BC}" srcOrd="0" destOrd="0" presId="urn:microsoft.com/office/officeart/2005/8/layout/vList5"/>
    <dgm:cxn modelId="{77BDC101-47A6-478F-8108-A564075EE881}" type="presParOf" srcId="{308A25D8-F13C-41AE-AFF6-C53FE0277381}" destId="{541D4A01-3A5C-49AB-BE70-E7CEAA356F70}" srcOrd="1" destOrd="0" presId="urn:microsoft.com/office/officeart/2005/8/layout/vList5"/>
    <dgm:cxn modelId="{B905BF68-6A4D-4F3F-89CA-3963466309FE}" type="presParOf" srcId="{9996A890-6F7E-4C13-B244-C3390B5FB025}" destId="{E935F221-7307-4127-BFCA-06DB71F9613A}" srcOrd="3" destOrd="0" presId="urn:microsoft.com/office/officeart/2005/8/layout/vList5"/>
    <dgm:cxn modelId="{BE9F91CD-0F42-48E8-A939-A86FDB72CD16}" type="presParOf" srcId="{9996A890-6F7E-4C13-B244-C3390B5FB025}" destId="{5C7FE912-8D5D-4A48-AB6A-BCE6A388FD16}" srcOrd="4" destOrd="0" presId="urn:microsoft.com/office/officeart/2005/8/layout/vList5"/>
    <dgm:cxn modelId="{24435600-F510-4A44-9227-B2F7CC5B1648}" type="presParOf" srcId="{5C7FE912-8D5D-4A48-AB6A-BCE6A388FD16}" destId="{6D7C665C-12A8-4F6D-B089-50DC37EEA787}" srcOrd="0" destOrd="0" presId="urn:microsoft.com/office/officeart/2005/8/layout/vList5"/>
    <dgm:cxn modelId="{50269EBD-6113-4AE0-A28E-A99CA1B87CA7}" type="presParOf" srcId="{5C7FE912-8D5D-4A48-AB6A-BCE6A388FD16}" destId="{0D544D50-484E-4721-A367-E7D15778C07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731916"/>
          <a:ext cx="9908674" cy="416744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Cloud Skills required</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Suggest partner to aid during transition phase</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fully featured LZ</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Assist with migrations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core security practices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foundational FinOps concept</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DevOps automation processes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Upskill in-house team</a:t>
          </a:r>
        </a:p>
      </dsp:txBody>
      <dsp:txXfrm>
        <a:off x="0" y="731916"/>
        <a:ext cx="9908674" cy="4167449"/>
      </dsp:txXfrm>
    </dsp:sp>
    <dsp:sp modelId="{40FE246F-30B4-0241-855E-3F1CA0A4AD4E}">
      <dsp:nvSpPr>
        <dsp:cNvPr id="0" name=""/>
        <dsp:cNvSpPr/>
      </dsp:nvSpPr>
      <dsp:spPr>
        <a:xfrm>
          <a:off x="495433" y="333396"/>
          <a:ext cx="6936071" cy="7970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Skills Gap</a:t>
          </a:r>
          <a:endParaRPr lang="en-GB" sz="2700" kern="1200"/>
        </a:p>
      </dsp:txBody>
      <dsp:txXfrm>
        <a:off x="534341" y="372304"/>
        <a:ext cx="6858255" cy="719223"/>
      </dsp:txXfrm>
    </dsp:sp>
    <dsp:sp modelId="{6EF8F0BE-A990-2C46-B789-BD6D93B89083}">
      <dsp:nvSpPr>
        <dsp:cNvPr id="0" name=""/>
        <dsp:cNvSpPr/>
      </dsp:nvSpPr>
      <dsp:spPr>
        <a:xfrm>
          <a:off x="0" y="5443686"/>
          <a:ext cx="9908674" cy="195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Where possible having </a:t>
          </a:r>
          <a:r>
            <a:rPr lang="en-GB" sz="2700" kern="1200" noProof="0" err="1">
              <a:latin typeface="Fira Sans" panose="020B0503050000020004" pitchFamily="34" charset="0"/>
            </a:rPr>
            <a:t>vmware</a:t>
          </a:r>
          <a:r>
            <a:rPr lang="en-GB" sz="2700" kern="1200" noProof="0">
              <a:latin typeface="Fira Sans" panose="020B0503050000020004" pitchFamily="34" charset="0"/>
            </a:rPr>
            <a:t> tools enabled gives a better perspective of performance inside the VM</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Update where possible</a:t>
          </a:r>
        </a:p>
      </dsp:txBody>
      <dsp:txXfrm>
        <a:off x="0" y="5443686"/>
        <a:ext cx="9908674" cy="1956150"/>
      </dsp:txXfrm>
    </dsp:sp>
    <dsp:sp modelId="{F91A1701-4279-DA45-AB93-345512E9FE74}">
      <dsp:nvSpPr>
        <dsp:cNvPr id="0" name=""/>
        <dsp:cNvSpPr/>
      </dsp:nvSpPr>
      <dsp:spPr>
        <a:xfrm>
          <a:off x="495433" y="5045166"/>
          <a:ext cx="6936071" cy="7970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err="1">
              <a:solidFill>
                <a:srgbClr val="FF0000"/>
              </a:solidFill>
              <a:latin typeface="Fira Sans Light" panose="020B0403050000020004" pitchFamily="34" charset="0"/>
            </a:rPr>
            <a:t>Vmware</a:t>
          </a:r>
          <a:r>
            <a:rPr lang="en-GB" sz="2700" kern="1200" noProof="0">
              <a:solidFill>
                <a:srgbClr val="FF0000"/>
              </a:solidFill>
              <a:latin typeface="Fira Sans Light" panose="020B0403050000020004" pitchFamily="34" charset="0"/>
            </a:rPr>
            <a:t> Tools</a:t>
          </a:r>
        </a:p>
      </dsp:txBody>
      <dsp:txXfrm>
        <a:off x="534341" y="5084074"/>
        <a:ext cx="6858255" cy="719223"/>
      </dsp:txXfrm>
    </dsp:sp>
    <dsp:sp modelId="{022DB784-03D2-A845-9D72-54957B3FC1F9}">
      <dsp:nvSpPr>
        <dsp:cNvPr id="0" name=""/>
        <dsp:cNvSpPr/>
      </dsp:nvSpPr>
      <dsp:spPr>
        <a:xfrm>
          <a:off x="0" y="7944156"/>
          <a:ext cx="9908674" cy="157342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highlight>
                <a:srgbClr val="FFFF00"/>
              </a:highlight>
              <a:latin typeface="Fira Sans" panose="020B0503050000020004" pitchFamily="34" charset="0"/>
            </a:rPr>
            <a:t>challenge</a:t>
          </a:r>
          <a:endParaRPr lang="en-GB" sz="2700" kern="1200">
            <a:highlight>
              <a:srgbClr val="FFFF00"/>
            </a:highlight>
          </a:endParaRPr>
        </a:p>
        <a:p>
          <a:pPr marL="228600" lvl="1" indent="-228600" algn="l" defTabSz="1200150">
            <a:lnSpc>
              <a:spcPct val="90000"/>
            </a:lnSpc>
            <a:spcBef>
              <a:spcPct val="0"/>
            </a:spcBef>
            <a:spcAft>
              <a:spcPct val="15000"/>
            </a:spcAft>
            <a:buChar char="•"/>
          </a:pPr>
          <a:r>
            <a:rPr lang="en-GB" sz="2700" kern="1200">
              <a:highlight>
                <a:srgbClr val="FFFF00"/>
              </a:highlight>
            </a:rPr>
            <a:t>response</a:t>
          </a:r>
        </a:p>
      </dsp:txBody>
      <dsp:txXfrm>
        <a:off x="0" y="7944156"/>
        <a:ext cx="9908674" cy="1573424"/>
      </dsp:txXfrm>
    </dsp:sp>
    <dsp:sp modelId="{1861625B-4C31-AC44-9FC7-4500A780C9AA}">
      <dsp:nvSpPr>
        <dsp:cNvPr id="0" name=""/>
        <dsp:cNvSpPr/>
      </dsp:nvSpPr>
      <dsp:spPr>
        <a:xfrm>
          <a:off x="495433" y="7545636"/>
          <a:ext cx="6936071" cy="7970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Appliances</a:t>
          </a:r>
        </a:p>
      </dsp:txBody>
      <dsp:txXfrm>
        <a:off x="534341" y="7584544"/>
        <a:ext cx="6858255" cy="719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444298"/>
          <a:ext cx="9908674" cy="3792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Consistent logins required for administrator access</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login methods for Linux/Windows</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accounts across MOL/ANL</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Ability to make changes</a:t>
          </a:r>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Some customers prefer to use a tool to manage PAM. (eg: Cyberark)</a:t>
          </a:r>
        </a:p>
      </dsp:txBody>
      <dsp:txXfrm>
        <a:off x="0" y="444298"/>
        <a:ext cx="9908674" cy="3792600"/>
      </dsp:txXfrm>
    </dsp:sp>
    <dsp:sp modelId="{40FE246F-30B4-0241-855E-3F1CA0A4AD4E}">
      <dsp:nvSpPr>
        <dsp:cNvPr id="0" name=""/>
        <dsp:cNvSpPr/>
      </dsp:nvSpPr>
      <dsp:spPr>
        <a:xfrm>
          <a:off x="495433" y="31018"/>
          <a:ext cx="6936071" cy="8265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Standardised Access</a:t>
          </a:r>
          <a:endParaRPr lang="en-GB" sz="2800" kern="1200"/>
        </a:p>
      </dsp:txBody>
      <dsp:txXfrm>
        <a:off x="535782" y="71367"/>
        <a:ext cx="6855373" cy="745861"/>
      </dsp:txXfrm>
    </dsp:sp>
    <dsp:sp modelId="{6EF8F0BE-A990-2C46-B789-BD6D93B89083}">
      <dsp:nvSpPr>
        <dsp:cNvPr id="0" name=""/>
        <dsp:cNvSpPr/>
      </dsp:nvSpPr>
      <dsp:spPr>
        <a:xfrm>
          <a:off x="0" y="4801378"/>
          <a:ext cx="9908674" cy="24254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Old unsupported OS types will take longer to move to Cloud</a:t>
          </a:r>
          <a:endParaRPr lang="en-GB" sz="2800" kern="1200"/>
        </a:p>
        <a:p>
          <a:pPr marL="285750" lvl="1" indent="-285750" algn="l" defTabSz="1244600">
            <a:lnSpc>
              <a:spcPct val="90000"/>
            </a:lnSpc>
            <a:spcBef>
              <a:spcPct val="0"/>
            </a:spcBef>
            <a:spcAft>
              <a:spcPct val="15000"/>
            </a:spcAft>
            <a:buChar char="•"/>
          </a:pPr>
          <a:r>
            <a:rPr lang="en-GB" sz="2800" kern="1200" noProof="0" err="1">
              <a:latin typeface="Fira Sans" panose="020B0503050000020004" pitchFamily="34" charset="0"/>
            </a:rPr>
            <a:t>Replatforming</a:t>
          </a:r>
          <a:r>
            <a:rPr lang="en-GB" sz="2800" kern="1200" noProof="0">
              <a:latin typeface="Fira Sans" panose="020B0503050000020004" pitchFamily="34" charset="0"/>
            </a:rPr>
            <a:t> is possible but must be factored into timeline.</a:t>
          </a:r>
        </a:p>
      </dsp:txBody>
      <dsp:txXfrm>
        <a:off x="0" y="4801378"/>
        <a:ext cx="9908674" cy="2425499"/>
      </dsp:txXfrm>
    </dsp:sp>
    <dsp:sp modelId="{F91A1701-4279-DA45-AB93-345512E9FE74}">
      <dsp:nvSpPr>
        <dsp:cNvPr id="0" name=""/>
        <dsp:cNvSpPr/>
      </dsp:nvSpPr>
      <dsp:spPr>
        <a:xfrm>
          <a:off x="495433" y="4388098"/>
          <a:ext cx="6936071" cy="8265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Legacy OS</a:t>
          </a:r>
        </a:p>
      </dsp:txBody>
      <dsp:txXfrm>
        <a:off x="535782" y="4428447"/>
        <a:ext cx="6855373" cy="745861"/>
      </dsp:txXfrm>
    </dsp:sp>
    <dsp:sp modelId="{022DB784-03D2-A845-9D72-54957B3FC1F9}">
      <dsp:nvSpPr>
        <dsp:cNvPr id="0" name=""/>
        <dsp:cNvSpPr/>
      </dsp:nvSpPr>
      <dsp:spPr>
        <a:xfrm>
          <a:off x="0" y="7791358"/>
          <a:ext cx="9908674" cy="2028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Risk of duplication or accidentally leaving out of migration</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Same hostnames with .int and .hsk </a:t>
          </a:r>
        </a:p>
      </dsp:txBody>
      <dsp:txXfrm>
        <a:off x="0" y="7791358"/>
        <a:ext cx="9908674" cy="2028600"/>
      </dsp:txXfrm>
    </dsp:sp>
    <dsp:sp modelId="{1861625B-4C31-AC44-9FC7-4500A780C9AA}">
      <dsp:nvSpPr>
        <dsp:cNvPr id="0" name=""/>
        <dsp:cNvSpPr/>
      </dsp:nvSpPr>
      <dsp:spPr>
        <a:xfrm>
          <a:off x="495433" y="7378078"/>
          <a:ext cx="6936071" cy="8265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Naming Conventions</a:t>
          </a:r>
        </a:p>
      </dsp:txBody>
      <dsp:txXfrm>
        <a:off x="535782" y="7418427"/>
        <a:ext cx="6855373" cy="7458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1CFFA-22B3-49BC-8171-BAEC85CDC543}">
      <dsp:nvSpPr>
        <dsp:cNvPr id="0" name=""/>
        <dsp:cNvSpPr/>
      </dsp:nvSpPr>
      <dsp:spPr>
        <a:xfrm rot="5400000">
          <a:off x="5189862" y="-1569161"/>
          <a:ext cx="2229640" cy="5933818"/>
        </a:xfrm>
        <a:prstGeom prst="round2Same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Scoping &amp; Profiling workshops</a:t>
          </a:r>
        </a:p>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7R’s disposition analysis</a:t>
          </a:r>
        </a:p>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App Charter &amp; Migration strategy</a:t>
          </a:r>
        </a:p>
      </dsp:txBody>
      <dsp:txXfrm rot="-5400000">
        <a:off x="3337773" y="391770"/>
        <a:ext cx="5824976" cy="2011956"/>
      </dsp:txXfrm>
    </dsp:sp>
    <dsp:sp modelId="{FA96151B-5072-42AB-8191-1F458EC7494F}">
      <dsp:nvSpPr>
        <dsp:cNvPr id="0" name=""/>
        <dsp:cNvSpPr/>
      </dsp:nvSpPr>
      <dsp:spPr>
        <a:xfrm>
          <a:off x="0" y="4222"/>
          <a:ext cx="3337773" cy="278705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IN" sz="3300" kern="1200">
              <a:latin typeface="Fira Sans" panose="020B0503050000020004" pitchFamily="34" charset="0"/>
            </a:rPr>
            <a:t>Application Assessment</a:t>
          </a:r>
        </a:p>
      </dsp:txBody>
      <dsp:txXfrm>
        <a:off x="136053" y="140275"/>
        <a:ext cx="3065667" cy="2514944"/>
      </dsp:txXfrm>
    </dsp:sp>
    <dsp:sp modelId="{541D4A01-3A5C-49AB-BE70-E7CEAA356F70}">
      <dsp:nvSpPr>
        <dsp:cNvPr id="0" name=""/>
        <dsp:cNvSpPr/>
      </dsp:nvSpPr>
      <dsp:spPr>
        <a:xfrm rot="5400000">
          <a:off x="5189862" y="1357242"/>
          <a:ext cx="2229640" cy="5933818"/>
        </a:xfrm>
        <a:prstGeom prst="round2Same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Right-sizing of workloads</a:t>
          </a:r>
        </a:p>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Obsolescence analysis of legacy OS</a:t>
          </a:r>
        </a:p>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Review of IAM &amp; Firewall rules </a:t>
          </a:r>
        </a:p>
      </dsp:txBody>
      <dsp:txXfrm rot="-5400000">
        <a:off x="3337773" y="3318173"/>
        <a:ext cx="5824976" cy="2011956"/>
      </dsp:txXfrm>
    </dsp:sp>
    <dsp:sp modelId="{CE52BF42-3FDD-4DFA-9E9B-1D275E0389BC}">
      <dsp:nvSpPr>
        <dsp:cNvPr id="0" name=""/>
        <dsp:cNvSpPr/>
      </dsp:nvSpPr>
      <dsp:spPr>
        <a:xfrm>
          <a:off x="0" y="2930626"/>
          <a:ext cx="3337773" cy="278705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IN" sz="3300" kern="1200">
              <a:latin typeface="Fira Sans" panose="020B0503050000020004" pitchFamily="34" charset="0"/>
            </a:rPr>
            <a:t>Infrastructure &amp; Security Assessment</a:t>
          </a:r>
        </a:p>
      </dsp:txBody>
      <dsp:txXfrm>
        <a:off x="136053" y="3066679"/>
        <a:ext cx="3065667" cy="2514944"/>
      </dsp:txXfrm>
    </dsp:sp>
    <dsp:sp modelId="{0D544D50-484E-4721-A367-E7D15778C077}">
      <dsp:nvSpPr>
        <dsp:cNvPr id="0" name=""/>
        <dsp:cNvSpPr/>
      </dsp:nvSpPr>
      <dsp:spPr>
        <a:xfrm rot="5400000">
          <a:off x="5189862" y="4283645"/>
          <a:ext cx="2229640" cy="5933818"/>
        </a:xfrm>
        <a:prstGeom prst="round2Same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Deep dive on Oracle database modernization</a:t>
          </a:r>
        </a:p>
        <a:p>
          <a:pPr marL="285750" lvl="1" indent="-285750" algn="l" defTabSz="1244600">
            <a:lnSpc>
              <a:spcPct val="90000"/>
            </a:lnSpc>
            <a:spcBef>
              <a:spcPct val="0"/>
            </a:spcBef>
            <a:spcAft>
              <a:spcPct val="15000"/>
            </a:spcAft>
            <a:buChar char="•"/>
          </a:pPr>
          <a:r>
            <a:rPr lang="en-IN" sz="2800" kern="1200">
              <a:solidFill>
                <a:schemeClr val="tx1"/>
              </a:solidFill>
              <a:latin typeface="Fira Sans" panose="020B0503050000020004" pitchFamily="34" charset="0"/>
            </a:rPr>
            <a:t>SQL Server licensing optimisation</a:t>
          </a:r>
        </a:p>
      </dsp:txBody>
      <dsp:txXfrm rot="-5400000">
        <a:off x="3337773" y="6244576"/>
        <a:ext cx="5824976" cy="2011956"/>
      </dsp:txXfrm>
    </dsp:sp>
    <dsp:sp modelId="{6D7C665C-12A8-4F6D-B089-50DC37EEA787}">
      <dsp:nvSpPr>
        <dsp:cNvPr id="0" name=""/>
        <dsp:cNvSpPr/>
      </dsp:nvSpPr>
      <dsp:spPr>
        <a:xfrm>
          <a:off x="0" y="5857029"/>
          <a:ext cx="3337773" cy="278705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IN" sz="3300" kern="1200">
              <a:latin typeface="Fira Sans" panose="020B0503050000020004" pitchFamily="34" charset="0"/>
            </a:rPr>
            <a:t>Database Modernization Assessment</a:t>
          </a:r>
        </a:p>
      </dsp:txBody>
      <dsp:txXfrm>
        <a:off x="136053" y="5993082"/>
        <a:ext cx="3065667" cy="25149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548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2</a:t>
            </a:fld>
            <a:endParaRPr lang="en-US"/>
          </a:p>
        </p:txBody>
      </p:sp>
    </p:spTree>
    <p:extLst>
      <p:ext uri="{BB962C8B-B14F-4D97-AF65-F5344CB8AC3E}">
        <p14:creationId xmlns:p14="http://schemas.microsoft.com/office/powerpoint/2010/main" val="2022355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D0E5-CC5C-A07A-0F9B-8F5E1F10A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CFC03-F42B-F388-8E36-BAB7C3882E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3FFF693-5CD6-E02B-2524-58133A3D2D6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4BDA6E-4684-1C26-4DDC-EF7D27098A5E}"/>
              </a:ext>
            </a:extLst>
          </p:cNvPr>
          <p:cNvSpPr>
            <a:spLocks noGrp="1"/>
          </p:cNvSpPr>
          <p:nvPr>
            <p:ph type="sldNum" sz="quarter" idx="5"/>
          </p:nvPr>
        </p:nvSpPr>
        <p:spPr/>
        <p:txBody>
          <a:bodyPr/>
          <a:lstStyle/>
          <a:p>
            <a:fld id="{743F7EE4-7D84-4D77-B4B2-0C966043B366}" type="slidenum">
              <a:rPr lang="en-US" smtClean="0"/>
              <a:t>4</a:t>
            </a:fld>
            <a:endParaRPr lang="en-US"/>
          </a:p>
        </p:txBody>
      </p:sp>
    </p:spTree>
    <p:extLst>
      <p:ext uri="{BB962C8B-B14F-4D97-AF65-F5344CB8AC3E}">
        <p14:creationId xmlns:p14="http://schemas.microsoft.com/office/powerpoint/2010/main" val="3064374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C3C8D-8A91-AFE8-281C-98AA884EF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CC976-6DBC-EA48-AA63-0E36828B93F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961926-E5FD-AD5D-1EA8-2174F28B8F6A}"/>
              </a:ext>
            </a:extLst>
          </p:cNvPr>
          <p:cNvSpPr>
            <a:spLocks noGrp="1"/>
          </p:cNvSpPr>
          <p:nvPr>
            <p:ph type="body" idx="1"/>
          </p:nvPr>
        </p:nvSpPr>
        <p:spPr/>
        <p:txBody>
          <a:bodyPr/>
          <a:lstStyle/>
          <a:p>
            <a:r>
              <a:rPr lang="en-GB"/>
              <a:t>The brief you gave us was to help with 2 key strategic goals:</a:t>
            </a:r>
          </a:p>
          <a:p>
            <a:r>
              <a:rPr lang="en-GB"/>
              <a:t>1. to help analyse your estate and prepare a business aligned strategic report on: </a:t>
            </a:r>
          </a:p>
          <a:p>
            <a:pPr lvl="1"/>
            <a:r>
              <a:rPr lang="en-GB"/>
              <a:t>Business strategy</a:t>
            </a:r>
          </a:p>
          <a:p>
            <a:pPr lvl="1"/>
            <a:r>
              <a:rPr lang="en-GB"/>
              <a:t>TCO analysis</a:t>
            </a:r>
          </a:p>
          <a:p>
            <a:pPr lvl="1"/>
            <a:r>
              <a:rPr lang="en-GB"/>
              <a:t>Hyperscaler Selection</a:t>
            </a:r>
          </a:p>
          <a:p>
            <a:pPr marL="914400" marR="0" lvl="1" indent="0" algn="l" defTabSz="1828800" rtl="0" eaLnBrk="1" fontAlgn="auto" latinLnBrk="0" hangingPunct="1">
              <a:lnSpc>
                <a:spcPct val="100000"/>
              </a:lnSpc>
              <a:spcBef>
                <a:spcPts val="0"/>
              </a:spcBef>
              <a:spcAft>
                <a:spcPts val="0"/>
              </a:spcAft>
              <a:buClrTx/>
              <a:buSzTx/>
              <a:buFontTx/>
              <a:buNone/>
              <a:tabLst/>
              <a:defRPr/>
            </a:pPr>
            <a:r>
              <a:rPr lang="en-GB"/>
              <a:t>DMG Cloud Readiness</a:t>
            </a:r>
          </a:p>
          <a:p>
            <a:r>
              <a:rPr lang="en-GB"/>
              <a:t>2. Negotiate on behalf of DMG with the </a:t>
            </a:r>
            <a:r>
              <a:rPr lang="en-GB" err="1"/>
              <a:t>Hyperscalers</a:t>
            </a:r>
            <a:r>
              <a:rPr lang="en-GB"/>
              <a:t> to prepare their initial offers, discounts, and benefits to enable DMG to quickly make a decision on which key partner to choose and move forward with how to proceed with their digital transformation strategy.</a:t>
            </a:r>
          </a:p>
          <a:p>
            <a:endParaRPr lang="en-GB"/>
          </a:p>
          <a:p>
            <a:pPr marL="0" marR="0" lvl="0" indent="0" algn="l" defTabSz="1828800" rtl="0" eaLnBrk="1" fontAlgn="auto" latinLnBrk="0" hangingPunct="1">
              <a:lnSpc>
                <a:spcPct val="100000"/>
              </a:lnSpc>
              <a:spcBef>
                <a:spcPts val="0"/>
              </a:spcBef>
              <a:spcAft>
                <a:spcPts val="0"/>
              </a:spcAft>
              <a:buClrTx/>
              <a:buSzTx/>
              <a:buFontTx/>
              <a:buNone/>
              <a:tabLst/>
              <a:defRPr/>
            </a:pPr>
            <a:r>
              <a:rPr lang="en-GB"/>
              <a:t>A hybrid environment was not factored in because</a:t>
            </a:r>
            <a:br>
              <a:rPr lang="en-GB"/>
            </a:br>
            <a:r>
              <a:rPr lang="en-GB"/>
              <a:t>Reduced Hyperscaler funding</a:t>
            </a:r>
          </a:p>
          <a:p>
            <a:r>
              <a:rPr lang="en-GB"/>
              <a:t>Operations Costs – effectively managing 2 clouds is double the work</a:t>
            </a:r>
          </a:p>
          <a:p>
            <a:r>
              <a:rPr lang="en-GB"/>
              <a:t>Security doesn’t scale</a:t>
            </a:r>
          </a:p>
        </p:txBody>
      </p:sp>
      <p:sp>
        <p:nvSpPr>
          <p:cNvPr id="4" name="Slide Number Placeholder 3">
            <a:extLst>
              <a:ext uri="{FF2B5EF4-FFF2-40B4-BE49-F238E27FC236}">
                <a16:creationId xmlns:a16="http://schemas.microsoft.com/office/drawing/2014/main" id="{F485F1B3-F5AF-C00B-F59D-ED752EA5E1DC}"/>
              </a:ext>
            </a:extLst>
          </p:cNvPr>
          <p:cNvSpPr>
            <a:spLocks noGrp="1"/>
          </p:cNvSpPr>
          <p:nvPr>
            <p:ph type="sldNum" sz="quarter" idx="5"/>
          </p:nvPr>
        </p:nvSpPr>
        <p:spPr/>
        <p:txBody>
          <a:bodyPr/>
          <a:lstStyle/>
          <a:p>
            <a:fld id="{743F7EE4-7D84-4D77-B4B2-0C966043B366}" type="slidenum">
              <a:rPr lang="en-US" smtClean="0"/>
              <a:t>5</a:t>
            </a:fld>
            <a:endParaRPr lang="en-US"/>
          </a:p>
        </p:txBody>
      </p:sp>
    </p:spTree>
    <p:extLst>
      <p:ext uri="{BB962C8B-B14F-4D97-AF65-F5344CB8AC3E}">
        <p14:creationId xmlns:p14="http://schemas.microsoft.com/office/powerpoint/2010/main" val="3679315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2A6E-7E93-A34A-F407-E841F4EF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AB1E7-3079-F30E-0E3F-F5F277DB06E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1F025C4-1060-89D9-3CFD-02E604D228A7}"/>
              </a:ext>
            </a:extLst>
          </p:cNvPr>
          <p:cNvSpPr>
            <a:spLocks noGrp="1"/>
          </p:cNvSpPr>
          <p:nvPr>
            <p:ph type="body" idx="1"/>
          </p:nvPr>
        </p:nvSpPr>
        <p:spPr/>
        <p:txBody>
          <a:bodyPr/>
          <a:lstStyle/>
          <a:p>
            <a:pPr marL="0" lvl="0" indent="0">
              <a:buClr>
                <a:srgbClr val="FF0000"/>
              </a:buClr>
              <a:buFont typeface="Arial" panose="020B0604020202020204" pitchFamily="34" charset="0"/>
              <a:buNone/>
            </a:pPr>
            <a:r>
              <a:rPr lang="en-GB" sz="2800">
                <a:latin typeface="Fira Sans" panose="020B0503050000020004" pitchFamily="34" charset="0"/>
              </a:rPr>
              <a:t>3038 servers</a:t>
            </a:r>
          </a:p>
          <a:p>
            <a:pPr marL="285750" lvl="1" indent="-285750">
              <a:buClr>
                <a:srgbClr val="FF0000"/>
              </a:buClr>
              <a:buFont typeface="Arial" panose="020B0604020202020204" pitchFamily="34" charset="0"/>
              <a:buChar char="•"/>
            </a:pPr>
            <a:r>
              <a:rPr lang="en-GB" sz="2800">
                <a:latin typeface="Fira Sans" panose="020B0503050000020004" pitchFamily="34" charset="0"/>
              </a:rPr>
              <a:t>14,165 vCPUs</a:t>
            </a:r>
          </a:p>
          <a:p>
            <a:pPr marL="285750" lvl="1" indent="-285750">
              <a:buClr>
                <a:srgbClr val="FF0000"/>
              </a:buClr>
              <a:buFont typeface="Arial" panose="020B0604020202020204" pitchFamily="34" charset="0"/>
              <a:buChar char="•"/>
            </a:pPr>
            <a:r>
              <a:rPr lang="en-GB" sz="2800">
                <a:latin typeface="Fira Sans" panose="020B0503050000020004" pitchFamily="34" charset="0"/>
              </a:rPr>
              <a:t>54 TB Memory</a:t>
            </a:r>
          </a:p>
          <a:p>
            <a:pPr marL="285750" lvl="1" indent="-285750">
              <a:buClr>
                <a:srgbClr val="FF0000"/>
              </a:buClr>
              <a:buFont typeface="Arial" panose="020B0604020202020204" pitchFamily="34" charset="0"/>
              <a:buChar char="•"/>
            </a:pPr>
            <a:r>
              <a:rPr lang="en-GB" sz="2800">
                <a:latin typeface="Fira Sans" panose="020B0503050000020004" pitchFamily="34" charset="0"/>
              </a:rPr>
              <a:t>1.2 Pb storage</a:t>
            </a:r>
            <a:endParaRPr lang="en-DE" sz="2800">
              <a:latin typeface="Fira Sans" panose="020B0503050000020004" pitchFamily="34" charset="0"/>
            </a:endParaRPr>
          </a:p>
        </p:txBody>
      </p:sp>
      <p:sp>
        <p:nvSpPr>
          <p:cNvPr id="4" name="Slide Number Placeholder 3">
            <a:extLst>
              <a:ext uri="{FF2B5EF4-FFF2-40B4-BE49-F238E27FC236}">
                <a16:creationId xmlns:a16="http://schemas.microsoft.com/office/drawing/2014/main" id="{27C394D6-8598-2D47-8979-688FDC577899}"/>
              </a:ext>
            </a:extLst>
          </p:cNvPr>
          <p:cNvSpPr>
            <a:spLocks noGrp="1"/>
          </p:cNvSpPr>
          <p:nvPr>
            <p:ph type="sldNum" sz="quarter" idx="5"/>
          </p:nvPr>
        </p:nvSpPr>
        <p:spPr/>
        <p:txBody>
          <a:bodyPr/>
          <a:lstStyle/>
          <a:p>
            <a:fld id="{743F7EE4-7D84-4D77-B4B2-0C966043B366}" type="slidenum">
              <a:rPr lang="en-US" smtClean="0"/>
              <a:t>6</a:t>
            </a:fld>
            <a:endParaRPr lang="en-US"/>
          </a:p>
        </p:txBody>
      </p:sp>
    </p:spTree>
    <p:extLst>
      <p:ext uri="{BB962C8B-B14F-4D97-AF65-F5344CB8AC3E}">
        <p14:creationId xmlns:p14="http://schemas.microsoft.com/office/powerpoint/2010/main" val="3555231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277CE-E50C-D87C-7956-B70FA38D7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A03A8-407F-6021-2A9D-F9C5ECE4AD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ADC336-CE96-3C32-43BE-D6EED2354056}"/>
              </a:ext>
            </a:extLst>
          </p:cNvPr>
          <p:cNvSpPr>
            <a:spLocks noGrp="1"/>
          </p:cNvSpPr>
          <p:nvPr>
            <p:ph type="body" idx="1"/>
          </p:nvPr>
        </p:nvSpPr>
        <p:spPr/>
        <p:txBody>
          <a:bodyPr/>
          <a:lstStyle/>
          <a:p>
            <a:r>
              <a:rPr lang="en-GB"/>
              <a:t>People, Process, Technology</a:t>
            </a:r>
          </a:p>
        </p:txBody>
      </p:sp>
      <p:sp>
        <p:nvSpPr>
          <p:cNvPr id="4" name="Slide Number Placeholder 3">
            <a:extLst>
              <a:ext uri="{FF2B5EF4-FFF2-40B4-BE49-F238E27FC236}">
                <a16:creationId xmlns:a16="http://schemas.microsoft.com/office/drawing/2014/main" id="{27D0778A-F48A-13DC-B1D4-645F57F00DFE}"/>
              </a:ext>
            </a:extLst>
          </p:cNvPr>
          <p:cNvSpPr>
            <a:spLocks noGrp="1"/>
          </p:cNvSpPr>
          <p:nvPr>
            <p:ph type="sldNum" sz="quarter" idx="5"/>
          </p:nvPr>
        </p:nvSpPr>
        <p:spPr/>
        <p:txBody>
          <a:bodyPr/>
          <a:lstStyle/>
          <a:p>
            <a:fld id="{743F7EE4-7D84-4D77-B4B2-0C966043B366}" type="slidenum">
              <a:rPr lang="en-US" smtClean="0"/>
              <a:t>7</a:t>
            </a:fld>
            <a:endParaRPr lang="en-US"/>
          </a:p>
        </p:txBody>
      </p:sp>
    </p:spTree>
    <p:extLst>
      <p:ext uri="{BB962C8B-B14F-4D97-AF65-F5344CB8AC3E}">
        <p14:creationId xmlns:p14="http://schemas.microsoft.com/office/powerpoint/2010/main" val="285124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Reminder of </a:t>
            </a:r>
          </a:p>
        </p:txBody>
      </p:sp>
      <p:sp>
        <p:nvSpPr>
          <p:cNvPr id="4" name="Slide Number Placeholder 3"/>
          <p:cNvSpPr>
            <a:spLocks noGrp="1"/>
          </p:cNvSpPr>
          <p:nvPr>
            <p:ph type="sldNum" sz="quarter" idx="5"/>
          </p:nvPr>
        </p:nvSpPr>
        <p:spPr/>
        <p:txBody>
          <a:bodyPr/>
          <a:lstStyle/>
          <a:p>
            <a:fld id="{743F7EE4-7D84-4D77-B4B2-0C966043B366}" type="slidenum">
              <a:rPr lang="en-US" smtClean="0"/>
              <a:t>9</a:t>
            </a:fld>
            <a:endParaRPr lang="en-US"/>
          </a:p>
        </p:txBody>
      </p:sp>
    </p:spTree>
    <p:extLst>
      <p:ext uri="{BB962C8B-B14F-4D97-AF65-F5344CB8AC3E}">
        <p14:creationId xmlns:p14="http://schemas.microsoft.com/office/powerpoint/2010/main" val="2505997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F527-7F62-4EFD-3961-F2789F6AB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E050D-F1CA-200D-DE86-45A453A4A55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882761F-E1DD-3E67-0672-2432357165DE}"/>
              </a:ext>
            </a:extLst>
          </p:cNvPr>
          <p:cNvSpPr>
            <a:spLocks noGrp="1"/>
          </p:cNvSpPr>
          <p:nvPr>
            <p:ph type="body" idx="1"/>
          </p:nvPr>
        </p:nvSpPr>
        <p:spPr/>
        <p:txBody>
          <a:bodyPr/>
          <a:lstStyle/>
          <a:p>
            <a:r>
              <a:rPr lang="en-GB"/>
              <a:t>Summarised the 3 key business you shared with us in the </a:t>
            </a:r>
            <a:r>
              <a:rPr lang="en-GB" err="1"/>
              <a:t>kickoff</a:t>
            </a:r>
            <a:r>
              <a:rPr lang="en-GB"/>
              <a:t> workshops down to these. </a:t>
            </a:r>
          </a:p>
          <a:p>
            <a:r>
              <a:rPr lang="en-GB"/>
              <a:t>We go into detail in the next 3 slides.</a:t>
            </a:r>
          </a:p>
        </p:txBody>
      </p:sp>
      <p:sp>
        <p:nvSpPr>
          <p:cNvPr id="4" name="Slide Number Placeholder 3">
            <a:extLst>
              <a:ext uri="{FF2B5EF4-FFF2-40B4-BE49-F238E27FC236}">
                <a16:creationId xmlns:a16="http://schemas.microsoft.com/office/drawing/2014/main" id="{29F9A43B-7B2C-0C24-E897-2BBE67BA8907}"/>
              </a:ext>
            </a:extLst>
          </p:cNvPr>
          <p:cNvSpPr>
            <a:spLocks noGrp="1"/>
          </p:cNvSpPr>
          <p:nvPr>
            <p:ph type="sldNum" sz="quarter" idx="5"/>
          </p:nvPr>
        </p:nvSpPr>
        <p:spPr/>
        <p:txBody>
          <a:bodyPr/>
          <a:lstStyle/>
          <a:p>
            <a:fld id="{743F7EE4-7D84-4D77-B4B2-0C966043B366}" type="slidenum">
              <a:rPr lang="en-US" smtClean="0"/>
              <a:t>11</a:t>
            </a:fld>
            <a:endParaRPr lang="en-US"/>
          </a:p>
        </p:txBody>
      </p:sp>
    </p:spTree>
    <p:extLst>
      <p:ext uri="{BB962C8B-B14F-4D97-AF65-F5344CB8AC3E}">
        <p14:creationId xmlns:p14="http://schemas.microsoft.com/office/powerpoint/2010/main" val="4171337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13</a:t>
            </a:fld>
            <a:endParaRPr lang="en-US"/>
          </a:p>
        </p:txBody>
      </p:sp>
    </p:spTree>
    <p:extLst>
      <p:ext uri="{BB962C8B-B14F-4D97-AF65-F5344CB8AC3E}">
        <p14:creationId xmlns:p14="http://schemas.microsoft.com/office/powerpoint/2010/main" val="1662936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14</a:t>
            </a:fld>
            <a:endParaRPr lang="en-US"/>
          </a:p>
        </p:txBody>
      </p:sp>
    </p:spTree>
    <p:extLst>
      <p:ext uri="{BB962C8B-B14F-4D97-AF65-F5344CB8AC3E}">
        <p14:creationId xmlns:p14="http://schemas.microsoft.com/office/powerpoint/2010/main" val="906616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16</a:t>
            </a:fld>
            <a:endParaRPr lang="en-US"/>
          </a:p>
        </p:txBody>
      </p:sp>
    </p:spTree>
    <p:extLst>
      <p:ext uri="{BB962C8B-B14F-4D97-AF65-F5344CB8AC3E}">
        <p14:creationId xmlns:p14="http://schemas.microsoft.com/office/powerpoint/2010/main" val="87721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err="1"/>
              <a:t>Leceister</a:t>
            </a:r>
            <a:r>
              <a:rPr lang="en-GB"/>
              <a:t>, Manchester</a:t>
            </a:r>
          </a:p>
        </p:txBody>
      </p:sp>
      <p:sp>
        <p:nvSpPr>
          <p:cNvPr id="4" name="Slide Number Placeholder 3"/>
          <p:cNvSpPr>
            <a:spLocks noGrp="1"/>
          </p:cNvSpPr>
          <p:nvPr>
            <p:ph type="sldNum" sz="quarter" idx="5"/>
          </p:nvPr>
        </p:nvSpPr>
        <p:spPr/>
        <p:txBody>
          <a:bodyPr/>
          <a:lstStyle/>
          <a:p>
            <a:fld id="{743F7EE4-7D84-4D77-B4B2-0C966043B366}" type="slidenum">
              <a:rPr lang="en-US" smtClean="0"/>
              <a:t>18</a:t>
            </a:fld>
            <a:endParaRPr lang="en-US"/>
          </a:p>
        </p:txBody>
      </p:sp>
    </p:spTree>
    <p:extLst>
      <p:ext uri="{BB962C8B-B14F-4D97-AF65-F5344CB8AC3E}">
        <p14:creationId xmlns:p14="http://schemas.microsoft.com/office/powerpoint/2010/main" val="1503813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F010-3164-7619-29A7-742A180D6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70B8A-A823-5ED5-7687-1B8AA9300A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7B74A0-6CBC-D3D0-6F99-FD706C1EAC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02F527-F1D4-2407-C4B9-4D1A9710C7C5}"/>
              </a:ext>
            </a:extLst>
          </p:cNvPr>
          <p:cNvSpPr>
            <a:spLocks noGrp="1"/>
          </p:cNvSpPr>
          <p:nvPr>
            <p:ph type="sldNum" sz="quarter" idx="5"/>
          </p:nvPr>
        </p:nvSpPr>
        <p:spPr/>
        <p:txBody>
          <a:bodyPr/>
          <a:lstStyle/>
          <a:p>
            <a:fld id="{743F7EE4-7D84-4D77-B4B2-0C966043B366}" type="slidenum">
              <a:rPr lang="en-US" smtClean="0"/>
              <a:t>19</a:t>
            </a:fld>
            <a:endParaRPr lang="en-US"/>
          </a:p>
        </p:txBody>
      </p:sp>
    </p:spTree>
    <p:extLst>
      <p:ext uri="{BB962C8B-B14F-4D97-AF65-F5344CB8AC3E}">
        <p14:creationId xmlns:p14="http://schemas.microsoft.com/office/powerpoint/2010/main" val="2452000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have to ask our 5 whys.   Why is network dependency mapping and software inventory so low?   </a:t>
            </a:r>
          </a:p>
          <a:p>
            <a:r>
              <a:rPr lang="en-GB"/>
              <a:t>Because </a:t>
            </a:r>
            <a:r>
              <a:rPr lang="en-GB" err="1"/>
              <a:t>Vmware</a:t>
            </a:r>
            <a:r>
              <a:rPr lang="en-GB"/>
              <a:t> tools was missing</a:t>
            </a:r>
          </a:p>
          <a:p>
            <a:r>
              <a:rPr lang="en-GB"/>
              <a:t>Why was </a:t>
            </a:r>
            <a:r>
              <a:rPr lang="en-GB" err="1"/>
              <a:t>Vmware</a:t>
            </a:r>
            <a:r>
              <a:rPr lang="en-GB"/>
              <a:t> tools missing?   Because many of these are legacy </a:t>
            </a:r>
            <a:r>
              <a:rPr lang="en-GB" err="1"/>
              <a:t>OS’es</a:t>
            </a:r>
            <a:r>
              <a:rPr lang="en-GB"/>
              <a:t>.   (RHEL 6, Ubuntu 14, 16,)</a:t>
            </a:r>
          </a:p>
        </p:txBody>
      </p:sp>
      <p:sp>
        <p:nvSpPr>
          <p:cNvPr id="4" name="Slide Number Placeholder 3"/>
          <p:cNvSpPr>
            <a:spLocks noGrp="1"/>
          </p:cNvSpPr>
          <p:nvPr>
            <p:ph type="sldNum" sz="quarter" idx="5"/>
          </p:nvPr>
        </p:nvSpPr>
        <p:spPr/>
        <p:txBody>
          <a:bodyPr/>
          <a:lstStyle/>
          <a:p>
            <a:fld id="{743F7EE4-7D84-4D77-B4B2-0C966043B366}" type="slidenum">
              <a:rPr lang="en-US" smtClean="0"/>
              <a:t>22</a:t>
            </a:fld>
            <a:endParaRPr lang="en-US"/>
          </a:p>
        </p:txBody>
      </p:sp>
    </p:spTree>
    <p:extLst>
      <p:ext uri="{BB962C8B-B14F-4D97-AF65-F5344CB8AC3E}">
        <p14:creationId xmlns:p14="http://schemas.microsoft.com/office/powerpoint/2010/main" val="856059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64819-7833-2650-C852-A85BB877F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4CD38-45EA-9417-1F57-74A332BBD65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49BE5D-4036-BB0E-1438-B6F7236A3A6E}"/>
              </a:ext>
            </a:extLst>
          </p:cNvPr>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de-DE" sz="2400" kern="1200">
                <a:solidFill>
                  <a:schemeClr val="tx1"/>
                </a:solidFill>
                <a:effectLst/>
                <a:latin typeface="+mn-lt"/>
                <a:ea typeface="+mn-ea"/>
                <a:cs typeface="+mn-cs"/>
              </a:rPr>
              <a:t>Overall </a:t>
            </a:r>
            <a:r>
              <a:rPr lang="de-DE" sz="2400" kern="1200" err="1">
                <a:solidFill>
                  <a:schemeClr val="tx1"/>
                </a:solidFill>
                <a:effectLst/>
                <a:latin typeface="+mn-lt"/>
                <a:ea typeface="+mn-ea"/>
                <a:cs typeface="+mn-cs"/>
              </a:rPr>
              <a:t>Recommendations</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takes</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into</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account</a:t>
            </a:r>
            <a:r>
              <a:rPr lang="de-DE" sz="2400" kern="1200">
                <a:solidFill>
                  <a:schemeClr val="tx1"/>
                </a:solidFill>
                <a:effectLst/>
                <a:latin typeface="+mn-lt"/>
                <a:ea typeface="+mn-ea"/>
                <a:cs typeface="+mn-cs"/>
              </a:rPr>
              <a:t> all </a:t>
            </a:r>
            <a:r>
              <a:rPr lang="de-DE" sz="2400" kern="1200" err="1">
                <a:solidFill>
                  <a:schemeClr val="tx1"/>
                </a:solidFill>
                <a:effectLst/>
                <a:latin typeface="+mn-lt"/>
                <a:ea typeface="+mn-ea"/>
                <a:cs typeface="+mn-cs"/>
              </a:rPr>
              <a:t>factors</a:t>
            </a:r>
            <a:endParaRPr lang="de-DE" sz="2400" kern="1200">
              <a:solidFill>
                <a:schemeClr val="tx1"/>
              </a:solidFill>
              <a:effectLst/>
              <a:latin typeface="+mn-lt"/>
              <a:ea typeface="+mn-ea"/>
              <a:cs typeface="+mn-cs"/>
            </a:endParaRPr>
          </a:p>
          <a:p>
            <a:pPr marL="342900" marR="0" lvl="0" indent="-342900" algn="l" defTabSz="1828800" rtl="0" eaLnBrk="1" fontAlgn="auto" latinLnBrk="0" hangingPunct="1">
              <a:lnSpc>
                <a:spcPct val="100000"/>
              </a:lnSpc>
              <a:spcBef>
                <a:spcPts val="0"/>
              </a:spcBef>
              <a:spcAft>
                <a:spcPts val="0"/>
              </a:spcAft>
              <a:buClrTx/>
              <a:buSzTx/>
              <a:buFontTx/>
              <a:buChar char="-"/>
              <a:tabLst/>
              <a:defRPr/>
            </a:pPr>
            <a:r>
              <a:rPr lang="de-DE" sz="2400" kern="1200" err="1">
                <a:solidFill>
                  <a:schemeClr val="tx1"/>
                </a:solidFill>
                <a:effectLst/>
                <a:latin typeface="+mn-lt"/>
                <a:ea typeface="+mn-ea"/>
                <a:cs typeface="+mn-cs"/>
              </a:rPr>
              <a:t>Cost</a:t>
            </a:r>
            <a:r>
              <a:rPr lang="de-DE" sz="2400" kern="1200">
                <a:solidFill>
                  <a:schemeClr val="tx1"/>
                </a:solidFill>
                <a:effectLst/>
                <a:latin typeface="+mn-lt"/>
                <a:ea typeface="+mn-ea"/>
                <a:cs typeface="+mn-cs"/>
              </a:rPr>
              <a:t> – </a:t>
            </a:r>
            <a:r>
              <a:rPr lang="de-DE" sz="2400" kern="1200" err="1">
                <a:solidFill>
                  <a:schemeClr val="tx1"/>
                </a:solidFill>
                <a:effectLst/>
                <a:latin typeface="+mn-lt"/>
                <a:ea typeface="+mn-ea"/>
                <a:cs typeface="+mn-cs"/>
              </a:rPr>
              <a:t>including</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expected</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credits</a:t>
            </a:r>
            <a:r>
              <a:rPr lang="de-DE" sz="2400" kern="1200">
                <a:solidFill>
                  <a:schemeClr val="tx1"/>
                </a:solidFill>
                <a:effectLst/>
                <a:latin typeface="+mn-lt"/>
                <a:ea typeface="+mn-ea"/>
                <a:cs typeface="+mn-cs"/>
              </a:rPr>
              <a:t> and </a:t>
            </a:r>
            <a:r>
              <a:rPr lang="de-DE" sz="2400" kern="1200" err="1">
                <a:solidFill>
                  <a:schemeClr val="tx1"/>
                </a:solidFill>
                <a:effectLst/>
                <a:latin typeface="+mn-lt"/>
                <a:ea typeface="+mn-ea"/>
                <a:cs typeface="+mn-cs"/>
              </a:rPr>
              <a:t>discounts</a:t>
            </a:r>
            <a:endParaRPr lang="de-DE" sz="2400" kern="1200">
              <a:solidFill>
                <a:schemeClr val="tx1"/>
              </a:solidFill>
              <a:effectLst/>
              <a:latin typeface="+mn-lt"/>
              <a:ea typeface="+mn-ea"/>
              <a:cs typeface="+mn-cs"/>
            </a:endParaRPr>
          </a:p>
          <a:p>
            <a:pPr marL="342900" marR="0" lvl="0" indent="-342900" algn="l" defTabSz="1828800" rtl="0" eaLnBrk="1" fontAlgn="auto" latinLnBrk="0" hangingPunct="1">
              <a:lnSpc>
                <a:spcPct val="100000"/>
              </a:lnSpc>
              <a:spcBef>
                <a:spcPts val="0"/>
              </a:spcBef>
              <a:spcAft>
                <a:spcPts val="0"/>
              </a:spcAft>
              <a:buClrTx/>
              <a:buSzTx/>
              <a:buFontTx/>
              <a:buChar char="-"/>
              <a:tabLst/>
              <a:defRPr/>
            </a:pPr>
            <a:r>
              <a:rPr lang="de-DE" sz="2400" kern="1200" err="1">
                <a:solidFill>
                  <a:schemeClr val="tx1"/>
                </a:solidFill>
                <a:effectLst/>
                <a:latin typeface="+mn-lt"/>
                <a:ea typeface="+mn-ea"/>
                <a:cs typeface="+mn-cs"/>
              </a:rPr>
              <a:t>Weighted</a:t>
            </a:r>
            <a:r>
              <a:rPr lang="de-DE" sz="2400" kern="1200">
                <a:solidFill>
                  <a:schemeClr val="tx1"/>
                </a:solidFill>
                <a:effectLst/>
                <a:latin typeface="+mn-lt"/>
                <a:ea typeface="+mn-ea"/>
                <a:cs typeface="+mn-cs"/>
              </a:rPr>
              <a:t> Scoring</a:t>
            </a:r>
          </a:p>
          <a:p>
            <a:pPr marL="342900" marR="0" lvl="0" indent="-342900" algn="l" defTabSz="1828800" rtl="0" eaLnBrk="1" fontAlgn="auto" latinLnBrk="0" hangingPunct="1">
              <a:lnSpc>
                <a:spcPct val="100000"/>
              </a:lnSpc>
              <a:spcBef>
                <a:spcPts val="0"/>
              </a:spcBef>
              <a:spcAft>
                <a:spcPts val="0"/>
              </a:spcAft>
              <a:buClrTx/>
              <a:buSzTx/>
              <a:buFontTx/>
              <a:buChar char="-"/>
              <a:tabLst/>
              <a:defRPr/>
            </a:pPr>
            <a:r>
              <a:rPr lang="de-DE" sz="2400" kern="1200">
                <a:solidFill>
                  <a:schemeClr val="tx1"/>
                </a:solidFill>
                <a:effectLst/>
                <a:latin typeface="+mn-lt"/>
                <a:ea typeface="+mn-ea"/>
                <a:cs typeface="+mn-cs"/>
              </a:rPr>
              <a:t>Business Fit</a:t>
            </a:r>
          </a:p>
          <a:p>
            <a:pPr marL="342900" marR="0" lvl="0" indent="-342900" algn="l" defTabSz="1828800" rtl="0" eaLnBrk="1" fontAlgn="auto" latinLnBrk="0" hangingPunct="1">
              <a:lnSpc>
                <a:spcPct val="100000"/>
              </a:lnSpc>
              <a:spcBef>
                <a:spcPts val="0"/>
              </a:spcBef>
              <a:spcAft>
                <a:spcPts val="0"/>
              </a:spcAft>
              <a:buClrTx/>
              <a:buSzTx/>
              <a:buFontTx/>
              <a:buChar char="-"/>
              <a:tabLst/>
              <a:defRPr/>
            </a:pPr>
            <a:r>
              <a:rPr lang="de-DE" sz="2400" kern="1200">
                <a:solidFill>
                  <a:schemeClr val="tx1"/>
                </a:solidFill>
                <a:effectLst/>
                <a:latin typeface="+mn-lt"/>
                <a:ea typeface="+mn-ea"/>
                <a:cs typeface="+mn-cs"/>
              </a:rPr>
              <a:t>Additional </a:t>
            </a:r>
            <a:r>
              <a:rPr lang="de-DE" sz="2400" kern="1200" err="1">
                <a:solidFill>
                  <a:schemeClr val="tx1"/>
                </a:solidFill>
                <a:effectLst/>
                <a:latin typeface="+mn-lt"/>
                <a:ea typeface="+mn-ea"/>
                <a:cs typeface="+mn-cs"/>
              </a:rPr>
              <a:t>Learnings</a:t>
            </a:r>
            <a:endParaRPr lang="de-DE" sz="2400" kern="1200">
              <a:solidFill>
                <a:schemeClr val="tx1"/>
              </a:solidFill>
              <a:effectLst/>
              <a:latin typeface="+mn-lt"/>
              <a:ea typeface="+mn-ea"/>
              <a:cs typeface="+mn-cs"/>
            </a:endParaRPr>
          </a:p>
          <a:p>
            <a:pPr marL="0" marR="0" lvl="0" indent="0" algn="l" defTabSz="1828800" rtl="0" eaLnBrk="1" fontAlgn="auto" latinLnBrk="0" hangingPunct="1">
              <a:lnSpc>
                <a:spcPct val="100000"/>
              </a:lnSpc>
              <a:spcBef>
                <a:spcPts val="0"/>
              </a:spcBef>
              <a:spcAft>
                <a:spcPts val="0"/>
              </a:spcAft>
              <a:buClrTx/>
              <a:buSzTx/>
              <a:buFontTx/>
              <a:buNone/>
              <a:tabLst/>
              <a:defRPr/>
            </a:pPr>
            <a:r>
              <a:rPr lang="en-GB" sz="2800">
                <a:latin typeface="Fira Sans" panose="020B0503050000020004" pitchFamily="34" charset="0"/>
              </a:rPr>
              <a:t>3038 servers</a:t>
            </a:r>
          </a:p>
          <a:p>
            <a:pPr marL="285750" lvl="1" indent="-285750">
              <a:buClr>
                <a:srgbClr val="FF0000"/>
              </a:buClr>
              <a:buFont typeface="Arial" panose="020B0604020202020204" pitchFamily="34" charset="0"/>
              <a:buChar char="•"/>
            </a:pPr>
            <a:r>
              <a:rPr lang="en-GB" sz="2800">
                <a:latin typeface="Fira Sans" panose="020B0503050000020004" pitchFamily="34" charset="0"/>
              </a:rPr>
              <a:t>14,165 vCPUs</a:t>
            </a:r>
          </a:p>
          <a:p>
            <a:pPr marL="285750" lvl="1" indent="-285750">
              <a:buClr>
                <a:srgbClr val="FF0000"/>
              </a:buClr>
              <a:buFont typeface="Arial" panose="020B0604020202020204" pitchFamily="34" charset="0"/>
              <a:buChar char="•"/>
            </a:pPr>
            <a:r>
              <a:rPr lang="en-GB" sz="2800">
                <a:latin typeface="Fira Sans" panose="020B0503050000020004" pitchFamily="34" charset="0"/>
              </a:rPr>
              <a:t>53,758 GB Memory</a:t>
            </a:r>
          </a:p>
          <a:p>
            <a:pPr marL="285750" lvl="1" indent="-285750">
              <a:buClr>
                <a:srgbClr val="FF0000"/>
              </a:buClr>
              <a:buFont typeface="Arial" panose="020B0604020202020204" pitchFamily="34" charset="0"/>
              <a:buChar char="•"/>
            </a:pPr>
            <a:r>
              <a:rPr lang="en-GB" sz="2800">
                <a:latin typeface="Fira Sans" panose="020B0503050000020004" pitchFamily="34" charset="0"/>
              </a:rPr>
              <a:t>1,261,841 Gb storage</a:t>
            </a:r>
            <a:endParaRPr lang="en-DE" sz="2800">
              <a:latin typeface="Fira Sans" panose="020B0503050000020004" pitchFamily="34" charset="0"/>
            </a:endParaRPr>
          </a:p>
          <a:p>
            <a:pPr marL="0" marR="0" lvl="0" indent="0" algn="l" defTabSz="1828800" rtl="0" eaLnBrk="1" fontAlgn="auto" latinLnBrk="0" hangingPunct="1">
              <a:lnSpc>
                <a:spcPct val="100000"/>
              </a:lnSpc>
              <a:spcBef>
                <a:spcPts val="0"/>
              </a:spcBef>
              <a:spcAft>
                <a:spcPts val="0"/>
              </a:spcAft>
              <a:buClrTx/>
              <a:buSzTx/>
              <a:buFontTx/>
              <a:buNone/>
              <a:tabLst/>
              <a:defRPr/>
            </a:pPr>
            <a:endParaRPr lang="de-DE" sz="2400" kern="1200">
              <a:solidFill>
                <a:schemeClr val="tx1"/>
              </a:solidFill>
              <a:effectLst/>
              <a:latin typeface="+mn-lt"/>
              <a:ea typeface="+mn-ea"/>
              <a:cs typeface="+mn-cs"/>
            </a:endParaRPr>
          </a:p>
          <a:p>
            <a:pPr marL="0" marR="0" lvl="0" indent="0" algn="l" defTabSz="1828800" rtl="0" eaLnBrk="1" fontAlgn="auto" latinLnBrk="0" hangingPunct="1">
              <a:lnSpc>
                <a:spcPct val="100000"/>
              </a:lnSpc>
              <a:spcBef>
                <a:spcPts val="0"/>
              </a:spcBef>
              <a:spcAft>
                <a:spcPts val="0"/>
              </a:spcAft>
              <a:buClrTx/>
              <a:buSzTx/>
              <a:buFontTx/>
              <a:buNone/>
              <a:tabLst/>
              <a:defRPr/>
            </a:pPr>
            <a:r>
              <a:rPr lang="de-DE" sz="2400" kern="1200">
                <a:solidFill>
                  <a:schemeClr val="tx1"/>
                </a:solidFill>
                <a:effectLst/>
                <a:latin typeface="+mn-lt"/>
                <a:ea typeface="+mn-ea"/>
                <a:cs typeface="+mn-cs"/>
              </a:rPr>
              <a:t>Azure </a:t>
            </a:r>
            <a:r>
              <a:rPr lang="de-DE" sz="2400" kern="1200" err="1">
                <a:solidFill>
                  <a:schemeClr val="tx1"/>
                </a:solidFill>
                <a:effectLst/>
                <a:latin typeface="+mn-lt"/>
                <a:ea typeface="+mn-ea"/>
                <a:cs typeface="+mn-cs"/>
              </a:rPr>
              <a:t>marked</a:t>
            </a:r>
            <a:r>
              <a:rPr lang="de-DE" sz="2400" kern="1200">
                <a:solidFill>
                  <a:schemeClr val="tx1"/>
                </a:solidFill>
                <a:effectLst/>
                <a:latin typeface="+mn-lt"/>
                <a:ea typeface="+mn-ea"/>
                <a:cs typeface="+mn-cs"/>
              </a:rPr>
              <a:t> down </a:t>
            </a:r>
            <a:r>
              <a:rPr lang="de-DE" sz="2400" kern="1200" err="1">
                <a:solidFill>
                  <a:schemeClr val="tx1"/>
                </a:solidFill>
                <a:effectLst/>
                <a:latin typeface="+mn-lt"/>
                <a:ea typeface="+mn-ea"/>
                <a:cs typeface="+mn-cs"/>
              </a:rPr>
              <a:t>from</a:t>
            </a:r>
            <a:r>
              <a:rPr lang="de-DE" sz="2400" kern="1200">
                <a:solidFill>
                  <a:schemeClr val="tx1"/>
                </a:solidFill>
                <a:effectLst/>
                <a:latin typeface="+mn-lt"/>
                <a:ea typeface="+mn-ea"/>
                <a:cs typeface="+mn-cs"/>
              </a:rPr>
              <a:t> 2nd </a:t>
            </a:r>
            <a:r>
              <a:rPr lang="de-DE" sz="2400" kern="1200" err="1">
                <a:solidFill>
                  <a:schemeClr val="tx1"/>
                </a:solidFill>
                <a:effectLst/>
                <a:latin typeface="+mn-lt"/>
                <a:ea typeface="+mn-ea"/>
                <a:cs typeface="+mn-cs"/>
              </a:rPr>
              <a:t>to</a:t>
            </a:r>
            <a:r>
              <a:rPr lang="de-DE" sz="2400" kern="1200">
                <a:solidFill>
                  <a:schemeClr val="tx1"/>
                </a:solidFill>
                <a:effectLst/>
                <a:latin typeface="+mn-lt"/>
                <a:ea typeface="+mn-ea"/>
                <a:cs typeface="+mn-cs"/>
              </a:rPr>
              <a:t> 3rd due </a:t>
            </a:r>
            <a:r>
              <a:rPr lang="de-DE" sz="2400" kern="1200" err="1">
                <a:solidFill>
                  <a:schemeClr val="tx1"/>
                </a:solidFill>
                <a:effectLst/>
                <a:latin typeface="+mn-lt"/>
                <a:ea typeface="+mn-ea"/>
                <a:cs typeface="+mn-cs"/>
              </a:rPr>
              <a:t>to</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overall</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quality</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of</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response</a:t>
            </a:r>
            <a:r>
              <a:rPr lang="de-DE" sz="2400" kern="1200">
                <a:solidFill>
                  <a:schemeClr val="tx1"/>
                </a:solidFill>
                <a:effectLst/>
                <a:latin typeface="+mn-lt"/>
                <a:ea typeface="+mn-ea"/>
                <a:cs typeface="+mn-cs"/>
              </a:rPr>
              <a:t> and </a:t>
            </a:r>
            <a:r>
              <a:rPr lang="de-DE" sz="2400" kern="1200" err="1">
                <a:solidFill>
                  <a:schemeClr val="tx1"/>
                </a:solidFill>
                <a:effectLst/>
                <a:latin typeface="+mn-lt"/>
                <a:ea typeface="+mn-ea"/>
                <a:cs typeface="+mn-cs"/>
              </a:rPr>
              <a:t>known</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capacity</a:t>
            </a:r>
            <a:r>
              <a:rPr lang="de-DE" sz="2400" kern="1200">
                <a:solidFill>
                  <a:schemeClr val="tx1"/>
                </a:solidFill>
                <a:effectLst/>
                <a:latin typeface="+mn-lt"/>
                <a:ea typeface="+mn-ea"/>
                <a:cs typeface="+mn-cs"/>
              </a:rPr>
              <a:t> </a:t>
            </a:r>
            <a:r>
              <a:rPr lang="de-DE" sz="2400" kern="1200" err="1">
                <a:solidFill>
                  <a:schemeClr val="tx1"/>
                </a:solidFill>
                <a:effectLst/>
                <a:latin typeface="+mn-lt"/>
                <a:ea typeface="+mn-ea"/>
                <a:cs typeface="+mn-cs"/>
              </a:rPr>
              <a:t>issues</a:t>
            </a:r>
            <a:r>
              <a:rPr lang="de-DE" sz="2400" kern="1200">
                <a:solidFill>
                  <a:schemeClr val="tx1"/>
                </a:solidFill>
                <a:effectLst/>
                <a:latin typeface="+mn-lt"/>
                <a:ea typeface="+mn-ea"/>
                <a:cs typeface="+mn-cs"/>
              </a:rPr>
              <a:t> in UK.</a:t>
            </a:r>
            <a:endParaRPr lang="en-DE" sz="2400" kern="1200">
              <a:solidFill>
                <a:schemeClr val="tx1"/>
              </a:solidFill>
              <a:effectLst/>
              <a:latin typeface="+mn-lt"/>
              <a:ea typeface="+mn-ea"/>
              <a:cs typeface="+mn-cs"/>
            </a:endParaRPr>
          </a:p>
          <a:p>
            <a:endParaRPr lang="en-GB"/>
          </a:p>
        </p:txBody>
      </p:sp>
      <p:sp>
        <p:nvSpPr>
          <p:cNvPr id="4" name="Slide Number Placeholder 3">
            <a:extLst>
              <a:ext uri="{FF2B5EF4-FFF2-40B4-BE49-F238E27FC236}">
                <a16:creationId xmlns:a16="http://schemas.microsoft.com/office/drawing/2014/main" id="{3A388086-9885-8D30-1FD8-4A6343C37FF3}"/>
              </a:ext>
            </a:extLst>
          </p:cNvPr>
          <p:cNvSpPr>
            <a:spLocks noGrp="1"/>
          </p:cNvSpPr>
          <p:nvPr>
            <p:ph type="sldNum" sz="quarter" idx="5"/>
          </p:nvPr>
        </p:nvSpPr>
        <p:spPr/>
        <p:txBody>
          <a:bodyPr/>
          <a:lstStyle/>
          <a:p>
            <a:fld id="{743F7EE4-7D84-4D77-B4B2-0C966043B366}" type="slidenum">
              <a:rPr lang="en-US" smtClean="0"/>
              <a:t>24</a:t>
            </a:fld>
            <a:endParaRPr lang="en-US"/>
          </a:p>
        </p:txBody>
      </p:sp>
    </p:spTree>
    <p:extLst>
      <p:ext uri="{BB962C8B-B14F-4D97-AF65-F5344CB8AC3E}">
        <p14:creationId xmlns:p14="http://schemas.microsoft.com/office/powerpoint/2010/main" val="4163333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1B95-DE4D-E931-FC9F-9DC50292C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16D42-47F9-C412-8A2E-7380152768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3B1930-54C9-36E5-3A1B-87AB1F461702}"/>
              </a:ext>
            </a:extLst>
          </p:cNvPr>
          <p:cNvSpPr>
            <a:spLocks noGrp="1"/>
          </p:cNvSpPr>
          <p:nvPr>
            <p:ph type="body" idx="1"/>
          </p:nvPr>
        </p:nvSpPr>
        <p:spPr/>
        <p:txBody>
          <a:bodyPr/>
          <a:lstStyle/>
          <a:p>
            <a:r>
              <a:rPr lang="en-GB"/>
              <a:t>Note how close the overall scores for 2</a:t>
            </a:r>
            <a:r>
              <a:rPr lang="en-GB" baseline="30000"/>
              <a:t>nd</a:t>
            </a:r>
            <a:r>
              <a:rPr lang="en-GB"/>
              <a:t> and 3</a:t>
            </a:r>
            <a:r>
              <a:rPr lang="en-GB" baseline="30000"/>
              <a:t>rd</a:t>
            </a:r>
            <a:r>
              <a:rPr lang="en-GB"/>
              <a:t> place are….  It’s very tight.</a:t>
            </a:r>
          </a:p>
          <a:p>
            <a:r>
              <a:rPr lang="en-GB"/>
              <a:t>We answered the questions honestly amongst the 3 dedicated architects and didn’t look at the scores.</a:t>
            </a:r>
          </a:p>
        </p:txBody>
      </p:sp>
      <p:sp>
        <p:nvSpPr>
          <p:cNvPr id="4" name="Slide Number Placeholder 3">
            <a:extLst>
              <a:ext uri="{FF2B5EF4-FFF2-40B4-BE49-F238E27FC236}">
                <a16:creationId xmlns:a16="http://schemas.microsoft.com/office/drawing/2014/main" id="{4EFF7057-13B6-E726-03A6-4D2F4EB50FAB}"/>
              </a:ext>
            </a:extLst>
          </p:cNvPr>
          <p:cNvSpPr>
            <a:spLocks noGrp="1"/>
          </p:cNvSpPr>
          <p:nvPr>
            <p:ph type="sldNum" sz="quarter" idx="5"/>
          </p:nvPr>
        </p:nvSpPr>
        <p:spPr/>
        <p:txBody>
          <a:bodyPr/>
          <a:lstStyle/>
          <a:p>
            <a:fld id="{743F7EE4-7D84-4D77-B4B2-0C966043B366}" type="slidenum">
              <a:rPr lang="en-US" smtClean="0"/>
              <a:t>27</a:t>
            </a:fld>
            <a:endParaRPr lang="en-US"/>
          </a:p>
        </p:txBody>
      </p:sp>
    </p:spTree>
    <p:extLst>
      <p:ext uri="{BB962C8B-B14F-4D97-AF65-F5344CB8AC3E}">
        <p14:creationId xmlns:p14="http://schemas.microsoft.com/office/powerpoint/2010/main" val="4157149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9669-3DEB-9C19-F577-53CA49F93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1E756-1739-AB28-35F5-50D9458C5F8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E56079-6940-8AE8-DA2E-4DC2396702A1}"/>
              </a:ext>
            </a:extLst>
          </p:cNvPr>
          <p:cNvSpPr>
            <a:spLocks noGrp="1"/>
          </p:cNvSpPr>
          <p:nvPr>
            <p:ph type="body" idx="1"/>
          </p:nvPr>
        </p:nvSpPr>
        <p:spPr/>
        <p:txBody>
          <a:bodyPr/>
          <a:lstStyle/>
          <a:p>
            <a:r>
              <a:rPr lang="en-GB"/>
              <a:t>A drilldown specifically highlighting the Value Dials that you rated as either High or Very High Importance to your business.</a:t>
            </a:r>
          </a:p>
        </p:txBody>
      </p:sp>
      <p:sp>
        <p:nvSpPr>
          <p:cNvPr id="4" name="Slide Number Placeholder 3">
            <a:extLst>
              <a:ext uri="{FF2B5EF4-FFF2-40B4-BE49-F238E27FC236}">
                <a16:creationId xmlns:a16="http://schemas.microsoft.com/office/drawing/2014/main" id="{3183661C-E0A5-2524-7FC6-394AC7E6908C}"/>
              </a:ext>
            </a:extLst>
          </p:cNvPr>
          <p:cNvSpPr>
            <a:spLocks noGrp="1"/>
          </p:cNvSpPr>
          <p:nvPr>
            <p:ph type="sldNum" sz="quarter" idx="5"/>
          </p:nvPr>
        </p:nvSpPr>
        <p:spPr/>
        <p:txBody>
          <a:bodyPr/>
          <a:lstStyle/>
          <a:p>
            <a:fld id="{743F7EE4-7D84-4D77-B4B2-0C966043B366}" type="slidenum">
              <a:rPr lang="en-US" smtClean="0"/>
              <a:t>28</a:t>
            </a:fld>
            <a:endParaRPr lang="en-US"/>
          </a:p>
        </p:txBody>
      </p:sp>
    </p:spTree>
    <p:extLst>
      <p:ext uri="{BB962C8B-B14F-4D97-AF65-F5344CB8AC3E}">
        <p14:creationId xmlns:p14="http://schemas.microsoft.com/office/powerpoint/2010/main" val="2497685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30</a:t>
            </a:fld>
            <a:endParaRPr lang="en-US"/>
          </a:p>
        </p:txBody>
      </p:sp>
    </p:spTree>
    <p:extLst>
      <p:ext uri="{BB962C8B-B14F-4D97-AF65-F5344CB8AC3E}">
        <p14:creationId xmlns:p14="http://schemas.microsoft.com/office/powerpoint/2010/main" val="40493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Key Emphasis is on the same dataset being used for everyone</a:t>
            </a:r>
          </a:p>
        </p:txBody>
      </p:sp>
      <p:sp>
        <p:nvSpPr>
          <p:cNvPr id="4" name="Slide Number Placeholder 3"/>
          <p:cNvSpPr>
            <a:spLocks noGrp="1"/>
          </p:cNvSpPr>
          <p:nvPr>
            <p:ph type="sldNum" sz="quarter" idx="5"/>
          </p:nvPr>
        </p:nvSpPr>
        <p:spPr/>
        <p:txBody>
          <a:bodyPr/>
          <a:lstStyle/>
          <a:p>
            <a:fld id="{743F7EE4-7D84-4D77-B4B2-0C966043B366}" type="slidenum">
              <a:rPr lang="en-US" smtClean="0"/>
              <a:t>33</a:t>
            </a:fld>
            <a:endParaRPr lang="en-US"/>
          </a:p>
        </p:txBody>
      </p:sp>
    </p:spTree>
    <p:extLst>
      <p:ext uri="{BB962C8B-B14F-4D97-AF65-F5344CB8AC3E}">
        <p14:creationId xmlns:p14="http://schemas.microsoft.com/office/powerpoint/2010/main" val="3105969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D8DE-AAAF-0F35-0E57-2391F934A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21AD1-CA84-C2DF-55E3-62739CB0151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25A55-820E-3E46-84CF-193B54B94A7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E2FB7DB-7DAD-1E27-3298-297AE40296D6}"/>
              </a:ext>
            </a:extLst>
          </p:cNvPr>
          <p:cNvSpPr>
            <a:spLocks noGrp="1"/>
          </p:cNvSpPr>
          <p:nvPr>
            <p:ph type="sldNum" sz="quarter" idx="5"/>
          </p:nvPr>
        </p:nvSpPr>
        <p:spPr/>
        <p:txBody>
          <a:bodyPr/>
          <a:lstStyle/>
          <a:p>
            <a:fld id="{743F7EE4-7D84-4D77-B4B2-0C966043B366}" type="slidenum">
              <a:rPr lang="en-US" smtClean="0"/>
              <a:t>34</a:t>
            </a:fld>
            <a:endParaRPr lang="en-US"/>
          </a:p>
        </p:txBody>
      </p:sp>
    </p:spTree>
    <p:extLst>
      <p:ext uri="{BB962C8B-B14F-4D97-AF65-F5344CB8AC3E}">
        <p14:creationId xmlns:p14="http://schemas.microsoft.com/office/powerpoint/2010/main" val="277464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CFCB2-17B3-82FD-8322-8B94C2826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3C7A2-868C-5175-B08C-72AEB8DEC8B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38066ED-F219-3654-3028-0F699F4A23CC}"/>
              </a:ext>
            </a:extLst>
          </p:cNvPr>
          <p:cNvSpPr>
            <a:spLocks noGrp="1"/>
          </p:cNvSpPr>
          <p:nvPr>
            <p:ph type="body" idx="1"/>
          </p:nvPr>
        </p:nvSpPr>
        <p:spPr/>
        <p:txBody>
          <a:bodyPr/>
          <a:lstStyle/>
          <a:p>
            <a:r>
              <a:rPr lang="en-GB"/>
              <a:t>Broadcom has ended perpetual licensing for new purchases. The only path to continued support is a VCF subscription. (Source: Broadcom KB Article 429208, referenced in the CRA report prompt.) </a:t>
            </a:r>
          </a:p>
          <a:p>
            <a:r>
              <a:rPr lang="en-GB"/>
              <a:t>https://</a:t>
            </a:r>
            <a:r>
              <a:rPr lang="en-GB" err="1"/>
              <a:t>knowledge.broadcom.com</a:t>
            </a:r>
            <a:r>
              <a:rPr lang="en-GB"/>
              <a:t>/external/article/429208/perpetual-license-functionality-after-</a:t>
            </a:r>
            <a:r>
              <a:rPr lang="en-GB" err="1"/>
              <a:t>su.html</a:t>
            </a:r>
            <a:endParaRPr lang="en-GB"/>
          </a:p>
        </p:txBody>
      </p:sp>
      <p:sp>
        <p:nvSpPr>
          <p:cNvPr id="4" name="Slide Number Placeholder 3">
            <a:extLst>
              <a:ext uri="{FF2B5EF4-FFF2-40B4-BE49-F238E27FC236}">
                <a16:creationId xmlns:a16="http://schemas.microsoft.com/office/drawing/2014/main" id="{475BE411-E7A4-1B26-A391-CBED9CDC2AC3}"/>
              </a:ext>
            </a:extLst>
          </p:cNvPr>
          <p:cNvSpPr>
            <a:spLocks noGrp="1"/>
          </p:cNvSpPr>
          <p:nvPr>
            <p:ph type="sldNum" sz="quarter" idx="5"/>
          </p:nvPr>
        </p:nvSpPr>
        <p:spPr/>
        <p:txBody>
          <a:bodyPr/>
          <a:lstStyle/>
          <a:p>
            <a:fld id="{743F7EE4-7D84-4D77-B4B2-0C966043B366}" type="slidenum">
              <a:rPr lang="en-US" smtClean="0"/>
              <a:t>35</a:t>
            </a:fld>
            <a:endParaRPr lang="en-US"/>
          </a:p>
        </p:txBody>
      </p:sp>
    </p:spTree>
    <p:extLst>
      <p:ext uri="{BB962C8B-B14F-4D97-AF65-F5344CB8AC3E}">
        <p14:creationId xmlns:p14="http://schemas.microsoft.com/office/powerpoint/2010/main" val="2889833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5E3AC-63CF-D16B-83FF-A77B7B0C4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CFD41-F16D-330E-7D93-E5E064D712B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83EDFA-13F1-C41B-ADEA-D58F224B7372}"/>
              </a:ext>
            </a:extLst>
          </p:cNvPr>
          <p:cNvSpPr>
            <a:spLocks noGrp="1"/>
          </p:cNvSpPr>
          <p:nvPr>
            <p:ph type="body" idx="1"/>
          </p:nvPr>
        </p:nvSpPr>
        <p:spPr/>
        <p:txBody>
          <a:bodyPr/>
          <a:lstStyle/>
          <a:p>
            <a:r>
              <a:rPr lang="en-GB"/>
              <a:t>Avoid focusing on the numbers themselves. </a:t>
            </a:r>
          </a:p>
          <a:p>
            <a:r>
              <a:rPr lang="en-GB"/>
              <a:t>There will be differences.</a:t>
            </a:r>
          </a:p>
        </p:txBody>
      </p:sp>
      <p:sp>
        <p:nvSpPr>
          <p:cNvPr id="4" name="Slide Number Placeholder 3">
            <a:extLst>
              <a:ext uri="{FF2B5EF4-FFF2-40B4-BE49-F238E27FC236}">
                <a16:creationId xmlns:a16="http://schemas.microsoft.com/office/drawing/2014/main" id="{902AC81F-8F5A-C9B7-E1BA-F8B2743F7F65}"/>
              </a:ext>
            </a:extLst>
          </p:cNvPr>
          <p:cNvSpPr>
            <a:spLocks noGrp="1"/>
          </p:cNvSpPr>
          <p:nvPr>
            <p:ph type="sldNum" sz="quarter" idx="5"/>
          </p:nvPr>
        </p:nvSpPr>
        <p:spPr/>
        <p:txBody>
          <a:bodyPr/>
          <a:lstStyle/>
          <a:p>
            <a:fld id="{743F7EE4-7D84-4D77-B4B2-0C966043B366}" type="slidenum">
              <a:rPr lang="en-US" smtClean="0"/>
              <a:t>36</a:t>
            </a:fld>
            <a:endParaRPr lang="en-US"/>
          </a:p>
        </p:txBody>
      </p:sp>
    </p:spTree>
    <p:extLst>
      <p:ext uri="{BB962C8B-B14F-4D97-AF65-F5344CB8AC3E}">
        <p14:creationId xmlns:p14="http://schemas.microsoft.com/office/powerpoint/2010/main" val="528480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D464-4545-57DA-A1B8-BAADD9E81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C68C4-B96F-785F-FB9B-AD4DE6FC23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DDC4BFD-48E6-E66C-E007-822E0A9D75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B18E982-08E1-EFDC-1672-5B48C03B9266}"/>
              </a:ext>
            </a:extLst>
          </p:cNvPr>
          <p:cNvSpPr>
            <a:spLocks noGrp="1"/>
          </p:cNvSpPr>
          <p:nvPr>
            <p:ph type="sldNum" sz="quarter" idx="5"/>
          </p:nvPr>
        </p:nvSpPr>
        <p:spPr/>
        <p:txBody>
          <a:bodyPr/>
          <a:lstStyle/>
          <a:p>
            <a:fld id="{743F7EE4-7D84-4D77-B4B2-0C966043B366}" type="slidenum">
              <a:rPr lang="en-US" smtClean="0"/>
              <a:t>37</a:t>
            </a:fld>
            <a:endParaRPr lang="en-US"/>
          </a:p>
        </p:txBody>
      </p:sp>
    </p:spTree>
    <p:extLst>
      <p:ext uri="{BB962C8B-B14F-4D97-AF65-F5344CB8AC3E}">
        <p14:creationId xmlns:p14="http://schemas.microsoft.com/office/powerpoint/2010/main" val="3981650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AEE0-D603-4005-BF47-33871E62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8E5E-C81C-7286-E005-F09B0723242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6A32D4-1840-D27F-6786-AD7937B579DF}"/>
              </a:ext>
            </a:extLst>
          </p:cNvPr>
          <p:cNvSpPr>
            <a:spLocks noGrp="1"/>
          </p:cNvSpPr>
          <p:nvPr>
            <p:ph type="body" idx="1"/>
          </p:nvPr>
        </p:nvSpPr>
        <p:spPr/>
        <p:txBody>
          <a:bodyPr/>
          <a:lstStyle/>
          <a:p>
            <a:r>
              <a:rPr lang="en-GB" sz="2400" kern="1200">
                <a:solidFill>
                  <a:schemeClr val="tx1"/>
                </a:solidFill>
                <a:effectLst/>
                <a:latin typeface="+mn-lt"/>
                <a:ea typeface="+mn-ea"/>
                <a:cs typeface="+mn-cs"/>
              </a:rPr>
              <a:t>On a 3-year committed basis in London, GCP is the cheapest by approximately 2% over AWS. </a:t>
            </a:r>
          </a:p>
          <a:p>
            <a:endParaRPr lang="en-GB"/>
          </a:p>
          <a:p>
            <a:r>
              <a:rPr lang="en-GB"/>
              <a:t>What does </a:t>
            </a:r>
            <a:r>
              <a:rPr lang="en-GB" sz="2400">
                <a:latin typeface="Fira Sans" panose="020B0503050000020004" pitchFamily="34" charset="0"/>
              </a:rPr>
              <a:t>“apples-to-apples” mean?</a:t>
            </a:r>
          </a:p>
          <a:p>
            <a:pPr marL="342900" marR="0" lvl="0" indent="-342900" algn="l" defTabSz="1828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kern="1200">
                <a:solidFill>
                  <a:schemeClr val="tx1"/>
                </a:solidFill>
                <a:effectLst/>
                <a:latin typeface="+mn-lt"/>
                <a:ea typeface="+mn-ea"/>
                <a:cs typeface="+mn-cs"/>
              </a:rPr>
              <a:t>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endParaRPr lang="en-GB" sz="2400">
              <a:latin typeface="Fira Sans" panose="020B0503050000020004" pitchFamily="34" charset="0"/>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Block storage (SSD class, IOPS-matched across clouds at 80,000 IOPS per disk where needed) – Explaining Large Azure Storage Variance</a:t>
            </a:r>
          </a:p>
          <a:p>
            <a:pPr marL="342900" indent="-342900">
              <a:buFont typeface="Arial" panose="020B0604020202020204" pitchFamily="34" charset="0"/>
              <a:buChar char="•"/>
            </a:pPr>
            <a:r>
              <a:rPr lang="en-GB" sz="2400" kern="1200">
                <a:solidFill>
                  <a:schemeClr val="tx1"/>
                </a:solidFill>
                <a:effectLst/>
                <a:latin typeface="+mn-lt"/>
                <a:ea typeface="+mn-ea"/>
                <a:cs typeface="+mn-cs"/>
              </a:rPr>
              <a:t>Ensured that burstable VM families were excluded across all three clouds by team agreement as not suitable for production workloads. </a:t>
            </a:r>
          </a:p>
          <a:p>
            <a:pPr marL="342900" indent="-342900">
              <a:buFont typeface="Arial" panose="020B0604020202020204" pitchFamily="34" charset="0"/>
              <a:buChar char="•"/>
            </a:pPr>
            <a:r>
              <a:rPr lang="en-GB" sz="2400" kern="1200">
                <a:solidFill>
                  <a:schemeClr val="tx1"/>
                </a:solidFill>
                <a:effectLst/>
                <a:latin typeface="+mn-lt"/>
                <a:ea typeface="+mn-ea"/>
                <a:cs typeface="+mn-cs"/>
              </a:rPr>
              <a:t>Consistent “Comfort factor” and “Utilisation percentile” applied </a:t>
            </a:r>
            <a:endParaRPr lang="en-DE" sz="2400" kern="1200">
              <a:solidFill>
                <a:schemeClr val="tx1"/>
              </a:solidFill>
              <a:effectLst/>
              <a:latin typeface="+mn-lt"/>
              <a:ea typeface="+mn-ea"/>
              <a:cs typeface="+mn-cs"/>
            </a:endParaRPr>
          </a:p>
          <a:p>
            <a:r>
              <a:rPr lang="en-GB" sz="2400" kern="1200">
                <a:solidFill>
                  <a:schemeClr val="tx1"/>
                </a:solidFill>
                <a:effectLst/>
                <a:latin typeface="+mn-lt"/>
                <a:ea typeface="+mn-ea"/>
                <a:cs typeface="+mn-cs"/>
              </a:rPr>
              <a:t> </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DE" sz="2400" kern="1200">
                <a:solidFill>
                  <a:schemeClr val="tx1"/>
                </a:solidFill>
                <a:effectLst/>
                <a:latin typeface="+mn-lt"/>
                <a:ea typeface="+mn-ea"/>
                <a:cs typeface="+mn-cs"/>
              </a:rPr>
              <a:t>Even then, the tooling has differences.  </a:t>
            </a:r>
            <a:r>
              <a:rPr lang="en-GB" sz="2400" kern="1200">
                <a:solidFill>
                  <a:schemeClr val="tx1"/>
                </a:solidFill>
                <a:effectLst/>
                <a:latin typeface="+mn-lt"/>
                <a:ea typeface="+mn-ea"/>
                <a:cs typeface="+mn-cs"/>
              </a:rPr>
              <a:t>The cost spread reflects how each cloud's own assessment tool sized the same source workload. </a:t>
            </a:r>
          </a:p>
          <a:p>
            <a:pPr marL="342900" indent="-342900">
              <a:buFont typeface="Arial" panose="020B0604020202020204" pitchFamily="34" charset="0"/>
              <a:buChar char="•"/>
            </a:pPr>
            <a:r>
              <a:rPr lang="en-GB" sz="2400" kern="1200">
                <a:solidFill>
                  <a:schemeClr val="tx1"/>
                </a:solidFill>
                <a:effectLst/>
                <a:latin typeface="+mn-lt"/>
                <a:ea typeface="+mn-ea"/>
                <a:cs typeface="+mn-cs"/>
              </a:rPr>
              <a:t>GCP Migration </a:t>
            </a:r>
            <a:r>
              <a:rPr lang="en-GB" sz="2400" kern="1200" err="1">
                <a:solidFill>
                  <a:schemeClr val="tx1"/>
                </a:solidFill>
                <a:effectLst/>
                <a:latin typeface="+mn-lt"/>
                <a:ea typeface="+mn-ea"/>
                <a:cs typeface="+mn-cs"/>
              </a:rPr>
              <a:t>Center</a:t>
            </a:r>
            <a:r>
              <a:rPr lang="en-GB" sz="2400" kern="1200">
                <a:solidFill>
                  <a:schemeClr val="tx1"/>
                </a:solidFill>
                <a:effectLst/>
                <a:latin typeface="+mn-lt"/>
                <a:ea typeface="+mn-ea"/>
                <a:cs typeface="+mn-cs"/>
              </a:rPr>
              <a:t> produced the smallest vCPU allocation at 32% of source, using custom instance shapes down to 1 vCPU.   This drives their licensing costs down as cores are licensed.</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AWS Transform sat at 49% vCPU allocation. </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Azure Migrate sat at 53%, typically assigning F2s_v2 (2 vCPU minimum) across most of the estate because its sizing algorithm did not generate 1-vCPU SKUs for production workloads and F-series SKU availability with 3-year Reserved Instance coverage in London shapes the options available. </a:t>
            </a:r>
            <a:endParaRPr lang="en-DE" sz="2400" kern="1200">
              <a:solidFill>
                <a:schemeClr val="tx1"/>
              </a:solidFill>
              <a:effectLst/>
              <a:latin typeface="+mn-lt"/>
              <a:ea typeface="+mn-ea"/>
              <a:cs typeface="+mn-cs"/>
            </a:endParaRPr>
          </a:p>
          <a:p>
            <a:pPr marL="0" indent="0">
              <a:buFont typeface="Arial" panose="020B0604020202020204" pitchFamily="34" charset="0"/>
              <a:buNone/>
            </a:pPr>
            <a:endParaRPr lang="en-DE">
              <a:effectLst/>
            </a:endParaRPr>
          </a:p>
          <a:p>
            <a:endParaRPr lang="en-GB" sz="2400">
              <a:latin typeface="Fira Sans" panose="020B0503050000020004" pitchFamily="34" charset="0"/>
            </a:endParaRPr>
          </a:p>
          <a:p>
            <a:r>
              <a:rPr lang="en-GB" sz="2400">
                <a:latin typeface="Fira Sans" panose="020B0503050000020004" pitchFamily="34" charset="0"/>
              </a:rPr>
              <a:t>Methodology</a:t>
            </a:r>
          </a:p>
          <a:p>
            <a:pPr marL="457200" lvl="0" indent="-457200">
              <a:buFont typeface="+mj-lt"/>
              <a:buAutoNum type="arabicPeriod"/>
            </a:pPr>
            <a:r>
              <a:rPr lang="en-US" sz="2400" b="1" kern="1200">
                <a:solidFill>
                  <a:schemeClr val="tx1"/>
                </a:solidFill>
                <a:effectLst/>
                <a:latin typeface="+mn-lt"/>
                <a:ea typeface="+mn-ea"/>
                <a:cs typeface="+mn-cs"/>
              </a:rPr>
              <a:t>Data </a:t>
            </a:r>
            <a:r>
              <a:rPr lang="en-US" sz="2400" b="1" kern="1200" err="1">
                <a:solidFill>
                  <a:schemeClr val="tx1"/>
                </a:solidFill>
                <a:effectLst/>
                <a:latin typeface="+mn-lt"/>
                <a:ea typeface="+mn-ea"/>
                <a:cs typeface="+mn-cs"/>
              </a:rPr>
              <a:t>normalisation</a:t>
            </a:r>
            <a:r>
              <a:rPr lang="en-US" sz="2400" kern="1200">
                <a:solidFill>
                  <a:schemeClr val="tx1"/>
                </a:solidFill>
                <a:effectLst/>
                <a:latin typeface="+mn-lt"/>
                <a:ea typeface="+mn-ea"/>
                <a:cs typeface="+mn-cs"/>
              </a:rPr>
              <a:t>. 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p>
          <a:p>
            <a:pPr marL="457200" lvl="0" indent="-457200">
              <a:buFont typeface="+mj-lt"/>
              <a:buAutoNum type="arabicPeriod"/>
            </a:pPr>
            <a:r>
              <a:rPr lang="en-US" sz="2400" b="1" kern="1200">
                <a:solidFill>
                  <a:schemeClr val="tx1"/>
                </a:solidFill>
                <a:effectLst/>
                <a:latin typeface="+mn-lt"/>
                <a:ea typeface="+mn-ea"/>
                <a:cs typeface="+mn-cs"/>
              </a:rPr>
              <a:t>Architectural benchmarking</a:t>
            </a:r>
            <a:r>
              <a:rPr lang="en-US" sz="2400" kern="1200">
                <a:solidFill>
                  <a:schemeClr val="tx1"/>
                </a:solidFill>
                <a:effectLst/>
                <a:latin typeface="+mn-lt"/>
                <a:ea typeface="+mn-ea"/>
                <a:cs typeface="+mn-cs"/>
              </a:rPr>
              <a:t>. Each cloud's own sizing tool (GCP Migration Center, AWS Transform, Azure Migrate) produced right-sized target configurations. The native tools did the sizing. Their outputs are the starting point, not the final answer.</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AI logic audit.</a:t>
            </a:r>
            <a:r>
              <a:rPr lang="en-US" sz="2400" kern="1200">
                <a:solidFill>
                  <a:schemeClr val="tx1"/>
                </a:solidFill>
                <a:effectLst/>
                <a:latin typeface="+mn-lt"/>
                <a:ea typeface="+mn-ea"/>
                <a:cs typeface="+mn-cs"/>
              </a:rPr>
              <a:t> We audited the SKU mappings each tool produced. Different tools use different </a:t>
            </a:r>
            <a:r>
              <a:rPr lang="en-US" sz="2400" kern="1200" err="1">
                <a:solidFill>
                  <a:schemeClr val="tx1"/>
                </a:solidFill>
                <a:effectLst/>
                <a:latin typeface="+mn-lt"/>
                <a:ea typeface="+mn-ea"/>
                <a:cs typeface="+mn-cs"/>
              </a:rPr>
              <a:t>optimisation</a:t>
            </a:r>
            <a:r>
              <a:rPr lang="en-US" sz="2400" kern="1200">
                <a:solidFill>
                  <a:schemeClr val="tx1"/>
                </a:solidFill>
                <a:effectLst/>
                <a:latin typeface="+mn-lt"/>
                <a:ea typeface="+mn-ea"/>
                <a:cs typeface="+mn-cs"/>
              </a:rPr>
              <a:t> logic. We checked what each tool assumed and why.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Bias mitigation</a:t>
            </a:r>
            <a:r>
              <a:rPr lang="en-US" sz="2400" kern="1200">
                <a:solidFill>
                  <a:schemeClr val="tx1"/>
                </a:solidFill>
                <a:effectLst/>
                <a:latin typeface="+mn-lt"/>
                <a:ea typeface="+mn-ea"/>
                <a:cs typeface="+mn-cs"/>
              </a:rPr>
              <a:t>. To remove tool-specific bias, we re-priced every recommended SKU against the official cloud pricing APIs (AWS Price List API, Azure Retail Prices API, GCP Billing Catalog API). This produced a validated,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view. The provider-native outputs are kept for internal validation only.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Two pricing pillars.</a:t>
            </a:r>
            <a:r>
              <a:rPr lang="en-US" sz="2400" kern="1200">
                <a:solidFill>
                  <a:schemeClr val="tx1"/>
                </a:solidFill>
                <a:effectLst/>
                <a:latin typeface="+mn-lt"/>
                <a:ea typeface="+mn-ea"/>
                <a:cs typeface="+mn-cs"/>
              </a:rPr>
              <a:t> We report on-demand (the clean baseline) and 3-year committed (the realistic commitment for an organization of your scale). One-year commitments are </a:t>
            </a:r>
            <a:r>
              <a:rPr lang="en-US" sz="2400" kern="1200" err="1">
                <a:solidFill>
                  <a:schemeClr val="tx1"/>
                </a:solidFill>
                <a:effectLst/>
                <a:latin typeface="+mn-lt"/>
                <a:ea typeface="+mn-ea"/>
                <a:cs typeface="+mn-cs"/>
              </a:rPr>
              <a:t>deprioritised</a:t>
            </a:r>
            <a:r>
              <a:rPr lang="en-US" sz="2400" kern="1200">
                <a:solidFill>
                  <a:schemeClr val="tx1"/>
                </a:solidFill>
                <a:effectLst/>
                <a:latin typeface="+mn-lt"/>
                <a:ea typeface="+mn-ea"/>
                <a:cs typeface="+mn-cs"/>
              </a:rPr>
              <a:t> as a less attractive option.</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Partner and commercial pricing is a separate layer.</a:t>
            </a:r>
            <a:r>
              <a:rPr lang="en-US" sz="2400" kern="1200">
                <a:solidFill>
                  <a:schemeClr val="tx1"/>
                </a:solidFill>
                <a:effectLst/>
                <a:latin typeface="+mn-lt"/>
                <a:ea typeface="+mn-ea"/>
                <a:cs typeface="+mn-cs"/>
              </a:rPr>
              <a:t> This sits on top of the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baseline. Where commercial offers are not yet received, the layer is flagged [PENDING ] rather than inferred.</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Oracle scenarios are modelled separately</a:t>
            </a:r>
            <a:r>
              <a:rPr lang="en-US" sz="2400" kern="1200">
                <a:solidFill>
                  <a:schemeClr val="tx1"/>
                </a:solidFill>
                <a:effectLst/>
                <a:latin typeface="+mn-lt"/>
                <a:ea typeface="+mn-ea"/>
                <a:cs typeface="+mn-cs"/>
              </a:rPr>
              <a:t>. Oracle has three fundamentally different migration paths, each with different pricing mechanics. These are separated rather than averaged into compute cost.</a:t>
            </a:r>
            <a:endParaRPr lang="en-DE" sz="2400" kern="1200">
              <a:solidFill>
                <a:schemeClr val="tx1"/>
              </a:solidFill>
              <a:effectLst/>
              <a:latin typeface="+mn-lt"/>
              <a:ea typeface="+mn-ea"/>
              <a:cs typeface="+mn-cs"/>
            </a:endParaRPr>
          </a:p>
          <a:p>
            <a:pPr marL="0" lvl="0" indent="0">
              <a:buFont typeface="+mj-lt"/>
              <a:buNone/>
            </a:pPr>
            <a:r>
              <a:rPr lang="en-GB" sz="2400" kern="1200">
                <a:solidFill>
                  <a:schemeClr val="tx1"/>
                </a:solidFill>
                <a:effectLst/>
                <a:latin typeface="+mn-lt"/>
                <a:ea typeface="+mn-ea"/>
                <a:cs typeface="+mn-cs"/>
              </a:rPr>
              <a:t>This methodology is what gives the figures credibility when each cloud provider presents their own view directly. Your technical panel can verify any number against a specific API response and data normalisation step.</a:t>
            </a:r>
            <a:endParaRPr lang="en-DE" sz="24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B0670F-2429-396B-78A8-4CE7990F9C82}"/>
              </a:ext>
            </a:extLst>
          </p:cNvPr>
          <p:cNvSpPr>
            <a:spLocks noGrp="1"/>
          </p:cNvSpPr>
          <p:nvPr>
            <p:ph type="sldNum" sz="quarter" idx="5"/>
          </p:nvPr>
        </p:nvSpPr>
        <p:spPr/>
        <p:txBody>
          <a:bodyPr/>
          <a:lstStyle/>
          <a:p>
            <a:fld id="{743F7EE4-7D84-4D77-B4B2-0C966043B366}" type="slidenum">
              <a:rPr lang="en-US" smtClean="0"/>
              <a:t>38</a:t>
            </a:fld>
            <a:endParaRPr lang="en-US"/>
          </a:p>
        </p:txBody>
      </p:sp>
    </p:spTree>
    <p:extLst>
      <p:ext uri="{BB962C8B-B14F-4D97-AF65-F5344CB8AC3E}">
        <p14:creationId xmlns:p14="http://schemas.microsoft.com/office/powerpoint/2010/main" val="17387538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A33B-4C2B-A736-1615-247008C99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F1052-2884-C40C-4611-DF2521C149D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B0B66D-890E-DC0A-AB5C-FFC806FC598A}"/>
              </a:ext>
            </a:extLst>
          </p:cNvPr>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400" b="0" i="1" u="none" strike="noStrike">
                <a:solidFill>
                  <a:srgbClr val="808080"/>
                </a:solidFill>
                <a:effectLst/>
                <a:latin typeface="Calibri" panose="020F0502020204030204" pitchFamily="34" charset="0"/>
              </a:rPr>
              <a:t>Egress - API-verified rates: AWS 0-10/10-50/50-150TB = $0.09/$0.085/$0.07 per GB | Azure (Internet) = $0.08/$0.065/$0.06 per GB | GCP Premium = $0.12 first 1TB, $0.11 to 10TB, $0.08 above</a:t>
            </a:r>
          </a:p>
          <a:p>
            <a:endParaRPr lang="en-GB"/>
          </a:p>
        </p:txBody>
      </p:sp>
      <p:sp>
        <p:nvSpPr>
          <p:cNvPr id="4" name="Slide Number Placeholder 3">
            <a:extLst>
              <a:ext uri="{FF2B5EF4-FFF2-40B4-BE49-F238E27FC236}">
                <a16:creationId xmlns:a16="http://schemas.microsoft.com/office/drawing/2014/main" id="{17A643D7-167F-8E5E-376E-A3EE2696CCB9}"/>
              </a:ext>
            </a:extLst>
          </p:cNvPr>
          <p:cNvSpPr>
            <a:spLocks noGrp="1"/>
          </p:cNvSpPr>
          <p:nvPr>
            <p:ph type="sldNum" sz="quarter" idx="5"/>
          </p:nvPr>
        </p:nvSpPr>
        <p:spPr/>
        <p:txBody>
          <a:bodyPr/>
          <a:lstStyle/>
          <a:p>
            <a:fld id="{743F7EE4-7D84-4D77-B4B2-0C966043B366}" type="slidenum">
              <a:rPr lang="en-US" smtClean="0"/>
              <a:t>39</a:t>
            </a:fld>
            <a:endParaRPr lang="en-US"/>
          </a:p>
        </p:txBody>
      </p:sp>
    </p:spTree>
    <p:extLst>
      <p:ext uri="{BB962C8B-B14F-4D97-AF65-F5344CB8AC3E}">
        <p14:creationId xmlns:p14="http://schemas.microsoft.com/office/powerpoint/2010/main" val="212904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DE-A109-CE26-F686-C063C8ECD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E6D47-2F98-4C39-3E7D-AAB6D43597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0493D7-45DF-4B33-12F1-42949F5843F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DA31374-5CB8-F854-F45A-CD7C5469C2CE}"/>
              </a:ext>
            </a:extLst>
          </p:cNvPr>
          <p:cNvSpPr>
            <a:spLocks noGrp="1"/>
          </p:cNvSpPr>
          <p:nvPr>
            <p:ph type="sldNum" sz="quarter" idx="5"/>
          </p:nvPr>
        </p:nvSpPr>
        <p:spPr/>
        <p:txBody>
          <a:bodyPr/>
          <a:lstStyle/>
          <a:p>
            <a:fld id="{743F7EE4-7D84-4D77-B4B2-0C966043B366}" type="slidenum">
              <a:rPr lang="en-US" smtClean="0"/>
              <a:t>40</a:t>
            </a:fld>
            <a:endParaRPr lang="en-US"/>
          </a:p>
        </p:txBody>
      </p:sp>
    </p:spTree>
    <p:extLst>
      <p:ext uri="{BB962C8B-B14F-4D97-AF65-F5344CB8AC3E}">
        <p14:creationId xmlns:p14="http://schemas.microsoft.com/office/powerpoint/2010/main" val="2512843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FBB8A-598C-5A7A-BBC1-96A5BEB96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13F3F-9F6D-606B-ACF3-8005F8BDBFE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B077B-37D7-3A15-74F8-1CD5EFFD6E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28E47B-111A-8597-AC06-757EB3979143}"/>
              </a:ext>
            </a:extLst>
          </p:cNvPr>
          <p:cNvSpPr>
            <a:spLocks noGrp="1"/>
          </p:cNvSpPr>
          <p:nvPr>
            <p:ph type="sldNum" sz="quarter" idx="5"/>
          </p:nvPr>
        </p:nvSpPr>
        <p:spPr/>
        <p:txBody>
          <a:bodyPr/>
          <a:lstStyle/>
          <a:p>
            <a:fld id="{743F7EE4-7D84-4D77-B4B2-0C966043B366}" type="slidenum">
              <a:rPr lang="en-US" smtClean="0"/>
              <a:t>45</a:t>
            </a:fld>
            <a:endParaRPr lang="en-US"/>
          </a:p>
        </p:txBody>
      </p:sp>
    </p:spTree>
    <p:extLst>
      <p:ext uri="{BB962C8B-B14F-4D97-AF65-F5344CB8AC3E}">
        <p14:creationId xmlns:p14="http://schemas.microsoft.com/office/powerpoint/2010/main" val="6269847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68EB-141C-409B-21E9-D9A7D9072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9A96C-4133-5045-A8CE-69622AE62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E888-C355-B7BA-FDD7-3F9784A6A5DD}"/>
              </a:ext>
            </a:extLst>
          </p:cNvPr>
          <p:cNvSpPr>
            <a:spLocks noGrp="1"/>
          </p:cNvSpPr>
          <p:nvPr>
            <p:ph type="body" idx="1"/>
          </p:nvPr>
        </p:nvSpPr>
        <p:spPr/>
        <p:txBody>
          <a:bodyPr/>
          <a:lstStyle/>
          <a:p>
            <a:r>
              <a:rPr lang="en-GB"/>
              <a:t>Reminder of </a:t>
            </a:r>
          </a:p>
        </p:txBody>
      </p:sp>
      <p:sp>
        <p:nvSpPr>
          <p:cNvPr id="4" name="Slide Number Placeholder 3">
            <a:extLst>
              <a:ext uri="{FF2B5EF4-FFF2-40B4-BE49-F238E27FC236}">
                <a16:creationId xmlns:a16="http://schemas.microsoft.com/office/drawing/2014/main" id="{3934D382-9ABE-9146-E6DE-1F4A8B5A2C40}"/>
              </a:ext>
            </a:extLst>
          </p:cNvPr>
          <p:cNvSpPr>
            <a:spLocks noGrp="1"/>
          </p:cNvSpPr>
          <p:nvPr>
            <p:ph type="sldNum" sz="quarter" idx="5"/>
          </p:nvPr>
        </p:nvSpPr>
        <p:spPr/>
        <p:txBody>
          <a:bodyPr/>
          <a:lstStyle/>
          <a:p>
            <a:fld id="{743F7EE4-7D84-4D77-B4B2-0C966043B366}" type="slidenum">
              <a:rPr lang="en-US" smtClean="0"/>
              <a:t>50</a:t>
            </a:fld>
            <a:endParaRPr lang="en-US"/>
          </a:p>
        </p:txBody>
      </p:sp>
    </p:spTree>
    <p:extLst>
      <p:ext uri="{BB962C8B-B14F-4D97-AF65-F5344CB8AC3E}">
        <p14:creationId xmlns:p14="http://schemas.microsoft.com/office/powerpoint/2010/main" val="4247721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t>57</a:t>
            </a:fld>
            <a:endParaRPr lang="en-US"/>
          </a:p>
        </p:txBody>
      </p:sp>
    </p:spTree>
    <p:extLst>
      <p:ext uri="{BB962C8B-B14F-4D97-AF65-F5344CB8AC3E}">
        <p14:creationId xmlns:p14="http://schemas.microsoft.com/office/powerpoint/2010/main" val="3550226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12.xml"/></Relationships>
</file>

<file path=ppt/slideLayouts/_rels/slideLayout3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1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3.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3.xml"/><Relationship Id="rId1" Type="http://schemas.openxmlformats.org/officeDocument/2006/relationships/tags" Target="../tags/tag3.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3.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rial"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rial"/>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rial"/>
              <a:buNone/>
            </a:pPr>
            <a:endParaRPr sz="3000" b="1" i="0" u="none" strike="noStrike" cap="none">
              <a:solidFill>
                <a:srgbClr val="FFFFFF"/>
              </a:solidFill>
              <a:latin typeface="Arial"/>
              <a:ea typeface="Arial"/>
              <a:cs typeface="Arial"/>
              <a:sym typeface="Arial"/>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rial"/>
              <a:buNone/>
            </a:pPr>
            <a:endParaRPr sz="1800" b="0" i="0" u="none" strike="noStrike" cap="none">
              <a:solidFill>
                <a:schemeClr val="dk1"/>
              </a:solidFill>
              <a:latin typeface="Arial"/>
              <a:ea typeface="Arial"/>
              <a:cs typeface="Arial"/>
              <a:sym typeface="Arial"/>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1800" b="0" i="0" u="none" strike="noStrike" cap="none">
                <a:solidFill>
                  <a:schemeClr val="lt1"/>
                </a:solidFill>
                <a:latin typeface="Arial"/>
                <a:ea typeface="Arial"/>
                <a:cs typeface="Arial"/>
                <a:sym typeface="Arial"/>
              </a:rPr>
              <a:pPr marL="0" marR="0" lvl="0" indent="0" algn="r" rtl="0">
                <a:lnSpc>
                  <a:spcPct val="100000"/>
                </a:lnSpc>
                <a:spcBef>
                  <a:spcPts val="0"/>
                </a:spcBef>
                <a:spcAft>
                  <a:spcPts val="0"/>
                </a:spcAft>
                <a:buClr>
                  <a:srgbClr val="000000"/>
                </a:buClr>
                <a:buSzPts val="900"/>
                <a:buFont typeface="Arial"/>
                <a:buNone/>
              </a:pPr>
              <a:t>‹#›</a:t>
            </a:fld>
            <a:endParaRPr sz="1800" b="0" i="0" u="none" strike="noStrike" cap="none">
              <a:solidFill>
                <a:schemeClr val="lt1"/>
              </a:solidFill>
              <a:latin typeface="Arial"/>
              <a:ea typeface="Arial"/>
              <a:cs typeface="Arial"/>
              <a:sym typeface="Arial"/>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rial"/>
              <a:buNone/>
            </a:pPr>
            <a:fld id="{00000000-1234-1234-1234-123412341234}" type="slidenum">
              <a:rPr lang="en-US" sz="1632" b="0" i="0" u="none" strike="noStrike" cap="none">
                <a:solidFill>
                  <a:srgbClr val="808080"/>
                </a:solidFill>
                <a:latin typeface="Arial"/>
                <a:ea typeface="Arial"/>
                <a:cs typeface="Arial"/>
                <a:sym typeface="Arial"/>
              </a:rPr>
              <a:pPr marL="0" marR="0" lvl="0" indent="0" algn="l" rtl="0">
                <a:lnSpc>
                  <a:spcPct val="100000"/>
                </a:lnSpc>
                <a:spcBef>
                  <a:spcPts val="0"/>
                </a:spcBef>
                <a:spcAft>
                  <a:spcPts val="0"/>
                </a:spcAft>
                <a:buClr>
                  <a:srgbClr val="000000"/>
                </a:buClr>
                <a:buSzPts val="816"/>
                <a:buFont typeface="Arial"/>
                <a:buNone/>
              </a:pPr>
              <a:t>‹#›</a:t>
            </a:fld>
            <a:endParaRPr sz="1632" b="0" i="0" u="none" strike="noStrike" cap="none">
              <a:solidFill>
                <a:srgbClr val="808080"/>
              </a:solidFill>
              <a:latin typeface="Arial"/>
              <a:ea typeface="Arial"/>
              <a:cs typeface="Arial"/>
              <a:sym typeface="Arial"/>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rial"/>
              <a:buNone/>
            </a:pPr>
            <a:r>
              <a:rPr lang="en-US" sz="1632" b="0" i="0" u="none" strike="noStrike" cap="none">
                <a:solidFill>
                  <a:srgbClr val="808080"/>
                </a:solidFill>
                <a:latin typeface="Arial"/>
                <a:ea typeface="Arial"/>
                <a:cs typeface="Arial"/>
                <a:sym typeface="Arial"/>
              </a:rPr>
              <a:t>McKinsey &amp; Company</a:t>
            </a:r>
            <a:endParaRPr sz="2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image" Target="../media/image15.svg"/><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theme" Target="../theme/theme3.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image" Target="../media/image2.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1.sv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theme" Target="../theme/theme5.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image" Target="../media/image2.png"/><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image" Target="../media/image1.sv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image" Target="../media/image1.svg"/><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26" Type="http://schemas.openxmlformats.org/officeDocument/2006/relationships/slideLayout" Target="../slideLayouts/slideLayout177.xml"/><Relationship Id="rId3" Type="http://schemas.openxmlformats.org/officeDocument/2006/relationships/slideLayout" Target="../slideLayouts/slideLayout154.xml"/><Relationship Id="rId21" Type="http://schemas.openxmlformats.org/officeDocument/2006/relationships/slideLayout" Target="../slideLayouts/slideLayout172.xml"/><Relationship Id="rId34" Type="http://schemas.openxmlformats.org/officeDocument/2006/relationships/image" Target="../media/image2.png"/><Relationship Id="rId7" Type="http://schemas.openxmlformats.org/officeDocument/2006/relationships/slideLayout" Target="../slideLayouts/slideLayout158.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25" Type="http://schemas.openxmlformats.org/officeDocument/2006/relationships/slideLayout" Target="../slideLayouts/slideLayout176.xml"/><Relationship Id="rId33" Type="http://schemas.openxmlformats.org/officeDocument/2006/relationships/image" Target="../media/image1.svg"/><Relationship Id="rId2" Type="http://schemas.openxmlformats.org/officeDocument/2006/relationships/slideLayout" Target="../slideLayouts/slideLayout153.xml"/><Relationship Id="rId16" Type="http://schemas.openxmlformats.org/officeDocument/2006/relationships/slideLayout" Target="../slideLayouts/slideLayout167.xml"/><Relationship Id="rId20" Type="http://schemas.openxmlformats.org/officeDocument/2006/relationships/slideLayout" Target="../slideLayouts/slideLayout171.xml"/><Relationship Id="rId29" Type="http://schemas.openxmlformats.org/officeDocument/2006/relationships/slideLayout" Target="../slideLayouts/slideLayout180.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24" Type="http://schemas.openxmlformats.org/officeDocument/2006/relationships/slideLayout" Target="../slideLayouts/slideLayout175.xml"/><Relationship Id="rId32" Type="http://schemas.openxmlformats.org/officeDocument/2006/relationships/theme" Target="../theme/theme7.xml"/><Relationship Id="rId5" Type="http://schemas.openxmlformats.org/officeDocument/2006/relationships/slideLayout" Target="../slideLayouts/slideLayout156.xml"/><Relationship Id="rId15" Type="http://schemas.openxmlformats.org/officeDocument/2006/relationships/slideLayout" Target="../slideLayouts/slideLayout166.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10" Type="http://schemas.openxmlformats.org/officeDocument/2006/relationships/slideLayout" Target="../slideLayouts/slideLayout161.xml"/><Relationship Id="rId19" Type="http://schemas.openxmlformats.org/officeDocument/2006/relationships/slideLayout" Target="../slideLayouts/slideLayout170.xml"/><Relationship Id="rId31" Type="http://schemas.openxmlformats.org/officeDocument/2006/relationships/slideLayout" Target="../slideLayouts/slideLayout182.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slideLayout" Target="../slideLayouts/slideLayout165.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30" Type="http://schemas.openxmlformats.org/officeDocument/2006/relationships/slideLayout" Target="../slideLayouts/slideLayout181.xml"/><Relationship Id="rId8" Type="http://schemas.openxmlformats.org/officeDocument/2006/relationships/slideLayout" Target="../slideLayouts/slideLayout15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18" Type="http://schemas.openxmlformats.org/officeDocument/2006/relationships/image" Target="../media/image1.svg"/><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8.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7" Type="http://schemas.openxmlformats.org/officeDocument/2006/relationships/slideLayout" Target="../slideLayouts/slideLayout205.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0" Type="http://schemas.openxmlformats.org/officeDocument/2006/relationships/slideLayout" Target="../slideLayouts/slideLayout218.xml"/><Relationship Id="rId29" Type="http://schemas.openxmlformats.org/officeDocument/2006/relationships/slideLayout" Target="../slideLayouts/slideLayout227.xml"/><Relationship Id="rId41" Type="http://schemas.openxmlformats.org/officeDocument/2006/relationships/theme" Target="../theme/theme9.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10" Type="http://schemas.openxmlformats.org/officeDocument/2006/relationships/slideLayout" Target="../slideLayouts/slideLayout208.xml"/><Relationship Id="rId19" Type="http://schemas.openxmlformats.org/officeDocument/2006/relationships/slideLayout" Target="../slideLayouts/slideLayout217.xml"/><Relationship Id="rId31" Type="http://schemas.openxmlformats.org/officeDocument/2006/relationships/slideLayout" Target="../slideLayouts/slideLayout229.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8" Type="http://schemas.openxmlformats.org/officeDocument/2006/relationships/slideLayout" Target="../slideLayouts/slideLayout206.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51.xml"/><Relationship Id="rId18" Type="http://schemas.openxmlformats.org/officeDocument/2006/relationships/slideLayout" Target="../slideLayouts/slideLayout256.xml"/><Relationship Id="rId26" Type="http://schemas.openxmlformats.org/officeDocument/2006/relationships/slideLayout" Target="../slideLayouts/slideLayout264.xml"/><Relationship Id="rId39" Type="http://schemas.openxmlformats.org/officeDocument/2006/relationships/slideLayout" Target="../slideLayouts/slideLayout277.xml"/><Relationship Id="rId21" Type="http://schemas.openxmlformats.org/officeDocument/2006/relationships/slideLayout" Target="../slideLayouts/slideLayout259.xml"/><Relationship Id="rId34" Type="http://schemas.openxmlformats.org/officeDocument/2006/relationships/slideLayout" Target="../slideLayouts/slideLayout272.xml"/><Relationship Id="rId42" Type="http://schemas.openxmlformats.org/officeDocument/2006/relationships/slideLayout" Target="../slideLayouts/slideLayout280.xml"/><Relationship Id="rId7" Type="http://schemas.openxmlformats.org/officeDocument/2006/relationships/slideLayout" Target="../slideLayouts/slideLayout245.xml"/><Relationship Id="rId2" Type="http://schemas.openxmlformats.org/officeDocument/2006/relationships/slideLayout" Target="../slideLayouts/slideLayout240.xml"/><Relationship Id="rId16" Type="http://schemas.openxmlformats.org/officeDocument/2006/relationships/slideLayout" Target="../slideLayouts/slideLayout254.xml"/><Relationship Id="rId20" Type="http://schemas.openxmlformats.org/officeDocument/2006/relationships/slideLayout" Target="../slideLayouts/slideLayout258.xml"/><Relationship Id="rId29" Type="http://schemas.openxmlformats.org/officeDocument/2006/relationships/slideLayout" Target="../slideLayouts/slideLayout267.xml"/><Relationship Id="rId41" Type="http://schemas.openxmlformats.org/officeDocument/2006/relationships/slideLayout" Target="../slideLayouts/slideLayout279.xml"/><Relationship Id="rId1" Type="http://schemas.openxmlformats.org/officeDocument/2006/relationships/slideLayout" Target="../slideLayouts/slideLayout239.xml"/><Relationship Id="rId6" Type="http://schemas.openxmlformats.org/officeDocument/2006/relationships/slideLayout" Target="../slideLayouts/slideLayout244.xml"/><Relationship Id="rId11" Type="http://schemas.openxmlformats.org/officeDocument/2006/relationships/slideLayout" Target="../slideLayouts/slideLayout249.xml"/><Relationship Id="rId24" Type="http://schemas.openxmlformats.org/officeDocument/2006/relationships/slideLayout" Target="../slideLayouts/slideLayout262.xml"/><Relationship Id="rId32" Type="http://schemas.openxmlformats.org/officeDocument/2006/relationships/slideLayout" Target="../slideLayouts/slideLayout270.xml"/><Relationship Id="rId37" Type="http://schemas.openxmlformats.org/officeDocument/2006/relationships/slideLayout" Target="../slideLayouts/slideLayout275.xml"/><Relationship Id="rId40" Type="http://schemas.openxmlformats.org/officeDocument/2006/relationships/slideLayout" Target="../slideLayouts/slideLayout278.xml"/><Relationship Id="rId5" Type="http://schemas.openxmlformats.org/officeDocument/2006/relationships/slideLayout" Target="../slideLayouts/slideLayout243.xml"/><Relationship Id="rId15" Type="http://schemas.openxmlformats.org/officeDocument/2006/relationships/slideLayout" Target="../slideLayouts/slideLayout253.xml"/><Relationship Id="rId23" Type="http://schemas.openxmlformats.org/officeDocument/2006/relationships/slideLayout" Target="../slideLayouts/slideLayout261.xml"/><Relationship Id="rId28" Type="http://schemas.openxmlformats.org/officeDocument/2006/relationships/slideLayout" Target="../slideLayouts/slideLayout266.xml"/><Relationship Id="rId36" Type="http://schemas.openxmlformats.org/officeDocument/2006/relationships/slideLayout" Target="../slideLayouts/slideLayout274.xml"/><Relationship Id="rId10" Type="http://schemas.openxmlformats.org/officeDocument/2006/relationships/slideLayout" Target="../slideLayouts/slideLayout248.xml"/><Relationship Id="rId19" Type="http://schemas.openxmlformats.org/officeDocument/2006/relationships/slideLayout" Target="../slideLayouts/slideLayout257.xml"/><Relationship Id="rId31" Type="http://schemas.openxmlformats.org/officeDocument/2006/relationships/slideLayout" Target="../slideLayouts/slideLayout269.xml"/><Relationship Id="rId44" Type="http://schemas.openxmlformats.org/officeDocument/2006/relationships/image" Target="../media/image14.emf"/><Relationship Id="rId4" Type="http://schemas.openxmlformats.org/officeDocument/2006/relationships/slideLayout" Target="../slideLayouts/slideLayout242.xml"/><Relationship Id="rId9" Type="http://schemas.openxmlformats.org/officeDocument/2006/relationships/slideLayout" Target="../slideLayouts/slideLayout247.xml"/><Relationship Id="rId14" Type="http://schemas.openxmlformats.org/officeDocument/2006/relationships/slideLayout" Target="../slideLayouts/slideLayout252.xml"/><Relationship Id="rId22" Type="http://schemas.openxmlformats.org/officeDocument/2006/relationships/slideLayout" Target="../slideLayouts/slideLayout260.xml"/><Relationship Id="rId27" Type="http://schemas.openxmlformats.org/officeDocument/2006/relationships/slideLayout" Target="../slideLayouts/slideLayout265.xml"/><Relationship Id="rId30" Type="http://schemas.openxmlformats.org/officeDocument/2006/relationships/slideLayout" Target="../slideLayouts/slideLayout268.xml"/><Relationship Id="rId35" Type="http://schemas.openxmlformats.org/officeDocument/2006/relationships/slideLayout" Target="../slideLayouts/slideLayout273.xml"/><Relationship Id="rId43" Type="http://schemas.openxmlformats.org/officeDocument/2006/relationships/theme" Target="../theme/theme10.xml"/><Relationship Id="rId8" Type="http://schemas.openxmlformats.org/officeDocument/2006/relationships/slideLayout" Target="../slideLayouts/slideLayout246.xml"/><Relationship Id="rId3" Type="http://schemas.openxmlformats.org/officeDocument/2006/relationships/slideLayout" Target="../slideLayouts/slideLayout241.xml"/><Relationship Id="rId12" Type="http://schemas.openxmlformats.org/officeDocument/2006/relationships/slideLayout" Target="../slideLayouts/slideLayout250.xml"/><Relationship Id="rId17" Type="http://schemas.openxmlformats.org/officeDocument/2006/relationships/slideLayout" Target="../slideLayouts/slideLayout255.xml"/><Relationship Id="rId25" Type="http://schemas.openxmlformats.org/officeDocument/2006/relationships/slideLayout" Target="../slideLayouts/slideLayout263.xml"/><Relationship Id="rId33" Type="http://schemas.openxmlformats.org/officeDocument/2006/relationships/slideLayout" Target="../slideLayouts/slideLayout271.xml"/><Relationship Id="rId38" Type="http://schemas.openxmlformats.org/officeDocument/2006/relationships/slideLayout" Target="../slideLayouts/slideLayout276.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293.xml"/><Relationship Id="rId18" Type="http://schemas.openxmlformats.org/officeDocument/2006/relationships/slideLayout" Target="../slideLayouts/slideLayout298.xml"/><Relationship Id="rId26" Type="http://schemas.openxmlformats.org/officeDocument/2006/relationships/slideLayout" Target="../slideLayouts/slideLayout306.xml"/><Relationship Id="rId39" Type="http://schemas.openxmlformats.org/officeDocument/2006/relationships/slideLayout" Target="../slideLayouts/slideLayout319.xml"/><Relationship Id="rId21" Type="http://schemas.openxmlformats.org/officeDocument/2006/relationships/slideLayout" Target="../slideLayouts/slideLayout301.xml"/><Relationship Id="rId34" Type="http://schemas.openxmlformats.org/officeDocument/2006/relationships/slideLayout" Target="../slideLayouts/slideLayout314.xml"/><Relationship Id="rId42" Type="http://schemas.openxmlformats.org/officeDocument/2006/relationships/image" Target="../media/image14.emf"/><Relationship Id="rId7" Type="http://schemas.openxmlformats.org/officeDocument/2006/relationships/slideLayout" Target="../slideLayouts/slideLayout287.xml"/><Relationship Id="rId2" Type="http://schemas.openxmlformats.org/officeDocument/2006/relationships/slideLayout" Target="../slideLayouts/slideLayout282.xml"/><Relationship Id="rId16" Type="http://schemas.openxmlformats.org/officeDocument/2006/relationships/slideLayout" Target="../slideLayouts/slideLayout296.xml"/><Relationship Id="rId20" Type="http://schemas.openxmlformats.org/officeDocument/2006/relationships/slideLayout" Target="../slideLayouts/slideLayout300.xml"/><Relationship Id="rId29" Type="http://schemas.openxmlformats.org/officeDocument/2006/relationships/slideLayout" Target="../slideLayouts/slideLayout309.xml"/><Relationship Id="rId41" Type="http://schemas.openxmlformats.org/officeDocument/2006/relationships/theme" Target="../theme/theme11.xml"/><Relationship Id="rId1" Type="http://schemas.openxmlformats.org/officeDocument/2006/relationships/slideLayout" Target="../slideLayouts/slideLayout281.xml"/><Relationship Id="rId6" Type="http://schemas.openxmlformats.org/officeDocument/2006/relationships/slideLayout" Target="../slideLayouts/slideLayout286.xml"/><Relationship Id="rId11" Type="http://schemas.openxmlformats.org/officeDocument/2006/relationships/slideLayout" Target="../slideLayouts/slideLayout291.xml"/><Relationship Id="rId24" Type="http://schemas.openxmlformats.org/officeDocument/2006/relationships/slideLayout" Target="../slideLayouts/slideLayout304.xml"/><Relationship Id="rId32" Type="http://schemas.openxmlformats.org/officeDocument/2006/relationships/slideLayout" Target="../slideLayouts/slideLayout312.xml"/><Relationship Id="rId37" Type="http://schemas.openxmlformats.org/officeDocument/2006/relationships/slideLayout" Target="../slideLayouts/slideLayout317.xml"/><Relationship Id="rId40" Type="http://schemas.openxmlformats.org/officeDocument/2006/relationships/slideLayout" Target="../slideLayouts/slideLayout320.xml"/><Relationship Id="rId5" Type="http://schemas.openxmlformats.org/officeDocument/2006/relationships/slideLayout" Target="../slideLayouts/slideLayout285.xml"/><Relationship Id="rId15" Type="http://schemas.openxmlformats.org/officeDocument/2006/relationships/slideLayout" Target="../slideLayouts/slideLayout295.xml"/><Relationship Id="rId23" Type="http://schemas.openxmlformats.org/officeDocument/2006/relationships/slideLayout" Target="../slideLayouts/slideLayout303.xml"/><Relationship Id="rId28" Type="http://schemas.openxmlformats.org/officeDocument/2006/relationships/slideLayout" Target="../slideLayouts/slideLayout308.xml"/><Relationship Id="rId36" Type="http://schemas.openxmlformats.org/officeDocument/2006/relationships/slideLayout" Target="../slideLayouts/slideLayout316.xml"/><Relationship Id="rId10" Type="http://schemas.openxmlformats.org/officeDocument/2006/relationships/slideLayout" Target="../slideLayouts/slideLayout290.xml"/><Relationship Id="rId19" Type="http://schemas.openxmlformats.org/officeDocument/2006/relationships/slideLayout" Target="../slideLayouts/slideLayout299.xml"/><Relationship Id="rId31" Type="http://schemas.openxmlformats.org/officeDocument/2006/relationships/slideLayout" Target="../slideLayouts/slideLayout311.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14" Type="http://schemas.openxmlformats.org/officeDocument/2006/relationships/slideLayout" Target="../slideLayouts/slideLayout294.xml"/><Relationship Id="rId22" Type="http://schemas.openxmlformats.org/officeDocument/2006/relationships/slideLayout" Target="../slideLayouts/slideLayout302.xml"/><Relationship Id="rId27" Type="http://schemas.openxmlformats.org/officeDocument/2006/relationships/slideLayout" Target="../slideLayouts/slideLayout307.xml"/><Relationship Id="rId30" Type="http://schemas.openxmlformats.org/officeDocument/2006/relationships/slideLayout" Target="../slideLayouts/slideLayout310.xml"/><Relationship Id="rId35" Type="http://schemas.openxmlformats.org/officeDocument/2006/relationships/slideLayout" Target="../slideLayouts/slideLayout315.xml"/><Relationship Id="rId8" Type="http://schemas.openxmlformats.org/officeDocument/2006/relationships/slideLayout" Target="../slideLayouts/slideLayout288.xml"/><Relationship Id="rId3" Type="http://schemas.openxmlformats.org/officeDocument/2006/relationships/slideLayout" Target="../slideLayouts/slideLayout283.xml"/><Relationship Id="rId12" Type="http://schemas.openxmlformats.org/officeDocument/2006/relationships/slideLayout" Target="../slideLayouts/slideLayout292.xml"/><Relationship Id="rId17" Type="http://schemas.openxmlformats.org/officeDocument/2006/relationships/slideLayout" Target="../slideLayouts/slideLayout297.xml"/><Relationship Id="rId25" Type="http://schemas.openxmlformats.org/officeDocument/2006/relationships/slideLayout" Target="../slideLayouts/slideLayout305.xml"/><Relationship Id="rId33" Type="http://schemas.openxmlformats.org/officeDocument/2006/relationships/slideLayout" Target="../slideLayouts/slideLayout313.xml"/><Relationship Id="rId38" Type="http://schemas.openxmlformats.org/officeDocument/2006/relationships/slideLayout" Target="../slideLayouts/slideLayout318.xml"/></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33.xml"/><Relationship Id="rId18" Type="http://schemas.openxmlformats.org/officeDocument/2006/relationships/slideLayout" Target="../slideLayouts/slideLayout338.xml"/><Relationship Id="rId26" Type="http://schemas.openxmlformats.org/officeDocument/2006/relationships/slideLayout" Target="../slideLayouts/slideLayout346.xml"/><Relationship Id="rId3" Type="http://schemas.openxmlformats.org/officeDocument/2006/relationships/slideLayout" Target="../slideLayouts/slideLayout323.xml"/><Relationship Id="rId21" Type="http://schemas.openxmlformats.org/officeDocument/2006/relationships/slideLayout" Target="../slideLayouts/slideLayout341.xml"/><Relationship Id="rId34" Type="http://schemas.openxmlformats.org/officeDocument/2006/relationships/image" Target="../media/image1.svg"/><Relationship Id="rId7" Type="http://schemas.openxmlformats.org/officeDocument/2006/relationships/slideLayout" Target="../slideLayouts/slideLayout327.xml"/><Relationship Id="rId12" Type="http://schemas.openxmlformats.org/officeDocument/2006/relationships/slideLayout" Target="../slideLayouts/slideLayout332.xml"/><Relationship Id="rId17" Type="http://schemas.openxmlformats.org/officeDocument/2006/relationships/slideLayout" Target="../slideLayouts/slideLayout337.xml"/><Relationship Id="rId25" Type="http://schemas.openxmlformats.org/officeDocument/2006/relationships/slideLayout" Target="../slideLayouts/slideLayout345.xml"/><Relationship Id="rId33" Type="http://schemas.openxmlformats.org/officeDocument/2006/relationships/theme" Target="../theme/theme12.xml"/><Relationship Id="rId2" Type="http://schemas.openxmlformats.org/officeDocument/2006/relationships/slideLayout" Target="../slideLayouts/slideLayout322.xml"/><Relationship Id="rId16" Type="http://schemas.openxmlformats.org/officeDocument/2006/relationships/slideLayout" Target="../slideLayouts/slideLayout336.xml"/><Relationship Id="rId20" Type="http://schemas.openxmlformats.org/officeDocument/2006/relationships/slideLayout" Target="../slideLayouts/slideLayout340.xml"/><Relationship Id="rId29" Type="http://schemas.openxmlformats.org/officeDocument/2006/relationships/slideLayout" Target="../slideLayouts/slideLayout349.xml"/><Relationship Id="rId1" Type="http://schemas.openxmlformats.org/officeDocument/2006/relationships/slideLayout" Target="../slideLayouts/slideLayout321.xml"/><Relationship Id="rId6" Type="http://schemas.openxmlformats.org/officeDocument/2006/relationships/slideLayout" Target="../slideLayouts/slideLayout326.xml"/><Relationship Id="rId11" Type="http://schemas.openxmlformats.org/officeDocument/2006/relationships/slideLayout" Target="../slideLayouts/slideLayout331.xml"/><Relationship Id="rId24" Type="http://schemas.openxmlformats.org/officeDocument/2006/relationships/slideLayout" Target="../slideLayouts/slideLayout344.xml"/><Relationship Id="rId32" Type="http://schemas.openxmlformats.org/officeDocument/2006/relationships/slideLayout" Target="../slideLayouts/slideLayout352.xml"/><Relationship Id="rId5" Type="http://schemas.openxmlformats.org/officeDocument/2006/relationships/slideLayout" Target="../slideLayouts/slideLayout325.xml"/><Relationship Id="rId15" Type="http://schemas.openxmlformats.org/officeDocument/2006/relationships/slideLayout" Target="../slideLayouts/slideLayout335.xml"/><Relationship Id="rId23" Type="http://schemas.openxmlformats.org/officeDocument/2006/relationships/slideLayout" Target="../slideLayouts/slideLayout343.xml"/><Relationship Id="rId28" Type="http://schemas.openxmlformats.org/officeDocument/2006/relationships/slideLayout" Target="../slideLayouts/slideLayout348.xml"/><Relationship Id="rId10" Type="http://schemas.openxmlformats.org/officeDocument/2006/relationships/slideLayout" Target="../slideLayouts/slideLayout330.xml"/><Relationship Id="rId19" Type="http://schemas.openxmlformats.org/officeDocument/2006/relationships/slideLayout" Target="../slideLayouts/slideLayout339.xml"/><Relationship Id="rId31" Type="http://schemas.openxmlformats.org/officeDocument/2006/relationships/slideLayout" Target="../slideLayouts/slideLayout351.xml"/><Relationship Id="rId4" Type="http://schemas.openxmlformats.org/officeDocument/2006/relationships/slideLayout" Target="../slideLayouts/slideLayout324.xml"/><Relationship Id="rId9" Type="http://schemas.openxmlformats.org/officeDocument/2006/relationships/slideLayout" Target="../slideLayouts/slideLayout329.xml"/><Relationship Id="rId14" Type="http://schemas.openxmlformats.org/officeDocument/2006/relationships/slideLayout" Target="../slideLayouts/slideLayout334.xml"/><Relationship Id="rId22" Type="http://schemas.openxmlformats.org/officeDocument/2006/relationships/slideLayout" Target="../slideLayouts/slideLayout342.xml"/><Relationship Id="rId27" Type="http://schemas.openxmlformats.org/officeDocument/2006/relationships/slideLayout" Target="../slideLayouts/slideLayout347.xml"/><Relationship Id="rId30" Type="http://schemas.openxmlformats.org/officeDocument/2006/relationships/slideLayout" Target="../slideLayouts/slideLayout350.xml"/><Relationship Id="rId35" Type="http://schemas.openxmlformats.org/officeDocument/2006/relationships/image" Target="../media/image2.png"/><Relationship Id="rId8" Type="http://schemas.openxmlformats.org/officeDocument/2006/relationships/slideLayout" Target="../slideLayouts/slideLayout328.xml"/></Relationships>
</file>

<file path=ppt/slideMasters/_rels/slideMaster13.xml.rels><?xml version="1.0" encoding="UTF-8" standalone="yes"?>
<Relationships xmlns="http://schemas.openxmlformats.org/package/2006/relationships"><Relationship Id="rId13" Type="http://schemas.openxmlformats.org/officeDocument/2006/relationships/slideLayout" Target="../slideLayouts/slideLayout365.xml"/><Relationship Id="rId18" Type="http://schemas.openxmlformats.org/officeDocument/2006/relationships/slideLayout" Target="../slideLayouts/slideLayout370.xml"/><Relationship Id="rId26" Type="http://schemas.openxmlformats.org/officeDocument/2006/relationships/slideLayout" Target="../slideLayouts/slideLayout378.xml"/><Relationship Id="rId3" Type="http://schemas.openxmlformats.org/officeDocument/2006/relationships/slideLayout" Target="../slideLayouts/slideLayout355.xml"/><Relationship Id="rId21" Type="http://schemas.openxmlformats.org/officeDocument/2006/relationships/slideLayout" Target="../slideLayouts/slideLayout373.xml"/><Relationship Id="rId7" Type="http://schemas.openxmlformats.org/officeDocument/2006/relationships/slideLayout" Target="../slideLayouts/slideLayout359.xml"/><Relationship Id="rId12" Type="http://schemas.openxmlformats.org/officeDocument/2006/relationships/slideLayout" Target="../slideLayouts/slideLayout364.xml"/><Relationship Id="rId17" Type="http://schemas.openxmlformats.org/officeDocument/2006/relationships/slideLayout" Target="../slideLayouts/slideLayout369.xml"/><Relationship Id="rId25" Type="http://schemas.openxmlformats.org/officeDocument/2006/relationships/slideLayout" Target="../slideLayouts/slideLayout377.xml"/><Relationship Id="rId33" Type="http://schemas.openxmlformats.org/officeDocument/2006/relationships/image" Target="../media/image2.png"/><Relationship Id="rId2" Type="http://schemas.openxmlformats.org/officeDocument/2006/relationships/slideLayout" Target="../slideLayouts/slideLayout354.xml"/><Relationship Id="rId16" Type="http://schemas.openxmlformats.org/officeDocument/2006/relationships/slideLayout" Target="../slideLayouts/slideLayout368.xml"/><Relationship Id="rId20" Type="http://schemas.openxmlformats.org/officeDocument/2006/relationships/slideLayout" Target="../slideLayouts/slideLayout372.xml"/><Relationship Id="rId29" Type="http://schemas.openxmlformats.org/officeDocument/2006/relationships/slideLayout" Target="../slideLayouts/slideLayout381.xml"/><Relationship Id="rId1" Type="http://schemas.openxmlformats.org/officeDocument/2006/relationships/slideLayout" Target="../slideLayouts/slideLayout353.xml"/><Relationship Id="rId6" Type="http://schemas.openxmlformats.org/officeDocument/2006/relationships/slideLayout" Target="../slideLayouts/slideLayout358.xml"/><Relationship Id="rId11" Type="http://schemas.openxmlformats.org/officeDocument/2006/relationships/slideLayout" Target="../slideLayouts/slideLayout363.xml"/><Relationship Id="rId24" Type="http://schemas.openxmlformats.org/officeDocument/2006/relationships/slideLayout" Target="../slideLayouts/slideLayout376.xml"/><Relationship Id="rId32" Type="http://schemas.openxmlformats.org/officeDocument/2006/relationships/image" Target="../media/image1.svg"/><Relationship Id="rId5" Type="http://schemas.openxmlformats.org/officeDocument/2006/relationships/slideLayout" Target="../slideLayouts/slideLayout357.xml"/><Relationship Id="rId15" Type="http://schemas.openxmlformats.org/officeDocument/2006/relationships/slideLayout" Target="../slideLayouts/slideLayout367.xml"/><Relationship Id="rId23" Type="http://schemas.openxmlformats.org/officeDocument/2006/relationships/slideLayout" Target="../slideLayouts/slideLayout375.xml"/><Relationship Id="rId28" Type="http://schemas.openxmlformats.org/officeDocument/2006/relationships/slideLayout" Target="../slideLayouts/slideLayout380.xml"/><Relationship Id="rId10" Type="http://schemas.openxmlformats.org/officeDocument/2006/relationships/slideLayout" Target="../slideLayouts/slideLayout362.xml"/><Relationship Id="rId19" Type="http://schemas.openxmlformats.org/officeDocument/2006/relationships/slideLayout" Target="../slideLayouts/slideLayout371.xml"/><Relationship Id="rId31" Type="http://schemas.openxmlformats.org/officeDocument/2006/relationships/theme" Target="../theme/theme13.xml"/><Relationship Id="rId4" Type="http://schemas.openxmlformats.org/officeDocument/2006/relationships/slideLayout" Target="../slideLayouts/slideLayout356.xml"/><Relationship Id="rId9" Type="http://schemas.openxmlformats.org/officeDocument/2006/relationships/slideLayout" Target="../slideLayouts/slideLayout361.xml"/><Relationship Id="rId14" Type="http://schemas.openxmlformats.org/officeDocument/2006/relationships/slideLayout" Target="../slideLayouts/slideLayout366.xml"/><Relationship Id="rId22" Type="http://schemas.openxmlformats.org/officeDocument/2006/relationships/slideLayout" Target="../slideLayouts/slideLayout374.xml"/><Relationship Id="rId27" Type="http://schemas.openxmlformats.org/officeDocument/2006/relationships/slideLayout" Target="../slideLayouts/slideLayout379.xml"/><Relationship Id="rId30" Type="http://schemas.openxmlformats.org/officeDocument/2006/relationships/slideLayout" Target="../slideLayouts/slideLayout382.xml"/><Relationship Id="rId8" Type="http://schemas.openxmlformats.org/officeDocument/2006/relationships/slideLayout" Target="../slideLayouts/slideLayout3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358.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18_9BB6C9CB.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35.svg"/><Relationship Id="rId5" Type="http://schemas.openxmlformats.org/officeDocument/2006/relationships/tags" Target="../tags/tag9.xml"/><Relationship Id="rId10" Type="http://schemas.openxmlformats.org/officeDocument/2006/relationships/image" Target="../media/image34.png"/><Relationship Id="rId4" Type="http://schemas.openxmlformats.org/officeDocument/2006/relationships/tags" Target="../tags/tag8.xml"/><Relationship Id="rId9"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sv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jpeg"/><Relationship Id="rId2" Type="http://schemas.openxmlformats.org/officeDocument/2006/relationships/notesSlide" Target="../notesSlides/notesSlide13.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jpe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23_60935789.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computerweekly.com/news/366641533/Azure-customers-up-in-arms-over-full-UK-South-region" TargetMode="External"/><Relationship Id="rId5" Type="http://schemas.openxmlformats.org/officeDocument/2006/relationships/image" Target="../media/image56.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54.jpeg"/><Relationship Id="rId7"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4.jpeg"/><Relationship Id="rId7"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6.xml.rels><?xml version="1.0" encoding="UTF-8" standalone="yes"?>
<Relationships xmlns="http://schemas.openxmlformats.org/package/2006/relationships"><Relationship Id="rId2" Type="http://schemas.openxmlformats.org/officeDocument/2006/relationships/image" Target="../media/image63.sv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A52488A-772F-A158-D9F9-3D716FA0E157}"/>
              </a:ext>
            </a:extLst>
          </p:cNvPr>
          <p:cNvSpPr txBox="1">
            <a:spLocks/>
          </p:cNvSpPr>
          <p:nvPr/>
        </p:nvSpPr>
        <p:spPr bwMode="auto">
          <a:xfrm>
            <a:off x="709701" y="8639626"/>
            <a:ext cx="8130819" cy="1472198"/>
          </a:xfrm>
          <a:prstGeom prst="rect">
            <a:avLst/>
          </a:prstGeom>
        </p:spPr>
        <p:txBody>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defRPr/>
            </a:pPr>
            <a:r>
              <a:rPr lang="en-GB" sz="3200" b="1" noProof="0">
                <a:solidFill>
                  <a:schemeClr val="bg1"/>
                </a:solidFill>
                <a:latin typeface="Fira Sans Light" panose="020B0403050000020004" pitchFamily="34" charset="0"/>
              </a:rPr>
              <a:t>Scott Beckford</a:t>
            </a:r>
            <a:endParaRPr lang="en-GB" sz="3200" noProof="0">
              <a:solidFill>
                <a:schemeClr val="bg1"/>
              </a:solidFill>
              <a:latin typeface="Fira Sans Light" panose="020B0403050000020004" pitchFamily="34" charset="0"/>
            </a:endParaRPr>
          </a:p>
          <a:p>
            <a:pPr marL="0" indent="0">
              <a:buNone/>
              <a:defRPr/>
            </a:pPr>
            <a:r>
              <a:rPr lang="en-GB" sz="3200" noProof="0">
                <a:solidFill>
                  <a:schemeClr val="bg1"/>
                </a:solidFill>
                <a:latin typeface="Fira Sans Light" panose="020B0403050000020004" pitchFamily="34" charset="0"/>
              </a:rPr>
              <a:t>Senior Consulting Cloud Architect</a:t>
            </a:r>
          </a:p>
        </p:txBody>
      </p:sp>
      <p:sp>
        <p:nvSpPr>
          <p:cNvPr id="7" name="Text Placeholder 5">
            <a:extLst>
              <a:ext uri="{FF2B5EF4-FFF2-40B4-BE49-F238E27FC236}">
                <a16:creationId xmlns:a16="http://schemas.microsoft.com/office/drawing/2014/main" id="{C025BC2F-6F2A-8421-D263-916FA05BF815}"/>
              </a:ext>
            </a:extLst>
          </p:cNvPr>
          <p:cNvSpPr txBox="1">
            <a:spLocks/>
          </p:cNvSpPr>
          <p:nvPr/>
        </p:nvSpPr>
        <p:spPr bwMode="auto">
          <a:xfrm>
            <a:off x="709702" y="6760251"/>
            <a:ext cx="7334871" cy="1164421"/>
          </a:xfrm>
          <a:prstGeom prst="rect">
            <a:avLst/>
          </a:prstGeom>
        </p:spPr>
        <p:txBody>
          <a:bodyPr wrap="square" lIns="0" tIns="0" rIns="0" bIns="0">
            <a:spAutoFit/>
          </a:bodyPr>
          <a:lstStyle>
            <a:lvl1pPr marL="0" marR="0" indent="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None/>
              <a:tabLst/>
              <a:defRPr sz="3000" kern="1200">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defRPr/>
            </a:pPr>
            <a:r>
              <a:rPr lang="en-GB" sz="3200" b="1" noProof="0">
                <a:latin typeface="Fira Sans Light" panose="020B0403050000020004" pitchFamily="34" charset="0"/>
              </a:rPr>
              <a:t>Platform Direction &amp; Path Forward</a:t>
            </a:r>
          </a:p>
          <a:p>
            <a:pPr>
              <a:defRPr/>
            </a:pPr>
            <a:r>
              <a:rPr lang="en-GB" sz="3200" b="1" noProof="0">
                <a:latin typeface="Fira Sans Light" panose="020B0403050000020004" pitchFamily="34" charset="0"/>
              </a:rPr>
              <a:t>April 2026</a:t>
            </a:r>
          </a:p>
        </p:txBody>
      </p:sp>
      <p:sp>
        <p:nvSpPr>
          <p:cNvPr id="8" name="Title 2">
            <a:extLst>
              <a:ext uri="{FF2B5EF4-FFF2-40B4-BE49-F238E27FC236}">
                <a16:creationId xmlns:a16="http://schemas.microsoft.com/office/drawing/2014/main" id="{19B21124-8BEB-7358-0E7A-030BADF717A1}"/>
              </a:ext>
            </a:extLst>
          </p:cNvPr>
          <p:cNvSpPr txBox="1">
            <a:spLocks/>
          </p:cNvSpPr>
          <p:nvPr/>
        </p:nvSpPr>
        <p:spPr>
          <a:xfrm>
            <a:off x="709702" y="4871304"/>
            <a:ext cx="14390042" cy="965970"/>
          </a:xfrm>
          <a:prstGeom prst="rect">
            <a:avLst/>
          </a:prstGeom>
        </p:spPr>
        <p:txBody>
          <a:bodyPr wrap="square" lIns="0" tIns="0" rIns="0" bIns="0" anchor="b" anchorCtr="0">
            <a:spAutoFit/>
          </a:bodyPr>
          <a:lstStyle>
            <a:lvl1pPr algn="l" defTabSz="1828800" rtl="0" eaLnBrk="1" fontAlgn="b" latinLnBrk="0" hangingPunct="1">
              <a:lnSpc>
                <a:spcPct val="112000"/>
              </a:lnSpc>
              <a:spcBef>
                <a:spcPct val="0"/>
              </a:spcBef>
              <a:buNone/>
              <a:defRPr lang="en-US" sz="8000" kern="1200">
                <a:ln w="9525">
                  <a:noFill/>
                </a:ln>
                <a:solidFill>
                  <a:schemeClr val="bg1"/>
                </a:solidFill>
                <a:latin typeface="+mj-lt"/>
                <a:ea typeface="+mj-ea"/>
                <a:cs typeface="+mj-cs"/>
              </a:defRPr>
            </a:lvl1pPr>
          </a:lstStyle>
          <a:p>
            <a:r>
              <a:rPr lang="en-GB" sz="6600" b="1" noProof="0">
                <a:latin typeface="Fira Sans Light" panose="020B0403050000020004" pitchFamily="34" charset="0"/>
              </a:rPr>
              <a:t>Cloud Readiness Assessment – Part 1</a:t>
            </a:r>
          </a:p>
        </p:txBody>
      </p:sp>
      <p:pic>
        <p:nvPicPr>
          <p:cNvPr id="9" name="Picture 4" descr="DMG Media - IAB Europe">
            <a:extLst>
              <a:ext uri="{FF2B5EF4-FFF2-40B4-BE49-F238E27FC236}">
                <a16:creationId xmlns:a16="http://schemas.microsoft.com/office/drawing/2014/main" id="{700D66CA-182B-F0F1-1C12-CBE82876253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t="8496" b="8863"/>
          <a:stretch>
            <a:fillRect/>
          </a:stretch>
        </p:blipFill>
        <p:spPr bwMode="auto">
          <a:xfrm>
            <a:off x="709701" y="1689225"/>
            <a:ext cx="9719469" cy="2259102"/>
          </a:xfrm>
          <a:prstGeom prst="rect">
            <a:avLst/>
          </a:prstGeom>
          <a:solidFill>
            <a:schemeClr val="bg1"/>
          </a:solidFill>
        </p:spPr>
      </p:pic>
    </p:spTree>
    <p:extLst>
      <p:ext uri="{BB962C8B-B14F-4D97-AF65-F5344CB8AC3E}">
        <p14:creationId xmlns:p14="http://schemas.microsoft.com/office/powerpoint/2010/main" val="1607316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6EDFDB-BD69-60F4-89FB-30A57692FBEF}"/>
              </a:ext>
            </a:extLst>
          </p:cNvPr>
          <p:cNvSpPr>
            <a:spLocks noGrp="1"/>
          </p:cNvSpPr>
          <p:nvPr>
            <p:ph type="sldNum" sz="quarter" idx="4"/>
          </p:nvPr>
        </p:nvSpPr>
        <p:spPr/>
        <p:txBody>
          <a:bodyPr/>
          <a:lstStyle/>
          <a:p>
            <a:fld id="{762E77F0-FB5B-4E8E-9BC9-34F14560A017}" type="slidenum">
              <a:rPr lang="en-US" smtClean="0"/>
              <a:pPr/>
              <a:t>2</a:t>
            </a:fld>
            <a:endParaRPr lang="en-US"/>
          </a:p>
        </p:txBody>
      </p:sp>
      <p:pic>
        <p:nvPicPr>
          <p:cNvPr id="4" name="Picture 3">
            <a:extLst>
              <a:ext uri="{FF2B5EF4-FFF2-40B4-BE49-F238E27FC236}">
                <a16:creationId xmlns:a16="http://schemas.microsoft.com/office/drawing/2014/main" id="{E34F1D2A-26F2-22DD-5CF4-61CC7A50E288}"/>
              </a:ext>
            </a:extLst>
          </p:cNvPr>
          <p:cNvPicPr>
            <a:picLocks noChangeAspect="1"/>
          </p:cNvPicPr>
          <p:nvPr/>
        </p:nvPicPr>
        <p:blipFill>
          <a:blip r:embed="rId3"/>
          <a:srcRect l="6957" t="17833" r="17970" b="36167"/>
          <a:stretch>
            <a:fillRect/>
          </a:stretch>
        </p:blipFill>
        <p:spPr>
          <a:xfrm>
            <a:off x="14757991" y="0"/>
            <a:ext cx="9626008" cy="4995746"/>
          </a:xfrm>
          <a:prstGeom prst="rect">
            <a:avLst/>
          </a:prstGeom>
        </p:spPr>
      </p:pic>
      <p:pic>
        <p:nvPicPr>
          <p:cNvPr id="5" name="Picture 4">
            <a:extLst>
              <a:ext uri="{FF2B5EF4-FFF2-40B4-BE49-F238E27FC236}">
                <a16:creationId xmlns:a16="http://schemas.microsoft.com/office/drawing/2014/main" id="{63A98AD6-C3AF-0C42-FECD-EE0FFBD6C218}"/>
              </a:ext>
            </a:extLst>
          </p:cNvPr>
          <p:cNvPicPr>
            <a:picLocks noChangeAspect="1"/>
          </p:cNvPicPr>
          <p:nvPr/>
        </p:nvPicPr>
        <p:blipFill>
          <a:blip r:embed="rId4"/>
          <a:srcRect l="11459" t="1917" r="12499" b="2752"/>
          <a:stretch>
            <a:fillRect/>
          </a:stretch>
        </p:blipFill>
        <p:spPr>
          <a:xfrm>
            <a:off x="14757991" y="4995746"/>
            <a:ext cx="9626009" cy="8720253"/>
          </a:xfrm>
          <a:prstGeom prst="rect">
            <a:avLst/>
          </a:prstGeom>
        </p:spPr>
      </p:pic>
      <p:graphicFrame>
        <p:nvGraphicFramePr>
          <p:cNvPr id="6" name="Table 5">
            <a:extLst>
              <a:ext uri="{FF2B5EF4-FFF2-40B4-BE49-F238E27FC236}">
                <a16:creationId xmlns:a16="http://schemas.microsoft.com/office/drawing/2014/main" id="{5C87A4B2-737F-0A75-51DA-644B7EF6E103}"/>
              </a:ext>
            </a:extLst>
          </p:cNvPr>
          <p:cNvGraphicFramePr>
            <a:graphicFrameLocks noGrp="1"/>
          </p:cNvGraphicFramePr>
          <p:nvPr>
            <p:extLst>
              <p:ext uri="{D42A27DB-BD31-4B8C-83A1-F6EECF244321}">
                <p14:modId xmlns:p14="http://schemas.microsoft.com/office/powerpoint/2010/main" val="1022644358"/>
              </p:ext>
            </p:extLst>
          </p:nvPr>
        </p:nvGraphicFramePr>
        <p:xfrm>
          <a:off x="273681" y="199342"/>
          <a:ext cx="13241152" cy="12419378"/>
        </p:xfrm>
        <a:graphic>
          <a:graphicData uri="http://schemas.openxmlformats.org/drawingml/2006/table">
            <a:tbl>
              <a:tblPr>
                <a:tableStyleId>{3B4B98B0-60AC-42C2-AFA5-B58CD77FA1E5}</a:tableStyleId>
              </a:tblPr>
              <a:tblGrid>
                <a:gridCol w="663770">
                  <a:extLst>
                    <a:ext uri="{9D8B030D-6E8A-4147-A177-3AD203B41FA5}">
                      <a16:colId xmlns:a16="http://schemas.microsoft.com/office/drawing/2014/main" val="1957366712"/>
                    </a:ext>
                  </a:extLst>
                </a:gridCol>
                <a:gridCol w="4553222">
                  <a:extLst>
                    <a:ext uri="{9D8B030D-6E8A-4147-A177-3AD203B41FA5}">
                      <a16:colId xmlns:a16="http://schemas.microsoft.com/office/drawing/2014/main" val="4243764253"/>
                    </a:ext>
                  </a:extLst>
                </a:gridCol>
                <a:gridCol w="5784126">
                  <a:extLst>
                    <a:ext uri="{9D8B030D-6E8A-4147-A177-3AD203B41FA5}">
                      <a16:colId xmlns:a16="http://schemas.microsoft.com/office/drawing/2014/main" val="3095149370"/>
                    </a:ext>
                  </a:extLst>
                </a:gridCol>
                <a:gridCol w="2240034">
                  <a:extLst>
                    <a:ext uri="{9D8B030D-6E8A-4147-A177-3AD203B41FA5}">
                      <a16:colId xmlns:a16="http://schemas.microsoft.com/office/drawing/2014/main" val="4147610941"/>
                    </a:ext>
                  </a:extLst>
                </a:gridCol>
              </a:tblGrid>
              <a:tr h="717631">
                <a:tc>
                  <a:txBody>
                    <a:bodyPr/>
                    <a:lstStyle/>
                    <a:p>
                      <a:pPr algn="ctr" fontAlgn="b">
                        <a:buNone/>
                      </a:pPr>
                      <a:r>
                        <a:rPr lang="en-GB" sz="2000" b="1" i="0" u="none" strike="noStrike">
                          <a:solidFill>
                            <a:srgbClr val="000000"/>
                          </a:solidFill>
                          <a:effectLst/>
                          <a:latin typeface="Fira Sans" panose="020B0503050000020004" pitchFamily="34" charset="0"/>
                        </a:rPr>
                        <a: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Agenda Item</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Detail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Duration</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82317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Executive Summary</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Key findings </a:t>
                      </a:r>
                    </a:p>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Scope and recommendation up front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14335"/>
                  </a:ext>
                </a:extLst>
              </a:tr>
              <a:tr h="1082107">
                <a:tc>
                  <a:txBody>
                    <a:bodyPr/>
                    <a:lstStyle/>
                    <a:p>
                      <a:pPr algn="ctr" fontAlgn="b">
                        <a:buNone/>
                      </a:pPr>
                      <a:r>
                        <a:rPr lang="en-GB" sz="2000" b="0" i="0" u="none" strike="noStrike">
                          <a:solidFill>
                            <a:srgbClr val="000000"/>
                          </a:solidFill>
                          <a:effectLst/>
                          <a:latin typeface="Fira Sans" panose="020B0503050000020004" pitchFamily="34" charset="0"/>
                        </a:rPr>
                        <a:t>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Why Cloud? Why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Business drivers and case for acting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3607903"/>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3</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Your Estate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Discovery applications databases</a:t>
                      </a:r>
                    </a:p>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Workshops and gaps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376427"/>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4</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Cost Comparison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Methodology comparison </a:t>
                      </a:r>
                    </a:p>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Oracle paths and Complete View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836278"/>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buNone/>
                      </a:pPr>
                      <a:r>
                        <a:rPr lang="en-GB" sz="2000" b="0" i="0" u="none" strike="noStrike">
                          <a:solidFill>
                            <a:srgbClr val="000000"/>
                          </a:solidFill>
                          <a:effectLst/>
                          <a:latin typeface="Fira Sans" panose="020B0503050000020004" pitchFamily="34" charset="0"/>
                        </a:rPr>
                        <a:t>BREAK</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316567"/>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6</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Business &amp; Application Fit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Technical constraints cohorts and co-migration groups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907653"/>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7</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Hyperscaler Recommendation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Scoring Why AWS platform comparison and decision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302280"/>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8</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Customer Readiness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Readiness scores and closing the gap</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503768"/>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9</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Challenges &amp;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Paired challenges and quantified and strategic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34782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Moving Forward and Part 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Decisions needed </a:t>
                      </a:r>
                    </a:p>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Part 2 scope timeline and hyperscaler guidance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20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492214"/>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Working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Agree platform direction </a:t>
                      </a:r>
                    </a:p>
                    <a:p>
                      <a:pPr marL="342900" indent="-342900" algn="l" fontAlgn="b">
                        <a:buFont typeface="Arial" panose="020B0604020202020204" pitchFamily="34" charset="0"/>
                        <a:buChar char="•"/>
                      </a:pPr>
                      <a:r>
                        <a:rPr lang="en-GB" sz="2000" b="0" i="0" u="none" strike="noStrike">
                          <a:solidFill>
                            <a:srgbClr val="000000"/>
                          </a:solidFill>
                          <a:effectLst/>
                          <a:latin typeface="Fira Sans" panose="020B0503050000020004" pitchFamily="34" charset="0"/>
                        </a:rPr>
                        <a:t>Oracle path and Part 2 go/no-go</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410395"/>
                  </a:ext>
                </a:extLst>
              </a:tr>
            </a:tbl>
          </a:graphicData>
        </a:graphic>
      </p:graphicFrame>
    </p:spTree>
    <p:extLst>
      <p:ext uri="{BB962C8B-B14F-4D97-AF65-F5344CB8AC3E}">
        <p14:creationId xmlns:p14="http://schemas.microsoft.com/office/powerpoint/2010/main" val="3817690726"/>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50000">
                                          <p:cBhvr additive="base">
                                            <p:cTn id="7" dur="500" fill="hold"/>
                                            <p:tgtEl>
                                              <p:spTgt spid="6"/>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B76263-DCD2-0B78-B135-9C8C642516C8}"/>
              </a:ext>
            </a:extLst>
          </p:cNvPr>
          <p:cNvSpPr>
            <a:spLocks noGrp="1"/>
          </p:cNvSpPr>
          <p:nvPr>
            <p:ph type="body" sz="quarter" idx="16"/>
          </p:nvPr>
        </p:nvSpPr>
        <p:spPr>
          <a:xfrm>
            <a:off x="6122839" y="3715469"/>
            <a:ext cx="11160126" cy="4200146"/>
          </a:xfrm>
        </p:spPr>
        <p:txBody>
          <a:bodyPr anchor="ctr"/>
          <a:lstStyle/>
          <a:p>
            <a:pPr algn="ctr"/>
            <a:r>
              <a:rPr lang="en-GB" b="1">
                <a:latin typeface="Fira Sans Light" panose="020B0403050000020004" pitchFamily="34" charset="0"/>
              </a:rPr>
              <a:t>Executive Summary</a:t>
            </a:r>
            <a:endParaRPr lang="en-GB" b="1" noProof="0">
              <a:latin typeface="Fira Sans Light" panose="020B0403050000020004" pitchFamily="34" charset="0"/>
            </a:endParaRPr>
          </a:p>
        </p:txBody>
      </p:sp>
    </p:spTree>
    <p:extLst>
      <p:ext uri="{BB962C8B-B14F-4D97-AF65-F5344CB8AC3E}">
        <p14:creationId xmlns:p14="http://schemas.microsoft.com/office/powerpoint/2010/main" val="2997075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D3A2-084B-1C0B-557F-2B9B5DFB84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5AD6E4-345D-9699-59E5-18727FB7BC5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4</a:t>
            </a:fld>
            <a:endParaRPr lang="en-GB" noProof="0"/>
          </a:p>
        </p:txBody>
      </p:sp>
      <p:sp>
        <p:nvSpPr>
          <p:cNvPr id="10" name="TextBox 9">
            <a:extLst>
              <a:ext uri="{FF2B5EF4-FFF2-40B4-BE49-F238E27FC236}">
                <a16:creationId xmlns:a16="http://schemas.microsoft.com/office/drawing/2014/main" id="{8DB83E1D-32A4-5CC2-01F5-208E0A34306B}"/>
              </a:ext>
            </a:extLst>
          </p:cNvPr>
          <p:cNvSpPr txBox="1"/>
          <p:nvPr/>
        </p:nvSpPr>
        <p:spPr>
          <a:xfrm>
            <a:off x="406009" y="473476"/>
            <a:ext cx="9714519"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Our Understanding of DMG</a:t>
            </a:r>
          </a:p>
        </p:txBody>
      </p:sp>
      <p:sp>
        <p:nvSpPr>
          <p:cNvPr id="3" name="TextBox 2">
            <a:extLst>
              <a:ext uri="{FF2B5EF4-FFF2-40B4-BE49-F238E27FC236}">
                <a16:creationId xmlns:a16="http://schemas.microsoft.com/office/drawing/2014/main" id="{18AE4D57-A246-9883-7136-4CF10FCA87B2}"/>
              </a:ext>
            </a:extLst>
          </p:cNvPr>
          <p:cNvSpPr txBox="1"/>
          <p:nvPr/>
        </p:nvSpPr>
        <p:spPr>
          <a:xfrm>
            <a:off x="3947160" y="5257800"/>
            <a:ext cx="2056973" cy="646331"/>
          </a:xfrm>
          <a:prstGeom prst="rect">
            <a:avLst/>
          </a:prstGeom>
          <a:noFill/>
        </p:spPr>
        <p:txBody>
          <a:bodyPr wrap="none" rtlCol="0">
            <a:spAutoFit/>
          </a:bodyPr>
          <a:lstStyle/>
          <a:p>
            <a:pPr algn="l"/>
            <a:r>
              <a:rPr lang="en-GB" sz="1800"/>
              <a:t>See </a:t>
            </a:r>
            <a:r>
              <a:rPr lang="en-GB" sz="1800" err="1"/>
              <a:t>fedex</a:t>
            </a:r>
            <a:r>
              <a:rPr lang="en-GB" sz="1800"/>
              <a:t> slide</a:t>
            </a:r>
          </a:p>
          <a:p>
            <a:pPr algn="l"/>
            <a:r>
              <a:rPr lang="en-GB"/>
              <a:t>Define opportunity</a:t>
            </a:r>
            <a:endParaRPr lang="en-GB" sz="1800"/>
          </a:p>
        </p:txBody>
      </p:sp>
    </p:spTree>
    <p:extLst>
      <p:ext uri="{BB962C8B-B14F-4D97-AF65-F5344CB8AC3E}">
        <p14:creationId xmlns:p14="http://schemas.microsoft.com/office/powerpoint/2010/main" val="1501131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A84B-C6E2-38E3-9B89-8714619948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A62586-C234-83A4-36AE-71157EFD2B06}"/>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5</a:t>
            </a:fld>
            <a:endParaRPr lang="en-GB" noProof="0"/>
          </a:p>
        </p:txBody>
      </p:sp>
      <p:pic>
        <p:nvPicPr>
          <p:cNvPr id="5" name="Content Placeholder 7" descr="Two business people communicating and sharing">
            <a:extLst>
              <a:ext uri="{FF2B5EF4-FFF2-40B4-BE49-F238E27FC236}">
                <a16:creationId xmlns:a16="http://schemas.microsoft.com/office/drawing/2014/main" id="{F0D2A04D-CD5E-D570-F605-AEA51886CD80}"/>
              </a:ext>
            </a:extLst>
          </p:cNvPr>
          <p:cNvPicPr>
            <a:picLocks noChangeAspect="1"/>
          </p:cNvPicPr>
          <p:nvPr/>
        </p:nvPicPr>
        <p:blipFill>
          <a:blip r:embed="rId3"/>
          <a:srcRect l="20785" r="9942" b="-2"/>
          <a:stretch>
            <a:fillRect/>
          </a:stretch>
        </p:blipFill>
        <p:spPr>
          <a:xfrm>
            <a:off x="633564" y="3702316"/>
            <a:ext cx="7333475" cy="7066509"/>
          </a:xfrm>
          <a:prstGeom prst="roundRect">
            <a:avLst/>
          </a:prstGeom>
        </p:spPr>
      </p:pic>
      <p:sp>
        <p:nvSpPr>
          <p:cNvPr id="7" name="TextBox 6">
            <a:extLst>
              <a:ext uri="{FF2B5EF4-FFF2-40B4-BE49-F238E27FC236}">
                <a16:creationId xmlns:a16="http://schemas.microsoft.com/office/drawing/2014/main" id="{4E04E5D1-F77D-829E-A620-6008B570269D}"/>
              </a:ext>
            </a:extLst>
          </p:cNvPr>
          <p:cNvSpPr txBox="1"/>
          <p:nvPr/>
        </p:nvSpPr>
        <p:spPr>
          <a:xfrm>
            <a:off x="8610601" y="3188308"/>
            <a:ext cx="14955288" cy="8094524"/>
          </a:xfrm>
          <a:prstGeom prst="rect">
            <a:avLst/>
          </a:prstGeom>
          <a:noFill/>
        </p:spPr>
        <p:txBody>
          <a:bodyPr wrap="square" rtlCol="0">
            <a:spAutoFit/>
          </a:bodyPr>
          <a:lstStyle/>
          <a:p>
            <a:pPr>
              <a:spcBef>
                <a:spcPts val="2500"/>
              </a:spcBef>
            </a:pPr>
            <a:r>
              <a:rPr lang="en-GB" sz="2800" b="1">
                <a:latin typeface="Fira Sans" panose="020B0503050000020004" pitchFamily="34" charset="0"/>
              </a:rPr>
              <a:t>What this assessment does</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Provides an evidence‑based view of cloud suitability for the in‑scope estate</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Cloud Agnostic comparison of AWS, Azure, and GCP using the same source data</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Identifies material technical constraints, cost drivers, and readiness gaps</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Reaches a </a:t>
            </a:r>
            <a:r>
              <a:rPr lang="en-GB" sz="2800" b="1">
                <a:latin typeface="Fira Sans" panose="020B0503050000020004" pitchFamily="34" charset="0"/>
              </a:rPr>
              <a:t>primary</a:t>
            </a:r>
            <a:r>
              <a:rPr lang="en-GB" sz="2800">
                <a:latin typeface="Fira Sans" panose="020B0503050000020004" pitchFamily="34" charset="0"/>
              </a:rPr>
              <a:t> platform recommendation</a:t>
            </a:r>
          </a:p>
          <a:p>
            <a:pPr>
              <a:spcBef>
                <a:spcPts val="2500"/>
              </a:spcBef>
            </a:pPr>
            <a:r>
              <a:rPr lang="en-GB" sz="2800" b="1">
                <a:latin typeface="Fira Sans" panose="020B0503050000020004" pitchFamily="34" charset="0"/>
              </a:rPr>
              <a:t>What this assessment deliberately does not do</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Estimate migration execution cost </a:t>
            </a:r>
            <a:r>
              <a:rPr lang="en-GB" sz="2800" i="1">
                <a:latin typeface="Fira Sans" panose="020B0503050000020004" pitchFamily="34" charset="0"/>
              </a:rPr>
              <a:t>or</a:t>
            </a:r>
            <a:r>
              <a:rPr lang="en-GB" sz="2800">
                <a:latin typeface="Fira Sans" panose="020B0503050000020004" pitchFamily="34" charset="0"/>
              </a:rPr>
              <a:t> a Year‑1 financial outcome</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Produce a final application‑by‑application migration plan</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Design a landing zone or target security architecture</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Define a long‑term Oracle strategy</a:t>
            </a:r>
          </a:p>
          <a:p>
            <a:pPr>
              <a:spcBef>
                <a:spcPts val="2500"/>
              </a:spcBef>
            </a:pPr>
            <a:r>
              <a:rPr lang="en-GB" sz="2800" b="1">
                <a:latin typeface="Fira Sans" panose="020B0503050000020004" pitchFamily="34" charset="0"/>
              </a:rPr>
              <a:t>Why those boundaries matter</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These boundaries let us give you a clear platform direction today without forcing design, cost, or database decisions that belong in later phases.</a:t>
            </a:r>
          </a:p>
          <a:p>
            <a:pPr marL="285750" indent="-285750">
              <a:spcBef>
                <a:spcPts val="700"/>
              </a:spcBef>
              <a:buClr>
                <a:srgbClr val="FF0000"/>
              </a:buClr>
              <a:buFont typeface="Arial" panose="020B0604020202020204" pitchFamily="34" charset="0"/>
              <a:buChar char="•"/>
            </a:pPr>
            <a:r>
              <a:rPr lang="en-GB" sz="2800">
                <a:latin typeface="Fira Sans" panose="020B0503050000020004" pitchFamily="34" charset="0"/>
              </a:rPr>
              <a:t>Detailed sequencing, design, and planning follow once general strategic platform direction is agreed.</a:t>
            </a:r>
            <a:endParaRPr lang="en-US" sz="2000">
              <a:latin typeface="Fira Sans" panose="020B0503050000020004" pitchFamily="34" charset="0"/>
            </a:endParaRPr>
          </a:p>
        </p:txBody>
      </p:sp>
      <p:sp>
        <p:nvSpPr>
          <p:cNvPr id="10" name="TextBox 9">
            <a:extLst>
              <a:ext uri="{FF2B5EF4-FFF2-40B4-BE49-F238E27FC236}">
                <a16:creationId xmlns:a16="http://schemas.microsoft.com/office/drawing/2014/main" id="{B520BF5D-637A-355E-DBF1-C094319781A6}"/>
              </a:ext>
            </a:extLst>
          </p:cNvPr>
          <p:cNvSpPr txBox="1"/>
          <p:nvPr/>
        </p:nvSpPr>
        <p:spPr>
          <a:xfrm>
            <a:off x="406009" y="473476"/>
            <a:ext cx="10434267"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What this assessment covers</a:t>
            </a:r>
          </a:p>
        </p:txBody>
      </p:sp>
    </p:spTree>
    <p:extLst>
      <p:ext uri="{BB962C8B-B14F-4D97-AF65-F5344CB8AC3E}">
        <p14:creationId xmlns:p14="http://schemas.microsoft.com/office/powerpoint/2010/main" val="91606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A296-A97F-D0ED-169B-5C97CF43DF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F7E8F2-DFF6-64D7-101B-DE789A633958}"/>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6</a:t>
            </a:fld>
            <a:endParaRPr lang="en-GB" noProof="0"/>
          </a:p>
        </p:txBody>
      </p:sp>
      <p:sp>
        <p:nvSpPr>
          <p:cNvPr id="4" name="TextBox 3">
            <a:extLst>
              <a:ext uri="{FF2B5EF4-FFF2-40B4-BE49-F238E27FC236}">
                <a16:creationId xmlns:a16="http://schemas.microsoft.com/office/drawing/2014/main" id="{01706005-CBDB-2C90-A769-B50096904A82}"/>
              </a:ext>
            </a:extLst>
          </p:cNvPr>
          <p:cNvSpPr txBox="1"/>
          <p:nvPr/>
        </p:nvSpPr>
        <p:spPr>
          <a:xfrm>
            <a:off x="406009" y="473476"/>
            <a:ext cx="5888150"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Scope Summary</a:t>
            </a:r>
          </a:p>
        </p:txBody>
      </p:sp>
      <p:sp>
        <p:nvSpPr>
          <p:cNvPr id="6" name="TextBox 5">
            <a:extLst>
              <a:ext uri="{FF2B5EF4-FFF2-40B4-BE49-F238E27FC236}">
                <a16:creationId xmlns:a16="http://schemas.microsoft.com/office/drawing/2014/main" id="{354FA8DB-1B72-3A09-FC03-8E9E1BFA6B72}"/>
              </a:ext>
            </a:extLst>
          </p:cNvPr>
          <p:cNvSpPr txBox="1"/>
          <p:nvPr/>
        </p:nvSpPr>
        <p:spPr>
          <a:xfrm>
            <a:off x="8437161" y="3923463"/>
            <a:ext cx="15128728" cy="7294305"/>
          </a:xfrm>
          <a:prstGeom prst="rect">
            <a:avLst/>
          </a:prstGeom>
          <a:noFill/>
        </p:spPr>
        <p:txBody>
          <a:bodyPr wrap="square" rtlCol="0">
            <a:spAutoFit/>
          </a:bodyPr>
          <a:lstStyle/>
          <a:p>
            <a:r>
              <a:rPr lang="en-GB" sz="3600" b="1">
                <a:latin typeface="Fira Sans" panose="020B0503050000020004" pitchFamily="34" charset="0"/>
              </a:rPr>
              <a:t>11‑week </a:t>
            </a:r>
            <a:r>
              <a:rPr lang="en-GB" sz="3600">
                <a:latin typeface="Fira Sans" panose="020B0503050000020004" pitchFamily="34" charset="0"/>
              </a:rPr>
              <a:t>independent Cloud Readiness Assessment</a:t>
            </a:r>
          </a:p>
          <a:p>
            <a:endParaRPr lang="en-GB" sz="3600" b="1">
              <a:latin typeface="Fira Sans" panose="020B0503050000020004" pitchFamily="34" charset="0"/>
            </a:endParaRPr>
          </a:p>
          <a:p>
            <a:r>
              <a:rPr lang="en-GB" sz="3600" b="1">
                <a:latin typeface="Fira Sans" panose="020B0503050000020004" pitchFamily="34" charset="0"/>
              </a:rPr>
              <a:t>3 datacentres </a:t>
            </a:r>
            <a:r>
              <a:rPr lang="en-GB" sz="3600">
                <a:latin typeface="Fira Sans" panose="020B0503050000020004" pitchFamily="34" charset="0"/>
              </a:rPr>
              <a:t>Reading, Slough, Sydney</a:t>
            </a:r>
          </a:p>
          <a:p>
            <a:endParaRPr lang="en-GB" sz="3600">
              <a:latin typeface="Fira Sans" panose="020B0503050000020004" pitchFamily="34" charset="0"/>
            </a:endParaRPr>
          </a:p>
          <a:p>
            <a:r>
              <a:rPr lang="en-GB" sz="3600" b="1">
                <a:latin typeface="Fira Sans" panose="020B0503050000020004" pitchFamily="34" charset="0"/>
              </a:rPr>
              <a:t>3,038 servers </a:t>
            </a:r>
            <a:r>
              <a:rPr lang="en-GB" sz="3600">
                <a:latin typeface="Fira Sans" panose="020B0503050000020004" pitchFamily="34" charset="0"/>
              </a:rPr>
              <a:t>discovered and independently priced</a:t>
            </a:r>
          </a:p>
          <a:p>
            <a:endParaRPr lang="en-GB" sz="3600">
              <a:latin typeface="Fira Sans" panose="020B0503050000020004" pitchFamily="34" charset="0"/>
            </a:endParaRPr>
          </a:p>
          <a:p>
            <a:r>
              <a:rPr lang="en-GB" sz="3600" b="1">
                <a:latin typeface="Fira Sans" panose="020B0503050000020004" pitchFamily="34" charset="0"/>
              </a:rPr>
              <a:t>39 applications </a:t>
            </a:r>
            <a:r>
              <a:rPr lang="en-GB" sz="3600">
                <a:latin typeface="Fira Sans" panose="020B0503050000020004" pitchFamily="34" charset="0"/>
              </a:rPr>
              <a:t>profiled across 9 workshops</a:t>
            </a:r>
          </a:p>
          <a:p>
            <a:endParaRPr lang="en-GB" sz="3600">
              <a:latin typeface="Fira Sans" panose="020B0503050000020004" pitchFamily="34" charset="0"/>
            </a:endParaRPr>
          </a:p>
          <a:p>
            <a:r>
              <a:rPr lang="en-GB" sz="3600" b="1">
                <a:latin typeface="Fira Sans" panose="020B0503050000020004" pitchFamily="34" charset="0"/>
              </a:rPr>
              <a:t>88 databases </a:t>
            </a:r>
            <a:r>
              <a:rPr lang="en-GB" sz="3600">
                <a:latin typeface="Fira Sans" panose="020B0503050000020004" pitchFamily="34" charset="0"/>
              </a:rPr>
              <a:t>Oracle and SQL Server assessed</a:t>
            </a:r>
          </a:p>
          <a:p>
            <a:endParaRPr lang="en-GB" sz="3600">
              <a:latin typeface="Fira Sans" panose="020B0503050000020004" pitchFamily="34" charset="0"/>
            </a:endParaRPr>
          </a:p>
          <a:p>
            <a:r>
              <a:rPr lang="en-GB" sz="3600" b="1">
                <a:latin typeface="Fira Sans" panose="020B0503050000020004" pitchFamily="34" charset="0"/>
              </a:rPr>
              <a:t>3 clouds </a:t>
            </a:r>
            <a:r>
              <a:rPr lang="en-GB" sz="3600">
                <a:latin typeface="Fira Sans" panose="020B0503050000020004" pitchFamily="34" charset="0"/>
              </a:rPr>
              <a:t>compared using live pricing APIs</a:t>
            </a:r>
          </a:p>
          <a:p>
            <a:endParaRPr lang="en-GB" sz="3600" b="1">
              <a:latin typeface="Fira Sans" panose="020B0503050000020004" pitchFamily="34" charset="0"/>
            </a:endParaRPr>
          </a:p>
          <a:p>
            <a:r>
              <a:rPr lang="en-GB" sz="3600" b="1">
                <a:latin typeface="Fira Sans" panose="020B0503050000020004" pitchFamily="34" charset="0"/>
              </a:rPr>
              <a:t>5 infrastructure types </a:t>
            </a:r>
            <a:r>
              <a:rPr lang="en-GB" sz="3600">
                <a:latin typeface="Fira Sans" panose="020B0503050000020004" pitchFamily="34" charset="0"/>
              </a:rPr>
              <a:t>VMware, Proxmox, physical, appliance, cloud</a:t>
            </a:r>
          </a:p>
        </p:txBody>
      </p:sp>
      <p:pic>
        <p:nvPicPr>
          <p:cNvPr id="3" name="Content Placeholder 7" descr="Cloud computing concept isolated on white background">
            <a:extLst>
              <a:ext uri="{FF2B5EF4-FFF2-40B4-BE49-F238E27FC236}">
                <a16:creationId xmlns:a16="http://schemas.microsoft.com/office/drawing/2014/main" id="{D48C3A28-029B-358D-9075-34B25F71E5FA}"/>
              </a:ext>
            </a:extLst>
          </p:cNvPr>
          <p:cNvPicPr>
            <a:picLocks noChangeAspect="1"/>
          </p:cNvPicPr>
          <p:nvPr/>
        </p:nvPicPr>
        <p:blipFill>
          <a:blip r:embed="rId3"/>
          <a:srcRect l="27142" r="29162"/>
          <a:stretch>
            <a:fillRect/>
          </a:stretch>
        </p:blipFill>
        <p:spPr>
          <a:xfrm>
            <a:off x="1296488" y="2569464"/>
            <a:ext cx="5888150" cy="10106309"/>
          </a:xfrm>
          <a:prstGeom prst="roundRect">
            <a:avLst/>
          </a:prstGeom>
        </p:spPr>
      </p:pic>
    </p:spTree>
    <p:extLst>
      <p:ext uri="{BB962C8B-B14F-4D97-AF65-F5344CB8AC3E}">
        <p14:creationId xmlns:p14="http://schemas.microsoft.com/office/powerpoint/2010/main" val="483845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8A508-7446-F91B-2C3E-681272269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CB36C3-E41D-02CD-71EB-F5547CE41A5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7</a:t>
            </a:fld>
            <a:endParaRPr lang="en-GB" noProof="0"/>
          </a:p>
        </p:txBody>
      </p:sp>
      <p:sp>
        <p:nvSpPr>
          <p:cNvPr id="4" name="TextBox 3">
            <a:extLst>
              <a:ext uri="{FF2B5EF4-FFF2-40B4-BE49-F238E27FC236}">
                <a16:creationId xmlns:a16="http://schemas.microsoft.com/office/drawing/2014/main" id="{19060D72-9180-46BD-B82D-F1C6BC1DAFF1}"/>
              </a:ext>
            </a:extLst>
          </p:cNvPr>
          <p:cNvSpPr txBox="1"/>
          <p:nvPr/>
        </p:nvSpPr>
        <p:spPr>
          <a:xfrm>
            <a:off x="406009" y="473476"/>
            <a:ext cx="14496276"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Key Findings – Risks and Opportunities 	</a:t>
            </a:r>
          </a:p>
        </p:txBody>
      </p:sp>
      <p:sp>
        <p:nvSpPr>
          <p:cNvPr id="3" name="Content Placeholder 3">
            <a:extLst>
              <a:ext uri="{FF2B5EF4-FFF2-40B4-BE49-F238E27FC236}">
                <a16:creationId xmlns:a16="http://schemas.microsoft.com/office/drawing/2014/main" id="{978A4662-A97E-CABF-4174-13351A59134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91854" y="14666368"/>
            <a:ext cx="15338818" cy="9568544"/>
          </a:xfrm>
          <a:prstGeom prst="rect">
            <a:avLst/>
          </a:prstGeom>
        </p:spPr>
        <p:txBody>
          <a:bodyPr>
            <a:norm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Bef>
                <a:spcPts val="2500"/>
              </a:spcBef>
              <a:buNone/>
            </a:pPr>
            <a:r>
              <a:rPr lang="en-GB" sz="1600">
                <a:highlight>
                  <a:srgbClr val="FFFF00"/>
                </a:highlight>
                <a:latin typeface="Fira Sans" panose="020B0503050000020004" pitchFamily="34" charset="0"/>
              </a:rPr>
              <a:t>&lt;Add text here&gt;</a:t>
            </a:r>
          </a:p>
          <a:p>
            <a:pPr marL="0" indent="0">
              <a:spcBef>
                <a:spcPts val="2500"/>
              </a:spcBef>
              <a:buNone/>
            </a:pPr>
            <a:r>
              <a:rPr lang="en-GB" sz="1600" b="1">
                <a:latin typeface="Fira Sans" panose="020B0503050000020004" pitchFamily="34" charset="0"/>
              </a:rPr>
              <a:t>Target Operating Model Alignment </a:t>
            </a:r>
          </a:p>
          <a:p>
            <a:pPr marL="0" indent="0">
              <a:spcBef>
                <a:spcPts val="2500"/>
              </a:spcBef>
              <a:buNone/>
            </a:pPr>
            <a:r>
              <a:rPr lang="en-GB" sz="1600">
                <a:latin typeface="Fira Sans" panose="020B0503050000020004" pitchFamily="34" charset="0"/>
              </a:rPr>
              <a:t>Cloud migration provides a one-time opportunity for standardisation across brands, elimination of silos and reduction in shadow IT</a:t>
            </a:r>
          </a:p>
          <a:p>
            <a:pPr marL="0" indent="0">
              <a:spcBef>
                <a:spcPts val="2500"/>
              </a:spcBef>
              <a:buNone/>
            </a:pPr>
            <a:r>
              <a:rPr lang="en-GB" sz="1600" b="1">
                <a:latin typeface="Fira Sans" panose="020B0503050000020004" pitchFamily="34" charset="0"/>
              </a:rPr>
              <a:t>DMG environment. Is complex</a:t>
            </a:r>
          </a:p>
          <a:p>
            <a:pPr marL="0" indent="0">
              <a:spcBef>
                <a:spcPts val="2500"/>
              </a:spcBef>
              <a:buNone/>
            </a:pPr>
            <a:r>
              <a:rPr lang="en-GB" sz="1600" b="1">
                <a:latin typeface="Fira Sans" panose="020B0503050000020004" pitchFamily="34" charset="0"/>
              </a:rPr>
              <a:t>The evidence points to a clear primary cloud direction</a:t>
            </a:r>
          </a:p>
          <a:p>
            <a:pPr marL="0" indent="0">
              <a:spcBef>
                <a:spcPts val="2500"/>
              </a:spcBef>
              <a:buNone/>
            </a:pPr>
            <a:r>
              <a:rPr lang="en-GB" sz="1600">
                <a:latin typeface="Fira Sans" panose="020B0503050000020004" pitchFamily="34" charset="0"/>
              </a:rPr>
              <a:t>All 3 </a:t>
            </a:r>
            <a:r>
              <a:rPr lang="en-GB" sz="1600" err="1">
                <a:latin typeface="Fira Sans" panose="020B0503050000020004" pitchFamily="34" charset="0"/>
              </a:rPr>
              <a:t>Hyperscalers</a:t>
            </a:r>
            <a:r>
              <a:rPr lang="en-GB" sz="1600">
                <a:latin typeface="Fira Sans" panose="020B0503050000020004" pitchFamily="34" charset="0"/>
              </a:rPr>
              <a:t> could do the job, results were very close, however, when cost, technical constraints, and operating realities are considered together:</a:t>
            </a:r>
          </a:p>
          <a:p>
            <a:pPr>
              <a:spcBef>
                <a:spcPts val="700"/>
              </a:spcBef>
              <a:spcAft>
                <a:spcPts val="800"/>
              </a:spcAft>
            </a:pPr>
            <a:r>
              <a:rPr lang="en-GB" sz="1600">
                <a:latin typeface="Fira Sans" panose="020B0503050000020004" pitchFamily="34" charset="0"/>
              </a:rPr>
              <a:t>AWS is the platform that best fits the estate and DMG’s business drivers</a:t>
            </a:r>
          </a:p>
          <a:p>
            <a:pPr>
              <a:spcBef>
                <a:spcPts val="700"/>
              </a:spcBef>
              <a:spcAft>
                <a:spcPts val="800"/>
              </a:spcAft>
            </a:pPr>
            <a:r>
              <a:rPr lang="en-GB" sz="1600">
                <a:latin typeface="Fira Sans" panose="020B0503050000020004" pitchFamily="34" charset="0"/>
              </a:rPr>
              <a:t>GCP is retained where it already delivers clear business value for DMG</a:t>
            </a:r>
          </a:p>
          <a:p>
            <a:pPr>
              <a:spcBef>
                <a:spcPts val="700"/>
              </a:spcBef>
              <a:spcAft>
                <a:spcPts val="800"/>
              </a:spcAft>
            </a:pPr>
            <a:r>
              <a:rPr lang="en-GB" sz="1600">
                <a:latin typeface="Fira Sans" panose="020B0503050000020004" pitchFamily="34" charset="0"/>
              </a:rPr>
              <a:t>Azure carries a material cost premium without a matching benefit</a:t>
            </a:r>
          </a:p>
          <a:p>
            <a:pPr marL="0" indent="0">
              <a:spcBef>
                <a:spcPts val="2500"/>
              </a:spcBef>
              <a:buNone/>
            </a:pPr>
            <a:r>
              <a:rPr lang="en-GB" sz="1600" b="1">
                <a:latin typeface="Fira Sans" panose="020B0503050000020004" pitchFamily="34" charset="0"/>
              </a:rPr>
              <a:t>Oracle is a major complexity, but not a blocker to deciding the platform</a:t>
            </a:r>
          </a:p>
          <a:p>
            <a:pPr marL="0" indent="0">
              <a:spcBef>
                <a:spcPts val="2500"/>
              </a:spcBef>
              <a:buNone/>
            </a:pPr>
            <a:r>
              <a:rPr lang="en-GB" sz="1600">
                <a:latin typeface="Fira Sans" panose="020B0503050000020004" pitchFamily="34" charset="0"/>
              </a:rPr>
              <a:t>Oracle behaves broadly the same across all three clouds. It affects migration sequencing and risk, but it does not change which cloud makes sense. That work is deliberately handled in Part 2 rather than being forced now.</a:t>
            </a:r>
          </a:p>
          <a:p>
            <a:pPr marL="0" indent="0">
              <a:spcBef>
                <a:spcPts val="2500"/>
              </a:spcBef>
              <a:buNone/>
            </a:pPr>
            <a:r>
              <a:rPr lang="en-GB" sz="1600" b="1">
                <a:latin typeface="Fira Sans" panose="020B0503050000020004" pitchFamily="34" charset="0"/>
              </a:rPr>
              <a:t>A defined next step is needed to remove the remaining uncertainty</a:t>
            </a:r>
          </a:p>
          <a:p>
            <a:pPr marL="0" indent="0">
              <a:spcBef>
                <a:spcPts val="2500"/>
              </a:spcBef>
              <a:buNone/>
            </a:pPr>
            <a:r>
              <a:rPr lang="en-GB" sz="1600">
                <a:latin typeface="Fira Sans" panose="020B0503050000020004" pitchFamily="34" charset="0"/>
              </a:rPr>
              <a:t>Part 2 is the point where application groupings, landing zone design, and a realistic datacentre exit plan are confirmed. It turns assessment findings into a plan you can act on.</a:t>
            </a:r>
            <a:endParaRPr lang="en-US" sz="1600">
              <a:latin typeface="Fira Sans" panose="020B0503050000020004" pitchFamily="34" charset="0"/>
            </a:endParaRPr>
          </a:p>
        </p:txBody>
      </p:sp>
      <p:pic>
        <p:nvPicPr>
          <p:cNvPr id="5" name="Content Placeholder 7" descr="Digital background depicting innovative technologies, data protection Internet technologies. Cloud computing digital concept">
            <a:extLst>
              <a:ext uri="{FF2B5EF4-FFF2-40B4-BE49-F238E27FC236}">
                <a16:creationId xmlns:a16="http://schemas.microsoft.com/office/drawing/2014/main" id="{968C5F60-8E07-36ED-44D3-FD3D0A3EEA08}"/>
              </a:ext>
            </a:extLst>
          </p:cNvPr>
          <p:cNvPicPr>
            <a:picLocks noChangeAspect="1"/>
          </p:cNvPicPr>
          <p:nvPr/>
        </p:nvPicPr>
        <p:blipFill>
          <a:blip r:embed="rId4"/>
          <a:srcRect l="18399" r="23225" b="-2"/>
          <a:stretch>
            <a:fillRect/>
          </a:stretch>
        </p:blipFill>
        <p:spPr>
          <a:xfrm>
            <a:off x="765562" y="9601826"/>
            <a:ext cx="3078976" cy="2966891"/>
          </a:xfrm>
          <a:prstGeom prst="roundRect">
            <a:avLst/>
          </a:prstGeom>
        </p:spPr>
      </p:pic>
      <p:sp>
        <p:nvSpPr>
          <p:cNvPr id="23" name="Rectangle 22">
            <a:extLst>
              <a:ext uri="{FF2B5EF4-FFF2-40B4-BE49-F238E27FC236}">
                <a16:creationId xmlns:a16="http://schemas.microsoft.com/office/drawing/2014/main" id="{2F433B07-1666-5233-ED11-2CE9BE7B3EF6}"/>
              </a:ext>
            </a:extLst>
          </p:cNvPr>
          <p:cNvSpPr/>
          <p:nvPr/>
        </p:nvSpPr>
        <p:spPr>
          <a:xfrm>
            <a:off x="329809" y="2630728"/>
            <a:ext cx="5400000" cy="2736000"/>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Opportunity to align technology spend against utilisation (</a:t>
            </a:r>
            <a:r>
              <a:rPr lang="en-GB" sz="3600" err="1"/>
              <a:t>OpEx</a:t>
            </a:r>
            <a:r>
              <a:rPr lang="en-GB" sz="3600"/>
              <a:t> Model)</a:t>
            </a:r>
          </a:p>
        </p:txBody>
      </p:sp>
      <p:sp>
        <p:nvSpPr>
          <p:cNvPr id="24" name="Rectangle 23">
            <a:extLst>
              <a:ext uri="{FF2B5EF4-FFF2-40B4-BE49-F238E27FC236}">
                <a16:creationId xmlns:a16="http://schemas.microsoft.com/office/drawing/2014/main" id="{8E8CE8C9-E5B7-DCE8-AD60-8462B25A65D3}"/>
              </a:ext>
            </a:extLst>
          </p:cNvPr>
          <p:cNvSpPr/>
          <p:nvPr/>
        </p:nvSpPr>
        <p:spPr>
          <a:xfrm>
            <a:off x="6463119" y="2630728"/>
            <a:ext cx="5400000" cy="2736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Existing systems out of vendor support </a:t>
            </a:r>
          </a:p>
        </p:txBody>
      </p:sp>
      <p:sp>
        <p:nvSpPr>
          <p:cNvPr id="25" name="Rectangle 24">
            <a:extLst>
              <a:ext uri="{FF2B5EF4-FFF2-40B4-BE49-F238E27FC236}">
                <a16:creationId xmlns:a16="http://schemas.microsoft.com/office/drawing/2014/main" id="{36E131AF-808F-A0FA-926A-50677E6AA3E1}"/>
              </a:ext>
            </a:extLst>
          </p:cNvPr>
          <p:cNvSpPr/>
          <p:nvPr/>
        </p:nvSpPr>
        <p:spPr>
          <a:xfrm>
            <a:off x="12596429" y="2630728"/>
            <a:ext cx="5400000" cy="2736000"/>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Opportunity to bring unsupported/legacy applications into support </a:t>
            </a:r>
          </a:p>
        </p:txBody>
      </p:sp>
      <p:sp>
        <p:nvSpPr>
          <p:cNvPr id="26" name="Rectangle 25">
            <a:extLst>
              <a:ext uri="{FF2B5EF4-FFF2-40B4-BE49-F238E27FC236}">
                <a16:creationId xmlns:a16="http://schemas.microsoft.com/office/drawing/2014/main" id="{C6D362B3-4BA8-BCA9-97F2-0B05417AE7AF}"/>
              </a:ext>
            </a:extLst>
          </p:cNvPr>
          <p:cNvSpPr/>
          <p:nvPr/>
        </p:nvSpPr>
        <p:spPr>
          <a:xfrm>
            <a:off x="329809" y="6107663"/>
            <a:ext cx="5400000" cy="2736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Licensing expected to significant increase with renewals in 2027 (Eg, VMWare) </a:t>
            </a:r>
          </a:p>
        </p:txBody>
      </p:sp>
      <p:sp>
        <p:nvSpPr>
          <p:cNvPr id="27" name="Rectangle 26">
            <a:extLst>
              <a:ext uri="{FF2B5EF4-FFF2-40B4-BE49-F238E27FC236}">
                <a16:creationId xmlns:a16="http://schemas.microsoft.com/office/drawing/2014/main" id="{BBE4E12C-139F-5785-FA4E-B69E39198C1F}"/>
              </a:ext>
            </a:extLst>
          </p:cNvPr>
          <p:cNvSpPr/>
          <p:nvPr/>
        </p:nvSpPr>
        <p:spPr>
          <a:xfrm>
            <a:off x="6463119" y="6107663"/>
            <a:ext cx="5400000" cy="2736000"/>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Introduce technical standardisation and common architecture patterns</a:t>
            </a:r>
          </a:p>
        </p:txBody>
      </p:sp>
      <p:sp>
        <p:nvSpPr>
          <p:cNvPr id="28" name="Rectangle 27">
            <a:extLst>
              <a:ext uri="{FF2B5EF4-FFF2-40B4-BE49-F238E27FC236}">
                <a16:creationId xmlns:a16="http://schemas.microsoft.com/office/drawing/2014/main" id="{F1A30604-BA45-7B02-8702-AC1BD0C5EDAA}"/>
              </a:ext>
            </a:extLst>
          </p:cNvPr>
          <p:cNvSpPr/>
          <p:nvPr/>
        </p:nvSpPr>
        <p:spPr>
          <a:xfrm>
            <a:off x="12596429" y="6107663"/>
            <a:ext cx="5400000" cy="2736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t>Current scalability approaches are vertical (no horizontal scaling)</a:t>
            </a:r>
          </a:p>
        </p:txBody>
      </p:sp>
      <p:sp>
        <p:nvSpPr>
          <p:cNvPr id="29" name="Rectangle 28">
            <a:extLst>
              <a:ext uri="{FF2B5EF4-FFF2-40B4-BE49-F238E27FC236}">
                <a16:creationId xmlns:a16="http://schemas.microsoft.com/office/drawing/2014/main" id="{7B4DEC94-247D-6B1A-ECEF-206FFF50EFC2}"/>
              </a:ext>
            </a:extLst>
          </p:cNvPr>
          <p:cNvSpPr/>
          <p:nvPr/>
        </p:nvSpPr>
        <p:spPr>
          <a:xfrm>
            <a:off x="18729740" y="2630728"/>
            <a:ext cx="5400000" cy="2736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p>
            <a:pPr algn="ctr"/>
            <a:r>
              <a:rPr lang="en-GB" sz="3600">
                <a:cs typeface="Arial"/>
              </a:rPr>
              <a:t>Legacy technologies limit rapid innovation </a:t>
            </a:r>
          </a:p>
        </p:txBody>
      </p:sp>
      <p:sp>
        <p:nvSpPr>
          <p:cNvPr id="30" name="Rectangle 29">
            <a:extLst>
              <a:ext uri="{FF2B5EF4-FFF2-40B4-BE49-F238E27FC236}">
                <a16:creationId xmlns:a16="http://schemas.microsoft.com/office/drawing/2014/main" id="{CDA7068B-5187-29A7-6D52-AE1DF405AC19}"/>
              </a:ext>
            </a:extLst>
          </p:cNvPr>
          <p:cNvSpPr/>
          <p:nvPr/>
        </p:nvSpPr>
        <p:spPr>
          <a:xfrm>
            <a:off x="18729739" y="6107663"/>
            <a:ext cx="5400000" cy="2736000"/>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lstStyle/>
          <a:p>
            <a:pPr algn="ctr"/>
            <a:r>
              <a:rPr lang="en-GB" sz="3600">
                <a:solidFill>
                  <a:srgbClr val="FFFFFF"/>
                </a:solidFill>
                <a:latin typeface="Arial"/>
                <a:ea typeface="Segoe UI"/>
                <a:cs typeface="Segoe UI"/>
              </a:rPr>
              <a:t>Cloud Aligned Operating Model + Opportunity to upskill staff on cloud technologies </a:t>
            </a:r>
          </a:p>
        </p:txBody>
      </p:sp>
      <p:sp>
        <p:nvSpPr>
          <p:cNvPr id="32" name="TextBox 31">
            <a:extLst>
              <a:ext uri="{FF2B5EF4-FFF2-40B4-BE49-F238E27FC236}">
                <a16:creationId xmlns:a16="http://schemas.microsoft.com/office/drawing/2014/main" id="{94FBFF31-2426-C8B3-CDB1-E19951A601B1}"/>
              </a:ext>
            </a:extLst>
          </p:cNvPr>
          <p:cNvSpPr txBox="1"/>
          <p:nvPr/>
        </p:nvSpPr>
        <p:spPr>
          <a:xfrm>
            <a:off x="5590897" y="9338926"/>
            <a:ext cx="16488053" cy="3701013"/>
          </a:xfrm>
          <a:prstGeom prst="rect">
            <a:avLst/>
          </a:prstGeom>
          <a:noFill/>
        </p:spPr>
        <p:txBody>
          <a:bodyPr wrap="square">
            <a:spAutoFit/>
          </a:bodyPr>
          <a:lstStyle/>
          <a:p>
            <a:pPr marL="0" indent="0" algn="ctr">
              <a:spcBef>
                <a:spcPts val="700"/>
              </a:spcBef>
              <a:spcAft>
                <a:spcPts val="0"/>
              </a:spcAft>
              <a:buNone/>
            </a:pPr>
            <a:r>
              <a:rPr lang="en-GB" sz="3200" b="1">
                <a:latin typeface="Fira Sans" panose="020B0503050000020004" pitchFamily="34" charset="0"/>
              </a:rPr>
              <a:t>Doing nothing is no longer a safe or cheap option</a:t>
            </a:r>
          </a:p>
          <a:p>
            <a:pPr marL="0" indent="0" algn="ctr">
              <a:spcBef>
                <a:spcPts val="700"/>
              </a:spcBef>
              <a:spcAft>
                <a:spcPts val="0"/>
              </a:spcAft>
              <a:buNone/>
            </a:pPr>
            <a:endParaRPr lang="en-GB" sz="3200" b="1">
              <a:latin typeface="Fira Sans" panose="020B0503050000020004" pitchFamily="34" charset="0"/>
            </a:endParaRPr>
          </a:p>
          <a:p>
            <a:pPr marL="0" indent="0">
              <a:spcBef>
                <a:spcPts val="700"/>
              </a:spcBef>
              <a:spcAft>
                <a:spcPts val="1200"/>
              </a:spcAft>
              <a:buNone/>
            </a:pPr>
            <a:r>
              <a:rPr lang="en-GB" sz="3200">
                <a:latin typeface="Fira Sans" panose="020B0503050000020004" pitchFamily="34" charset="0"/>
              </a:rPr>
              <a:t>Datacentre leases, VMware licensing changes, and the Microsoft EA all come up for renewal within the next two years. If decisions are delayed, you will end up making commitments to legacy technology through renewals rather than by choice.</a:t>
            </a:r>
          </a:p>
          <a:p>
            <a:pPr marL="0" indent="0" algn="ctr">
              <a:spcBef>
                <a:spcPts val="2500"/>
              </a:spcBef>
              <a:buNone/>
            </a:pPr>
            <a:r>
              <a:rPr lang="en-GB" sz="3200" b="1">
                <a:latin typeface="Fira Sans" panose="020B0503050000020004" pitchFamily="34" charset="0"/>
              </a:rPr>
              <a:t>Technology needs to evolve to allow DMG to innovate</a:t>
            </a:r>
          </a:p>
        </p:txBody>
      </p:sp>
    </p:spTree>
    <p:extLst>
      <p:ext uri="{BB962C8B-B14F-4D97-AF65-F5344CB8AC3E}">
        <p14:creationId xmlns:p14="http://schemas.microsoft.com/office/powerpoint/2010/main" val="2612447691"/>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C225-EECF-FA50-777A-455E004C29C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A7870AC-23F0-192E-2B91-603910DC24DD}"/>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Project Scope</a:t>
            </a:r>
          </a:p>
        </p:txBody>
      </p:sp>
    </p:spTree>
    <p:extLst>
      <p:ext uri="{BB962C8B-B14F-4D97-AF65-F5344CB8AC3E}">
        <p14:creationId xmlns:p14="http://schemas.microsoft.com/office/powerpoint/2010/main" val="1615952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3C2FAB-61B1-7C66-23F8-0811BEE22FEB}"/>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1400" b="0" i="0" u="none" strike="noStrike" kern="1200" cap="none" spc="0" normalizeH="0" baseline="0" noProof="0" smtClean="0">
                <a:ln>
                  <a:noFill/>
                </a:ln>
                <a:solidFill>
                  <a:srgbClr val="000000"/>
                </a:solidFill>
                <a:effectLst/>
                <a:uLnTx/>
                <a:uFillTx/>
                <a:latin typeface="Fira Sans Light" panose="020B04030500000200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000000"/>
              </a:solidFill>
              <a:effectLst/>
              <a:uLnTx/>
              <a:uFillTx/>
              <a:latin typeface="Fira Sans Light" panose="020B0403050000020004" pitchFamily="34" charset="0"/>
            </a:endParaRPr>
          </a:p>
        </p:txBody>
      </p:sp>
      <p:sp>
        <p:nvSpPr>
          <p:cNvPr id="3" name="TextBox 2">
            <a:extLst>
              <a:ext uri="{FF2B5EF4-FFF2-40B4-BE49-F238E27FC236}">
                <a16:creationId xmlns:a16="http://schemas.microsoft.com/office/drawing/2014/main" id="{BD83974F-624B-675B-A54F-11A0055C0442}"/>
              </a:ext>
            </a:extLst>
          </p:cNvPr>
          <p:cNvSpPr txBox="1"/>
          <p:nvPr/>
        </p:nvSpPr>
        <p:spPr>
          <a:xfrm>
            <a:off x="406009" y="473476"/>
            <a:ext cx="13447336" cy="104644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200" b="0" i="0" u="none" strike="noStrike" kern="1200" cap="none" spc="0" normalizeH="0" baseline="0" noProof="0">
                <a:ln>
                  <a:noFill/>
                </a:ln>
                <a:effectLst/>
                <a:uLnTx/>
                <a:uFillTx/>
                <a:latin typeface="Fira Sans Light" panose="020B0403050000020004" pitchFamily="34" charset="0"/>
              </a:rPr>
              <a:t> Plan – Cloud Readiness Assessment</a:t>
            </a:r>
            <a:endParaRPr kumimoji="0" lang="en-GB" sz="6200" b="0" i="0" u="none" strike="noStrike" kern="1200" cap="none" spc="0" normalizeH="0" baseline="0" noProof="0">
              <a:ln>
                <a:noFill/>
              </a:ln>
              <a:effectLst/>
              <a:uLnTx/>
              <a:uFillTx/>
              <a:latin typeface="Fira Sans Light" panose="020B0403050000020004" pitchFamily="34" charset="0"/>
            </a:endParaRPr>
          </a:p>
        </p:txBody>
      </p:sp>
      <p:sp>
        <p:nvSpPr>
          <p:cNvPr id="5" name="AutoShape 2" descr="A minimalist map with typographic contour lines and hiking paths. The background is light, in muted tones like gray or beige, with contour lines curving smoothly to represent elevation. Hiking paths are marked with subtle dashed or dotted lines, weaving through the map. An arrow labeled 'You Are Here' in bold red should be moved to the top right area of the map, clearly pointing to a specific point on the trails. The overall design remains clean, with the focus on the hiking paths, contour lines, and the relocated 'You Are Here' label.">
            <a:extLst>
              <a:ext uri="{FF2B5EF4-FFF2-40B4-BE49-F238E27FC236}">
                <a16:creationId xmlns:a16="http://schemas.microsoft.com/office/drawing/2014/main" id="{4A94B50E-4F6C-D194-6101-6AB744158192}"/>
              </a:ext>
            </a:extLst>
          </p:cNvPr>
          <p:cNvSpPr>
            <a:spLocks noChangeAspect="1" noChangeArrowheads="1"/>
          </p:cNvSpPr>
          <p:nvPr/>
        </p:nvSpPr>
        <p:spPr bwMode="auto">
          <a:xfrm>
            <a:off x="11743760" y="6656832"/>
            <a:ext cx="609600" cy="5059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82880" tIns="91440" rIns="182880" bIns="9144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000000"/>
              </a:solidFill>
              <a:effectLst/>
              <a:uLnTx/>
              <a:uFillTx/>
              <a:latin typeface="Fira Sans Light" panose="020B0403050000020004" pitchFamily="34" charset="0"/>
            </a:endParaRPr>
          </a:p>
        </p:txBody>
      </p:sp>
      <p:sp>
        <p:nvSpPr>
          <p:cNvPr id="6" name="TextBox 5">
            <a:extLst>
              <a:ext uri="{FF2B5EF4-FFF2-40B4-BE49-F238E27FC236}">
                <a16:creationId xmlns:a16="http://schemas.microsoft.com/office/drawing/2014/main" id="{D266B697-367B-A633-A241-6F24B98A5505}"/>
              </a:ext>
            </a:extLst>
          </p:cNvPr>
          <p:cNvSpPr txBox="1"/>
          <p:nvPr/>
        </p:nvSpPr>
        <p:spPr>
          <a:xfrm>
            <a:off x="990207" y="2546358"/>
            <a:ext cx="8875840" cy="553998"/>
          </a:xfrm>
          <a:prstGeom prst="rect">
            <a:avLst/>
          </a:prstGeom>
          <a:noFill/>
        </p:spPr>
        <p:txBody>
          <a:bodyPr wrap="square" lIns="182880" tIns="91440" rIns="182880" bIns="91440" rtlCol="0" anchor="t">
            <a:spAutoFit/>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0000"/>
                </a:solidFill>
                <a:effectLst/>
                <a:uLnTx/>
                <a:uFillTx/>
                <a:latin typeface="Fira Sans Light" panose="020B0403050000020004" pitchFamily="34" charset="0"/>
              </a:rPr>
              <a:t>Part 1 (Orange) &amp; Part 2 (Red)</a:t>
            </a:r>
          </a:p>
        </p:txBody>
      </p:sp>
      <p:sp>
        <p:nvSpPr>
          <p:cNvPr id="7" name="TextBox 6">
            <a:extLst>
              <a:ext uri="{FF2B5EF4-FFF2-40B4-BE49-F238E27FC236}">
                <a16:creationId xmlns:a16="http://schemas.microsoft.com/office/drawing/2014/main" id="{80817EB9-2DE8-D54B-9CD5-2B2B532B9588}"/>
              </a:ext>
            </a:extLst>
          </p:cNvPr>
          <p:cNvSpPr txBox="1"/>
          <p:nvPr/>
        </p:nvSpPr>
        <p:spPr>
          <a:xfrm>
            <a:off x="10050186" y="2365315"/>
            <a:ext cx="10587164" cy="923330"/>
          </a:xfrm>
          <a:prstGeom prst="rect">
            <a:avLst/>
          </a:prstGeom>
          <a:noFill/>
        </p:spPr>
        <p:txBody>
          <a:bodyPr wrap="square" lIns="182880" tIns="91440" rIns="182880" bIns="91440" rtlCol="0" anchor="t">
            <a:spAutoFit/>
          </a:bodyPr>
          <a:lstStyle>
            <a:defPPr>
              <a:defRPr lang="en-US"/>
            </a:defPPr>
            <a:lvl1pPr algn="ctr" defTabSz="914400">
              <a:defRPr sz="1200" b="1">
                <a:solidFill>
                  <a:schemeClr val="tx2"/>
                </a:solidFill>
                <a:latin typeface="Century Gothic"/>
              </a:defRPr>
            </a:lvl1p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prstClr val="white">
                    <a:lumMod val="65000"/>
                  </a:prstClr>
                </a:solidFill>
                <a:effectLst/>
                <a:uLnTx/>
                <a:uFillTx/>
                <a:latin typeface="Fira Sans Light" panose="020B0403050000020004" pitchFamily="34" charset="0"/>
              </a:rPr>
              <a:t>Part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prstClr val="white">
                    <a:lumMod val="65000"/>
                  </a:prstClr>
                </a:solidFill>
                <a:effectLst/>
                <a:uLnTx/>
                <a:uFillTx/>
                <a:latin typeface="Fira Sans Light" panose="020B0403050000020004" pitchFamily="34" charset="0"/>
              </a:rPr>
              <a:t>Migration / Modernisation Design &amp; Execution </a:t>
            </a:r>
          </a:p>
        </p:txBody>
      </p:sp>
      <p:sp>
        <p:nvSpPr>
          <p:cNvPr id="8" name="TextBox 7">
            <a:extLst>
              <a:ext uri="{FF2B5EF4-FFF2-40B4-BE49-F238E27FC236}">
                <a16:creationId xmlns:a16="http://schemas.microsoft.com/office/drawing/2014/main" id="{FD51D1F9-959F-D5A5-2C68-67E6872A81B8}"/>
              </a:ext>
            </a:extLst>
          </p:cNvPr>
          <p:cNvSpPr txBox="1"/>
          <p:nvPr/>
        </p:nvSpPr>
        <p:spPr>
          <a:xfrm>
            <a:off x="20860023" y="2318422"/>
            <a:ext cx="3127958" cy="830997"/>
          </a:xfrm>
          <a:prstGeom prst="rect">
            <a:avLst/>
          </a:prstGeom>
          <a:noFill/>
        </p:spPr>
        <p:txBody>
          <a:bodyPr wrap="square" rtlCol="0">
            <a:spAutoFit/>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lumMod val="65000"/>
                  </a:prstClr>
                </a:solidFill>
                <a:effectLst/>
                <a:uLnTx/>
                <a:uFillTx/>
                <a:latin typeface="Fira Sans Light" panose="020B0403050000020004" pitchFamily="34" charset="0"/>
              </a:rPr>
              <a:t>Part 4</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lumMod val="65000"/>
                  </a:prstClr>
                </a:solidFill>
                <a:effectLst/>
                <a:uLnTx/>
                <a:uFillTx/>
                <a:latin typeface="Fira Sans Light" panose="020B0403050000020004" pitchFamily="34" charset="0"/>
              </a:rPr>
              <a:t>Post-Migration</a:t>
            </a:r>
          </a:p>
        </p:txBody>
      </p:sp>
      <p:sp>
        <p:nvSpPr>
          <p:cNvPr id="9" name="Arrow: Pentagon 8">
            <a:extLst>
              <a:ext uri="{FF2B5EF4-FFF2-40B4-BE49-F238E27FC236}">
                <a16:creationId xmlns:a16="http://schemas.microsoft.com/office/drawing/2014/main" id="{120F1196-3F17-192C-DDE9-2639DEAB4D80}"/>
              </a:ext>
            </a:extLst>
          </p:cNvPr>
          <p:cNvSpPr/>
          <p:nvPr/>
        </p:nvSpPr>
        <p:spPr>
          <a:xfrm>
            <a:off x="5066406" y="4590386"/>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Tooling &amp; Discovery</a:t>
            </a:r>
          </a:p>
        </p:txBody>
      </p:sp>
      <p:sp>
        <p:nvSpPr>
          <p:cNvPr id="10" name="Arrow: Pentagon 9">
            <a:extLst>
              <a:ext uri="{FF2B5EF4-FFF2-40B4-BE49-F238E27FC236}">
                <a16:creationId xmlns:a16="http://schemas.microsoft.com/office/drawing/2014/main" id="{600D16AA-0FFD-4642-0AB7-5A859AECBFF9}"/>
              </a:ext>
            </a:extLst>
          </p:cNvPr>
          <p:cNvSpPr/>
          <p:nvPr/>
        </p:nvSpPr>
        <p:spPr>
          <a:xfrm>
            <a:off x="1871668" y="4590386"/>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TCO Analysis</a:t>
            </a:r>
          </a:p>
        </p:txBody>
      </p:sp>
      <p:sp>
        <p:nvSpPr>
          <p:cNvPr id="11" name="Arrow: Pentagon 10">
            <a:extLst>
              <a:ext uri="{FF2B5EF4-FFF2-40B4-BE49-F238E27FC236}">
                <a16:creationId xmlns:a16="http://schemas.microsoft.com/office/drawing/2014/main" id="{59B0C11D-A622-9347-63E3-914038669862}"/>
              </a:ext>
            </a:extLst>
          </p:cNvPr>
          <p:cNvSpPr/>
          <p:nvPr/>
        </p:nvSpPr>
        <p:spPr>
          <a:xfrm>
            <a:off x="5095956" y="5593590"/>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Server/App Profiling</a:t>
            </a:r>
          </a:p>
        </p:txBody>
      </p:sp>
      <p:sp>
        <p:nvSpPr>
          <p:cNvPr id="12" name="Arrow: Pentagon 11">
            <a:extLst>
              <a:ext uri="{FF2B5EF4-FFF2-40B4-BE49-F238E27FC236}">
                <a16:creationId xmlns:a16="http://schemas.microsoft.com/office/drawing/2014/main" id="{D0D797B1-A8B8-8ACE-5938-C85C28DCCFF5}"/>
              </a:ext>
            </a:extLst>
          </p:cNvPr>
          <p:cNvSpPr/>
          <p:nvPr/>
        </p:nvSpPr>
        <p:spPr>
          <a:xfrm>
            <a:off x="10036487" y="6735520"/>
            <a:ext cx="307105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PoC Candidates</a:t>
            </a:r>
          </a:p>
        </p:txBody>
      </p:sp>
      <p:sp>
        <p:nvSpPr>
          <p:cNvPr id="14" name="Arrow: Pentagon 13">
            <a:extLst>
              <a:ext uri="{FF2B5EF4-FFF2-40B4-BE49-F238E27FC236}">
                <a16:creationId xmlns:a16="http://schemas.microsoft.com/office/drawing/2014/main" id="{1D2E5E02-38BC-0415-09AD-A3BBD4363650}"/>
              </a:ext>
            </a:extLst>
          </p:cNvPr>
          <p:cNvSpPr/>
          <p:nvPr/>
        </p:nvSpPr>
        <p:spPr>
          <a:xfrm>
            <a:off x="5117076" y="662513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Dependency Mapping</a:t>
            </a:r>
          </a:p>
        </p:txBody>
      </p:sp>
      <p:sp>
        <p:nvSpPr>
          <p:cNvPr id="15" name="Arrow: Pentagon 14">
            <a:extLst>
              <a:ext uri="{FF2B5EF4-FFF2-40B4-BE49-F238E27FC236}">
                <a16:creationId xmlns:a16="http://schemas.microsoft.com/office/drawing/2014/main" id="{E67C9F50-8F0D-EB5F-24F9-312A402161DC}"/>
              </a:ext>
            </a:extLst>
          </p:cNvPr>
          <p:cNvSpPr/>
          <p:nvPr/>
        </p:nvSpPr>
        <p:spPr>
          <a:xfrm>
            <a:off x="10036488" y="4590386"/>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Migration Runbooks</a:t>
            </a:r>
          </a:p>
        </p:txBody>
      </p:sp>
      <p:sp>
        <p:nvSpPr>
          <p:cNvPr id="16" name="Arrow: Pentagon 15">
            <a:extLst>
              <a:ext uri="{FF2B5EF4-FFF2-40B4-BE49-F238E27FC236}">
                <a16:creationId xmlns:a16="http://schemas.microsoft.com/office/drawing/2014/main" id="{EB5EBFE2-D5C0-F799-CC29-B1FA4B1C91F2}"/>
              </a:ext>
            </a:extLst>
          </p:cNvPr>
          <p:cNvSpPr/>
          <p:nvPr/>
        </p:nvSpPr>
        <p:spPr>
          <a:xfrm>
            <a:off x="13153645" y="6735520"/>
            <a:ext cx="757431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Migration Execution</a:t>
            </a:r>
          </a:p>
        </p:txBody>
      </p:sp>
      <p:sp>
        <p:nvSpPr>
          <p:cNvPr id="17" name="Arrow: Pentagon 16">
            <a:extLst>
              <a:ext uri="{FF2B5EF4-FFF2-40B4-BE49-F238E27FC236}">
                <a16:creationId xmlns:a16="http://schemas.microsoft.com/office/drawing/2014/main" id="{8E38B1BE-6AFD-5364-39AD-E6D7CDFBEEF0}"/>
              </a:ext>
            </a:extLst>
          </p:cNvPr>
          <p:cNvSpPr/>
          <p:nvPr/>
        </p:nvSpPr>
        <p:spPr>
          <a:xfrm>
            <a:off x="16868818" y="7777556"/>
            <a:ext cx="3806308"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Testing &amp; Remediation</a:t>
            </a:r>
          </a:p>
        </p:txBody>
      </p:sp>
      <p:sp>
        <p:nvSpPr>
          <p:cNvPr id="18" name="Arrow: Pentagon 17">
            <a:extLst>
              <a:ext uri="{FF2B5EF4-FFF2-40B4-BE49-F238E27FC236}">
                <a16:creationId xmlns:a16="http://schemas.microsoft.com/office/drawing/2014/main" id="{9FA81216-F03D-D5ED-5AA8-4D2CEA4BDE0A}"/>
              </a:ext>
            </a:extLst>
          </p:cNvPr>
          <p:cNvSpPr/>
          <p:nvPr/>
        </p:nvSpPr>
        <p:spPr>
          <a:xfrm>
            <a:off x="20839866" y="6735520"/>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Transition to </a:t>
            </a:r>
          </a:p>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Managed Service</a:t>
            </a:r>
          </a:p>
        </p:txBody>
      </p:sp>
      <p:cxnSp>
        <p:nvCxnSpPr>
          <p:cNvPr id="20" name="Straight Connector 19">
            <a:extLst>
              <a:ext uri="{FF2B5EF4-FFF2-40B4-BE49-F238E27FC236}">
                <a16:creationId xmlns:a16="http://schemas.microsoft.com/office/drawing/2014/main" id="{5233CDF5-B930-6CD0-3C07-8D825D32E053}"/>
              </a:ext>
            </a:extLst>
          </p:cNvPr>
          <p:cNvCxnSpPr>
            <a:cxnSpLocks/>
          </p:cNvCxnSpPr>
          <p:nvPr/>
        </p:nvCxnSpPr>
        <p:spPr>
          <a:xfrm flipH="1">
            <a:off x="9898168" y="2417271"/>
            <a:ext cx="44048" cy="9736690"/>
          </a:xfrm>
          <a:prstGeom prst="line">
            <a:avLst/>
          </a:prstGeom>
          <a:noFill/>
          <a:ln w="28575" cap="flat" cmpd="sng" algn="ctr">
            <a:solidFill>
              <a:sysClr val="window" lastClr="FFFFFF">
                <a:lumMod val="65000"/>
              </a:sysClr>
            </a:solidFill>
            <a:prstDash val="sysDot"/>
            <a:miter lim="800000"/>
          </a:ln>
          <a:effectLst/>
        </p:spPr>
      </p:cxnSp>
      <p:cxnSp>
        <p:nvCxnSpPr>
          <p:cNvPr id="21" name="Straight Connector 20">
            <a:extLst>
              <a:ext uri="{FF2B5EF4-FFF2-40B4-BE49-F238E27FC236}">
                <a16:creationId xmlns:a16="http://schemas.microsoft.com/office/drawing/2014/main" id="{DE444506-E2A4-F40E-6DCB-975F68A12193}"/>
              </a:ext>
            </a:extLst>
          </p:cNvPr>
          <p:cNvCxnSpPr>
            <a:cxnSpLocks/>
          </p:cNvCxnSpPr>
          <p:nvPr/>
        </p:nvCxnSpPr>
        <p:spPr>
          <a:xfrm>
            <a:off x="20739368" y="2361096"/>
            <a:ext cx="0" cy="9703744"/>
          </a:xfrm>
          <a:prstGeom prst="line">
            <a:avLst/>
          </a:prstGeom>
          <a:noFill/>
          <a:ln w="28575" cap="flat" cmpd="sng" algn="ctr">
            <a:solidFill>
              <a:sysClr val="window" lastClr="FFFFFF">
                <a:lumMod val="65000"/>
              </a:sysClr>
            </a:solidFill>
            <a:prstDash val="sysDot"/>
            <a:miter lim="800000"/>
          </a:ln>
          <a:effectLst/>
        </p:spPr>
      </p:cxnSp>
      <p:sp>
        <p:nvSpPr>
          <p:cNvPr id="24" name="Arrow: Pentagon 23">
            <a:extLst>
              <a:ext uri="{FF2B5EF4-FFF2-40B4-BE49-F238E27FC236}">
                <a16:creationId xmlns:a16="http://schemas.microsoft.com/office/drawing/2014/main" id="{F6DAC4D3-5A50-0589-B286-F6353E7C6ADB}"/>
              </a:ext>
            </a:extLst>
          </p:cNvPr>
          <p:cNvSpPr/>
          <p:nvPr/>
        </p:nvSpPr>
        <p:spPr>
          <a:xfrm>
            <a:off x="10054411" y="7805042"/>
            <a:ext cx="305628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Design</a:t>
            </a:r>
          </a:p>
        </p:txBody>
      </p:sp>
      <p:sp>
        <p:nvSpPr>
          <p:cNvPr id="25" name="Arrow: Pentagon 24">
            <a:extLst>
              <a:ext uri="{FF2B5EF4-FFF2-40B4-BE49-F238E27FC236}">
                <a16:creationId xmlns:a16="http://schemas.microsoft.com/office/drawing/2014/main" id="{7F0D2C8F-5C80-AB4A-A6A8-30F9DCEAE978}"/>
              </a:ext>
            </a:extLst>
          </p:cNvPr>
          <p:cNvSpPr/>
          <p:nvPr/>
        </p:nvSpPr>
        <p:spPr>
          <a:xfrm>
            <a:off x="10967612" y="8797060"/>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Build</a:t>
            </a:r>
          </a:p>
        </p:txBody>
      </p:sp>
      <p:sp>
        <p:nvSpPr>
          <p:cNvPr id="26" name="Arrow: Pentagon 25">
            <a:extLst>
              <a:ext uri="{FF2B5EF4-FFF2-40B4-BE49-F238E27FC236}">
                <a16:creationId xmlns:a16="http://schemas.microsoft.com/office/drawing/2014/main" id="{F88D3302-1545-4A0C-E277-4E8691FE376E}"/>
              </a:ext>
            </a:extLst>
          </p:cNvPr>
          <p:cNvSpPr/>
          <p:nvPr/>
        </p:nvSpPr>
        <p:spPr>
          <a:xfrm>
            <a:off x="16868818" y="8819594"/>
            <a:ext cx="3806308"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Integration in Target</a:t>
            </a:r>
          </a:p>
        </p:txBody>
      </p:sp>
      <p:sp>
        <p:nvSpPr>
          <p:cNvPr id="27" name="Arrow: Pentagon 26">
            <a:extLst>
              <a:ext uri="{FF2B5EF4-FFF2-40B4-BE49-F238E27FC236}">
                <a16:creationId xmlns:a16="http://schemas.microsoft.com/office/drawing/2014/main" id="{9CC316A5-2FB5-E003-B5BE-DBBCE5DFC81C}"/>
              </a:ext>
            </a:extLst>
          </p:cNvPr>
          <p:cNvSpPr/>
          <p:nvPr/>
        </p:nvSpPr>
        <p:spPr>
          <a:xfrm>
            <a:off x="9233654" y="3608616"/>
            <a:ext cx="1150570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Governance</a:t>
            </a:r>
          </a:p>
        </p:txBody>
      </p:sp>
      <p:sp>
        <p:nvSpPr>
          <p:cNvPr id="28" name="Arrow: Pentagon 27">
            <a:extLst>
              <a:ext uri="{FF2B5EF4-FFF2-40B4-BE49-F238E27FC236}">
                <a16:creationId xmlns:a16="http://schemas.microsoft.com/office/drawing/2014/main" id="{2DC9344F-569B-1CA5-75A7-D1A1E0914E6F}"/>
              </a:ext>
            </a:extLst>
          </p:cNvPr>
          <p:cNvSpPr/>
          <p:nvPr/>
        </p:nvSpPr>
        <p:spPr>
          <a:xfrm>
            <a:off x="12446794" y="9787804"/>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Test</a:t>
            </a:r>
          </a:p>
        </p:txBody>
      </p:sp>
      <p:sp>
        <p:nvSpPr>
          <p:cNvPr id="29" name="Arrow: Pentagon 28">
            <a:extLst>
              <a:ext uri="{FF2B5EF4-FFF2-40B4-BE49-F238E27FC236}">
                <a16:creationId xmlns:a16="http://schemas.microsoft.com/office/drawing/2014/main" id="{7B9D63AC-59B2-D1AD-5622-4E2FA7F6DF29}"/>
              </a:ext>
            </a:extLst>
          </p:cNvPr>
          <p:cNvSpPr/>
          <p:nvPr/>
        </p:nvSpPr>
        <p:spPr>
          <a:xfrm>
            <a:off x="1862932" y="559668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Data Strategy</a:t>
            </a:r>
          </a:p>
        </p:txBody>
      </p:sp>
      <p:sp>
        <p:nvSpPr>
          <p:cNvPr id="30" name="Arrow: Pentagon 29">
            <a:extLst>
              <a:ext uri="{FF2B5EF4-FFF2-40B4-BE49-F238E27FC236}">
                <a16:creationId xmlns:a16="http://schemas.microsoft.com/office/drawing/2014/main" id="{361EF739-F567-DDA0-3840-C216B34CC866}"/>
              </a:ext>
            </a:extLst>
          </p:cNvPr>
          <p:cNvSpPr/>
          <p:nvPr/>
        </p:nvSpPr>
        <p:spPr>
          <a:xfrm>
            <a:off x="5096884" y="761924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High-Level </a:t>
            </a:r>
          </a:p>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Release Plan</a:t>
            </a:r>
          </a:p>
        </p:txBody>
      </p:sp>
      <p:sp>
        <p:nvSpPr>
          <p:cNvPr id="31" name="Arrow: Pentagon 30">
            <a:extLst>
              <a:ext uri="{FF2B5EF4-FFF2-40B4-BE49-F238E27FC236}">
                <a16:creationId xmlns:a16="http://schemas.microsoft.com/office/drawing/2014/main" id="{72A4CB44-827A-B791-4A72-B854D0AFA595}"/>
              </a:ext>
            </a:extLst>
          </p:cNvPr>
          <p:cNvSpPr/>
          <p:nvPr/>
        </p:nvSpPr>
        <p:spPr>
          <a:xfrm>
            <a:off x="5096884" y="8632690"/>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Indicative  Modernisation Path</a:t>
            </a:r>
          </a:p>
        </p:txBody>
      </p:sp>
      <p:sp>
        <p:nvSpPr>
          <p:cNvPr id="32" name="Arrow: Pentagon 31">
            <a:extLst>
              <a:ext uri="{FF2B5EF4-FFF2-40B4-BE49-F238E27FC236}">
                <a16:creationId xmlns:a16="http://schemas.microsoft.com/office/drawing/2014/main" id="{937966B7-EB68-C544-AFE0-9FBEEE75F12E}"/>
              </a:ext>
            </a:extLst>
          </p:cNvPr>
          <p:cNvSpPr/>
          <p:nvPr/>
        </p:nvSpPr>
        <p:spPr>
          <a:xfrm>
            <a:off x="10042834" y="5677758"/>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Modernisation Runbooks</a:t>
            </a:r>
          </a:p>
        </p:txBody>
      </p:sp>
      <p:sp>
        <p:nvSpPr>
          <p:cNvPr id="19" name="Arrow: Pentagon 18">
            <a:extLst>
              <a:ext uri="{FF2B5EF4-FFF2-40B4-BE49-F238E27FC236}">
                <a16:creationId xmlns:a16="http://schemas.microsoft.com/office/drawing/2014/main" id="{DEA7A644-F235-BB51-C2C8-E1CE325B1F97}"/>
              </a:ext>
            </a:extLst>
          </p:cNvPr>
          <p:cNvSpPr/>
          <p:nvPr/>
        </p:nvSpPr>
        <p:spPr>
          <a:xfrm>
            <a:off x="958453" y="3609122"/>
            <a:ext cx="909594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Governance</a:t>
            </a:r>
          </a:p>
        </p:txBody>
      </p:sp>
      <p:sp>
        <p:nvSpPr>
          <p:cNvPr id="33" name="Arrow: Pentagon 32">
            <a:extLst>
              <a:ext uri="{FF2B5EF4-FFF2-40B4-BE49-F238E27FC236}">
                <a16:creationId xmlns:a16="http://schemas.microsoft.com/office/drawing/2014/main" id="{DB1C7F51-74E2-D55A-56D6-695E99AE61E1}"/>
              </a:ext>
            </a:extLst>
          </p:cNvPr>
          <p:cNvSpPr/>
          <p:nvPr/>
        </p:nvSpPr>
        <p:spPr>
          <a:xfrm>
            <a:off x="1862932" y="6632814"/>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Business Strategy</a:t>
            </a:r>
          </a:p>
        </p:txBody>
      </p:sp>
      <p:sp>
        <p:nvSpPr>
          <p:cNvPr id="35" name="Arrow: Pentagon 34">
            <a:extLst>
              <a:ext uri="{FF2B5EF4-FFF2-40B4-BE49-F238E27FC236}">
                <a16:creationId xmlns:a16="http://schemas.microsoft.com/office/drawing/2014/main" id="{5CB56706-D940-A499-96C7-95D1CE777497}"/>
              </a:ext>
            </a:extLst>
          </p:cNvPr>
          <p:cNvSpPr/>
          <p:nvPr/>
        </p:nvSpPr>
        <p:spPr>
          <a:xfrm>
            <a:off x="1841232" y="8649078"/>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Public Cloud Recommendation</a:t>
            </a:r>
          </a:p>
        </p:txBody>
      </p:sp>
      <p:sp>
        <p:nvSpPr>
          <p:cNvPr id="4" name="Arrow: Pentagon 33">
            <a:extLst>
              <a:ext uri="{FF2B5EF4-FFF2-40B4-BE49-F238E27FC236}">
                <a16:creationId xmlns:a16="http://schemas.microsoft.com/office/drawing/2014/main" id="{E09B958E-99A1-4C84-2FD0-0543CEA075C2}"/>
              </a:ext>
            </a:extLst>
          </p:cNvPr>
          <p:cNvSpPr/>
          <p:nvPr/>
        </p:nvSpPr>
        <p:spPr>
          <a:xfrm>
            <a:off x="1845250" y="763236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Infra &amp; Security Assessment</a:t>
            </a:r>
          </a:p>
        </p:txBody>
      </p:sp>
    </p:spTree>
    <p:extLst>
      <p:ext uri="{BB962C8B-B14F-4D97-AF65-F5344CB8AC3E}">
        <p14:creationId xmlns:p14="http://schemas.microsoft.com/office/powerpoint/2010/main" val="2102493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6FCD-21C8-5969-65EE-03178501240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0ED3138-C58B-9099-47A5-E29757C156ED}"/>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DMG Business Drivers</a:t>
            </a:r>
          </a:p>
        </p:txBody>
      </p:sp>
    </p:spTree>
    <p:extLst>
      <p:ext uri="{BB962C8B-B14F-4D97-AF65-F5344CB8AC3E}">
        <p14:creationId xmlns:p14="http://schemas.microsoft.com/office/powerpoint/2010/main" val="3795709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6E9E-E38E-76BF-FED2-F97DF72CDA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383BC3-0BFC-8FF5-0925-CE77135F0DA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11</a:t>
            </a:fld>
            <a:endParaRPr lang="en-GB" noProof="0"/>
          </a:p>
        </p:txBody>
      </p:sp>
      <p:sp>
        <p:nvSpPr>
          <p:cNvPr id="4" name="TextBox 3">
            <a:extLst>
              <a:ext uri="{FF2B5EF4-FFF2-40B4-BE49-F238E27FC236}">
                <a16:creationId xmlns:a16="http://schemas.microsoft.com/office/drawing/2014/main" id="{B29C3546-B392-CCE0-32E6-F3A79365E69F}"/>
              </a:ext>
            </a:extLst>
          </p:cNvPr>
          <p:cNvSpPr txBox="1"/>
          <p:nvPr/>
        </p:nvSpPr>
        <p:spPr>
          <a:xfrm>
            <a:off x="406009" y="473476"/>
            <a:ext cx="15971039"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Cloud Migration Business Drivers - Summary</a:t>
            </a:r>
          </a:p>
        </p:txBody>
      </p:sp>
      <p:grpSp>
        <p:nvGrpSpPr>
          <p:cNvPr id="96" name="Group 95">
            <a:extLst>
              <a:ext uri="{FF2B5EF4-FFF2-40B4-BE49-F238E27FC236}">
                <a16:creationId xmlns:a16="http://schemas.microsoft.com/office/drawing/2014/main" id="{0B42E0C7-EBFE-F550-0E4A-7490EF7EDE86}"/>
              </a:ext>
            </a:extLst>
          </p:cNvPr>
          <p:cNvGrpSpPr/>
          <p:nvPr/>
        </p:nvGrpSpPr>
        <p:grpSpPr>
          <a:xfrm>
            <a:off x="2738047" y="2976610"/>
            <a:ext cx="19017772" cy="8029597"/>
            <a:chOff x="2738047" y="2976610"/>
            <a:chExt cx="19017772" cy="8029597"/>
          </a:xfrm>
        </p:grpSpPr>
        <p:grpSp>
          <p:nvGrpSpPr>
            <p:cNvPr id="89" name="Group 88">
              <a:extLst>
                <a:ext uri="{FF2B5EF4-FFF2-40B4-BE49-F238E27FC236}">
                  <a16:creationId xmlns:a16="http://schemas.microsoft.com/office/drawing/2014/main" id="{10058904-4447-C0B3-2D5F-EEB0E1EDA3A1}"/>
                </a:ext>
              </a:extLst>
            </p:cNvPr>
            <p:cNvGrpSpPr/>
            <p:nvPr/>
          </p:nvGrpSpPr>
          <p:grpSpPr>
            <a:xfrm>
              <a:off x="2738047" y="2976610"/>
              <a:ext cx="19017772" cy="8029597"/>
              <a:chOff x="2738047" y="2976610"/>
              <a:chExt cx="19017772" cy="8029597"/>
            </a:xfrm>
          </p:grpSpPr>
          <p:sp>
            <p:nvSpPr>
              <p:cNvPr id="90" name="Freeform 89">
                <a:extLst>
                  <a:ext uri="{FF2B5EF4-FFF2-40B4-BE49-F238E27FC236}">
                    <a16:creationId xmlns:a16="http://schemas.microsoft.com/office/drawing/2014/main" id="{B9D2DE4F-6EE1-126E-27C8-6D05B04443A2}"/>
                  </a:ext>
                </a:extLst>
              </p:cNvPr>
              <p:cNvSpPr/>
              <p:nvPr/>
            </p:nvSpPr>
            <p:spPr>
              <a:xfrm>
                <a:off x="2738047" y="3670330"/>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Font typeface="Arial" panose="020B0604020202020204" pitchFamily="34" charset="0"/>
                  <a:buChar char="•"/>
                </a:pPr>
                <a:r>
                  <a:rPr lang="en-GB" sz="4000" kern="1200" noProof="0">
                    <a:latin typeface="Fira Sans" panose="020B0503050000020004" pitchFamily="34" charset="0"/>
                  </a:rPr>
                  <a:t>Reduce complexity to scale operations and delivery speed</a:t>
                </a:r>
                <a:endParaRPr lang="en-GB" sz="4000" kern="1200" noProof="0"/>
              </a:p>
            </p:txBody>
          </p:sp>
          <p:sp>
            <p:nvSpPr>
              <p:cNvPr id="91" name="Freeform 90">
                <a:extLst>
                  <a:ext uri="{FF2B5EF4-FFF2-40B4-BE49-F238E27FC236}">
                    <a16:creationId xmlns:a16="http://schemas.microsoft.com/office/drawing/2014/main" id="{E7AFEF64-7E46-BE26-B412-E38AF5C1AB6C}"/>
                  </a:ext>
                </a:extLst>
              </p:cNvPr>
              <p:cNvSpPr/>
              <p:nvPr/>
            </p:nvSpPr>
            <p:spPr>
              <a:xfrm>
                <a:off x="3688935" y="2976610"/>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1. Standardisation + Simplification</a:t>
                </a:r>
                <a:endParaRPr lang="en-GB" sz="4000" kern="1200" noProof="0"/>
              </a:p>
            </p:txBody>
          </p:sp>
          <p:sp>
            <p:nvSpPr>
              <p:cNvPr id="92" name="Freeform 91">
                <a:extLst>
                  <a:ext uri="{FF2B5EF4-FFF2-40B4-BE49-F238E27FC236}">
                    <a16:creationId xmlns:a16="http://schemas.microsoft.com/office/drawing/2014/main" id="{D48ACF83-F044-A822-9F47-CBD1CD25A28B}"/>
                  </a:ext>
                </a:extLst>
              </p:cNvPr>
              <p:cNvSpPr/>
              <p:nvPr/>
            </p:nvSpPr>
            <p:spPr>
              <a:xfrm>
                <a:off x="2738047" y="6431463"/>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chemeClr val="bg2"/>
                  </a:buClr>
                  <a:buChar char="•"/>
                </a:pPr>
                <a:r>
                  <a:rPr lang="en-GB" sz="4000" kern="1200" noProof="0">
                    <a:latin typeface="Fira Sans" panose="020B0503050000020004" pitchFamily="34" charset="0"/>
                  </a:rPr>
                  <a:t>Remove low value work and create credible savings</a:t>
                </a:r>
              </a:p>
            </p:txBody>
          </p:sp>
          <p:sp>
            <p:nvSpPr>
              <p:cNvPr id="93" name="Freeform 92">
                <a:extLst>
                  <a:ext uri="{FF2B5EF4-FFF2-40B4-BE49-F238E27FC236}">
                    <a16:creationId xmlns:a16="http://schemas.microsoft.com/office/drawing/2014/main" id="{9F5F7E60-472F-EAED-17FC-2A021331DB18}"/>
                  </a:ext>
                </a:extLst>
              </p:cNvPr>
              <p:cNvSpPr/>
              <p:nvPr/>
            </p:nvSpPr>
            <p:spPr>
              <a:xfrm>
                <a:off x="3688935" y="5737743"/>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2. Productivity + Cost Optimisation</a:t>
                </a:r>
                <a:endParaRPr lang="en-GB" sz="4000" kern="1200" noProof="0"/>
              </a:p>
            </p:txBody>
          </p:sp>
          <p:sp>
            <p:nvSpPr>
              <p:cNvPr id="94" name="Freeform 93">
                <a:extLst>
                  <a:ext uri="{FF2B5EF4-FFF2-40B4-BE49-F238E27FC236}">
                    <a16:creationId xmlns:a16="http://schemas.microsoft.com/office/drawing/2014/main" id="{40660303-F59B-8CAC-9872-69DCB5A871FA}"/>
                  </a:ext>
                </a:extLst>
              </p:cNvPr>
              <p:cNvSpPr/>
              <p:nvPr/>
            </p:nvSpPr>
            <p:spPr>
              <a:xfrm>
                <a:off x="2738047" y="9192595"/>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SzTx/>
                  <a:buFont typeface="Arial" panose="020B0604020202020204" pitchFamily="34" charset="0"/>
                  <a:buChar char="•"/>
                </a:pPr>
                <a:r>
                  <a:rPr lang="en-GB" sz="4000" kern="1200" noProof="0">
                    <a:latin typeface="Fira Sans" panose="020B0503050000020004" pitchFamily="34" charset="0"/>
                  </a:rPr>
                  <a:t>Reduce toil and improve customer experience</a:t>
                </a:r>
                <a:endParaRPr lang="en-GB" sz="4000" kern="1200" noProof="0"/>
              </a:p>
            </p:txBody>
          </p:sp>
          <p:sp>
            <p:nvSpPr>
              <p:cNvPr id="95" name="Freeform 94">
                <a:extLst>
                  <a:ext uri="{FF2B5EF4-FFF2-40B4-BE49-F238E27FC236}">
                    <a16:creationId xmlns:a16="http://schemas.microsoft.com/office/drawing/2014/main" id="{09C54406-E5BA-67F0-2A10-A26380053D2F}"/>
                  </a:ext>
                </a:extLst>
              </p:cNvPr>
              <p:cNvSpPr/>
              <p:nvPr/>
            </p:nvSpPr>
            <p:spPr>
              <a:xfrm>
                <a:off x="3688935" y="8498875"/>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3. Automation + Workflow Optimisation</a:t>
                </a:r>
                <a:endParaRPr lang="en-GB" sz="4000" kern="1200" noProof="0"/>
              </a:p>
            </p:txBody>
          </p:sp>
        </p:grpSp>
        <p:grpSp>
          <p:nvGrpSpPr>
            <p:cNvPr id="6" name="Group 5">
              <a:extLst>
                <a:ext uri="{FF2B5EF4-FFF2-40B4-BE49-F238E27FC236}">
                  <a16:creationId xmlns:a16="http://schemas.microsoft.com/office/drawing/2014/main" id="{154818DD-5338-6E04-A119-FB793B13CA49}"/>
                </a:ext>
              </a:extLst>
            </p:cNvPr>
            <p:cNvGrpSpPr>
              <a:grpSpLocks noChangeAspect="1"/>
            </p:cNvGrpSpPr>
            <p:nvPr/>
          </p:nvGrpSpPr>
          <p:grpSpPr>
            <a:xfrm>
              <a:off x="15756890" y="5888757"/>
              <a:ext cx="1115894" cy="1115893"/>
              <a:chOff x="6686254" y="5435946"/>
              <a:chExt cx="781902" cy="781901"/>
            </a:xfrm>
          </p:grpSpPr>
          <p:sp>
            <p:nvSpPr>
              <p:cNvPr id="7" name="Freeform 137">
                <a:extLst>
                  <a:ext uri="{FF2B5EF4-FFF2-40B4-BE49-F238E27FC236}">
                    <a16:creationId xmlns:a16="http://schemas.microsoft.com/office/drawing/2014/main" id="{E009ADF8-5F9B-00D3-53CB-F00257FF9351}"/>
                  </a:ext>
                </a:extLst>
              </p:cNvPr>
              <p:cNvSpPr>
                <a:spLocks noChangeArrowheads="1"/>
              </p:cNvSpPr>
              <p:nvPr/>
            </p:nvSpPr>
            <p:spPr bwMode="auto">
              <a:xfrm>
                <a:off x="6686254" y="5435946"/>
                <a:ext cx="781902" cy="781901"/>
              </a:xfrm>
              <a:custGeom>
                <a:avLst/>
                <a:gdLst>
                  <a:gd name="T0" fmla="*/ 1467 w 1751"/>
                  <a:gd name="T1" fmla="*/ 1750 h 1751"/>
                  <a:gd name="T2" fmla="*/ 1750 w 1751"/>
                  <a:gd name="T3" fmla="*/ 1468 h 1751"/>
                  <a:gd name="T4" fmla="*/ 1750 w 1751"/>
                  <a:gd name="T5" fmla="*/ 283 h 1751"/>
                  <a:gd name="T6" fmla="*/ 1467 w 1751"/>
                  <a:gd name="T7" fmla="*/ 0 h 1751"/>
                  <a:gd name="T8" fmla="*/ 282 w 1751"/>
                  <a:gd name="T9" fmla="*/ 0 h 1751"/>
                  <a:gd name="T10" fmla="*/ 0 w 1751"/>
                  <a:gd name="T11" fmla="*/ 283 h 1751"/>
                  <a:gd name="T12" fmla="*/ 0 w 1751"/>
                  <a:gd name="T13" fmla="*/ 1468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8"/>
                    </a:cubicBezTo>
                    <a:cubicBezTo>
                      <a:pt x="1750" y="1073"/>
                      <a:pt x="1750" y="678"/>
                      <a:pt x="1750" y="283"/>
                    </a:cubicBezTo>
                    <a:cubicBezTo>
                      <a:pt x="1750" y="127"/>
                      <a:pt x="1623" y="0"/>
                      <a:pt x="1467" y="0"/>
                    </a:cubicBezTo>
                    <a:cubicBezTo>
                      <a:pt x="1072" y="0"/>
                      <a:pt x="677" y="0"/>
                      <a:pt x="282" y="0"/>
                    </a:cubicBezTo>
                    <a:cubicBezTo>
                      <a:pt x="127" y="0"/>
                      <a:pt x="0" y="127"/>
                      <a:pt x="0" y="283"/>
                    </a:cubicBezTo>
                    <a:cubicBezTo>
                      <a:pt x="0" y="678"/>
                      <a:pt x="0" y="1073"/>
                      <a:pt x="0" y="1468"/>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 name="Group 7">
                <a:extLst>
                  <a:ext uri="{FF2B5EF4-FFF2-40B4-BE49-F238E27FC236}">
                    <a16:creationId xmlns:a16="http://schemas.microsoft.com/office/drawing/2014/main" id="{9CFE47E8-1DC4-90C2-6C7B-3AA643DB07BD}"/>
                  </a:ext>
                </a:extLst>
              </p:cNvPr>
              <p:cNvGrpSpPr/>
              <p:nvPr/>
            </p:nvGrpSpPr>
            <p:grpSpPr>
              <a:xfrm>
                <a:off x="6826091" y="5573813"/>
                <a:ext cx="504198" cy="504198"/>
                <a:chOff x="6826091" y="5573813"/>
                <a:chExt cx="504198" cy="504198"/>
              </a:xfrm>
            </p:grpSpPr>
            <p:sp>
              <p:nvSpPr>
                <p:cNvPr id="9" name="Freeform 138">
                  <a:extLst>
                    <a:ext uri="{FF2B5EF4-FFF2-40B4-BE49-F238E27FC236}">
                      <a16:creationId xmlns:a16="http://schemas.microsoft.com/office/drawing/2014/main" id="{D4FC09E7-FA0A-1830-91C0-06F14678E344}"/>
                    </a:ext>
                  </a:extLst>
                </p:cNvPr>
                <p:cNvSpPr>
                  <a:spLocks noChangeArrowheads="1"/>
                </p:cNvSpPr>
                <p:nvPr/>
              </p:nvSpPr>
              <p:spPr bwMode="auto">
                <a:xfrm>
                  <a:off x="6826091" y="5573813"/>
                  <a:ext cx="504198" cy="504198"/>
                </a:xfrm>
                <a:custGeom>
                  <a:avLst/>
                  <a:gdLst>
                    <a:gd name="T0" fmla="*/ 1129 w 1130"/>
                    <a:gd name="T1" fmla="*/ 564 h 1130"/>
                    <a:gd name="T2" fmla="*/ 1054 w 1130"/>
                    <a:gd name="T3" fmla="*/ 846 h 1130"/>
                    <a:gd name="T4" fmla="*/ 847 w 1130"/>
                    <a:gd name="T5" fmla="*/ 1053 h 1130"/>
                    <a:gd name="T6" fmla="*/ 565 w 1130"/>
                    <a:gd name="T7" fmla="*/ 1129 h 1130"/>
                    <a:gd name="T8" fmla="*/ 283 w 1130"/>
                    <a:gd name="T9" fmla="*/ 1053 h 1130"/>
                    <a:gd name="T10" fmla="*/ 76 w 1130"/>
                    <a:gd name="T11" fmla="*/ 846 h 1130"/>
                    <a:gd name="T12" fmla="*/ 0 w 1130"/>
                    <a:gd name="T13" fmla="*/ 564 h 1130"/>
                    <a:gd name="T14" fmla="*/ 76 w 1130"/>
                    <a:gd name="T15" fmla="*/ 282 h 1130"/>
                    <a:gd name="T16" fmla="*/ 283 w 1130"/>
                    <a:gd name="T17" fmla="*/ 75 h 1130"/>
                    <a:gd name="T18" fmla="*/ 565 w 1130"/>
                    <a:gd name="T19" fmla="*/ 0 h 1130"/>
                    <a:gd name="T20" fmla="*/ 847 w 1130"/>
                    <a:gd name="T21" fmla="*/ 75 h 1130"/>
                    <a:gd name="T22" fmla="*/ 1054 w 1130"/>
                    <a:gd name="T23" fmla="*/ 282 h 1130"/>
                    <a:gd name="T24" fmla="*/ 1129 w 1130"/>
                    <a:gd name="T25" fmla="*/ 564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0" h="1130">
                      <a:moveTo>
                        <a:pt x="1129" y="564"/>
                      </a:moveTo>
                      <a:cubicBezTo>
                        <a:pt x="1129" y="668"/>
                        <a:pt x="1106" y="756"/>
                        <a:pt x="1054" y="846"/>
                      </a:cubicBezTo>
                      <a:cubicBezTo>
                        <a:pt x="1002" y="936"/>
                        <a:pt x="937" y="1001"/>
                        <a:pt x="847" y="1053"/>
                      </a:cubicBezTo>
                      <a:cubicBezTo>
                        <a:pt x="757" y="1105"/>
                        <a:pt x="669" y="1129"/>
                        <a:pt x="565" y="1129"/>
                      </a:cubicBezTo>
                      <a:cubicBezTo>
                        <a:pt x="461" y="1129"/>
                        <a:pt x="373" y="1105"/>
                        <a:pt x="283" y="1053"/>
                      </a:cubicBezTo>
                      <a:cubicBezTo>
                        <a:pt x="193" y="1001"/>
                        <a:pt x="128" y="936"/>
                        <a:pt x="76" y="846"/>
                      </a:cubicBezTo>
                      <a:cubicBezTo>
                        <a:pt x="24" y="756"/>
                        <a:pt x="0" y="668"/>
                        <a:pt x="0" y="564"/>
                      </a:cubicBezTo>
                      <a:cubicBezTo>
                        <a:pt x="0" y="460"/>
                        <a:pt x="24" y="372"/>
                        <a:pt x="76" y="282"/>
                      </a:cubicBezTo>
                      <a:cubicBezTo>
                        <a:pt x="128" y="192"/>
                        <a:pt x="193" y="127"/>
                        <a:pt x="283" y="75"/>
                      </a:cubicBezTo>
                      <a:cubicBezTo>
                        <a:pt x="373" y="24"/>
                        <a:pt x="461" y="0"/>
                        <a:pt x="565" y="0"/>
                      </a:cubicBezTo>
                      <a:cubicBezTo>
                        <a:pt x="669" y="0"/>
                        <a:pt x="757" y="24"/>
                        <a:pt x="847" y="75"/>
                      </a:cubicBezTo>
                      <a:cubicBezTo>
                        <a:pt x="937" y="127"/>
                        <a:pt x="1002" y="192"/>
                        <a:pt x="1054" y="282"/>
                      </a:cubicBezTo>
                      <a:cubicBezTo>
                        <a:pt x="1106" y="372"/>
                        <a:pt x="1129" y="460"/>
                        <a:pt x="1129" y="56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0" name="Freeform 139">
                  <a:extLst>
                    <a:ext uri="{FF2B5EF4-FFF2-40B4-BE49-F238E27FC236}">
                      <a16:creationId xmlns:a16="http://schemas.microsoft.com/office/drawing/2014/main" id="{715C8BFB-C832-9073-182A-25DB41E23BB7}"/>
                    </a:ext>
                  </a:extLst>
                </p:cNvPr>
                <p:cNvSpPr>
                  <a:spLocks noChangeArrowheads="1"/>
                </p:cNvSpPr>
                <p:nvPr/>
              </p:nvSpPr>
              <p:spPr bwMode="auto">
                <a:xfrm>
                  <a:off x="6875328" y="5625020"/>
                  <a:ext cx="403753" cy="403752"/>
                </a:xfrm>
                <a:custGeom>
                  <a:avLst/>
                  <a:gdLst>
                    <a:gd name="T0" fmla="*/ 903 w 904"/>
                    <a:gd name="T1" fmla="*/ 451 h 904"/>
                    <a:gd name="T2" fmla="*/ 843 w 904"/>
                    <a:gd name="T3" fmla="*/ 677 h 904"/>
                    <a:gd name="T4" fmla="*/ 678 w 904"/>
                    <a:gd name="T5" fmla="*/ 842 h 904"/>
                    <a:gd name="T6" fmla="*/ 452 w 904"/>
                    <a:gd name="T7" fmla="*/ 903 h 904"/>
                    <a:gd name="T8" fmla="*/ 226 w 904"/>
                    <a:gd name="T9" fmla="*/ 842 h 904"/>
                    <a:gd name="T10" fmla="*/ 61 w 904"/>
                    <a:gd name="T11" fmla="*/ 677 h 904"/>
                    <a:gd name="T12" fmla="*/ 0 w 904"/>
                    <a:gd name="T13" fmla="*/ 451 h 904"/>
                    <a:gd name="T14" fmla="*/ 61 w 904"/>
                    <a:gd name="T15" fmla="*/ 226 h 904"/>
                    <a:gd name="T16" fmla="*/ 226 w 904"/>
                    <a:gd name="T17" fmla="*/ 60 h 904"/>
                    <a:gd name="T18" fmla="*/ 452 w 904"/>
                    <a:gd name="T19" fmla="*/ 0 h 904"/>
                    <a:gd name="T20" fmla="*/ 678 w 904"/>
                    <a:gd name="T21" fmla="*/ 60 h 904"/>
                    <a:gd name="T22" fmla="*/ 843 w 904"/>
                    <a:gd name="T23" fmla="*/ 226 h 904"/>
                    <a:gd name="T24" fmla="*/ 903 w 904"/>
                    <a:gd name="T25" fmla="*/ 451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4" h="904">
                      <a:moveTo>
                        <a:pt x="903" y="451"/>
                      </a:moveTo>
                      <a:cubicBezTo>
                        <a:pt x="903" y="534"/>
                        <a:pt x="885" y="605"/>
                        <a:pt x="843" y="677"/>
                      </a:cubicBezTo>
                      <a:cubicBezTo>
                        <a:pt x="802" y="749"/>
                        <a:pt x="750" y="801"/>
                        <a:pt x="678" y="842"/>
                      </a:cubicBezTo>
                      <a:cubicBezTo>
                        <a:pt x="606" y="884"/>
                        <a:pt x="535" y="903"/>
                        <a:pt x="452" y="903"/>
                      </a:cubicBezTo>
                      <a:cubicBezTo>
                        <a:pt x="369" y="903"/>
                        <a:pt x="298" y="884"/>
                        <a:pt x="226" y="842"/>
                      </a:cubicBezTo>
                      <a:cubicBezTo>
                        <a:pt x="154" y="801"/>
                        <a:pt x="103" y="749"/>
                        <a:pt x="61" y="677"/>
                      </a:cubicBezTo>
                      <a:cubicBezTo>
                        <a:pt x="20" y="605"/>
                        <a:pt x="0" y="534"/>
                        <a:pt x="0" y="451"/>
                      </a:cubicBezTo>
                      <a:cubicBezTo>
                        <a:pt x="0" y="368"/>
                        <a:pt x="20" y="298"/>
                        <a:pt x="61" y="226"/>
                      </a:cubicBezTo>
                      <a:cubicBezTo>
                        <a:pt x="103" y="154"/>
                        <a:pt x="154" y="102"/>
                        <a:pt x="226" y="60"/>
                      </a:cubicBezTo>
                      <a:cubicBezTo>
                        <a:pt x="298" y="19"/>
                        <a:pt x="369" y="0"/>
                        <a:pt x="452" y="0"/>
                      </a:cubicBezTo>
                      <a:cubicBezTo>
                        <a:pt x="535" y="0"/>
                        <a:pt x="606" y="19"/>
                        <a:pt x="678" y="60"/>
                      </a:cubicBezTo>
                      <a:cubicBezTo>
                        <a:pt x="750" y="102"/>
                        <a:pt x="802" y="154"/>
                        <a:pt x="843" y="226"/>
                      </a:cubicBezTo>
                      <a:cubicBezTo>
                        <a:pt x="885" y="298"/>
                        <a:pt x="903" y="368"/>
                        <a:pt x="903" y="45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1" name="Freeform 140">
                  <a:extLst>
                    <a:ext uri="{FF2B5EF4-FFF2-40B4-BE49-F238E27FC236}">
                      <a16:creationId xmlns:a16="http://schemas.microsoft.com/office/drawing/2014/main" id="{FE7C522C-C6FC-0640-349E-FC67928B98C5}"/>
                    </a:ext>
                  </a:extLst>
                </p:cNvPr>
                <p:cNvSpPr>
                  <a:spLocks noChangeArrowheads="1"/>
                </p:cNvSpPr>
                <p:nvPr/>
              </p:nvSpPr>
              <p:spPr bwMode="auto">
                <a:xfrm>
                  <a:off x="7011226" y="5825912"/>
                  <a:ext cx="76811" cy="1969"/>
                </a:xfrm>
                <a:custGeom>
                  <a:avLst/>
                  <a:gdLst>
                    <a:gd name="T0" fmla="*/ 0 w 171"/>
                    <a:gd name="T1" fmla="*/ 0 h 1"/>
                    <a:gd name="T2" fmla="*/ 170 w 171"/>
                    <a:gd name="T3" fmla="*/ 0 h 1"/>
                  </a:gdLst>
                  <a:ahLst/>
                  <a:cxnLst>
                    <a:cxn ang="0">
                      <a:pos x="T0" y="T1"/>
                    </a:cxn>
                    <a:cxn ang="0">
                      <a:pos x="T2" y="T3"/>
                    </a:cxn>
                  </a:cxnLst>
                  <a:rect l="0" t="0" r="r" b="b"/>
                  <a:pathLst>
                    <a:path w="171" h="1">
                      <a:moveTo>
                        <a:pt x="0" y="0"/>
                      </a:moveTo>
                      <a:cubicBezTo>
                        <a:pt x="57" y="0"/>
                        <a:pt x="114" y="0"/>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2" name="Freeform 141">
                  <a:extLst>
                    <a:ext uri="{FF2B5EF4-FFF2-40B4-BE49-F238E27FC236}">
                      <a16:creationId xmlns:a16="http://schemas.microsoft.com/office/drawing/2014/main" id="{88FEBB9D-075B-3BFA-654B-9BE3630C45D0}"/>
                    </a:ext>
                  </a:extLst>
                </p:cNvPr>
                <p:cNvSpPr>
                  <a:spLocks noChangeArrowheads="1"/>
                </p:cNvSpPr>
                <p:nvPr/>
              </p:nvSpPr>
              <p:spPr bwMode="auto">
                <a:xfrm>
                  <a:off x="7011226" y="5725466"/>
                  <a:ext cx="131958" cy="202862"/>
                </a:xfrm>
                <a:custGeom>
                  <a:avLst/>
                  <a:gdLst>
                    <a:gd name="T0" fmla="*/ 293 w 294"/>
                    <a:gd name="T1" fmla="*/ 451 h 452"/>
                    <a:gd name="T2" fmla="*/ 8 w 294"/>
                    <a:gd name="T3" fmla="*/ 451 h 452"/>
                    <a:gd name="T4" fmla="*/ 1 w 294"/>
                    <a:gd name="T5" fmla="*/ 446 h 452"/>
                    <a:gd name="T6" fmla="*/ 3 w 294"/>
                    <a:gd name="T7" fmla="*/ 438 h 452"/>
                    <a:gd name="T8" fmla="*/ 65 w 294"/>
                    <a:gd name="T9" fmla="*/ 322 h 452"/>
                    <a:gd name="T10" fmla="*/ 47 w 294"/>
                    <a:gd name="T11" fmla="*/ 144 h 452"/>
                    <a:gd name="T12" fmla="*/ 186 w 294"/>
                    <a:gd name="T13" fmla="*/ 0 h 452"/>
                    <a:gd name="T14" fmla="*/ 265 w 294"/>
                    <a:gd name="T15" fmla="*/ 18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452">
                      <a:moveTo>
                        <a:pt x="293" y="451"/>
                      </a:moveTo>
                      <a:cubicBezTo>
                        <a:pt x="198" y="451"/>
                        <a:pt x="103" y="451"/>
                        <a:pt x="8" y="451"/>
                      </a:cubicBezTo>
                      <a:cubicBezTo>
                        <a:pt x="4" y="451"/>
                        <a:pt x="2" y="449"/>
                        <a:pt x="1" y="446"/>
                      </a:cubicBezTo>
                      <a:cubicBezTo>
                        <a:pt x="0" y="443"/>
                        <a:pt x="1" y="440"/>
                        <a:pt x="3" y="438"/>
                      </a:cubicBezTo>
                      <a:cubicBezTo>
                        <a:pt x="41" y="411"/>
                        <a:pt x="65" y="369"/>
                        <a:pt x="65" y="322"/>
                      </a:cubicBezTo>
                      <a:cubicBezTo>
                        <a:pt x="65" y="260"/>
                        <a:pt x="47" y="206"/>
                        <a:pt x="47" y="144"/>
                      </a:cubicBezTo>
                      <a:cubicBezTo>
                        <a:pt x="47" y="56"/>
                        <a:pt x="105" y="0"/>
                        <a:pt x="186" y="0"/>
                      </a:cubicBezTo>
                      <a:cubicBezTo>
                        <a:pt x="224" y="0"/>
                        <a:pt x="250" y="8"/>
                        <a:pt x="265" y="1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3" name="Group 2">
              <a:extLst>
                <a:ext uri="{FF2B5EF4-FFF2-40B4-BE49-F238E27FC236}">
                  <a16:creationId xmlns:a16="http://schemas.microsoft.com/office/drawing/2014/main" id="{F860F2BE-BCEE-45D0-B239-65B509393882}"/>
                </a:ext>
              </a:extLst>
            </p:cNvPr>
            <p:cNvGrpSpPr>
              <a:grpSpLocks noChangeAspect="1"/>
            </p:cNvGrpSpPr>
            <p:nvPr/>
          </p:nvGrpSpPr>
          <p:grpSpPr>
            <a:xfrm>
              <a:off x="15756889" y="8636418"/>
              <a:ext cx="1115894" cy="1115894"/>
              <a:chOff x="2755083" y="533799"/>
              <a:chExt cx="781902" cy="781902"/>
            </a:xfrm>
          </p:grpSpPr>
          <p:grpSp>
            <p:nvGrpSpPr>
              <p:cNvPr id="13" name="Group 12">
                <a:extLst>
                  <a:ext uri="{FF2B5EF4-FFF2-40B4-BE49-F238E27FC236}">
                    <a16:creationId xmlns:a16="http://schemas.microsoft.com/office/drawing/2014/main" id="{CDD8BDFD-E4A9-4780-C319-7414C7069915}"/>
                  </a:ext>
                </a:extLst>
              </p:cNvPr>
              <p:cNvGrpSpPr/>
              <p:nvPr/>
            </p:nvGrpSpPr>
            <p:grpSpPr>
              <a:xfrm>
                <a:off x="2892949" y="671665"/>
                <a:ext cx="504198" cy="504198"/>
                <a:chOff x="2892949" y="671665"/>
                <a:chExt cx="504198" cy="504198"/>
              </a:xfrm>
            </p:grpSpPr>
            <p:sp>
              <p:nvSpPr>
                <p:cNvPr id="15" name="Freeform 49">
                  <a:extLst>
                    <a:ext uri="{FF2B5EF4-FFF2-40B4-BE49-F238E27FC236}">
                      <a16:creationId xmlns:a16="http://schemas.microsoft.com/office/drawing/2014/main" id="{7293806C-9FB0-BC48-A577-A950F0F0F9E7}"/>
                    </a:ext>
                  </a:extLst>
                </p:cNvPr>
                <p:cNvSpPr>
                  <a:spLocks noChangeArrowheads="1"/>
                </p:cNvSpPr>
                <p:nvPr/>
              </p:nvSpPr>
              <p:spPr bwMode="auto">
                <a:xfrm>
                  <a:off x="2892949" y="671665"/>
                  <a:ext cx="504198" cy="504198"/>
                </a:xfrm>
                <a:custGeom>
                  <a:avLst/>
                  <a:gdLst>
                    <a:gd name="T0" fmla="*/ 502 w 1130"/>
                    <a:gd name="T1" fmla="*/ 74 h 1130"/>
                    <a:gd name="T2" fmla="*/ 565 w 1130"/>
                    <a:gd name="T3" fmla="*/ 0 h 1130"/>
                    <a:gd name="T4" fmla="*/ 627 w 1130"/>
                    <a:gd name="T5" fmla="*/ 74 h 1130"/>
                    <a:gd name="T6" fmla="*/ 756 w 1130"/>
                    <a:gd name="T7" fmla="*/ 109 h 1130"/>
                    <a:gd name="T8" fmla="*/ 847 w 1130"/>
                    <a:gd name="T9" fmla="*/ 76 h 1130"/>
                    <a:gd name="T10" fmla="*/ 864 w 1130"/>
                    <a:gd name="T11" fmla="*/ 171 h 1130"/>
                    <a:gd name="T12" fmla="*/ 958 w 1130"/>
                    <a:gd name="T13" fmla="*/ 265 h 1130"/>
                    <a:gd name="T14" fmla="*/ 1053 w 1130"/>
                    <a:gd name="T15" fmla="*/ 283 h 1130"/>
                    <a:gd name="T16" fmla="*/ 1021 w 1130"/>
                    <a:gd name="T17" fmla="*/ 374 h 1130"/>
                    <a:gd name="T18" fmla="*/ 1055 w 1130"/>
                    <a:gd name="T19" fmla="*/ 502 h 1130"/>
                    <a:gd name="T20" fmla="*/ 1129 w 1130"/>
                    <a:gd name="T21" fmla="*/ 565 h 1130"/>
                    <a:gd name="T22" fmla="*/ 1055 w 1130"/>
                    <a:gd name="T23" fmla="*/ 627 h 1130"/>
                    <a:gd name="T24" fmla="*/ 1021 w 1130"/>
                    <a:gd name="T25" fmla="*/ 756 h 1130"/>
                    <a:gd name="T26" fmla="*/ 1053 w 1130"/>
                    <a:gd name="T27" fmla="*/ 847 h 1130"/>
                    <a:gd name="T28" fmla="*/ 958 w 1130"/>
                    <a:gd name="T29" fmla="*/ 864 h 1130"/>
                    <a:gd name="T30" fmla="*/ 864 w 1130"/>
                    <a:gd name="T31" fmla="*/ 958 h 1130"/>
                    <a:gd name="T32" fmla="*/ 847 w 1130"/>
                    <a:gd name="T33" fmla="*/ 1054 h 1130"/>
                    <a:gd name="T34" fmla="*/ 756 w 1130"/>
                    <a:gd name="T35" fmla="*/ 1021 h 1130"/>
                    <a:gd name="T36" fmla="*/ 627 w 1130"/>
                    <a:gd name="T37" fmla="*/ 1055 h 1130"/>
                    <a:gd name="T38" fmla="*/ 565 w 1130"/>
                    <a:gd name="T39" fmla="*/ 1129 h 1130"/>
                    <a:gd name="T40" fmla="*/ 502 w 1130"/>
                    <a:gd name="T41" fmla="*/ 1055 h 1130"/>
                    <a:gd name="T42" fmla="*/ 374 w 1130"/>
                    <a:gd name="T43" fmla="*/ 1021 h 1130"/>
                    <a:gd name="T44" fmla="*/ 282 w 1130"/>
                    <a:gd name="T45" fmla="*/ 1054 h 1130"/>
                    <a:gd name="T46" fmla="*/ 265 w 1130"/>
                    <a:gd name="T47" fmla="*/ 958 h 1130"/>
                    <a:gd name="T48" fmla="*/ 171 w 1130"/>
                    <a:gd name="T49" fmla="*/ 864 h 1130"/>
                    <a:gd name="T50" fmla="*/ 76 w 1130"/>
                    <a:gd name="T51" fmla="*/ 847 h 1130"/>
                    <a:gd name="T52" fmla="*/ 109 w 1130"/>
                    <a:gd name="T53" fmla="*/ 756 h 1130"/>
                    <a:gd name="T54" fmla="*/ 74 w 1130"/>
                    <a:gd name="T55" fmla="*/ 627 h 1130"/>
                    <a:gd name="T56" fmla="*/ 0 w 1130"/>
                    <a:gd name="T57" fmla="*/ 565 h 1130"/>
                    <a:gd name="T58" fmla="*/ 74 w 1130"/>
                    <a:gd name="T59" fmla="*/ 502 h 1130"/>
                    <a:gd name="T60" fmla="*/ 109 w 1130"/>
                    <a:gd name="T61" fmla="*/ 374 h 1130"/>
                    <a:gd name="T62" fmla="*/ 76 w 1130"/>
                    <a:gd name="T63" fmla="*/ 283 h 1130"/>
                    <a:gd name="T64" fmla="*/ 171 w 1130"/>
                    <a:gd name="T65" fmla="*/ 265 h 1130"/>
                    <a:gd name="T66" fmla="*/ 265 w 1130"/>
                    <a:gd name="T67" fmla="*/ 171 h 1130"/>
                    <a:gd name="T68" fmla="*/ 282 w 1130"/>
                    <a:gd name="T69" fmla="*/ 76 h 1130"/>
                    <a:gd name="T70" fmla="*/ 374 w 1130"/>
                    <a:gd name="T71" fmla="*/ 109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30">
                      <a:moveTo>
                        <a:pt x="451" y="141"/>
                      </a:moveTo>
                      <a:cubicBezTo>
                        <a:pt x="482" y="132"/>
                        <a:pt x="502" y="105"/>
                        <a:pt x="502" y="74"/>
                      </a:cubicBezTo>
                      <a:cubicBezTo>
                        <a:pt x="502" y="70"/>
                        <a:pt x="502" y="67"/>
                        <a:pt x="502" y="63"/>
                      </a:cubicBezTo>
                      <a:cubicBezTo>
                        <a:pt x="502" y="28"/>
                        <a:pt x="530" y="0"/>
                        <a:pt x="565" y="0"/>
                      </a:cubicBezTo>
                      <a:cubicBezTo>
                        <a:pt x="599" y="0"/>
                        <a:pt x="627" y="28"/>
                        <a:pt x="627" y="63"/>
                      </a:cubicBezTo>
                      <a:cubicBezTo>
                        <a:pt x="627" y="67"/>
                        <a:pt x="627" y="70"/>
                        <a:pt x="627" y="74"/>
                      </a:cubicBezTo>
                      <a:cubicBezTo>
                        <a:pt x="627" y="105"/>
                        <a:pt x="648" y="132"/>
                        <a:pt x="678" y="141"/>
                      </a:cubicBezTo>
                      <a:cubicBezTo>
                        <a:pt x="709" y="149"/>
                        <a:pt x="740" y="135"/>
                        <a:pt x="756" y="109"/>
                      </a:cubicBezTo>
                      <a:cubicBezTo>
                        <a:pt x="757" y="105"/>
                        <a:pt x="759" y="102"/>
                        <a:pt x="761" y="99"/>
                      </a:cubicBezTo>
                      <a:cubicBezTo>
                        <a:pt x="778" y="69"/>
                        <a:pt x="817" y="59"/>
                        <a:pt x="847" y="76"/>
                      </a:cubicBezTo>
                      <a:cubicBezTo>
                        <a:pt x="877" y="93"/>
                        <a:pt x="887" y="132"/>
                        <a:pt x="870" y="162"/>
                      </a:cubicBezTo>
                      <a:cubicBezTo>
                        <a:pt x="868" y="165"/>
                        <a:pt x="866" y="168"/>
                        <a:pt x="864" y="171"/>
                      </a:cubicBezTo>
                      <a:cubicBezTo>
                        <a:pt x="849" y="198"/>
                        <a:pt x="853" y="232"/>
                        <a:pt x="875" y="254"/>
                      </a:cubicBezTo>
                      <a:cubicBezTo>
                        <a:pt x="898" y="277"/>
                        <a:pt x="932" y="280"/>
                        <a:pt x="958" y="265"/>
                      </a:cubicBezTo>
                      <a:cubicBezTo>
                        <a:pt x="961" y="263"/>
                        <a:pt x="964" y="262"/>
                        <a:pt x="968" y="260"/>
                      </a:cubicBezTo>
                      <a:cubicBezTo>
                        <a:pt x="998" y="242"/>
                        <a:pt x="1036" y="253"/>
                        <a:pt x="1053" y="283"/>
                      </a:cubicBezTo>
                      <a:cubicBezTo>
                        <a:pt x="1071" y="312"/>
                        <a:pt x="1060" y="351"/>
                        <a:pt x="1030" y="368"/>
                      </a:cubicBezTo>
                      <a:cubicBezTo>
                        <a:pt x="1027" y="370"/>
                        <a:pt x="1024" y="372"/>
                        <a:pt x="1021" y="374"/>
                      </a:cubicBezTo>
                      <a:cubicBezTo>
                        <a:pt x="994" y="389"/>
                        <a:pt x="980" y="420"/>
                        <a:pt x="989" y="451"/>
                      </a:cubicBezTo>
                      <a:cubicBezTo>
                        <a:pt x="997" y="482"/>
                        <a:pt x="1025" y="502"/>
                        <a:pt x="1055" y="502"/>
                      </a:cubicBezTo>
                      <a:cubicBezTo>
                        <a:pt x="1059" y="502"/>
                        <a:pt x="1062" y="502"/>
                        <a:pt x="1066" y="502"/>
                      </a:cubicBezTo>
                      <a:cubicBezTo>
                        <a:pt x="1101" y="502"/>
                        <a:pt x="1129" y="530"/>
                        <a:pt x="1129" y="565"/>
                      </a:cubicBezTo>
                      <a:cubicBezTo>
                        <a:pt x="1129" y="599"/>
                        <a:pt x="1101" y="627"/>
                        <a:pt x="1066" y="627"/>
                      </a:cubicBezTo>
                      <a:cubicBezTo>
                        <a:pt x="1062" y="627"/>
                        <a:pt x="1059" y="627"/>
                        <a:pt x="1055" y="627"/>
                      </a:cubicBezTo>
                      <a:cubicBezTo>
                        <a:pt x="1025" y="627"/>
                        <a:pt x="997" y="648"/>
                        <a:pt x="989" y="678"/>
                      </a:cubicBezTo>
                      <a:cubicBezTo>
                        <a:pt x="980" y="709"/>
                        <a:pt x="994" y="740"/>
                        <a:pt x="1021" y="756"/>
                      </a:cubicBezTo>
                      <a:cubicBezTo>
                        <a:pt x="1024" y="758"/>
                        <a:pt x="1027" y="759"/>
                        <a:pt x="1030" y="761"/>
                      </a:cubicBezTo>
                      <a:cubicBezTo>
                        <a:pt x="1060" y="779"/>
                        <a:pt x="1070" y="817"/>
                        <a:pt x="1053" y="847"/>
                      </a:cubicBezTo>
                      <a:cubicBezTo>
                        <a:pt x="1035" y="877"/>
                        <a:pt x="998" y="887"/>
                        <a:pt x="968" y="870"/>
                      </a:cubicBezTo>
                      <a:cubicBezTo>
                        <a:pt x="964" y="868"/>
                        <a:pt x="961" y="866"/>
                        <a:pt x="958" y="864"/>
                      </a:cubicBezTo>
                      <a:cubicBezTo>
                        <a:pt x="932" y="849"/>
                        <a:pt x="898" y="853"/>
                        <a:pt x="875" y="875"/>
                      </a:cubicBezTo>
                      <a:cubicBezTo>
                        <a:pt x="853" y="898"/>
                        <a:pt x="849" y="932"/>
                        <a:pt x="864" y="958"/>
                      </a:cubicBezTo>
                      <a:cubicBezTo>
                        <a:pt x="866" y="961"/>
                        <a:pt x="868" y="964"/>
                        <a:pt x="870" y="968"/>
                      </a:cubicBezTo>
                      <a:cubicBezTo>
                        <a:pt x="887" y="998"/>
                        <a:pt x="877" y="1036"/>
                        <a:pt x="847" y="1054"/>
                      </a:cubicBezTo>
                      <a:cubicBezTo>
                        <a:pt x="817" y="1071"/>
                        <a:pt x="778" y="1060"/>
                        <a:pt x="761" y="1031"/>
                      </a:cubicBezTo>
                      <a:cubicBezTo>
                        <a:pt x="759" y="1027"/>
                        <a:pt x="757" y="1024"/>
                        <a:pt x="756" y="1021"/>
                      </a:cubicBezTo>
                      <a:cubicBezTo>
                        <a:pt x="740" y="994"/>
                        <a:pt x="709" y="981"/>
                        <a:pt x="678" y="989"/>
                      </a:cubicBezTo>
                      <a:cubicBezTo>
                        <a:pt x="648" y="997"/>
                        <a:pt x="627" y="1025"/>
                        <a:pt x="627" y="1055"/>
                      </a:cubicBezTo>
                      <a:cubicBezTo>
                        <a:pt x="627" y="1059"/>
                        <a:pt x="627" y="1062"/>
                        <a:pt x="627" y="1066"/>
                      </a:cubicBezTo>
                      <a:cubicBezTo>
                        <a:pt x="627" y="1101"/>
                        <a:pt x="599" y="1129"/>
                        <a:pt x="565" y="1129"/>
                      </a:cubicBezTo>
                      <a:cubicBezTo>
                        <a:pt x="530" y="1129"/>
                        <a:pt x="502" y="1101"/>
                        <a:pt x="502" y="1066"/>
                      </a:cubicBezTo>
                      <a:cubicBezTo>
                        <a:pt x="502" y="1062"/>
                        <a:pt x="502" y="1059"/>
                        <a:pt x="502" y="1055"/>
                      </a:cubicBezTo>
                      <a:cubicBezTo>
                        <a:pt x="502" y="1025"/>
                        <a:pt x="482" y="997"/>
                        <a:pt x="451" y="989"/>
                      </a:cubicBezTo>
                      <a:cubicBezTo>
                        <a:pt x="420" y="981"/>
                        <a:pt x="389" y="994"/>
                        <a:pt x="374" y="1021"/>
                      </a:cubicBezTo>
                      <a:cubicBezTo>
                        <a:pt x="372" y="1024"/>
                        <a:pt x="370" y="1027"/>
                        <a:pt x="368" y="1031"/>
                      </a:cubicBezTo>
                      <a:cubicBezTo>
                        <a:pt x="351" y="1060"/>
                        <a:pt x="312" y="1071"/>
                        <a:pt x="282" y="1054"/>
                      </a:cubicBezTo>
                      <a:cubicBezTo>
                        <a:pt x="252" y="1036"/>
                        <a:pt x="242" y="998"/>
                        <a:pt x="259" y="968"/>
                      </a:cubicBezTo>
                      <a:cubicBezTo>
                        <a:pt x="261" y="964"/>
                        <a:pt x="263" y="961"/>
                        <a:pt x="265" y="958"/>
                      </a:cubicBezTo>
                      <a:cubicBezTo>
                        <a:pt x="280" y="932"/>
                        <a:pt x="277" y="898"/>
                        <a:pt x="254" y="875"/>
                      </a:cubicBezTo>
                      <a:cubicBezTo>
                        <a:pt x="232" y="853"/>
                        <a:pt x="198" y="849"/>
                        <a:pt x="171" y="864"/>
                      </a:cubicBezTo>
                      <a:cubicBezTo>
                        <a:pt x="168" y="866"/>
                        <a:pt x="165" y="868"/>
                        <a:pt x="162" y="870"/>
                      </a:cubicBezTo>
                      <a:cubicBezTo>
                        <a:pt x="132" y="887"/>
                        <a:pt x="93" y="877"/>
                        <a:pt x="76" y="847"/>
                      </a:cubicBezTo>
                      <a:cubicBezTo>
                        <a:pt x="59" y="817"/>
                        <a:pt x="69" y="779"/>
                        <a:pt x="99" y="761"/>
                      </a:cubicBezTo>
                      <a:cubicBezTo>
                        <a:pt x="102" y="759"/>
                        <a:pt x="105" y="758"/>
                        <a:pt x="109" y="756"/>
                      </a:cubicBezTo>
                      <a:cubicBezTo>
                        <a:pt x="135" y="740"/>
                        <a:pt x="149" y="709"/>
                        <a:pt x="141" y="678"/>
                      </a:cubicBezTo>
                      <a:cubicBezTo>
                        <a:pt x="132" y="648"/>
                        <a:pt x="105" y="627"/>
                        <a:pt x="74" y="627"/>
                      </a:cubicBezTo>
                      <a:cubicBezTo>
                        <a:pt x="70" y="627"/>
                        <a:pt x="67" y="627"/>
                        <a:pt x="63" y="627"/>
                      </a:cubicBezTo>
                      <a:cubicBezTo>
                        <a:pt x="28" y="627"/>
                        <a:pt x="0" y="599"/>
                        <a:pt x="0" y="565"/>
                      </a:cubicBezTo>
                      <a:cubicBezTo>
                        <a:pt x="0" y="530"/>
                        <a:pt x="28" y="502"/>
                        <a:pt x="63" y="502"/>
                      </a:cubicBezTo>
                      <a:cubicBezTo>
                        <a:pt x="67" y="502"/>
                        <a:pt x="70" y="502"/>
                        <a:pt x="74" y="502"/>
                      </a:cubicBezTo>
                      <a:cubicBezTo>
                        <a:pt x="105" y="502"/>
                        <a:pt x="132" y="482"/>
                        <a:pt x="141" y="451"/>
                      </a:cubicBezTo>
                      <a:cubicBezTo>
                        <a:pt x="149" y="420"/>
                        <a:pt x="135" y="389"/>
                        <a:pt x="109" y="374"/>
                      </a:cubicBezTo>
                      <a:cubicBezTo>
                        <a:pt x="105" y="372"/>
                        <a:pt x="102" y="370"/>
                        <a:pt x="99" y="368"/>
                      </a:cubicBezTo>
                      <a:cubicBezTo>
                        <a:pt x="69" y="351"/>
                        <a:pt x="59" y="312"/>
                        <a:pt x="76" y="283"/>
                      </a:cubicBezTo>
                      <a:cubicBezTo>
                        <a:pt x="93" y="253"/>
                        <a:pt x="132" y="242"/>
                        <a:pt x="162" y="260"/>
                      </a:cubicBezTo>
                      <a:cubicBezTo>
                        <a:pt x="165" y="262"/>
                        <a:pt x="168" y="263"/>
                        <a:pt x="171" y="265"/>
                      </a:cubicBezTo>
                      <a:cubicBezTo>
                        <a:pt x="198" y="280"/>
                        <a:pt x="232" y="277"/>
                        <a:pt x="254" y="254"/>
                      </a:cubicBezTo>
                      <a:cubicBezTo>
                        <a:pt x="277" y="232"/>
                        <a:pt x="280" y="198"/>
                        <a:pt x="265" y="171"/>
                      </a:cubicBezTo>
                      <a:cubicBezTo>
                        <a:pt x="263" y="168"/>
                        <a:pt x="261" y="165"/>
                        <a:pt x="259" y="162"/>
                      </a:cubicBezTo>
                      <a:cubicBezTo>
                        <a:pt x="242" y="132"/>
                        <a:pt x="252" y="93"/>
                        <a:pt x="282" y="76"/>
                      </a:cubicBezTo>
                      <a:cubicBezTo>
                        <a:pt x="312" y="59"/>
                        <a:pt x="351" y="69"/>
                        <a:pt x="368" y="99"/>
                      </a:cubicBezTo>
                      <a:cubicBezTo>
                        <a:pt x="370" y="102"/>
                        <a:pt x="372" y="105"/>
                        <a:pt x="374" y="109"/>
                      </a:cubicBezTo>
                      <a:cubicBezTo>
                        <a:pt x="389" y="135"/>
                        <a:pt x="420" y="149"/>
                        <a:pt x="451" y="14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6" name="Freeform 50">
                  <a:extLst>
                    <a:ext uri="{FF2B5EF4-FFF2-40B4-BE49-F238E27FC236}">
                      <a16:creationId xmlns:a16="http://schemas.microsoft.com/office/drawing/2014/main" id="{1C697659-9372-ECA5-DE36-A7623380B26D}"/>
                    </a:ext>
                  </a:extLst>
                </p:cNvPr>
                <p:cNvSpPr>
                  <a:spLocks noChangeArrowheads="1"/>
                </p:cNvSpPr>
                <p:nvPr/>
              </p:nvSpPr>
              <p:spPr bwMode="auto">
                <a:xfrm>
                  <a:off x="3107628" y="886344"/>
                  <a:ext cx="76811" cy="76811"/>
                </a:xfrm>
                <a:custGeom>
                  <a:avLst/>
                  <a:gdLst>
                    <a:gd name="T0" fmla="*/ 169 w 170"/>
                    <a:gd name="T1" fmla="*/ 85 h 170"/>
                    <a:gd name="T2" fmla="*/ 158 w 170"/>
                    <a:gd name="T3" fmla="*/ 127 h 170"/>
                    <a:gd name="T4" fmla="*/ 127 w 170"/>
                    <a:gd name="T5" fmla="*/ 158 h 170"/>
                    <a:gd name="T6" fmla="*/ 85 w 170"/>
                    <a:gd name="T7" fmla="*/ 169 h 170"/>
                    <a:gd name="T8" fmla="*/ 42 w 170"/>
                    <a:gd name="T9" fmla="*/ 158 h 170"/>
                    <a:gd name="T10" fmla="*/ 11 w 170"/>
                    <a:gd name="T11" fmla="*/ 127 h 170"/>
                    <a:gd name="T12" fmla="*/ 0 w 170"/>
                    <a:gd name="T13" fmla="*/ 85 h 170"/>
                    <a:gd name="T14" fmla="*/ 11 w 170"/>
                    <a:gd name="T15" fmla="*/ 42 h 170"/>
                    <a:gd name="T16" fmla="*/ 42 w 170"/>
                    <a:gd name="T17" fmla="*/ 11 h 170"/>
                    <a:gd name="T18" fmla="*/ 85 w 170"/>
                    <a:gd name="T19" fmla="*/ 0 h 170"/>
                    <a:gd name="T20" fmla="*/ 127 w 170"/>
                    <a:gd name="T21" fmla="*/ 11 h 170"/>
                    <a:gd name="T22" fmla="*/ 158 w 170"/>
                    <a:gd name="T23" fmla="*/ 42 h 170"/>
                    <a:gd name="T24" fmla="*/ 169 w 170"/>
                    <a:gd name="T25" fmla="*/ 85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69" y="85"/>
                      </a:moveTo>
                      <a:cubicBezTo>
                        <a:pt x="169" y="100"/>
                        <a:pt x="166" y="113"/>
                        <a:pt x="158" y="127"/>
                      </a:cubicBezTo>
                      <a:cubicBezTo>
                        <a:pt x="150" y="140"/>
                        <a:pt x="140" y="150"/>
                        <a:pt x="127" y="158"/>
                      </a:cubicBezTo>
                      <a:cubicBezTo>
                        <a:pt x="113" y="166"/>
                        <a:pt x="100" y="169"/>
                        <a:pt x="85" y="169"/>
                      </a:cubicBezTo>
                      <a:cubicBezTo>
                        <a:pt x="69" y="169"/>
                        <a:pt x="55" y="166"/>
                        <a:pt x="42" y="158"/>
                      </a:cubicBezTo>
                      <a:cubicBezTo>
                        <a:pt x="28" y="150"/>
                        <a:pt x="18" y="140"/>
                        <a:pt x="11" y="127"/>
                      </a:cubicBezTo>
                      <a:cubicBezTo>
                        <a:pt x="3" y="113"/>
                        <a:pt x="0" y="100"/>
                        <a:pt x="0" y="85"/>
                      </a:cubicBezTo>
                      <a:cubicBezTo>
                        <a:pt x="0" y="69"/>
                        <a:pt x="3" y="55"/>
                        <a:pt x="11" y="42"/>
                      </a:cubicBezTo>
                      <a:cubicBezTo>
                        <a:pt x="18" y="28"/>
                        <a:pt x="28" y="18"/>
                        <a:pt x="42" y="11"/>
                      </a:cubicBezTo>
                      <a:cubicBezTo>
                        <a:pt x="55" y="3"/>
                        <a:pt x="69" y="0"/>
                        <a:pt x="85" y="0"/>
                      </a:cubicBezTo>
                      <a:cubicBezTo>
                        <a:pt x="100" y="0"/>
                        <a:pt x="113" y="3"/>
                        <a:pt x="127" y="11"/>
                      </a:cubicBezTo>
                      <a:cubicBezTo>
                        <a:pt x="140" y="18"/>
                        <a:pt x="150" y="28"/>
                        <a:pt x="158" y="42"/>
                      </a:cubicBezTo>
                      <a:cubicBezTo>
                        <a:pt x="166" y="55"/>
                        <a:pt x="169" y="69"/>
                        <a:pt x="169" y="8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7" name="Freeform 51">
                  <a:extLst>
                    <a:ext uri="{FF2B5EF4-FFF2-40B4-BE49-F238E27FC236}">
                      <a16:creationId xmlns:a16="http://schemas.microsoft.com/office/drawing/2014/main" id="{38C1BF9F-F47D-FCCB-EB16-B314C1ECA4EF}"/>
                    </a:ext>
                  </a:extLst>
                </p:cNvPr>
                <p:cNvSpPr>
                  <a:spLocks noChangeArrowheads="1"/>
                </p:cNvSpPr>
                <p:nvPr/>
              </p:nvSpPr>
              <p:spPr bwMode="auto">
                <a:xfrm>
                  <a:off x="3056421" y="835137"/>
                  <a:ext cx="139836" cy="88628"/>
                </a:xfrm>
                <a:custGeom>
                  <a:avLst/>
                  <a:gdLst>
                    <a:gd name="T0" fmla="*/ 0 w 311"/>
                    <a:gd name="T1" fmla="*/ 198 h 199"/>
                    <a:gd name="T2" fmla="*/ 198 w 311"/>
                    <a:gd name="T3" fmla="*/ 0 h 199"/>
                    <a:gd name="T4" fmla="*/ 310 w 311"/>
                    <a:gd name="T5" fmla="*/ 35 h 199"/>
                  </a:gdLst>
                  <a:ahLst/>
                  <a:cxnLst>
                    <a:cxn ang="0">
                      <a:pos x="T0" y="T1"/>
                    </a:cxn>
                    <a:cxn ang="0">
                      <a:pos x="T2" y="T3"/>
                    </a:cxn>
                    <a:cxn ang="0">
                      <a:pos x="T4" y="T5"/>
                    </a:cxn>
                  </a:cxnLst>
                  <a:rect l="0" t="0" r="r" b="b"/>
                  <a:pathLst>
                    <a:path w="311" h="199">
                      <a:moveTo>
                        <a:pt x="0" y="198"/>
                      </a:moveTo>
                      <a:cubicBezTo>
                        <a:pt x="0" y="89"/>
                        <a:pt x="89" y="0"/>
                        <a:pt x="198" y="0"/>
                      </a:cubicBezTo>
                      <a:cubicBezTo>
                        <a:pt x="239" y="0"/>
                        <a:pt x="278" y="13"/>
                        <a:pt x="310" y="3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8" name="Freeform 52">
                  <a:extLst>
                    <a:ext uri="{FF2B5EF4-FFF2-40B4-BE49-F238E27FC236}">
                      <a16:creationId xmlns:a16="http://schemas.microsoft.com/office/drawing/2014/main" id="{F16BC262-C511-78A2-BBDD-9DEF42097102}"/>
                    </a:ext>
                  </a:extLst>
                </p:cNvPr>
                <p:cNvSpPr>
                  <a:spLocks noChangeArrowheads="1"/>
                </p:cNvSpPr>
                <p:nvPr/>
              </p:nvSpPr>
              <p:spPr bwMode="auto">
                <a:xfrm>
                  <a:off x="3007182" y="785898"/>
                  <a:ext cx="236343" cy="139837"/>
                </a:xfrm>
                <a:custGeom>
                  <a:avLst/>
                  <a:gdLst>
                    <a:gd name="T0" fmla="*/ 527 w 528"/>
                    <a:gd name="T1" fmla="*/ 88 h 312"/>
                    <a:gd name="T2" fmla="*/ 311 w 528"/>
                    <a:gd name="T3" fmla="*/ 0 h 312"/>
                    <a:gd name="T4" fmla="*/ 0 w 528"/>
                    <a:gd name="T5" fmla="*/ 311 h 312"/>
                  </a:gdLst>
                  <a:ahLst/>
                  <a:cxnLst>
                    <a:cxn ang="0">
                      <a:pos x="T0" y="T1"/>
                    </a:cxn>
                    <a:cxn ang="0">
                      <a:pos x="T2" y="T3"/>
                    </a:cxn>
                    <a:cxn ang="0">
                      <a:pos x="T4" y="T5"/>
                    </a:cxn>
                  </a:cxnLst>
                  <a:rect l="0" t="0" r="r" b="b"/>
                  <a:pathLst>
                    <a:path w="528" h="312">
                      <a:moveTo>
                        <a:pt x="527" y="88"/>
                      </a:moveTo>
                      <a:cubicBezTo>
                        <a:pt x="471" y="34"/>
                        <a:pt x="395" y="0"/>
                        <a:pt x="311" y="0"/>
                      </a:cubicBezTo>
                      <a:cubicBezTo>
                        <a:pt x="139" y="0"/>
                        <a:pt x="0" y="140"/>
                        <a:pt x="0" y="3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9" name="Freeform 53">
                  <a:extLst>
                    <a:ext uri="{FF2B5EF4-FFF2-40B4-BE49-F238E27FC236}">
                      <a16:creationId xmlns:a16="http://schemas.microsoft.com/office/drawing/2014/main" id="{E4D88907-F4DE-B1E2-C412-778CA36D2B13}"/>
                    </a:ext>
                  </a:extLst>
                </p:cNvPr>
                <p:cNvSpPr>
                  <a:spLocks noChangeArrowheads="1"/>
                </p:cNvSpPr>
                <p:nvPr/>
              </p:nvSpPr>
              <p:spPr bwMode="auto">
                <a:xfrm>
                  <a:off x="3180500" y="848923"/>
                  <a:ext cx="96507" cy="57117"/>
                </a:xfrm>
                <a:custGeom>
                  <a:avLst/>
                  <a:gdLst>
                    <a:gd name="T0" fmla="*/ 0 w 216"/>
                    <a:gd name="T1" fmla="*/ 125 h 126"/>
                    <a:gd name="T2" fmla="*/ 215 w 216"/>
                    <a:gd name="T3" fmla="*/ 0 h 126"/>
                  </a:gdLst>
                  <a:ahLst/>
                  <a:cxnLst>
                    <a:cxn ang="0">
                      <a:pos x="T0" y="T1"/>
                    </a:cxn>
                    <a:cxn ang="0">
                      <a:pos x="T2" y="T3"/>
                    </a:cxn>
                  </a:cxnLst>
                  <a:rect l="0" t="0" r="r" b="b"/>
                  <a:pathLst>
                    <a:path w="216" h="126">
                      <a:moveTo>
                        <a:pt x="0" y="125"/>
                      </a:moveTo>
                      <a:cubicBezTo>
                        <a:pt x="71" y="83"/>
                        <a:pt x="143" y="42"/>
                        <a:pt x="2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sp>
            <p:nvSpPr>
              <p:cNvPr id="14" name="Freeform 13">
                <a:extLst>
                  <a:ext uri="{FF2B5EF4-FFF2-40B4-BE49-F238E27FC236}">
                    <a16:creationId xmlns:a16="http://schemas.microsoft.com/office/drawing/2014/main" id="{5F8C118C-0BBF-25DF-4908-5A8885AFDC67}"/>
                  </a:ext>
                </a:extLst>
              </p:cNvPr>
              <p:cNvSpPr>
                <a:spLocks noChangeArrowheads="1"/>
              </p:cNvSpPr>
              <p:nvPr/>
            </p:nvSpPr>
            <p:spPr bwMode="auto">
              <a:xfrm>
                <a:off x="2755083" y="533799"/>
                <a:ext cx="781902" cy="781902"/>
              </a:xfrm>
              <a:custGeom>
                <a:avLst/>
                <a:gdLst>
                  <a:gd name="T0" fmla="*/ 1467 w 1751"/>
                  <a:gd name="T1" fmla="*/ 1750 h 1751"/>
                  <a:gd name="T2" fmla="*/ 1750 w 1751"/>
                  <a:gd name="T3" fmla="*/ 1467 h 1751"/>
                  <a:gd name="T4" fmla="*/ 1750 w 1751"/>
                  <a:gd name="T5" fmla="*/ 282 h 1751"/>
                  <a:gd name="T6" fmla="*/ 1467 w 1751"/>
                  <a:gd name="T7" fmla="*/ 0 h 1751"/>
                  <a:gd name="T8" fmla="*/ 282 w 1751"/>
                  <a:gd name="T9" fmla="*/ 0 h 1751"/>
                  <a:gd name="T10" fmla="*/ 0 w 1751"/>
                  <a:gd name="T11" fmla="*/ 282 h 1751"/>
                  <a:gd name="T12" fmla="*/ 0 w 1751"/>
                  <a:gd name="T13" fmla="*/ 1467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7"/>
                    </a:cubicBezTo>
                    <a:cubicBezTo>
                      <a:pt x="1750" y="1072"/>
                      <a:pt x="1750" y="677"/>
                      <a:pt x="1750" y="282"/>
                    </a:cubicBezTo>
                    <a:cubicBezTo>
                      <a:pt x="1750" y="127"/>
                      <a:pt x="1623" y="0"/>
                      <a:pt x="1467" y="0"/>
                    </a:cubicBezTo>
                    <a:cubicBezTo>
                      <a:pt x="1072" y="0"/>
                      <a:pt x="677" y="0"/>
                      <a:pt x="282" y="0"/>
                    </a:cubicBezTo>
                    <a:cubicBezTo>
                      <a:pt x="127" y="0"/>
                      <a:pt x="0" y="127"/>
                      <a:pt x="0" y="282"/>
                    </a:cubicBezTo>
                    <a:cubicBezTo>
                      <a:pt x="0" y="677"/>
                      <a:pt x="0" y="1072"/>
                      <a:pt x="0" y="1467"/>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grpSp>
          <p:nvGrpSpPr>
            <p:cNvPr id="20" name="Group 19">
              <a:extLst>
                <a:ext uri="{FF2B5EF4-FFF2-40B4-BE49-F238E27FC236}">
                  <a16:creationId xmlns:a16="http://schemas.microsoft.com/office/drawing/2014/main" id="{73FD5370-75D2-C784-1DA1-5D4CAC5D0E9F}"/>
                </a:ext>
              </a:extLst>
            </p:cNvPr>
            <p:cNvGrpSpPr>
              <a:grpSpLocks noChangeAspect="1"/>
            </p:cNvGrpSpPr>
            <p:nvPr/>
          </p:nvGrpSpPr>
          <p:grpSpPr>
            <a:xfrm>
              <a:off x="20239982" y="6786537"/>
              <a:ext cx="1115894" cy="1115894"/>
              <a:chOff x="745675" y="2158563"/>
              <a:chExt cx="788068" cy="788068"/>
            </a:xfrm>
          </p:grpSpPr>
          <p:sp>
            <p:nvSpPr>
              <p:cNvPr id="21" name="Freeform 49">
                <a:extLst>
                  <a:ext uri="{FF2B5EF4-FFF2-40B4-BE49-F238E27FC236}">
                    <a16:creationId xmlns:a16="http://schemas.microsoft.com/office/drawing/2014/main" id="{4791FFEF-3A18-5732-102A-F569A9C4E15B}"/>
                  </a:ext>
                </a:extLst>
              </p:cNvPr>
              <p:cNvSpPr>
                <a:spLocks noChangeArrowheads="1"/>
              </p:cNvSpPr>
              <p:nvPr/>
            </p:nvSpPr>
            <p:spPr bwMode="auto">
              <a:xfrm>
                <a:off x="745675" y="2158563"/>
                <a:ext cx="788068" cy="788068"/>
              </a:xfrm>
              <a:custGeom>
                <a:avLst/>
                <a:gdLst>
                  <a:gd name="T0" fmla="*/ 1468 w 1751"/>
                  <a:gd name="T1" fmla="*/ 1750 h 1751"/>
                  <a:gd name="T2" fmla="*/ 1750 w 1751"/>
                  <a:gd name="T3" fmla="*/ 1468 h 1751"/>
                  <a:gd name="T4" fmla="*/ 1750 w 1751"/>
                  <a:gd name="T5" fmla="*/ 282 h 1751"/>
                  <a:gd name="T6" fmla="*/ 1468 w 1751"/>
                  <a:gd name="T7" fmla="*/ 0 h 1751"/>
                  <a:gd name="T8" fmla="*/ 282 w 1751"/>
                  <a:gd name="T9" fmla="*/ 0 h 1751"/>
                  <a:gd name="T10" fmla="*/ 0 w 1751"/>
                  <a:gd name="T11" fmla="*/ 282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8"/>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2" name="Freeform 50">
                <a:extLst>
                  <a:ext uri="{FF2B5EF4-FFF2-40B4-BE49-F238E27FC236}">
                    <a16:creationId xmlns:a16="http://schemas.microsoft.com/office/drawing/2014/main" id="{280D10AA-E397-555A-36D8-223787D26061}"/>
                  </a:ext>
                </a:extLst>
              </p:cNvPr>
              <p:cNvSpPr>
                <a:spLocks noChangeArrowheads="1"/>
              </p:cNvSpPr>
              <p:nvPr/>
            </p:nvSpPr>
            <p:spPr bwMode="auto">
              <a:xfrm>
                <a:off x="874704" y="2313398"/>
                <a:ext cx="528025" cy="478399"/>
              </a:xfrm>
              <a:custGeom>
                <a:avLst/>
                <a:gdLst>
                  <a:gd name="T0" fmla="*/ 182 w 1174"/>
                  <a:gd name="T1" fmla="*/ 721 h 1063"/>
                  <a:gd name="T2" fmla="*/ 182 w 1174"/>
                  <a:gd name="T3" fmla="*/ 369 h 1063"/>
                  <a:gd name="T4" fmla="*/ 154 w 1174"/>
                  <a:gd name="T5" fmla="*/ 341 h 1063"/>
                  <a:gd name="T6" fmla="*/ 17 w 1174"/>
                  <a:gd name="T7" fmla="*/ 341 h 1063"/>
                  <a:gd name="T8" fmla="*/ 3 w 1174"/>
                  <a:gd name="T9" fmla="*/ 332 h 1063"/>
                  <a:gd name="T10" fmla="*/ 7 w 1174"/>
                  <a:gd name="T11" fmla="*/ 316 h 1063"/>
                  <a:gd name="T12" fmla="*/ 347 w 1174"/>
                  <a:gd name="T13" fmla="*/ 19 h 1063"/>
                  <a:gd name="T14" fmla="*/ 422 w 1174"/>
                  <a:gd name="T15" fmla="*/ 19 h 1063"/>
                  <a:gd name="T16" fmla="*/ 761 w 1174"/>
                  <a:gd name="T17" fmla="*/ 316 h 1063"/>
                  <a:gd name="T18" fmla="*/ 765 w 1174"/>
                  <a:gd name="T19" fmla="*/ 332 h 1063"/>
                  <a:gd name="T20" fmla="*/ 752 w 1174"/>
                  <a:gd name="T21" fmla="*/ 341 h 1063"/>
                  <a:gd name="T22" fmla="*/ 615 w 1174"/>
                  <a:gd name="T23" fmla="*/ 341 h 1063"/>
                  <a:gd name="T24" fmla="*/ 587 w 1174"/>
                  <a:gd name="T25" fmla="*/ 369 h 1063"/>
                  <a:gd name="T26" fmla="*/ 587 w 1174"/>
                  <a:gd name="T27" fmla="*/ 693 h 1063"/>
                  <a:gd name="T28" fmla="*/ 559 w 1174"/>
                  <a:gd name="T29" fmla="*/ 721 h 1063"/>
                  <a:gd name="T30" fmla="*/ 422 w 1174"/>
                  <a:gd name="T31" fmla="*/ 721 h 1063"/>
                  <a:gd name="T32" fmla="*/ 409 w 1174"/>
                  <a:gd name="T33" fmla="*/ 730 h 1063"/>
                  <a:gd name="T34" fmla="*/ 413 w 1174"/>
                  <a:gd name="T35" fmla="*/ 746 h 1063"/>
                  <a:gd name="T36" fmla="*/ 753 w 1174"/>
                  <a:gd name="T37" fmla="*/ 1043 h 1063"/>
                  <a:gd name="T38" fmla="*/ 827 w 1174"/>
                  <a:gd name="T39" fmla="*/ 1043 h 1063"/>
                  <a:gd name="T40" fmla="*/ 1167 w 1174"/>
                  <a:gd name="T41" fmla="*/ 746 h 1063"/>
                  <a:gd name="T42" fmla="*/ 1171 w 1174"/>
                  <a:gd name="T43" fmla="*/ 730 h 1063"/>
                  <a:gd name="T44" fmla="*/ 1157 w 1174"/>
                  <a:gd name="T45" fmla="*/ 721 h 1063"/>
                  <a:gd name="T46" fmla="*/ 1021 w 1174"/>
                  <a:gd name="T47" fmla="*/ 721 h 1063"/>
                  <a:gd name="T48" fmla="*/ 992 w 1174"/>
                  <a:gd name="T49" fmla="*/ 693 h 1063"/>
                  <a:gd name="T50" fmla="*/ 992 w 1174"/>
                  <a:gd name="T51" fmla="*/ 341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4" h="1063">
                    <a:moveTo>
                      <a:pt x="182" y="721"/>
                    </a:moveTo>
                    <a:cubicBezTo>
                      <a:pt x="182" y="603"/>
                      <a:pt x="182" y="486"/>
                      <a:pt x="182" y="369"/>
                    </a:cubicBezTo>
                    <a:cubicBezTo>
                      <a:pt x="182" y="354"/>
                      <a:pt x="169" y="341"/>
                      <a:pt x="154" y="341"/>
                    </a:cubicBezTo>
                    <a:cubicBezTo>
                      <a:pt x="108" y="341"/>
                      <a:pt x="63" y="341"/>
                      <a:pt x="17" y="341"/>
                    </a:cubicBezTo>
                    <a:cubicBezTo>
                      <a:pt x="11" y="341"/>
                      <a:pt x="5" y="337"/>
                      <a:pt x="3" y="332"/>
                    </a:cubicBezTo>
                    <a:cubicBezTo>
                      <a:pt x="0" y="326"/>
                      <a:pt x="3" y="320"/>
                      <a:pt x="7" y="316"/>
                    </a:cubicBezTo>
                    <a:cubicBezTo>
                      <a:pt x="120" y="217"/>
                      <a:pt x="234" y="118"/>
                      <a:pt x="347" y="19"/>
                    </a:cubicBezTo>
                    <a:cubicBezTo>
                      <a:pt x="369" y="0"/>
                      <a:pt x="400" y="0"/>
                      <a:pt x="422" y="19"/>
                    </a:cubicBezTo>
                    <a:cubicBezTo>
                      <a:pt x="535" y="118"/>
                      <a:pt x="648" y="217"/>
                      <a:pt x="761" y="316"/>
                    </a:cubicBezTo>
                    <a:cubicBezTo>
                      <a:pt x="766" y="320"/>
                      <a:pt x="767" y="326"/>
                      <a:pt x="765" y="332"/>
                    </a:cubicBezTo>
                    <a:cubicBezTo>
                      <a:pt x="763" y="337"/>
                      <a:pt x="758" y="341"/>
                      <a:pt x="752" y="341"/>
                    </a:cubicBezTo>
                    <a:cubicBezTo>
                      <a:pt x="706" y="341"/>
                      <a:pt x="661" y="341"/>
                      <a:pt x="615" y="341"/>
                    </a:cubicBezTo>
                    <a:cubicBezTo>
                      <a:pt x="600" y="341"/>
                      <a:pt x="587" y="354"/>
                      <a:pt x="587" y="369"/>
                    </a:cubicBezTo>
                    <a:cubicBezTo>
                      <a:pt x="587" y="477"/>
                      <a:pt x="587" y="585"/>
                      <a:pt x="587" y="693"/>
                    </a:cubicBezTo>
                    <a:cubicBezTo>
                      <a:pt x="587" y="708"/>
                      <a:pt x="574" y="721"/>
                      <a:pt x="559" y="721"/>
                    </a:cubicBezTo>
                    <a:cubicBezTo>
                      <a:pt x="513" y="721"/>
                      <a:pt x="468" y="721"/>
                      <a:pt x="422" y="721"/>
                    </a:cubicBezTo>
                    <a:cubicBezTo>
                      <a:pt x="416" y="721"/>
                      <a:pt x="411" y="724"/>
                      <a:pt x="409" y="730"/>
                    </a:cubicBezTo>
                    <a:cubicBezTo>
                      <a:pt x="407" y="736"/>
                      <a:pt x="408" y="742"/>
                      <a:pt x="413" y="746"/>
                    </a:cubicBezTo>
                    <a:cubicBezTo>
                      <a:pt x="526" y="845"/>
                      <a:pt x="640" y="944"/>
                      <a:pt x="753" y="1043"/>
                    </a:cubicBezTo>
                    <a:cubicBezTo>
                      <a:pt x="774" y="1062"/>
                      <a:pt x="806" y="1062"/>
                      <a:pt x="827" y="1043"/>
                    </a:cubicBezTo>
                    <a:cubicBezTo>
                      <a:pt x="940" y="944"/>
                      <a:pt x="1054" y="845"/>
                      <a:pt x="1167" y="746"/>
                    </a:cubicBezTo>
                    <a:cubicBezTo>
                      <a:pt x="1171" y="742"/>
                      <a:pt x="1173" y="736"/>
                      <a:pt x="1171" y="730"/>
                    </a:cubicBezTo>
                    <a:cubicBezTo>
                      <a:pt x="1169" y="724"/>
                      <a:pt x="1163" y="721"/>
                      <a:pt x="1157" y="721"/>
                    </a:cubicBezTo>
                    <a:cubicBezTo>
                      <a:pt x="1112" y="721"/>
                      <a:pt x="1066" y="721"/>
                      <a:pt x="1021" y="721"/>
                    </a:cubicBezTo>
                    <a:cubicBezTo>
                      <a:pt x="1005" y="721"/>
                      <a:pt x="992" y="708"/>
                      <a:pt x="992" y="693"/>
                    </a:cubicBezTo>
                    <a:cubicBezTo>
                      <a:pt x="992" y="575"/>
                      <a:pt x="992" y="458"/>
                      <a:pt x="992" y="341"/>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nvGrpSpPr>
            <p:cNvPr id="23" name="Group 22">
              <a:extLst>
                <a:ext uri="{FF2B5EF4-FFF2-40B4-BE49-F238E27FC236}">
                  <a16:creationId xmlns:a16="http://schemas.microsoft.com/office/drawing/2014/main" id="{8B1E0BED-115D-B3F6-994F-660B0AEC592B}"/>
                </a:ext>
              </a:extLst>
            </p:cNvPr>
            <p:cNvGrpSpPr>
              <a:grpSpLocks noChangeAspect="1"/>
            </p:cNvGrpSpPr>
            <p:nvPr/>
          </p:nvGrpSpPr>
          <p:grpSpPr>
            <a:xfrm>
              <a:off x="15759203" y="3143590"/>
              <a:ext cx="1113510" cy="1113510"/>
              <a:chOff x="7002463" y="2201863"/>
              <a:chExt cx="630237" cy="630237"/>
            </a:xfrm>
          </p:grpSpPr>
          <p:sp>
            <p:nvSpPr>
              <p:cNvPr id="24" name="Freeform 259">
                <a:extLst>
                  <a:ext uri="{FF2B5EF4-FFF2-40B4-BE49-F238E27FC236}">
                    <a16:creationId xmlns:a16="http://schemas.microsoft.com/office/drawing/2014/main" id="{F6740BCB-4B8F-C60C-52F5-2EA0072CFAC3}"/>
                  </a:ext>
                </a:extLst>
              </p:cNvPr>
              <p:cNvSpPr>
                <a:spLocks noChangeArrowheads="1"/>
              </p:cNvSpPr>
              <p:nvPr/>
            </p:nvSpPr>
            <p:spPr bwMode="auto">
              <a:xfrm>
                <a:off x="7002463" y="2201863"/>
                <a:ext cx="630237" cy="630237"/>
              </a:xfrm>
              <a:custGeom>
                <a:avLst/>
                <a:gdLst>
                  <a:gd name="T0" fmla="*/ 1467 w 1750"/>
                  <a:gd name="T1" fmla="*/ 1749 h 1750"/>
                  <a:gd name="T2" fmla="*/ 1749 w 1750"/>
                  <a:gd name="T3" fmla="*/ 1467 h 1750"/>
                  <a:gd name="T4" fmla="*/ 1749 w 1750"/>
                  <a:gd name="T5" fmla="*/ 282 h 1750"/>
                  <a:gd name="T6" fmla="*/ 1467 w 1750"/>
                  <a:gd name="T7" fmla="*/ 0 h 1750"/>
                  <a:gd name="T8" fmla="*/ 282 w 1750"/>
                  <a:gd name="T9" fmla="*/ 0 h 1750"/>
                  <a:gd name="T10" fmla="*/ 0 w 1750"/>
                  <a:gd name="T11" fmla="*/ 282 h 1750"/>
                  <a:gd name="T12" fmla="*/ 0 w 1750"/>
                  <a:gd name="T13" fmla="*/ 1467 h 1750"/>
                  <a:gd name="T14" fmla="*/ 282 w 1750"/>
                  <a:gd name="T15" fmla="*/ 1749 h 1750"/>
                  <a:gd name="T16" fmla="*/ 1467 w 1750"/>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0">
                    <a:moveTo>
                      <a:pt x="1467" y="1749"/>
                    </a:moveTo>
                    <a:cubicBezTo>
                      <a:pt x="1622" y="1749"/>
                      <a:pt x="1749" y="1623"/>
                      <a:pt x="1749" y="1467"/>
                    </a:cubicBezTo>
                    <a:cubicBezTo>
                      <a:pt x="1749" y="1072"/>
                      <a:pt x="1749" y="677"/>
                      <a:pt x="1749" y="282"/>
                    </a:cubicBezTo>
                    <a:cubicBezTo>
                      <a:pt x="1749" y="127"/>
                      <a:pt x="1622" y="0"/>
                      <a:pt x="1467" y="0"/>
                    </a:cubicBezTo>
                    <a:cubicBezTo>
                      <a:pt x="1072" y="0"/>
                      <a:pt x="677" y="0"/>
                      <a:pt x="282" y="0"/>
                    </a:cubicBezTo>
                    <a:cubicBezTo>
                      <a:pt x="126" y="0"/>
                      <a:pt x="0" y="127"/>
                      <a:pt x="0" y="282"/>
                    </a:cubicBezTo>
                    <a:cubicBezTo>
                      <a:pt x="0" y="677"/>
                      <a:pt x="0" y="1072"/>
                      <a:pt x="0" y="1467"/>
                    </a:cubicBezTo>
                    <a:cubicBezTo>
                      <a:pt x="0" y="1623"/>
                      <a:pt x="126" y="1749"/>
                      <a:pt x="282" y="1749"/>
                    </a:cubicBezTo>
                    <a:cubicBezTo>
                      <a:pt x="677" y="1749"/>
                      <a:pt x="1072" y="1749"/>
                      <a:pt x="1467"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25" name="Group 24">
                <a:extLst>
                  <a:ext uri="{FF2B5EF4-FFF2-40B4-BE49-F238E27FC236}">
                    <a16:creationId xmlns:a16="http://schemas.microsoft.com/office/drawing/2014/main" id="{E65F1ECA-C039-34C5-964D-76CAEC020A53}"/>
                  </a:ext>
                </a:extLst>
              </p:cNvPr>
              <p:cNvGrpSpPr/>
              <p:nvPr/>
            </p:nvGrpSpPr>
            <p:grpSpPr>
              <a:xfrm>
                <a:off x="7107238" y="2305050"/>
                <a:ext cx="422275" cy="422275"/>
                <a:chOff x="7107238" y="2305050"/>
                <a:chExt cx="422275" cy="422275"/>
              </a:xfrm>
            </p:grpSpPr>
            <p:sp>
              <p:nvSpPr>
                <p:cNvPr id="26" name="Freeform 260">
                  <a:extLst>
                    <a:ext uri="{FF2B5EF4-FFF2-40B4-BE49-F238E27FC236}">
                      <a16:creationId xmlns:a16="http://schemas.microsoft.com/office/drawing/2014/main" id="{D570331B-A6D5-1509-9CAC-D64C63EE7BB1}"/>
                    </a:ext>
                  </a:extLst>
                </p:cNvPr>
                <p:cNvSpPr>
                  <a:spLocks noChangeArrowheads="1"/>
                </p:cNvSpPr>
                <p:nvPr/>
              </p:nvSpPr>
              <p:spPr bwMode="auto">
                <a:xfrm>
                  <a:off x="7107238" y="2305050"/>
                  <a:ext cx="422275" cy="422275"/>
                </a:xfrm>
                <a:custGeom>
                  <a:avLst/>
                  <a:gdLst>
                    <a:gd name="T0" fmla="*/ 1171 w 1172"/>
                    <a:gd name="T1" fmla="*/ 586 h 1172"/>
                    <a:gd name="T2" fmla="*/ 1092 w 1172"/>
                    <a:gd name="T3" fmla="*/ 878 h 1172"/>
                    <a:gd name="T4" fmla="*/ 878 w 1172"/>
                    <a:gd name="T5" fmla="*/ 1093 h 1172"/>
                    <a:gd name="T6" fmla="*/ 585 w 1172"/>
                    <a:gd name="T7" fmla="*/ 1171 h 1172"/>
                    <a:gd name="T8" fmla="*/ 293 w 1172"/>
                    <a:gd name="T9" fmla="*/ 1093 h 1172"/>
                    <a:gd name="T10" fmla="*/ 78 w 1172"/>
                    <a:gd name="T11" fmla="*/ 878 h 1172"/>
                    <a:gd name="T12" fmla="*/ 0 w 1172"/>
                    <a:gd name="T13" fmla="*/ 586 h 1172"/>
                    <a:gd name="T14" fmla="*/ 78 w 1172"/>
                    <a:gd name="T15" fmla="*/ 293 h 1172"/>
                    <a:gd name="T16" fmla="*/ 293 w 1172"/>
                    <a:gd name="T17" fmla="*/ 79 h 1172"/>
                    <a:gd name="T18" fmla="*/ 585 w 1172"/>
                    <a:gd name="T19" fmla="*/ 0 h 1172"/>
                    <a:gd name="T20" fmla="*/ 878 w 1172"/>
                    <a:gd name="T21" fmla="*/ 79 h 1172"/>
                    <a:gd name="T22" fmla="*/ 1092 w 1172"/>
                    <a:gd name="T23" fmla="*/ 293 h 1172"/>
                    <a:gd name="T24" fmla="*/ 1171 w 1172"/>
                    <a:gd name="T25" fmla="*/ 586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2" h="1172">
                      <a:moveTo>
                        <a:pt x="1171" y="586"/>
                      </a:moveTo>
                      <a:cubicBezTo>
                        <a:pt x="1171" y="693"/>
                        <a:pt x="1146" y="784"/>
                        <a:pt x="1092" y="878"/>
                      </a:cubicBezTo>
                      <a:cubicBezTo>
                        <a:pt x="1039" y="971"/>
                        <a:pt x="971" y="1039"/>
                        <a:pt x="878" y="1093"/>
                      </a:cubicBezTo>
                      <a:cubicBezTo>
                        <a:pt x="785" y="1147"/>
                        <a:pt x="693" y="1171"/>
                        <a:pt x="585" y="1171"/>
                      </a:cubicBezTo>
                      <a:cubicBezTo>
                        <a:pt x="478" y="1171"/>
                        <a:pt x="387" y="1147"/>
                        <a:pt x="293" y="1093"/>
                      </a:cubicBezTo>
                      <a:cubicBezTo>
                        <a:pt x="200" y="1039"/>
                        <a:pt x="132" y="971"/>
                        <a:pt x="78" y="878"/>
                      </a:cubicBezTo>
                      <a:cubicBezTo>
                        <a:pt x="24" y="784"/>
                        <a:pt x="0" y="693"/>
                        <a:pt x="0" y="586"/>
                      </a:cubicBezTo>
                      <a:cubicBezTo>
                        <a:pt x="0" y="478"/>
                        <a:pt x="24" y="386"/>
                        <a:pt x="78" y="293"/>
                      </a:cubicBezTo>
                      <a:cubicBezTo>
                        <a:pt x="132" y="200"/>
                        <a:pt x="200" y="132"/>
                        <a:pt x="293" y="79"/>
                      </a:cubicBezTo>
                      <a:cubicBezTo>
                        <a:pt x="387" y="25"/>
                        <a:pt x="478" y="0"/>
                        <a:pt x="585" y="0"/>
                      </a:cubicBezTo>
                      <a:cubicBezTo>
                        <a:pt x="693" y="0"/>
                        <a:pt x="785" y="25"/>
                        <a:pt x="878" y="79"/>
                      </a:cubicBezTo>
                      <a:cubicBezTo>
                        <a:pt x="971" y="132"/>
                        <a:pt x="1039" y="200"/>
                        <a:pt x="1092" y="293"/>
                      </a:cubicBezTo>
                      <a:cubicBezTo>
                        <a:pt x="1146" y="386"/>
                        <a:pt x="1171" y="478"/>
                        <a:pt x="1171" y="5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7" name="Freeform 261">
                  <a:extLst>
                    <a:ext uri="{FF2B5EF4-FFF2-40B4-BE49-F238E27FC236}">
                      <a16:creationId xmlns:a16="http://schemas.microsoft.com/office/drawing/2014/main" id="{48D39640-44D0-A7E0-0BBF-CDA7FA6ADE20}"/>
                    </a:ext>
                  </a:extLst>
                </p:cNvPr>
                <p:cNvSpPr>
                  <a:spLocks noChangeArrowheads="1"/>
                </p:cNvSpPr>
                <p:nvPr/>
              </p:nvSpPr>
              <p:spPr bwMode="auto">
                <a:xfrm>
                  <a:off x="7381875" y="2390775"/>
                  <a:ext cx="61913" cy="61913"/>
                </a:xfrm>
                <a:custGeom>
                  <a:avLst/>
                  <a:gdLst>
                    <a:gd name="T0" fmla="*/ 0 w 171"/>
                    <a:gd name="T1" fmla="*/ 170 h 171"/>
                    <a:gd name="T2" fmla="*/ 170 w 171"/>
                    <a:gd name="T3" fmla="*/ 0 h 171"/>
                  </a:gdLst>
                  <a:ahLst/>
                  <a:cxnLst>
                    <a:cxn ang="0">
                      <a:pos x="T0" y="T1"/>
                    </a:cxn>
                    <a:cxn ang="0">
                      <a:pos x="T2" y="T3"/>
                    </a:cxn>
                  </a:cxnLst>
                  <a:rect l="0" t="0" r="r" b="b"/>
                  <a:pathLst>
                    <a:path w="171" h="171">
                      <a:moveTo>
                        <a:pt x="0" y="170"/>
                      </a:moveTo>
                      <a:cubicBezTo>
                        <a:pt x="57" y="113"/>
                        <a:pt x="114" y="56"/>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8" name="Freeform 262">
                  <a:extLst>
                    <a:ext uri="{FF2B5EF4-FFF2-40B4-BE49-F238E27FC236}">
                      <a16:creationId xmlns:a16="http://schemas.microsoft.com/office/drawing/2014/main" id="{78718237-4860-C37B-9273-9202DD772E4F}"/>
                    </a:ext>
                  </a:extLst>
                </p:cNvPr>
                <p:cNvSpPr>
                  <a:spLocks noChangeArrowheads="1"/>
                </p:cNvSpPr>
                <p:nvPr/>
              </p:nvSpPr>
              <p:spPr bwMode="auto">
                <a:xfrm>
                  <a:off x="7381875" y="2409825"/>
                  <a:ext cx="42863" cy="42863"/>
                </a:xfrm>
                <a:custGeom>
                  <a:avLst/>
                  <a:gdLst>
                    <a:gd name="T0" fmla="*/ 0 w 121"/>
                    <a:gd name="T1" fmla="*/ 0 h 121"/>
                    <a:gd name="T2" fmla="*/ 0 w 121"/>
                    <a:gd name="T3" fmla="*/ 113 h 121"/>
                    <a:gd name="T4" fmla="*/ 7 w 121"/>
                    <a:gd name="T5" fmla="*/ 120 h 121"/>
                    <a:gd name="T6" fmla="*/ 120 w 121"/>
                    <a:gd name="T7" fmla="*/ 120 h 121"/>
                  </a:gdLst>
                  <a:ahLst/>
                  <a:cxnLst>
                    <a:cxn ang="0">
                      <a:pos x="T0" y="T1"/>
                    </a:cxn>
                    <a:cxn ang="0">
                      <a:pos x="T2" y="T3"/>
                    </a:cxn>
                    <a:cxn ang="0">
                      <a:pos x="T4" y="T5"/>
                    </a:cxn>
                    <a:cxn ang="0">
                      <a:pos x="T6" y="T7"/>
                    </a:cxn>
                  </a:cxnLst>
                  <a:rect l="0" t="0" r="r" b="b"/>
                  <a:pathLst>
                    <a:path w="121" h="121">
                      <a:moveTo>
                        <a:pt x="0" y="0"/>
                      </a:moveTo>
                      <a:cubicBezTo>
                        <a:pt x="0" y="37"/>
                        <a:pt x="0" y="75"/>
                        <a:pt x="0" y="113"/>
                      </a:cubicBezTo>
                      <a:cubicBezTo>
                        <a:pt x="0" y="117"/>
                        <a:pt x="3" y="120"/>
                        <a:pt x="7" y="120"/>
                      </a:cubicBezTo>
                      <a:cubicBezTo>
                        <a:pt x="45" y="120"/>
                        <a:pt x="83" y="120"/>
                        <a:pt x="12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9" name="Freeform 263">
                  <a:extLst>
                    <a:ext uri="{FF2B5EF4-FFF2-40B4-BE49-F238E27FC236}">
                      <a16:creationId xmlns:a16="http://schemas.microsoft.com/office/drawing/2014/main" id="{C326FDCE-A96F-D06E-6C48-B373937760AA}"/>
                    </a:ext>
                  </a:extLst>
                </p:cNvPr>
                <p:cNvSpPr>
                  <a:spLocks noChangeArrowheads="1"/>
                </p:cNvSpPr>
                <p:nvPr/>
              </p:nvSpPr>
              <p:spPr bwMode="auto">
                <a:xfrm>
                  <a:off x="7191375" y="2581275"/>
                  <a:ext cx="61913" cy="61913"/>
                </a:xfrm>
                <a:custGeom>
                  <a:avLst/>
                  <a:gdLst>
                    <a:gd name="T0" fmla="*/ 170 w 171"/>
                    <a:gd name="T1" fmla="*/ 0 h 171"/>
                    <a:gd name="T2" fmla="*/ 0 w 171"/>
                    <a:gd name="T3" fmla="*/ 170 h 171"/>
                  </a:gdLst>
                  <a:ahLst/>
                  <a:cxnLst>
                    <a:cxn ang="0">
                      <a:pos x="T0" y="T1"/>
                    </a:cxn>
                    <a:cxn ang="0">
                      <a:pos x="T2" y="T3"/>
                    </a:cxn>
                  </a:cxnLst>
                  <a:rect l="0" t="0" r="r" b="b"/>
                  <a:pathLst>
                    <a:path w="171" h="171">
                      <a:moveTo>
                        <a:pt x="170" y="0"/>
                      </a:moveTo>
                      <a:cubicBezTo>
                        <a:pt x="114" y="56"/>
                        <a:pt x="57" y="113"/>
                        <a:pt x="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0" name="Freeform 264">
                  <a:extLst>
                    <a:ext uri="{FF2B5EF4-FFF2-40B4-BE49-F238E27FC236}">
                      <a16:creationId xmlns:a16="http://schemas.microsoft.com/office/drawing/2014/main" id="{8E26FE4E-C321-5116-A837-ED668A668560}"/>
                    </a:ext>
                  </a:extLst>
                </p:cNvPr>
                <p:cNvSpPr>
                  <a:spLocks noChangeArrowheads="1"/>
                </p:cNvSpPr>
                <p:nvPr/>
              </p:nvSpPr>
              <p:spPr bwMode="auto">
                <a:xfrm>
                  <a:off x="7210425" y="2579688"/>
                  <a:ext cx="42863" cy="42862"/>
                </a:xfrm>
                <a:custGeom>
                  <a:avLst/>
                  <a:gdLst>
                    <a:gd name="T0" fmla="*/ 120 w 121"/>
                    <a:gd name="T1" fmla="*/ 120 h 121"/>
                    <a:gd name="T2" fmla="*/ 120 w 121"/>
                    <a:gd name="T3" fmla="*/ 7 h 121"/>
                    <a:gd name="T4" fmla="*/ 113 w 121"/>
                    <a:gd name="T5" fmla="*/ 0 h 121"/>
                    <a:gd name="T6" fmla="*/ 0 w 121"/>
                    <a:gd name="T7" fmla="*/ 0 h 121"/>
                  </a:gdLst>
                  <a:ahLst/>
                  <a:cxnLst>
                    <a:cxn ang="0">
                      <a:pos x="T0" y="T1"/>
                    </a:cxn>
                    <a:cxn ang="0">
                      <a:pos x="T2" y="T3"/>
                    </a:cxn>
                    <a:cxn ang="0">
                      <a:pos x="T4" y="T5"/>
                    </a:cxn>
                    <a:cxn ang="0">
                      <a:pos x="T6" y="T7"/>
                    </a:cxn>
                  </a:cxnLst>
                  <a:rect l="0" t="0" r="r" b="b"/>
                  <a:pathLst>
                    <a:path w="121" h="121">
                      <a:moveTo>
                        <a:pt x="120" y="120"/>
                      </a:moveTo>
                      <a:cubicBezTo>
                        <a:pt x="120" y="82"/>
                        <a:pt x="120" y="44"/>
                        <a:pt x="120" y="7"/>
                      </a:cubicBezTo>
                      <a:cubicBezTo>
                        <a:pt x="120" y="3"/>
                        <a:pt x="117" y="0"/>
                        <a:pt x="113" y="0"/>
                      </a:cubicBezTo>
                      <a:cubicBezTo>
                        <a:pt x="76" y="0"/>
                        <a:pt x="3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1" name="Freeform 265">
                  <a:extLst>
                    <a:ext uri="{FF2B5EF4-FFF2-40B4-BE49-F238E27FC236}">
                      <a16:creationId xmlns:a16="http://schemas.microsoft.com/office/drawing/2014/main" id="{B894AD60-0CB1-B8E9-1CF2-C0FD19F055F9}"/>
                    </a:ext>
                  </a:extLst>
                </p:cNvPr>
                <p:cNvSpPr>
                  <a:spLocks noChangeArrowheads="1"/>
                </p:cNvSpPr>
                <p:nvPr/>
              </p:nvSpPr>
              <p:spPr bwMode="auto">
                <a:xfrm>
                  <a:off x="7381875" y="2581275"/>
                  <a:ext cx="61913" cy="61913"/>
                </a:xfrm>
                <a:custGeom>
                  <a:avLst/>
                  <a:gdLst>
                    <a:gd name="T0" fmla="*/ 0 w 171"/>
                    <a:gd name="T1" fmla="*/ 0 h 171"/>
                    <a:gd name="T2" fmla="*/ 170 w 171"/>
                    <a:gd name="T3" fmla="*/ 170 h 171"/>
                  </a:gdLst>
                  <a:ahLst/>
                  <a:cxnLst>
                    <a:cxn ang="0">
                      <a:pos x="T0" y="T1"/>
                    </a:cxn>
                    <a:cxn ang="0">
                      <a:pos x="T2" y="T3"/>
                    </a:cxn>
                  </a:cxnLst>
                  <a:rect l="0" t="0" r="r" b="b"/>
                  <a:pathLst>
                    <a:path w="171" h="171">
                      <a:moveTo>
                        <a:pt x="0" y="0"/>
                      </a:moveTo>
                      <a:cubicBezTo>
                        <a:pt x="57" y="56"/>
                        <a:pt x="114" y="113"/>
                        <a:pt x="17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2" name="Freeform 266">
                  <a:extLst>
                    <a:ext uri="{FF2B5EF4-FFF2-40B4-BE49-F238E27FC236}">
                      <a16:creationId xmlns:a16="http://schemas.microsoft.com/office/drawing/2014/main" id="{BC6555F7-91B6-D88E-F84A-67262ADF992A}"/>
                    </a:ext>
                  </a:extLst>
                </p:cNvPr>
                <p:cNvSpPr>
                  <a:spLocks noChangeArrowheads="1"/>
                </p:cNvSpPr>
                <p:nvPr/>
              </p:nvSpPr>
              <p:spPr bwMode="auto">
                <a:xfrm>
                  <a:off x="7381875" y="2579688"/>
                  <a:ext cx="42863" cy="42862"/>
                </a:xfrm>
                <a:custGeom>
                  <a:avLst/>
                  <a:gdLst>
                    <a:gd name="T0" fmla="*/ 120 w 121"/>
                    <a:gd name="T1" fmla="*/ 0 h 121"/>
                    <a:gd name="T2" fmla="*/ 7 w 121"/>
                    <a:gd name="T3" fmla="*/ 0 h 121"/>
                    <a:gd name="T4" fmla="*/ 0 w 121"/>
                    <a:gd name="T5" fmla="*/ 7 h 121"/>
                    <a:gd name="T6" fmla="*/ 0 w 121"/>
                    <a:gd name="T7" fmla="*/ 120 h 121"/>
                  </a:gdLst>
                  <a:ahLst/>
                  <a:cxnLst>
                    <a:cxn ang="0">
                      <a:pos x="T0" y="T1"/>
                    </a:cxn>
                    <a:cxn ang="0">
                      <a:pos x="T2" y="T3"/>
                    </a:cxn>
                    <a:cxn ang="0">
                      <a:pos x="T4" y="T5"/>
                    </a:cxn>
                    <a:cxn ang="0">
                      <a:pos x="T6" y="T7"/>
                    </a:cxn>
                  </a:cxnLst>
                  <a:rect l="0" t="0" r="r" b="b"/>
                  <a:pathLst>
                    <a:path w="121" h="121">
                      <a:moveTo>
                        <a:pt x="120" y="0"/>
                      </a:moveTo>
                      <a:cubicBezTo>
                        <a:pt x="83" y="0"/>
                        <a:pt x="45" y="0"/>
                        <a:pt x="7" y="0"/>
                      </a:cubicBezTo>
                      <a:cubicBezTo>
                        <a:pt x="3" y="0"/>
                        <a:pt x="0" y="3"/>
                        <a:pt x="0" y="7"/>
                      </a:cubicBezTo>
                      <a:cubicBezTo>
                        <a:pt x="0" y="44"/>
                        <a:pt x="0" y="82"/>
                        <a:pt x="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3" name="Freeform 267">
                  <a:extLst>
                    <a:ext uri="{FF2B5EF4-FFF2-40B4-BE49-F238E27FC236}">
                      <a16:creationId xmlns:a16="http://schemas.microsoft.com/office/drawing/2014/main" id="{2DE24BBB-2912-EF98-0332-9807D0C145F1}"/>
                    </a:ext>
                  </a:extLst>
                </p:cNvPr>
                <p:cNvSpPr>
                  <a:spLocks noChangeArrowheads="1"/>
                </p:cNvSpPr>
                <p:nvPr/>
              </p:nvSpPr>
              <p:spPr bwMode="auto">
                <a:xfrm>
                  <a:off x="7191375" y="2390775"/>
                  <a:ext cx="61913" cy="61913"/>
                </a:xfrm>
                <a:custGeom>
                  <a:avLst/>
                  <a:gdLst>
                    <a:gd name="T0" fmla="*/ 170 w 171"/>
                    <a:gd name="T1" fmla="*/ 170 h 171"/>
                    <a:gd name="T2" fmla="*/ 0 w 171"/>
                    <a:gd name="T3" fmla="*/ 0 h 171"/>
                  </a:gdLst>
                  <a:ahLst/>
                  <a:cxnLst>
                    <a:cxn ang="0">
                      <a:pos x="T0" y="T1"/>
                    </a:cxn>
                    <a:cxn ang="0">
                      <a:pos x="T2" y="T3"/>
                    </a:cxn>
                  </a:cxnLst>
                  <a:rect l="0" t="0" r="r" b="b"/>
                  <a:pathLst>
                    <a:path w="171" h="171">
                      <a:moveTo>
                        <a:pt x="170" y="170"/>
                      </a:moveTo>
                      <a:cubicBezTo>
                        <a:pt x="114" y="113"/>
                        <a:pt x="57" y="5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4" name="Freeform 268">
                  <a:extLst>
                    <a:ext uri="{FF2B5EF4-FFF2-40B4-BE49-F238E27FC236}">
                      <a16:creationId xmlns:a16="http://schemas.microsoft.com/office/drawing/2014/main" id="{2C91902E-9695-2441-E2EA-22F5810D4182}"/>
                    </a:ext>
                  </a:extLst>
                </p:cNvPr>
                <p:cNvSpPr>
                  <a:spLocks noChangeArrowheads="1"/>
                </p:cNvSpPr>
                <p:nvPr/>
              </p:nvSpPr>
              <p:spPr bwMode="auto">
                <a:xfrm>
                  <a:off x="7210425" y="2409825"/>
                  <a:ext cx="42863" cy="42863"/>
                </a:xfrm>
                <a:custGeom>
                  <a:avLst/>
                  <a:gdLst>
                    <a:gd name="T0" fmla="*/ 0 w 121"/>
                    <a:gd name="T1" fmla="*/ 120 h 121"/>
                    <a:gd name="T2" fmla="*/ 113 w 121"/>
                    <a:gd name="T3" fmla="*/ 120 h 121"/>
                    <a:gd name="T4" fmla="*/ 120 w 121"/>
                    <a:gd name="T5" fmla="*/ 113 h 121"/>
                    <a:gd name="T6" fmla="*/ 120 w 121"/>
                    <a:gd name="T7" fmla="*/ 0 h 121"/>
                  </a:gdLst>
                  <a:ahLst/>
                  <a:cxnLst>
                    <a:cxn ang="0">
                      <a:pos x="T0" y="T1"/>
                    </a:cxn>
                    <a:cxn ang="0">
                      <a:pos x="T2" y="T3"/>
                    </a:cxn>
                    <a:cxn ang="0">
                      <a:pos x="T4" y="T5"/>
                    </a:cxn>
                    <a:cxn ang="0">
                      <a:pos x="T6" y="T7"/>
                    </a:cxn>
                  </a:cxnLst>
                  <a:rect l="0" t="0" r="r" b="b"/>
                  <a:pathLst>
                    <a:path w="121" h="121">
                      <a:moveTo>
                        <a:pt x="0" y="120"/>
                      </a:moveTo>
                      <a:cubicBezTo>
                        <a:pt x="38" y="120"/>
                        <a:pt x="76" y="120"/>
                        <a:pt x="113" y="120"/>
                      </a:cubicBezTo>
                      <a:cubicBezTo>
                        <a:pt x="117" y="120"/>
                        <a:pt x="120" y="117"/>
                        <a:pt x="120" y="113"/>
                      </a:cubicBezTo>
                      <a:cubicBezTo>
                        <a:pt x="120" y="75"/>
                        <a:pt x="120" y="37"/>
                        <a:pt x="12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5" name="Freeform 269">
                  <a:extLst>
                    <a:ext uri="{FF2B5EF4-FFF2-40B4-BE49-F238E27FC236}">
                      <a16:creationId xmlns:a16="http://schemas.microsoft.com/office/drawing/2014/main" id="{047CBBBD-581B-113A-3AAA-F61A7865E5A9}"/>
                    </a:ext>
                  </a:extLst>
                </p:cNvPr>
                <p:cNvSpPr>
                  <a:spLocks noChangeArrowheads="1"/>
                </p:cNvSpPr>
                <p:nvPr/>
              </p:nvSpPr>
              <p:spPr bwMode="auto">
                <a:xfrm>
                  <a:off x="7315200" y="2460625"/>
                  <a:ext cx="4763" cy="1588"/>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6" name="Freeform 270">
                  <a:extLst>
                    <a:ext uri="{FF2B5EF4-FFF2-40B4-BE49-F238E27FC236}">
                      <a16:creationId xmlns:a16="http://schemas.microsoft.com/office/drawing/2014/main" id="{E73608E4-2275-3CE6-97A0-77A153EE7F72}"/>
                    </a:ext>
                  </a:extLst>
                </p:cNvPr>
                <p:cNvSpPr>
                  <a:spLocks noChangeArrowheads="1"/>
                </p:cNvSpPr>
                <p:nvPr/>
              </p:nvSpPr>
              <p:spPr bwMode="auto">
                <a:xfrm>
                  <a:off x="7315200" y="2566988"/>
                  <a:ext cx="4763" cy="1587"/>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7" name="Freeform 271">
                  <a:extLst>
                    <a:ext uri="{FF2B5EF4-FFF2-40B4-BE49-F238E27FC236}">
                      <a16:creationId xmlns:a16="http://schemas.microsoft.com/office/drawing/2014/main" id="{0A3D8600-2BC6-E75F-CDC5-B5C27F808629}"/>
                    </a:ext>
                  </a:extLst>
                </p:cNvPr>
                <p:cNvSpPr>
                  <a:spLocks noChangeArrowheads="1"/>
                </p:cNvSpPr>
                <p:nvPr/>
              </p:nvSpPr>
              <p:spPr bwMode="auto">
                <a:xfrm>
                  <a:off x="7370763" y="2511425"/>
                  <a:ext cx="1587"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8" name="Freeform 272">
                  <a:extLst>
                    <a:ext uri="{FF2B5EF4-FFF2-40B4-BE49-F238E27FC236}">
                      <a16:creationId xmlns:a16="http://schemas.microsoft.com/office/drawing/2014/main" id="{F2BD8789-3703-3509-4093-73BF4D76BA1B}"/>
                    </a:ext>
                  </a:extLst>
                </p:cNvPr>
                <p:cNvSpPr>
                  <a:spLocks noChangeArrowheads="1"/>
                </p:cNvSpPr>
                <p:nvPr/>
              </p:nvSpPr>
              <p:spPr bwMode="auto">
                <a:xfrm>
                  <a:off x="7264400" y="2511425"/>
                  <a:ext cx="1588"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9" name="Freeform 273">
                  <a:extLst>
                    <a:ext uri="{FF2B5EF4-FFF2-40B4-BE49-F238E27FC236}">
                      <a16:creationId xmlns:a16="http://schemas.microsoft.com/office/drawing/2014/main" id="{AD02B8EF-CB04-BA14-884A-40F530AD6FEB}"/>
                    </a:ext>
                  </a:extLst>
                </p:cNvPr>
                <p:cNvSpPr>
                  <a:spLocks noChangeArrowheads="1"/>
                </p:cNvSpPr>
                <p:nvPr/>
              </p:nvSpPr>
              <p:spPr bwMode="auto">
                <a:xfrm>
                  <a:off x="7289800" y="2466975"/>
                  <a:ext cx="3175" cy="1588"/>
                </a:xfrm>
                <a:custGeom>
                  <a:avLst/>
                  <a:gdLst>
                    <a:gd name="T0" fmla="*/ 9 w 10"/>
                    <a:gd name="T1" fmla="*/ 0 h 6"/>
                    <a:gd name="T2" fmla="*/ 0 w 10"/>
                    <a:gd name="T3" fmla="*/ 5 h 6"/>
                  </a:gdLst>
                  <a:ahLst/>
                  <a:cxnLst>
                    <a:cxn ang="0">
                      <a:pos x="T0" y="T1"/>
                    </a:cxn>
                    <a:cxn ang="0">
                      <a:pos x="T2" y="T3"/>
                    </a:cxn>
                  </a:cxnLst>
                  <a:rect l="0" t="0" r="r" b="b"/>
                  <a:pathLst>
                    <a:path w="10" h="6">
                      <a:moveTo>
                        <a:pt x="9" y="0"/>
                      </a:moveTo>
                      <a:cubicBezTo>
                        <a:pt x="6" y="1"/>
                        <a:pt x="3" y="3"/>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0" name="Freeform 274">
                  <a:extLst>
                    <a:ext uri="{FF2B5EF4-FFF2-40B4-BE49-F238E27FC236}">
                      <a16:creationId xmlns:a16="http://schemas.microsoft.com/office/drawing/2014/main" id="{3CE84D57-00A0-F1D4-8B76-763A0702BDE6}"/>
                    </a:ext>
                  </a:extLst>
                </p:cNvPr>
                <p:cNvSpPr>
                  <a:spLocks noChangeArrowheads="1"/>
                </p:cNvSpPr>
                <p:nvPr/>
              </p:nvSpPr>
              <p:spPr bwMode="auto">
                <a:xfrm>
                  <a:off x="7342188" y="2559050"/>
                  <a:ext cx="3175" cy="3175"/>
                </a:xfrm>
                <a:custGeom>
                  <a:avLst/>
                  <a:gdLst>
                    <a:gd name="T0" fmla="*/ 9 w 10"/>
                    <a:gd name="T1" fmla="*/ 0 h 7"/>
                    <a:gd name="T2" fmla="*/ 0 w 10"/>
                    <a:gd name="T3" fmla="*/ 6 h 7"/>
                  </a:gdLst>
                  <a:ahLst/>
                  <a:cxnLst>
                    <a:cxn ang="0">
                      <a:pos x="T0" y="T1"/>
                    </a:cxn>
                    <a:cxn ang="0">
                      <a:pos x="T2" y="T3"/>
                    </a:cxn>
                  </a:cxnLst>
                  <a:rect l="0" t="0" r="r" b="b"/>
                  <a:pathLst>
                    <a:path w="10" h="7">
                      <a:moveTo>
                        <a:pt x="9" y="0"/>
                      </a:moveTo>
                      <a:cubicBezTo>
                        <a:pt x="6" y="2"/>
                        <a:pt x="3" y="4"/>
                        <a:pt x="0" y="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1" name="Freeform 275">
                  <a:extLst>
                    <a:ext uri="{FF2B5EF4-FFF2-40B4-BE49-F238E27FC236}">
                      <a16:creationId xmlns:a16="http://schemas.microsoft.com/office/drawing/2014/main" id="{89548ED5-0B0D-A939-2C24-8103E3F7AD6A}"/>
                    </a:ext>
                  </a:extLst>
                </p:cNvPr>
                <p:cNvSpPr>
                  <a:spLocks noChangeArrowheads="1"/>
                </p:cNvSpPr>
                <p:nvPr/>
              </p:nvSpPr>
              <p:spPr bwMode="auto">
                <a:xfrm>
                  <a:off x="7362825" y="2486025"/>
                  <a:ext cx="1588" cy="3175"/>
                </a:xfrm>
                <a:custGeom>
                  <a:avLst/>
                  <a:gdLst>
                    <a:gd name="T0" fmla="*/ 5 w 6"/>
                    <a:gd name="T1" fmla="*/ 9 h 10"/>
                    <a:gd name="T2" fmla="*/ 0 w 6"/>
                    <a:gd name="T3" fmla="*/ 0 h 10"/>
                  </a:gdLst>
                  <a:ahLst/>
                  <a:cxnLst>
                    <a:cxn ang="0">
                      <a:pos x="T0" y="T1"/>
                    </a:cxn>
                    <a:cxn ang="0">
                      <a:pos x="T2" y="T3"/>
                    </a:cxn>
                  </a:cxnLst>
                  <a:rect l="0" t="0" r="r" b="b"/>
                  <a:pathLst>
                    <a:path w="6" h="10">
                      <a:moveTo>
                        <a:pt x="5"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2" name="Freeform 276">
                  <a:extLst>
                    <a:ext uri="{FF2B5EF4-FFF2-40B4-BE49-F238E27FC236}">
                      <a16:creationId xmlns:a16="http://schemas.microsoft.com/office/drawing/2014/main" id="{3829184D-9425-7C31-4B45-A30DC5801277}"/>
                    </a:ext>
                  </a:extLst>
                </p:cNvPr>
                <p:cNvSpPr>
                  <a:spLocks noChangeArrowheads="1"/>
                </p:cNvSpPr>
                <p:nvPr/>
              </p:nvSpPr>
              <p:spPr bwMode="auto">
                <a:xfrm>
                  <a:off x="7270750" y="2538413"/>
                  <a:ext cx="3175" cy="3175"/>
                </a:xfrm>
                <a:custGeom>
                  <a:avLst/>
                  <a:gdLst>
                    <a:gd name="T0" fmla="*/ 6 w 7"/>
                    <a:gd name="T1" fmla="*/ 9 h 10"/>
                    <a:gd name="T2" fmla="*/ 0 w 7"/>
                    <a:gd name="T3" fmla="*/ 0 h 10"/>
                  </a:gdLst>
                  <a:ahLst/>
                  <a:cxnLst>
                    <a:cxn ang="0">
                      <a:pos x="T0" y="T1"/>
                    </a:cxn>
                    <a:cxn ang="0">
                      <a:pos x="T2" y="T3"/>
                    </a:cxn>
                  </a:cxnLst>
                  <a:rect l="0" t="0" r="r" b="b"/>
                  <a:pathLst>
                    <a:path w="7" h="10">
                      <a:moveTo>
                        <a:pt x="6"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3" name="Freeform 277">
                  <a:extLst>
                    <a:ext uri="{FF2B5EF4-FFF2-40B4-BE49-F238E27FC236}">
                      <a16:creationId xmlns:a16="http://schemas.microsoft.com/office/drawing/2014/main" id="{4440CE82-A981-CAE7-2ED9-77E1326BF7BF}"/>
                    </a:ext>
                  </a:extLst>
                </p:cNvPr>
                <p:cNvSpPr>
                  <a:spLocks noChangeArrowheads="1"/>
                </p:cNvSpPr>
                <p:nvPr/>
              </p:nvSpPr>
              <p:spPr bwMode="auto">
                <a:xfrm>
                  <a:off x="7270750" y="2486025"/>
                  <a:ext cx="3175" cy="3175"/>
                </a:xfrm>
                <a:custGeom>
                  <a:avLst/>
                  <a:gdLst>
                    <a:gd name="T0" fmla="*/ 6 w 7"/>
                    <a:gd name="T1" fmla="*/ 0 h 10"/>
                    <a:gd name="T2" fmla="*/ 0 w 7"/>
                    <a:gd name="T3" fmla="*/ 9 h 10"/>
                  </a:gdLst>
                  <a:ahLst/>
                  <a:cxnLst>
                    <a:cxn ang="0">
                      <a:pos x="T0" y="T1"/>
                    </a:cxn>
                    <a:cxn ang="0">
                      <a:pos x="T2" y="T3"/>
                    </a:cxn>
                  </a:cxnLst>
                  <a:rect l="0" t="0" r="r" b="b"/>
                  <a:pathLst>
                    <a:path w="7" h="10">
                      <a:moveTo>
                        <a:pt x="6"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4" name="Freeform 278">
                  <a:extLst>
                    <a:ext uri="{FF2B5EF4-FFF2-40B4-BE49-F238E27FC236}">
                      <a16:creationId xmlns:a16="http://schemas.microsoft.com/office/drawing/2014/main" id="{3A111892-7820-23BA-B99C-AFB7BEEC909A}"/>
                    </a:ext>
                  </a:extLst>
                </p:cNvPr>
                <p:cNvSpPr>
                  <a:spLocks noChangeArrowheads="1"/>
                </p:cNvSpPr>
                <p:nvPr/>
              </p:nvSpPr>
              <p:spPr bwMode="auto">
                <a:xfrm>
                  <a:off x="7362825" y="2538413"/>
                  <a:ext cx="1588" cy="3175"/>
                </a:xfrm>
                <a:custGeom>
                  <a:avLst/>
                  <a:gdLst>
                    <a:gd name="T0" fmla="*/ 5 w 6"/>
                    <a:gd name="T1" fmla="*/ 0 h 10"/>
                    <a:gd name="T2" fmla="*/ 0 w 6"/>
                    <a:gd name="T3" fmla="*/ 9 h 10"/>
                  </a:gdLst>
                  <a:ahLst/>
                  <a:cxnLst>
                    <a:cxn ang="0">
                      <a:pos x="T0" y="T1"/>
                    </a:cxn>
                    <a:cxn ang="0">
                      <a:pos x="T2" y="T3"/>
                    </a:cxn>
                  </a:cxnLst>
                  <a:rect l="0" t="0" r="r" b="b"/>
                  <a:pathLst>
                    <a:path w="6" h="10">
                      <a:moveTo>
                        <a:pt x="5"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5" name="Freeform 279">
                  <a:extLst>
                    <a:ext uri="{FF2B5EF4-FFF2-40B4-BE49-F238E27FC236}">
                      <a16:creationId xmlns:a16="http://schemas.microsoft.com/office/drawing/2014/main" id="{F70C76B2-71FB-06D9-E973-E6DAF719FD03}"/>
                    </a:ext>
                  </a:extLst>
                </p:cNvPr>
                <p:cNvSpPr>
                  <a:spLocks noChangeArrowheads="1"/>
                </p:cNvSpPr>
                <p:nvPr/>
              </p:nvSpPr>
              <p:spPr bwMode="auto">
                <a:xfrm>
                  <a:off x="7342188" y="2466975"/>
                  <a:ext cx="3175" cy="1588"/>
                </a:xfrm>
                <a:custGeom>
                  <a:avLst/>
                  <a:gdLst>
                    <a:gd name="T0" fmla="*/ 9 w 10"/>
                    <a:gd name="T1" fmla="*/ 5 h 6"/>
                    <a:gd name="T2" fmla="*/ 0 w 10"/>
                    <a:gd name="T3" fmla="*/ 0 h 6"/>
                  </a:gdLst>
                  <a:ahLst/>
                  <a:cxnLst>
                    <a:cxn ang="0">
                      <a:pos x="T0" y="T1"/>
                    </a:cxn>
                    <a:cxn ang="0">
                      <a:pos x="T2" y="T3"/>
                    </a:cxn>
                  </a:cxnLst>
                  <a:rect l="0" t="0" r="r" b="b"/>
                  <a:pathLst>
                    <a:path w="10" h="6">
                      <a:moveTo>
                        <a:pt x="9" y="5"/>
                      </a:moveTo>
                      <a:cubicBezTo>
                        <a:pt x="6" y="3"/>
                        <a:pt x="3" y="1"/>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6" name="Freeform 280">
                  <a:extLst>
                    <a:ext uri="{FF2B5EF4-FFF2-40B4-BE49-F238E27FC236}">
                      <a16:creationId xmlns:a16="http://schemas.microsoft.com/office/drawing/2014/main" id="{83FF4037-CE98-2741-FD64-7445266F0E03}"/>
                    </a:ext>
                  </a:extLst>
                </p:cNvPr>
                <p:cNvSpPr>
                  <a:spLocks noChangeArrowheads="1"/>
                </p:cNvSpPr>
                <p:nvPr/>
              </p:nvSpPr>
              <p:spPr bwMode="auto">
                <a:xfrm>
                  <a:off x="7289800" y="2559050"/>
                  <a:ext cx="3175" cy="3175"/>
                </a:xfrm>
                <a:custGeom>
                  <a:avLst/>
                  <a:gdLst>
                    <a:gd name="T0" fmla="*/ 9 w 10"/>
                    <a:gd name="T1" fmla="*/ 6 h 7"/>
                    <a:gd name="T2" fmla="*/ 0 w 10"/>
                    <a:gd name="T3" fmla="*/ 0 h 7"/>
                  </a:gdLst>
                  <a:ahLst/>
                  <a:cxnLst>
                    <a:cxn ang="0">
                      <a:pos x="T0" y="T1"/>
                    </a:cxn>
                    <a:cxn ang="0">
                      <a:pos x="T2" y="T3"/>
                    </a:cxn>
                  </a:cxnLst>
                  <a:rect l="0" t="0" r="r" b="b"/>
                  <a:pathLst>
                    <a:path w="10" h="7">
                      <a:moveTo>
                        <a:pt x="9" y="6"/>
                      </a:moveTo>
                      <a:cubicBezTo>
                        <a:pt x="6" y="4"/>
                        <a:pt x="3"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56" name="Group 55">
              <a:extLst>
                <a:ext uri="{FF2B5EF4-FFF2-40B4-BE49-F238E27FC236}">
                  <a16:creationId xmlns:a16="http://schemas.microsoft.com/office/drawing/2014/main" id="{258848AA-F375-5BC9-B2DE-ACEE5EC8EBDC}"/>
                </a:ext>
              </a:extLst>
            </p:cNvPr>
            <p:cNvGrpSpPr>
              <a:grpSpLocks noChangeAspect="1"/>
            </p:cNvGrpSpPr>
            <p:nvPr/>
          </p:nvGrpSpPr>
          <p:grpSpPr>
            <a:xfrm>
              <a:off x="20259236" y="4039104"/>
              <a:ext cx="1114744" cy="1113509"/>
              <a:chOff x="2346325" y="4090988"/>
              <a:chExt cx="630238" cy="630237"/>
            </a:xfrm>
          </p:grpSpPr>
          <p:sp>
            <p:nvSpPr>
              <p:cNvPr id="57" name="Freeform 134">
                <a:extLst>
                  <a:ext uri="{FF2B5EF4-FFF2-40B4-BE49-F238E27FC236}">
                    <a16:creationId xmlns:a16="http://schemas.microsoft.com/office/drawing/2014/main" id="{8F7490DB-494B-8C55-AC9F-3CBF7A7A154F}"/>
                  </a:ext>
                </a:extLst>
              </p:cNvPr>
              <p:cNvSpPr>
                <a:spLocks noChangeArrowheads="1"/>
              </p:cNvSpPr>
              <p:nvPr/>
            </p:nvSpPr>
            <p:spPr bwMode="auto">
              <a:xfrm>
                <a:off x="2346325" y="4090988"/>
                <a:ext cx="630238" cy="630237"/>
              </a:xfrm>
              <a:custGeom>
                <a:avLst/>
                <a:gdLst>
                  <a:gd name="T0" fmla="*/ 1467 w 1750"/>
                  <a:gd name="T1" fmla="*/ 1750 h 1751"/>
                  <a:gd name="T2" fmla="*/ 1749 w 1750"/>
                  <a:gd name="T3" fmla="*/ 1468 h 1751"/>
                  <a:gd name="T4" fmla="*/ 1749 w 1750"/>
                  <a:gd name="T5" fmla="*/ 282 h 1751"/>
                  <a:gd name="T6" fmla="*/ 1467 w 1750"/>
                  <a:gd name="T7" fmla="*/ 0 h 1751"/>
                  <a:gd name="T8" fmla="*/ 282 w 1750"/>
                  <a:gd name="T9" fmla="*/ 0 h 1751"/>
                  <a:gd name="T10" fmla="*/ 0 w 1750"/>
                  <a:gd name="T11" fmla="*/ 282 h 1751"/>
                  <a:gd name="T12" fmla="*/ 0 w 1750"/>
                  <a:gd name="T13" fmla="*/ 1468 h 1751"/>
                  <a:gd name="T14" fmla="*/ 282 w 1750"/>
                  <a:gd name="T15" fmla="*/ 1750 h 1751"/>
                  <a:gd name="T16" fmla="*/ 1467 w 1750"/>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1">
                    <a:moveTo>
                      <a:pt x="1467" y="1750"/>
                    </a:moveTo>
                    <a:cubicBezTo>
                      <a:pt x="1622" y="1750"/>
                      <a:pt x="1749" y="1623"/>
                      <a:pt x="1749" y="1468"/>
                    </a:cubicBezTo>
                    <a:cubicBezTo>
                      <a:pt x="1749" y="1073"/>
                      <a:pt x="1749" y="678"/>
                      <a:pt x="1749" y="282"/>
                    </a:cubicBezTo>
                    <a:cubicBezTo>
                      <a:pt x="1749" y="127"/>
                      <a:pt x="1622" y="0"/>
                      <a:pt x="1467" y="0"/>
                    </a:cubicBezTo>
                    <a:cubicBezTo>
                      <a:pt x="1072" y="0"/>
                      <a:pt x="677" y="0"/>
                      <a:pt x="282" y="0"/>
                    </a:cubicBezTo>
                    <a:cubicBezTo>
                      <a:pt x="127" y="0"/>
                      <a:pt x="0" y="127"/>
                      <a:pt x="0" y="282"/>
                    </a:cubicBezTo>
                    <a:cubicBezTo>
                      <a:pt x="0" y="678"/>
                      <a:pt x="0" y="1073"/>
                      <a:pt x="0" y="1468"/>
                    </a:cubicBezTo>
                    <a:cubicBezTo>
                      <a:pt x="0" y="1623"/>
                      <a:pt x="127" y="1750"/>
                      <a:pt x="282" y="1750"/>
                    </a:cubicBezTo>
                    <a:cubicBezTo>
                      <a:pt x="677" y="1750"/>
                      <a:pt x="1072" y="1750"/>
                      <a:pt x="1467"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58" name="Group 57">
                <a:extLst>
                  <a:ext uri="{FF2B5EF4-FFF2-40B4-BE49-F238E27FC236}">
                    <a16:creationId xmlns:a16="http://schemas.microsoft.com/office/drawing/2014/main" id="{1590ACC1-B000-28DA-84AF-80DE175EA564}"/>
                  </a:ext>
                </a:extLst>
              </p:cNvPr>
              <p:cNvGrpSpPr/>
              <p:nvPr/>
            </p:nvGrpSpPr>
            <p:grpSpPr>
              <a:xfrm>
                <a:off x="2455863" y="4235450"/>
                <a:ext cx="411162" cy="342900"/>
                <a:chOff x="2455863" y="4235450"/>
                <a:chExt cx="411162" cy="342900"/>
              </a:xfrm>
            </p:grpSpPr>
            <p:sp>
              <p:nvSpPr>
                <p:cNvPr id="59" name="Freeform 135">
                  <a:extLst>
                    <a:ext uri="{FF2B5EF4-FFF2-40B4-BE49-F238E27FC236}">
                      <a16:creationId xmlns:a16="http://schemas.microsoft.com/office/drawing/2014/main" id="{0E2A97F4-565B-BBFA-1C04-A67D9F3DD05D}"/>
                    </a:ext>
                  </a:extLst>
                </p:cNvPr>
                <p:cNvSpPr>
                  <a:spLocks noChangeArrowheads="1"/>
                </p:cNvSpPr>
                <p:nvPr/>
              </p:nvSpPr>
              <p:spPr bwMode="auto">
                <a:xfrm>
                  <a:off x="2459038" y="4235450"/>
                  <a:ext cx="254000" cy="244475"/>
                </a:xfrm>
                <a:custGeom>
                  <a:avLst/>
                  <a:gdLst>
                    <a:gd name="T0" fmla="*/ 706 w 707"/>
                    <a:gd name="T1" fmla="*/ 0 h 679"/>
                    <a:gd name="T2" fmla="*/ 0 w 707"/>
                    <a:gd name="T3" fmla="*/ 678 h 679"/>
                  </a:gdLst>
                  <a:ahLst/>
                  <a:cxnLst>
                    <a:cxn ang="0">
                      <a:pos x="T0" y="T1"/>
                    </a:cxn>
                    <a:cxn ang="0">
                      <a:pos x="T2" y="T3"/>
                    </a:cxn>
                  </a:cxnLst>
                  <a:rect l="0" t="0" r="r" b="b"/>
                  <a:pathLst>
                    <a:path w="707" h="679">
                      <a:moveTo>
                        <a:pt x="706" y="0"/>
                      </a:moveTo>
                      <a:cubicBezTo>
                        <a:pt x="471" y="226"/>
                        <a:pt x="235" y="452"/>
                        <a:pt x="0" y="678"/>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0" name="Freeform 136">
                  <a:extLst>
                    <a:ext uri="{FF2B5EF4-FFF2-40B4-BE49-F238E27FC236}">
                      <a16:creationId xmlns:a16="http://schemas.microsoft.com/office/drawing/2014/main" id="{4167EA81-20FF-025F-822D-EAA957F9A451}"/>
                    </a:ext>
                  </a:extLst>
                </p:cNvPr>
                <p:cNvSpPr>
                  <a:spLocks noChangeArrowheads="1"/>
                </p:cNvSpPr>
                <p:nvPr/>
              </p:nvSpPr>
              <p:spPr bwMode="auto">
                <a:xfrm>
                  <a:off x="2652713" y="4235450"/>
                  <a:ext cx="61912" cy="61913"/>
                </a:xfrm>
                <a:custGeom>
                  <a:avLst/>
                  <a:gdLst>
                    <a:gd name="T0" fmla="*/ 170 w 171"/>
                    <a:gd name="T1" fmla="*/ 169 h 170"/>
                    <a:gd name="T2" fmla="*/ 170 w 171"/>
                    <a:gd name="T3" fmla="*/ 7 h 170"/>
                    <a:gd name="T4" fmla="*/ 163 w 171"/>
                    <a:gd name="T5" fmla="*/ 0 h 170"/>
                    <a:gd name="T6" fmla="*/ 0 w 171"/>
                    <a:gd name="T7" fmla="*/ 0 h 170"/>
                  </a:gdLst>
                  <a:ahLst/>
                  <a:cxnLst>
                    <a:cxn ang="0">
                      <a:pos x="T0" y="T1"/>
                    </a:cxn>
                    <a:cxn ang="0">
                      <a:pos x="T2" y="T3"/>
                    </a:cxn>
                    <a:cxn ang="0">
                      <a:pos x="T4" y="T5"/>
                    </a:cxn>
                    <a:cxn ang="0">
                      <a:pos x="T6" y="T7"/>
                    </a:cxn>
                  </a:cxnLst>
                  <a:rect l="0" t="0" r="r" b="b"/>
                  <a:pathLst>
                    <a:path w="171" h="170">
                      <a:moveTo>
                        <a:pt x="170" y="169"/>
                      </a:moveTo>
                      <a:cubicBezTo>
                        <a:pt x="170" y="115"/>
                        <a:pt x="170" y="61"/>
                        <a:pt x="170" y="7"/>
                      </a:cubicBezTo>
                      <a:cubicBezTo>
                        <a:pt x="170" y="3"/>
                        <a:pt x="167" y="0"/>
                        <a:pt x="163" y="0"/>
                      </a:cubicBezTo>
                      <a:cubicBezTo>
                        <a:pt x="109" y="0"/>
                        <a:pt x="5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1" name="Freeform 137">
                  <a:extLst>
                    <a:ext uri="{FF2B5EF4-FFF2-40B4-BE49-F238E27FC236}">
                      <a16:creationId xmlns:a16="http://schemas.microsoft.com/office/drawing/2014/main" id="{824D3748-A21A-71F1-0E27-97D9F38E08FA}"/>
                    </a:ext>
                  </a:extLst>
                </p:cNvPr>
                <p:cNvSpPr>
                  <a:spLocks noChangeArrowheads="1"/>
                </p:cNvSpPr>
                <p:nvPr/>
              </p:nvSpPr>
              <p:spPr bwMode="auto">
                <a:xfrm>
                  <a:off x="2749550" y="4235450"/>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2" name="Freeform 138">
                  <a:extLst>
                    <a:ext uri="{FF2B5EF4-FFF2-40B4-BE49-F238E27FC236}">
                      <a16:creationId xmlns:a16="http://schemas.microsoft.com/office/drawing/2014/main" id="{E61C3645-5163-E3F0-72E3-CA0BBF641333}"/>
                    </a:ext>
                  </a:extLst>
                </p:cNvPr>
                <p:cNvSpPr>
                  <a:spLocks noChangeArrowheads="1"/>
                </p:cNvSpPr>
                <p:nvPr/>
              </p:nvSpPr>
              <p:spPr bwMode="auto">
                <a:xfrm>
                  <a:off x="2825750" y="4265613"/>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3" name="Freeform 139">
                  <a:extLst>
                    <a:ext uri="{FF2B5EF4-FFF2-40B4-BE49-F238E27FC236}">
                      <a16:creationId xmlns:a16="http://schemas.microsoft.com/office/drawing/2014/main" id="{147D8023-52FE-AB18-35ED-83AF30623223}"/>
                    </a:ext>
                  </a:extLst>
                </p:cNvPr>
                <p:cNvSpPr>
                  <a:spLocks noChangeArrowheads="1"/>
                </p:cNvSpPr>
                <p:nvPr/>
              </p:nvSpPr>
              <p:spPr bwMode="auto">
                <a:xfrm>
                  <a:off x="2749550" y="4329113"/>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4" name="Freeform 140">
                  <a:extLst>
                    <a:ext uri="{FF2B5EF4-FFF2-40B4-BE49-F238E27FC236}">
                      <a16:creationId xmlns:a16="http://schemas.microsoft.com/office/drawing/2014/main" id="{9D2BF301-0C21-A538-0433-3FEDA844FE0F}"/>
                    </a:ext>
                  </a:extLst>
                </p:cNvPr>
                <p:cNvSpPr>
                  <a:spLocks noChangeArrowheads="1"/>
                </p:cNvSpPr>
                <p:nvPr/>
              </p:nvSpPr>
              <p:spPr bwMode="auto">
                <a:xfrm>
                  <a:off x="2825750" y="4359275"/>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5" name="Freeform 141">
                  <a:extLst>
                    <a:ext uri="{FF2B5EF4-FFF2-40B4-BE49-F238E27FC236}">
                      <a16:creationId xmlns:a16="http://schemas.microsoft.com/office/drawing/2014/main" id="{41A19EA8-45F0-8DE7-AF6C-9ECE83CDD444}"/>
                    </a:ext>
                  </a:extLst>
                </p:cNvPr>
                <p:cNvSpPr>
                  <a:spLocks noChangeArrowheads="1"/>
                </p:cNvSpPr>
                <p:nvPr/>
              </p:nvSpPr>
              <p:spPr bwMode="auto">
                <a:xfrm>
                  <a:off x="2749550" y="4422775"/>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6" name="Freeform 142">
                  <a:extLst>
                    <a:ext uri="{FF2B5EF4-FFF2-40B4-BE49-F238E27FC236}">
                      <a16:creationId xmlns:a16="http://schemas.microsoft.com/office/drawing/2014/main" id="{CC97CE20-7006-7607-0458-A0B4E79B4890}"/>
                    </a:ext>
                  </a:extLst>
                </p:cNvPr>
                <p:cNvSpPr>
                  <a:spLocks noChangeArrowheads="1"/>
                </p:cNvSpPr>
                <p:nvPr/>
              </p:nvSpPr>
              <p:spPr bwMode="auto">
                <a:xfrm>
                  <a:off x="2825750" y="4452938"/>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7" name="Freeform 143">
                  <a:extLst>
                    <a:ext uri="{FF2B5EF4-FFF2-40B4-BE49-F238E27FC236}">
                      <a16:creationId xmlns:a16="http://schemas.microsoft.com/office/drawing/2014/main" id="{BE642D7A-84AF-3437-5841-C4A320F4E15B}"/>
                    </a:ext>
                  </a:extLst>
                </p:cNvPr>
                <p:cNvSpPr>
                  <a:spLocks noChangeArrowheads="1"/>
                </p:cNvSpPr>
                <p:nvPr/>
              </p:nvSpPr>
              <p:spPr bwMode="auto">
                <a:xfrm>
                  <a:off x="2749550" y="4516438"/>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8" name="Freeform 144">
                  <a:extLst>
                    <a:ext uri="{FF2B5EF4-FFF2-40B4-BE49-F238E27FC236}">
                      <a16:creationId xmlns:a16="http://schemas.microsoft.com/office/drawing/2014/main" id="{069C215B-E238-8749-2293-AB40D9CFE65E}"/>
                    </a:ext>
                  </a:extLst>
                </p:cNvPr>
                <p:cNvSpPr>
                  <a:spLocks noChangeArrowheads="1"/>
                </p:cNvSpPr>
                <p:nvPr/>
              </p:nvSpPr>
              <p:spPr bwMode="auto">
                <a:xfrm>
                  <a:off x="2825750" y="4546600"/>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9" name="Freeform 145">
                  <a:extLst>
                    <a:ext uri="{FF2B5EF4-FFF2-40B4-BE49-F238E27FC236}">
                      <a16:creationId xmlns:a16="http://schemas.microsoft.com/office/drawing/2014/main" id="{C646E867-E0BA-E1B8-996D-8C59F1D1098C}"/>
                    </a:ext>
                  </a:extLst>
                </p:cNvPr>
                <p:cNvSpPr>
                  <a:spLocks noChangeArrowheads="1"/>
                </p:cNvSpPr>
                <p:nvPr/>
              </p:nvSpPr>
              <p:spPr bwMode="auto">
                <a:xfrm>
                  <a:off x="2601913" y="4422775"/>
                  <a:ext cx="117475" cy="61913"/>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0" name="Freeform 146">
                  <a:extLst>
                    <a:ext uri="{FF2B5EF4-FFF2-40B4-BE49-F238E27FC236}">
                      <a16:creationId xmlns:a16="http://schemas.microsoft.com/office/drawing/2014/main" id="{6FC36467-CAE1-5A8E-2269-734228B26224}"/>
                    </a:ext>
                  </a:extLst>
                </p:cNvPr>
                <p:cNvSpPr>
                  <a:spLocks noChangeArrowheads="1"/>
                </p:cNvSpPr>
                <p:nvPr/>
              </p:nvSpPr>
              <p:spPr bwMode="auto">
                <a:xfrm>
                  <a:off x="2678113" y="4452938"/>
                  <a:ext cx="15875" cy="1587"/>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1" name="Freeform 147">
                  <a:extLst>
                    <a:ext uri="{FF2B5EF4-FFF2-40B4-BE49-F238E27FC236}">
                      <a16:creationId xmlns:a16="http://schemas.microsoft.com/office/drawing/2014/main" id="{4B435EF4-22E9-F8BF-74E7-FD44D6D37142}"/>
                    </a:ext>
                  </a:extLst>
                </p:cNvPr>
                <p:cNvSpPr>
                  <a:spLocks noChangeArrowheads="1"/>
                </p:cNvSpPr>
                <p:nvPr/>
              </p:nvSpPr>
              <p:spPr bwMode="auto">
                <a:xfrm>
                  <a:off x="260191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2" name="Freeform 148">
                  <a:extLst>
                    <a:ext uri="{FF2B5EF4-FFF2-40B4-BE49-F238E27FC236}">
                      <a16:creationId xmlns:a16="http://schemas.microsoft.com/office/drawing/2014/main" id="{35CA169E-62B0-9B88-C375-3870498F401E}"/>
                    </a:ext>
                  </a:extLst>
                </p:cNvPr>
                <p:cNvSpPr>
                  <a:spLocks noChangeArrowheads="1"/>
                </p:cNvSpPr>
                <p:nvPr/>
              </p:nvSpPr>
              <p:spPr bwMode="auto">
                <a:xfrm>
                  <a:off x="267811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3" name="Freeform 149">
                  <a:extLst>
                    <a:ext uri="{FF2B5EF4-FFF2-40B4-BE49-F238E27FC236}">
                      <a16:creationId xmlns:a16="http://schemas.microsoft.com/office/drawing/2014/main" id="{1406658F-B31F-44E4-3F9E-7B9F6B5EE71C}"/>
                    </a:ext>
                  </a:extLst>
                </p:cNvPr>
                <p:cNvSpPr>
                  <a:spLocks noChangeArrowheads="1"/>
                </p:cNvSpPr>
                <p:nvPr/>
              </p:nvSpPr>
              <p:spPr bwMode="auto">
                <a:xfrm>
                  <a:off x="245586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299" y="0"/>
                        <a:pt x="268" y="0"/>
                      </a:cubicBezTo>
                      <a:cubicBezTo>
                        <a:pt x="198" y="0"/>
                        <a:pt x="127" y="0"/>
                        <a:pt x="57" y="0"/>
                      </a:cubicBezTo>
                      <a:cubicBezTo>
                        <a:pt x="25" y="0"/>
                        <a:pt x="0" y="25"/>
                        <a:pt x="0" y="56"/>
                      </a:cubicBezTo>
                      <a:cubicBezTo>
                        <a:pt x="0" y="75"/>
                        <a:pt x="0" y="94"/>
                        <a:pt x="0" y="113"/>
                      </a:cubicBezTo>
                      <a:cubicBezTo>
                        <a:pt x="0" y="144"/>
                        <a:pt x="25" y="169"/>
                        <a:pt x="57" y="169"/>
                      </a:cubicBezTo>
                      <a:cubicBezTo>
                        <a:pt x="127" y="169"/>
                        <a:pt x="198" y="169"/>
                        <a:pt x="268" y="169"/>
                      </a:cubicBezTo>
                      <a:cubicBezTo>
                        <a:pt x="299"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4" name="Freeform 150">
                  <a:extLst>
                    <a:ext uri="{FF2B5EF4-FFF2-40B4-BE49-F238E27FC236}">
                      <a16:creationId xmlns:a16="http://schemas.microsoft.com/office/drawing/2014/main" id="{1D94BC9C-267E-879C-5D12-6728F1A02B9D}"/>
                    </a:ext>
                  </a:extLst>
                </p:cNvPr>
                <p:cNvSpPr>
                  <a:spLocks noChangeArrowheads="1"/>
                </p:cNvSpPr>
                <p:nvPr/>
              </p:nvSpPr>
              <p:spPr bwMode="auto">
                <a:xfrm>
                  <a:off x="253206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79" name="Group 78">
              <a:extLst>
                <a:ext uri="{FF2B5EF4-FFF2-40B4-BE49-F238E27FC236}">
                  <a16:creationId xmlns:a16="http://schemas.microsoft.com/office/drawing/2014/main" id="{43D4FECB-45D1-423E-5F70-4BF4D4DFB2F8}"/>
                </a:ext>
              </a:extLst>
            </p:cNvPr>
            <p:cNvGrpSpPr>
              <a:grpSpLocks noChangeAspect="1"/>
            </p:cNvGrpSpPr>
            <p:nvPr/>
          </p:nvGrpSpPr>
          <p:grpSpPr>
            <a:xfrm>
              <a:off x="20258349" y="9558143"/>
              <a:ext cx="1113508" cy="1113510"/>
              <a:chOff x="10655081" y="510378"/>
              <a:chExt cx="788067" cy="788068"/>
            </a:xfrm>
          </p:grpSpPr>
          <p:sp>
            <p:nvSpPr>
              <p:cNvPr id="80" name="Freeform 63">
                <a:extLst>
                  <a:ext uri="{FF2B5EF4-FFF2-40B4-BE49-F238E27FC236}">
                    <a16:creationId xmlns:a16="http://schemas.microsoft.com/office/drawing/2014/main" id="{3514EE83-25CA-B117-5629-8112B59DE777}"/>
                  </a:ext>
                </a:extLst>
              </p:cNvPr>
              <p:cNvSpPr>
                <a:spLocks noChangeArrowheads="1"/>
              </p:cNvSpPr>
              <p:nvPr/>
            </p:nvSpPr>
            <p:spPr bwMode="auto">
              <a:xfrm>
                <a:off x="10655081" y="510378"/>
                <a:ext cx="788067" cy="788068"/>
              </a:xfrm>
              <a:custGeom>
                <a:avLst/>
                <a:gdLst>
                  <a:gd name="T0" fmla="*/ 1468 w 1751"/>
                  <a:gd name="T1" fmla="*/ 1750 h 1751"/>
                  <a:gd name="T2" fmla="*/ 1750 w 1751"/>
                  <a:gd name="T3" fmla="*/ 1467 h 1751"/>
                  <a:gd name="T4" fmla="*/ 1750 w 1751"/>
                  <a:gd name="T5" fmla="*/ 282 h 1751"/>
                  <a:gd name="T6" fmla="*/ 1468 w 1751"/>
                  <a:gd name="T7" fmla="*/ 0 h 1751"/>
                  <a:gd name="T8" fmla="*/ 282 w 1751"/>
                  <a:gd name="T9" fmla="*/ 0 h 1751"/>
                  <a:gd name="T10" fmla="*/ 0 w 1751"/>
                  <a:gd name="T11" fmla="*/ 282 h 1751"/>
                  <a:gd name="T12" fmla="*/ 0 w 1751"/>
                  <a:gd name="T13" fmla="*/ 1467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7"/>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7"/>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1" name="Group 80">
                <a:extLst>
                  <a:ext uri="{FF2B5EF4-FFF2-40B4-BE49-F238E27FC236}">
                    <a16:creationId xmlns:a16="http://schemas.microsoft.com/office/drawing/2014/main" id="{CF061B06-3F22-6E44-61E1-E05B86AFCCAE}"/>
                  </a:ext>
                </a:extLst>
              </p:cNvPr>
              <p:cNvGrpSpPr/>
              <p:nvPr/>
            </p:nvGrpSpPr>
            <p:grpSpPr>
              <a:xfrm>
                <a:off x="10744408" y="603676"/>
                <a:ext cx="609413" cy="601472"/>
                <a:chOff x="10744408" y="603676"/>
                <a:chExt cx="609413" cy="601472"/>
              </a:xfrm>
            </p:grpSpPr>
            <p:sp>
              <p:nvSpPr>
                <p:cNvPr id="82" name="Freeform 64">
                  <a:extLst>
                    <a:ext uri="{FF2B5EF4-FFF2-40B4-BE49-F238E27FC236}">
                      <a16:creationId xmlns:a16="http://schemas.microsoft.com/office/drawing/2014/main" id="{83676F2F-D49B-A7C1-966A-C00CB891073C}"/>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3" name="Freeform 65">
                  <a:extLst>
                    <a:ext uri="{FF2B5EF4-FFF2-40B4-BE49-F238E27FC236}">
                      <a16:creationId xmlns:a16="http://schemas.microsoft.com/office/drawing/2014/main" id="{9A1D1CC8-A04E-8860-EE36-6D6CCEA60637}"/>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4" name="Freeform 66">
                  <a:extLst>
                    <a:ext uri="{FF2B5EF4-FFF2-40B4-BE49-F238E27FC236}">
                      <a16:creationId xmlns:a16="http://schemas.microsoft.com/office/drawing/2014/main" id="{F7A4C95E-7A8E-AF4B-32D9-B5271B55C01E}"/>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5" name="Freeform 67">
                  <a:extLst>
                    <a:ext uri="{FF2B5EF4-FFF2-40B4-BE49-F238E27FC236}">
                      <a16:creationId xmlns:a16="http://schemas.microsoft.com/office/drawing/2014/main" id="{A59D6A1E-3EE5-2EFE-FEB3-0112A6C11B45}"/>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sp>
        <p:nvSpPr>
          <p:cNvPr id="86" name="TextBox 85">
            <a:extLst>
              <a:ext uri="{FF2B5EF4-FFF2-40B4-BE49-F238E27FC236}">
                <a16:creationId xmlns:a16="http://schemas.microsoft.com/office/drawing/2014/main" id="{43B7B51C-D69E-ECBC-8D77-89BC4CE3C38B}"/>
              </a:ext>
            </a:extLst>
          </p:cNvPr>
          <p:cNvSpPr txBox="1"/>
          <p:nvPr/>
        </p:nvSpPr>
        <p:spPr>
          <a:xfrm>
            <a:off x="930833" y="11804145"/>
            <a:ext cx="23013031" cy="523220"/>
          </a:xfrm>
          <a:prstGeom prst="rect">
            <a:avLst/>
          </a:prstGeom>
          <a:noFill/>
        </p:spPr>
        <p:txBody>
          <a:bodyPr wrap="none" rtlCol="0">
            <a:spAutoFit/>
          </a:bodyPr>
          <a:lstStyle/>
          <a:p>
            <a:r>
              <a:rPr lang="en-GB" sz="2800" noProof="0">
                <a:latin typeface="Fira Sans" panose="020B0503050000020004" pitchFamily="34" charset="0"/>
              </a:rPr>
              <a:t>NB: Enhanced Security &amp; Data/AI analytical insights are an expected outcome of transformation, not necessarily a pure business driver. </a:t>
            </a:r>
          </a:p>
        </p:txBody>
      </p:sp>
    </p:spTree>
    <p:extLst>
      <p:ext uri="{BB962C8B-B14F-4D97-AF65-F5344CB8AC3E}">
        <p14:creationId xmlns:p14="http://schemas.microsoft.com/office/powerpoint/2010/main" val="3884642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CC9F8-C541-D5E7-C1AF-5BECA0FC0C7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12</a:t>
            </a:fld>
            <a:endParaRPr lang="en-GB" noProof="0"/>
          </a:p>
        </p:txBody>
      </p:sp>
      <p:sp>
        <p:nvSpPr>
          <p:cNvPr id="10" name="Text Placeholder 9">
            <a:extLst>
              <a:ext uri="{FF2B5EF4-FFF2-40B4-BE49-F238E27FC236}">
                <a16:creationId xmlns:a16="http://schemas.microsoft.com/office/drawing/2014/main" id="{2F2D2127-655F-F591-733D-E01168C47954}"/>
              </a:ext>
            </a:extLst>
          </p:cNvPr>
          <p:cNvSpPr>
            <a:spLocks noGrp="1"/>
          </p:cNvSpPr>
          <p:nvPr>
            <p:ph type="body" sz="quarter" idx="13"/>
          </p:nvPr>
        </p:nvSpPr>
        <p:spPr>
          <a:xfrm>
            <a:off x="746393" y="7838875"/>
            <a:ext cx="5216526" cy="2280490"/>
          </a:xfrm>
        </p:spPr>
        <p:txBody>
          <a:bodyPr anchor="ctr"/>
          <a:lstStyle/>
          <a:p>
            <a:pPr algn="ctr"/>
            <a:r>
              <a:rPr lang="en-GB" sz="3200" noProof="0">
                <a:latin typeface="Fira Sans" panose="020B0503050000020004" pitchFamily="34" charset="0"/>
              </a:rPr>
              <a:t>Reduce complexity to scale operations and delivery speed</a:t>
            </a:r>
          </a:p>
        </p:txBody>
      </p:sp>
      <p:sp>
        <p:nvSpPr>
          <p:cNvPr id="5" name="Title 1">
            <a:extLst>
              <a:ext uri="{FF2B5EF4-FFF2-40B4-BE49-F238E27FC236}">
                <a16:creationId xmlns:a16="http://schemas.microsoft.com/office/drawing/2014/main" id="{82D513FF-B00A-40DF-129C-A0FFB6386A35}"/>
              </a:ext>
            </a:extLst>
          </p:cNvPr>
          <p:cNvSpPr>
            <a:spLocks noGrp="1"/>
          </p:cNvSpPr>
          <p:nvPr>
            <p:ph type="title"/>
          </p:nvPr>
        </p:nvSpPr>
        <p:spPr>
          <a:xfrm>
            <a:off x="733863" y="3609563"/>
            <a:ext cx="5241586" cy="3062106"/>
          </a:xfrm>
        </p:spPr>
        <p:txBody>
          <a:bodyPr vert="horz" wrap="square" lIns="0" tIns="0" rIns="0" bIns="0" rtlCol="0" anchor="ctr" anchorCtr="0">
            <a:normAutofit/>
          </a:bodyPr>
          <a:lstStyle/>
          <a:p>
            <a:pPr algn="ctr"/>
            <a:r>
              <a:rPr lang="en-GB" sz="5400" kern="1200" noProof="0">
                <a:ln w="9525">
                  <a:noFill/>
                </a:ln>
                <a:latin typeface="Fira Sans" panose="020B0503050000020004" pitchFamily="34" charset="0"/>
              </a:rPr>
              <a:t>Standardisation</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 </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Simplification</a:t>
            </a:r>
          </a:p>
        </p:txBody>
      </p:sp>
      <p:sp>
        <p:nvSpPr>
          <p:cNvPr id="7" name="TextBox 6">
            <a:extLst>
              <a:ext uri="{FF2B5EF4-FFF2-40B4-BE49-F238E27FC236}">
                <a16:creationId xmlns:a16="http://schemas.microsoft.com/office/drawing/2014/main" id="{FE2DB053-C94B-762C-2A67-12C4EF24D66D}"/>
              </a:ext>
            </a:extLst>
          </p:cNvPr>
          <p:cNvSpPr txBox="1"/>
          <p:nvPr/>
        </p:nvSpPr>
        <p:spPr>
          <a:xfrm>
            <a:off x="7296912" y="1057505"/>
            <a:ext cx="16340694" cy="11264904"/>
          </a:xfrm>
          <a:prstGeom prst="rect">
            <a:avLst/>
          </a:prstGeom>
        </p:spPr>
        <p:txBody>
          <a:bodyPr vert="horz" lIns="182880" tIns="0" rIns="0" bIns="0" rtlCol="0">
            <a:normAutofit lnSpcReduction="10000"/>
          </a:bodyPr>
          <a:lstStyle/>
          <a:p>
            <a:pPr defTabSz="1828800" fontAlgn="t">
              <a:spcAft>
                <a:spcPts val="1400"/>
              </a:spcAft>
              <a:buClr>
                <a:srgbClr val="EB0000"/>
              </a:buClr>
            </a:pPr>
            <a:r>
              <a:rPr lang="en-GB" sz="3600" b="1" noProof="0">
                <a:latin typeface="Fira Sans" panose="020B0503050000020004" pitchFamily="34" charset="0"/>
              </a:rPr>
              <a:t>Goal</a:t>
            </a:r>
          </a:p>
          <a:p>
            <a:pPr marL="914400" lvl="1" indent="-457200" defTabSz="1828800" fontAlgn="t">
              <a:spcAft>
                <a:spcPts val="1400"/>
              </a:spcAft>
              <a:buClr>
                <a:srgbClr val="EB0000"/>
              </a:buClr>
              <a:buFont typeface="Arial" panose="020B0604020202020204" pitchFamily="34" charset="0"/>
              <a:buChar char="•"/>
            </a:pPr>
            <a:r>
              <a:rPr lang="en-GB" sz="3200">
                <a:latin typeface="Fira Sans" panose="020B0503050000020004" pitchFamily="34" charset="0"/>
              </a:rPr>
              <a:t>Meet North Star growth targets across all brands</a:t>
            </a:r>
          </a:p>
          <a:p>
            <a:pPr marL="1371600" lvl="2" indent="-457200" defTabSz="1828800" fontAlgn="t">
              <a:spcAft>
                <a:spcPts val="1400"/>
              </a:spcAft>
              <a:buClr>
                <a:srgbClr val="EB0000"/>
              </a:buClr>
              <a:buFont typeface="Arial" panose="020B0604020202020204" pitchFamily="34" charset="0"/>
              <a:buChar char="•"/>
            </a:pPr>
            <a:r>
              <a:rPr lang="en-GB" sz="3200">
                <a:latin typeface="Fira Sans" panose="020B0503050000020004" pitchFamily="34" charset="0"/>
              </a:rPr>
              <a:t>Eg MOL – 1M Subscribers</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Alignment of Core Technology products across DMG Business</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Eliminate Shadow IT</a:t>
            </a:r>
          </a:p>
          <a:p>
            <a:pPr marL="1371600" lvl="2" indent="-457200" defTabSz="1828800" fontAlgn="t">
              <a:spcAft>
                <a:spcPts val="1400"/>
              </a:spcAft>
              <a:buClr>
                <a:srgbClr val="EB0000"/>
              </a:buClr>
              <a:buFont typeface="Arial" panose="020B0604020202020204" pitchFamily="34" charset="0"/>
              <a:buChar cha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Strategic Intent</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Standardisation is a prerequisite for scalable growth</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Platform sprawl increases cost, risk, and execution friction</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Converge on a limited set of approved platforms and architectural patterns</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Enforce security, compliance, and governance by design</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Preserve innovation while eliminating unnecessary variation</a:t>
            </a:r>
          </a:p>
          <a:p>
            <a:pPr marL="285750" indent="-285750" defTabSz="1828800" fontAlgn="t">
              <a:spcAft>
                <a:spcPts val="1400"/>
              </a:spcAft>
              <a:buClr>
                <a:srgbClr val="EB0000"/>
              </a:buClr>
              <a:buFont typeface="Arial" panose="020B0604020202020204" pitchFamily="34" charset="0"/>
              <a:buChar cha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Outcome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Simplified Target Operating Model (TOM)</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Lower execution and operational risk</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Faster, more predictable delivery of change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A scalable foundation that supports growth without proportional complexity</a:t>
            </a:r>
          </a:p>
        </p:txBody>
      </p:sp>
      <p:sp>
        <p:nvSpPr>
          <p:cNvPr id="11" name="Title 1">
            <a:extLst>
              <a:ext uri="{FF2B5EF4-FFF2-40B4-BE49-F238E27FC236}">
                <a16:creationId xmlns:a16="http://schemas.microsoft.com/office/drawing/2014/main" id="{217EB05A-69A4-D326-A73A-21567D369B1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a:latin typeface="Fira Sans" panose="020B0503050000020004" pitchFamily="34" charset="0"/>
              </a:rPr>
              <a:t>Driver # 1</a:t>
            </a:r>
          </a:p>
        </p:txBody>
      </p:sp>
    </p:spTree>
    <p:extLst>
      <p:ext uri="{BB962C8B-B14F-4D97-AF65-F5344CB8AC3E}">
        <p14:creationId xmlns:p14="http://schemas.microsoft.com/office/powerpoint/2010/main" val="920250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EE03-18E6-2822-5D65-A34692D04A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CDAB51-4E03-CED1-9600-D4AB1EA5A15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13</a:t>
            </a:fld>
            <a:endParaRPr lang="en-GB" noProof="0"/>
          </a:p>
        </p:txBody>
      </p:sp>
      <p:sp>
        <p:nvSpPr>
          <p:cNvPr id="10" name="Text Placeholder 9">
            <a:extLst>
              <a:ext uri="{FF2B5EF4-FFF2-40B4-BE49-F238E27FC236}">
                <a16:creationId xmlns:a16="http://schemas.microsoft.com/office/drawing/2014/main" id="{10A5E33C-0BFA-EC8A-D7F8-5970D7504587}"/>
              </a:ext>
            </a:extLst>
          </p:cNvPr>
          <p:cNvSpPr>
            <a:spLocks noGrp="1"/>
          </p:cNvSpPr>
          <p:nvPr>
            <p:ph type="body" sz="quarter" idx="13"/>
          </p:nvPr>
        </p:nvSpPr>
        <p:spPr>
          <a:xfrm>
            <a:off x="746393" y="7838874"/>
            <a:ext cx="5216526" cy="3536261"/>
          </a:xfrm>
        </p:spPr>
        <p:txBody>
          <a:bodyPr anchor="ctr"/>
          <a:lstStyle/>
          <a:p>
            <a:pPr algn="ctr"/>
            <a:r>
              <a:rPr lang="en-GB" sz="3200" noProof="0">
                <a:latin typeface="Fira Sans" panose="020B0503050000020004" pitchFamily="34" charset="0"/>
              </a:rPr>
              <a:t>Remove low value work and create credible savings</a:t>
            </a:r>
          </a:p>
        </p:txBody>
      </p:sp>
      <p:sp>
        <p:nvSpPr>
          <p:cNvPr id="5" name="Title 1">
            <a:extLst>
              <a:ext uri="{FF2B5EF4-FFF2-40B4-BE49-F238E27FC236}">
                <a16:creationId xmlns:a16="http://schemas.microsoft.com/office/drawing/2014/main" id="{C0AFC1E8-80C3-1FEA-E817-5BCA167A11AE}"/>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a:ln w="9525">
                  <a:noFill/>
                </a:ln>
                <a:latin typeface="Fira Sans" panose="020B0503050000020004" pitchFamily="34" charset="0"/>
              </a:rPr>
              <a:t>Productivity</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Cost Optimisation</a:t>
            </a:r>
          </a:p>
        </p:txBody>
      </p:sp>
      <p:sp>
        <p:nvSpPr>
          <p:cNvPr id="11" name="Title 1">
            <a:extLst>
              <a:ext uri="{FF2B5EF4-FFF2-40B4-BE49-F238E27FC236}">
                <a16:creationId xmlns:a16="http://schemas.microsoft.com/office/drawing/2014/main" id="{140124A3-55D8-62A8-116D-F78B1CC5F528}"/>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a:latin typeface="Fira Sans" panose="020B0503050000020004" pitchFamily="34" charset="0"/>
              </a:rPr>
              <a:t>Driver # 2</a:t>
            </a:r>
          </a:p>
        </p:txBody>
      </p:sp>
      <p:sp>
        <p:nvSpPr>
          <p:cNvPr id="8" name="TextBox 7">
            <a:extLst>
              <a:ext uri="{FF2B5EF4-FFF2-40B4-BE49-F238E27FC236}">
                <a16:creationId xmlns:a16="http://schemas.microsoft.com/office/drawing/2014/main" id="{A0A5CB63-8D9C-8E94-D2F8-506794F2653B}"/>
              </a:ext>
            </a:extLst>
          </p:cNvPr>
          <p:cNvSpPr txBox="1"/>
          <p:nvPr/>
        </p:nvSpPr>
        <p:spPr>
          <a:xfrm>
            <a:off x="7291578" y="1085654"/>
            <a:ext cx="16071708" cy="10874698"/>
          </a:xfrm>
          <a:prstGeom prst="rect">
            <a:avLst/>
          </a:prstGeom>
        </p:spPr>
        <p:txBody>
          <a:bodyPr vert="horz" lIns="182880" tIns="0" rIns="0" bIns="0" rtlCol="0">
            <a:normAutofit/>
          </a:bodyPr>
          <a:lstStyle/>
          <a:p>
            <a:pPr defTabSz="1828800" fontAlgn="t">
              <a:spcAft>
                <a:spcPts val="1400"/>
              </a:spcAft>
              <a:buClr>
                <a:srgbClr val="EB0000"/>
              </a:buClr>
            </a:pPr>
            <a:r>
              <a:rPr lang="en-GB" sz="3600" b="1" noProof="0">
                <a:latin typeface="Fira Sans" panose="020B0503050000020004" pitchFamily="34" charset="0"/>
              </a:rPr>
              <a:t>Goal</a:t>
            </a:r>
          </a:p>
          <a:p>
            <a:pPr marL="914400" lvl="1" indent="-457200" defTabSz="1828800" fontAlgn="t">
              <a:spcAft>
                <a:spcPts val="1400"/>
              </a:spcAft>
              <a:buClr>
                <a:srgbClr val="EB0000"/>
              </a:buClr>
              <a:buFont typeface="Arial" panose="020B0604020202020204" pitchFamily="34" charset="0"/>
              <a:buChar char="•"/>
            </a:pPr>
            <a:r>
              <a:rPr lang="en-GB" sz="3200">
                <a:latin typeface="Fira Sans" panose="020B0503050000020004" pitchFamily="34" charset="0"/>
              </a:rPr>
              <a:t>Reduce total cost of ownership while improving delivery velocity</a:t>
            </a:r>
          </a:p>
          <a:p>
            <a:pPr marL="914400" lvl="1" indent="-457200" defTabSz="1828800" fontAlgn="t">
              <a:spcAft>
                <a:spcPts val="1400"/>
              </a:spcAft>
              <a:buClr>
                <a:srgbClr val="EB0000"/>
              </a:buClr>
              <a:buFont typeface="Arial" panose="020B0604020202020204" pitchFamily="34" charset="0"/>
              <a:buChar char="•"/>
            </a:pPr>
            <a:r>
              <a:rPr lang="en-GB" sz="3200">
                <a:latin typeface="Fira Sans" panose="020B0503050000020004" pitchFamily="34" charset="0"/>
              </a:rPr>
              <a:t>Replacement with pre-approved blueprints/templates</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Removal of custom systems and processes providing low value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Shift from fixed, capacity‑based cost models to demand‑aligned consumption</a:t>
            </a:r>
          </a:p>
          <a:p>
            <a:pPr marL="285750" indent="-285750" defTabSz="1828800" fontAlgn="t">
              <a:spcAft>
                <a:spcPts val="1400"/>
              </a:spcAft>
              <a:buClr>
                <a:srgbClr val="EB0000"/>
              </a:buClr>
              <a:buFont typeface="Arial" panose="020B0604020202020204" pitchFamily="34" charset="0"/>
              <a:buChar cha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Strategic Intent</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Translate cloud adoption into financial performance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Cloud only delivers value with active cost discipline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Inefficiency compounds rapidly at scale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Embed financial accountability into technology decision‑making</a:t>
            </a:r>
          </a:p>
          <a:p>
            <a:pPr defTabSz="1828800" fontAlgn="t">
              <a:spcAft>
                <a:spcPts val="1400"/>
              </a:spcAft>
              <a:buClr>
                <a:srgbClr val="EB0000"/>
              </a:buCl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Outcome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Measurable cost optimisation and improved margin predictability</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Clear visibility of spend by platform, product, and environment</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Financial governance (FinOps) embedded into the operating model</a:t>
            </a:r>
          </a:p>
        </p:txBody>
      </p:sp>
    </p:spTree>
    <p:extLst>
      <p:ext uri="{BB962C8B-B14F-4D97-AF65-F5344CB8AC3E}">
        <p14:creationId xmlns:p14="http://schemas.microsoft.com/office/powerpoint/2010/main" val="3422648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84B0-4BC1-4648-C500-299A45F377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D5E381-FAB2-28C8-AA90-97D44B90F230}"/>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14</a:t>
            </a:fld>
            <a:endParaRPr lang="en-GB" noProof="0"/>
          </a:p>
        </p:txBody>
      </p:sp>
      <p:sp>
        <p:nvSpPr>
          <p:cNvPr id="10" name="Text Placeholder 9">
            <a:extLst>
              <a:ext uri="{FF2B5EF4-FFF2-40B4-BE49-F238E27FC236}">
                <a16:creationId xmlns:a16="http://schemas.microsoft.com/office/drawing/2014/main" id="{446ED16C-C1C2-BAB0-FB43-81EBD1ACAF18}"/>
              </a:ext>
            </a:extLst>
          </p:cNvPr>
          <p:cNvSpPr>
            <a:spLocks noGrp="1"/>
          </p:cNvSpPr>
          <p:nvPr>
            <p:ph type="body" sz="quarter" idx="13"/>
          </p:nvPr>
        </p:nvSpPr>
        <p:spPr>
          <a:xfrm>
            <a:off x="746393" y="7838874"/>
            <a:ext cx="5216526" cy="3536261"/>
          </a:xfrm>
        </p:spPr>
        <p:txBody>
          <a:bodyPr anchor="ctr"/>
          <a:lstStyle/>
          <a:p>
            <a:pPr algn="ctr"/>
            <a:r>
              <a:rPr lang="en-GB" sz="3200" noProof="0">
                <a:latin typeface="Fira Sans" panose="020B0503050000020004" pitchFamily="34" charset="0"/>
              </a:rPr>
              <a:t>Reduce toil and improve customer experience</a:t>
            </a:r>
          </a:p>
        </p:txBody>
      </p:sp>
      <p:sp>
        <p:nvSpPr>
          <p:cNvPr id="5" name="Title 1">
            <a:extLst>
              <a:ext uri="{FF2B5EF4-FFF2-40B4-BE49-F238E27FC236}">
                <a16:creationId xmlns:a16="http://schemas.microsoft.com/office/drawing/2014/main" id="{22EC0FDB-92C4-2562-4312-1B91EDEF0FF1}"/>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a:ln w="9525">
                  <a:noFill/>
                </a:ln>
                <a:latin typeface="Fira Sans" panose="020B0503050000020004" pitchFamily="34" charset="0"/>
              </a:rPr>
              <a:t>Automation</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Workflow Optimisation</a:t>
            </a:r>
          </a:p>
        </p:txBody>
      </p:sp>
      <p:sp>
        <p:nvSpPr>
          <p:cNvPr id="11" name="Title 1">
            <a:extLst>
              <a:ext uri="{FF2B5EF4-FFF2-40B4-BE49-F238E27FC236}">
                <a16:creationId xmlns:a16="http://schemas.microsoft.com/office/drawing/2014/main" id="{A0001C9D-A988-EF47-7F87-621498DD55B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a:latin typeface="Fira Sans" panose="020B0503050000020004" pitchFamily="34" charset="0"/>
              </a:rPr>
              <a:t>Driver # 3</a:t>
            </a:r>
          </a:p>
        </p:txBody>
      </p:sp>
      <p:sp>
        <p:nvSpPr>
          <p:cNvPr id="6" name="TextBox 5">
            <a:extLst>
              <a:ext uri="{FF2B5EF4-FFF2-40B4-BE49-F238E27FC236}">
                <a16:creationId xmlns:a16="http://schemas.microsoft.com/office/drawing/2014/main" id="{D97024F1-64FF-F531-85E8-417D10AA8AF2}"/>
              </a:ext>
            </a:extLst>
          </p:cNvPr>
          <p:cNvSpPr txBox="1"/>
          <p:nvPr/>
        </p:nvSpPr>
        <p:spPr>
          <a:xfrm>
            <a:off x="7385880" y="1031799"/>
            <a:ext cx="15913031" cy="9215343"/>
          </a:xfrm>
          <a:prstGeom prst="rect">
            <a:avLst/>
          </a:prstGeom>
          <a:noFill/>
        </p:spPr>
        <p:txBody>
          <a:bodyPr wrap="square">
            <a:spAutoFit/>
          </a:bodyPr>
          <a:lstStyle/>
          <a:p>
            <a:pPr defTabSz="1828800" fontAlgn="t">
              <a:spcAft>
                <a:spcPts val="1400"/>
              </a:spcAft>
              <a:buClr>
                <a:srgbClr val="EB0000"/>
              </a:buClr>
            </a:pPr>
            <a:r>
              <a:rPr lang="en-GB" sz="3600" b="1" noProof="0">
                <a:latin typeface="Fira Sans" panose="020B0503050000020004" pitchFamily="34" charset="0"/>
              </a:rPr>
              <a:t>Goal</a:t>
            </a:r>
          </a:p>
          <a:p>
            <a:pPr marL="914400" lvl="1" indent="-457200">
              <a:spcAft>
                <a:spcPts val="600"/>
              </a:spcAft>
              <a:buClr>
                <a:srgbClr val="FF0000"/>
              </a:buClr>
              <a:buFont typeface="Arial" panose="020B0604020202020204" pitchFamily="34" charset="0"/>
              <a:buChar char="•"/>
            </a:pPr>
            <a:r>
              <a:rPr lang="en-GB" sz="3200" noProof="0">
                <a:latin typeface="Fira Sans" panose="020B0503050000020004" pitchFamily="34" charset="0"/>
              </a:rPr>
              <a:t>Automate repeatable, high‑volume operational workflows to scale platform to support north star goals</a:t>
            </a:r>
          </a:p>
          <a:p>
            <a:pPr marL="914400" lvl="1" indent="-457200">
              <a:spcAft>
                <a:spcPts val="600"/>
              </a:spcAft>
              <a:buClr>
                <a:srgbClr val="FF0000"/>
              </a:buClr>
              <a:buFont typeface="Arial" panose="020B0604020202020204" pitchFamily="34" charset="0"/>
              <a:buChar char="•"/>
            </a:pPr>
            <a:r>
              <a:rPr lang="en-GB" sz="3200" noProof="0">
                <a:latin typeface="Fira Sans" panose="020B0503050000020004" pitchFamily="34" charset="0"/>
              </a:rPr>
              <a:t>Adopt Self-service delivery model to improve customer service levels</a:t>
            </a:r>
          </a:p>
          <a:p>
            <a:pPr>
              <a:spcAft>
                <a:spcPts val="600"/>
              </a:spcAft>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Strategic intent</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Manual processes limit growth and degrade customer experience</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Automation is essential for enterprise‑scale cloud operations</a:t>
            </a:r>
          </a:p>
          <a:p>
            <a:pPr marL="914400" lvl="1" indent="-457200">
              <a:spcAft>
                <a:spcPts val="100"/>
              </a:spcAft>
              <a:buClr>
                <a:srgbClr val="FF0000"/>
              </a:buClr>
              <a:buFont typeface="Arial" panose="020B0604020202020204" pitchFamily="34" charset="0"/>
              <a:buChar char="•"/>
            </a:pPr>
            <a:r>
              <a:rPr lang="en-GB" sz="3200">
                <a:latin typeface="Fira Sans" panose="020B0503050000020004" pitchFamily="34" charset="0"/>
              </a:rPr>
              <a:t>Shorten development lifecycle and business enablement</a:t>
            </a:r>
            <a:endParaRPr lang="en-GB" sz="3200" noProof="0">
              <a:latin typeface="Fira Sans" panose="020B0503050000020004" pitchFamily="34" charset="0"/>
            </a:endParaRP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Improve service consistency, resilience, and customer experience</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Default to cloud‑native and managed services where appropriate</a:t>
            </a:r>
          </a:p>
          <a:p>
            <a:pPr>
              <a:spcAft>
                <a:spcPts val="600"/>
              </a:spcAft>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Outcome</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Reduced operational and key‑person risk</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Ability to scale revenue without linear cost growth</a:t>
            </a:r>
          </a:p>
          <a:p>
            <a:pPr marL="914400" lvl="1" indent="-457200">
              <a:spcAft>
                <a:spcPts val="100"/>
              </a:spcAft>
              <a:buClr>
                <a:srgbClr val="FF0000"/>
              </a:buClr>
              <a:buFont typeface="Arial" panose="020B0604020202020204" pitchFamily="34" charset="0"/>
              <a:buChar char="•"/>
            </a:pPr>
            <a:r>
              <a:rPr lang="en-GB" sz="3200" noProof="0">
                <a:latin typeface="Fira Sans" panose="020B0503050000020004" pitchFamily="34" charset="0"/>
              </a:rPr>
              <a:t>Business teams focused on value creation rather than administration</a:t>
            </a:r>
          </a:p>
        </p:txBody>
      </p:sp>
      <p:sp>
        <p:nvSpPr>
          <p:cNvPr id="2" name="Rounded Rectangle 1">
            <a:extLst>
              <a:ext uri="{FF2B5EF4-FFF2-40B4-BE49-F238E27FC236}">
                <a16:creationId xmlns:a16="http://schemas.microsoft.com/office/drawing/2014/main" id="{80D45B42-3548-7257-E38B-43E177ED3F72}"/>
              </a:ext>
            </a:extLst>
          </p:cNvPr>
          <p:cNvSpPr/>
          <p:nvPr/>
        </p:nvSpPr>
        <p:spPr>
          <a:xfrm>
            <a:off x="20421600" y="7838874"/>
            <a:ext cx="3550920" cy="223476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Edit to focus on automation</a:t>
            </a:r>
            <a:endParaRPr lang="en-GB" sz="1800"/>
          </a:p>
        </p:txBody>
      </p:sp>
    </p:spTree>
    <p:extLst>
      <p:ext uri="{BB962C8B-B14F-4D97-AF65-F5344CB8AC3E}">
        <p14:creationId xmlns:p14="http://schemas.microsoft.com/office/powerpoint/2010/main" val="1101885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32C9-29F3-33AC-FBE7-0AC7077A7F6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6B41D02-5D28-BF9E-0A84-C067A56198D4}"/>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Why Cloud?</a:t>
            </a:r>
          </a:p>
          <a:p>
            <a:pPr algn="ctr"/>
            <a:r>
              <a:rPr lang="en-GB" b="1" noProof="0">
                <a:latin typeface="Fira Sans Light" panose="020B0403050000020004" pitchFamily="34" charset="0"/>
              </a:rPr>
              <a:t>Why Now?</a:t>
            </a:r>
          </a:p>
        </p:txBody>
      </p:sp>
    </p:spTree>
    <p:extLst>
      <p:ext uri="{BB962C8B-B14F-4D97-AF65-F5344CB8AC3E}">
        <p14:creationId xmlns:p14="http://schemas.microsoft.com/office/powerpoint/2010/main" val="11312905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4586-4324-CBE9-5C9F-64EAFC0408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AA51D-1EFC-8010-3143-09DC80ED0D2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16</a:t>
            </a:fld>
            <a:endParaRPr lang="en-GB" noProof="0"/>
          </a:p>
        </p:txBody>
      </p:sp>
      <p:sp>
        <p:nvSpPr>
          <p:cNvPr id="5" name="Title 1">
            <a:extLst>
              <a:ext uri="{FF2B5EF4-FFF2-40B4-BE49-F238E27FC236}">
                <a16:creationId xmlns:a16="http://schemas.microsoft.com/office/drawing/2014/main" id="{EE7C44B1-04F3-C772-276F-F693E62C122D}"/>
              </a:ext>
            </a:extLst>
          </p:cNvPr>
          <p:cNvSpPr>
            <a:spLocks noGrp="1"/>
          </p:cNvSpPr>
          <p:nvPr>
            <p:ph type="title"/>
          </p:nvPr>
        </p:nvSpPr>
        <p:spPr>
          <a:xfrm>
            <a:off x="746393" y="3609563"/>
            <a:ext cx="5241586" cy="3062106"/>
          </a:xfrm>
        </p:spPr>
        <p:txBody>
          <a:bodyPr vert="horz" wrap="square" lIns="0" tIns="0" rIns="0" bIns="0" rtlCol="0" anchor="ctr" anchorCtr="0">
            <a:normAutofit/>
          </a:bodyPr>
          <a:lstStyle/>
          <a:p>
            <a:pPr algn="ctr"/>
            <a:r>
              <a:rPr lang="en-GB" sz="5400">
                <a:latin typeface="Fira Sans" panose="020B0503050000020004" pitchFamily="34" charset="0"/>
              </a:rPr>
              <a:t>The case for acting now</a:t>
            </a:r>
          </a:p>
        </p:txBody>
      </p:sp>
      <p:sp>
        <p:nvSpPr>
          <p:cNvPr id="11" name="Title 1">
            <a:extLst>
              <a:ext uri="{FF2B5EF4-FFF2-40B4-BE49-F238E27FC236}">
                <a16:creationId xmlns:a16="http://schemas.microsoft.com/office/drawing/2014/main" id="{D33EC3EB-83D5-A31C-4E49-8CC88D9E3AF3}"/>
              </a:ext>
            </a:extLst>
          </p:cNvPr>
          <p:cNvSpPr txBox="1">
            <a:spLocks/>
          </p:cNvSpPr>
          <p:nvPr/>
        </p:nvSpPr>
        <p:spPr>
          <a:xfrm>
            <a:off x="721333" y="949568"/>
            <a:ext cx="5241586" cy="988960"/>
          </a:xfrm>
          <a:prstGeom prst="rect">
            <a:avLst/>
          </a:prstGeom>
          <a:ln w="12700">
            <a:noFill/>
          </a:ln>
        </p:spPr>
        <p:txBody>
          <a:bodyPr vert="horz" wrap="square" lIns="0" tIns="0" rIns="0" bIns="0" rtlCol="0" anchor="t"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endParaRPr lang="en-GB" sz="5400" noProof="0">
              <a:latin typeface="Fira Sans" panose="020B0503050000020004" pitchFamily="34" charset="0"/>
            </a:endParaRPr>
          </a:p>
        </p:txBody>
      </p:sp>
      <p:sp>
        <p:nvSpPr>
          <p:cNvPr id="2" name="TextBox 1">
            <a:extLst>
              <a:ext uri="{FF2B5EF4-FFF2-40B4-BE49-F238E27FC236}">
                <a16:creationId xmlns:a16="http://schemas.microsoft.com/office/drawing/2014/main" id="{9DD41177-087D-60A0-513D-BBE5EB9888B9}"/>
              </a:ext>
            </a:extLst>
          </p:cNvPr>
          <p:cNvSpPr txBox="1"/>
          <p:nvPr/>
        </p:nvSpPr>
        <p:spPr>
          <a:xfrm>
            <a:off x="6457373" y="834173"/>
            <a:ext cx="17926627" cy="11674991"/>
          </a:xfrm>
          <a:prstGeom prst="rect">
            <a:avLst/>
          </a:prstGeom>
          <a:noFill/>
        </p:spPr>
        <p:txBody>
          <a:bodyPr wrap="square" rtlCol="0">
            <a:spAutoFit/>
          </a:bodyPr>
          <a:lstStyle/>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1M subscribers needs elastic infrastructure </a:t>
            </a:r>
            <a:r>
              <a:rPr lang="en-GB" sz="3200">
                <a:latin typeface="Fira Sans" panose="020B0503050000020004" pitchFamily="34" charset="0"/>
              </a:rPr>
              <a:t>Fixed-capacity on-prem cannot scale for elections, breaking news, or subscriber growth without capital outlay. Transitioning to cloud allows for higher-level primitives (</a:t>
            </a:r>
            <a:r>
              <a:rPr lang="en-GB" sz="3200" err="1">
                <a:latin typeface="Fira Sans" panose="020B0503050000020004" pitchFamily="34" charset="0"/>
              </a:rPr>
              <a:t>eg</a:t>
            </a:r>
            <a:r>
              <a:rPr lang="en-GB" sz="3200">
                <a:latin typeface="Fira Sans" panose="020B0503050000020004" pitchFamily="34" charset="0"/>
              </a:rPr>
              <a:t>, serverless, platform-as-a-service) which provide rapid scaling and incremental billing. </a:t>
            </a:r>
          </a:p>
          <a:p>
            <a:pPr defTabSz="1828800" fontAlgn="t">
              <a:spcAft>
                <a:spcPts val="1400"/>
              </a:spcAft>
              <a:buClr>
                <a:srgbClr val="EB0000"/>
              </a:buClr>
            </a:pPr>
            <a:endParaRPr lang="en-GB" sz="28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Target Operating Model Alignment </a:t>
            </a:r>
            <a:r>
              <a:rPr lang="en-GB" sz="3200">
                <a:latin typeface="Fira Sans" panose="020B0503050000020004" pitchFamily="34" charset="0"/>
              </a:rPr>
              <a:t>cloud migration provides a one-time opportunity for standardisation across brands, elimination of silos and reduction in shadow IT.</a:t>
            </a:r>
          </a:p>
          <a:p>
            <a:pPr marL="571500" indent="-571500" defTabSz="1828800" fontAlgn="t">
              <a:spcAft>
                <a:spcPts val="1400"/>
              </a:spcAft>
              <a:buClr>
                <a:srgbClr val="EB0000"/>
              </a:buClr>
              <a:buFont typeface="Arial" panose="020B0604020202020204" pitchFamily="34" charset="0"/>
              <a:buChar char="•"/>
            </a:pPr>
            <a:endParaRPr lang="en-GB" sz="32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Contracts converging </a:t>
            </a:r>
            <a:r>
              <a:rPr lang="en-GB" sz="3200">
                <a:latin typeface="Fira Sans" panose="020B0503050000020004" pitchFamily="34" charset="0"/>
              </a:rPr>
              <a:t>DC leases, EA, Broadcom, Oracle all landing inside two years. Each renewal re-locks capital and sets long-term strategy.  Pay as you go models allows for greater flexibility. </a:t>
            </a:r>
          </a:p>
          <a:p>
            <a:pPr marL="571500" indent="-571500" defTabSz="1828800" fontAlgn="t">
              <a:spcAft>
                <a:spcPts val="1400"/>
              </a:spcAft>
              <a:buClr>
                <a:srgbClr val="EB0000"/>
              </a:buClr>
              <a:buFont typeface="Arial" panose="020B0604020202020204" pitchFamily="34" charset="0"/>
              <a:buChar char="•"/>
            </a:pPr>
            <a:endParaRPr lang="en-GB" sz="32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VMware position has changed </a:t>
            </a:r>
            <a:r>
              <a:rPr lang="en-GB" sz="3200">
                <a:latin typeface="Fira Sans" panose="020B0503050000020004" pitchFamily="34" charset="0"/>
              </a:rPr>
              <a:t>Perpetual licences, expired support. No patches, no new hosts. VCF subscription is the only path forward requiring significant investment.</a:t>
            </a:r>
          </a:p>
          <a:p>
            <a:pPr marL="571500" indent="-571500" defTabSz="1828800" fontAlgn="t">
              <a:spcAft>
                <a:spcPts val="1400"/>
              </a:spcAft>
              <a:buClr>
                <a:srgbClr val="EB0000"/>
              </a:buClr>
              <a:buFont typeface="Arial" panose="020B0604020202020204" pitchFamily="34" charset="0"/>
              <a:buChar char="•"/>
            </a:pPr>
            <a:endParaRPr lang="en-GB" sz="32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Operational fragmentation limits growth </a:t>
            </a:r>
            <a:r>
              <a:rPr lang="en-GB" sz="3200">
                <a:latin typeface="Fira Sans" panose="020B0503050000020004" pitchFamily="34" charset="0"/>
              </a:rPr>
              <a:t>170 staff, 7 areas, different tooling and processes. No consistent control plane increases operational complexity. </a:t>
            </a:r>
          </a:p>
          <a:p>
            <a:pPr marL="571500" indent="-571500" defTabSz="1828800" fontAlgn="t">
              <a:spcAft>
                <a:spcPts val="1400"/>
              </a:spcAft>
              <a:buClr>
                <a:srgbClr val="EB0000"/>
              </a:buClr>
              <a:buFont typeface="Arial" panose="020B0604020202020204" pitchFamily="34" charset="0"/>
              <a:buChar char="•"/>
            </a:pPr>
            <a:endParaRPr lang="en-GB" sz="32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200" b="1">
                <a:latin typeface="Fira Sans" panose="020B0503050000020004" pitchFamily="34" charset="0"/>
              </a:rPr>
              <a:t>Aging infrastructure (</a:t>
            </a:r>
            <a:r>
              <a:rPr lang="en-GB" sz="3200" b="1" err="1">
                <a:latin typeface="Fira Sans" panose="020B0503050000020004" pitchFamily="34" charset="0"/>
              </a:rPr>
              <a:t>eg</a:t>
            </a:r>
            <a:r>
              <a:rPr lang="en-GB" sz="3200" b="1">
                <a:latin typeface="Fira Sans" panose="020B0503050000020004" pitchFamily="34" charset="0"/>
              </a:rPr>
              <a:t>, Operating systems and hardware) requires modernisation. </a:t>
            </a:r>
            <a:r>
              <a:rPr lang="en-GB" sz="3200">
                <a:latin typeface="Fira Sans" panose="020B0503050000020004" pitchFamily="34" charset="0"/>
              </a:rPr>
              <a:t>Necessary to protect the business from evolving security landscape. </a:t>
            </a:r>
            <a:endParaRPr lang="en-GB" sz="3200" b="1">
              <a:latin typeface="Fira Sans" panose="020B0503050000020004" pitchFamily="34" charset="0"/>
            </a:endParaRPr>
          </a:p>
        </p:txBody>
      </p:sp>
      <p:sp>
        <p:nvSpPr>
          <p:cNvPr id="3" name="Rounded Rectangle 2">
            <a:extLst>
              <a:ext uri="{FF2B5EF4-FFF2-40B4-BE49-F238E27FC236}">
                <a16:creationId xmlns:a16="http://schemas.microsoft.com/office/drawing/2014/main" id="{355E9DC0-BA62-7390-EDB3-E1E988E4B416}"/>
              </a:ext>
            </a:extLst>
          </p:cNvPr>
          <p:cNvSpPr/>
          <p:nvPr/>
        </p:nvSpPr>
        <p:spPr>
          <a:xfrm>
            <a:off x="20101560" y="11916877"/>
            <a:ext cx="2560686" cy="106887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Emphasise security risk</a:t>
            </a:r>
          </a:p>
        </p:txBody>
      </p:sp>
    </p:spTree>
    <p:extLst>
      <p:ext uri="{BB962C8B-B14F-4D97-AF65-F5344CB8AC3E}">
        <p14:creationId xmlns:p14="http://schemas.microsoft.com/office/powerpoint/2010/main" val="954823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72E0-B76C-714B-15C5-BE3FC273C6D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EDB4A4B-3239-E9AC-07BA-E6D7D652529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Your Estate</a:t>
            </a:r>
          </a:p>
        </p:txBody>
      </p:sp>
    </p:spTree>
    <p:extLst>
      <p:ext uri="{BB962C8B-B14F-4D97-AF65-F5344CB8AC3E}">
        <p14:creationId xmlns:p14="http://schemas.microsoft.com/office/powerpoint/2010/main" val="4171292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48C5-59DA-7811-F705-7D1DB6DBF3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D1E90B-637B-B4FA-0FBC-18021D49B7E8}"/>
              </a:ext>
            </a:extLst>
          </p:cNvPr>
          <p:cNvSpPr>
            <a:spLocks noGrp="1"/>
          </p:cNvSpPr>
          <p:nvPr>
            <p:ph type="title"/>
          </p:nvPr>
        </p:nvSpPr>
        <p:spPr>
          <a:xfrm>
            <a:off x="668992" y="537179"/>
            <a:ext cx="22991108" cy="997837"/>
          </a:xfrm>
        </p:spPr>
        <p:txBody>
          <a:bodyPr/>
          <a:lstStyle/>
          <a:p>
            <a:r>
              <a:rPr lang="en-GB" noProof="0">
                <a:solidFill>
                  <a:srgbClr val="FF0000"/>
                </a:solidFill>
                <a:latin typeface="Fira Sans Light" panose="020B0403050000020004" pitchFamily="34" charset="0"/>
              </a:rPr>
              <a:t>DMG’s Global Presence</a:t>
            </a:r>
          </a:p>
        </p:txBody>
      </p:sp>
      <p:grpSp>
        <p:nvGrpSpPr>
          <p:cNvPr id="10" name="Group 9">
            <a:extLst>
              <a:ext uri="{FF2B5EF4-FFF2-40B4-BE49-F238E27FC236}">
                <a16:creationId xmlns:a16="http://schemas.microsoft.com/office/drawing/2014/main" id="{7F10BB89-DDBF-02C0-E62D-2FA22ED66EA0}"/>
              </a:ext>
            </a:extLst>
          </p:cNvPr>
          <p:cNvGrpSpPr/>
          <p:nvPr/>
        </p:nvGrpSpPr>
        <p:grpSpPr>
          <a:xfrm>
            <a:off x="3501112" y="2901483"/>
            <a:ext cx="19803979" cy="10285284"/>
            <a:chOff x="1630268" y="2929355"/>
            <a:chExt cx="19806920" cy="9669970"/>
          </a:xfrm>
        </p:grpSpPr>
        <p:pic>
          <p:nvPicPr>
            <p:cNvPr id="6" name="Picture 5">
              <a:extLst>
                <a:ext uri="{FF2B5EF4-FFF2-40B4-BE49-F238E27FC236}">
                  <a16:creationId xmlns:a16="http://schemas.microsoft.com/office/drawing/2014/main" id="{547142CA-A2B5-C2EE-FC12-EFE8DA2E6B1D}"/>
                </a:ext>
              </a:extLst>
            </p:cNvPr>
            <p:cNvPicPr>
              <a:picLocks noChangeAspect="1"/>
            </p:cNvPicPr>
            <p:nvPr/>
          </p:nvPicPr>
          <p:blipFill>
            <a:blip r:embed="rId10"/>
            <a:stretch>
              <a:fillRect/>
            </a:stretch>
          </p:blipFill>
          <p:spPr>
            <a:xfrm>
              <a:off x="1630268" y="2929355"/>
              <a:ext cx="19806920" cy="9669970"/>
            </a:xfrm>
            <a:prstGeom prst="rect">
              <a:avLst/>
            </a:prstGeom>
          </p:spPr>
        </p:pic>
        <p:sp>
          <p:nvSpPr>
            <p:cNvPr id="14" name="Text Placeholder 5">
              <a:extLst>
                <a:ext uri="{FF2B5EF4-FFF2-40B4-BE49-F238E27FC236}">
                  <a16:creationId xmlns:a16="http://schemas.microsoft.com/office/drawing/2014/main" id="{251D3E83-9B72-B4E8-D488-25DAFD3BECB9}"/>
                </a:ext>
              </a:extLst>
            </p:cNvPr>
            <p:cNvSpPr txBox="1">
              <a:spLocks/>
            </p:cNvSpPr>
            <p:nvPr/>
          </p:nvSpPr>
          <p:spPr>
            <a:xfrm>
              <a:off x="11009483" y="5931950"/>
              <a:ext cx="1950751" cy="492443"/>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1828800">
                <a:spcAft>
                  <a:spcPts val="0"/>
                </a:spcAft>
                <a:buNone/>
                <a:defRPr/>
              </a:pPr>
              <a:r>
                <a:rPr lang="en-GB" sz="1600" noProof="0">
                  <a:solidFill>
                    <a:srgbClr val="FF0000"/>
                  </a:solidFill>
                  <a:latin typeface="Fira Sans Light" panose="020B0403050000020004" pitchFamily="34" charset="0"/>
                </a:rPr>
                <a:t>London - Reading</a:t>
              </a:r>
            </a:p>
            <a:p>
              <a:pPr marL="0" indent="0" defTabSz="1828800">
                <a:spcAft>
                  <a:spcPts val="0"/>
                </a:spcAft>
                <a:buNone/>
                <a:defRPr/>
              </a:pPr>
              <a:r>
                <a:rPr lang="en-GB" sz="1600" noProof="0">
                  <a:solidFill>
                    <a:srgbClr val="FF0000"/>
                  </a:solidFill>
                  <a:latin typeface="Fira Sans Light" panose="020B0403050000020004" pitchFamily="34" charset="0"/>
                </a:rPr>
                <a:t>London - Slough</a:t>
              </a:r>
            </a:p>
          </p:txBody>
        </p:sp>
        <p:sp>
          <p:nvSpPr>
            <p:cNvPr id="8" name="Text Placeholder 5">
              <a:extLst>
                <a:ext uri="{FF2B5EF4-FFF2-40B4-BE49-F238E27FC236}">
                  <a16:creationId xmlns:a16="http://schemas.microsoft.com/office/drawing/2014/main" id="{7F60CD8B-7111-6397-6939-75341E3F5B65}"/>
                </a:ext>
              </a:extLst>
            </p:cNvPr>
            <p:cNvSpPr txBox="1">
              <a:spLocks/>
            </p:cNvSpPr>
            <p:nvPr/>
          </p:nvSpPr>
          <p:spPr>
            <a:xfrm>
              <a:off x="18800813" y="11152918"/>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FF0000"/>
                  </a:solidFill>
                  <a:latin typeface="Fira Sans Light" panose="020B0403050000020004" pitchFamily="34" charset="0"/>
                </a:rPr>
                <a:t>Sydney</a:t>
              </a:r>
            </a:p>
          </p:txBody>
        </p:sp>
        <p:pic>
          <p:nvPicPr>
            <p:cNvPr id="9" name="CustomIcon">
              <a:extLst>
                <a:ext uri="{FF2B5EF4-FFF2-40B4-BE49-F238E27FC236}">
                  <a16:creationId xmlns:a16="http://schemas.microsoft.com/office/drawing/2014/main" id="{07E2DF1C-F4EC-D398-68A6-E69836CB6532}"/>
                </a:ext>
              </a:extLst>
            </p:cNvPr>
            <p:cNvPicPr>
              <a:picLocks noChangeAspect="1"/>
            </p:cNvPicPr>
            <p:nvPr>
              <p:custDataLst>
                <p:tags r:id="rId1"/>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969041" y="10932728"/>
              <a:ext cx="298298" cy="291624"/>
            </a:xfrm>
            <a:prstGeom prst="rect">
              <a:avLst/>
            </a:prstGeom>
          </p:spPr>
        </p:pic>
        <p:sp>
          <p:nvSpPr>
            <p:cNvPr id="32" name="Text Placeholder 5">
              <a:extLst>
                <a:ext uri="{FF2B5EF4-FFF2-40B4-BE49-F238E27FC236}">
                  <a16:creationId xmlns:a16="http://schemas.microsoft.com/office/drawing/2014/main" id="{AB761790-BC3D-2789-7183-62D3816AA953}"/>
                </a:ext>
              </a:extLst>
            </p:cNvPr>
            <p:cNvSpPr txBox="1">
              <a:spLocks/>
            </p:cNvSpPr>
            <p:nvPr/>
          </p:nvSpPr>
          <p:spPr>
            <a:xfrm>
              <a:off x="9172211" y="5773125"/>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Dublin</a:t>
              </a:r>
            </a:p>
          </p:txBody>
        </p:sp>
        <p:pic>
          <p:nvPicPr>
            <p:cNvPr id="33" name="CustomIcon">
              <a:extLst>
                <a:ext uri="{FF2B5EF4-FFF2-40B4-BE49-F238E27FC236}">
                  <a16:creationId xmlns:a16="http://schemas.microsoft.com/office/drawing/2014/main" id="{ED75D216-FDD1-2319-7F0D-41D571F537EA}"/>
                </a:ext>
              </a:extLst>
            </p:cNvPr>
            <p:cNvPicPr>
              <a:picLocks noChangeAspect="1"/>
            </p:cNvPicPr>
            <p:nvPr>
              <p:custDataLst>
                <p:tags r:id="rId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13903" y="5679302"/>
              <a:ext cx="298298" cy="291624"/>
            </a:xfrm>
            <a:prstGeom prst="rect">
              <a:avLst/>
            </a:prstGeom>
          </p:spPr>
        </p:pic>
        <p:pic>
          <p:nvPicPr>
            <p:cNvPr id="34" name="CustomIcon">
              <a:extLst>
                <a:ext uri="{FF2B5EF4-FFF2-40B4-BE49-F238E27FC236}">
                  <a16:creationId xmlns:a16="http://schemas.microsoft.com/office/drawing/2014/main" id="{CFF57321-6831-89AD-3A6A-21CBCE6B6FDD}"/>
                </a:ext>
              </a:extLst>
            </p:cNvPr>
            <p:cNvPicPr>
              <a:picLocks noChangeAspect="1"/>
            </p:cNvPicPr>
            <p:nvPr>
              <p:custDataLst>
                <p:tags r:id="rId3"/>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711185" y="5786138"/>
              <a:ext cx="298298" cy="291624"/>
            </a:xfrm>
            <a:prstGeom prst="rect">
              <a:avLst/>
            </a:prstGeom>
          </p:spPr>
        </p:pic>
        <p:pic>
          <p:nvPicPr>
            <p:cNvPr id="35" name="CustomIcon">
              <a:extLst>
                <a:ext uri="{FF2B5EF4-FFF2-40B4-BE49-F238E27FC236}">
                  <a16:creationId xmlns:a16="http://schemas.microsoft.com/office/drawing/2014/main" id="{B214D33A-4501-9C61-22EA-7273A14E86A6}"/>
                </a:ext>
              </a:extLst>
            </p:cNvPr>
            <p:cNvPicPr>
              <a:picLocks noChangeAspect="1"/>
            </p:cNvPicPr>
            <p:nvPr>
              <p:custDataLst>
                <p:tags r:id="rId4"/>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509384" y="5456617"/>
              <a:ext cx="298298" cy="291624"/>
            </a:xfrm>
            <a:prstGeom prst="rect">
              <a:avLst/>
            </a:prstGeom>
          </p:spPr>
        </p:pic>
        <p:sp>
          <p:nvSpPr>
            <p:cNvPr id="36" name="Text Placeholder 5">
              <a:extLst>
                <a:ext uri="{FF2B5EF4-FFF2-40B4-BE49-F238E27FC236}">
                  <a16:creationId xmlns:a16="http://schemas.microsoft.com/office/drawing/2014/main" id="{6E543783-8E40-29D3-2BAB-D42570ACD6D9}"/>
                </a:ext>
              </a:extLst>
            </p:cNvPr>
            <p:cNvSpPr txBox="1">
              <a:spLocks/>
            </p:cNvSpPr>
            <p:nvPr/>
          </p:nvSpPr>
          <p:spPr>
            <a:xfrm>
              <a:off x="10711185" y="5353901"/>
              <a:ext cx="1545335"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Carn, Glasgow</a:t>
              </a:r>
            </a:p>
          </p:txBody>
        </p:sp>
        <p:pic>
          <p:nvPicPr>
            <p:cNvPr id="38" name="CustomIcon">
              <a:extLst>
                <a:ext uri="{FF2B5EF4-FFF2-40B4-BE49-F238E27FC236}">
                  <a16:creationId xmlns:a16="http://schemas.microsoft.com/office/drawing/2014/main" id="{CA1CB7F5-279E-D912-7F3F-2C28976F433C}"/>
                </a:ext>
              </a:extLst>
            </p:cNvPr>
            <p:cNvPicPr>
              <a:picLocks noChangeAspect="1"/>
            </p:cNvPicPr>
            <p:nvPr>
              <p:custDataLst>
                <p:tags r:id="rId5"/>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526557" y="6652823"/>
              <a:ext cx="298298" cy="291624"/>
            </a:xfrm>
            <a:prstGeom prst="rect">
              <a:avLst/>
            </a:prstGeom>
          </p:spPr>
        </p:pic>
        <p:sp>
          <p:nvSpPr>
            <p:cNvPr id="39" name="Text Placeholder 5">
              <a:extLst>
                <a:ext uri="{FF2B5EF4-FFF2-40B4-BE49-F238E27FC236}">
                  <a16:creationId xmlns:a16="http://schemas.microsoft.com/office/drawing/2014/main" id="{899DD27C-055C-CBFD-B90E-E8BC5B0B7132}"/>
                </a:ext>
              </a:extLst>
            </p:cNvPr>
            <p:cNvSpPr txBox="1">
              <a:spLocks/>
            </p:cNvSpPr>
            <p:nvPr/>
          </p:nvSpPr>
          <p:spPr>
            <a:xfrm>
              <a:off x="6526557" y="6721474"/>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New York</a:t>
              </a:r>
            </a:p>
          </p:txBody>
        </p:sp>
        <p:pic>
          <p:nvPicPr>
            <p:cNvPr id="40" name="CustomIcon">
              <a:extLst>
                <a:ext uri="{FF2B5EF4-FFF2-40B4-BE49-F238E27FC236}">
                  <a16:creationId xmlns:a16="http://schemas.microsoft.com/office/drawing/2014/main" id="{21EA1A8C-C7A7-159E-1BD0-11B350C35F54}"/>
                </a:ext>
              </a:extLst>
            </p:cNvPr>
            <p:cNvPicPr>
              <a:picLocks noChangeAspect="1"/>
            </p:cNvPicPr>
            <p:nvPr>
              <p:custDataLst>
                <p:tags r:id="rId6"/>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08633" y="6921746"/>
              <a:ext cx="298298" cy="291624"/>
            </a:xfrm>
            <a:prstGeom prst="rect">
              <a:avLst/>
            </a:prstGeom>
          </p:spPr>
        </p:pic>
        <p:sp>
          <p:nvSpPr>
            <p:cNvPr id="41" name="Text Placeholder 5">
              <a:extLst>
                <a:ext uri="{FF2B5EF4-FFF2-40B4-BE49-F238E27FC236}">
                  <a16:creationId xmlns:a16="http://schemas.microsoft.com/office/drawing/2014/main" id="{584C06BA-A077-F8BB-5602-449EC56CE8B2}"/>
                </a:ext>
              </a:extLst>
            </p:cNvPr>
            <p:cNvSpPr txBox="1">
              <a:spLocks/>
            </p:cNvSpPr>
            <p:nvPr/>
          </p:nvSpPr>
          <p:spPr>
            <a:xfrm>
              <a:off x="2866734" y="6944447"/>
              <a:ext cx="1281428"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Los Angeles</a:t>
              </a:r>
            </a:p>
          </p:txBody>
        </p:sp>
        <p:pic>
          <p:nvPicPr>
            <p:cNvPr id="2" name="CustomIcon">
              <a:extLst>
                <a:ext uri="{FF2B5EF4-FFF2-40B4-BE49-F238E27FC236}">
                  <a16:creationId xmlns:a16="http://schemas.microsoft.com/office/drawing/2014/main" id="{70B2B2F4-67EB-82D2-AD46-6155B74B9251}"/>
                </a:ext>
              </a:extLst>
            </p:cNvPr>
            <p:cNvPicPr>
              <a:picLocks noChangeAspect="1"/>
            </p:cNvPicPr>
            <p:nvPr>
              <p:custDataLst>
                <p:tags r:id="rId7"/>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612201" y="5704186"/>
              <a:ext cx="298298" cy="291624"/>
            </a:xfrm>
            <a:prstGeom prst="rect">
              <a:avLst/>
            </a:prstGeom>
          </p:spPr>
        </p:pic>
        <p:sp>
          <p:nvSpPr>
            <p:cNvPr id="4" name="Text Placeholder 5">
              <a:extLst>
                <a:ext uri="{FF2B5EF4-FFF2-40B4-BE49-F238E27FC236}">
                  <a16:creationId xmlns:a16="http://schemas.microsoft.com/office/drawing/2014/main" id="{E5EEA187-61A1-9460-41F1-2C6CB35CA093}"/>
                </a:ext>
              </a:extLst>
            </p:cNvPr>
            <p:cNvSpPr txBox="1">
              <a:spLocks/>
            </p:cNvSpPr>
            <p:nvPr/>
          </p:nvSpPr>
          <p:spPr>
            <a:xfrm>
              <a:off x="10814039" y="5576586"/>
              <a:ext cx="2212340"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Leicester, Manchester</a:t>
              </a:r>
            </a:p>
          </p:txBody>
        </p:sp>
      </p:grpSp>
      <p:sp>
        <p:nvSpPr>
          <p:cNvPr id="7" name="Text Placeholder 5">
            <a:extLst>
              <a:ext uri="{FF2B5EF4-FFF2-40B4-BE49-F238E27FC236}">
                <a16:creationId xmlns:a16="http://schemas.microsoft.com/office/drawing/2014/main" id="{41C1413C-5F32-C689-7C52-0DCE3AA9D51D}"/>
              </a:ext>
            </a:extLst>
          </p:cNvPr>
          <p:cNvSpPr txBox="1">
            <a:spLocks/>
          </p:cNvSpPr>
          <p:nvPr/>
        </p:nvSpPr>
        <p:spPr>
          <a:xfrm>
            <a:off x="575203" y="2783228"/>
            <a:ext cx="4802810" cy="1282402"/>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2000" b="1" noProof="0">
                <a:solidFill>
                  <a:srgbClr val="FF0000"/>
                </a:solidFill>
                <a:latin typeface="Fira Sans Light" panose="020B0403050000020004" pitchFamily="34" charset="0"/>
              </a:rPr>
              <a:t>In Scope for this Assessment:</a:t>
            </a:r>
          </a:p>
          <a:p>
            <a:pPr marL="0" indent="0" algn="ctr" defTabSz="1828800">
              <a:spcAft>
                <a:spcPts val="1400"/>
              </a:spcAft>
              <a:buNone/>
              <a:defRPr/>
            </a:pPr>
            <a:r>
              <a:rPr lang="en-GB" sz="2000" b="1" noProof="0">
                <a:solidFill>
                  <a:srgbClr val="FF0000"/>
                </a:solidFill>
                <a:latin typeface="Fira Sans Light" panose="020B0403050000020004" pitchFamily="34" charset="0"/>
              </a:rPr>
              <a:t>Reading, Slough, Sydney</a:t>
            </a:r>
          </a:p>
          <a:p>
            <a:pPr marL="0" indent="0" algn="ctr" defTabSz="1828800">
              <a:spcAft>
                <a:spcPts val="1400"/>
              </a:spcAft>
              <a:buNone/>
              <a:defRPr/>
            </a:pPr>
            <a:r>
              <a:rPr lang="en-GB" sz="2000" b="1" noProof="0">
                <a:solidFill>
                  <a:srgbClr val="000000"/>
                </a:solidFill>
                <a:latin typeface="Fira Sans Light" panose="020B0403050000020004" pitchFamily="34" charset="0"/>
              </a:rPr>
              <a:t>Remainder Out of Scope</a:t>
            </a:r>
            <a:endParaRPr lang="en-GB" sz="2000" b="1" noProof="0">
              <a:solidFill>
                <a:srgbClr val="FF0000"/>
              </a:solidFill>
              <a:latin typeface="Fira Sans Light" panose="020B0403050000020004" pitchFamily="34" charset="0"/>
            </a:endParaRPr>
          </a:p>
        </p:txBody>
      </p:sp>
    </p:spTree>
    <p:extLst>
      <p:ext uri="{BB962C8B-B14F-4D97-AF65-F5344CB8AC3E}">
        <p14:creationId xmlns:p14="http://schemas.microsoft.com/office/powerpoint/2010/main" val="1582066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58EC-6DE0-BA9D-5AC1-1840FF33FA1B}"/>
            </a:ext>
          </a:extLst>
        </p:cNvPr>
        <p:cNvGrpSpPr/>
        <p:nvPr/>
      </p:nvGrpSpPr>
      <p:grpSpPr>
        <a:xfrm>
          <a:off x="0" y="0"/>
          <a:ext cx="0" cy="0"/>
          <a:chOff x="0" y="0"/>
          <a:chExt cx="0" cy="0"/>
        </a:xfrm>
      </p:grpSpPr>
      <p:pic>
        <p:nvPicPr>
          <p:cNvPr id="1026" name="Picture 2" descr="VMWare ESXi: An Overview | Cloud4U">
            <a:extLst>
              <a:ext uri="{FF2B5EF4-FFF2-40B4-BE49-F238E27FC236}">
                <a16:creationId xmlns:a16="http://schemas.microsoft.com/office/drawing/2014/main" id="{E5CAF08B-670E-999D-1A5F-C54EB1606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18" y="2267447"/>
            <a:ext cx="3633862" cy="363386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F54F30C-8CF6-27BA-AD77-3B691BC87EE7}"/>
              </a:ext>
            </a:extLst>
          </p:cNvPr>
          <p:cNvSpPr>
            <a:spLocks noGrp="1"/>
          </p:cNvSpPr>
          <p:nvPr>
            <p:ph type="sldNum" sz="quarter" idx="4"/>
          </p:nvPr>
        </p:nvSpPr>
        <p:spPr>
          <a:xfrm>
            <a:off x="22402802" y="13027080"/>
            <a:ext cx="1234804" cy="215444"/>
          </a:xfrm>
        </p:spPr>
        <p:txBody>
          <a:bodyPr/>
          <a:lstStyle/>
          <a:p>
            <a:fld id="{762E77F0-FB5B-4E8E-9BC9-34F14560A017}" type="slidenum">
              <a:rPr lang="en-GB" noProof="0" smtClean="0"/>
              <a:pPr/>
              <a:t>19</a:t>
            </a:fld>
            <a:endParaRPr lang="en-GB" noProof="0"/>
          </a:p>
        </p:txBody>
      </p:sp>
      <p:sp>
        <p:nvSpPr>
          <p:cNvPr id="4" name="TextBox 3">
            <a:extLst>
              <a:ext uri="{FF2B5EF4-FFF2-40B4-BE49-F238E27FC236}">
                <a16:creationId xmlns:a16="http://schemas.microsoft.com/office/drawing/2014/main" id="{2652C90C-3C21-3BE4-2DA5-684CDEA35171}"/>
              </a:ext>
            </a:extLst>
          </p:cNvPr>
          <p:cNvSpPr txBox="1"/>
          <p:nvPr/>
        </p:nvSpPr>
        <p:spPr>
          <a:xfrm>
            <a:off x="323147" y="537023"/>
            <a:ext cx="16872341" cy="1046440"/>
          </a:xfrm>
          <a:prstGeom prst="rect">
            <a:avLst/>
          </a:prstGeom>
          <a:noFill/>
        </p:spPr>
        <p:txBody>
          <a:bodyPr wrap="square" rtlCol="0">
            <a:spAutoFit/>
          </a:bodyPr>
          <a:lstStyle/>
          <a:p>
            <a:pPr algn="l"/>
            <a:r>
              <a:rPr lang="en-GB" sz="6200" noProof="0">
                <a:solidFill>
                  <a:srgbClr val="FF0000"/>
                </a:solidFill>
                <a:latin typeface="Fira Sans Light" panose="020B0403050000020004" pitchFamily="34" charset="0"/>
              </a:rPr>
              <a:t>DMG Inventory Scope – At a Glance</a:t>
            </a:r>
          </a:p>
        </p:txBody>
      </p:sp>
      <p:pic>
        <p:nvPicPr>
          <p:cNvPr id="1028" name="Picture 4" descr="HPE Synergy 480 Gen11 Configure-to-Order Module | HPE Store Deutschland">
            <a:extLst>
              <a:ext uri="{FF2B5EF4-FFF2-40B4-BE49-F238E27FC236}">
                <a16:creationId xmlns:a16="http://schemas.microsoft.com/office/drawing/2014/main" id="{1761AE9E-D021-70C1-9568-B6D0970549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7134" y="2287082"/>
            <a:ext cx="3059738" cy="22948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59885C9-FE20-CAB0-AC25-719048D3697A}"/>
              </a:ext>
            </a:extLst>
          </p:cNvPr>
          <p:cNvSpPr/>
          <p:nvPr/>
        </p:nvSpPr>
        <p:spPr>
          <a:xfrm>
            <a:off x="240633" y="5167314"/>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Reading</a:t>
            </a:r>
          </a:p>
        </p:txBody>
      </p:sp>
      <p:sp>
        <p:nvSpPr>
          <p:cNvPr id="13" name="Rectangle 12">
            <a:extLst>
              <a:ext uri="{FF2B5EF4-FFF2-40B4-BE49-F238E27FC236}">
                <a16:creationId xmlns:a16="http://schemas.microsoft.com/office/drawing/2014/main" id="{B3D61B31-9D00-B00D-011E-F96BC6BB053B}"/>
              </a:ext>
            </a:extLst>
          </p:cNvPr>
          <p:cNvSpPr/>
          <p:nvPr/>
        </p:nvSpPr>
        <p:spPr>
          <a:xfrm>
            <a:off x="240633" y="8012641"/>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noProof="0">
                <a:solidFill>
                  <a:schemeClr val="tx1"/>
                </a:solidFill>
              </a:rPr>
              <a:t>Slough</a:t>
            </a:r>
            <a:endParaRPr lang="en-GB" sz="1800" noProof="0">
              <a:solidFill>
                <a:schemeClr val="tx1"/>
              </a:solidFill>
            </a:endParaRPr>
          </a:p>
        </p:txBody>
      </p:sp>
      <p:sp>
        <p:nvSpPr>
          <p:cNvPr id="14" name="Rectangle 13">
            <a:extLst>
              <a:ext uri="{FF2B5EF4-FFF2-40B4-BE49-F238E27FC236}">
                <a16:creationId xmlns:a16="http://schemas.microsoft.com/office/drawing/2014/main" id="{78438EC3-BBFC-CCBB-C6DE-C5ED7D8E8D6C}"/>
              </a:ext>
            </a:extLst>
          </p:cNvPr>
          <p:cNvSpPr/>
          <p:nvPr/>
        </p:nvSpPr>
        <p:spPr>
          <a:xfrm>
            <a:off x="240633" y="10808161"/>
            <a:ext cx="22803018" cy="162737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Sydney</a:t>
            </a:r>
          </a:p>
        </p:txBody>
      </p:sp>
      <p:pic>
        <p:nvPicPr>
          <p:cNvPr id="1044" name="Picture 20" descr="Database logo Vectors - Download Free High-Quality Vectors from Freepik |  Freepik">
            <a:extLst>
              <a:ext uri="{FF2B5EF4-FFF2-40B4-BE49-F238E27FC236}">
                <a16:creationId xmlns:a16="http://schemas.microsoft.com/office/drawing/2014/main" id="{062860EC-3403-C455-B04C-8613746A4E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04871" y="2913506"/>
            <a:ext cx="1582404" cy="175130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1841AB5-686D-1E62-CF1A-63FC273D78DD}"/>
              </a:ext>
            </a:extLst>
          </p:cNvPr>
          <p:cNvSpPr txBox="1"/>
          <p:nvPr/>
        </p:nvSpPr>
        <p:spPr>
          <a:xfrm>
            <a:off x="14257651" y="4471082"/>
            <a:ext cx="1337285" cy="646331"/>
          </a:xfrm>
          <a:prstGeom prst="rect">
            <a:avLst/>
          </a:prstGeom>
          <a:noFill/>
        </p:spPr>
        <p:txBody>
          <a:bodyPr wrap="square" rtlCol="0">
            <a:spAutoFit/>
          </a:bodyPr>
          <a:lstStyle/>
          <a:p>
            <a:pPr algn="ctr"/>
            <a:r>
              <a:rPr lang="en-GB" sz="1800" noProof="0"/>
              <a:t>Virtual </a:t>
            </a:r>
            <a:r>
              <a:rPr lang="en-GB" sz="1800" noProof="0" err="1"/>
              <a:t>DBServers</a:t>
            </a:r>
            <a:endParaRPr lang="en-GB" sz="1800" noProof="0"/>
          </a:p>
        </p:txBody>
      </p:sp>
      <p:pic>
        <p:nvPicPr>
          <p:cNvPr id="1050" name="Picture 26" descr="MySQL logo PNG transparent image download, size: 1280x1280px">
            <a:extLst>
              <a:ext uri="{FF2B5EF4-FFF2-40B4-BE49-F238E27FC236}">
                <a16:creationId xmlns:a16="http://schemas.microsoft.com/office/drawing/2014/main" id="{022A5637-4B11-A8D8-610C-E44F68991C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14152" y="8433834"/>
            <a:ext cx="765284" cy="765284"/>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windows logo PNG transparent image download, size: 1960x1840px">
            <a:extLst>
              <a:ext uri="{FF2B5EF4-FFF2-40B4-BE49-F238E27FC236}">
                <a16:creationId xmlns:a16="http://schemas.microsoft.com/office/drawing/2014/main" id="{8642023E-DA58-EE82-6A4F-72F3E7E89A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13120" y="6189722"/>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Linux Logo and symbol, meaning, history, PNG, brand">
            <a:extLst>
              <a:ext uri="{FF2B5EF4-FFF2-40B4-BE49-F238E27FC236}">
                <a16:creationId xmlns:a16="http://schemas.microsoft.com/office/drawing/2014/main" id="{F3948C53-2A33-172A-81A9-F66D038B26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1429" y="5346930"/>
            <a:ext cx="648466" cy="716280"/>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0CDD22F3-17C7-63B7-CAE1-00B1B32933A5}"/>
              </a:ext>
            </a:extLst>
          </p:cNvPr>
          <p:cNvGrpSpPr/>
          <p:nvPr/>
        </p:nvGrpSpPr>
        <p:grpSpPr>
          <a:xfrm>
            <a:off x="1493698" y="2989314"/>
            <a:ext cx="2338725" cy="6116227"/>
            <a:chOff x="-1111737" y="3040669"/>
            <a:chExt cx="2338725" cy="6116227"/>
          </a:xfrm>
        </p:grpSpPr>
        <p:pic>
          <p:nvPicPr>
            <p:cNvPr id="1030" name="Picture 6" descr="Proxmox VE 9.0 – Stabile Version jetzt verfügbar! – Black Rack">
              <a:extLst>
                <a:ext uri="{FF2B5EF4-FFF2-40B4-BE49-F238E27FC236}">
                  <a16:creationId xmlns:a16="http://schemas.microsoft.com/office/drawing/2014/main" id="{D59C1989-3603-B605-97FD-44E8FAE6C55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964" y="3040669"/>
              <a:ext cx="1868092" cy="177913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20BEADD-692B-A62E-8C72-EA0155572096}"/>
                </a:ext>
              </a:extLst>
            </p:cNvPr>
            <p:cNvSpPr txBox="1"/>
            <p:nvPr/>
          </p:nvSpPr>
          <p:spPr>
            <a:xfrm>
              <a:off x="236147" y="8849119"/>
              <a:ext cx="990841" cy="307777"/>
            </a:xfrm>
            <a:prstGeom prst="rect">
              <a:avLst/>
            </a:prstGeom>
            <a:noFill/>
          </p:spPr>
          <p:txBody>
            <a:bodyPr wrap="square" rtlCol="0">
              <a:spAutoFit/>
            </a:bodyPr>
            <a:lstStyle/>
            <a:p>
              <a:pPr algn="l"/>
              <a:r>
                <a:rPr lang="en-GB" sz="1400" noProof="0"/>
                <a:t>MOL INT</a:t>
              </a:r>
            </a:p>
          </p:txBody>
        </p:sp>
        <p:sp>
          <p:nvSpPr>
            <p:cNvPr id="18" name="TextBox 17">
              <a:extLst>
                <a:ext uri="{FF2B5EF4-FFF2-40B4-BE49-F238E27FC236}">
                  <a16:creationId xmlns:a16="http://schemas.microsoft.com/office/drawing/2014/main" id="{E84481C6-12BF-5EC5-572C-A36D7E467AC5}"/>
                </a:ext>
              </a:extLst>
            </p:cNvPr>
            <p:cNvSpPr txBox="1"/>
            <p:nvPr/>
          </p:nvSpPr>
          <p:spPr>
            <a:xfrm>
              <a:off x="-1100226" y="5892249"/>
              <a:ext cx="1580626" cy="523220"/>
            </a:xfrm>
            <a:prstGeom prst="rect">
              <a:avLst/>
            </a:prstGeom>
            <a:noFill/>
          </p:spPr>
          <p:txBody>
            <a:bodyPr wrap="none" rtlCol="0">
              <a:spAutoFit/>
            </a:bodyPr>
            <a:lstStyle/>
            <a:p>
              <a:pPr algn="l"/>
              <a:r>
                <a:rPr lang="en-GB" sz="1400" noProof="0"/>
                <a:t>No MOL </a:t>
              </a:r>
              <a:r>
                <a:rPr lang="en-GB" sz="1400" noProof="0" err="1"/>
                <a:t>proxmox</a:t>
              </a:r>
              <a:endParaRPr lang="en-GB" sz="1400" noProof="0"/>
            </a:p>
            <a:p>
              <a:pPr algn="l"/>
              <a:r>
                <a:rPr lang="en-GB" sz="1400" noProof="0"/>
                <a:t>In Reading</a:t>
              </a:r>
            </a:p>
          </p:txBody>
        </p:sp>
        <p:pic>
          <p:nvPicPr>
            <p:cNvPr id="20" name="Picture 36" descr="Linux Logo and symbol, meaning, history, PNG, brand">
              <a:extLst>
                <a:ext uri="{FF2B5EF4-FFF2-40B4-BE49-F238E27FC236}">
                  <a16:creationId xmlns:a16="http://schemas.microsoft.com/office/drawing/2014/main" id="{81CBB2B2-C370-A369-D48D-7EF0D09BAF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397" y="8085438"/>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ECF1CD20-2D5B-C346-FB97-10A8722EE4FA}"/>
                </a:ext>
              </a:extLst>
            </p:cNvPr>
            <p:cNvSpPr txBox="1"/>
            <p:nvPr/>
          </p:nvSpPr>
          <p:spPr>
            <a:xfrm>
              <a:off x="-1111737" y="6680032"/>
              <a:ext cx="2027478" cy="523220"/>
            </a:xfrm>
            <a:prstGeom prst="rect">
              <a:avLst/>
            </a:prstGeom>
            <a:noFill/>
          </p:spPr>
          <p:txBody>
            <a:bodyPr wrap="none" rtlCol="0">
              <a:spAutoFit/>
            </a:bodyPr>
            <a:lstStyle/>
            <a:p>
              <a:pPr algn="l"/>
              <a:r>
                <a:rPr lang="en-GB" sz="1400" noProof="0"/>
                <a:t>ANL </a:t>
              </a:r>
              <a:r>
                <a:rPr lang="en-GB" sz="1400" noProof="0" err="1"/>
                <a:t>proxmox</a:t>
              </a:r>
              <a:endParaRPr lang="en-GB" sz="1400" noProof="0"/>
            </a:p>
            <a:p>
              <a:pPr algn="l"/>
              <a:r>
                <a:rPr lang="en-GB" sz="1400" noProof="0"/>
                <a:t>Reading – TEST ONLY</a:t>
              </a:r>
            </a:p>
          </p:txBody>
        </p:sp>
      </p:grpSp>
      <p:pic>
        <p:nvPicPr>
          <p:cNvPr id="1036" name="Picture 12" descr="Virtual machine vector image | Free SVG">
            <a:extLst>
              <a:ext uri="{FF2B5EF4-FFF2-40B4-BE49-F238E27FC236}">
                <a16:creationId xmlns:a16="http://schemas.microsoft.com/office/drawing/2014/main" id="{62672130-5AAE-79ED-F375-23E75B3C05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74053" y="3281053"/>
            <a:ext cx="1313818" cy="15495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4FFA0B-8AB8-BB59-08D0-EC51D014B5EA}"/>
              </a:ext>
            </a:extLst>
          </p:cNvPr>
          <p:cNvSpPr txBox="1"/>
          <p:nvPr/>
        </p:nvSpPr>
        <p:spPr>
          <a:xfrm>
            <a:off x="9471268" y="4755448"/>
            <a:ext cx="2087795" cy="369332"/>
          </a:xfrm>
          <a:prstGeom prst="rect">
            <a:avLst/>
          </a:prstGeom>
          <a:noFill/>
        </p:spPr>
        <p:txBody>
          <a:bodyPr wrap="square" rtlCol="0">
            <a:spAutoFit/>
          </a:bodyPr>
          <a:lstStyle/>
          <a:p>
            <a:pPr algn="l"/>
            <a:r>
              <a:rPr lang="en-GB" sz="1800" noProof="0"/>
              <a:t>Virtual Appliances</a:t>
            </a:r>
          </a:p>
        </p:txBody>
      </p:sp>
      <p:pic>
        <p:nvPicPr>
          <p:cNvPr id="1066" name="Picture 42" descr="Tenable vs Nessus, what is the difference? - S4 Applications">
            <a:extLst>
              <a:ext uri="{FF2B5EF4-FFF2-40B4-BE49-F238E27FC236}">
                <a16:creationId xmlns:a16="http://schemas.microsoft.com/office/drawing/2014/main" id="{A46BF5B2-9C09-A37F-9802-F0FE0441CE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42256" y="5399360"/>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2" descr="Tenable vs Nessus, what is the difference? - S4 Applications">
            <a:extLst>
              <a:ext uri="{FF2B5EF4-FFF2-40B4-BE49-F238E27FC236}">
                <a16:creationId xmlns:a16="http://schemas.microsoft.com/office/drawing/2014/main" id="{ED8DFC3C-89BF-BDC9-42FF-9540948CCAD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42256" y="8151586"/>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2" descr="Tenable vs Nessus, what is the difference? - S4 Applications">
            <a:extLst>
              <a:ext uri="{FF2B5EF4-FFF2-40B4-BE49-F238E27FC236}">
                <a16:creationId xmlns:a16="http://schemas.microsoft.com/office/drawing/2014/main" id="{D73C6AFB-0CF5-BFB3-7AAA-8BAC0097E4F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69248" y="10835878"/>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AWS Marketplace: Guardicore">
            <a:extLst>
              <a:ext uri="{FF2B5EF4-FFF2-40B4-BE49-F238E27FC236}">
                <a16:creationId xmlns:a16="http://schemas.microsoft.com/office/drawing/2014/main" id="{A262305C-5057-AA46-01FE-EBFEE358862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76606" y="6323082"/>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4" descr="AWS Marketplace: Guardicore">
            <a:extLst>
              <a:ext uri="{FF2B5EF4-FFF2-40B4-BE49-F238E27FC236}">
                <a16:creationId xmlns:a16="http://schemas.microsoft.com/office/drawing/2014/main" id="{984D053A-00F9-4BDE-481E-5B0BB5C0C85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15043" y="9079388"/>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4" descr="AWS Marketplace: Guardicore">
            <a:extLst>
              <a:ext uri="{FF2B5EF4-FFF2-40B4-BE49-F238E27FC236}">
                <a16:creationId xmlns:a16="http://schemas.microsoft.com/office/drawing/2014/main" id="{253E6714-FE66-697B-9135-65DE39E29CB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3176" y="11617143"/>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VMware Horizon">
            <a:extLst>
              <a:ext uri="{FF2B5EF4-FFF2-40B4-BE49-F238E27FC236}">
                <a16:creationId xmlns:a16="http://schemas.microsoft.com/office/drawing/2014/main" id="{6A52E599-0E15-2D8C-AC81-5579154DC1C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27818" y="6887084"/>
            <a:ext cx="1617394" cy="93311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6" descr="VMware Horizon">
            <a:extLst>
              <a:ext uri="{FF2B5EF4-FFF2-40B4-BE49-F238E27FC236}">
                <a16:creationId xmlns:a16="http://schemas.microsoft.com/office/drawing/2014/main" id="{A08E1264-6C35-D8DC-759D-19B95E28442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25508" y="9757022"/>
            <a:ext cx="1617394" cy="93311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EFC14B4A-5C00-1BE7-8271-036219231E3E}"/>
              </a:ext>
            </a:extLst>
          </p:cNvPr>
          <p:cNvSpPr/>
          <p:nvPr/>
        </p:nvSpPr>
        <p:spPr>
          <a:xfrm>
            <a:off x="4260735" y="2663067"/>
            <a:ext cx="12689701" cy="9785607"/>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3" name="TextBox 32">
            <a:extLst>
              <a:ext uri="{FF2B5EF4-FFF2-40B4-BE49-F238E27FC236}">
                <a16:creationId xmlns:a16="http://schemas.microsoft.com/office/drawing/2014/main" id="{09CFB790-6859-7023-D60C-A6F2DFC32DFB}"/>
              </a:ext>
            </a:extLst>
          </p:cNvPr>
          <p:cNvSpPr txBox="1"/>
          <p:nvPr/>
        </p:nvSpPr>
        <p:spPr>
          <a:xfrm>
            <a:off x="20854159" y="5258048"/>
            <a:ext cx="1552538" cy="304919"/>
          </a:xfrm>
          <a:prstGeom prst="rect">
            <a:avLst/>
          </a:prstGeom>
          <a:noFill/>
        </p:spPr>
        <p:txBody>
          <a:bodyPr wrap="square" rtlCol="0">
            <a:spAutoFit/>
          </a:bodyPr>
          <a:lstStyle/>
          <a:p>
            <a:pPr algn="l"/>
            <a:r>
              <a:rPr lang="en-GB" sz="1400" noProof="0"/>
              <a:t>6 x HPE 480 G11</a:t>
            </a:r>
          </a:p>
        </p:txBody>
      </p:sp>
      <p:sp>
        <p:nvSpPr>
          <p:cNvPr id="34" name="TextBox 33">
            <a:extLst>
              <a:ext uri="{FF2B5EF4-FFF2-40B4-BE49-F238E27FC236}">
                <a16:creationId xmlns:a16="http://schemas.microsoft.com/office/drawing/2014/main" id="{DEB723DE-A0AC-8881-5782-95371632350F}"/>
              </a:ext>
            </a:extLst>
          </p:cNvPr>
          <p:cNvSpPr txBox="1"/>
          <p:nvPr/>
        </p:nvSpPr>
        <p:spPr>
          <a:xfrm>
            <a:off x="20888433" y="5839331"/>
            <a:ext cx="428322" cy="369332"/>
          </a:xfrm>
          <a:prstGeom prst="rect">
            <a:avLst/>
          </a:prstGeom>
          <a:noFill/>
        </p:spPr>
        <p:txBody>
          <a:bodyPr wrap="none" rtlCol="0">
            <a:spAutoFit/>
          </a:bodyPr>
          <a:lstStyle/>
          <a:p>
            <a:pPr algn="l"/>
            <a:r>
              <a:rPr lang="en-GB" sz="1800" noProof="0"/>
              <a:t>3x</a:t>
            </a:r>
          </a:p>
        </p:txBody>
      </p:sp>
      <p:sp>
        <p:nvSpPr>
          <p:cNvPr id="35" name="TextBox 34">
            <a:extLst>
              <a:ext uri="{FF2B5EF4-FFF2-40B4-BE49-F238E27FC236}">
                <a16:creationId xmlns:a16="http://schemas.microsoft.com/office/drawing/2014/main" id="{C20A7026-67EA-D9F8-BCDF-028804758B86}"/>
              </a:ext>
            </a:extLst>
          </p:cNvPr>
          <p:cNvSpPr txBox="1"/>
          <p:nvPr/>
        </p:nvSpPr>
        <p:spPr>
          <a:xfrm>
            <a:off x="20940441" y="8662902"/>
            <a:ext cx="428322" cy="369332"/>
          </a:xfrm>
          <a:prstGeom prst="rect">
            <a:avLst/>
          </a:prstGeom>
          <a:noFill/>
        </p:spPr>
        <p:txBody>
          <a:bodyPr wrap="none" rtlCol="0">
            <a:spAutoFit/>
          </a:bodyPr>
          <a:lstStyle/>
          <a:p>
            <a:pPr algn="l"/>
            <a:r>
              <a:rPr lang="en-GB" sz="1800" noProof="0"/>
              <a:t>3x</a:t>
            </a:r>
          </a:p>
        </p:txBody>
      </p:sp>
      <p:pic>
        <p:nvPicPr>
          <p:cNvPr id="36" name="Picture 28">
            <a:extLst>
              <a:ext uri="{FF2B5EF4-FFF2-40B4-BE49-F238E27FC236}">
                <a16:creationId xmlns:a16="http://schemas.microsoft.com/office/drawing/2014/main" id="{AED0FDB9-C038-0F54-C908-7420FFB3945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14671" y="8169374"/>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Oracle Solaris - Wikipedia">
            <a:extLst>
              <a:ext uri="{FF2B5EF4-FFF2-40B4-BE49-F238E27FC236}">
                <a16:creationId xmlns:a16="http://schemas.microsoft.com/office/drawing/2014/main" id="{6AF224B2-49E6-15D6-5A0F-CC170FAC353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7343" y="9802074"/>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03FA6EA3-B60C-99CE-E41F-E316381081E3}"/>
              </a:ext>
            </a:extLst>
          </p:cNvPr>
          <p:cNvSpPr txBox="1"/>
          <p:nvPr/>
        </p:nvSpPr>
        <p:spPr>
          <a:xfrm>
            <a:off x="4872939" y="7208267"/>
            <a:ext cx="1261884" cy="369332"/>
          </a:xfrm>
          <a:prstGeom prst="rect">
            <a:avLst/>
          </a:prstGeom>
          <a:noFill/>
        </p:spPr>
        <p:txBody>
          <a:bodyPr wrap="none" rtlCol="0">
            <a:spAutoFit/>
          </a:bodyPr>
          <a:lstStyle/>
          <a:p>
            <a:pPr algn="l"/>
            <a:r>
              <a:rPr lang="en-GB" noProof="0"/>
              <a:t>6 x </a:t>
            </a:r>
            <a:r>
              <a:rPr lang="en-GB"/>
              <a:t>Solaris</a:t>
            </a:r>
            <a:endParaRPr lang="en-GB" noProof="0"/>
          </a:p>
        </p:txBody>
      </p:sp>
      <p:pic>
        <p:nvPicPr>
          <p:cNvPr id="41" name="Picture 28">
            <a:extLst>
              <a:ext uri="{FF2B5EF4-FFF2-40B4-BE49-F238E27FC236}">
                <a16:creationId xmlns:a16="http://schemas.microsoft.com/office/drawing/2014/main" id="{8B3308D7-D38E-538B-F950-8BFFE61F859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32831" y="8696856"/>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8">
            <a:extLst>
              <a:ext uri="{FF2B5EF4-FFF2-40B4-BE49-F238E27FC236}">
                <a16:creationId xmlns:a16="http://schemas.microsoft.com/office/drawing/2014/main" id="{7AD9FFC5-C373-CA31-3BB8-4A48A886F6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93923" y="6023997"/>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2">
            <a:extLst>
              <a:ext uri="{FF2B5EF4-FFF2-40B4-BE49-F238E27FC236}">
                <a16:creationId xmlns:a16="http://schemas.microsoft.com/office/drawing/2014/main" id="{B8D86C40-39EA-9A13-1043-9287221F45D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397517" y="5626815"/>
            <a:ext cx="795066" cy="112581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6" descr="MySQL logo PNG transparent image download, size: 1280x1280px">
            <a:extLst>
              <a:ext uri="{FF2B5EF4-FFF2-40B4-BE49-F238E27FC236}">
                <a16:creationId xmlns:a16="http://schemas.microsoft.com/office/drawing/2014/main" id="{3388810A-D9AF-1BAC-40D6-12505FB88C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04219" y="5782602"/>
            <a:ext cx="765284" cy="76528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8">
            <a:extLst>
              <a:ext uri="{FF2B5EF4-FFF2-40B4-BE49-F238E27FC236}">
                <a16:creationId xmlns:a16="http://schemas.microsoft.com/office/drawing/2014/main" id="{9D9976DB-9A54-EA64-D88A-80556DAC014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483319" y="5515627"/>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4" descr="windows logo PNG transparent image download, size: 1960x1840px">
            <a:extLst>
              <a:ext uri="{FF2B5EF4-FFF2-40B4-BE49-F238E27FC236}">
                <a16:creationId xmlns:a16="http://schemas.microsoft.com/office/drawing/2014/main" id="{88E13005-780F-93FC-0961-0975BA9BC92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9062" y="11749044"/>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6" descr="Linux Logo and symbol, meaning, history, PNG, brand">
            <a:extLst>
              <a:ext uri="{FF2B5EF4-FFF2-40B4-BE49-F238E27FC236}">
                <a16:creationId xmlns:a16="http://schemas.microsoft.com/office/drawing/2014/main" id="{E2F36252-AEA4-1540-FE45-4B7FCD79B9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9062" y="10964539"/>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8E480AA3-BFB8-2BA4-B9E0-89A19CF60FE7}"/>
              </a:ext>
            </a:extLst>
          </p:cNvPr>
          <p:cNvSpPr txBox="1"/>
          <p:nvPr/>
        </p:nvSpPr>
        <p:spPr>
          <a:xfrm>
            <a:off x="9104873" y="11223406"/>
            <a:ext cx="428322" cy="369332"/>
          </a:xfrm>
          <a:prstGeom prst="rect">
            <a:avLst/>
          </a:prstGeom>
          <a:noFill/>
        </p:spPr>
        <p:txBody>
          <a:bodyPr wrap="none" rtlCol="0">
            <a:spAutoFit/>
          </a:bodyPr>
          <a:lstStyle/>
          <a:p>
            <a:pPr algn="l"/>
            <a:r>
              <a:rPr lang="en-GB" noProof="0"/>
              <a:t>4</a:t>
            </a:r>
            <a:r>
              <a:rPr lang="en-GB" sz="1800" noProof="0"/>
              <a:t>x</a:t>
            </a:r>
          </a:p>
        </p:txBody>
      </p:sp>
      <p:sp>
        <p:nvSpPr>
          <p:cNvPr id="49" name="TextBox 48">
            <a:extLst>
              <a:ext uri="{FF2B5EF4-FFF2-40B4-BE49-F238E27FC236}">
                <a16:creationId xmlns:a16="http://schemas.microsoft.com/office/drawing/2014/main" id="{71491D25-873A-6DB4-7584-D2A245A2E6DA}"/>
              </a:ext>
            </a:extLst>
          </p:cNvPr>
          <p:cNvSpPr txBox="1"/>
          <p:nvPr/>
        </p:nvSpPr>
        <p:spPr>
          <a:xfrm>
            <a:off x="9093260" y="11790092"/>
            <a:ext cx="428322" cy="369332"/>
          </a:xfrm>
          <a:prstGeom prst="rect">
            <a:avLst/>
          </a:prstGeom>
          <a:noFill/>
        </p:spPr>
        <p:txBody>
          <a:bodyPr wrap="none" rtlCol="0">
            <a:spAutoFit/>
          </a:bodyPr>
          <a:lstStyle/>
          <a:p>
            <a:pPr algn="l"/>
            <a:r>
              <a:rPr lang="en-GB" sz="1800" noProof="0"/>
              <a:t>2x</a:t>
            </a:r>
          </a:p>
        </p:txBody>
      </p:sp>
      <p:sp>
        <p:nvSpPr>
          <p:cNvPr id="50" name="TextBox 49">
            <a:extLst>
              <a:ext uri="{FF2B5EF4-FFF2-40B4-BE49-F238E27FC236}">
                <a16:creationId xmlns:a16="http://schemas.microsoft.com/office/drawing/2014/main" id="{3D1F6AEA-20D7-7BA3-3397-796AA41CD08E}"/>
              </a:ext>
            </a:extLst>
          </p:cNvPr>
          <p:cNvSpPr txBox="1"/>
          <p:nvPr/>
        </p:nvSpPr>
        <p:spPr>
          <a:xfrm>
            <a:off x="4852551" y="11176809"/>
            <a:ext cx="1236236" cy="369332"/>
          </a:xfrm>
          <a:prstGeom prst="rect">
            <a:avLst/>
          </a:prstGeom>
          <a:noFill/>
        </p:spPr>
        <p:txBody>
          <a:bodyPr wrap="none" rtlCol="0">
            <a:spAutoFit/>
          </a:bodyPr>
          <a:lstStyle/>
          <a:p>
            <a:pPr algn="l"/>
            <a:r>
              <a:rPr lang="en-GB" noProof="0"/>
              <a:t>29 </a:t>
            </a:r>
            <a:r>
              <a:rPr lang="en-GB" sz="1800" noProof="0"/>
              <a:t>x </a:t>
            </a:r>
            <a:r>
              <a:rPr lang="en-GB"/>
              <a:t>Linux</a:t>
            </a:r>
            <a:endParaRPr lang="en-GB" sz="1800" noProof="0"/>
          </a:p>
        </p:txBody>
      </p:sp>
      <p:sp>
        <p:nvSpPr>
          <p:cNvPr id="51" name="TextBox 50">
            <a:extLst>
              <a:ext uri="{FF2B5EF4-FFF2-40B4-BE49-F238E27FC236}">
                <a16:creationId xmlns:a16="http://schemas.microsoft.com/office/drawing/2014/main" id="{8502F281-86B1-B15E-FCB1-24FA0929BE7A}"/>
              </a:ext>
            </a:extLst>
          </p:cNvPr>
          <p:cNvSpPr txBox="1"/>
          <p:nvPr/>
        </p:nvSpPr>
        <p:spPr>
          <a:xfrm>
            <a:off x="5016214" y="11910981"/>
            <a:ext cx="1492716" cy="369332"/>
          </a:xfrm>
          <a:prstGeom prst="rect">
            <a:avLst/>
          </a:prstGeom>
          <a:noFill/>
        </p:spPr>
        <p:txBody>
          <a:bodyPr wrap="none" rtlCol="0">
            <a:spAutoFit/>
          </a:bodyPr>
          <a:lstStyle/>
          <a:p>
            <a:pPr algn="l"/>
            <a:r>
              <a:rPr lang="en-GB" sz="1800" noProof="0"/>
              <a:t>3 x Windows</a:t>
            </a:r>
          </a:p>
        </p:txBody>
      </p:sp>
      <p:pic>
        <p:nvPicPr>
          <p:cNvPr id="52" name="Picture 34" descr="windows logo PNG transparent image download, size: 1960x1840px">
            <a:extLst>
              <a:ext uri="{FF2B5EF4-FFF2-40B4-BE49-F238E27FC236}">
                <a16:creationId xmlns:a16="http://schemas.microsoft.com/office/drawing/2014/main" id="{5B42A86C-1FE7-B019-1086-69D03181F5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430" y="9032059"/>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6" descr="Linux Logo and symbol, meaning, history, PNG, brand">
            <a:extLst>
              <a:ext uri="{FF2B5EF4-FFF2-40B4-BE49-F238E27FC236}">
                <a16:creationId xmlns:a16="http://schemas.microsoft.com/office/drawing/2014/main" id="{BE663DB4-3175-7E4A-6163-E1EBEAA11A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0041" y="8167444"/>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274F1617-A5A0-CC58-6B16-0249F6201717}"/>
              </a:ext>
            </a:extLst>
          </p:cNvPr>
          <p:cNvSpPr txBox="1"/>
          <p:nvPr/>
        </p:nvSpPr>
        <p:spPr>
          <a:xfrm>
            <a:off x="512286" y="11480711"/>
            <a:ext cx="556563" cy="369332"/>
          </a:xfrm>
          <a:prstGeom prst="rect">
            <a:avLst/>
          </a:prstGeom>
          <a:noFill/>
        </p:spPr>
        <p:txBody>
          <a:bodyPr wrap="none" rtlCol="0">
            <a:spAutoFit/>
          </a:bodyPr>
          <a:lstStyle/>
          <a:p>
            <a:pPr algn="l"/>
            <a:r>
              <a:rPr lang="en-GB" noProof="0"/>
              <a:t>38</a:t>
            </a:r>
            <a:r>
              <a:rPr lang="en-GB" sz="1800" noProof="0"/>
              <a:t>x</a:t>
            </a:r>
          </a:p>
        </p:txBody>
      </p:sp>
      <p:sp>
        <p:nvSpPr>
          <p:cNvPr id="56" name="TextBox 55">
            <a:extLst>
              <a:ext uri="{FF2B5EF4-FFF2-40B4-BE49-F238E27FC236}">
                <a16:creationId xmlns:a16="http://schemas.microsoft.com/office/drawing/2014/main" id="{FF2C6053-423B-1DE6-C0FD-03DC7F831083}"/>
              </a:ext>
            </a:extLst>
          </p:cNvPr>
          <p:cNvSpPr txBox="1"/>
          <p:nvPr/>
        </p:nvSpPr>
        <p:spPr>
          <a:xfrm>
            <a:off x="15834119" y="6769069"/>
            <a:ext cx="556563" cy="369332"/>
          </a:xfrm>
          <a:prstGeom prst="rect">
            <a:avLst/>
          </a:prstGeom>
          <a:noFill/>
        </p:spPr>
        <p:txBody>
          <a:bodyPr wrap="none" rtlCol="0">
            <a:spAutoFit/>
          </a:bodyPr>
          <a:lstStyle/>
          <a:p>
            <a:pPr algn="l"/>
            <a:r>
              <a:rPr lang="en-GB" sz="1800"/>
              <a:t>12</a:t>
            </a:r>
            <a:r>
              <a:rPr lang="en-GB"/>
              <a:t>x</a:t>
            </a:r>
            <a:endParaRPr lang="en-GB" sz="1800" noProof="0"/>
          </a:p>
        </p:txBody>
      </p:sp>
      <p:sp>
        <p:nvSpPr>
          <p:cNvPr id="57" name="TextBox 56">
            <a:extLst>
              <a:ext uri="{FF2B5EF4-FFF2-40B4-BE49-F238E27FC236}">
                <a16:creationId xmlns:a16="http://schemas.microsoft.com/office/drawing/2014/main" id="{F47B8002-8294-9C01-0514-96DB72297232}"/>
              </a:ext>
            </a:extLst>
          </p:cNvPr>
          <p:cNvSpPr txBox="1"/>
          <p:nvPr/>
        </p:nvSpPr>
        <p:spPr>
          <a:xfrm>
            <a:off x="15562642" y="9377413"/>
            <a:ext cx="556563" cy="369332"/>
          </a:xfrm>
          <a:prstGeom prst="rect">
            <a:avLst/>
          </a:prstGeom>
          <a:noFill/>
        </p:spPr>
        <p:txBody>
          <a:bodyPr wrap="none" rtlCol="0">
            <a:spAutoFit/>
          </a:bodyPr>
          <a:lstStyle/>
          <a:p>
            <a:pPr algn="l"/>
            <a:r>
              <a:rPr lang="en-GB" sz="1800" noProof="0"/>
              <a:t>12x</a:t>
            </a:r>
          </a:p>
        </p:txBody>
      </p:sp>
      <p:sp>
        <p:nvSpPr>
          <p:cNvPr id="58" name="TextBox 57">
            <a:extLst>
              <a:ext uri="{FF2B5EF4-FFF2-40B4-BE49-F238E27FC236}">
                <a16:creationId xmlns:a16="http://schemas.microsoft.com/office/drawing/2014/main" id="{B20208A7-D383-63A7-1F28-1A1A4C5296D6}"/>
              </a:ext>
            </a:extLst>
          </p:cNvPr>
          <p:cNvSpPr txBox="1"/>
          <p:nvPr/>
        </p:nvSpPr>
        <p:spPr>
          <a:xfrm>
            <a:off x="12592214" y="6750895"/>
            <a:ext cx="428322" cy="369332"/>
          </a:xfrm>
          <a:prstGeom prst="rect">
            <a:avLst/>
          </a:prstGeom>
          <a:noFill/>
        </p:spPr>
        <p:txBody>
          <a:bodyPr wrap="none" rtlCol="0">
            <a:spAutoFit/>
          </a:bodyPr>
          <a:lstStyle/>
          <a:p>
            <a:pPr algn="l"/>
            <a:r>
              <a:rPr lang="en-GB" sz="1800" noProof="0"/>
              <a:t>2x</a:t>
            </a:r>
          </a:p>
        </p:txBody>
      </p:sp>
      <p:sp>
        <p:nvSpPr>
          <p:cNvPr id="59" name="TextBox 58">
            <a:extLst>
              <a:ext uri="{FF2B5EF4-FFF2-40B4-BE49-F238E27FC236}">
                <a16:creationId xmlns:a16="http://schemas.microsoft.com/office/drawing/2014/main" id="{14FFE40B-B01C-C329-F092-91E07AB5793B}"/>
              </a:ext>
            </a:extLst>
          </p:cNvPr>
          <p:cNvSpPr txBox="1"/>
          <p:nvPr/>
        </p:nvSpPr>
        <p:spPr>
          <a:xfrm>
            <a:off x="8966865" y="4757509"/>
            <a:ext cx="620683" cy="369332"/>
          </a:xfrm>
          <a:prstGeom prst="rect">
            <a:avLst/>
          </a:prstGeom>
          <a:noFill/>
        </p:spPr>
        <p:txBody>
          <a:bodyPr wrap="none" rtlCol="0">
            <a:spAutoFit/>
          </a:bodyPr>
          <a:lstStyle/>
          <a:p>
            <a:pPr algn="l"/>
            <a:r>
              <a:rPr lang="en-GB" noProof="0"/>
              <a:t>31 </a:t>
            </a:r>
            <a:r>
              <a:rPr lang="en-GB" sz="1800" noProof="0"/>
              <a:t>x</a:t>
            </a:r>
          </a:p>
        </p:txBody>
      </p:sp>
      <p:sp>
        <p:nvSpPr>
          <p:cNvPr id="1024" name="TextBox 1023">
            <a:extLst>
              <a:ext uri="{FF2B5EF4-FFF2-40B4-BE49-F238E27FC236}">
                <a16:creationId xmlns:a16="http://schemas.microsoft.com/office/drawing/2014/main" id="{EE0DECE0-ADF6-69B6-2B67-815A84529D15}"/>
              </a:ext>
            </a:extLst>
          </p:cNvPr>
          <p:cNvSpPr txBox="1"/>
          <p:nvPr/>
        </p:nvSpPr>
        <p:spPr>
          <a:xfrm>
            <a:off x="19781045" y="12596193"/>
            <a:ext cx="2085071" cy="461665"/>
          </a:xfrm>
          <a:prstGeom prst="rect">
            <a:avLst/>
          </a:prstGeom>
          <a:noFill/>
        </p:spPr>
        <p:txBody>
          <a:bodyPr wrap="square" rtlCol="0">
            <a:spAutoFit/>
          </a:bodyPr>
          <a:lstStyle/>
          <a:p>
            <a:pPr algn="l"/>
            <a:r>
              <a:rPr lang="en-GB" sz="2400" b="1" noProof="0"/>
              <a:t>3038</a:t>
            </a:r>
            <a:r>
              <a:rPr lang="en-GB" sz="2400" noProof="0"/>
              <a:t> Assets</a:t>
            </a:r>
          </a:p>
        </p:txBody>
      </p:sp>
      <p:pic>
        <p:nvPicPr>
          <p:cNvPr id="1025" name="Picture 50" descr="Oracle Solaris - Wikipedia">
            <a:extLst>
              <a:ext uri="{FF2B5EF4-FFF2-40B4-BE49-F238E27FC236}">
                <a16:creationId xmlns:a16="http://schemas.microsoft.com/office/drawing/2014/main" id="{79A8AA84-90F7-0BD1-24AF-07E477678C6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68381" y="7011555"/>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a:extLst>
              <a:ext uri="{FF2B5EF4-FFF2-40B4-BE49-F238E27FC236}">
                <a16:creationId xmlns:a16="http://schemas.microsoft.com/office/drawing/2014/main" id="{A15CFD0A-0E08-F519-5C89-7D2D397AD74D}"/>
              </a:ext>
            </a:extLst>
          </p:cNvPr>
          <p:cNvSpPr txBox="1"/>
          <p:nvPr/>
        </p:nvSpPr>
        <p:spPr>
          <a:xfrm>
            <a:off x="4901637" y="10003631"/>
            <a:ext cx="2753760" cy="369332"/>
          </a:xfrm>
          <a:prstGeom prst="rect">
            <a:avLst/>
          </a:prstGeom>
          <a:noFill/>
        </p:spPr>
        <p:txBody>
          <a:bodyPr wrap="square">
            <a:spAutoFit/>
          </a:bodyPr>
          <a:lstStyle/>
          <a:p>
            <a:r>
              <a:rPr lang="en-GB" noProof="0"/>
              <a:t>6 x Solaris</a:t>
            </a:r>
          </a:p>
        </p:txBody>
      </p:sp>
      <p:sp>
        <p:nvSpPr>
          <p:cNvPr id="1037" name="TextBox 1036">
            <a:extLst>
              <a:ext uri="{FF2B5EF4-FFF2-40B4-BE49-F238E27FC236}">
                <a16:creationId xmlns:a16="http://schemas.microsoft.com/office/drawing/2014/main" id="{434EC4CF-5554-3C37-1C02-9CC68D5C0684}"/>
              </a:ext>
            </a:extLst>
          </p:cNvPr>
          <p:cNvSpPr txBox="1"/>
          <p:nvPr/>
        </p:nvSpPr>
        <p:spPr>
          <a:xfrm>
            <a:off x="9093260" y="9222653"/>
            <a:ext cx="428322" cy="369332"/>
          </a:xfrm>
          <a:prstGeom prst="rect">
            <a:avLst/>
          </a:prstGeom>
          <a:noFill/>
        </p:spPr>
        <p:txBody>
          <a:bodyPr wrap="none" rtlCol="0">
            <a:spAutoFit/>
          </a:bodyPr>
          <a:lstStyle/>
          <a:p>
            <a:pPr algn="l"/>
            <a:r>
              <a:rPr lang="en-GB" noProof="0"/>
              <a:t>8</a:t>
            </a:r>
            <a:r>
              <a:rPr lang="en-GB" sz="1800" noProof="0"/>
              <a:t>x</a:t>
            </a:r>
          </a:p>
        </p:txBody>
      </p:sp>
      <p:sp>
        <p:nvSpPr>
          <p:cNvPr id="1039" name="TextBox 1038">
            <a:extLst>
              <a:ext uri="{FF2B5EF4-FFF2-40B4-BE49-F238E27FC236}">
                <a16:creationId xmlns:a16="http://schemas.microsoft.com/office/drawing/2014/main" id="{AFDDED9E-6214-56F1-C47A-D190A160DD38}"/>
              </a:ext>
            </a:extLst>
          </p:cNvPr>
          <p:cNvSpPr txBox="1"/>
          <p:nvPr/>
        </p:nvSpPr>
        <p:spPr>
          <a:xfrm>
            <a:off x="9105572" y="6501648"/>
            <a:ext cx="428322" cy="369332"/>
          </a:xfrm>
          <a:prstGeom prst="rect">
            <a:avLst/>
          </a:prstGeom>
          <a:noFill/>
        </p:spPr>
        <p:txBody>
          <a:bodyPr wrap="none" rtlCol="0">
            <a:spAutoFit/>
          </a:bodyPr>
          <a:lstStyle/>
          <a:p>
            <a:pPr algn="l"/>
            <a:r>
              <a:rPr lang="en-GB" sz="1800" noProof="0"/>
              <a:t>5x</a:t>
            </a:r>
          </a:p>
        </p:txBody>
      </p:sp>
      <p:sp>
        <p:nvSpPr>
          <p:cNvPr id="1041" name="TextBox 1040">
            <a:extLst>
              <a:ext uri="{FF2B5EF4-FFF2-40B4-BE49-F238E27FC236}">
                <a16:creationId xmlns:a16="http://schemas.microsoft.com/office/drawing/2014/main" id="{B2CF05DF-A296-9897-F29F-377DF757C7CD}"/>
              </a:ext>
            </a:extLst>
          </p:cNvPr>
          <p:cNvSpPr txBox="1"/>
          <p:nvPr/>
        </p:nvSpPr>
        <p:spPr>
          <a:xfrm>
            <a:off x="9098985" y="5709467"/>
            <a:ext cx="428322" cy="369332"/>
          </a:xfrm>
          <a:prstGeom prst="rect">
            <a:avLst/>
          </a:prstGeom>
          <a:noFill/>
        </p:spPr>
        <p:txBody>
          <a:bodyPr wrap="none" rtlCol="0">
            <a:spAutoFit/>
          </a:bodyPr>
          <a:lstStyle/>
          <a:p>
            <a:pPr algn="l"/>
            <a:r>
              <a:rPr lang="en-GB" sz="1800" noProof="0"/>
              <a:t>4x</a:t>
            </a:r>
          </a:p>
        </p:txBody>
      </p:sp>
      <p:sp>
        <p:nvSpPr>
          <p:cNvPr id="1043" name="TextBox 1042">
            <a:extLst>
              <a:ext uri="{FF2B5EF4-FFF2-40B4-BE49-F238E27FC236}">
                <a16:creationId xmlns:a16="http://schemas.microsoft.com/office/drawing/2014/main" id="{FD4B13DC-2074-838D-4629-977204C40D41}"/>
              </a:ext>
            </a:extLst>
          </p:cNvPr>
          <p:cNvSpPr txBox="1"/>
          <p:nvPr/>
        </p:nvSpPr>
        <p:spPr>
          <a:xfrm>
            <a:off x="9093260" y="8489007"/>
            <a:ext cx="428322" cy="369332"/>
          </a:xfrm>
          <a:prstGeom prst="rect">
            <a:avLst/>
          </a:prstGeom>
          <a:noFill/>
        </p:spPr>
        <p:txBody>
          <a:bodyPr wrap="none" rtlCol="0">
            <a:spAutoFit/>
          </a:bodyPr>
          <a:lstStyle/>
          <a:p>
            <a:pPr algn="l"/>
            <a:r>
              <a:rPr lang="en-GB" sz="1800" noProof="0"/>
              <a:t>6x</a:t>
            </a:r>
          </a:p>
        </p:txBody>
      </p:sp>
      <p:sp>
        <p:nvSpPr>
          <p:cNvPr id="1049" name="Rectangle 1048">
            <a:extLst>
              <a:ext uri="{FF2B5EF4-FFF2-40B4-BE49-F238E27FC236}">
                <a16:creationId xmlns:a16="http://schemas.microsoft.com/office/drawing/2014/main" id="{CB476E95-B791-E735-7A1A-AB2D6742DD18}"/>
              </a:ext>
            </a:extLst>
          </p:cNvPr>
          <p:cNvSpPr/>
          <p:nvPr/>
        </p:nvSpPr>
        <p:spPr>
          <a:xfrm>
            <a:off x="1358127" y="2663067"/>
            <a:ext cx="2554863" cy="7694090"/>
          </a:xfrm>
          <a:prstGeom prst="rect">
            <a:avLst/>
          </a:prstGeom>
          <a:noFill/>
          <a:ln>
            <a:solidFill>
              <a:srgbClr val="E57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45" name="TextBox 1044">
            <a:extLst>
              <a:ext uri="{FF2B5EF4-FFF2-40B4-BE49-F238E27FC236}">
                <a16:creationId xmlns:a16="http://schemas.microsoft.com/office/drawing/2014/main" id="{3C18BCDA-391D-7FED-F551-48EED2EAB44F}"/>
              </a:ext>
            </a:extLst>
          </p:cNvPr>
          <p:cNvSpPr txBox="1"/>
          <p:nvPr/>
        </p:nvSpPr>
        <p:spPr>
          <a:xfrm>
            <a:off x="18575069" y="5441746"/>
            <a:ext cx="1183997" cy="738664"/>
          </a:xfrm>
          <a:prstGeom prst="rect">
            <a:avLst/>
          </a:prstGeom>
          <a:solidFill>
            <a:schemeClr val="bg1"/>
          </a:solidFill>
        </p:spPr>
        <p:txBody>
          <a:bodyPr wrap="square" rtlCol="0">
            <a:spAutoFit/>
          </a:bodyPr>
          <a:lstStyle/>
          <a:p>
            <a:pPr algn="l"/>
            <a:r>
              <a:rPr lang="en-GB" sz="1400" noProof="0"/>
              <a:t>MOL - Prod</a:t>
            </a:r>
          </a:p>
          <a:p>
            <a:pPr algn="l"/>
            <a:r>
              <a:rPr lang="en-GB" sz="1400" noProof="0"/>
              <a:t>6 x DL360</a:t>
            </a:r>
          </a:p>
          <a:p>
            <a:pPr algn="l"/>
            <a:r>
              <a:rPr lang="en-GB" sz="1400" noProof="0"/>
              <a:t>6 x 3par</a:t>
            </a:r>
          </a:p>
        </p:txBody>
      </p:sp>
      <p:pic>
        <p:nvPicPr>
          <p:cNvPr id="1051" name="Picture 20" descr="Database logo Vectors - Download Free High-Quality Vectors from Freepik |  Freepik">
            <a:extLst>
              <a:ext uri="{FF2B5EF4-FFF2-40B4-BE49-F238E27FC236}">
                <a16:creationId xmlns:a16="http://schemas.microsoft.com/office/drawing/2014/main" id="{995AF55B-06F6-B213-8CC6-0DC83B398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26881" y="3267403"/>
            <a:ext cx="1137482" cy="1258895"/>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46556173-0CE9-86F7-2E41-8048BE60EAC8}"/>
              </a:ext>
            </a:extLst>
          </p:cNvPr>
          <p:cNvSpPr txBox="1"/>
          <p:nvPr/>
        </p:nvSpPr>
        <p:spPr>
          <a:xfrm>
            <a:off x="18716209" y="4720177"/>
            <a:ext cx="2580486" cy="369332"/>
          </a:xfrm>
          <a:prstGeom prst="rect">
            <a:avLst/>
          </a:prstGeom>
          <a:noFill/>
        </p:spPr>
        <p:txBody>
          <a:bodyPr wrap="square" rtlCol="0">
            <a:spAutoFit/>
          </a:bodyPr>
          <a:lstStyle/>
          <a:p>
            <a:pPr algn="ctr"/>
            <a:r>
              <a:rPr lang="en-GB" sz="1800" noProof="0"/>
              <a:t>DBs on Physicals</a:t>
            </a:r>
          </a:p>
        </p:txBody>
      </p:sp>
      <p:pic>
        <p:nvPicPr>
          <p:cNvPr id="1078" name="Picture 54" descr="HPE Primera 600 - Storage enclosure | Overview, Specs, Details | SHI">
            <a:extLst>
              <a:ext uri="{FF2B5EF4-FFF2-40B4-BE49-F238E27FC236}">
                <a16:creationId xmlns:a16="http://schemas.microsoft.com/office/drawing/2014/main" id="{DF51B9B1-87C6-4B98-E51B-BDAE5CED44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20129" y="7008223"/>
            <a:ext cx="785066" cy="588800"/>
          </a:xfrm>
          <a:prstGeom prst="rect">
            <a:avLst/>
          </a:prstGeom>
          <a:noFill/>
          <a:extLst>
            <a:ext uri="{909E8E84-426E-40DD-AFC4-6F175D3DCCD1}">
              <a14:hiddenFill xmlns:a14="http://schemas.microsoft.com/office/drawing/2010/main">
                <a:solidFill>
                  <a:srgbClr val="FFFFFF"/>
                </a:solidFill>
              </a14:hiddenFill>
            </a:ext>
          </a:extLst>
        </p:spPr>
      </p:pic>
      <p:sp>
        <p:nvSpPr>
          <p:cNvPr id="1057" name="TextBox 1056">
            <a:extLst>
              <a:ext uri="{FF2B5EF4-FFF2-40B4-BE49-F238E27FC236}">
                <a16:creationId xmlns:a16="http://schemas.microsoft.com/office/drawing/2014/main" id="{CB9B2A99-12E5-DDCA-D299-46D26EB9DBD2}"/>
              </a:ext>
            </a:extLst>
          </p:cNvPr>
          <p:cNvSpPr txBox="1"/>
          <p:nvPr/>
        </p:nvSpPr>
        <p:spPr>
          <a:xfrm>
            <a:off x="18538438" y="8127355"/>
            <a:ext cx="1586818" cy="738664"/>
          </a:xfrm>
          <a:prstGeom prst="rect">
            <a:avLst/>
          </a:prstGeom>
          <a:solidFill>
            <a:schemeClr val="bg1"/>
          </a:solidFill>
        </p:spPr>
        <p:txBody>
          <a:bodyPr wrap="square" rtlCol="0">
            <a:spAutoFit/>
          </a:bodyPr>
          <a:lstStyle/>
          <a:p>
            <a:pPr algn="l"/>
            <a:r>
              <a:rPr lang="en-GB" sz="1400" noProof="0"/>
              <a:t>MOL - Prod + Int</a:t>
            </a:r>
          </a:p>
          <a:p>
            <a:pPr algn="l"/>
            <a:r>
              <a:rPr lang="en-GB" sz="1400" noProof="0"/>
              <a:t>8 x DL360</a:t>
            </a:r>
          </a:p>
          <a:p>
            <a:pPr algn="l"/>
            <a:r>
              <a:rPr lang="en-GB" sz="1400" noProof="0"/>
              <a:t>8 x 3par</a:t>
            </a:r>
          </a:p>
        </p:txBody>
      </p:sp>
      <p:sp>
        <p:nvSpPr>
          <p:cNvPr id="1061" name="TextBox 1060">
            <a:extLst>
              <a:ext uri="{FF2B5EF4-FFF2-40B4-BE49-F238E27FC236}">
                <a16:creationId xmlns:a16="http://schemas.microsoft.com/office/drawing/2014/main" id="{BE822EA3-480F-A956-387C-EE70794F14B0}"/>
              </a:ext>
            </a:extLst>
          </p:cNvPr>
          <p:cNvSpPr txBox="1"/>
          <p:nvPr/>
        </p:nvSpPr>
        <p:spPr>
          <a:xfrm>
            <a:off x="18532155" y="8861712"/>
            <a:ext cx="1586818" cy="738664"/>
          </a:xfrm>
          <a:prstGeom prst="rect">
            <a:avLst/>
          </a:prstGeom>
          <a:solidFill>
            <a:schemeClr val="bg1"/>
          </a:solidFill>
        </p:spPr>
        <p:txBody>
          <a:bodyPr wrap="square" rtlCol="0">
            <a:spAutoFit/>
          </a:bodyPr>
          <a:lstStyle/>
          <a:p>
            <a:pPr algn="l"/>
            <a:r>
              <a:rPr lang="en-GB" sz="1400" noProof="0"/>
              <a:t>CHP - Prod + Int</a:t>
            </a:r>
          </a:p>
          <a:p>
            <a:pPr algn="l"/>
            <a:r>
              <a:rPr lang="en-GB" sz="1400" noProof="0"/>
              <a:t>2 x DL360</a:t>
            </a:r>
          </a:p>
          <a:p>
            <a:pPr algn="l"/>
            <a:r>
              <a:rPr lang="en-GB" sz="1400" noProof="0"/>
              <a:t>2 x Primera</a:t>
            </a:r>
          </a:p>
        </p:txBody>
      </p:sp>
      <p:pic>
        <p:nvPicPr>
          <p:cNvPr id="1067" name="Graphic 1066">
            <a:extLst>
              <a:ext uri="{FF2B5EF4-FFF2-40B4-BE49-F238E27FC236}">
                <a16:creationId xmlns:a16="http://schemas.microsoft.com/office/drawing/2014/main" id="{02B43932-6F4A-0911-342D-8778F8569EF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704120" y="6829213"/>
            <a:ext cx="885087" cy="310629"/>
          </a:xfrm>
          <a:prstGeom prst="rect">
            <a:avLst/>
          </a:prstGeom>
        </p:spPr>
      </p:pic>
      <p:pic>
        <p:nvPicPr>
          <p:cNvPr id="1082" name="Picture 58" descr="Setting up RAID 5 on HP ProLiant DL360 server ✔️">
            <a:extLst>
              <a:ext uri="{FF2B5EF4-FFF2-40B4-BE49-F238E27FC236}">
                <a16:creationId xmlns:a16="http://schemas.microsoft.com/office/drawing/2014/main" id="{CD932258-43D4-8B20-839A-7D01A7300E1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94132" y="6424597"/>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69" name="TextBox 1068">
            <a:extLst>
              <a:ext uri="{FF2B5EF4-FFF2-40B4-BE49-F238E27FC236}">
                <a16:creationId xmlns:a16="http://schemas.microsoft.com/office/drawing/2014/main" id="{3D946A7E-FF1E-7EBC-F716-4DB67895DC06}"/>
              </a:ext>
            </a:extLst>
          </p:cNvPr>
          <p:cNvSpPr txBox="1"/>
          <p:nvPr/>
        </p:nvSpPr>
        <p:spPr>
          <a:xfrm>
            <a:off x="18572010" y="6318701"/>
            <a:ext cx="1183997" cy="738664"/>
          </a:xfrm>
          <a:prstGeom prst="rect">
            <a:avLst/>
          </a:prstGeom>
          <a:solidFill>
            <a:schemeClr val="bg1"/>
          </a:solidFill>
        </p:spPr>
        <p:txBody>
          <a:bodyPr wrap="square" rtlCol="0">
            <a:spAutoFit/>
          </a:bodyPr>
          <a:lstStyle/>
          <a:p>
            <a:pPr algn="l"/>
            <a:r>
              <a:rPr lang="en-GB" sz="1400" noProof="0"/>
              <a:t>CHP – Prod</a:t>
            </a:r>
          </a:p>
          <a:p>
            <a:pPr algn="l"/>
            <a:r>
              <a:rPr lang="en-GB" sz="1400" noProof="0"/>
              <a:t>1 x DL360</a:t>
            </a:r>
          </a:p>
          <a:p>
            <a:pPr algn="l"/>
            <a:r>
              <a:rPr lang="en-GB" sz="1400" noProof="0"/>
              <a:t>1 x Primera</a:t>
            </a:r>
          </a:p>
        </p:txBody>
      </p:sp>
      <p:sp>
        <p:nvSpPr>
          <p:cNvPr id="1071" name="TextBox 1070">
            <a:extLst>
              <a:ext uri="{FF2B5EF4-FFF2-40B4-BE49-F238E27FC236}">
                <a16:creationId xmlns:a16="http://schemas.microsoft.com/office/drawing/2014/main" id="{5BA6DCAC-04EE-D6C0-34D3-63597237CCED}"/>
              </a:ext>
            </a:extLst>
          </p:cNvPr>
          <p:cNvSpPr txBox="1"/>
          <p:nvPr/>
        </p:nvSpPr>
        <p:spPr>
          <a:xfrm>
            <a:off x="18546278" y="7051329"/>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1 x DL380</a:t>
            </a:r>
          </a:p>
          <a:p>
            <a:pPr algn="l"/>
            <a:r>
              <a:rPr lang="en-GB" sz="1400" noProof="0"/>
              <a:t>1 x Primera</a:t>
            </a:r>
          </a:p>
        </p:txBody>
      </p:sp>
      <p:pic>
        <p:nvPicPr>
          <p:cNvPr id="1047" name="Picture 8">
            <a:extLst>
              <a:ext uri="{FF2B5EF4-FFF2-40B4-BE49-F238E27FC236}">
                <a16:creationId xmlns:a16="http://schemas.microsoft.com/office/drawing/2014/main" id="{A6A05ADF-025E-CF75-68CB-72F921D88A3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4557" y="5415403"/>
            <a:ext cx="915934" cy="9159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8E6EB4E-30A6-19C4-5E80-824DCDA9AB2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9025" y="9559739"/>
            <a:ext cx="915934" cy="915934"/>
          </a:xfrm>
          <a:prstGeom prst="rect">
            <a:avLst/>
          </a:prstGeom>
          <a:noFill/>
          <a:extLst>
            <a:ext uri="{909E8E84-426E-40DD-AFC4-6F175D3DCCD1}">
              <a14:hiddenFill xmlns:a14="http://schemas.microsoft.com/office/drawing/2010/main">
                <a:solidFill>
                  <a:srgbClr val="FFFFFF"/>
                </a:solidFill>
              </a14:hiddenFill>
            </a:ext>
          </a:extLst>
        </p:spPr>
      </p:pic>
      <p:sp>
        <p:nvSpPr>
          <p:cNvPr id="1073" name="TextBox 1072">
            <a:extLst>
              <a:ext uri="{FF2B5EF4-FFF2-40B4-BE49-F238E27FC236}">
                <a16:creationId xmlns:a16="http://schemas.microsoft.com/office/drawing/2014/main" id="{515F9135-02C0-F6FD-19E9-91F0CD998546}"/>
              </a:ext>
            </a:extLst>
          </p:cNvPr>
          <p:cNvSpPr txBox="1"/>
          <p:nvPr/>
        </p:nvSpPr>
        <p:spPr>
          <a:xfrm>
            <a:off x="18532155" y="9641151"/>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2 x DL380</a:t>
            </a:r>
          </a:p>
          <a:p>
            <a:pPr algn="l"/>
            <a:r>
              <a:rPr lang="en-GB" sz="1400" noProof="0"/>
              <a:t>2 x Primera</a:t>
            </a:r>
          </a:p>
        </p:txBody>
      </p:sp>
      <p:pic>
        <p:nvPicPr>
          <p:cNvPr id="1075" name="Picture 54" descr="HPE Primera 600 - Storage enclosure | Overview, Specs, Details | SHI">
            <a:extLst>
              <a:ext uri="{FF2B5EF4-FFF2-40B4-BE49-F238E27FC236}">
                <a16:creationId xmlns:a16="http://schemas.microsoft.com/office/drawing/2014/main" id="{0E31D957-0E23-05BF-A283-5BE2DB31173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95226" y="8875866"/>
            <a:ext cx="785066" cy="5888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Graphic 1076">
            <a:extLst>
              <a:ext uri="{FF2B5EF4-FFF2-40B4-BE49-F238E27FC236}">
                <a16:creationId xmlns:a16="http://schemas.microsoft.com/office/drawing/2014/main" id="{00386DEE-2211-8473-1937-3303686713A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679217" y="8696856"/>
            <a:ext cx="885087" cy="310629"/>
          </a:xfrm>
          <a:prstGeom prst="rect">
            <a:avLst/>
          </a:prstGeom>
        </p:spPr>
      </p:pic>
      <p:pic>
        <p:nvPicPr>
          <p:cNvPr id="1079" name="Picture 58" descr="Setting up RAID 5 on HP ProLiant DL360 server ✔️">
            <a:extLst>
              <a:ext uri="{FF2B5EF4-FFF2-40B4-BE49-F238E27FC236}">
                <a16:creationId xmlns:a16="http://schemas.microsoft.com/office/drawing/2014/main" id="{09411FC1-4E83-7610-7A8E-29FE11101FE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69229" y="8292240"/>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80" name="Rectangle 1079">
            <a:extLst>
              <a:ext uri="{FF2B5EF4-FFF2-40B4-BE49-F238E27FC236}">
                <a16:creationId xmlns:a16="http://schemas.microsoft.com/office/drawing/2014/main" id="{BD0FB69F-95C6-C6B9-23CA-6134D1E6C8FC}"/>
              </a:ext>
            </a:extLst>
          </p:cNvPr>
          <p:cNvSpPr/>
          <p:nvPr/>
        </p:nvSpPr>
        <p:spPr>
          <a:xfrm>
            <a:off x="17397788" y="5249872"/>
            <a:ext cx="2815034" cy="52809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1" name="Rectangle 1080">
            <a:extLst>
              <a:ext uri="{FF2B5EF4-FFF2-40B4-BE49-F238E27FC236}">
                <a16:creationId xmlns:a16="http://schemas.microsoft.com/office/drawing/2014/main" id="{950FF0FC-3B57-32B0-6DC2-57B2D5FFFAB8}"/>
              </a:ext>
            </a:extLst>
          </p:cNvPr>
          <p:cNvSpPr/>
          <p:nvPr/>
        </p:nvSpPr>
        <p:spPr>
          <a:xfrm>
            <a:off x="20647884" y="5238179"/>
            <a:ext cx="1904960" cy="528091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3" name="TextBox 1082">
            <a:extLst>
              <a:ext uri="{FF2B5EF4-FFF2-40B4-BE49-F238E27FC236}">
                <a16:creationId xmlns:a16="http://schemas.microsoft.com/office/drawing/2014/main" id="{0C7796B2-5E00-0DE3-32A0-1EB6964EA8EF}"/>
              </a:ext>
            </a:extLst>
          </p:cNvPr>
          <p:cNvSpPr txBox="1"/>
          <p:nvPr/>
        </p:nvSpPr>
        <p:spPr>
          <a:xfrm>
            <a:off x="14698351" y="9375073"/>
            <a:ext cx="428322" cy="369332"/>
          </a:xfrm>
          <a:prstGeom prst="rect">
            <a:avLst/>
          </a:prstGeom>
          <a:noFill/>
        </p:spPr>
        <p:txBody>
          <a:bodyPr wrap="none" rtlCol="0">
            <a:spAutoFit/>
          </a:bodyPr>
          <a:lstStyle/>
          <a:p>
            <a:pPr algn="l"/>
            <a:r>
              <a:rPr lang="en-GB"/>
              <a:t>6x</a:t>
            </a:r>
            <a:endParaRPr lang="en-GB" noProof="0"/>
          </a:p>
        </p:txBody>
      </p:sp>
      <p:sp>
        <p:nvSpPr>
          <p:cNvPr id="1087" name="TextBox 1086">
            <a:extLst>
              <a:ext uri="{FF2B5EF4-FFF2-40B4-BE49-F238E27FC236}">
                <a16:creationId xmlns:a16="http://schemas.microsoft.com/office/drawing/2014/main" id="{4AE14776-9279-C5F5-4A8C-FFAAFA4F5D97}"/>
              </a:ext>
            </a:extLst>
          </p:cNvPr>
          <p:cNvSpPr txBox="1"/>
          <p:nvPr/>
        </p:nvSpPr>
        <p:spPr>
          <a:xfrm>
            <a:off x="14620984" y="6723841"/>
            <a:ext cx="428322" cy="369332"/>
          </a:xfrm>
          <a:prstGeom prst="rect">
            <a:avLst/>
          </a:prstGeom>
          <a:noFill/>
        </p:spPr>
        <p:txBody>
          <a:bodyPr wrap="none" rtlCol="0">
            <a:spAutoFit/>
          </a:bodyPr>
          <a:lstStyle/>
          <a:p>
            <a:pPr algn="l"/>
            <a:r>
              <a:rPr lang="en-GB" noProof="0"/>
              <a:t>3x</a:t>
            </a:r>
            <a:endParaRPr lang="en-GB" sz="1800" noProof="0"/>
          </a:p>
        </p:txBody>
      </p:sp>
      <p:sp>
        <p:nvSpPr>
          <p:cNvPr id="1091" name="TextBox 1090">
            <a:extLst>
              <a:ext uri="{FF2B5EF4-FFF2-40B4-BE49-F238E27FC236}">
                <a16:creationId xmlns:a16="http://schemas.microsoft.com/office/drawing/2014/main" id="{516A21F0-9983-1CC4-096F-908B7676037E}"/>
              </a:ext>
            </a:extLst>
          </p:cNvPr>
          <p:cNvSpPr txBox="1"/>
          <p:nvPr/>
        </p:nvSpPr>
        <p:spPr>
          <a:xfrm>
            <a:off x="9105572" y="7192804"/>
            <a:ext cx="428322" cy="369332"/>
          </a:xfrm>
          <a:prstGeom prst="rect">
            <a:avLst/>
          </a:prstGeom>
          <a:noFill/>
        </p:spPr>
        <p:txBody>
          <a:bodyPr wrap="none" rtlCol="0">
            <a:spAutoFit/>
          </a:bodyPr>
          <a:lstStyle/>
          <a:p>
            <a:pPr algn="l"/>
            <a:r>
              <a:rPr lang="en-GB"/>
              <a:t>1</a:t>
            </a:r>
            <a:r>
              <a:rPr lang="en-GB" sz="1800" noProof="0"/>
              <a:t>x</a:t>
            </a:r>
          </a:p>
        </p:txBody>
      </p:sp>
      <p:sp>
        <p:nvSpPr>
          <p:cNvPr id="1092" name="TextBox 1091">
            <a:extLst>
              <a:ext uri="{FF2B5EF4-FFF2-40B4-BE49-F238E27FC236}">
                <a16:creationId xmlns:a16="http://schemas.microsoft.com/office/drawing/2014/main" id="{854D36F2-EB2E-C2E1-C89E-35D55A0A04CD}"/>
              </a:ext>
            </a:extLst>
          </p:cNvPr>
          <p:cNvSpPr txBox="1"/>
          <p:nvPr/>
        </p:nvSpPr>
        <p:spPr>
          <a:xfrm>
            <a:off x="9104873" y="10026982"/>
            <a:ext cx="428322" cy="369332"/>
          </a:xfrm>
          <a:prstGeom prst="rect">
            <a:avLst/>
          </a:prstGeom>
          <a:noFill/>
        </p:spPr>
        <p:txBody>
          <a:bodyPr wrap="none" rtlCol="0">
            <a:spAutoFit/>
          </a:bodyPr>
          <a:lstStyle/>
          <a:p>
            <a:pPr algn="l"/>
            <a:r>
              <a:rPr lang="en-GB"/>
              <a:t>1</a:t>
            </a:r>
            <a:r>
              <a:rPr lang="en-GB" sz="1800" noProof="0"/>
              <a:t>x</a:t>
            </a:r>
          </a:p>
        </p:txBody>
      </p:sp>
      <p:sp>
        <p:nvSpPr>
          <p:cNvPr id="5" name="TextBox 4">
            <a:extLst>
              <a:ext uri="{FF2B5EF4-FFF2-40B4-BE49-F238E27FC236}">
                <a16:creationId xmlns:a16="http://schemas.microsoft.com/office/drawing/2014/main" id="{45717CA4-16F2-A355-13CB-41F7EBB3957E}"/>
              </a:ext>
            </a:extLst>
          </p:cNvPr>
          <p:cNvSpPr txBox="1"/>
          <p:nvPr/>
        </p:nvSpPr>
        <p:spPr>
          <a:xfrm>
            <a:off x="1373703" y="8358220"/>
            <a:ext cx="1595309" cy="369332"/>
          </a:xfrm>
          <a:prstGeom prst="rect">
            <a:avLst/>
          </a:prstGeom>
          <a:noFill/>
        </p:spPr>
        <p:txBody>
          <a:bodyPr wrap="none" rtlCol="0">
            <a:spAutoFit/>
          </a:bodyPr>
          <a:lstStyle/>
          <a:p>
            <a:pPr algn="l"/>
            <a:r>
              <a:rPr lang="en-GB"/>
              <a:t>41 x </a:t>
            </a:r>
            <a:r>
              <a:rPr lang="en-GB" err="1"/>
              <a:t>Proxmox</a:t>
            </a:r>
            <a:endParaRPr lang="en-GB" noProof="0"/>
          </a:p>
        </p:txBody>
      </p:sp>
      <p:sp>
        <p:nvSpPr>
          <p:cNvPr id="3" name="TextBox 2">
            <a:extLst>
              <a:ext uri="{FF2B5EF4-FFF2-40B4-BE49-F238E27FC236}">
                <a16:creationId xmlns:a16="http://schemas.microsoft.com/office/drawing/2014/main" id="{E172CCDA-ADE8-2ED2-8278-5AB23BD1F378}"/>
              </a:ext>
            </a:extLst>
          </p:cNvPr>
          <p:cNvSpPr txBox="1"/>
          <p:nvPr/>
        </p:nvSpPr>
        <p:spPr>
          <a:xfrm>
            <a:off x="4772872" y="6430473"/>
            <a:ext cx="1620957" cy="369332"/>
          </a:xfrm>
          <a:prstGeom prst="rect">
            <a:avLst/>
          </a:prstGeom>
          <a:noFill/>
        </p:spPr>
        <p:txBody>
          <a:bodyPr wrap="none" rtlCol="0">
            <a:spAutoFit/>
          </a:bodyPr>
          <a:lstStyle/>
          <a:p>
            <a:pPr algn="l"/>
            <a:r>
              <a:rPr lang="en-GB" noProof="0"/>
              <a:t>75 x Windows</a:t>
            </a:r>
          </a:p>
        </p:txBody>
      </p:sp>
      <p:sp>
        <p:nvSpPr>
          <p:cNvPr id="7" name="TextBox 6">
            <a:extLst>
              <a:ext uri="{FF2B5EF4-FFF2-40B4-BE49-F238E27FC236}">
                <a16:creationId xmlns:a16="http://schemas.microsoft.com/office/drawing/2014/main" id="{46EAF9B7-6021-ADBC-29B2-1400E4813D4D}"/>
              </a:ext>
            </a:extLst>
          </p:cNvPr>
          <p:cNvSpPr txBox="1"/>
          <p:nvPr/>
        </p:nvSpPr>
        <p:spPr>
          <a:xfrm>
            <a:off x="4623732" y="5646649"/>
            <a:ext cx="1364476" cy="369332"/>
          </a:xfrm>
          <a:prstGeom prst="rect">
            <a:avLst/>
          </a:prstGeom>
          <a:noFill/>
        </p:spPr>
        <p:txBody>
          <a:bodyPr wrap="none" rtlCol="0">
            <a:spAutoFit/>
          </a:bodyPr>
          <a:lstStyle/>
          <a:p>
            <a:pPr algn="l"/>
            <a:r>
              <a:rPr lang="en-GB" noProof="0"/>
              <a:t>927 x Linux</a:t>
            </a:r>
          </a:p>
        </p:txBody>
      </p:sp>
      <p:sp>
        <p:nvSpPr>
          <p:cNvPr id="8" name="TextBox 7">
            <a:extLst>
              <a:ext uri="{FF2B5EF4-FFF2-40B4-BE49-F238E27FC236}">
                <a16:creationId xmlns:a16="http://schemas.microsoft.com/office/drawing/2014/main" id="{B76EEE82-7E8A-7607-5C50-ACF57022E2F8}"/>
              </a:ext>
            </a:extLst>
          </p:cNvPr>
          <p:cNvSpPr txBox="1"/>
          <p:nvPr/>
        </p:nvSpPr>
        <p:spPr>
          <a:xfrm>
            <a:off x="4520464" y="8389079"/>
            <a:ext cx="1492716" cy="369332"/>
          </a:xfrm>
          <a:prstGeom prst="rect">
            <a:avLst/>
          </a:prstGeom>
          <a:noFill/>
        </p:spPr>
        <p:txBody>
          <a:bodyPr wrap="none" rtlCol="0">
            <a:spAutoFit/>
          </a:bodyPr>
          <a:lstStyle/>
          <a:p>
            <a:pPr algn="l"/>
            <a:r>
              <a:rPr lang="en-GB" noProof="0"/>
              <a:t>1779 x Linux</a:t>
            </a:r>
          </a:p>
        </p:txBody>
      </p:sp>
      <p:sp>
        <p:nvSpPr>
          <p:cNvPr id="9" name="TextBox 8">
            <a:extLst>
              <a:ext uri="{FF2B5EF4-FFF2-40B4-BE49-F238E27FC236}">
                <a16:creationId xmlns:a16="http://schemas.microsoft.com/office/drawing/2014/main" id="{C8CA6DF0-BD7F-A5A0-894B-4DBB374C8444}"/>
              </a:ext>
            </a:extLst>
          </p:cNvPr>
          <p:cNvSpPr txBox="1"/>
          <p:nvPr/>
        </p:nvSpPr>
        <p:spPr>
          <a:xfrm>
            <a:off x="4644632" y="9182567"/>
            <a:ext cx="1749197" cy="369332"/>
          </a:xfrm>
          <a:prstGeom prst="rect">
            <a:avLst/>
          </a:prstGeom>
          <a:noFill/>
        </p:spPr>
        <p:txBody>
          <a:bodyPr wrap="none" rtlCol="0">
            <a:spAutoFit/>
          </a:bodyPr>
          <a:lstStyle/>
          <a:p>
            <a:pPr algn="l"/>
            <a:r>
              <a:rPr lang="en-GB"/>
              <a:t>157</a:t>
            </a:r>
            <a:r>
              <a:rPr lang="en-GB" noProof="0"/>
              <a:t> x Windows</a:t>
            </a:r>
          </a:p>
        </p:txBody>
      </p:sp>
      <p:pic>
        <p:nvPicPr>
          <p:cNvPr id="11" name="Picture 8">
            <a:extLst>
              <a:ext uri="{FF2B5EF4-FFF2-40B4-BE49-F238E27FC236}">
                <a16:creationId xmlns:a16="http://schemas.microsoft.com/office/drawing/2014/main" id="{1413BBA0-07E1-B930-3182-88AD42187F6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367846" y="5692128"/>
            <a:ext cx="915934" cy="91593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a:extLst>
              <a:ext uri="{FF2B5EF4-FFF2-40B4-BE49-F238E27FC236}">
                <a16:creationId xmlns:a16="http://schemas.microsoft.com/office/drawing/2014/main" id="{91DE2A56-1C22-7E68-9D6C-665ADE73746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422167" y="8389601"/>
            <a:ext cx="915934" cy="915934"/>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56EB08A-768D-C5BD-8C42-06D187214274}"/>
              </a:ext>
            </a:extLst>
          </p:cNvPr>
          <p:cNvSpPr txBox="1"/>
          <p:nvPr/>
        </p:nvSpPr>
        <p:spPr>
          <a:xfrm>
            <a:off x="13606599" y="6769069"/>
            <a:ext cx="428322" cy="369332"/>
          </a:xfrm>
          <a:prstGeom prst="rect">
            <a:avLst/>
          </a:prstGeom>
          <a:noFill/>
        </p:spPr>
        <p:txBody>
          <a:bodyPr wrap="none" rtlCol="0">
            <a:spAutoFit/>
          </a:bodyPr>
          <a:lstStyle/>
          <a:p>
            <a:pPr algn="l"/>
            <a:r>
              <a:rPr lang="en-GB"/>
              <a:t>4</a:t>
            </a:r>
            <a:r>
              <a:rPr lang="en-GB" noProof="0"/>
              <a:t>x</a:t>
            </a:r>
            <a:endParaRPr lang="en-GB" sz="1800" noProof="0"/>
          </a:p>
        </p:txBody>
      </p:sp>
      <p:sp>
        <p:nvSpPr>
          <p:cNvPr id="26" name="TextBox 25">
            <a:extLst>
              <a:ext uri="{FF2B5EF4-FFF2-40B4-BE49-F238E27FC236}">
                <a16:creationId xmlns:a16="http://schemas.microsoft.com/office/drawing/2014/main" id="{FF957A7E-854D-DDE8-8A09-ECE4E9E833F8}"/>
              </a:ext>
            </a:extLst>
          </p:cNvPr>
          <p:cNvSpPr txBox="1"/>
          <p:nvPr/>
        </p:nvSpPr>
        <p:spPr>
          <a:xfrm>
            <a:off x="13611543" y="9377147"/>
            <a:ext cx="556563" cy="369332"/>
          </a:xfrm>
          <a:prstGeom prst="rect">
            <a:avLst/>
          </a:prstGeom>
          <a:noFill/>
        </p:spPr>
        <p:txBody>
          <a:bodyPr wrap="none" rtlCol="0">
            <a:spAutoFit/>
          </a:bodyPr>
          <a:lstStyle/>
          <a:p>
            <a:pPr algn="l"/>
            <a:r>
              <a:rPr lang="en-GB" noProof="0"/>
              <a:t>10x</a:t>
            </a:r>
            <a:endParaRPr lang="en-GB" sz="1800" noProof="0"/>
          </a:p>
        </p:txBody>
      </p:sp>
      <p:sp>
        <p:nvSpPr>
          <p:cNvPr id="28" name="TextBox 27">
            <a:extLst>
              <a:ext uri="{FF2B5EF4-FFF2-40B4-BE49-F238E27FC236}">
                <a16:creationId xmlns:a16="http://schemas.microsoft.com/office/drawing/2014/main" id="{0F2564A1-EDA9-FC76-E060-C157F0AD6F24}"/>
              </a:ext>
            </a:extLst>
          </p:cNvPr>
          <p:cNvSpPr txBox="1"/>
          <p:nvPr/>
        </p:nvSpPr>
        <p:spPr>
          <a:xfrm>
            <a:off x="337331" y="8749520"/>
            <a:ext cx="813043" cy="369332"/>
          </a:xfrm>
          <a:prstGeom prst="rect">
            <a:avLst/>
          </a:prstGeom>
          <a:noFill/>
        </p:spPr>
        <p:txBody>
          <a:bodyPr wrap="none" rtlCol="0">
            <a:spAutoFit/>
          </a:bodyPr>
          <a:lstStyle/>
          <a:p>
            <a:pPr algn="l"/>
            <a:r>
              <a:rPr lang="en-GB" noProof="0"/>
              <a:t>1977x</a:t>
            </a:r>
            <a:endParaRPr lang="en-GB" sz="1800" noProof="0"/>
          </a:p>
        </p:txBody>
      </p:sp>
      <p:sp>
        <p:nvSpPr>
          <p:cNvPr id="29" name="TextBox 28">
            <a:extLst>
              <a:ext uri="{FF2B5EF4-FFF2-40B4-BE49-F238E27FC236}">
                <a16:creationId xmlns:a16="http://schemas.microsoft.com/office/drawing/2014/main" id="{4BC8001D-6510-758D-F4B7-2805F223D484}"/>
              </a:ext>
            </a:extLst>
          </p:cNvPr>
          <p:cNvSpPr txBox="1"/>
          <p:nvPr/>
        </p:nvSpPr>
        <p:spPr>
          <a:xfrm>
            <a:off x="350084" y="5917404"/>
            <a:ext cx="813043" cy="369332"/>
          </a:xfrm>
          <a:prstGeom prst="rect">
            <a:avLst/>
          </a:prstGeom>
          <a:noFill/>
        </p:spPr>
        <p:txBody>
          <a:bodyPr wrap="none" rtlCol="0">
            <a:spAutoFit/>
          </a:bodyPr>
          <a:lstStyle/>
          <a:p>
            <a:pPr algn="l"/>
            <a:r>
              <a:rPr lang="en-GB" noProof="0"/>
              <a:t>1020x</a:t>
            </a:r>
            <a:endParaRPr lang="en-GB" sz="1800" noProof="0"/>
          </a:p>
        </p:txBody>
      </p:sp>
      <p:sp>
        <p:nvSpPr>
          <p:cNvPr id="30" name="TextBox 29">
            <a:extLst>
              <a:ext uri="{FF2B5EF4-FFF2-40B4-BE49-F238E27FC236}">
                <a16:creationId xmlns:a16="http://schemas.microsoft.com/office/drawing/2014/main" id="{207AE4AC-0802-E1E3-C206-2CE48A98B071}"/>
              </a:ext>
            </a:extLst>
          </p:cNvPr>
          <p:cNvSpPr txBox="1"/>
          <p:nvPr/>
        </p:nvSpPr>
        <p:spPr>
          <a:xfrm>
            <a:off x="13494513" y="4757509"/>
            <a:ext cx="620683" cy="369332"/>
          </a:xfrm>
          <a:prstGeom prst="rect">
            <a:avLst/>
          </a:prstGeom>
          <a:noFill/>
        </p:spPr>
        <p:txBody>
          <a:bodyPr wrap="none" rtlCol="0">
            <a:spAutoFit/>
          </a:bodyPr>
          <a:lstStyle/>
          <a:p>
            <a:pPr algn="l"/>
            <a:r>
              <a:rPr lang="en-GB"/>
              <a:t>46</a:t>
            </a:r>
            <a:r>
              <a:rPr lang="en-GB" noProof="0"/>
              <a:t> </a:t>
            </a:r>
            <a:r>
              <a:rPr lang="en-GB" sz="1800" noProof="0"/>
              <a:t>x</a:t>
            </a:r>
          </a:p>
        </p:txBody>
      </p:sp>
      <p:sp>
        <p:nvSpPr>
          <p:cNvPr id="31" name="TextBox 30">
            <a:extLst>
              <a:ext uri="{FF2B5EF4-FFF2-40B4-BE49-F238E27FC236}">
                <a16:creationId xmlns:a16="http://schemas.microsoft.com/office/drawing/2014/main" id="{3858427E-446E-13D0-6D5E-84D0007A6A7C}"/>
              </a:ext>
            </a:extLst>
          </p:cNvPr>
          <p:cNvSpPr txBox="1"/>
          <p:nvPr/>
        </p:nvSpPr>
        <p:spPr>
          <a:xfrm>
            <a:off x="4618292" y="4749641"/>
            <a:ext cx="877163" cy="369332"/>
          </a:xfrm>
          <a:prstGeom prst="rect">
            <a:avLst/>
          </a:prstGeom>
          <a:noFill/>
        </p:spPr>
        <p:txBody>
          <a:bodyPr wrap="none" rtlCol="0">
            <a:spAutoFit/>
          </a:bodyPr>
          <a:lstStyle/>
          <a:p>
            <a:pPr algn="l"/>
            <a:r>
              <a:rPr lang="en-GB"/>
              <a:t>2937</a:t>
            </a:r>
            <a:r>
              <a:rPr lang="en-GB" noProof="0"/>
              <a:t> </a:t>
            </a:r>
            <a:r>
              <a:rPr lang="en-GB" sz="1800" noProof="0"/>
              <a:t>x</a:t>
            </a:r>
          </a:p>
        </p:txBody>
      </p:sp>
    </p:spTree>
    <p:extLst>
      <p:ext uri="{BB962C8B-B14F-4D97-AF65-F5344CB8AC3E}">
        <p14:creationId xmlns:p14="http://schemas.microsoft.com/office/powerpoint/2010/main" val="4084012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465375-A961-7714-5956-809E3B8349E6}"/>
              </a:ext>
            </a:extLst>
          </p:cNvPr>
          <p:cNvSpPr>
            <a:spLocks noGrp="1"/>
          </p:cNvSpPr>
          <p:nvPr>
            <p:ph type="body" sz="quarter" idx="12"/>
          </p:nvPr>
        </p:nvSpPr>
        <p:spPr>
          <a:xfrm>
            <a:off x="668992" y="3802560"/>
            <a:ext cx="22936200" cy="3488134"/>
          </a:xfrm>
        </p:spPr>
        <p:txBody>
          <a:bodyPr/>
          <a:lstStyle/>
          <a:p>
            <a:pPr marL="742950" indent="-742950">
              <a:buFont typeface="+mj-lt"/>
              <a:buAutoNum type="arabicPeriod"/>
            </a:pPr>
            <a:r>
              <a:rPr lang="en-GB" b="1">
                <a:latin typeface="Fira Sans" panose="020B0503050000020004" pitchFamily="34" charset="0"/>
              </a:rPr>
              <a:t>Mail Online</a:t>
            </a:r>
            <a:r>
              <a:rPr lang="en-GB">
                <a:latin typeface="Fira Sans" panose="020B0503050000020004" pitchFamily="34" charset="0"/>
              </a:rPr>
              <a:t>: 2,206 servers (72.6%) 91 sub-components | Oracle at the centre | Dual ownership (CPO + CTO)</a:t>
            </a:r>
          </a:p>
          <a:p>
            <a:pPr marL="742950" indent="-742950">
              <a:buFont typeface="+mj-lt"/>
              <a:buAutoNum type="arabicPeriod"/>
            </a:pPr>
            <a:r>
              <a:rPr lang="en-GB" b="1">
                <a:latin typeface="Fira Sans" panose="020B0503050000020004" pitchFamily="34" charset="0"/>
              </a:rPr>
              <a:t>CHP</a:t>
            </a:r>
            <a:r>
              <a:rPr lang="en-GB">
                <a:latin typeface="Fira Sans" panose="020B0503050000020004" pitchFamily="34" charset="0"/>
              </a:rPr>
              <a:t>: 146 servers (Oracle-backed, publishing operations)</a:t>
            </a:r>
          </a:p>
          <a:p>
            <a:pPr marL="742950" indent="-742950">
              <a:buFont typeface="+mj-lt"/>
              <a:buAutoNum type="arabicPeriod"/>
            </a:pPr>
            <a:r>
              <a:rPr lang="en-GB" b="1">
                <a:latin typeface="Fira Sans" panose="020B0503050000020004" pitchFamily="34" charset="0"/>
              </a:rPr>
              <a:t>WPS</a:t>
            </a:r>
            <a:r>
              <a:rPr lang="en-GB">
                <a:latin typeface="Fira Sans" panose="020B0503050000020004" pitchFamily="34" charset="0"/>
              </a:rPr>
              <a:t>: 136 servers (tightly coupled to Mail Online, must co-migrate)</a:t>
            </a:r>
          </a:p>
          <a:p>
            <a:pPr marL="742950" indent="-742950">
              <a:buFont typeface="+mj-lt"/>
              <a:buAutoNum type="arabicPeriod"/>
            </a:pPr>
            <a:r>
              <a:rPr lang="en-GB" b="1" err="1">
                <a:latin typeface="Fira Sans" panose="020B0503050000020004" pitchFamily="34" charset="0"/>
              </a:rPr>
              <a:t>Atex</a:t>
            </a:r>
            <a:r>
              <a:rPr lang="en-GB">
                <a:latin typeface="Fira Sans" panose="020B0503050000020004" pitchFamily="34" charset="0"/>
              </a:rPr>
              <a:t>: 109 servers (multicast constraint, business decision required)</a:t>
            </a:r>
          </a:p>
          <a:p>
            <a:pPr marL="742950" indent="-742950">
              <a:buFont typeface="+mj-lt"/>
              <a:buAutoNum type="arabicPeriod"/>
            </a:pPr>
            <a:r>
              <a:rPr lang="en-GB" b="1">
                <a:latin typeface="Fira Sans" panose="020B0503050000020004" pitchFamily="34" charset="0"/>
              </a:rPr>
              <a:t>RTA</a:t>
            </a:r>
            <a:r>
              <a:rPr lang="en-GB">
                <a:latin typeface="Fira Sans" panose="020B0503050000020004" pitchFamily="34" charset="0"/>
              </a:rPr>
              <a:t>: 41 servers (significantly overprovisioned)</a:t>
            </a:r>
          </a:p>
        </p:txBody>
      </p:sp>
      <p:sp>
        <p:nvSpPr>
          <p:cNvPr id="3" name="Title 2">
            <a:extLst>
              <a:ext uri="{FF2B5EF4-FFF2-40B4-BE49-F238E27FC236}">
                <a16:creationId xmlns:a16="http://schemas.microsoft.com/office/drawing/2014/main" id="{7287083A-3D1B-3AEC-5195-8F741B868695}"/>
              </a:ext>
            </a:extLst>
          </p:cNvPr>
          <p:cNvSpPr>
            <a:spLocks noGrp="1"/>
          </p:cNvSpPr>
          <p:nvPr>
            <p:ph type="title"/>
          </p:nvPr>
        </p:nvSpPr>
        <p:spPr>
          <a:xfrm>
            <a:off x="668992" y="537179"/>
            <a:ext cx="22991108" cy="997837"/>
          </a:xfrm>
        </p:spPr>
        <p:txBody>
          <a:bodyPr/>
          <a:lstStyle/>
          <a:p>
            <a:r>
              <a:rPr lang="en-GB">
                <a:solidFill>
                  <a:srgbClr val="FF0000"/>
                </a:solidFill>
                <a:latin typeface="Fira Sans" panose="020B0503050000020004" pitchFamily="34" charset="0"/>
              </a:rPr>
              <a:t>Application landscape </a:t>
            </a:r>
          </a:p>
        </p:txBody>
      </p:sp>
      <p:sp>
        <p:nvSpPr>
          <p:cNvPr id="4" name="Slide Number Placeholder 3">
            <a:extLst>
              <a:ext uri="{FF2B5EF4-FFF2-40B4-BE49-F238E27FC236}">
                <a16:creationId xmlns:a16="http://schemas.microsoft.com/office/drawing/2014/main" id="{7BCA958F-12A6-D7C9-FC12-3A6C7E45C470}"/>
              </a:ext>
            </a:extLst>
          </p:cNvPr>
          <p:cNvSpPr>
            <a:spLocks noGrp="1"/>
          </p:cNvSpPr>
          <p:nvPr>
            <p:ph type="sldNum" sz="quarter" idx="4"/>
          </p:nvPr>
        </p:nvSpPr>
        <p:spPr/>
        <p:txBody>
          <a:bodyPr/>
          <a:lstStyle/>
          <a:p>
            <a:fld id="{762E77F0-FB5B-4E8E-9BC9-34F14560A017}" type="slidenum">
              <a:rPr lang="en-US" smtClean="0"/>
              <a:pPr/>
              <a:t>20</a:t>
            </a:fld>
            <a:endParaRPr lang="en-US"/>
          </a:p>
        </p:txBody>
      </p:sp>
      <p:sp>
        <p:nvSpPr>
          <p:cNvPr id="5" name="TextBox 4">
            <a:extLst>
              <a:ext uri="{FF2B5EF4-FFF2-40B4-BE49-F238E27FC236}">
                <a16:creationId xmlns:a16="http://schemas.microsoft.com/office/drawing/2014/main" id="{2AF60250-0142-6CC2-695C-4A421DD224E2}"/>
              </a:ext>
            </a:extLst>
          </p:cNvPr>
          <p:cNvSpPr txBox="1"/>
          <p:nvPr/>
        </p:nvSpPr>
        <p:spPr>
          <a:xfrm>
            <a:off x="668992" y="2761129"/>
            <a:ext cx="2474260" cy="769441"/>
          </a:xfrm>
          <a:prstGeom prst="rect">
            <a:avLst/>
          </a:prstGeom>
          <a:noFill/>
        </p:spPr>
        <p:txBody>
          <a:bodyPr wrap="square" rtlCol="0">
            <a:spAutoFit/>
          </a:bodyPr>
          <a:lstStyle/>
          <a:p>
            <a:pPr algn="l"/>
            <a:r>
              <a:rPr lang="en-GB" sz="4400">
                <a:solidFill>
                  <a:srgbClr val="FF0000"/>
                </a:solidFill>
                <a:latin typeface="Fira Sans" panose="020B0503050000020004" pitchFamily="34" charset="0"/>
              </a:rPr>
              <a:t>Top 5</a:t>
            </a:r>
          </a:p>
        </p:txBody>
      </p:sp>
      <p:sp>
        <p:nvSpPr>
          <p:cNvPr id="6" name="TextBox 5">
            <a:extLst>
              <a:ext uri="{FF2B5EF4-FFF2-40B4-BE49-F238E27FC236}">
                <a16:creationId xmlns:a16="http://schemas.microsoft.com/office/drawing/2014/main" id="{BD1B46FE-00D6-742A-5138-FFFD2C2F46C7}"/>
              </a:ext>
            </a:extLst>
          </p:cNvPr>
          <p:cNvSpPr txBox="1"/>
          <p:nvPr/>
        </p:nvSpPr>
        <p:spPr>
          <a:xfrm>
            <a:off x="668992" y="8699732"/>
            <a:ext cx="8654890" cy="769441"/>
          </a:xfrm>
          <a:prstGeom prst="rect">
            <a:avLst/>
          </a:prstGeom>
          <a:noFill/>
        </p:spPr>
        <p:txBody>
          <a:bodyPr wrap="square" rtlCol="0">
            <a:spAutoFit/>
          </a:bodyPr>
          <a:lstStyle/>
          <a:p>
            <a:pPr algn="l"/>
            <a:r>
              <a:rPr lang="en-GB" sz="4400">
                <a:solidFill>
                  <a:srgbClr val="FF0000"/>
                </a:solidFill>
                <a:latin typeface="Fira Sans" panose="020B0503050000020004" pitchFamily="34" charset="0"/>
              </a:rPr>
              <a:t>Remaining 29 Applications</a:t>
            </a:r>
          </a:p>
        </p:txBody>
      </p:sp>
      <p:sp>
        <p:nvSpPr>
          <p:cNvPr id="7" name="Text Placeholder 1">
            <a:extLst>
              <a:ext uri="{FF2B5EF4-FFF2-40B4-BE49-F238E27FC236}">
                <a16:creationId xmlns:a16="http://schemas.microsoft.com/office/drawing/2014/main" id="{8C45A2A6-DC41-3BFD-3266-08BFD54B8519}"/>
              </a:ext>
            </a:extLst>
          </p:cNvPr>
          <p:cNvSpPr txBox="1">
            <a:spLocks/>
          </p:cNvSpPr>
          <p:nvPr/>
        </p:nvSpPr>
        <p:spPr>
          <a:xfrm>
            <a:off x="701406" y="10004098"/>
            <a:ext cx="22936200" cy="553998"/>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GB">
                <a:latin typeface="Fira Sans" panose="020B0503050000020004" pitchFamily="34" charset="0"/>
              </a:rPr>
              <a:t>400 servers combined (editorial tooling, shared services, retirement candidates)</a:t>
            </a:r>
          </a:p>
        </p:txBody>
      </p:sp>
    </p:spTree>
    <p:extLst>
      <p:ext uri="{BB962C8B-B14F-4D97-AF65-F5344CB8AC3E}">
        <p14:creationId xmlns:p14="http://schemas.microsoft.com/office/powerpoint/2010/main" val="1577834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9647-9903-576B-E292-C147AE1E9E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420F6-2CF7-6192-D8AC-10FE8CD409D9}"/>
              </a:ext>
            </a:extLst>
          </p:cNvPr>
          <p:cNvSpPr>
            <a:spLocks noGrp="1"/>
          </p:cNvSpPr>
          <p:nvPr>
            <p:ph type="title"/>
          </p:nvPr>
        </p:nvSpPr>
        <p:spPr>
          <a:xfrm>
            <a:off x="668992" y="537179"/>
            <a:ext cx="22991108" cy="997837"/>
          </a:xfrm>
        </p:spPr>
        <p:txBody>
          <a:bodyPr/>
          <a:lstStyle/>
          <a:p>
            <a:r>
              <a:rPr lang="en-GB">
                <a:solidFill>
                  <a:srgbClr val="FF0000"/>
                </a:solidFill>
                <a:latin typeface="Fira Sans" panose="020B0503050000020004" pitchFamily="34" charset="0"/>
              </a:rPr>
              <a:t>Application Profiling Workshop findings</a:t>
            </a:r>
          </a:p>
        </p:txBody>
      </p:sp>
      <p:sp>
        <p:nvSpPr>
          <p:cNvPr id="4" name="Slide Number Placeholder 3">
            <a:extLst>
              <a:ext uri="{FF2B5EF4-FFF2-40B4-BE49-F238E27FC236}">
                <a16:creationId xmlns:a16="http://schemas.microsoft.com/office/drawing/2014/main" id="{53E35D01-9779-5B26-ABA7-64CB84B171FE}"/>
              </a:ext>
            </a:extLst>
          </p:cNvPr>
          <p:cNvSpPr>
            <a:spLocks noGrp="1"/>
          </p:cNvSpPr>
          <p:nvPr>
            <p:ph type="sldNum" sz="quarter" idx="4"/>
          </p:nvPr>
        </p:nvSpPr>
        <p:spPr/>
        <p:txBody>
          <a:bodyPr/>
          <a:lstStyle/>
          <a:p>
            <a:fld id="{762E77F0-FB5B-4E8E-9BC9-34F14560A017}" type="slidenum">
              <a:rPr lang="en-US" smtClean="0"/>
              <a:pPr/>
              <a:t>21</a:t>
            </a:fld>
            <a:endParaRPr lang="en-US"/>
          </a:p>
        </p:txBody>
      </p:sp>
      <p:sp>
        <p:nvSpPr>
          <p:cNvPr id="5" name="Text Placeholder 1">
            <a:extLst>
              <a:ext uri="{FF2B5EF4-FFF2-40B4-BE49-F238E27FC236}">
                <a16:creationId xmlns:a16="http://schemas.microsoft.com/office/drawing/2014/main" id="{BB27D486-EEB8-337B-F048-236B1132F98B}"/>
              </a:ext>
            </a:extLst>
          </p:cNvPr>
          <p:cNvSpPr txBox="1">
            <a:spLocks/>
          </p:cNvSpPr>
          <p:nvPr/>
        </p:nvSpPr>
        <p:spPr>
          <a:xfrm>
            <a:off x="696446" y="2913330"/>
            <a:ext cx="22936200" cy="6976269"/>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GB" b="1">
                <a:latin typeface="Fira Sans" panose="020B0503050000020004" pitchFamily="34" charset="0"/>
              </a:rPr>
              <a:t>Mail Online is a distributed monolith </a:t>
            </a:r>
            <a:r>
              <a:rPr lang="en-GB">
                <a:latin typeface="Fira Sans" panose="020B0503050000020004" pitchFamily="34" charset="0"/>
              </a:rPr>
              <a:t>Many sub-services, many dependencies, not independently releasable</a:t>
            </a:r>
          </a:p>
          <a:p>
            <a:endParaRPr lang="en-GB" b="1">
              <a:latin typeface="Fira Sans" panose="020B0503050000020004" pitchFamily="34" charset="0"/>
            </a:endParaRPr>
          </a:p>
          <a:p>
            <a:r>
              <a:rPr lang="en-GB" b="1">
                <a:latin typeface="Fira Sans" panose="020B0503050000020004" pitchFamily="34" charset="0"/>
              </a:rPr>
              <a:t>Oracle is the centre of gravity </a:t>
            </a:r>
            <a:r>
              <a:rPr lang="en-GB">
                <a:latin typeface="Fira Sans" panose="020B0503050000020004" pitchFamily="34" charset="0"/>
              </a:rPr>
              <a:t>MOL, </a:t>
            </a:r>
            <a:r>
              <a:rPr lang="en-GB" err="1">
                <a:latin typeface="Fira Sans" panose="020B0503050000020004" pitchFamily="34" charset="0"/>
              </a:rPr>
              <a:t>Atex</a:t>
            </a:r>
            <a:r>
              <a:rPr lang="en-GB">
                <a:latin typeface="Fira Sans" panose="020B0503050000020004" pitchFamily="34" charset="0"/>
              </a:rPr>
              <a:t>, CHP, </a:t>
            </a:r>
            <a:r>
              <a:rPr lang="en-GB" err="1">
                <a:latin typeface="Fira Sans" panose="020B0503050000020004" pitchFamily="34" charset="0"/>
              </a:rPr>
              <a:t>Circnet</a:t>
            </a:r>
            <a:r>
              <a:rPr lang="en-GB">
                <a:latin typeface="Fira Sans" panose="020B0503050000020004" pitchFamily="34" charset="0"/>
              </a:rPr>
              <a:t> all depend on Oracle. £650K/yr support.</a:t>
            </a:r>
          </a:p>
          <a:p>
            <a:endParaRPr lang="en-GB" b="1">
              <a:latin typeface="Fira Sans" panose="020B0503050000020004" pitchFamily="34" charset="0"/>
            </a:endParaRPr>
          </a:p>
          <a:p>
            <a:r>
              <a:rPr lang="en-GB" b="1" err="1">
                <a:latin typeface="Fira Sans" panose="020B0503050000020004" pitchFamily="34" charset="0"/>
              </a:rPr>
              <a:t>Atex</a:t>
            </a:r>
            <a:r>
              <a:rPr lang="en-GB" b="1">
                <a:latin typeface="Fira Sans" panose="020B0503050000020004" pitchFamily="34" charset="0"/>
              </a:rPr>
              <a:t> has a hard multicast constraint </a:t>
            </a:r>
            <a:r>
              <a:rPr lang="en-GB">
                <a:latin typeface="Fira Sans" panose="020B0503050000020004" pitchFamily="34" charset="0"/>
              </a:rPr>
              <a:t>Cloud networks do not natively support multicast (except AWS Transit Gateway)</a:t>
            </a:r>
          </a:p>
          <a:p>
            <a:endParaRPr lang="en-GB" b="1">
              <a:latin typeface="Fira Sans" panose="020B0503050000020004" pitchFamily="34" charset="0"/>
            </a:endParaRPr>
          </a:p>
          <a:p>
            <a:r>
              <a:rPr lang="en-GB" b="1">
                <a:latin typeface="Fira Sans" panose="020B0503050000020004" pitchFamily="34" charset="0"/>
              </a:rPr>
              <a:t>WPS and Mail Online must co-migrate </a:t>
            </a:r>
            <a:r>
              <a:rPr lang="en-GB">
                <a:latin typeface="Fira Sans" panose="020B0503050000020004" pitchFamily="34" charset="0"/>
              </a:rPr>
              <a:t>Sustained Oracle connections to the B-cluster. Cannot be separated.</a:t>
            </a:r>
          </a:p>
          <a:p>
            <a:endParaRPr lang="en-GB" b="1">
              <a:latin typeface="Fira Sans" panose="020B0503050000020004" pitchFamily="34" charset="0"/>
            </a:endParaRPr>
          </a:p>
          <a:p>
            <a:r>
              <a:rPr lang="en-GB" b="1">
                <a:latin typeface="Fira Sans" panose="020B0503050000020004" pitchFamily="34" charset="0"/>
              </a:rPr>
              <a:t>Sydney is independent </a:t>
            </a:r>
            <a:r>
              <a:rPr lang="en-GB">
                <a:latin typeface="Fira Sans" panose="020B0503050000020004" pitchFamily="34" charset="0"/>
              </a:rPr>
              <a:t>38 servers, flexible contract, natural early candidate and proof point</a:t>
            </a:r>
          </a:p>
        </p:txBody>
      </p:sp>
    </p:spTree>
    <p:extLst>
      <p:ext uri="{BB962C8B-B14F-4D97-AF65-F5344CB8AC3E}">
        <p14:creationId xmlns:p14="http://schemas.microsoft.com/office/powerpoint/2010/main" val="1409610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EA59-C2D6-2494-A62C-0898CD3CA5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A39FDD-DFD1-4323-C6D1-CA1E2F708BB9}"/>
              </a:ext>
            </a:extLst>
          </p:cNvPr>
          <p:cNvSpPr>
            <a:spLocks noGrp="1"/>
          </p:cNvSpPr>
          <p:nvPr>
            <p:ph type="title"/>
          </p:nvPr>
        </p:nvSpPr>
        <p:spPr>
          <a:xfrm>
            <a:off x="668992" y="537179"/>
            <a:ext cx="22991108" cy="997837"/>
          </a:xfrm>
        </p:spPr>
        <p:txBody>
          <a:bodyPr/>
          <a:lstStyle/>
          <a:p>
            <a:r>
              <a:rPr lang="en-GB">
                <a:solidFill>
                  <a:srgbClr val="FF0000"/>
                </a:solidFill>
                <a:latin typeface="Fira Sans" panose="020B0503050000020004" pitchFamily="34" charset="0"/>
              </a:rPr>
              <a:t>Discovery and data gaps</a:t>
            </a:r>
          </a:p>
        </p:txBody>
      </p:sp>
      <p:sp>
        <p:nvSpPr>
          <p:cNvPr id="4" name="Slide Number Placeholder 3">
            <a:extLst>
              <a:ext uri="{FF2B5EF4-FFF2-40B4-BE49-F238E27FC236}">
                <a16:creationId xmlns:a16="http://schemas.microsoft.com/office/drawing/2014/main" id="{67860816-8940-A4B3-81F5-88225E2B7F05}"/>
              </a:ext>
            </a:extLst>
          </p:cNvPr>
          <p:cNvSpPr>
            <a:spLocks noGrp="1"/>
          </p:cNvSpPr>
          <p:nvPr>
            <p:ph type="sldNum" sz="quarter" idx="4"/>
          </p:nvPr>
        </p:nvSpPr>
        <p:spPr/>
        <p:txBody>
          <a:bodyPr/>
          <a:lstStyle/>
          <a:p>
            <a:fld id="{762E77F0-FB5B-4E8E-9BC9-34F14560A017}" type="slidenum">
              <a:rPr lang="en-US" smtClean="0"/>
              <a:pPr/>
              <a:t>22</a:t>
            </a:fld>
            <a:endParaRPr lang="en-US"/>
          </a:p>
        </p:txBody>
      </p:sp>
      <p:sp>
        <p:nvSpPr>
          <p:cNvPr id="7" name="TextBox 6">
            <a:extLst>
              <a:ext uri="{FF2B5EF4-FFF2-40B4-BE49-F238E27FC236}">
                <a16:creationId xmlns:a16="http://schemas.microsoft.com/office/drawing/2014/main" id="{BF387EBF-88D2-082D-F0FD-9CA5ABC0F945}"/>
              </a:ext>
            </a:extLst>
          </p:cNvPr>
          <p:cNvSpPr txBox="1"/>
          <p:nvPr/>
        </p:nvSpPr>
        <p:spPr>
          <a:xfrm>
            <a:off x="870857" y="2839720"/>
            <a:ext cx="10608129" cy="7478970"/>
          </a:xfrm>
          <a:prstGeom prst="rect">
            <a:avLst/>
          </a:prstGeom>
          <a:noFill/>
        </p:spPr>
        <p:txBody>
          <a:bodyPr wrap="square" rtlCol="0">
            <a:spAutoFit/>
          </a:bodyPr>
          <a:lstStyle/>
          <a:p>
            <a:pPr marL="285750" indent="-285750">
              <a:buClr>
                <a:srgbClr val="FF0000"/>
              </a:buClr>
              <a:buFont typeface="Arial" panose="020B0604020202020204" pitchFamily="34" charset="0"/>
              <a:buChar char="•"/>
            </a:pPr>
            <a:r>
              <a:rPr lang="en-GB" sz="4000">
                <a:latin typeface="Fira Sans" panose="020B0503050000020004" pitchFamily="34" charset="0"/>
              </a:rPr>
              <a:t>100% of in-scope servers discovered</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97% TCO-grade data captured</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9 of 9 application workshops completed</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Custom automation built for 5 infrastructure types</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No common credential mechanism, worked through it</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p:txBody>
      </p:sp>
      <p:sp>
        <p:nvSpPr>
          <p:cNvPr id="8" name="TextBox 7">
            <a:extLst>
              <a:ext uri="{FF2B5EF4-FFF2-40B4-BE49-F238E27FC236}">
                <a16:creationId xmlns:a16="http://schemas.microsoft.com/office/drawing/2014/main" id="{431BDF87-4EFA-497B-F5EA-F805C88273C2}"/>
              </a:ext>
            </a:extLst>
          </p:cNvPr>
          <p:cNvSpPr txBox="1"/>
          <p:nvPr/>
        </p:nvSpPr>
        <p:spPr>
          <a:xfrm>
            <a:off x="12192000" y="2839720"/>
            <a:ext cx="11321143" cy="9325630"/>
          </a:xfrm>
          <a:prstGeom prst="rect">
            <a:avLst/>
          </a:prstGeom>
          <a:noFill/>
        </p:spPr>
        <p:txBody>
          <a:bodyPr wrap="square" rtlCol="0">
            <a:spAutoFit/>
          </a:bodyPr>
          <a:lstStyle/>
          <a:p>
            <a:pPr marL="285750" indent="-285750">
              <a:buClr>
                <a:srgbClr val="FF0000"/>
              </a:buClr>
              <a:buFont typeface="Arial" panose="020B0604020202020204" pitchFamily="34" charset="0"/>
              <a:buChar char="•"/>
            </a:pPr>
            <a:r>
              <a:rPr lang="en-GB" sz="4000">
                <a:latin typeface="Fira Sans" panose="020B0503050000020004" pitchFamily="34" charset="0"/>
              </a:rPr>
              <a:t>MOL B-cluster: no Oracle DMA data (production primary, highest priority)</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Network dependency mapping: 27.7% coverage low (guest-level collection)</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Software inventory: 51.5% coverage</a:t>
            </a:r>
          </a:p>
          <a:p>
            <a:pPr marL="285750" indent="-285750">
              <a:buClr>
                <a:srgbClr val="FF0000"/>
              </a:buClr>
              <a:buFont typeface="Arial" panose="020B0604020202020204" pitchFamily="34" charset="0"/>
              <a:buChar cha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latin typeface="Fira Sans" panose="020B0503050000020004" pitchFamily="34" charset="0"/>
              </a:rPr>
              <a:t>1,227 servers without VMware Tools (sized from provisioned spec, slightly conservative)</a:t>
            </a:r>
          </a:p>
          <a:p>
            <a:pPr marL="285750" indent="-285750">
              <a:buClr>
                <a:srgbClr val="FF0000"/>
              </a:buClr>
              <a:buFont typeface="Arial" panose="020B0604020202020204" pitchFamily="34" charset="0"/>
              <a:buChar char="•"/>
            </a:pPr>
            <a:endParaRPr lang="en-GB" sz="4000">
              <a:highlight>
                <a:srgbClr val="FFFF00"/>
              </a:highlight>
              <a:latin typeface="Fira Sans" panose="020B0503050000020004" pitchFamily="34" charset="0"/>
            </a:endParaRPr>
          </a:p>
          <a:p>
            <a:pPr marL="285750" indent="-285750">
              <a:buClr>
                <a:srgbClr val="FF0000"/>
              </a:buClr>
              <a:buFont typeface="Arial" panose="020B0604020202020204" pitchFamily="34" charset="0"/>
              <a:buChar char="•"/>
            </a:pPr>
            <a:r>
              <a:rPr lang="en-GB" sz="4000">
                <a:highlight>
                  <a:srgbClr val="FFFF00"/>
                </a:highlight>
                <a:latin typeface="Fira Sans" panose="020B0503050000020004" pitchFamily="34" charset="0"/>
              </a:rPr>
              <a:t>Legacy OS</a:t>
            </a:r>
            <a:endParaRPr lang="en-GB" sz="4000">
              <a:latin typeface="Fira Sans" panose="020B0503050000020004" pitchFamily="34" charset="0"/>
            </a:endParaRPr>
          </a:p>
          <a:p>
            <a:pPr>
              <a:buClr>
                <a:srgbClr val="FF0000"/>
              </a:buClr>
            </a:pPr>
            <a:endParaRPr lang="en-GB" sz="4000">
              <a:latin typeface="Fira Sans" panose="020B0503050000020004" pitchFamily="34" charset="0"/>
            </a:endParaRPr>
          </a:p>
          <a:p>
            <a:pPr marL="285750" indent="-285750">
              <a:buClr>
                <a:srgbClr val="FF0000"/>
              </a:buClr>
              <a:buFont typeface="Arial" panose="020B0604020202020204" pitchFamily="34" charset="0"/>
              <a:buChar char="•"/>
            </a:pPr>
            <a:r>
              <a:rPr lang="en-GB" sz="4000">
                <a:highlight>
                  <a:srgbClr val="FFFF00"/>
                </a:highlight>
                <a:latin typeface="Fira Sans" panose="020B0503050000020004" pitchFamily="34" charset="0"/>
              </a:rPr>
              <a:t>Impact: next part planning becomes harder and requires risk based approach to planning</a:t>
            </a:r>
          </a:p>
        </p:txBody>
      </p:sp>
      <p:sp>
        <p:nvSpPr>
          <p:cNvPr id="2" name="Rounded Rectangle 1">
            <a:extLst>
              <a:ext uri="{FF2B5EF4-FFF2-40B4-BE49-F238E27FC236}">
                <a16:creationId xmlns:a16="http://schemas.microsoft.com/office/drawing/2014/main" id="{5C620994-5D2F-057D-5C92-7798232540DA}"/>
              </a:ext>
            </a:extLst>
          </p:cNvPr>
          <p:cNvSpPr/>
          <p:nvPr/>
        </p:nvSpPr>
        <p:spPr>
          <a:xfrm>
            <a:off x="1905000" y="10876280"/>
            <a:ext cx="3764280" cy="108204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Mention LH column is for discovery</a:t>
            </a:r>
          </a:p>
        </p:txBody>
      </p:sp>
      <p:sp>
        <p:nvSpPr>
          <p:cNvPr id="5" name="Rounded Rectangle 4">
            <a:extLst>
              <a:ext uri="{FF2B5EF4-FFF2-40B4-BE49-F238E27FC236}">
                <a16:creationId xmlns:a16="http://schemas.microsoft.com/office/drawing/2014/main" id="{9EAD076E-0BCE-A2B6-2A37-434025523F84}"/>
              </a:ext>
            </a:extLst>
          </p:cNvPr>
          <p:cNvSpPr/>
          <p:nvPr/>
        </p:nvSpPr>
        <p:spPr>
          <a:xfrm>
            <a:off x="12557760" y="12388014"/>
            <a:ext cx="3764280" cy="108204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Mention RH column is for data gaps</a:t>
            </a:r>
          </a:p>
        </p:txBody>
      </p:sp>
    </p:spTree>
    <p:extLst>
      <p:ext uri="{BB962C8B-B14F-4D97-AF65-F5344CB8AC3E}">
        <p14:creationId xmlns:p14="http://schemas.microsoft.com/office/powerpoint/2010/main" val="162026893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EDFA2-F5A9-1EC2-43D4-018580E8919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49F0B4D-AC38-D4C0-0BC7-83B67CEE33BF}"/>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Overall Hyperscaler Recommendation</a:t>
            </a:r>
          </a:p>
        </p:txBody>
      </p:sp>
    </p:spTree>
    <p:extLst>
      <p:ext uri="{BB962C8B-B14F-4D97-AF65-F5344CB8AC3E}">
        <p14:creationId xmlns:p14="http://schemas.microsoft.com/office/powerpoint/2010/main" val="1137281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57D4-DE2B-7B5C-4466-F312F61C3C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DDF73A-4024-C5C0-B3F2-5095950BD5B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24</a:t>
            </a:fld>
            <a:endParaRPr lang="en-GB" noProof="0"/>
          </a:p>
        </p:txBody>
      </p:sp>
      <p:sp>
        <p:nvSpPr>
          <p:cNvPr id="4" name="TextBox 3">
            <a:extLst>
              <a:ext uri="{FF2B5EF4-FFF2-40B4-BE49-F238E27FC236}">
                <a16:creationId xmlns:a16="http://schemas.microsoft.com/office/drawing/2014/main" id="{A2232670-F755-7B6B-2A4E-BF6E73E7CCA6}"/>
              </a:ext>
            </a:extLst>
          </p:cNvPr>
          <p:cNvSpPr txBox="1"/>
          <p:nvPr/>
        </p:nvSpPr>
        <p:spPr>
          <a:xfrm>
            <a:off x="406009" y="473476"/>
            <a:ext cx="13132121"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Rackspace Overall Recommendation</a:t>
            </a:r>
            <a:endParaRPr lang="en-GB" sz="6200" noProof="0">
              <a:solidFill>
                <a:srgbClr val="FF0000"/>
              </a:solidFill>
              <a:latin typeface="Fira Sans Light" panose="020B0403050000020004" pitchFamily="34" charset="0"/>
            </a:endParaRPr>
          </a:p>
        </p:txBody>
      </p:sp>
      <p:grpSp>
        <p:nvGrpSpPr>
          <p:cNvPr id="3" name="Group 2">
            <a:extLst>
              <a:ext uri="{FF2B5EF4-FFF2-40B4-BE49-F238E27FC236}">
                <a16:creationId xmlns:a16="http://schemas.microsoft.com/office/drawing/2014/main" id="{824CD360-3A4A-CDB7-9F7C-88F19624B966}"/>
              </a:ext>
            </a:extLst>
          </p:cNvPr>
          <p:cNvGrpSpPr/>
          <p:nvPr/>
        </p:nvGrpSpPr>
        <p:grpSpPr>
          <a:xfrm>
            <a:off x="5568843" y="3883168"/>
            <a:ext cx="18347464" cy="1083162"/>
            <a:chOff x="518985" y="2214774"/>
            <a:chExt cx="23268793" cy="2111982"/>
          </a:xfrm>
        </p:grpSpPr>
        <p:sp>
          <p:nvSpPr>
            <p:cNvPr id="5" name="Rectangle 4">
              <a:extLst>
                <a:ext uri="{FF2B5EF4-FFF2-40B4-BE49-F238E27FC236}">
                  <a16:creationId xmlns:a16="http://schemas.microsoft.com/office/drawing/2014/main" id="{A5837DC6-4341-7137-EFB4-069AFAC2F550}"/>
                </a:ext>
              </a:extLst>
            </p:cNvPr>
            <p:cNvSpPr/>
            <p:nvPr/>
          </p:nvSpPr>
          <p:spPr>
            <a:xfrm>
              <a:off x="518985" y="3987573"/>
              <a:ext cx="23268793" cy="3391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6" name="Rectangle 5">
              <a:extLst>
                <a:ext uri="{FF2B5EF4-FFF2-40B4-BE49-F238E27FC236}">
                  <a16:creationId xmlns:a16="http://schemas.microsoft.com/office/drawing/2014/main" id="{12757E88-34A1-E4BC-47E5-E4BBB7437F67}"/>
                </a:ext>
              </a:extLst>
            </p:cNvPr>
            <p:cNvSpPr/>
            <p:nvPr/>
          </p:nvSpPr>
          <p:spPr>
            <a:xfrm>
              <a:off x="518985" y="2979374"/>
              <a:ext cx="7198260" cy="11002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2nd</a:t>
              </a:r>
            </a:p>
          </p:txBody>
        </p:sp>
        <p:sp>
          <p:nvSpPr>
            <p:cNvPr id="12" name="Rectangle 11">
              <a:extLst>
                <a:ext uri="{FF2B5EF4-FFF2-40B4-BE49-F238E27FC236}">
                  <a16:creationId xmlns:a16="http://schemas.microsoft.com/office/drawing/2014/main" id="{43F49F4F-0A07-C80D-D24A-AD51D21F522B}"/>
                </a:ext>
              </a:extLst>
            </p:cNvPr>
            <p:cNvSpPr/>
            <p:nvPr/>
          </p:nvSpPr>
          <p:spPr>
            <a:xfrm>
              <a:off x="7717245" y="2214774"/>
              <a:ext cx="8089306" cy="18410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1st</a:t>
              </a:r>
            </a:p>
          </p:txBody>
        </p:sp>
        <p:sp>
          <p:nvSpPr>
            <p:cNvPr id="13" name="Rectangle 12">
              <a:extLst>
                <a:ext uri="{FF2B5EF4-FFF2-40B4-BE49-F238E27FC236}">
                  <a16:creationId xmlns:a16="http://schemas.microsoft.com/office/drawing/2014/main" id="{AA1001CF-DADD-075D-1920-0E72970B48B1}"/>
                </a:ext>
              </a:extLst>
            </p:cNvPr>
            <p:cNvSpPr/>
            <p:nvPr/>
          </p:nvSpPr>
          <p:spPr>
            <a:xfrm>
              <a:off x="15698471" y="3482930"/>
              <a:ext cx="8089306" cy="6047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3rd</a:t>
              </a:r>
            </a:p>
          </p:txBody>
        </p:sp>
      </p:grpSp>
      <p:pic>
        <p:nvPicPr>
          <p:cNvPr id="14" name="Picture 2">
            <a:extLst>
              <a:ext uri="{FF2B5EF4-FFF2-40B4-BE49-F238E27FC236}">
                <a16:creationId xmlns:a16="http://schemas.microsoft.com/office/drawing/2014/main" id="{F341D167-7D46-E7AA-B4E4-55F47D3C3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970" b="-1865"/>
          <a:stretch>
            <a:fillRect/>
          </a:stretch>
        </p:blipFill>
        <p:spPr bwMode="auto">
          <a:xfrm>
            <a:off x="19886080" y="2553362"/>
            <a:ext cx="1809452" cy="18996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37255965-48C9-F329-6BF9-905A255F4D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9918" y="2417932"/>
            <a:ext cx="2025780" cy="1215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Google Cloud Icon - High-Quality GCP Logo for Your Projects">
            <a:extLst>
              <a:ext uri="{FF2B5EF4-FFF2-40B4-BE49-F238E27FC236}">
                <a16:creationId xmlns:a16="http://schemas.microsoft.com/office/drawing/2014/main" id="{54A167C4-AC66-5584-62A8-24D5BD5693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3530" y="2315320"/>
            <a:ext cx="2211727" cy="22117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Table 21">
            <a:extLst>
              <a:ext uri="{FF2B5EF4-FFF2-40B4-BE49-F238E27FC236}">
                <a16:creationId xmlns:a16="http://schemas.microsoft.com/office/drawing/2014/main" id="{C78093CE-F6EC-44BA-FC8B-BBB7190BB42A}"/>
              </a:ext>
            </a:extLst>
          </p:cNvPr>
          <p:cNvGraphicFramePr>
            <a:graphicFrameLocks noGrp="1"/>
          </p:cNvGraphicFramePr>
          <p:nvPr>
            <p:extLst>
              <p:ext uri="{D42A27DB-BD31-4B8C-83A1-F6EECF244321}">
                <p14:modId xmlns:p14="http://schemas.microsoft.com/office/powerpoint/2010/main" val="2401739754"/>
              </p:ext>
            </p:extLst>
          </p:nvPr>
        </p:nvGraphicFramePr>
        <p:xfrm>
          <a:off x="406008" y="5126088"/>
          <a:ext cx="23510298" cy="7802880"/>
        </p:xfrm>
        <a:graphic>
          <a:graphicData uri="http://schemas.openxmlformats.org/drawingml/2006/table">
            <a:tbl>
              <a:tblPr firstRow="1" bandRow="1">
                <a:tableStyleId>{9D7B26C5-4107-4FEC-AEDC-1716B250A1EF}</a:tableStyleId>
              </a:tblPr>
              <a:tblGrid>
                <a:gridCol w="5190410">
                  <a:extLst>
                    <a:ext uri="{9D8B030D-6E8A-4147-A177-3AD203B41FA5}">
                      <a16:colId xmlns:a16="http://schemas.microsoft.com/office/drawing/2014/main" val="2583583823"/>
                    </a:ext>
                  </a:extLst>
                </a:gridCol>
                <a:gridCol w="5604050">
                  <a:extLst>
                    <a:ext uri="{9D8B030D-6E8A-4147-A177-3AD203B41FA5}">
                      <a16:colId xmlns:a16="http://schemas.microsoft.com/office/drawing/2014/main" val="2386034005"/>
                    </a:ext>
                  </a:extLst>
                </a:gridCol>
                <a:gridCol w="6428573">
                  <a:extLst>
                    <a:ext uri="{9D8B030D-6E8A-4147-A177-3AD203B41FA5}">
                      <a16:colId xmlns:a16="http://schemas.microsoft.com/office/drawing/2014/main" val="2893148149"/>
                    </a:ext>
                  </a:extLst>
                </a:gridCol>
                <a:gridCol w="6287265">
                  <a:extLst>
                    <a:ext uri="{9D8B030D-6E8A-4147-A177-3AD203B41FA5}">
                      <a16:colId xmlns:a16="http://schemas.microsoft.com/office/drawing/2014/main" val="1943227566"/>
                    </a:ext>
                  </a:extLst>
                </a:gridCol>
              </a:tblGrid>
              <a:tr h="641130">
                <a:tc>
                  <a:txBody>
                    <a:bodyPr/>
                    <a:lstStyle/>
                    <a:p>
                      <a:r>
                        <a:rPr lang="en-GB" sz="2000" b="0">
                          <a:latin typeface="Fira Sans" panose="020B0503050000020004" pitchFamily="34" charset="0"/>
                        </a:rPr>
                        <a:t>Weighted Scoring</a:t>
                      </a:r>
                    </a:p>
                  </a:txBody>
                  <a:tcPr/>
                </a:tc>
                <a:tc>
                  <a:txBody>
                    <a:bodyPr/>
                    <a:lstStyle/>
                    <a:p>
                      <a:pPr marL="0" indent="0">
                        <a:buFont typeface="Arial" panose="020B0604020202020204" pitchFamily="34" charset="0"/>
                        <a:buNone/>
                      </a:pPr>
                      <a:r>
                        <a:rPr lang="en-GB" sz="2000" b="0">
                          <a:latin typeface="Fira Sans" panose="020B0503050000020004" pitchFamily="34" charset="0"/>
                        </a:rPr>
                        <a:t>Close 3</a:t>
                      </a:r>
                      <a:r>
                        <a:rPr lang="en-GB" sz="2000" b="0" baseline="30000">
                          <a:latin typeface="Fira Sans" panose="020B0503050000020004" pitchFamily="34" charset="0"/>
                        </a:rPr>
                        <a:t>rd</a:t>
                      </a:r>
                      <a:r>
                        <a:rPr lang="en-GB" sz="2000" b="0">
                          <a:latin typeface="Fira Sans" panose="020B0503050000020004" pitchFamily="34" charset="0"/>
                        </a:rPr>
                        <a:t> overall in weighted scoring assessment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a:latin typeface="Fira Sans" panose="020B0503050000020004" pitchFamily="34" charset="0"/>
                        </a:rPr>
                        <a:t>1</a:t>
                      </a:r>
                      <a:r>
                        <a:rPr lang="en-GB" sz="2000" b="0" baseline="30000">
                          <a:latin typeface="Fira Sans" panose="020B0503050000020004" pitchFamily="34" charset="0"/>
                        </a:rPr>
                        <a:t>st</a:t>
                      </a:r>
                      <a:r>
                        <a:rPr lang="en-GB" sz="2000" b="0">
                          <a:latin typeface="Fira Sans" panose="020B0503050000020004" pitchFamily="34" charset="0"/>
                        </a:rPr>
                        <a:t> overall in weighted scoring assessment</a:t>
                      </a:r>
                    </a:p>
                  </a:txBody>
                  <a:tcPr/>
                </a:tc>
                <a:tc>
                  <a:txBody>
                    <a:bodyPr/>
                    <a:lstStyle/>
                    <a:p>
                      <a:r>
                        <a:rPr lang="en-GB" sz="2000" b="0">
                          <a:latin typeface="Fira Sans" panose="020B0503050000020004" pitchFamily="34" charset="0"/>
                        </a:rPr>
                        <a:t>2</a:t>
                      </a:r>
                      <a:r>
                        <a:rPr lang="en-GB" sz="2000" b="0" baseline="30000">
                          <a:latin typeface="Fira Sans" panose="020B0503050000020004" pitchFamily="34" charset="0"/>
                        </a:rPr>
                        <a:t>nd</a:t>
                      </a:r>
                      <a:r>
                        <a:rPr lang="en-GB" sz="2000" b="0">
                          <a:latin typeface="Fira Sans" panose="020B0503050000020004" pitchFamily="34" charset="0"/>
                        </a:rPr>
                        <a:t> overall in weighted scoring assessment</a:t>
                      </a:r>
                    </a:p>
                  </a:txBody>
                  <a:tcPr/>
                </a:tc>
                <a:extLst>
                  <a:ext uri="{0D108BD9-81ED-4DB2-BD59-A6C34878D82A}">
                    <a16:rowId xmlns:a16="http://schemas.microsoft.com/office/drawing/2014/main" val="3541956844"/>
                  </a:ext>
                </a:extLst>
              </a:tr>
              <a:tr h="641130">
                <a:tc>
                  <a:txBody>
                    <a:bodyPr/>
                    <a:lstStyle/>
                    <a:p>
                      <a:r>
                        <a:rPr lang="en-GB" sz="2000" b="0">
                          <a:latin typeface="Fira Sans" panose="020B0503050000020004" pitchFamily="34" charset="0"/>
                        </a:rPr>
                        <a:t>Cost – 3 year</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a:latin typeface="Fira Sans" panose="020B0503050000020004" pitchFamily="34" charset="0"/>
                        </a:rPr>
                        <a:t>Strong up-front 3 year pricing</a:t>
                      </a:r>
                    </a:p>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kern="1200">
                          <a:solidFill>
                            <a:schemeClr val="tx1"/>
                          </a:solidFill>
                          <a:effectLst/>
                          <a:latin typeface="+mn-lt"/>
                          <a:ea typeface="+mn-ea"/>
                          <a:cs typeface="+mn-cs"/>
                        </a:rPr>
                        <a:t>vCPU allocation - 32% of source</a:t>
                      </a:r>
                      <a:endParaRPr lang="en-GB" sz="2000" b="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a:latin typeface="Fira Sans" panose="020B0503050000020004" pitchFamily="34" charset="0"/>
                        </a:rPr>
                        <a:t>Competitive (&lt; 5% difference) 3 year pricing. </a:t>
                      </a:r>
                    </a:p>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kern="1200">
                          <a:solidFill>
                            <a:schemeClr val="tx1"/>
                          </a:solidFill>
                          <a:effectLst/>
                          <a:latin typeface="+mn-lt"/>
                          <a:ea typeface="+mn-ea"/>
                          <a:cs typeface="+mn-cs"/>
                        </a:rPr>
                        <a:t>AWS Transform - 49% vCPU allocation. </a:t>
                      </a:r>
                      <a:endParaRPr lang="en-DE" sz="2000" b="0" kern="1200">
                        <a:solidFill>
                          <a:schemeClr val="tx1"/>
                        </a:solidFill>
                        <a:effectLst/>
                        <a:latin typeface="+mn-lt"/>
                        <a:ea typeface="+mn-ea"/>
                        <a:cs typeface="+mn-cs"/>
                      </a:endParaRPr>
                    </a:p>
                  </a:txBody>
                  <a:tcPr/>
                </a:tc>
                <a:tc>
                  <a:txBody>
                    <a:bodyPr/>
                    <a:lstStyle/>
                    <a:p>
                      <a:pPr marL="0" indent="0">
                        <a:buFont typeface="Arial" panose="020B0604020202020204" pitchFamily="34" charset="0"/>
                        <a:buNone/>
                      </a:pPr>
                      <a:r>
                        <a:rPr lang="en-GB" sz="2000" b="0">
                          <a:latin typeface="Fira Sans" panose="020B0503050000020004" pitchFamily="34" charset="0"/>
                        </a:rPr>
                        <a:t>Least attractive 3 year pricing due to limitations on tooling </a:t>
                      </a:r>
                      <a:r>
                        <a:rPr lang="en-GB" sz="2000" b="0" kern="1200">
                          <a:solidFill>
                            <a:schemeClr val="tx1"/>
                          </a:solidFill>
                          <a:effectLst/>
                          <a:latin typeface="+mn-lt"/>
                          <a:ea typeface="+mn-ea"/>
                          <a:cs typeface="+mn-cs"/>
                        </a:rPr>
                        <a:t>- 49% vCPU allocation + premium storage</a:t>
                      </a:r>
                      <a:endParaRPr lang="en-GB" sz="2000" b="0">
                        <a:latin typeface="Fira Sans" panose="020B0503050000020004" pitchFamily="34" charset="0"/>
                      </a:endParaRPr>
                    </a:p>
                  </a:txBody>
                  <a:tcPr/>
                </a:tc>
                <a:extLst>
                  <a:ext uri="{0D108BD9-81ED-4DB2-BD59-A6C34878D82A}">
                    <a16:rowId xmlns:a16="http://schemas.microsoft.com/office/drawing/2014/main" val="2865893680"/>
                  </a:ext>
                </a:extLst>
              </a:tr>
              <a:tr h="641130">
                <a:tc>
                  <a:txBody>
                    <a:bodyPr/>
                    <a:lstStyle/>
                    <a:p>
                      <a:r>
                        <a:rPr lang="en-GB" sz="2000">
                          <a:latin typeface="Fira Sans" panose="020B0503050000020004" pitchFamily="34" charset="0"/>
                        </a:rPr>
                        <a:t>Credits / Discount</a:t>
                      </a:r>
                    </a:p>
                    <a:p>
                      <a:r>
                        <a:rPr lang="en-GB" sz="2000">
                          <a:latin typeface="Fira Sans" panose="020B0503050000020004" pitchFamily="34" charset="0"/>
                        </a:rPr>
                        <a:t>Programme</a:t>
                      </a:r>
                    </a:p>
                  </a:txBody>
                  <a:tcPr/>
                </a:tc>
                <a:tc>
                  <a:txBody>
                    <a:bodyPr/>
                    <a:lstStyle/>
                    <a:p>
                      <a:pPr marL="0" indent="0">
                        <a:buFont typeface="Arial" panose="020B0604020202020204" pitchFamily="34" charset="0"/>
                        <a:buNone/>
                      </a:pPr>
                      <a:r>
                        <a:rPr lang="en-GB" sz="2000">
                          <a:latin typeface="Fira Sans" panose="020B0503050000020004" pitchFamily="34" charset="0"/>
                        </a:rPr>
                        <a:t>discounts black box through partner</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industry standard best credits and discount offers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b="0">
                          <a:latin typeface="Fira Sans" panose="020B0503050000020004" pitchFamily="34" charset="0"/>
                        </a:rPr>
                        <a:t>unclear position on credits/discounts </a:t>
                      </a:r>
                    </a:p>
                  </a:txBody>
                  <a:tcPr/>
                </a:tc>
                <a:extLst>
                  <a:ext uri="{0D108BD9-81ED-4DB2-BD59-A6C34878D82A}">
                    <a16:rowId xmlns:a16="http://schemas.microsoft.com/office/drawing/2014/main" val="1638432613"/>
                  </a:ext>
                </a:extLst>
              </a:tr>
              <a:tr h="641130">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Business Fit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Strong native container solution</a:t>
                      </a:r>
                    </a:p>
                    <a:p>
                      <a:endParaRPr lang="en-GB" sz="200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mixed/mostly </a:t>
                      </a:r>
                      <a:r>
                        <a:rPr lang="en-GB" sz="2000" err="1">
                          <a:latin typeface="Fira Sans" panose="020B0503050000020004" pitchFamily="34" charset="0"/>
                        </a:rPr>
                        <a:t>linux</a:t>
                      </a:r>
                      <a:r>
                        <a:rPr lang="en-GB" sz="2000">
                          <a:latin typeface="Fira Sans" panose="020B0503050000020004" pitchFamily="34" charset="0"/>
                        </a:rPr>
                        <a:t> workloads well suited to AWS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AHB makes a </a:t>
                      </a:r>
                      <a:r>
                        <a:rPr lang="en-GB" sz="2000" err="1">
                          <a:latin typeface="Fira Sans" panose="020B0503050000020004" pitchFamily="34" charset="0"/>
                        </a:rPr>
                        <a:t>negligable</a:t>
                      </a:r>
                      <a:r>
                        <a:rPr lang="en-GB" sz="2000">
                          <a:latin typeface="Fira Sans" panose="020B0503050000020004" pitchFamily="34" charset="0"/>
                        </a:rPr>
                        <a:t> difference (windows VMs = 234/3038 = 7.7%)</a:t>
                      </a:r>
                    </a:p>
                  </a:txBody>
                  <a:tcPr/>
                </a:tc>
                <a:extLst>
                  <a:ext uri="{0D108BD9-81ED-4DB2-BD59-A6C34878D82A}">
                    <a16:rowId xmlns:a16="http://schemas.microsoft.com/office/drawing/2014/main" val="4165690047"/>
                  </a:ext>
                </a:extLst>
              </a:tr>
              <a:tr h="641130">
                <a:tc>
                  <a:txBody>
                    <a:bodyPr/>
                    <a:lstStyle/>
                    <a:p>
                      <a:r>
                        <a:rPr lang="en-GB" sz="2000">
                          <a:latin typeface="Fira Sans" panose="020B0503050000020004" pitchFamily="34" charset="0"/>
                        </a:rPr>
                        <a:t>Internal DMG Pressure</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Expected synergy with google related to Telegraph bid removed</a:t>
                      </a:r>
                    </a:p>
                  </a:txBody>
                  <a:tcPr/>
                </a:tc>
                <a:tc>
                  <a:txBody>
                    <a:bodyPr/>
                    <a:lstStyle/>
                    <a:p>
                      <a:endParaRPr lang="en-GB" sz="2000">
                        <a:latin typeface="Fira Sans" panose="020B0503050000020004" pitchFamily="34" charset="0"/>
                      </a:endParaRPr>
                    </a:p>
                  </a:txBody>
                  <a:tcPr/>
                </a:tc>
                <a:tc>
                  <a:txBody>
                    <a:bodyPr/>
                    <a:lstStyle/>
                    <a:p>
                      <a:r>
                        <a:rPr lang="en-GB" sz="2000">
                          <a:solidFill>
                            <a:srgbClr val="FF0000"/>
                          </a:solidFill>
                          <a:latin typeface="Fira Sans" panose="020B0503050000020004" pitchFamily="34" charset="0"/>
                        </a:rPr>
                        <a:t>Should we mention the workplace situation?</a:t>
                      </a:r>
                      <a:endParaRPr lang="en-GB" sz="2000">
                        <a:latin typeface="Fira Sans" panose="020B0503050000020004" pitchFamily="34" charset="0"/>
                      </a:endParaRPr>
                    </a:p>
                  </a:txBody>
                  <a:tcPr/>
                </a:tc>
                <a:extLst>
                  <a:ext uri="{0D108BD9-81ED-4DB2-BD59-A6C34878D82A}">
                    <a16:rowId xmlns:a16="http://schemas.microsoft.com/office/drawing/2014/main" val="1423128237"/>
                  </a:ext>
                </a:extLst>
              </a:tr>
              <a:tr h="519304">
                <a:tc>
                  <a:txBody>
                    <a:bodyPr/>
                    <a:lstStyle/>
                    <a:p>
                      <a:r>
                        <a:rPr lang="en-GB" sz="2000">
                          <a:latin typeface="Fira Sans" panose="020B0503050000020004" pitchFamily="34" charset="0"/>
                        </a:rPr>
                        <a:t>App Specific Challenges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err="1">
                          <a:latin typeface="Fira Sans" panose="020B0503050000020004" pitchFamily="34" charset="0"/>
                        </a:rPr>
                        <a:t>Atex</a:t>
                      </a:r>
                      <a:r>
                        <a:rPr lang="en-GB" sz="2000">
                          <a:latin typeface="Fira Sans" panose="020B0503050000020004" pitchFamily="34" charset="0"/>
                        </a:rPr>
                        <a:t> unable to run multicast without major cost + architecture refactor to unicast.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Able to run multicast natively without refactoring (</a:t>
                      </a:r>
                      <a:r>
                        <a:rPr lang="en-GB" sz="2000" err="1">
                          <a:latin typeface="Fira Sans" panose="020B0503050000020004" pitchFamily="34" charset="0"/>
                        </a:rPr>
                        <a:t>Atex</a:t>
                      </a:r>
                      <a:r>
                        <a:rPr lang="en-GB" sz="2000">
                          <a:latin typeface="Fira Sans" panose="020B0503050000020004" pitchFamily="34" charset="0"/>
                        </a:rPr>
                        <a: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err="1">
                          <a:latin typeface="Fira Sans" panose="020B0503050000020004" pitchFamily="34" charset="0"/>
                        </a:rPr>
                        <a:t>Atex</a:t>
                      </a:r>
                      <a:r>
                        <a:rPr lang="en-GB" sz="2000">
                          <a:latin typeface="Fira Sans" panose="020B0503050000020004" pitchFamily="34" charset="0"/>
                        </a:rPr>
                        <a:t> unable to run multicast without major cost + architecture refactor to unicast.</a:t>
                      </a:r>
                    </a:p>
                  </a:txBody>
                  <a:tcPr/>
                </a:tc>
                <a:extLst>
                  <a:ext uri="{0D108BD9-81ED-4DB2-BD59-A6C34878D82A}">
                    <a16:rowId xmlns:a16="http://schemas.microsoft.com/office/drawing/2014/main" val="1160666263"/>
                  </a:ext>
                </a:extLst>
              </a:tr>
              <a:tr h="362378">
                <a:tc>
                  <a:txBody>
                    <a:bodyPr/>
                    <a:lstStyle/>
                    <a:p>
                      <a:r>
                        <a:rPr lang="en-GB" sz="2000">
                          <a:latin typeface="Fira Sans" panose="020B0503050000020004" pitchFamily="34" charset="0"/>
                        </a:rPr>
                        <a:t>App Synergy</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Analytics stays on GCP</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Video streaming already on AWS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solidFill>
                            <a:srgbClr val="FF0000"/>
                          </a:solidFill>
                          <a:latin typeface="Fira Sans" panose="020B0503050000020004" pitchFamily="34" charset="0"/>
                        </a:rPr>
                        <a:t>need to confirm current Azure use case</a:t>
                      </a:r>
                    </a:p>
                  </a:txBody>
                  <a:tcPr/>
                </a:tc>
                <a:extLst>
                  <a:ext uri="{0D108BD9-81ED-4DB2-BD59-A6C34878D82A}">
                    <a16:rowId xmlns:a16="http://schemas.microsoft.com/office/drawing/2014/main" val="2357598891"/>
                  </a:ext>
                </a:extLst>
              </a:tr>
              <a:tr h="641130">
                <a:tc>
                  <a:txBody>
                    <a:bodyPr/>
                    <a:lstStyle/>
                    <a:p>
                      <a:r>
                        <a:rPr lang="en-GB" sz="2000">
                          <a:latin typeface="Fira Sans" panose="020B0503050000020004" pitchFamily="34" charset="0"/>
                        </a:rPr>
                        <a:t>Business Team Skills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in-house knowledge of AWS within MIMIR, </a:t>
                      </a:r>
                      <a:r>
                        <a:rPr lang="en-GB" sz="2000" err="1">
                          <a:latin typeface="Fira Sans" panose="020B0503050000020004" pitchFamily="34" charset="0"/>
                        </a:rPr>
                        <a:t>Airtable</a:t>
                      </a:r>
                      <a:r>
                        <a:rPr lang="en-GB" sz="2000">
                          <a:latin typeface="Fira Sans" panose="020B0503050000020004" pitchFamily="34" charset="0"/>
                        </a:rPr>
                        <a:t>, DMG </a:t>
                      </a:r>
                      <a:r>
                        <a:rPr lang="en-GB" sz="2000" err="1">
                          <a:latin typeface="Fira Sans" panose="020B0503050000020004" pitchFamily="34" charset="0"/>
                        </a:rPr>
                        <a:t>iQ</a:t>
                      </a:r>
                      <a:r>
                        <a:rPr lang="en-GB" sz="2000">
                          <a:latin typeface="Fira Sans" panose="020B0503050000020004" pitchFamily="34" charset="0"/>
                        </a:rPr>
                        <a:t> - Social Media &amp; MSN Gallery Creator)</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extLst>
                  <a:ext uri="{0D108BD9-81ED-4DB2-BD59-A6C34878D82A}">
                    <a16:rowId xmlns:a16="http://schemas.microsoft.com/office/drawing/2014/main" val="2768822424"/>
                  </a:ext>
                </a:extLst>
              </a:tr>
              <a:tr h="641130">
                <a:tc>
                  <a:txBody>
                    <a:bodyPr/>
                    <a:lstStyle/>
                    <a:p>
                      <a:r>
                        <a:rPr lang="en-GB" sz="2000">
                          <a:latin typeface="Fira Sans" panose="020B0503050000020004" pitchFamily="34" charset="0"/>
                        </a:rPr>
                        <a:t>Platform Team Skills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Basic entry level understanding within current platform team</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extLst>
                  <a:ext uri="{0D108BD9-81ED-4DB2-BD59-A6C34878D82A}">
                    <a16:rowId xmlns:a16="http://schemas.microsoft.com/office/drawing/2014/main" val="3290904945"/>
                  </a:ext>
                </a:extLst>
              </a:tr>
              <a:tr h="641130">
                <a:tc>
                  <a:txBody>
                    <a:bodyPr/>
                    <a:lstStyle/>
                    <a:p>
                      <a:r>
                        <a:rPr lang="en-GB" sz="2000">
                          <a:latin typeface="Fira Sans" panose="020B0503050000020004" pitchFamily="34" charset="0"/>
                        </a:rPr>
                        <a:t>Readiness / </a:t>
                      </a:r>
                    </a:p>
                    <a:p>
                      <a:r>
                        <a:rPr lang="en-GB" sz="2000">
                          <a:latin typeface="Fira Sans" panose="020B0503050000020004" pitchFamily="34" charset="0"/>
                        </a:rPr>
                        <a:t>Connectivity</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on-premise connectivity (direct-connect) already configured</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extLst>
                  <a:ext uri="{0D108BD9-81ED-4DB2-BD59-A6C34878D82A}">
                    <a16:rowId xmlns:a16="http://schemas.microsoft.com/office/drawing/2014/main" val="3176314095"/>
                  </a:ext>
                </a:extLst>
              </a:tr>
              <a:tr h="641130">
                <a:tc>
                  <a:txBody>
                    <a:bodyPr/>
                    <a:lstStyle/>
                    <a:p>
                      <a:r>
                        <a:rPr lang="en-GB" sz="2000">
                          <a:latin typeface="Fira Sans" panose="020B0503050000020004" pitchFamily="34" charset="0"/>
                        </a:rPr>
                        <a:t>Partner Ecosystem</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Largest partner ecosystem and skills market across all segments – including media</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endParaRPr lang="en-GB" sz="2000">
                        <a:latin typeface="Fira Sans" panose="020B0503050000020004" pitchFamily="34" charset="0"/>
                      </a:endParaRPr>
                    </a:p>
                  </a:txBody>
                  <a:tcPr/>
                </a:tc>
                <a:extLst>
                  <a:ext uri="{0D108BD9-81ED-4DB2-BD59-A6C34878D82A}">
                    <a16:rowId xmlns:a16="http://schemas.microsoft.com/office/drawing/2014/main" val="280448173"/>
                  </a:ext>
                </a:extLst>
              </a:tr>
              <a:tr h="362378">
                <a:tc>
                  <a:txBody>
                    <a:bodyPr/>
                    <a:lstStyle/>
                    <a:p>
                      <a:r>
                        <a:rPr lang="en-GB" sz="2000">
                          <a:latin typeface="Fira Sans" panose="020B0503050000020004" pitchFamily="34" charset="0"/>
                        </a:rPr>
                        <a:t>Market factors</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000">
                          <a:latin typeface="Fira Sans" panose="020B0503050000020004" pitchFamily="34" charset="0"/>
                        </a:rPr>
                        <a:t>UK South struggling for </a:t>
                      </a:r>
                      <a:r>
                        <a:rPr lang="en-GB" sz="2000">
                          <a:latin typeface="Fira Sans" panose="020B0503050000020004" pitchFamily="34" charset="0"/>
                          <a:hlinkClick r:id="rId6"/>
                        </a:rPr>
                        <a:t>capacity</a:t>
                      </a:r>
                      <a:endParaRPr lang="en-GB" sz="2000">
                        <a:latin typeface="Fira Sans" panose="020B0503050000020004" pitchFamily="34" charset="0"/>
                      </a:endParaRPr>
                    </a:p>
                  </a:txBody>
                  <a:tcPr/>
                </a:tc>
                <a:extLst>
                  <a:ext uri="{0D108BD9-81ED-4DB2-BD59-A6C34878D82A}">
                    <a16:rowId xmlns:a16="http://schemas.microsoft.com/office/drawing/2014/main" val="2078550760"/>
                  </a:ext>
                </a:extLst>
              </a:tr>
            </a:tbl>
          </a:graphicData>
        </a:graphic>
      </p:graphicFrame>
      <p:sp>
        <p:nvSpPr>
          <p:cNvPr id="19" name="Rounded Rectangle 18">
            <a:extLst>
              <a:ext uri="{FF2B5EF4-FFF2-40B4-BE49-F238E27FC236}">
                <a16:creationId xmlns:a16="http://schemas.microsoft.com/office/drawing/2014/main" id="{57EBE1C5-C5F8-22CA-4F1C-D4A6A827B1AA}"/>
              </a:ext>
            </a:extLst>
          </p:cNvPr>
          <p:cNvSpPr/>
          <p:nvPr/>
        </p:nvSpPr>
        <p:spPr>
          <a:xfrm>
            <a:off x="7660249" y="12638741"/>
            <a:ext cx="10197671" cy="89996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Fill all the gaps</a:t>
            </a:r>
          </a:p>
          <a:p>
            <a:pPr algn="ctr"/>
            <a:r>
              <a:rPr lang="en-GB"/>
              <a:t>Make AWS pop more – AWS is the only hyperscaler that can run all of your applications today.</a:t>
            </a:r>
          </a:p>
          <a:p>
            <a:pPr algn="ctr"/>
            <a:r>
              <a:rPr lang="en-GB" sz="1800"/>
              <a:t>AI use case.</a:t>
            </a:r>
          </a:p>
        </p:txBody>
      </p:sp>
    </p:spTree>
    <p:extLst>
      <p:ext uri="{BB962C8B-B14F-4D97-AF65-F5344CB8AC3E}">
        <p14:creationId xmlns:p14="http://schemas.microsoft.com/office/powerpoint/2010/main" val="1339372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7F4B6-A7CD-62C9-DF9B-C98C6BB2FE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A53C44-4D1C-0E34-3406-515658603071}"/>
              </a:ext>
            </a:extLst>
          </p:cNvPr>
          <p:cNvSpPr>
            <a:spLocks noGrp="1"/>
          </p:cNvSpPr>
          <p:nvPr>
            <p:ph type="title"/>
          </p:nvPr>
        </p:nvSpPr>
        <p:spPr>
          <a:xfrm>
            <a:off x="668992" y="537179"/>
            <a:ext cx="22991108" cy="997837"/>
          </a:xfrm>
        </p:spPr>
        <p:txBody>
          <a:bodyPr/>
          <a:lstStyle/>
          <a:p>
            <a:r>
              <a:rPr lang="en-GB">
                <a:solidFill>
                  <a:srgbClr val="FF0000"/>
                </a:solidFill>
                <a:latin typeface="Fira Sans" panose="020B0503050000020004" pitchFamily="34" charset="0"/>
              </a:rPr>
              <a:t>Key Takeaways</a:t>
            </a:r>
          </a:p>
        </p:txBody>
      </p:sp>
      <p:sp>
        <p:nvSpPr>
          <p:cNvPr id="4" name="Slide Number Placeholder 3">
            <a:extLst>
              <a:ext uri="{FF2B5EF4-FFF2-40B4-BE49-F238E27FC236}">
                <a16:creationId xmlns:a16="http://schemas.microsoft.com/office/drawing/2014/main" id="{0642D720-DE91-3B5F-8C1D-B38D9DA756E3}"/>
              </a:ext>
            </a:extLst>
          </p:cNvPr>
          <p:cNvSpPr>
            <a:spLocks noGrp="1"/>
          </p:cNvSpPr>
          <p:nvPr>
            <p:ph type="sldNum" sz="quarter" idx="4"/>
          </p:nvPr>
        </p:nvSpPr>
        <p:spPr/>
        <p:txBody>
          <a:bodyPr/>
          <a:lstStyle/>
          <a:p>
            <a:fld id="{762E77F0-FB5B-4E8E-9BC9-34F14560A017}" type="slidenum">
              <a:rPr lang="en-US" smtClean="0"/>
              <a:pPr/>
              <a:t>25</a:t>
            </a:fld>
            <a:endParaRPr lang="en-US"/>
          </a:p>
        </p:txBody>
      </p:sp>
      <p:sp>
        <p:nvSpPr>
          <p:cNvPr id="5" name="Text Placeholder 1">
            <a:extLst>
              <a:ext uri="{FF2B5EF4-FFF2-40B4-BE49-F238E27FC236}">
                <a16:creationId xmlns:a16="http://schemas.microsoft.com/office/drawing/2014/main" id="{D89F168F-B392-A9D8-EF61-832268E21853}"/>
              </a:ext>
            </a:extLst>
          </p:cNvPr>
          <p:cNvSpPr txBox="1">
            <a:spLocks/>
          </p:cNvSpPr>
          <p:nvPr/>
        </p:nvSpPr>
        <p:spPr>
          <a:xfrm>
            <a:off x="696446" y="2913330"/>
            <a:ext cx="22936200" cy="5345053"/>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fontAlgn="auto">
              <a:spcAft>
                <a:spcPts val="0"/>
              </a:spcAft>
              <a:buClrTx/>
              <a:buNone/>
              <a:defRPr/>
            </a:pPr>
            <a:r>
              <a:rPr lang="de-DE"/>
              <a:t>Overall </a:t>
            </a:r>
            <a:r>
              <a:rPr lang="de-DE" err="1"/>
              <a:t>Recommendations</a:t>
            </a:r>
            <a:r>
              <a:rPr lang="de-DE"/>
              <a:t> </a:t>
            </a:r>
            <a:r>
              <a:rPr lang="de-DE" err="1"/>
              <a:t>takes</a:t>
            </a:r>
            <a:r>
              <a:rPr lang="de-DE"/>
              <a:t> </a:t>
            </a:r>
            <a:r>
              <a:rPr lang="de-DE" err="1"/>
              <a:t>into</a:t>
            </a:r>
            <a:r>
              <a:rPr lang="de-DE"/>
              <a:t> </a:t>
            </a:r>
            <a:r>
              <a:rPr lang="de-DE" err="1"/>
              <a:t>account</a:t>
            </a:r>
            <a:r>
              <a:rPr lang="de-DE"/>
              <a:t> all </a:t>
            </a:r>
            <a:r>
              <a:rPr lang="de-DE" err="1"/>
              <a:t>factors</a:t>
            </a:r>
            <a:endParaRPr lang="de-DE"/>
          </a:p>
          <a:p>
            <a:pPr fontAlgn="auto">
              <a:spcAft>
                <a:spcPts val="0"/>
              </a:spcAft>
              <a:buClr>
                <a:srgbClr val="FF0000"/>
              </a:buClr>
              <a:defRPr/>
            </a:pPr>
            <a:r>
              <a:rPr lang="de-DE" err="1"/>
              <a:t>Weighted</a:t>
            </a:r>
            <a:r>
              <a:rPr lang="de-DE"/>
              <a:t> Scoring</a:t>
            </a:r>
          </a:p>
          <a:p>
            <a:pPr fontAlgn="auto">
              <a:spcAft>
                <a:spcPts val="0"/>
              </a:spcAft>
              <a:buClr>
                <a:srgbClr val="FF0000"/>
              </a:buClr>
              <a:defRPr/>
            </a:pPr>
            <a:r>
              <a:rPr lang="de-DE"/>
              <a:t>Business Fit</a:t>
            </a:r>
          </a:p>
          <a:p>
            <a:pPr fontAlgn="auto">
              <a:spcAft>
                <a:spcPts val="0"/>
              </a:spcAft>
              <a:buClr>
                <a:srgbClr val="FF0000"/>
              </a:buClr>
              <a:defRPr/>
            </a:pPr>
            <a:r>
              <a:rPr lang="de-DE" err="1"/>
              <a:t>Cost</a:t>
            </a:r>
            <a:r>
              <a:rPr lang="de-DE"/>
              <a:t> - </a:t>
            </a:r>
            <a:r>
              <a:rPr lang="de-DE" err="1"/>
              <a:t>including</a:t>
            </a:r>
            <a:r>
              <a:rPr lang="de-DE"/>
              <a:t> </a:t>
            </a:r>
            <a:r>
              <a:rPr lang="de-DE" err="1"/>
              <a:t>expected</a:t>
            </a:r>
            <a:r>
              <a:rPr lang="de-DE"/>
              <a:t> </a:t>
            </a:r>
            <a:r>
              <a:rPr lang="de-DE" err="1"/>
              <a:t>credits</a:t>
            </a:r>
            <a:r>
              <a:rPr lang="de-DE"/>
              <a:t> and </a:t>
            </a:r>
            <a:r>
              <a:rPr lang="de-DE" err="1"/>
              <a:t>discounts</a:t>
            </a:r>
            <a:endParaRPr lang="de-DE"/>
          </a:p>
          <a:p>
            <a:pPr fontAlgn="auto">
              <a:spcAft>
                <a:spcPts val="0"/>
              </a:spcAft>
              <a:buClr>
                <a:srgbClr val="FF0000"/>
              </a:buClr>
              <a:defRPr/>
            </a:pPr>
            <a:r>
              <a:rPr lang="de-DE"/>
              <a:t>Additional </a:t>
            </a:r>
            <a:r>
              <a:rPr lang="de-DE" err="1"/>
              <a:t>Learnings</a:t>
            </a:r>
            <a:endParaRPr lang="de-DE"/>
          </a:p>
          <a:p>
            <a:pPr fontAlgn="auto">
              <a:spcAft>
                <a:spcPts val="0"/>
              </a:spcAft>
              <a:buClr>
                <a:srgbClr val="FF0000"/>
              </a:buClr>
              <a:defRPr/>
            </a:pPr>
            <a:endParaRPr lang="de-DE"/>
          </a:p>
          <a:p>
            <a:endParaRPr lang="en-GB">
              <a:latin typeface="Fira Sans" panose="020B0503050000020004" pitchFamily="34" charset="0"/>
            </a:endParaRPr>
          </a:p>
          <a:p>
            <a:r>
              <a:rPr lang="en-GB">
                <a:latin typeface="Fira Sans" panose="020B0503050000020004" pitchFamily="34" charset="0"/>
              </a:rPr>
              <a:t>Cost is just one factor of many</a:t>
            </a:r>
          </a:p>
          <a:p>
            <a:r>
              <a:rPr lang="en-GB">
                <a:latin typeface="Fira Sans" panose="020B0503050000020004" pitchFamily="34" charset="0"/>
              </a:rPr>
              <a:t>Enabling your business to scale is critical to meet your north star targets</a:t>
            </a:r>
          </a:p>
        </p:txBody>
      </p:sp>
      <p:sp>
        <p:nvSpPr>
          <p:cNvPr id="2" name="Rounded Rectangle 1">
            <a:extLst>
              <a:ext uri="{FF2B5EF4-FFF2-40B4-BE49-F238E27FC236}">
                <a16:creationId xmlns:a16="http://schemas.microsoft.com/office/drawing/2014/main" id="{6ED77338-AB4C-8ECD-48A0-FFBF61D5F16C}"/>
              </a:ext>
            </a:extLst>
          </p:cNvPr>
          <p:cNvSpPr/>
          <p:nvPr/>
        </p:nvSpPr>
        <p:spPr>
          <a:xfrm>
            <a:off x="15575280" y="10637520"/>
            <a:ext cx="3489960" cy="23622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Update – add more weight to placing</a:t>
            </a:r>
          </a:p>
          <a:p>
            <a:pPr algn="ctr"/>
            <a:endParaRPr lang="en-GB"/>
          </a:p>
          <a:p>
            <a:pPr algn="ctr"/>
            <a:r>
              <a:rPr lang="en-GB" sz="1800"/>
              <a:t>Emphasise the positives</a:t>
            </a:r>
          </a:p>
        </p:txBody>
      </p:sp>
    </p:spTree>
    <p:extLst>
      <p:ext uri="{BB962C8B-B14F-4D97-AF65-F5344CB8AC3E}">
        <p14:creationId xmlns:p14="http://schemas.microsoft.com/office/powerpoint/2010/main" val="596335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5AD6-59E2-F5F0-389A-8F02C54378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69EB9B-88AE-478E-B6D1-DB2FECBB902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Hyperscaler </a:t>
            </a:r>
          </a:p>
          <a:p>
            <a:pPr algn="ctr"/>
            <a:r>
              <a:rPr lang="en-GB" b="1" noProof="0">
                <a:latin typeface="Fira Sans Light" panose="020B0403050000020004" pitchFamily="34" charset="0"/>
              </a:rPr>
              <a:t>Weighted Scoring</a:t>
            </a:r>
          </a:p>
          <a:p>
            <a:pPr algn="ctr"/>
            <a:r>
              <a:rPr lang="en-GB" b="1">
                <a:latin typeface="Fira Sans Light" panose="020B0403050000020004" pitchFamily="34" charset="0"/>
              </a:rPr>
              <a:t>Assessment</a:t>
            </a:r>
            <a:endParaRPr lang="en-GB" b="1" noProof="0">
              <a:latin typeface="Fira Sans Light" panose="020B0403050000020004" pitchFamily="34" charset="0"/>
            </a:endParaRPr>
          </a:p>
        </p:txBody>
      </p:sp>
    </p:spTree>
    <p:extLst>
      <p:ext uri="{BB962C8B-B14F-4D97-AF65-F5344CB8AC3E}">
        <p14:creationId xmlns:p14="http://schemas.microsoft.com/office/powerpoint/2010/main" val="34977252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F332-3CBB-ABEB-DEFD-F92FD01183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ED1762-A821-09E6-32B7-9C8330F8F04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27</a:t>
            </a:fld>
            <a:endParaRPr lang="en-GB" noProof="0"/>
          </a:p>
        </p:txBody>
      </p:sp>
      <p:sp>
        <p:nvSpPr>
          <p:cNvPr id="4" name="TextBox 3">
            <a:extLst>
              <a:ext uri="{FF2B5EF4-FFF2-40B4-BE49-F238E27FC236}">
                <a16:creationId xmlns:a16="http://schemas.microsoft.com/office/drawing/2014/main" id="{2F139D62-377B-36D8-6C5E-EA9171311A0B}"/>
              </a:ext>
            </a:extLst>
          </p:cNvPr>
          <p:cNvSpPr txBox="1"/>
          <p:nvPr/>
        </p:nvSpPr>
        <p:spPr>
          <a:xfrm>
            <a:off x="406009" y="473476"/>
            <a:ext cx="10775707"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Hyperscaler Weighted Scoring</a:t>
            </a:r>
            <a:endParaRPr lang="en-GB" sz="6200" noProof="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5E6F0E27-8A17-5F34-28DD-D1AF52FD0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4208" y="857224"/>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65CFBA47-DC15-22B1-17FB-BCD53387C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42AE44BD-2547-68E3-63FE-62F39629D8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4790" y="733744"/>
            <a:ext cx="1366355" cy="13663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table with numbers and a number of data&#10;&#10;AI-generated content may be incorrect.">
            <a:extLst>
              <a:ext uri="{FF2B5EF4-FFF2-40B4-BE49-F238E27FC236}">
                <a16:creationId xmlns:a16="http://schemas.microsoft.com/office/drawing/2014/main" id="{1A171E64-1E03-BC4A-4CFD-ED4622D40F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114" y="2680282"/>
            <a:ext cx="22612863" cy="8395193"/>
          </a:xfrm>
          <a:prstGeom prst="rect">
            <a:avLst/>
          </a:prstGeom>
        </p:spPr>
      </p:pic>
      <p:sp>
        <p:nvSpPr>
          <p:cNvPr id="11" name="Rectangle 10">
            <a:extLst>
              <a:ext uri="{FF2B5EF4-FFF2-40B4-BE49-F238E27FC236}">
                <a16:creationId xmlns:a16="http://schemas.microsoft.com/office/drawing/2014/main" id="{D0C9F766-7CC9-E39D-29B3-0CBAFF628989}"/>
              </a:ext>
            </a:extLst>
          </p:cNvPr>
          <p:cNvSpPr/>
          <p:nvPr/>
        </p:nvSpPr>
        <p:spPr>
          <a:xfrm>
            <a:off x="5900542" y="7685022"/>
            <a:ext cx="2419350" cy="346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600">
                <a:solidFill>
                  <a:schemeClr val="tx1"/>
                </a:solidFill>
              </a:rPr>
              <a:t>Very High</a:t>
            </a:r>
          </a:p>
        </p:txBody>
      </p:sp>
      <p:pic>
        <p:nvPicPr>
          <p:cNvPr id="1032" name="Picture 8" descr="1st Prize PNGs for Free Download">
            <a:extLst>
              <a:ext uri="{FF2B5EF4-FFF2-40B4-BE49-F238E27FC236}">
                <a16:creationId xmlns:a16="http://schemas.microsoft.com/office/drawing/2014/main" id="{481F8F19-2D3B-DD0B-6E21-E0FE39074C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2662" y="10967313"/>
            <a:ext cx="1862924" cy="2537056"/>
          </a:xfrm>
          <a:prstGeom prst="rect">
            <a:avLst/>
          </a:prstGeom>
          <a:noFill/>
          <a:extLst>
            <a:ext uri="{909E8E84-426E-40DD-AFC4-6F175D3DCCD1}">
              <a14:hiddenFill xmlns:a14="http://schemas.microsoft.com/office/drawing/2010/main">
                <a:solidFill>
                  <a:srgbClr val="FFFFFF"/>
                </a:solidFill>
              </a14:hiddenFill>
            </a:ext>
          </a:extLst>
        </p:spPr>
      </p:pic>
      <p:sp>
        <p:nvSpPr>
          <p:cNvPr id="3" name="Doughnut 2">
            <a:extLst>
              <a:ext uri="{FF2B5EF4-FFF2-40B4-BE49-F238E27FC236}">
                <a16:creationId xmlns:a16="http://schemas.microsoft.com/office/drawing/2014/main" id="{13E7E7CD-2968-6ACD-C3CD-DDBBCED3C6DF}"/>
              </a:ext>
            </a:extLst>
          </p:cNvPr>
          <p:cNvSpPr/>
          <p:nvPr/>
        </p:nvSpPr>
        <p:spPr>
          <a:xfrm>
            <a:off x="12613020" y="7104112"/>
            <a:ext cx="2164476" cy="1048561"/>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5" name="Doughnut 4">
            <a:extLst>
              <a:ext uri="{FF2B5EF4-FFF2-40B4-BE49-F238E27FC236}">
                <a16:creationId xmlns:a16="http://schemas.microsoft.com/office/drawing/2014/main" id="{9FE68E94-1BEC-D43B-493B-9EA66AAA942A}"/>
              </a:ext>
            </a:extLst>
          </p:cNvPr>
          <p:cNvSpPr/>
          <p:nvPr/>
        </p:nvSpPr>
        <p:spPr>
          <a:xfrm>
            <a:off x="8472292" y="8152673"/>
            <a:ext cx="2164476" cy="611390"/>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6" name="Doughnut 5">
            <a:extLst>
              <a:ext uri="{FF2B5EF4-FFF2-40B4-BE49-F238E27FC236}">
                <a16:creationId xmlns:a16="http://schemas.microsoft.com/office/drawing/2014/main" id="{2207B74D-EBFD-8DE8-03B7-4AA029D21BF6}"/>
              </a:ext>
            </a:extLst>
          </p:cNvPr>
          <p:cNvSpPr/>
          <p:nvPr/>
        </p:nvSpPr>
        <p:spPr>
          <a:xfrm>
            <a:off x="12664996" y="8517085"/>
            <a:ext cx="2164476" cy="611390"/>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12" name="Doughnut 11">
            <a:extLst>
              <a:ext uri="{FF2B5EF4-FFF2-40B4-BE49-F238E27FC236}">
                <a16:creationId xmlns:a16="http://schemas.microsoft.com/office/drawing/2014/main" id="{C838378B-B387-1784-76DD-AFAA00F660BC}"/>
              </a:ext>
            </a:extLst>
          </p:cNvPr>
          <p:cNvSpPr/>
          <p:nvPr/>
        </p:nvSpPr>
        <p:spPr>
          <a:xfrm>
            <a:off x="8616510" y="12138014"/>
            <a:ext cx="2164476" cy="1366355"/>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13" name="TextBox 12">
            <a:extLst>
              <a:ext uri="{FF2B5EF4-FFF2-40B4-BE49-F238E27FC236}">
                <a16:creationId xmlns:a16="http://schemas.microsoft.com/office/drawing/2014/main" id="{8090DEE7-6929-77A8-FEE5-F92ADF1E96ED}"/>
              </a:ext>
            </a:extLst>
          </p:cNvPr>
          <p:cNvSpPr txBox="1"/>
          <p:nvPr/>
        </p:nvSpPr>
        <p:spPr>
          <a:xfrm>
            <a:off x="8688266" y="12636525"/>
            <a:ext cx="2133918" cy="369332"/>
          </a:xfrm>
          <a:prstGeom prst="rect">
            <a:avLst/>
          </a:prstGeom>
          <a:noFill/>
        </p:spPr>
        <p:txBody>
          <a:bodyPr wrap="none" rtlCol="0">
            <a:spAutoFit/>
          </a:bodyPr>
          <a:lstStyle/>
          <a:p>
            <a:pPr algn="l"/>
            <a:r>
              <a:rPr lang="en-GB" sz="1800"/>
              <a:t>Explain these gaps</a:t>
            </a:r>
          </a:p>
        </p:txBody>
      </p:sp>
    </p:spTree>
    <p:extLst>
      <p:ext uri="{BB962C8B-B14F-4D97-AF65-F5344CB8AC3E}">
        <p14:creationId xmlns:p14="http://schemas.microsoft.com/office/powerpoint/2010/main" val="178427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B945-EBC7-5685-31DF-CF9CBE13A1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149A93-726E-42F7-A2C9-57A819CA2720}"/>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28</a:t>
            </a:fld>
            <a:endParaRPr lang="en-GB" noProof="0"/>
          </a:p>
        </p:txBody>
      </p:sp>
      <p:sp>
        <p:nvSpPr>
          <p:cNvPr id="4" name="TextBox 3">
            <a:extLst>
              <a:ext uri="{FF2B5EF4-FFF2-40B4-BE49-F238E27FC236}">
                <a16:creationId xmlns:a16="http://schemas.microsoft.com/office/drawing/2014/main" id="{13C92150-B960-0FDB-8D63-077CB50584B7}"/>
              </a:ext>
            </a:extLst>
          </p:cNvPr>
          <p:cNvSpPr txBox="1"/>
          <p:nvPr/>
        </p:nvSpPr>
        <p:spPr>
          <a:xfrm>
            <a:off x="406009" y="473476"/>
            <a:ext cx="14417729"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Weighted Scoring – DMG Key Value Dials</a:t>
            </a:r>
            <a:endParaRPr lang="en-GB" sz="6200" noProof="0">
              <a:solidFill>
                <a:srgbClr val="FF0000"/>
              </a:solidFill>
              <a:latin typeface="Fira Sans Light" panose="020B0403050000020004" pitchFamily="34" charset="0"/>
            </a:endParaRPr>
          </a:p>
        </p:txBody>
      </p:sp>
      <p:pic>
        <p:nvPicPr>
          <p:cNvPr id="3" name="Picture 2" descr="A table with numbers and words&#10;&#10;AI-generated content may be incorrect.">
            <a:extLst>
              <a:ext uri="{FF2B5EF4-FFF2-40B4-BE49-F238E27FC236}">
                <a16:creationId xmlns:a16="http://schemas.microsoft.com/office/drawing/2014/main" id="{1BF78A30-D7BC-9B3A-AFAC-01591E220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390" y="2233782"/>
            <a:ext cx="20815610" cy="11482218"/>
          </a:xfrm>
          <a:prstGeom prst="rect">
            <a:avLst/>
          </a:prstGeom>
        </p:spPr>
      </p:pic>
      <p:pic>
        <p:nvPicPr>
          <p:cNvPr id="5" name="Picture 2">
            <a:extLst>
              <a:ext uri="{FF2B5EF4-FFF2-40B4-BE49-F238E27FC236}">
                <a16:creationId xmlns:a16="http://schemas.microsoft.com/office/drawing/2014/main" id="{E7BB14E0-0F45-F05E-B07B-4CB6088E1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6442" y="856580"/>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A0C5E74C-F1B7-FCEA-C8B8-4E60DD122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Google Cloud Icon - High-Quality GCP Logo for Your Projects">
            <a:extLst>
              <a:ext uri="{FF2B5EF4-FFF2-40B4-BE49-F238E27FC236}">
                <a16:creationId xmlns:a16="http://schemas.microsoft.com/office/drawing/2014/main" id="{7112C275-63F1-138D-6885-30928428A8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19259" y="684180"/>
            <a:ext cx="1366355" cy="136635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FBFB324B-5049-A1B5-6349-56883A670BAD}"/>
              </a:ext>
            </a:extLst>
          </p:cNvPr>
          <p:cNvGrpSpPr/>
          <p:nvPr/>
        </p:nvGrpSpPr>
        <p:grpSpPr>
          <a:xfrm>
            <a:off x="10191750" y="352747"/>
            <a:ext cx="14192250" cy="13363253"/>
            <a:chOff x="10191750" y="352747"/>
            <a:chExt cx="14192250" cy="13363253"/>
          </a:xfrm>
        </p:grpSpPr>
        <p:pic>
          <p:nvPicPr>
            <p:cNvPr id="2050" name="Picture 2" descr="1st Prize PNGs for Free Download">
              <a:extLst>
                <a:ext uri="{FF2B5EF4-FFF2-40B4-BE49-F238E27FC236}">
                  <a16:creationId xmlns:a16="http://schemas.microsoft.com/office/drawing/2014/main" id="{D7E07952-CC33-08EA-E3AC-08D82DFC23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01502" y="352747"/>
              <a:ext cx="1119126" cy="1524102"/>
            </a:xfrm>
            <a:prstGeom prst="rect">
              <a:avLst/>
            </a:prstGeom>
            <a:noFill/>
            <a:extLst>
              <a:ext uri="{909E8E84-426E-40DD-AFC4-6F175D3DCCD1}">
                <a14:hiddenFill xmlns:a14="http://schemas.microsoft.com/office/drawing/2010/main">
                  <a:solidFill>
                    <a:srgbClr val="FFFFFF"/>
                  </a:solidFill>
                </a14:hiddenFill>
              </a:ext>
            </a:extLst>
          </p:spPr>
        </p:pic>
        <p:sp>
          <p:nvSpPr>
            <p:cNvPr id="7" name="Doughnut 6">
              <a:extLst>
                <a:ext uri="{FF2B5EF4-FFF2-40B4-BE49-F238E27FC236}">
                  <a16:creationId xmlns:a16="http://schemas.microsoft.com/office/drawing/2014/main" id="{DE7B44DA-81F3-178E-AF4B-06827457572D}"/>
                </a:ext>
              </a:extLst>
            </p:cNvPr>
            <p:cNvSpPr/>
            <p:nvPr/>
          </p:nvSpPr>
          <p:spPr>
            <a:xfrm>
              <a:off x="15855510" y="1939681"/>
              <a:ext cx="2164476" cy="1366355"/>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8" name="Doughnut 7">
              <a:extLst>
                <a:ext uri="{FF2B5EF4-FFF2-40B4-BE49-F238E27FC236}">
                  <a16:creationId xmlns:a16="http://schemas.microsoft.com/office/drawing/2014/main" id="{6E9343AF-1A28-7FF6-5FF1-C31C015D79C7}"/>
                </a:ext>
              </a:extLst>
            </p:cNvPr>
            <p:cNvSpPr/>
            <p:nvPr/>
          </p:nvSpPr>
          <p:spPr>
            <a:xfrm>
              <a:off x="18937384" y="1939681"/>
              <a:ext cx="2164476" cy="1366355"/>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9" name="Doughnut 8">
              <a:extLst>
                <a:ext uri="{FF2B5EF4-FFF2-40B4-BE49-F238E27FC236}">
                  <a16:creationId xmlns:a16="http://schemas.microsoft.com/office/drawing/2014/main" id="{B9E6B41B-0856-E0CF-9906-8ED6C8773124}"/>
                </a:ext>
              </a:extLst>
            </p:cNvPr>
            <p:cNvSpPr/>
            <p:nvPr/>
          </p:nvSpPr>
          <p:spPr>
            <a:xfrm>
              <a:off x="22219524" y="1939681"/>
              <a:ext cx="2164476" cy="1366355"/>
            </a:xfrm>
            <a:prstGeom prst="donut">
              <a:avLst>
                <a:gd name="adj" fmla="val 40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10" name="Rounded Rectangle 9">
              <a:extLst>
                <a:ext uri="{FF2B5EF4-FFF2-40B4-BE49-F238E27FC236}">
                  <a16:creationId xmlns:a16="http://schemas.microsoft.com/office/drawing/2014/main" id="{6AC559A2-12A5-9C48-EF95-1D0406C6AC28}"/>
                </a:ext>
              </a:extLst>
            </p:cNvPr>
            <p:cNvSpPr/>
            <p:nvPr/>
          </p:nvSpPr>
          <p:spPr>
            <a:xfrm>
              <a:off x="10191750" y="2857500"/>
              <a:ext cx="2933700" cy="10858500"/>
            </a:xfrm>
            <a:prstGeom prst="round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Tree>
    <p:extLst>
      <p:ext uri="{BB962C8B-B14F-4D97-AF65-F5344CB8AC3E}">
        <p14:creationId xmlns:p14="http://schemas.microsoft.com/office/powerpoint/2010/main" val="169246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C1BD-401E-25F7-D7B9-FE5DB368A2C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AAA6ADF-CF47-0A06-9D46-CB96396DEF52}"/>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Business and Application Fit</a:t>
            </a:r>
          </a:p>
        </p:txBody>
      </p:sp>
    </p:spTree>
    <p:extLst>
      <p:ext uri="{BB962C8B-B14F-4D97-AF65-F5344CB8AC3E}">
        <p14:creationId xmlns:p14="http://schemas.microsoft.com/office/powerpoint/2010/main" val="40887920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65B2-5525-3CD0-74B0-45784F4321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B4766-C4BB-F05A-F39C-6B34E1B733BA}"/>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30</a:t>
            </a:fld>
            <a:endParaRPr lang="en-GB" noProof="0"/>
          </a:p>
        </p:txBody>
      </p:sp>
      <p:sp>
        <p:nvSpPr>
          <p:cNvPr id="10" name="Text Placeholder 9">
            <a:extLst>
              <a:ext uri="{FF2B5EF4-FFF2-40B4-BE49-F238E27FC236}">
                <a16:creationId xmlns:a16="http://schemas.microsoft.com/office/drawing/2014/main" id="{A0BCA0D2-2FF2-9541-8B80-A50A090264BD}"/>
              </a:ext>
            </a:extLst>
          </p:cNvPr>
          <p:cNvSpPr>
            <a:spLocks noGrp="1"/>
          </p:cNvSpPr>
          <p:nvPr>
            <p:ph type="body" sz="quarter" idx="13"/>
          </p:nvPr>
        </p:nvSpPr>
        <p:spPr>
          <a:xfrm>
            <a:off x="533709" y="7180506"/>
            <a:ext cx="5216526" cy="3536261"/>
          </a:xfrm>
        </p:spPr>
        <p:txBody>
          <a:bodyPr/>
          <a:lstStyle/>
          <a:p>
            <a:pPr algn="ctr"/>
            <a:r>
              <a:rPr lang="en-GB" sz="3200">
                <a:latin typeface="Fira Sans" panose="020B0503050000020004" pitchFamily="34" charset="0"/>
              </a:rPr>
              <a:t>Three constraints that shape the approach</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49B48473-C0F9-3100-D80C-F19F0DF19BD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Technical constraints</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B582F84-8075-BA1E-994A-7559FBAD14C6}"/>
              </a:ext>
            </a:extLst>
          </p:cNvPr>
          <p:cNvSpPr txBox="1"/>
          <p:nvPr/>
        </p:nvSpPr>
        <p:spPr>
          <a:xfrm>
            <a:off x="7107173" y="2330247"/>
            <a:ext cx="15913031" cy="6904454"/>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err="1">
                <a:latin typeface="Fira Sans" panose="020B0503050000020004" pitchFamily="34" charset="0"/>
              </a:rPr>
              <a:t>Atex</a:t>
            </a:r>
            <a:r>
              <a:rPr lang="en-GB" sz="3600" b="1">
                <a:latin typeface="Fira Sans" panose="020B0503050000020004" pitchFamily="34" charset="0"/>
              </a:rPr>
              <a:t> multicast </a:t>
            </a:r>
            <a:r>
              <a:rPr lang="en-GB" sz="3600">
                <a:latin typeface="Fira Sans" panose="020B0503050000020004" pitchFamily="34" charset="0"/>
              </a:rPr>
              <a:t>Prestige clustering requires multicast for node discovery. AWS supports natively via Transit Gateway. GCP and Azure do not. Vendor engagement on unicast is a Part 2 action.</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Oracle RAC </a:t>
            </a:r>
            <a:r>
              <a:rPr lang="en-GB" sz="3600">
                <a:latin typeface="Fira Sans" panose="020B0503050000020004" pitchFamily="34" charset="0"/>
              </a:rPr>
              <a:t>Shared storage, cluster interconnect. </a:t>
            </a:r>
            <a:r>
              <a:rPr lang="en-GB" sz="3600" err="1">
                <a:latin typeface="Fira Sans" panose="020B0503050000020004" pitchFamily="34" charset="0"/>
              </a:rPr>
              <a:t>Exadata@Cloud</a:t>
            </a:r>
            <a:r>
              <a:rPr lang="en-GB" sz="3600">
                <a:latin typeface="Fira Sans" panose="020B0503050000020004" pitchFamily="34" charset="0"/>
              </a:rPr>
              <a:t> available on all three platforms in London. Same OCI pricing. This is not a differentiator between clouds.</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SQL Server </a:t>
            </a:r>
            <a:r>
              <a:rPr lang="en-GB" sz="3600" b="1" err="1">
                <a:latin typeface="Fira Sans" panose="020B0503050000020004" pitchFamily="34" charset="0"/>
              </a:rPr>
              <a:t>Datacenter</a:t>
            </a:r>
            <a:r>
              <a:rPr lang="en-GB" sz="3600" b="1">
                <a:latin typeface="Fira Sans" panose="020B0503050000020004" pitchFamily="34" charset="0"/>
              </a:rPr>
              <a:t> </a:t>
            </a:r>
            <a:r>
              <a:rPr lang="en-GB" sz="3600">
                <a:latin typeface="Fira Sans" panose="020B0503050000020004" pitchFamily="34" charset="0"/>
              </a:rPr>
              <a:t>BYOL with Software Assurance. Azure AHB is simplest. AWS and GCP require Dedicated Hosts or Sole Tenant. Windows Server 2022 BYOL blocked on AWS and GCP (Listed Provider rules).</a:t>
            </a:r>
            <a:endParaRPr lang="en-GB" sz="3600" noProof="0">
              <a:latin typeface="Fira Sans" panose="020B0503050000020004" pitchFamily="34" charset="0"/>
            </a:endParaRPr>
          </a:p>
        </p:txBody>
      </p:sp>
    </p:spTree>
    <p:extLst>
      <p:ext uri="{BB962C8B-B14F-4D97-AF65-F5344CB8AC3E}">
        <p14:creationId xmlns:p14="http://schemas.microsoft.com/office/powerpoint/2010/main" val="1748632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E289A-D6DC-7C58-AEC8-FAC00AC1DA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E10743-6852-3CA9-3E51-3B81CC7E645F}"/>
              </a:ext>
            </a:extLst>
          </p:cNvPr>
          <p:cNvSpPr>
            <a:spLocks noGrp="1"/>
          </p:cNvSpPr>
          <p:nvPr>
            <p:ph type="title"/>
          </p:nvPr>
        </p:nvSpPr>
        <p:spPr>
          <a:xfrm>
            <a:off x="668992" y="537179"/>
            <a:ext cx="22991108" cy="997837"/>
          </a:xfrm>
        </p:spPr>
        <p:txBody>
          <a:bodyPr/>
          <a:lstStyle/>
          <a:p>
            <a:r>
              <a:rPr lang="en-GB">
                <a:solidFill>
                  <a:srgbClr val="FF0000"/>
                </a:solidFill>
                <a:latin typeface="Fira Sans" panose="020B0503050000020004" pitchFamily="34" charset="0"/>
              </a:rPr>
              <a:t>AWS Business Fit</a:t>
            </a:r>
          </a:p>
        </p:txBody>
      </p:sp>
      <p:sp>
        <p:nvSpPr>
          <p:cNvPr id="4" name="Slide Number Placeholder 3">
            <a:extLst>
              <a:ext uri="{FF2B5EF4-FFF2-40B4-BE49-F238E27FC236}">
                <a16:creationId xmlns:a16="http://schemas.microsoft.com/office/drawing/2014/main" id="{46262C1D-8E74-C819-9EF8-9E90508941C3}"/>
              </a:ext>
            </a:extLst>
          </p:cNvPr>
          <p:cNvSpPr>
            <a:spLocks noGrp="1"/>
          </p:cNvSpPr>
          <p:nvPr>
            <p:ph type="sldNum" sz="quarter" idx="4"/>
          </p:nvPr>
        </p:nvSpPr>
        <p:spPr/>
        <p:txBody>
          <a:bodyPr/>
          <a:lstStyle/>
          <a:p>
            <a:fld id="{762E77F0-FB5B-4E8E-9BC9-34F14560A017}" type="slidenum">
              <a:rPr lang="en-US" smtClean="0"/>
              <a:pPr/>
              <a:t>31</a:t>
            </a:fld>
            <a:endParaRPr lang="en-US"/>
          </a:p>
        </p:txBody>
      </p:sp>
      <p:sp>
        <p:nvSpPr>
          <p:cNvPr id="5" name="Text Placeholder 1">
            <a:extLst>
              <a:ext uri="{FF2B5EF4-FFF2-40B4-BE49-F238E27FC236}">
                <a16:creationId xmlns:a16="http://schemas.microsoft.com/office/drawing/2014/main" id="{C65C6A89-2329-3903-A6B3-4B14F337508D}"/>
              </a:ext>
            </a:extLst>
          </p:cNvPr>
          <p:cNvSpPr txBox="1">
            <a:spLocks/>
          </p:cNvSpPr>
          <p:nvPr/>
        </p:nvSpPr>
        <p:spPr>
          <a:xfrm>
            <a:off x="696446" y="2913330"/>
            <a:ext cx="22936200" cy="553998"/>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fontAlgn="auto">
              <a:spcAft>
                <a:spcPts val="0"/>
              </a:spcAft>
              <a:buClrTx/>
              <a:buNone/>
              <a:defRPr/>
            </a:pPr>
            <a:r>
              <a:rPr lang="de-DE" err="1"/>
              <a:t>Why</a:t>
            </a:r>
            <a:r>
              <a:rPr lang="de-DE"/>
              <a:t> </a:t>
            </a:r>
            <a:r>
              <a:rPr lang="de-DE" err="1"/>
              <a:t>does</a:t>
            </a:r>
            <a:r>
              <a:rPr lang="de-DE"/>
              <a:t> AWS fit </a:t>
            </a:r>
            <a:r>
              <a:rPr lang="de-DE" err="1"/>
              <a:t>better</a:t>
            </a:r>
            <a:r>
              <a:rPr lang="de-DE"/>
              <a:t> </a:t>
            </a:r>
            <a:r>
              <a:rPr lang="de-DE" err="1"/>
              <a:t>than</a:t>
            </a:r>
            <a:r>
              <a:rPr lang="de-DE"/>
              <a:t> </a:t>
            </a:r>
            <a:r>
              <a:rPr lang="de-DE" err="1"/>
              <a:t>the</a:t>
            </a:r>
            <a:r>
              <a:rPr lang="de-DE"/>
              <a:t> </a:t>
            </a:r>
            <a:r>
              <a:rPr lang="de-DE" err="1"/>
              <a:t>others</a:t>
            </a:r>
            <a:endParaRPr lang="en-GB">
              <a:latin typeface="Fira Sans" panose="020B0503050000020004" pitchFamily="34" charset="0"/>
            </a:endParaRPr>
          </a:p>
        </p:txBody>
      </p:sp>
      <p:sp>
        <p:nvSpPr>
          <p:cNvPr id="2" name="Rounded Rectangle 1">
            <a:extLst>
              <a:ext uri="{FF2B5EF4-FFF2-40B4-BE49-F238E27FC236}">
                <a16:creationId xmlns:a16="http://schemas.microsoft.com/office/drawing/2014/main" id="{B8166DE3-429D-C72A-1C14-407D67B4027E}"/>
              </a:ext>
            </a:extLst>
          </p:cNvPr>
          <p:cNvSpPr/>
          <p:nvPr/>
        </p:nvSpPr>
        <p:spPr>
          <a:xfrm>
            <a:off x="15575280" y="10637520"/>
            <a:ext cx="3489960" cy="23622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Update – add more weight to placing</a:t>
            </a:r>
          </a:p>
          <a:p>
            <a:pPr algn="ctr"/>
            <a:endParaRPr lang="en-GB"/>
          </a:p>
          <a:p>
            <a:pPr algn="ctr"/>
            <a:r>
              <a:rPr lang="en-GB" sz="1800"/>
              <a:t>Emphasise the positives</a:t>
            </a:r>
          </a:p>
        </p:txBody>
      </p:sp>
    </p:spTree>
    <p:extLst>
      <p:ext uri="{BB962C8B-B14F-4D97-AF65-F5344CB8AC3E}">
        <p14:creationId xmlns:p14="http://schemas.microsoft.com/office/powerpoint/2010/main" val="1070158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FF13-5487-1730-CC9F-6F3929B1517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260A81-ECE4-5CCD-5464-5043BA3C980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Cost Comparison</a:t>
            </a:r>
          </a:p>
        </p:txBody>
      </p:sp>
    </p:spTree>
    <p:extLst>
      <p:ext uri="{BB962C8B-B14F-4D97-AF65-F5344CB8AC3E}">
        <p14:creationId xmlns:p14="http://schemas.microsoft.com/office/powerpoint/2010/main" val="29398949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7A4C-F083-E6A7-BF72-C2E9121FF4C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067ADE-ADF0-7730-CED7-78B91D9AA77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33</a:t>
            </a:fld>
            <a:endParaRPr lang="en-GB" noProof="0"/>
          </a:p>
        </p:txBody>
      </p:sp>
      <p:sp>
        <p:nvSpPr>
          <p:cNvPr id="10" name="Text Placeholder 9">
            <a:extLst>
              <a:ext uri="{FF2B5EF4-FFF2-40B4-BE49-F238E27FC236}">
                <a16:creationId xmlns:a16="http://schemas.microsoft.com/office/drawing/2014/main" id="{D2316C29-BB6F-809D-DD68-C97D38DBBF15}"/>
              </a:ext>
            </a:extLst>
          </p:cNvPr>
          <p:cNvSpPr>
            <a:spLocks noGrp="1"/>
          </p:cNvSpPr>
          <p:nvPr>
            <p:ph type="body" sz="quarter" idx="13"/>
          </p:nvPr>
        </p:nvSpPr>
        <p:spPr>
          <a:xfrm>
            <a:off x="640051" y="5882058"/>
            <a:ext cx="5216526" cy="3536261"/>
          </a:xfrm>
        </p:spPr>
        <p:txBody>
          <a:bodyPr anchor="ctr"/>
          <a:lstStyle/>
          <a:p>
            <a:pPr algn="ctr"/>
            <a:r>
              <a:rPr lang="en-GB" sz="3200">
                <a:latin typeface="Fira Sans" panose="020B0503050000020004" pitchFamily="34" charset="0"/>
              </a:rPr>
              <a:t>Methodology </a:t>
            </a:r>
            <a:r>
              <a:rPr lang="en-GB" sz="3200">
                <a:ln w="9525">
                  <a:noFill/>
                </a:ln>
                <a:latin typeface="Fira Sans" panose="020B0503050000020004" pitchFamily="34" charset="0"/>
              </a:rPr>
              <a:t>/ Assumptions</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224CD357-3AAE-7E91-3715-614689D35186}"/>
              </a:ext>
            </a:extLst>
          </p:cNvPr>
          <p:cNvSpPr>
            <a:spLocks noGrp="1"/>
          </p:cNvSpPr>
          <p:nvPr>
            <p:ph type="title"/>
          </p:nvPr>
        </p:nvSpPr>
        <p:spPr>
          <a:xfrm>
            <a:off x="627521" y="3609563"/>
            <a:ext cx="5241586" cy="3062106"/>
          </a:xfrm>
        </p:spPr>
        <p:txBody>
          <a:bodyPr vert="horz" wrap="square" lIns="0" tIns="0" rIns="0" bIns="0" rtlCol="0" anchor="ctr" anchorCtr="0">
            <a:normAutofit/>
          </a:bodyPr>
          <a:lstStyle/>
          <a:p>
            <a:pPr algn="ctr"/>
            <a:r>
              <a:rPr lang="en-GB" sz="5400">
                <a:latin typeface="Fira Sans" panose="020B0503050000020004" pitchFamily="34" charset="0"/>
              </a:rPr>
              <a:t>How we built the numbers</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0362B248-64DD-6E50-63F7-31E6778CBBB8}"/>
              </a:ext>
            </a:extLst>
          </p:cNvPr>
          <p:cNvSpPr txBox="1"/>
          <p:nvPr/>
        </p:nvSpPr>
        <p:spPr>
          <a:xfrm>
            <a:off x="7107173" y="2330247"/>
            <a:ext cx="15913031" cy="7940635"/>
          </a:xfrm>
          <a:prstGeom prst="rect">
            <a:avLst/>
          </a:prstGeom>
          <a:noFill/>
        </p:spPr>
        <p:txBody>
          <a:bodyPr wrap="square">
            <a:spAutoFit/>
          </a:bodyPr>
          <a:lstStyle/>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Same source data </a:t>
            </a:r>
            <a:r>
              <a:rPr lang="en-GB" sz="4000">
                <a:latin typeface="Fira Sans" panose="020B0503050000020004" pitchFamily="34" charset="0"/>
              </a:rPr>
              <a:t>fed to all three clouds. No cloud got a different version of the estate.</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Each cloud's own tool </a:t>
            </a:r>
            <a:r>
              <a:rPr lang="en-GB" sz="4000">
                <a:latin typeface="Fira Sans" panose="020B0503050000020004" pitchFamily="34" charset="0"/>
              </a:rPr>
              <a:t>sized the workloads (Migration </a:t>
            </a:r>
            <a:r>
              <a:rPr lang="en-GB" sz="4000" err="1">
                <a:latin typeface="Fira Sans" panose="020B0503050000020004" pitchFamily="34" charset="0"/>
              </a:rPr>
              <a:t>Center</a:t>
            </a:r>
            <a:r>
              <a:rPr lang="en-GB" sz="4000">
                <a:latin typeface="Fira Sans" panose="020B0503050000020004" pitchFamily="34" charset="0"/>
              </a:rPr>
              <a:t>, Transform, Azure Migrate)</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SKU audit </a:t>
            </a:r>
            <a:r>
              <a:rPr lang="en-GB" sz="4000">
                <a:latin typeface="Fira Sans" panose="020B0503050000020004" pitchFamily="34" charset="0"/>
              </a:rPr>
              <a:t>of what each tool recommended and why</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Re-priced against live APIs </a:t>
            </a:r>
            <a:r>
              <a:rPr lang="en-GB" sz="4000">
                <a:latin typeface="Fira Sans" panose="020B0503050000020004" pitchFamily="34" charset="0"/>
              </a:rPr>
              <a:t>to neutralise tool-specific bias</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Two pricing pillars: </a:t>
            </a:r>
            <a:r>
              <a:rPr lang="en-GB" sz="4000">
                <a:latin typeface="Fira Sans" panose="020B0503050000020004" pitchFamily="34" charset="0"/>
              </a:rPr>
              <a:t>on-demand baseline and 3-year committed</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Oracle modelled separately </a:t>
            </a:r>
            <a:r>
              <a:rPr lang="en-GB" sz="4000">
                <a:latin typeface="Fira Sans" panose="020B0503050000020004" pitchFamily="34" charset="0"/>
              </a:rPr>
              <a:t>(three distinct paths, different mechanics per cloud)</a:t>
            </a:r>
          </a:p>
          <a:p>
            <a:pPr marL="742950" indent="-742950" defTabSz="1828800" fontAlgn="t">
              <a:spcAft>
                <a:spcPts val="1400"/>
              </a:spcAft>
              <a:buClr>
                <a:srgbClr val="EB0000"/>
              </a:buClr>
              <a:buFont typeface="+mj-lt"/>
              <a:buAutoNum type="arabicPeriod"/>
            </a:pPr>
            <a:r>
              <a:rPr lang="en-GB" sz="4000" b="1">
                <a:latin typeface="Fira Sans" panose="020B0503050000020004" pitchFamily="34" charset="0"/>
              </a:rPr>
              <a:t>Commercial layer separate </a:t>
            </a:r>
            <a:r>
              <a:rPr lang="en-GB" sz="4000">
                <a:latin typeface="Fira Sans" panose="020B0503050000020004" pitchFamily="34" charset="0"/>
              </a:rPr>
              <a:t>(partner discounts and credits, not mixed into the baseline)</a:t>
            </a:r>
            <a:endParaRPr lang="en-GB" sz="3600" noProof="0">
              <a:latin typeface="Fira Sans" panose="020B0503050000020004" pitchFamily="34" charset="0"/>
            </a:endParaRPr>
          </a:p>
        </p:txBody>
      </p:sp>
    </p:spTree>
    <p:extLst>
      <p:ext uri="{BB962C8B-B14F-4D97-AF65-F5344CB8AC3E}">
        <p14:creationId xmlns:p14="http://schemas.microsoft.com/office/powerpoint/2010/main" val="4236126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318D-4533-8B7B-7D17-4A4584F337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93AABD-9AFC-ACCB-CA3F-4B95BDEE79FD}"/>
              </a:ext>
            </a:extLst>
          </p:cNvPr>
          <p:cNvSpPr txBox="1"/>
          <p:nvPr/>
        </p:nvSpPr>
        <p:spPr>
          <a:xfrm>
            <a:off x="406009" y="473476"/>
            <a:ext cx="8965916"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DMG – On-Premise Costs</a:t>
            </a:r>
            <a:endParaRPr lang="en-GB" sz="6200">
              <a:solidFill>
                <a:srgbClr val="FF0000"/>
              </a:solidFill>
              <a:latin typeface="Fira Sans Light" panose="020B0403050000020004" pitchFamily="34" charset="0"/>
            </a:endParaRPr>
          </a:p>
        </p:txBody>
      </p:sp>
      <p:graphicFrame>
        <p:nvGraphicFramePr>
          <p:cNvPr id="6" name="Table 5">
            <a:extLst>
              <a:ext uri="{FF2B5EF4-FFF2-40B4-BE49-F238E27FC236}">
                <a16:creationId xmlns:a16="http://schemas.microsoft.com/office/drawing/2014/main" id="{DFEAFBD0-B91A-6083-759D-B32598539DD2}"/>
              </a:ext>
            </a:extLst>
          </p:cNvPr>
          <p:cNvGraphicFramePr>
            <a:graphicFrameLocks noGrp="1"/>
          </p:cNvGraphicFramePr>
          <p:nvPr>
            <p:extLst>
              <p:ext uri="{D42A27DB-BD31-4B8C-83A1-F6EECF244321}">
                <p14:modId xmlns:p14="http://schemas.microsoft.com/office/powerpoint/2010/main" val="1827939403"/>
              </p:ext>
            </p:extLst>
          </p:nvPr>
        </p:nvGraphicFramePr>
        <p:xfrm>
          <a:off x="406006" y="2303856"/>
          <a:ext cx="23551272" cy="11295762"/>
        </p:xfrm>
        <a:graphic>
          <a:graphicData uri="http://schemas.openxmlformats.org/drawingml/2006/table">
            <a:tbl>
              <a:tblPr>
                <a:tableStyleId>{5C22544A-7EE6-4342-B048-85BDC9FD1C3A}</a:tableStyleId>
              </a:tblPr>
              <a:tblGrid>
                <a:gridCol w="2263016">
                  <a:extLst>
                    <a:ext uri="{9D8B030D-6E8A-4147-A177-3AD203B41FA5}">
                      <a16:colId xmlns:a16="http://schemas.microsoft.com/office/drawing/2014/main" val="817237507"/>
                    </a:ext>
                  </a:extLst>
                </a:gridCol>
                <a:gridCol w="2033653">
                  <a:extLst>
                    <a:ext uri="{9D8B030D-6E8A-4147-A177-3AD203B41FA5}">
                      <a16:colId xmlns:a16="http://schemas.microsoft.com/office/drawing/2014/main" val="2958723704"/>
                    </a:ext>
                  </a:extLst>
                </a:gridCol>
                <a:gridCol w="4278609">
                  <a:extLst>
                    <a:ext uri="{9D8B030D-6E8A-4147-A177-3AD203B41FA5}">
                      <a16:colId xmlns:a16="http://schemas.microsoft.com/office/drawing/2014/main" val="3762254360"/>
                    </a:ext>
                  </a:extLst>
                </a:gridCol>
                <a:gridCol w="5690901">
                  <a:extLst>
                    <a:ext uri="{9D8B030D-6E8A-4147-A177-3AD203B41FA5}">
                      <a16:colId xmlns:a16="http://schemas.microsoft.com/office/drawing/2014/main" val="925842505"/>
                    </a:ext>
                  </a:extLst>
                </a:gridCol>
                <a:gridCol w="1590839">
                  <a:extLst>
                    <a:ext uri="{9D8B030D-6E8A-4147-A177-3AD203B41FA5}">
                      <a16:colId xmlns:a16="http://schemas.microsoft.com/office/drawing/2014/main" val="1430550261"/>
                    </a:ext>
                  </a:extLst>
                </a:gridCol>
                <a:gridCol w="1379361">
                  <a:extLst>
                    <a:ext uri="{9D8B030D-6E8A-4147-A177-3AD203B41FA5}">
                      <a16:colId xmlns:a16="http://schemas.microsoft.com/office/drawing/2014/main" val="3859044359"/>
                    </a:ext>
                  </a:extLst>
                </a:gridCol>
                <a:gridCol w="998468">
                  <a:extLst>
                    <a:ext uri="{9D8B030D-6E8A-4147-A177-3AD203B41FA5}">
                      <a16:colId xmlns:a16="http://schemas.microsoft.com/office/drawing/2014/main" val="1512500502"/>
                    </a:ext>
                  </a:extLst>
                </a:gridCol>
                <a:gridCol w="1353024">
                  <a:extLst>
                    <a:ext uri="{9D8B030D-6E8A-4147-A177-3AD203B41FA5}">
                      <a16:colId xmlns:a16="http://schemas.microsoft.com/office/drawing/2014/main" val="2267847870"/>
                    </a:ext>
                  </a:extLst>
                </a:gridCol>
                <a:gridCol w="1528307">
                  <a:extLst>
                    <a:ext uri="{9D8B030D-6E8A-4147-A177-3AD203B41FA5}">
                      <a16:colId xmlns:a16="http://schemas.microsoft.com/office/drawing/2014/main" val="49976747"/>
                    </a:ext>
                  </a:extLst>
                </a:gridCol>
                <a:gridCol w="982010">
                  <a:extLst>
                    <a:ext uri="{9D8B030D-6E8A-4147-A177-3AD203B41FA5}">
                      <a16:colId xmlns:a16="http://schemas.microsoft.com/office/drawing/2014/main" val="1886982422"/>
                    </a:ext>
                  </a:extLst>
                </a:gridCol>
                <a:gridCol w="1453084">
                  <a:extLst>
                    <a:ext uri="{9D8B030D-6E8A-4147-A177-3AD203B41FA5}">
                      <a16:colId xmlns:a16="http://schemas.microsoft.com/office/drawing/2014/main" val="2176566093"/>
                    </a:ext>
                  </a:extLst>
                </a:gridCol>
              </a:tblGrid>
              <a:tr h="773907">
                <a:tc>
                  <a:txBody>
                    <a:bodyPr/>
                    <a:lstStyle/>
                    <a:p>
                      <a:pPr algn="l" fontAlgn="b">
                        <a:buNone/>
                      </a:pPr>
                      <a:r>
                        <a:rPr lang="en-GB" sz="1800" b="1" u="none" strike="noStrike">
                          <a:effectLst/>
                          <a:latin typeface="Fira Sans Light"/>
                        </a:rPr>
                        <a:t>Category</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Subcategory</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Cost Item</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Description / Scope</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Vendor</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Portability / Entitlements</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ctr" fontAlgn="b">
                        <a:buNone/>
                      </a:pPr>
                      <a:r>
                        <a:rPr lang="en-GB" sz="1800" b="1" u="none" strike="noStrike">
                          <a:effectLst/>
                          <a:latin typeface="Fira Sans Light"/>
                        </a:rPr>
                        <a:t>Cost Type </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ctr" fontAlgn="b">
                        <a:buNone/>
                      </a:pPr>
                      <a:r>
                        <a:rPr lang="en-GB" sz="1800" b="1" u="none" strike="noStrike">
                          <a:effectLst/>
                          <a:latin typeface="Fira Sans Light"/>
                        </a:rPr>
                        <a:t>Input Basis</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Input Amount (GBP)</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ctr" fontAlgn="b">
                        <a:buNone/>
                      </a:pPr>
                      <a:r>
                        <a:rPr lang="en-GB" sz="1800" b="1" u="none" strike="noStrike">
                          <a:effectLst/>
                          <a:latin typeface="Fira Sans Light"/>
                        </a:rPr>
                        <a:t>Dep. (yrs)</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tc>
                  <a:txBody>
                    <a:bodyPr/>
                    <a:lstStyle/>
                    <a:p>
                      <a:pPr algn="l" fontAlgn="b">
                        <a:buNone/>
                      </a:pPr>
                      <a:r>
                        <a:rPr lang="en-GB" sz="1800" b="1" u="none" strike="noStrike">
                          <a:effectLst/>
                          <a:latin typeface="Fira Sans Light"/>
                        </a:rPr>
                        <a:t>Annualized Cost (GBP)</a:t>
                      </a:r>
                      <a:endParaRPr lang="en-GB" sz="1800" b="1" u="none" strike="noStrike">
                        <a:solidFill>
                          <a:srgbClr val="FFFFFF"/>
                        </a:solidFill>
                        <a:effectLst/>
                        <a:latin typeface="Fira Sans Light"/>
                      </a:endParaRPr>
                    </a:p>
                  </a:txBody>
                  <a:tcPr marL="0" marR="0" marT="0" marB="0" anchor="b">
                    <a:solidFill>
                      <a:schemeClr val="accent4">
                        <a:lumMod val="20000"/>
                        <a:lumOff val="80000"/>
                      </a:schemeClr>
                    </a:solidFill>
                  </a:tcPr>
                </a:tc>
                <a:extLst>
                  <a:ext uri="{0D108BD9-81ED-4DB2-BD59-A6C34878D82A}">
                    <a16:rowId xmlns:a16="http://schemas.microsoft.com/office/drawing/2014/main" val="3263377493"/>
                  </a:ext>
                </a:extLst>
              </a:tr>
              <a:tr h="510450">
                <a:tc>
                  <a:txBody>
                    <a:bodyPr/>
                    <a:lstStyle/>
                    <a:p>
                      <a:pPr algn="l" fontAlgn="b">
                        <a:buNone/>
                      </a:pPr>
                      <a:r>
                        <a:rPr lang="en-GB" sz="1400" u="none" strike="noStrike">
                          <a:effectLst/>
                          <a:latin typeface="Fira Sans Light"/>
                        </a:rPr>
                        <a:t>Compute &amp; Storage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Server Hardware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Server hardware costs (purchase/lease)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Purchase/lease costs; include depreciation schedule and refresh cycle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a:t>
                      </a:r>
                      <a:r>
                        <a:rPr lang="en-GB" sz="1400" u="none" strike="noStrike">
                          <a:effectLst/>
                          <a:latin typeface="Fira Sans Light"/>
                        </a:rPr>
                        <a:t>,</a:t>
                      </a:r>
                      <a:r>
                        <a:rPr lang="en-DE" sz="1400" u="none" strike="noStrike">
                          <a:effectLst/>
                          <a:latin typeface="Fira Sans Light"/>
                        </a:rPr>
                        <a:t>262</a:t>
                      </a:r>
                      <a:r>
                        <a:rPr lang="en-GB" sz="1400" u="none" strike="noStrike">
                          <a:effectLst/>
                          <a:latin typeface="Fira Sans Light"/>
                        </a:rPr>
                        <a:t>,</a:t>
                      </a:r>
                      <a:r>
                        <a:rPr lang="en-DE" sz="1400" u="none" strike="noStrike">
                          <a:effectLst/>
                          <a:latin typeface="Fira Sans Light"/>
                        </a:rPr>
                        <a:t>234</a:t>
                      </a:r>
                      <a:endParaRPr lang="en-US" sz="1400" u="none" strike="noStrike">
                        <a:solidFill>
                          <a:srgbClr val="000000"/>
                        </a:solidFill>
                        <a:effectLst/>
                        <a:latin typeface="Fira Sans Light"/>
                      </a:endParaRPr>
                    </a:p>
                  </a:txBody>
                  <a:tcPr marL="0" marR="0" marT="0" marB="0" anchor="b"/>
                </a:tc>
                <a:tc>
                  <a:txBody>
                    <a:bodyPr/>
                    <a:lstStyle/>
                    <a:p>
                      <a:pPr algn="ctr" fontAlgn="b">
                        <a:buNone/>
                      </a:pPr>
                      <a:r>
                        <a:rPr lang="en-DE" sz="1400" u="none" strike="noStrike">
                          <a:effectLst/>
                          <a:latin typeface="Fira Sans Light"/>
                        </a:rPr>
                        <a:t>5</a:t>
                      </a: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£252</a:t>
                      </a:r>
                      <a:r>
                        <a:rPr lang="en-GB" sz="1400" u="none" strike="noStrike">
                          <a:effectLst/>
                          <a:latin typeface="Fira Sans Light"/>
                        </a:rPr>
                        <a:t>,</a:t>
                      </a:r>
                      <a:r>
                        <a:rPr lang="en-DE" sz="1400" u="none" strike="noStrike">
                          <a:effectLst/>
                          <a:latin typeface="Fira Sans Light"/>
                        </a:rPr>
                        <a:t>447</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862521062"/>
                  </a:ext>
                </a:extLst>
              </a:tr>
              <a:tr h="510450">
                <a:tc>
                  <a:txBody>
                    <a:bodyPr/>
                    <a:lstStyle/>
                    <a:p>
                      <a:pPr algn="l" fontAlgn="b">
                        <a:buNone/>
                      </a:pPr>
                      <a:r>
                        <a:rPr lang="en-GB" sz="1400" u="none" strike="noStrike">
                          <a:effectLst/>
                          <a:latin typeface="Fira Sans Light"/>
                        </a:rPr>
                        <a:t>Compute &amp; Storage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Hardware Maintenance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Hardware maintenance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Annual maintenance/support for server hardware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£5</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£5</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3262480684"/>
                  </a:ext>
                </a:extLst>
              </a:tr>
              <a:tr h="345789">
                <a:tc>
                  <a:txBody>
                    <a:bodyPr/>
                    <a:lstStyle/>
                    <a:p>
                      <a:pPr algn="l" fontAlgn="b">
                        <a:buNone/>
                      </a:pPr>
                      <a:r>
                        <a:rPr lang="en-GB" sz="1400" u="none" strike="noStrike">
                          <a:effectLst/>
                          <a:latin typeface="Fira Sans Light"/>
                        </a:rPr>
                        <a:t>Compute &amp; Storage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Storage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Storage (SAN/NAS + backup)</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SAN/NAS + backup infrastructure (capex +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a:t>
                      </a:r>
                      <a:r>
                        <a:rPr lang="en-GB" sz="1400" u="none" strike="noStrike">
                          <a:effectLst/>
                          <a:latin typeface="Fira Sans Light"/>
                        </a:rPr>
                        <a:t>,</a:t>
                      </a:r>
                      <a:r>
                        <a:rPr lang="en-DE" sz="1400" u="none" strike="noStrike">
                          <a:effectLst/>
                          <a:latin typeface="Fira Sans Light"/>
                        </a:rPr>
                        <a:t>451</a:t>
                      </a:r>
                      <a:r>
                        <a:rPr lang="en-GB" sz="1400" u="none" strike="noStrike">
                          <a:effectLst/>
                          <a:latin typeface="Fira Sans Light"/>
                        </a:rPr>
                        <a:t>,</a:t>
                      </a:r>
                      <a:r>
                        <a:rPr lang="en-DE" sz="1400" u="none" strike="noStrike">
                          <a:effectLst/>
                          <a:latin typeface="Fira Sans Light"/>
                        </a:rPr>
                        <a:t>571</a:t>
                      </a:r>
                      <a:endParaRPr lang="en-US" sz="1400" u="none" strike="noStrike">
                        <a:solidFill>
                          <a:srgbClr val="000000"/>
                        </a:solidFill>
                        <a:effectLst/>
                        <a:latin typeface="Fira Sans Light"/>
                      </a:endParaRPr>
                    </a:p>
                  </a:txBody>
                  <a:tcPr marL="0" marR="0" marT="0" marB="0" anchor="b"/>
                </a:tc>
                <a:tc>
                  <a:txBody>
                    <a:bodyPr/>
                    <a:lstStyle/>
                    <a:p>
                      <a:pPr algn="ctr" fontAlgn="b">
                        <a:buNone/>
                      </a:pPr>
                      <a:r>
                        <a:rPr lang="en-DE" sz="1400" u="none" strike="noStrike">
                          <a:effectLst/>
                          <a:latin typeface="Fira Sans Light"/>
                        </a:rPr>
                        <a:t>5</a:t>
                      </a: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£290</a:t>
                      </a:r>
                      <a:r>
                        <a:rPr lang="en-GB" sz="1400" u="none" strike="noStrike">
                          <a:effectLst/>
                          <a:latin typeface="Fira Sans Light"/>
                        </a:rPr>
                        <a:t>,</a:t>
                      </a:r>
                      <a:r>
                        <a:rPr lang="en-DE" sz="1400" u="none" strike="noStrike">
                          <a:effectLst/>
                          <a:latin typeface="Fira Sans Light"/>
                        </a:rPr>
                        <a:t>314</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857807296"/>
                  </a:ext>
                </a:extLst>
              </a:tr>
              <a:tr h="345789">
                <a:tc>
                  <a:txBody>
                    <a:bodyPr/>
                    <a:lstStyle/>
                    <a:p>
                      <a:pPr algn="l" fontAlgn="b">
                        <a:buNone/>
                      </a:pPr>
                      <a:r>
                        <a:rPr lang="en-GB" sz="1400" u="none" strike="noStrike">
                          <a:effectLst/>
                          <a:highlight>
                            <a:srgbClr val="FFFF00"/>
                          </a:highlight>
                          <a:latin typeface="Fira Sans Light"/>
                        </a:rPr>
                        <a:t>Compute &amp; Storage</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l" fontAlgn="b">
                        <a:buNone/>
                      </a:pPr>
                      <a:r>
                        <a:rPr lang="en-GB" sz="1400" u="none" strike="noStrike">
                          <a:effectLst/>
                          <a:highlight>
                            <a:srgbClr val="FFFF00"/>
                          </a:highlight>
                          <a:latin typeface="Fira Sans Light"/>
                        </a:rPr>
                        <a:t>Virtualization</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l" fontAlgn="b">
                        <a:buNone/>
                      </a:pPr>
                      <a:r>
                        <a:rPr lang="en-GB" sz="1400" u="none" strike="noStrike">
                          <a:effectLst/>
                          <a:highlight>
                            <a:srgbClr val="FFFF00"/>
                          </a:highlight>
                          <a:latin typeface="Fira Sans Light"/>
                        </a:rPr>
                        <a:t>VMware licensing (vSphere/vCenter/vSAN)</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l" fontAlgn="b">
                        <a:buNone/>
                      </a:pPr>
                      <a:r>
                        <a:rPr lang="en-GB" sz="1400" u="none" strike="noStrike">
                          <a:effectLst/>
                          <a:highlight>
                            <a:srgbClr val="FFFF00"/>
                          </a:highlight>
                          <a:latin typeface="Fira Sans Light"/>
                        </a:rPr>
                        <a:t>Include vSphere, vCenter, vSAN (if applicable)</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l" fontAlgn="b">
                        <a:buNone/>
                      </a:pPr>
                      <a:r>
                        <a:rPr lang="en-GB" sz="1400" u="none" strike="noStrike">
                          <a:effectLst/>
                          <a:highlight>
                            <a:srgbClr val="FFFF00"/>
                          </a:highlight>
                          <a:latin typeface="Fira Sans Light"/>
                        </a:rPr>
                        <a:t>VMware</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l" fontAlgn="b">
                        <a:buNone/>
                      </a:pPr>
                      <a:r>
                        <a:rPr lang="en-GB" sz="1400" u="none" strike="noStrike">
                          <a:effectLst/>
                          <a:highlight>
                            <a:srgbClr val="FFFF00"/>
                          </a:highlight>
                          <a:latin typeface="Fira Sans Light"/>
                        </a:rPr>
                        <a:t>TBD</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ctr" fontAlgn="b">
                        <a:buNone/>
                      </a:pPr>
                      <a:r>
                        <a:rPr lang="en-GB" sz="1400" u="none" strike="noStrike">
                          <a:effectLst/>
                          <a:highlight>
                            <a:srgbClr val="FFFF00"/>
                          </a:highlight>
                          <a:latin typeface="Fira Sans Light"/>
                        </a:rPr>
                        <a:t>Opex</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ctr" fontAlgn="b">
                        <a:buNone/>
                      </a:pPr>
                      <a:r>
                        <a:rPr lang="en-GB" sz="1400" u="none" strike="noStrike">
                          <a:effectLst/>
                          <a:highlight>
                            <a:srgbClr val="FFFF00"/>
                          </a:highlight>
                          <a:latin typeface="Fira Sans Light"/>
                        </a:rPr>
                        <a:t>Annual</a:t>
                      </a:r>
                      <a:endParaRPr lang="en-GB" sz="1400" u="none" strike="noStrike">
                        <a:solidFill>
                          <a:srgbClr val="000000"/>
                        </a:solidFill>
                        <a:effectLst/>
                        <a:highlight>
                          <a:srgbClr val="FFFF00"/>
                        </a:highlight>
                        <a:latin typeface="Fira Sans Light"/>
                      </a:endParaRPr>
                    </a:p>
                  </a:txBody>
                  <a:tcPr marL="0" marR="0" marT="0" marB="0" anchor="b"/>
                </a:tc>
                <a:tc>
                  <a:txBody>
                    <a:bodyPr/>
                    <a:lstStyle/>
                    <a:p>
                      <a:pPr algn="r" fontAlgn="b">
                        <a:buNone/>
                      </a:pPr>
                      <a:r>
                        <a:rPr lang="en-DE" sz="1400" u="none" strike="noStrike">
                          <a:effectLst/>
                          <a:highlight>
                            <a:srgbClr val="FFFF00"/>
                          </a:highlight>
                          <a:latin typeface="Fira Sans Light"/>
                        </a:rPr>
                        <a:t>£0</a:t>
                      </a:r>
                      <a:endParaRPr lang="en-US" sz="1400" u="none" strike="noStrike">
                        <a:solidFill>
                          <a:srgbClr val="000000"/>
                        </a:solidFill>
                        <a:effectLst/>
                        <a:highlight>
                          <a:srgbClr val="FFFF00"/>
                        </a:highlight>
                        <a:latin typeface="Fira Sans Light"/>
                      </a:endParaRPr>
                    </a:p>
                  </a:txBody>
                  <a:tcPr marL="0" marR="0" marT="0" marB="0" anchor="b"/>
                </a:tc>
                <a:tc>
                  <a:txBody>
                    <a:bodyPr/>
                    <a:lstStyle/>
                    <a:p>
                      <a:pPr algn="ctr" fontAlgn="b">
                        <a:buNone/>
                      </a:pPr>
                      <a:endParaRPr lang="en-US" sz="1400" u="none" strike="noStrike">
                        <a:solidFill>
                          <a:srgbClr val="000000"/>
                        </a:solidFill>
                        <a:effectLst/>
                        <a:highlight>
                          <a:srgbClr val="FFFF00"/>
                        </a:highlight>
                        <a:latin typeface="Fira Sans Light"/>
                      </a:endParaRPr>
                    </a:p>
                  </a:txBody>
                  <a:tcPr marL="0" marR="0" marT="0" marB="0" anchor="b"/>
                </a:tc>
                <a:tc>
                  <a:txBody>
                    <a:bodyPr/>
                    <a:lstStyle/>
                    <a:p>
                      <a:pPr algn="r" fontAlgn="b">
                        <a:buNone/>
                      </a:pPr>
                      <a:r>
                        <a:rPr lang="en-DE" sz="1400" u="none" strike="noStrike">
                          <a:effectLst/>
                          <a:highlight>
                            <a:srgbClr val="FFFF00"/>
                          </a:highlight>
                          <a:latin typeface="Fira Sans Light"/>
                        </a:rPr>
                        <a:t>£0</a:t>
                      </a:r>
                      <a:endParaRPr lang="en-US" sz="1400" u="none" strike="noStrike">
                        <a:solidFill>
                          <a:srgbClr val="000000"/>
                        </a:solidFill>
                        <a:effectLst/>
                        <a:highlight>
                          <a:srgbClr val="FFFF00"/>
                        </a:highlight>
                        <a:latin typeface="Fira Sans Light"/>
                      </a:endParaRPr>
                    </a:p>
                  </a:txBody>
                  <a:tcPr marL="0" marR="0" marT="0" marB="0" anchor="b"/>
                </a:tc>
                <a:extLst>
                  <a:ext uri="{0D108BD9-81ED-4DB2-BD59-A6C34878D82A}">
                    <a16:rowId xmlns:a16="http://schemas.microsoft.com/office/drawing/2014/main" val="3317914946"/>
                  </a:ext>
                </a:extLst>
              </a:tr>
              <a:tr h="773907">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Operating System</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Windows Server licenses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Windows Server licensing for on-prem infrastructure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Microsoft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Software Assurance / BYOL 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£136</a:t>
                      </a:r>
                      <a:r>
                        <a:rPr lang="en-GB" sz="1400" u="none" strike="noStrike">
                          <a:effectLst/>
                          <a:latin typeface="Fira Sans Light"/>
                        </a:rPr>
                        <a:t>,</a:t>
                      </a:r>
                      <a:r>
                        <a:rPr lang="en-DE" sz="1400" u="none" strike="noStrike">
                          <a:effectLst/>
                          <a:latin typeface="Fira Sans Light"/>
                        </a:rPr>
                        <a:t>825</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£136</a:t>
                      </a:r>
                      <a:r>
                        <a:rPr lang="en-GB" sz="1400" u="none" strike="noStrike">
                          <a:effectLst/>
                          <a:latin typeface="Fira Sans Light"/>
                        </a:rPr>
                        <a:t>,</a:t>
                      </a:r>
                      <a:r>
                        <a:rPr lang="en-DE" sz="1400" u="none" strike="noStrike">
                          <a:effectLst/>
                          <a:latin typeface="Fira Sans Light"/>
                        </a:rPr>
                        <a:t>825</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247274452"/>
                  </a:ext>
                </a:extLst>
              </a:tr>
              <a:tr h="510450">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Operating System</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Linux (RHEL/SUSE) licenses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If applicable: RHEL/SUSE subscriptions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Red Hat/SUSE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BYOL not typical</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£71</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£71</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684986744"/>
                  </a:ext>
                </a:extLst>
              </a:tr>
              <a:tr h="345789">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Operating System</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Ubuntu patching /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Landscape/Ubuntu support and patching tools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Canonical/TBD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879391118"/>
                  </a:ext>
                </a:extLst>
              </a:tr>
              <a:tr h="510450">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Database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SQL Server licenses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SQL Server licensing (core/CAL as applicable)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Microsoft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SA / BYOL 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£118</a:t>
                      </a:r>
                      <a:r>
                        <a:rPr lang="en-GB" sz="1400" u="none" strike="noStrike">
                          <a:effectLst/>
                          <a:latin typeface="Fira Sans Light"/>
                        </a:rPr>
                        <a:t>,</a:t>
                      </a:r>
                      <a:r>
                        <a:rPr lang="en-DE" sz="1400" u="none" strike="noStrike">
                          <a:effectLst/>
                          <a:latin typeface="Fira Sans Light"/>
                        </a:rPr>
                        <a:t>968</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£118</a:t>
                      </a:r>
                      <a:r>
                        <a:rPr lang="en-GB" sz="1400" u="none" strike="noStrike">
                          <a:effectLst/>
                          <a:latin typeface="Fira Sans Light"/>
                        </a:rPr>
                        <a:t>,</a:t>
                      </a:r>
                      <a:r>
                        <a:rPr lang="en-DE" sz="1400" u="none" strike="noStrike">
                          <a:effectLst/>
                          <a:latin typeface="Fira Sans Light"/>
                        </a:rPr>
                        <a:t>968</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3062499836"/>
                  </a:ext>
                </a:extLst>
              </a:tr>
              <a:tr h="510450">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Database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Oracle Support/Maintenance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Per-core/per-socket details help</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Oracle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BYOL terms 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£650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£650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11089710"/>
                  </a:ext>
                </a:extLst>
              </a:tr>
              <a:tr h="263457">
                <a:tc>
                  <a:txBody>
                    <a:bodyPr/>
                    <a:lstStyle/>
                    <a:p>
                      <a:pPr algn="l" fontAlgn="b">
                        <a:buNone/>
                      </a:pPr>
                      <a:r>
                        <a:rPr lang="en-GB" sz="1400" u="none" strike="noStrike">
                          <a:effectLst/>
                          <a:latin typeface="Fira Sans Light"/>
                        </a:rPr>
                        <a:t>Operations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Database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Database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NCS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NCS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£568</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£568</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515972946"/>
                  </a:ext>
                </a:extLst>
              </a:tr>
              <a:tr h="345789">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Database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MySQL Enterprise /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MySQL enterprise subscription/support if used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MySQL</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BYOL 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3449498065"/>
                  </a:ext>
                </a:extLst>
              </a:tr>
              <a:tr h="510450">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Security / Other</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Tenable / Guardicore (if applicable)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Any other commercial software tied to infrastructure - Per Server!</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Tenable/Guardicore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Portability 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£443</a:t>
                      </a:r>
                      <a:r>
                        <a:rPr lang="en-GB" sz="1400" u="none" strike="noStrike">
                          <a:effectLst/>
                          <a:latin typeface="Fira Sans Light"/>
                        </a:rPr>
                        <a:t>,</a:t>
                      </a:r>
                      <a:r>
                        <a:rPr lang="en-DE" sz="1400" u="none" strike="noStrike">
                          <a:effectLst/>
                          <a:latin typeface="Fira Sans Light"/>
                        </a:rPr>
                        <a:t>888</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£443</a:t>
                      </a:r>
                      <a:r>
                        <a:rPr lang="en-GB" sz="1400" u="none" strike="noStrike">
                          <a:effectLst/>
                          <a:latin typeface="Fira Sans Light"/>
                        </a:rPr>
                        <a:t>,</a:t>
                      </a:r>
                      <a:r>
                        <a:rPr lang="en-DE" sz="1400" u="none" strike="noStrike">
                          <a:effectLst/>
                          <a:latin typeface="Fira Sans Light"/>
                        </a:rPr>
                        <a:t>888</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662881892"/>
                  </a:ext>
                </a:extLst>
              </a:tr>
              <a:tr h="345789">
                <a:tc>
                  <a:txBody>
                    <a:bodyPr/>
                    <a:lstStyle/>
                    <a:p>
                      <a:pPr algn="l" fontAlgn="b">
                        <a:buNone/>
                      </a:pPr>
                      <a:r>
                        <a:rPr lang="en-GB" sz="1400" u="none" strike="noStrike">
                          <a:effectLst/>
                          <a:latin typeface="Fira Sans Light"/>
                        </a:rPr>
                        <a:t>Software Licensing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Other</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Other commercial infra software (none yet)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Placeholder for any additional commercial infra software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l" fontAlgn="b">
                        <a:buNone/>
                      </a:pP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997611663"/>
                  </a:ext>
                </a:extLst>
              </a:tr>
              <a:tr h="345789">
                <a:tc>
                  <a:txBody>
                    <a:bodyPr/>
                    <a:lstStyle/>
                    <a:p>
                      <a:pPr algn="l" fontAlgn="b">
                        <a:buNone/>
                      </a:pPr>
                      <a:r>
                        <a:rPr lang="en-GB" sz="1400" u="none" strike="noStrike">
                          <a:effectLst/>
                          <a:latin typeface="Fira Sans Light"/>
                        </a:rPr>
                        <a:t>Facilities &amp; 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 costs - Reading</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Power, cooling, rack space; per site if different (MOL vs ANL)</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Centre Square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£386</a:t>
                      </a:r>
                      <a:r>
                        <a:rPr lang="en-GB" sz="1400" u="none" strike="noStrike">
                          <a:effectLst/>
                          <a:latin typeface="Fira Sans Light"/>
                        </a:rPr>
                        <a:t>,</a:t>
                      </a:r>
                      <a:r>
                        <a:rPr lang="en-DE" sz="1400" u="none" strike="noStrike">
                          <a:effectLst/>
                          <a:latin typeface="Fira Sans Light"/>
                        </a:rPr>
                        <a:t>400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£386</a:t>
                      </a:r>
                      <a:r>
                        <a:rPr lang="en-GB" sz="1400" u="none" strike="noStrike">
                          <a:effectLst/>
                          <a:latin typeface="Fira Sans Light"/>
                        </a:rPr>
                        <a:t>,</a:t>
                      </a:r>
                      <a:r>
                        <a:rPr lang="en-DE" sz="1400" u="none" strike="noStrike">
                          <a:effectLst/>
                          <a:latin typeface="Fira Sans Light"/>
                        </a:rPr>
                        <a:t>400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520657974"/>
                  </a:ext>
                </a:extLst>
              </a:tr>
              <a:tr h="345789">
                <a:tc>
                  <a:txBody>
                    <a:bodyPr/>
                    <a:lstStyle/>
                    <a:p>
                      <a:pPr algn="l" fontAlgn="b">
                        <a:buNone/>
                      </a:pPr>
                      <a:r>
                        <a:rPr lang="en-GB" sz="1400" u="none" strike="noStrike">
                          <a:effectLst/>
                          <a:latin typeface="Fira Sans Light"/>
                        </a:rPr>
                        <a:t>Facilities &amp; 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 costs - Slough</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Power, cooling, rack space; per site if different (MOL vs ANL)</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Digital Realty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£338</a:t>
                      </a:r>
                      <a:r>
                        <a:rPr lang="en-GB" sz="1400" u="none" strike="noStrike">
                          <a:effectLst/>
                          <a:latin typeface="Fira Sans Light"/>
                        </a:rPr>
                        <a:t>,</a:t>
                      </a:r>
                      <a:r>
                        <a:rPr lang="en-DE" sz="1400" u="none" strike="noStrike">
                          <a:effectLst/>
                          <a:latin typeface="Fira Sans Light"/>
                        </a:rPr>
                        <a:t>300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£338</a:t>
                      </a:r>
                      <a:r>
                        <a:rPr lang="en-GB" sz="1400" u="none" strike="noStrike">
                          <a:effectLst/>
                          <a:latin typeface="Fira Sans Light"/>
                        </a:rPr>
                        <a:t>,</a:t>
                      </a:r>
                      <a:r>
                        <a:rPr lang="en-DE" sz="1400" u="none" strike="noStrike">
                          <a:effectLst/>
                          <a:latin typeface="Fira Sans Light"/>
                        </a:rPr>
                        <a:t>300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572463881"/>
                  </a:ext>
                </a:extLst>
              </a:tr>
              <a:tr h="345789">
                <a:tc>
                  <a:txBody>
                    <a:bodyPr/>
                    <a:lstStyle/>
                    <a:p>
                      <a:pPr algn="l" fontAlgn="b">
                        <a:buNone/>
                      </a:pPr>
                      <a:r>
                        <a:rPr lang="en-GB" sz="1400" u="none" strike="noStrike">
                          <a:effectLst/>
                          <a:latin typeface="Fira Sans Light"/>
                        </a:rPr>
                        <a:t>Facilities &amp; 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Colocation / facility costs - Sydney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Power, cooling, rack space; per site if different (MOL vs ANL)</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Equinix</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£40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£40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592042041"/>
                  </a:ext>
                </a:extLst>
              </a:tr>
              <a:tr h="345789">
                <a:tc>
                  <a:txBody>
                    <a:bodyPr/>
                    <a:lstStyle/>
                    <a:p>
                      <a:pPr algn="l" fontAlgn="b">
                        <a:buNone/>
                      </a:pPr>
                      <a:r>
                        <a:rPr lang="en-GB" sz="1400" u="none" strike="noStrike">
                          <a:effectLst/>
                          <a:latin typeface="Fira Sans Light"/>
                        </a:rPr>
                        <a:t>Facilities &amp; 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Interconnect between sites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Bandwidth / interconnect costs between sites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Monthly</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a:t>
                      </a:r>
                      <a:r>
                        <a:rPr lang="en-GB" sz="1400" u="none" strike="noStrike">
                          <a:effectLst/>
                          <a:latin typeface="Fira Sans Light"/>
                        </a:rPr>
                        <a:t>,</a:t>
                      </a:r>
                      <a:r>
                        <a:rPr lang="en-DE" sz="1400" u="none" strike="noStrike">
                          <a:effectLst/>
                          <a:latin typeface="Fira Sans Light"/>
                        </a:rPr>
                        <a:t>600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£19</a:t>
                      </a:r>
                      <a:r>
                        <a:rPr lang="en-GB" sz="1400" u="none" strike="noStrike">
                          <a:effectLst/>
                          <a:latin typeface="Fira Sans Light"/>
                        </a:rPr>
                        <a:t>,</a:t>
                      </a:r>
                      <a:r>
                        <a:rPr lang="en-DE" sz="1400" u="none" strike="noStrike">
                          <a:effectLst/>
                          <a:latin typeface="Fira Sans Light"/>
                        </a:rPr>
                        <a:t>200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060799528"/>
                  </a:ext>
                </a:extLst>
              </a:tr>
              <a:tr h="345789">
                <a:tc>
                  <a:txBody>
                    <a:bodyPr/>
                    <a:lstStyle/>
                    <a:p>
                      <a:pPr algn="l" fontAlgn="b">
                        <a:buNone/>
                      </a:pPr>
                      <a:r>
                        <a:rPr lang="en-GB" sz="1400" u="none" strike="noStrike">
                          <a:effectLst/>
                          <a:latin typeface="Fira Sans Light"/>
                        </a:rPr>
                        <a:t>Facilities &amp; Network</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Internet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WAN/Internet egress costs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Internet connectivity (egress) costs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ISP/TBD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Monthly</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£8</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£96</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3942320371"/>
                  </a:ext>
                </a:extLst>
              </a:tr>
              <a:tr h="263457">
                <a:tc>
                  <a:txBody>
                    <a:bodyPr/>
                    <a:lstStyle/>
                    <a:p>
                      <a:pPr algn="l" fontAlgn="b">
                        <a:buNone/>
                      </a:pPr>
                      <a:r>
                        <a:rPr lang="en-GB" sz="1400" u="none" strike="noStrike">
                          <a:effectLst/>
                          <a:latin typeface="Fira Sans Light"/>
                        </a:rPr>
                        <a:t>Operations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Vendor 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Vendor support contracts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All vendor support contracts for infra</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052647517"/>
                  </a:ext>
                </a:extLst>
              </a:tr>
              <a:tr h="345789">
                <a:tc>
                  <a:txBody>
                    <a:bodyPr/>
                    <a:lstStyle/>
                    <a:p>
                      <a:pPr algn="l" fontAlgn="b">
                        <a:buNone/>
                      </a:pPr>
                      <a:r>
                        <a:rPr lang="en-GB" sz="1400" u="none" strike="noStrike">
                          <a:effectLst/>
                          <a:latin typeface="Fira Sans Light"/>
                        </a:rPr>
                        <a:t>Operations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People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Infra management FTE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IT staff dedicated to physical infra management (approx FTE)</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Internal</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£100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£100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1369484980"/>
                  </a:ext>
                </a:extLst>
              </a:tr>
              <a:tr h="510450">
                <a:tc>
                  <a:txBody>
                    <a:bodyPr/>
                    <a:lstStyle/>
                    <a:p>
                      <a:pPr algn="l" fontAlgn="b">
                        <a:buNone/>
                      </a:pPr>
                      <a:r>
                        <a:rPr lang="en-GB" sz="1400" u="none" strike="noStrike">
                          <a:effectLst/>
                          <a:latin typeface="Fira Sans Light"/>
                        </a:rPr>
                        <a:t>Contracts &amp; Commitments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Lock-ins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Existing contract lock-ins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VMware EA, hardware leases, colo agreements and end dates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858471873"/>
                  </a:ext>
                </a:extLst>
              </a:tr>
              <a:tr h="510450">
                <a:tc>
                  <a:txBody>
                    <a:bodyPr/>
                    <a:lstStyle/>
                    <a:p>
                      <a:pPr algn="l" fontAlgn="b">
                        <a:buNone/>
                      </a:pPr>
                      <a:r>
                        <a:rPr lang="en-GB" sz="1400" u="none" strike="noStrike">
                          <a:effectLst/>
                          <a:latin typeface="Fira Sans Light"/>
                        </a:rPr>
                        <a:t>Contracts &amp; Commitments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Refresh</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Planned hardware refreshes (next 12-24 months)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Planned capex refreshes in next  12-24 months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N/A</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Capex</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£200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l" fontAlgn="b">
                        <a:buNone/>
                      </a:pP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4091239466"/>
                  </a:ext>
                </a:extLst>
              </a:tr>
              <a:tr h="773907">
                <a:tc>
                  <a:txBody>
                    <a:bodyPr/>
                    <a:lstStyle/>
                    <a:p>
                      <a:pPr algn="l" fontAlgn="b">
                        <a:buNone/>
                      </a:pPr>
                      <a:r>
                        <a:rPr lang="en-GB" sz="1400" u="none" strike="noStrike">
                          <a:effectLst/>
                          <a:latin typeface="Fira Sans Light"/>
                        </a:rPr>
                        <a:t>Contracts &amp; Commitments</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Support</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Microsoft Support (MS Family)</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Support that may need replacing if moving from MS EA</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Bluesource (Accredited Partner)</a:t>
                      </a:r>
                      <a:endParaRPr lang="en-GB" sz="1400" u="none" strike="noStrike">
                        <a:solidFill>
                          <a:srgbClr val="000000"/>
                        </a:solidFill>
                        <a:effectLst/>
                        <a:latin typeface="Fira Sans Light"/>
                      </a:endParaRPr>
                    </a:p>
                  </a:txBody>
                  <a:tcPr marL="0" marR="0" marT="0" marB="0" anchor="b"/>
                </a:tc>
                <a:tc>
                  <a:txBody>
                    <a:bodyPr/>
                    <a:lstStyle/>
                    <a:p>
                      <a:pPr algn="l" fontAlgn="b">
                        <a:buNone/>
                      </a:pPr>
                      <a:r>
                        <a:rPr lang="en-GB" sz="1400" u="none" strike="noStrike">
                          <a:effectLst/>
                          <a:latin typeface="Fira Sans Light"/>
                        </a:rPr>
                        <a:t>TBD</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Opex</a:t>
                      </a:r>
                      <a:endParaRPr lang="en-GB" sz="1400" u="none" strike="noStrike">
                        <a:solidFill>
                          <a:srgbClr val="000000"/>
                        </a:solidFill>
                        <a:effectLst/>
                        <a:latin typeface="Fira Sans Light"/>
                      </a:endParaRPr>
                    </a:p>
                  </a:txBody>
                  <a:tcPr marL="0" marR="0" marT="0" marB="0" anchor="b"/>
                </a:tc>
                <a:tc>
                  <a:txBody>
                    <a:bodyPr/>
                    <a:lstStyle/>
                    <a:p>
                      <a:pPr algn="ctr" fontAlgn="b">
                        <a:buNone/>
                      </a:pPr>
                      <a:r>
                        <a:rPr lang="en-GB" sz="1400" u="none" strike="noStrike">
                          <a:effectLst/>
                          <a:latin typeface="Fira Sans Light"/>
                        </a:rPr>
                        <a:t>Annual</a:t>
                      </a:r>
                      <a:endParaRPr lang="en-GB"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£80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tc>
                  <a:txBody>
                    <a:bodyPr/>
                    <a:lstStyle/>
                    <a:p>
                      <a:pPr algn="ctr" fontAlgn="b">
                        <a:buNone/>
                      </a:pPr>
                      <a:endParaRPr lang="en-US" sz="1400" u="none" strike="noStrike">
                        <a:solidFill>
                          <a:srgbClr val="000000"/>
                        </a:solidFill>
                        <a:effectLst/>
                        <a:latin typeface="Fira Sans Light"/>
                      </a:endParaRPr>
                    </a:p>
                  </a:txBody>
                  <a:tcPr marL="0" marR="0" marT="0" marB="0" anchor="b"/>
                </a:tc>
                <a:tc>
                  <a:txBody>
                    <a:bodyPr/>
                    <a:lstStyle/>
                    <a:p>
                      <a:pPr algn="r" fontAlgn="b">
                        <a:buNone/>
                      </a:pPr>
                      <a:r>
                        <a:rPr lang="en-DE" sz="1400" u="none" strike="noStrike">
                          <a:effectLst/>
                          <a:latin typeface="Fira Sans Light"/>
                        </a:rPr>
                        <a:t>£80</a:t>
                      </a:r>
                      <a:r>
                        <a:rPr lang="en-GB" sz="1400" u="none" strike="noStrike">
                          <a:effectLst/>
                          <a:latin typeface="Fira Sans Light"/>
                        </a:rPr>
                        <a:t>,</a:t>
                      </a:r>
                      <a:r>
                        <a:rPr lang="en-DE" sz="1400" u="none" strike="noStrike">
                          <a:effectLst/>
                          <a:latin typeface="Fira Sans Light"/>
                        </a:rPr>
                        <a:t>000</a:t>
                      </a:r>
                      <a:endParaRPr lang="en-US" sz="1400" u="none" strike="noStrike">
                        <a:solidFill>
                          <a:srgbClr val="000000"/>
                        </a:solidFill>
                        <a:effectLst/>
                        <a:latin typeface="Fira Sans Light"/>
                      </a:endParaRPr>
                    </a:p>
                  </a:txBody>
                  <a:tcPr marL="0" marR="0" marT="0" marB="0" anchor="b"/>
                </a:tc>
                <a:extLst>
                  <a:ext uri="{0D108BD9-81ED-4DB2-BD59-A6C34878D82A}">
                    <a16:rowId xmlns:a16="http://schemas.microsoft.com/office/drawing/2014/main" val="2463081317"/>
                  </a:ext>
                </a:extLst>
              </a:tr>
              <a:tr h="559848">
                <a:tc>
                  <a:txBody>
                    <a:bodyPr/>
                    <a:lstStyle/>
                    <a:p>
                      <a:pPr algn="l" fontAlgn="b">
                        <a:buNone/>
                      </a:pPr>
                      <a:r>
                        <a:rPr lang="en-GB" sz="1800" b="1" u="none" strike="noStrike">
                          <a:effectLst/>
                          <a:latin typeface="Fira Sans Light"/>
                        </a:rPr>
                        <a:t>Total</a:t>
                      </a:r>
                      <a:endParaRPr lang="en-GB"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p>
                      <a:pPr algn="l" fontAlgn="b">
                        <a:buNone/>
                      </a:pPr>
                      <a:endParaRPr lang="en-DE"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p>
                      <a:pPr algn="l" fontAlgn="b">
                        <a:buNone/>
                      </a:pPr>
                      <a:endParaRPr lang="en-DE"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p>
                      <a:pPr algn="l" fontAlgn="b">
                        <a:buNone/>
                      </a:pPr>
                      <a:endParaRPr lang="en-DE" sz="1800" b="1" u="none" strike="noStrike">
                        <a:solidFill>
                          <a:srgbClr val="FFFFFF"/>
                        </a:solidFill>
                        <a:effectLst/>
                        <a:latin typeface="Fira Sans Light"/>
                      </a:endParaRPr>
                    </a:p>
                  </a:txBody>
                  <a:tcPr marL="0" marR="0" marT="0" marB="0" anchor="b"/>
                </a:tc>
                <a:tc>
                  <a:txBody>
                    <a:bodyPr/>
                    <a:lstStyle/>
                    <a:p>
                      <a:pPr algn="l" fontAlgn="b">
                        <a:buNone/>
                      </a:pPr>
                      <a:endParaRPr lang="en-US" sz="1800" b="1" u="none" strike="noStrike">
                        <a:solidFill>
                          <a:srgbClr val="FFFFFF"/>
                        </a:solidFill>
                        <a:effectLst/>
                        <a:latin typeface="Fira Sans Light"/>
                      </a:endParaRPr>
                    </a:p>
                    <a:p>
                      <a:pPr algn="l" fontAlgn="b">
                        <a:buNone/>
                      </a:pPr>
                      <a:endParaRPr lang="en-DE" sz="1800" b="1" u="none" strike="noStrike">
                        <a:solidFill>
                          <a:srgbClr val="FFFFFF"/>
                        </a:solidFill>
                        <a:effectLst/>
                        <a:latin typeface="Fira Sans Light"/>
                      </a:endParaRPr>
                    </a:p>
                  </a:txBody>
                  <a:tcPr marL="0" marR="0" marT="0" marB="0" anchor="b"/>
                </a:tc>
                <a:tc>
                  <a:txBody>
                    <a:bodyPr/>
                    <a:lstStyle/>
                    <a:p>
                      <a:pPr algn="r" fontAlgn="b">
                        <a:buNone/>
                      </a:pPr>
                      <a:r>
                        <a:rPr lang="en-DE" sz="1800" b="1" u="none" strike="noStrike">
                          <a:effectLst/>
                          <a:latin typeface="Fira Sans Light"/>
                        </a:rPr>
                        <a:t> £ 5</a:t>
                      </a:r>
                      <a:r>
                        <a:rPr lang="en-GB" sz="1800" b="1" u="none" strike="noStrike">
                          <a:effectLst/>
                          <a:latin typeface="Fira Sans Light"/>
                        </a:rPr>
                        <a:t>,</a:t>
                      </a:r>
                      <a:r>
                        <a:rPr lang="en-DE" sz="1800" b="1" u="none" strike="noStrike">
                          <a:effectLst/>
                          <a:latin typeface="Fira Sans Light"/>
                        </a:rPr>
                        <a:t>901</a:t>
                      </a:r>
                      <a:r>
                        <a:rPr lang="en-GB" sz="1800" b="1" u="none" strike="noStrike">
                          <a:effectLst/>
                          <a:latin typeface="Fira Sans Light"/>
                        </a:rPr>
                        <a:t>,</a:t>
                      </a:r>
                      <a:r>
                        <a:rPr lang="en-DE" sz="1800" b="1" u="none" strike="noStrike">
                          <a:effectLst/>
                          <a:latin typeface="Fira Sans Light"/>
                        </a:rPr>
                        <a:t>786 </a:t>
                      </a:r>
                      <a:endParaRPr lang="en-US" sz="1800" b="1" u="none" strike="noStrike">
                        <a:solidFill>
                          <a:srgbClr val="FFFFFF"/>
                        </a:solidFill>
                        <a:effectLst/>
                        <a:latin typeface="Fira Sans Light"/>
                      </a:endParaRPr>
                    </a:p>
                  </a:txBody>
                  <a:tcPr marL="0" marR="0" marT="0" marB="0" anchor="b"/>
                </a:tc>
                <a:tc>
                  <a:txBody>
                    <a:bodyPr/>
                    <a:lstStyle/>
                    <a:p>
                      <a:pPr algn="ctr" fontAlgn="b">
                        <a:buNone/>
                      </a:pPr>
                      <a:endParaRPr lang="en-US" sz="1800" b="1" u="none" strike="noStrike">
                        <a:solidFill>
                          <a:srgbClr val="FFFFFF"/>
                        </a:solidFill>
                        <a:effectLst/>
                        <a:latin typeface="Fira Sans Light"/>
                      </a:endParaRPr>
                    </a:p>
                  </a:txBody>
                  <a:tcPr marL="0" marR="0" marT="0" marB="0" anchor="b"/>
                </a:tc>
                <a:tc>
                  <a:txBody>
                    <a:bodyPr/>
                    <a:lstStyle/>
                    <a:p>
                      <a:pPr algn="r" fontAlgn="b">
                        <a:buNone/>
                      </a:pPr>
                      <a:r>
                        <a:rPr lang="en-DE" sz="1800" b="1" u="none" strike="noStrike">
                          <a:effectLst/>
                          <a:highlight>
                            <a:srgbClr val="FFFF00"/>
                          </a:highlight>
                          <a:latin typeface="Fira Sans Light"/>
                        </a:rPr>
                        <a:t> £ 3</a:t>
                      </a:r>
                      <a:r>
                        <a:rPr lang="en-GB" sz="1800" b="1" u="none" strike="noStrike">
                          <a:effectLst/>
                          <a:highlight>
                            <a:srgbClr val="FFFF00"/>
                          </a:highlight>
                          <a:latin typeface="Fira Sans Light"/>
                        </a:rPr>
                        <a:t>,</a:t>
                      </a:r>
                      <a:r>
                        <a:rPr lang="en-DE" sz="1800" b="1" u="none" strike="noStrike">
                          <a:effectLst/>
                          <a:highlight>
                            <a:srgbClr val="FFFF00"/>
                          </a:highlight>
                          <a:latin typeface="Fira Sans Light"/>
                        </a:rPr>
                        <a:t>636</a:t>
                      </a:r>
                      <a:r>
                        <a:rPr lang="en-GB" sz="1800" b="1" u="none" strike="noStrike">
                          <a:effectLst/>
                          <a:highlight>
                            <a:srgbClr val="FFFF00"/>
                          </a:highlight>
                          <a:latin typeface="Fira Sans Light"/>
                        </a:rPr>
                        <a:t>,</a:t>
                      </a:r>
                      <a:r>
                        <a:rPr lang="en-DE" sz="1800" b="1" u="none" strike="noStrike">
                          <a:effectLst/>
                          <a:highlight>
                            <a:srgbClr val="FFFF00"/>
                          </a:highlight>
                          <a:latin typeface="Fira Sans Light"/>
                        </a:rPr>
                        <a:t>342 </a:t>
                      </a:r>
                      <a:endParaRPr lang="en-US" sz="1800" b="1" u="none" strike="noStrike">
                        <a:solidFill>
                          <a:srgbClr val="FFFFFF"/>
                        </a:solidFill>
                        <a:effectLst/>
                        <a:highlight>
                          <a:srgbClr val="FFFF00"/>
                        </a:highlight>
                        <a:latin typeface="Fira Sans Light"/>
                      </a:endParaRPr>
                    </a:p>
                  </a:txBody>
                  <a:tcPr marL="0" marR="0" marT="0" marB="0" anchor="b"/>
                </a:tc>
                <a:extLst>
                  <a:ext uri="{0D108BD9-81ED-4DB2-BD59-A6C34878D82A}">
                    <a16:rowId xmlns:a16="http://schemas.microsoft.com/office/drawing/2014/main" val="1767475843"/>
                  </a:ext>
                </a:extLst>
              </a:tr>
            </a:tbl>
          </a:graphicData>
        </a:graphic>
      </p:graphicFrame>
    </p:spTree>
    <p:extLst>
      <p:ext uri="{BB962C8B-B14F-4D97-AF65-F5344CB8AC3E}">
        <p14:creationId xmlns:p14="http://schemas.microsoft.com/office/powerpoint/2010/main" val="59129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1E16-B616-7AA1-EAC8-C60A021B76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EED97F-C94A-BF71-E344-D8ED0CAF48C3}"/>
              </a:ext>
            </a:extLst>
          </p:cNvPr>
          <p:cNvSpPr txBox="1"/>
          <p:nvPr/>
        </p:nvSpPr>
        <p:spPr>
          <a:xfrm>
            <a:off x="406009" y="473476"/>
            <a:ext cx="12976629"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DMG – On-Premise Costs Discussion</a:t>
            </a:r>
            <a:endParaRPr lang="en-GB" sz="6200">
              <a:solidFill>
                <a:srgbClr val="FF0000"/>
              </a:solidFill>
              <a:latin typeface="Fira Sans Light" panose="020B0403050000020004" pitchFamily="34" charset="0"/>
            </a:endParaRPr>
          </a:p>
        </p:txBody>
      </p:sp>
      <p:sp>
        <p:nvSpPr>
          <p:cNvPr id="2" name="TextBox 1">
            <a:extLst>
              <a:ext uri="{FF2B5EF4-FFF2-40B4-BE49-F238E27FC236}">
                <a16:creationId xmlns:a16="http://schemas.microsoft.com/office/drawing/2014/main" id="{3D268BF7-5EA0-5DAE-BD29-23FAE4C50889}"/>
              </a:ext>
            </a:extLst>
          </p:cNvPr>
          <p:cNvSpPr txBox="1"/>
          <p:nvPr/>
        </p:nvSpPr>
        <p:spPr>
          <a:xfrm>
            <a:off x="1141611" y="3399462"/>
            <a:ext cx="19989342" cy="5262979"/>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r>
              <a:rPr lang="en-GB" sz="2800">
                <a:latin typeface="Fira Sans" panose="020B0503050000020004" pitchFamily="34" charset="0"/>
              </a:rPr>
              <a:t>On Premise Costs as you shared with us</a:t>
            </a:r>
          </a:p>
          <a:p>
            <a:pPr marL="342900" indent="-342900">
              <a:buFont typeface="Arial" panose="020B0604020202020204" pitchFamily="34" charset="0"/>
              <a:buChar char="•"/>
            </a:pPr>
            <a:r>
              <a:rPr lang="en-GB" sz="2800">
                <a:latin typeface="Fira Sans" panose="020B0503050000020004" pitchFamily="34" charset="0"/>
              </a:rPr>
              <a:t>We didn’t share this with the </a:t>
            </a:r>
            <a:r>
              <a:rPr lang="en-GB" sz="2800" err="1">
                <a:latin typeface="Fira Sans" panose="020B0503050000020004" pitchFamily="34" charset="0"/>
              </a:rPr>
              <a:t>hyperscalers</a:t>
            </a:r>
            <a:endParaRPr lang="en-GB" sz="2800">
              <a:latin typeface="Fira Sans" panose="020B0503050000020004" pitchFamily="34" charset="0"/>
            </a:endParaRPr>
          </a:p>
          <a:p>
            <a:pPr marL="342900" indent="-342900">
              <a:buFont typeface="Arial" panose="020B0604020202020204" pitchFamily="34" charset="0"/>
              <a:buChar char="•"/>
            </a:pPr>
            <a:r>
              <a:rPr lang="en-GB" sz="2800">
                <a:latin typeface="Fira Sans" panose="020B0503050000020004" pitchFamily="34" charset="0"/>
              </a:rPr>
              <a:t>There are still some TBD’s in the list</a:t>
            </a:r>
          </a:p>
          <a:p>
            <a:pPr marL="342900" indent="-342900">
              <a:buFont typeface="Arial" panose="020B0604020202020204" pitchFamily="34" charset="0"/>
              <a:buChar char="•"/>
            </a:pPr>
            <a:r>
              <a:rPr lang="en-GB" sz="2800">
                <a:latin typeface="Fira Sans" panose="020B0503050000020004" pitchFamily="34" charset="0"/>
              </a:rPr>
              <a:t>Missing is some hardware costs that you couldn’t find invoices for</a:t>
            </a:r>
          </a:p>
          <a:p>
            <a:pPr marL="342900" indent="-342900">
              <a:buFont typeface="Arial" panose="020B0604020202020204" pitchFamily="34" charset="0"/>
              <a:buChar char="•"/>
            </a:pPr>
            <a:r>
              <a:rPr lang="en-GB" sz="2800" err="1">
                <a:latin typeface="Fira Sans" panose="020B0503050000020004" pitchFamily="34" charset="0"/>
              </a:rPr>
              <a:t>Vmware</a:t>
            </a:r>
            <a:r>
              <a:rPr lang="en-GB" sz="2800">
                <a:latin typeface="Fira Sans" panose="020B0503050000020004" pitchFamily="34" charset="0"/>
              </a:rPr>
              <a:t> support costs are shown as 0</a:t>
            </a:r>
          </a:p>
          <a:p>
            <a:pPr marL="1257300" lvl="1" indent="-342900">
              <a:buFont typeface="Arial" panose="020B0604020202020204" pitchFamily="34" charset="0"/>
              <a:buChar char="•"/>
            </a:pPr>
            <a:r>
              <a:rPr lang="en-GB" sz="2800">
                <a:latin typeface="Fira Sans" panose="020B0503050000020004" pitchFamily="34" charset="0"/>
              </a:rPr>
              <a:t>DMG bought perpetual licenses, but this doesn’t give you support.</a:t>
            </a:r>
          </a:p>
          <a:p>
            <a:pPr marL="1257300" lvl="1" indent="-342900">
              <a:buFont typeface="Arial" panose="020B0604020202020204" pitchFamily="34" charset="0"/>
              <a:buChar char="•"/>
            </a:pPr>
            <a:r>
              <a:rPr lang="en-GB" sz="2800"/>
              <a:t>Expiring Support and Subscription (</a:t>
            </a:r>
            <a:r>
              <a:rPr lang="en-GB" sz="2800" err="1"/>
              <a:t>SnS</a:t>
            </a:r>
            <a:r>
              <a:rPr lang="en-GB" sz="2800"/>
              <a:t>). Without active </a:t>
            </a:r>
            <a:r>
              <a:rPr lang="en-GB" sz="2800" err="1"/>
              <a:t>SnS</a:t>
            </a:r>
            <a:r>
              <a:rPr lang="en-GB" sz="2800"/>
              <a:t>, there is no access to patches, security updates, or support, and no ability to add new </a:t>
            </a:r>
            <a:r>
              <a:rPr lang="en-GB" sz="2800" err="1"/>
              <a:t>ESXi</a:t>
            </a:r>
            <a:r>
              <a:rPr lang="en-GB" sz="2800"/>
              <a:t> hosts. </a:t>
            </a:r>
            <a:endParaRPr lang="en-GB" sz="2800">
              <a:latin typeface="Fira Sans" panose="020B0503050000020004" pitchFamily="34" charset="0"/>
            </a:endParaRPr>
          </a:p>
          <a:p>
            <a:pPr marL="1257300" lvl="1" indent="-342900">
              <a:buFont typeface="Arial" panose="020B0604020202020204" pitchFamily="34" charset="0"/>
              <a:buChar char="•"/>
            </a:pPr>
            <a:r>
              <a:rPr lang="en-GB" sz="2800">
                <a:latin typeface="Fira Sans" panose="020B0503050000020004" pitchFamily="34" charset="0"/>
              </a:rPr>
              <a:t>Proxmox partially addresses the expansion challenge, but still has no support</a:t>
            </a:r>
          </a:p>
          <a:p>
            <a:pPr marL="1257300" lvl="1" indent="-342900">
              <a:buFont typeface="Arial" panose="020B0604020202020204" pitchFamily="34" charset="0"/>
              <a:buChar char="•"/>
            </a:pPr>
            <a:r>
              <a:rPr lang="en-GB" sz="2800">
                <a:latin typeface="Fira Sans" panose="020B0503050000020004" pitchFamily="34" charset="0"/>
              </a:rPr>
              <a:t>Security risk – </a:t>
            </a:r>
            <a:r>
              <a:rPr lang="en-GB" sz="2800" err="1">
                <a:latin typeface="Fira Sans" panose="020B0503050000020004" pitchFamily="34" charset="0"/>
              </a:rPr>
              <a:t>Mithral</a:t>
            </a:r>
            <a:r>
              <a:rPr lang="en-GB" sz="2800">
                <a:latin typeface="Fira Sans" panose="020B0503050000020004" pitchFamily="34" charset="0"/>
              </a:rPr>
              <a:t> (Anthropic) will find these vulnerabilities</a:t>
            </a:r>
          </a:p>
          <a:p>
            <a:pPr marL="342900" indent="-342900">
              <a:buFont typeface="Arial" panose="020B0604020202020204" pitchFamily="34" charset="0"/>
              <a:buChar char="•"/>
            </a:pPr>
            <a:r>
              <a:rPr lang="en-GB" sz="2800">
                <a:latin typeface="Fira Sans" panose="020B0503050000020004" pitchFamily="34" charset="0"/>
              </a:rPr>
              <a:t>VEEAM costs + network switch costs net to zero .. You will pay these both in cloud and on premise.</a:t>
            </a:r>
          </a:p>
        </p:txBody>
      </p:sp>
      <p:sp>
        <p:nvSpPr>
          <p:cNvPr id="5" name="TextBox 4">
            <a:extLst>
              <a:ext uri="{FF2B5EF4-FFF2-40B4-BE49-F238E27FC236}">
                <a16:creationId xmlns:a16="http://schemas.microsoft.com/office/drawing/2014/main" id="{46473E31-9741-C35E-64B8-A8BE02A38A0F}"/>
              </a:ext>
            </a:extLst>
          </p:cNvPr>
          <p:cNvSpPr txBox="1"/>
          <p:nvPr/>
        </p:nvSpPr>
        <p:spPr>
          <a:xfrm>
            <a:off x="1141611" y="10541987"/>
            <a:ext cx="15967710" cy="954107"/>
          </a:xfrm>
          <a:prstGeom prst="rect">
            <a:avLst/>
          </a:prstGeom>
          <a:noFill/>
        </p:spPr>
        <p:txBody>
          <a:bodyPr wrap="square">
            <a:spAutoFit/>
          </a:bodyPr>
          <a:lstStyle/>
          <a:p>
            <a:r>
              <a:rPr lang="en-GB" sz="2800">
                <a:solidFill>
                  <a:srgbClr val="FF0000"/>
                </a:solidFill>
                <a:latin typeface="Fira Sans" panose="020B0503050000020004" pitchFamily="34" charset="0"/>
              </a:rPr>
              <a:t>Outcome:</a:t>
            </a:r>
          </a:p>
          <a:p>
            <a:r>
              <a:rPr lang="en-GB" sz="2800">
                <a:latin typeface="Fira Sans" panose="020B0503050000020004" pitchFamily="34" charset="0"/>
              </a:rPr>
              <a:t>This is a best case number, reality is that on-prem costs more than this</a:t>
            </a:r>
          </a:p>
        </p:txBody>
      </p:sp>
    </p:spTree>
    <p:extLst>
      <p:ext uri="{BB962C8B-B14F-4D97-AF65-F5344CB8AC3E}">
        <p14:creationId xmlns:p14="http://schemas.microsoft.com/office/powerpoint/2010/main" val="2479156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6434-335C-3241-F512-291243EFDC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A1E31D-4ABA-C2DB-35F8-ACEE819BD521}"/>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36</a:t>
            </a:fld>
            <a:endParaRPr lang="en-GB" noProof="0"/>
          </a:p>
        </p:txBody>
      </p:sp>
      <p:sp>
        <p:nvSpPr>
          <p:cNvPr id="4" name="TextBox 3">
            <a:extLst>
              <a:ext uri="{FF2B5EF4-FFF2-40B4-BE49-F238E27FC236}">
                <a16:creationId xmlns:a16="http://schemas.microsoft.com/office/drawing/2014/main" id="{D88C413E-0629-D710-22BE-828ABD1A41F8}"/>
              </a:ext>
            </a:extLst>
          </p:cNvPr>
          <p:cNvSpPr txBox="1"/>
          <p:nvPr/>
        </p:nvSpPr>
        <p:spPr>
          <a:xfrm>
            <a:off x="406009" y="473476"/>
            <a:ext cx="7842211"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Hyperscaler Offerings</a:t>
            </a:r>
            <a:endParaRPr lang="en-GB" sz="620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79F4CFD7-B204-5240-7756-C6AC34F26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2183" y="10912408"/>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2C6B9788-9302-00E2-D458-FC8EF1D06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2183" y="3828343"/>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7A145B94-D257-70F7-9930-826BDCCF7E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0185" y="6819136"/>
            <a:ext cx="1366355" cy="136635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urple table with white text&#10;&#10;AI-generated content may be incorrect.">
            <a:extLst>
              <a:ext uri="{FF2B5EF4-FFF2-40B4-BE49-F238E27FC236}">
                <a16:creationId xmlns:a16="http://schemas.microsoft.com/office/drawing/2014/main" id="{DA6421BC-2F82-2128-97D3-84DC3A147F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1391" y="10105551"/>
            <a:ext cx="8526384" cy="2633982"/>
          </a:xfrm>
          <a:prstGeom prst="rect">
            <a:avLst/>
          </a:prstGeom>
        </p:spPr>
      </p:pic>
      <p:pic>
        <p:nvPicPr>
          <p:cNvPr id="15" name="Picture 14" descr="A table with numbers and numbers&#10;&#10;AI-generated content may be incorrect.">
            <a:extLst>
              <a:ext uri="{FF2B5EF4-FFF2-40B4-BE49-F238E27FC236}">
                <a16:creationId xmlns:a16="http://schemas.microsoft.com/office/drawing/2014/main" id="{09FBF621-0746-1F50-D2C9-9E52A90CC3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94398" y="6032946"/>
            <a:ext cx="11692163" cy="3300086"/>
          </a:xfrm>
          <a:prstGeom prst="rect">
            <a:avLst/>
          </a:prstGeom>
        </p:spPr>
      </p:pic>
      <p:pic>
        <p:nvPicPr>
          <p:cNvPr id="17" name="Picture 16" descr="A screenshot of a graph&#10;&#10;AI-generated content may be incorrect.">
            <a:extLst>
              <a:ext uri="{FF2B5EF4-FFF2-40B4-BE49-F238E27FC236}">
                <a16:creationId xmlns:a16="http://schemas.microsoft.com/office/drawing/2014/main" id="{99C88FC0-CFFE-5DAC-F7C6-67607CB2FC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1391" y="3323884"/>
            <a:ext cx="11645170" cy="2064544"/>
          </a:xfrm>
          <a:prstGeom prst="rect">
            <a:avLst/>
          </a:prstGeom>
        </p:spPr>
      </p:pic>
      <p:sp>
        <p:nvSpPr>
          <p:cNvPr id="19" name="TextBox 18">
            <a:extLst>
              <a:ext uri="{FF2B5EF4-FFF2-40B4-BE49-F238E27FC236}">
                <a16:creationId xmlns:a16="http://schemas.microsoft.com/office/drawing/2014/main" id="{3E0B1E2B-85D9-27C0-0891-9CA9C6682543}"/>
              </a:ext>
            </a:extLst>
          </p:cNvPr>
          <p:cNvSpPr txBox="1"/>
          <p:nvPr/>
        </p:nvSpPr>
        <p:spPr>
          <a:xfrm>
            <a:off x="773600" y="2442646"/>
            <a:ext cx="9790986" cy="523220"/>
          </a:xfrm>
          <a:prstGeom prst="rect">
            <a:avLst/>
          </a:prstGeom>
          <a:noFill/>
        </p:spPr>
        <p:txBody>
          <a:bodyPr wrap="square">
            <a:spAutoFit/>
          </a:bodyPr>
          <a:lstStyle/>
          <a:p>
            <a:r>
              <a:rPr lang="en-US" sz="2800">
                <a:solidFill>
                  <a:srgbClr val="FF0000"/>
                </a:solidFill>
                <a:latin typeface="Fira Sans Light" panose="020B0403050000020004" pitchFamily="34" charset="0"/>
              </a:rPr>
              <a:t>3 year reserved pricing – no discounts applied</a:t>
            </a:r>
            <a:endParaRPr lang="en-GB" sz="2800"/>
          </a:p>
        </p:txBody>
      </p:sp>
      <p:sp>
        <p:nvSpPr>
          <p:cNvPr id="20" name="TextBox 19">
            <a:extLst>
              <a:ext uri="{FF2B5EF4-FFF2-40B4-BE49-F238E27FC236}">
                <a16:creationId xmlns:a16="http://schemas.microsoft.com/office/drawing/2014/main" id="{7F657538-129F-BFC3-9F02-1D044C2EC0D2}"/>
              </a:ext>
            </a:extLst>
          </p:cNvPr>
          <p:cNvSpPr txBox="1"/>
          <p:nvPr/>
        </p:nvSpPr>
        <p:spPr>
          <a:xfrm>
            <a:off x="18703636" y="6151418"/>
            <a:ext cx="5187142" cy="923330"/>
          </a:xfrm>
          <a:prstGeom prst="rect">
            <a:avLst/>
          </a:prstGeom>
          <a:noFill/>
        </p:spPr>
        <p:txBody>
          <a:bodyPr wrap="square" rtlCol="0">
            <a:spAutoFit/>
          </a:bodyPr>
          <a:lstStyle/>
          <a:p>
            <a:pPr algn="l"/>
            <a:r>
              <a:rPr lang="en-GB" sz="1800"/>
              <a:t>Create a matrix showing all 3. </a:t>
            </a:r>
          </a:p>
          <a:p>
            <a:pPr algn="l"/>
            <a:r>
              <a:rPr lang="en-GB"/>
              <a:t>Keep currencies in GBP . </a:t>
            </a:r>
          </a:p>
          <a:p>
            <a:pPr algn="l"/>
            <a:r>
              <a:rPr lang="en-GB"/>
              <a:t>Highlight </a:t>
            </a:r>
            <a:r>
              <a:rPr lang="en-GB" sz="1800"/>
              <a:t>the differences.</a:t>
            </a:r>
          </a:p>
        </p:txBody>
      </p:sp>
      <p:sp>
        <p:nvSpPr>
          <p:cNvPr id="3" name="Rounded Rectangle 2">
            <a:extLst>
              <a:ext uri="{FF2B5EF4-FFF2-40B4-BE49-F238E27FC236}">
                <a16:creationId xmlns:a16="http://schemas.microsoft.com/office/drawing/2014/main" id="{8CAE4CFC-D987-DF44-B97E-48C3AB5DD046}"/>
              </a:ext>
            </a:extLst>
          </p:cNvPr>
          <p:cNvSpPr/>
          <p:nvPr/>
        </p:nvSpPr>
        <p:spPr>
          <a:xfrm>
            <a:off x="18703636" y="1246306"/>
            <a:ext cx="2819400" cy="239268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t>Scott working on this now</a:t>
            </a:r>
          </a:p>
        </p:txBody>
      </p:sp>
    </p:spTree>
    <p:extLst>
      <p:ext uri="{BB962C8B-B14F-4D97-AF65-F5344CB8AC3E}">
        <p14:creationId xmlns:p14="http://schemas.microsoft.com/office/powerpoint/2010/main" val="2120083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C80F-B888-AF7B-99D1-CC317F0BFFC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0316BB-BB42-07BC-A2F6-2D446E5DA5A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37</a:t>
            </a:fld>
            <a:endParaRPr lang="en-GB" noProof="0"/>
          </a:p>
        </p:txBody>
      </p:sp>
      <p:sp>
        <p:nvSpPr>
          <p:cNvPr id="4" name="TextBox 3">
            <a:extLst>
              <a:ext uri="{FF2B5EF4-FFF2-40B4-BE49-F238E27FC236}">
                <a16:creationId xmlns:a16="http://schemas.microsoft.com/office/drawing/2014/main" id="{D867B894-08D8-D4B6-A61E-95CE3518A86B}"/>
              </a:ext>
            </a:extLst>
          </p:cNvPr>
          <p:cNvSpPr txBox="1"/>
          <p:nvPr/>
        </p:nvSpPr>
        <p:spPr>
          <a:xfrm>
            <a:off x="406009" y="473476"/>
            <a:ext cx="7842211"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Hyperscaler Offerings</a:t>
            </a:r>
            <a:endParaRPr lang="en-GB" sz="6200">
              <a:solidFill>
                <a:srgbClr val="FF0000"/>
              </a:solidFill>
              <a:latin typeface="Fira Sans Light" panose="020B0403050000020004" pitchFamily="34" charset="0"/>
            </a:endParaRPr>
          </a:p>
        </p:txBody>
      </p:sp>
      <p:sp>
        <p:nvSpPr>
          <p:cNvPr id="19" name="TextBox 18">
            <a:extLst>
              <a:ext uri="{FF2B5EF4-FFF2-40B4-BE49-F238E27FC236}">
                <a16:creationId xmlns:a16="http://schemas.microsoft.com/office/drawing/2014/main" id="{9099092E-34EB-2BAD-37E5-2629A615AACF}"/>
              </a:ext>
            </a:extLst>
          </p:cNvPr>
          <p:cNvSpPr txBox="1"/>
          <p:nvPr/>
        </p:nvSpPr>
        <p:spPr>
          <a:xfrm>
            <a:off x="773600" y="2442646"/>
            <a:ext cx="9790986" cy="523220"/>
          </a:xfrm>
          <a:prstGeom prst="rect">
            <a:avLst/>
          </a:prstGeom>
          <a:noFill/>
        </p:spPr>
        <p:txBody>
          <a:bodyPr wrap="square">
            <a:spAutoFit/>
          </a:bodyPr>
          <a:lstStyle/>
          <a:p>
            <a:r>
              <a:rPr lang="en-US" sz="2800">
                <a:solidFill>
                  <a:srgbClr val="FF0000"/>
                </a:solidFill>
                <a:latin typeface="Fira Sans Light" panose="020B0403050000020004" pitchFamily="34" charset="0"/>
              </a:rPr>
              <a:t>3 year reserved pricing – no discounts applied</a:t>
            </a:r>
            <a:endParaRPr lang="en-GB" sz="2800"/>
          </a:p>
        </p:txBody>
      </p:sp>
      <p:graphicFrame>
        <p:nvGraphicFramePr>
          <p:cNvPr id="6" name="Table 5">
            <a:extLst>
              <a:ext uri="{FF2B5EF4-FFF2-40B4-BE49-F238E27FC236}">
                <a16:creationId xmlns:a16="http://schemas.microsoft.com/office/drawing/2014/main" id="{F73416FA-7846-1EF1-264B-1844D92FE28D}"/>
              </a:ext>
            </a:extLst>
          </p:cNvPr>
          <p:cNvGraphicFramePr>
            <a:graphicFrameLocks noGrp="1"/>
          </p:cNvGraphicFramePr>
          <p:nvPr>
            <p:extLst>
              <p:ext uri="{D42A27DB-BD31-4B8C-83A1-F6EECF244321}">
                <p14:modId xmlns:p14="http://schemas.microsoft.com/office/powerpoint/2010/main" val="4135902870"/>
              </p:ext>
            </p:extLst>
          </p:nvPr>
        </p:nvGraphicFramePr>
        <p:xfrm>
          <a:off x="3672839" y="2965866"/>
          <a:ext cx="19893051" cy="9685578"/>
        </p:xfrm>
        <a:graphic>
          <a:graphicData uri="http://schemas.openxmlformats.org/drawingml/2006/table">
            <a:tbl>
              <a:tblPr/>
              <a:tblGrid>
                <a:gridCol w="3997647">
                  <a:extLst>
                    <a:ext uri="{9D8B030D-6E8A-4147-A177-3AD203B41FA5}">
                      <a16:colId xmlns:a16="http://schemas.microsoft.com/office/drawing/2014/main" val="3719432421"/>
                    </a:ext>
                  </a:extLst>
                </a:gridCol>
                <a:gridCol w="2649234">
                  <a:extLst>
                    <a:ext uri="{9D8B030D-6E8A-4147-A177-3AD203B41FA5}">
                      <a16:colId xmlns:a16="http://schemas.microsoft.com/office/drawing/2014/main" val="4156023139"/>
                    </a:ext>
                  </a:extLst>
                </a:gridCol>
                <a:gridCol w="2649234">
                  <a:extLst>
                    <a:ext uri="{9D8B030D-6E8A-4147-A177-3AD203B41FA5}">
                      <a16:colId xmlns:a16="http://schemas.microsoft.com/office/drawing/2014/main" val="235609508"/>
                    </a:ext>
                  </a:extLst>
                </a:gridCol>
                <a:gridCol w="2649234">
                  <a:extLst>
                    <a:ext uri="{9D8B030D-6E8A-4147-A177-3AD203B41FA5}">
                      <a16:colId xmlns:a16="http://schemas.microsoft.com/office/drawing/2014/main" val="1216795314"/>
                    </a:ext>
                  </a:extLst>
                </a:gridCol>
                <a:gridCol w="2649234">
                  <a:extLst>
                    <a:ext uri="{9D8B030D-6E8A-4147-A177-3AD203B41FA5}">
                      <a16:colId xmlns:a16="http://schemas.microsoft.com/office/drawing/2014/main" val="1107880909"/>
                    </a:ext>
                  </a:extLst>
                </a:gridCol>
                <a:gridCol w="2649234">
                  <a:extLst>
                    <a:ext uri="{9D8B030D-6E8A-4147-A177-3AD203B41FA5}">
                      <a16:colId xmlns:a16="http://schemas.microsoft.com/office/drawing/2014/main" val="2964575285"/>
                    </a:ext>
                  </a:extLst>
                </a:gridCol>
                <a:gridCol w="2649234">
                  <a:extLst>
                    <a:ext uri="{9D8B030D-6E8A-4147-A177-3AD203B41FA5}">
                      <a16:colId xmlns:a16="http://schemas.microsoft.com/office/drawing/2014/main" val="178213271"/>
                    </a:ext>
                  </a:extLst>
                </a:gridCol>
              </a:tblGrid>
              <a:tr h="308932">
                <a:tc>
                  <a:txBody>
                    <a:bodyPr/>
                    <a:lstStyle/>
                    <a:p>
                      <a:pPr algn="l" fontAlgn="b">
                        <a:buNone/>
                      </a:pPr>
                      <a:r>
                        <a:rPr lang="en-GB" sz="2000" b="0" i="0" u="none" strike="noStrike">
                          <a:solidFill>
                            <a:srgbClr val="000000"/>
                          </a:solidFill>
                          <a:effectLst/>
                          <a:latin typeface="Calibri" panose="020F0502020204030204" pitchFamily="34" charset="0"/>
                        </a:rPr>
                        <a:t>USD &lt;&gt; GBP conversion</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0,755</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extLst>
                  <a:ext uri="{0D108BD9-81ED-4DB2-BD59-A6C34878D82A}">
                    <a16:rowId xmlns:a16="http://schemas.microsoft.com/office/drawing/2014/main" val="1541088843"/>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AWS</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FFC000"/>
                    </a:solidFill>
                  </a:tcPr>
                </a:tc>
                <a:extLst>
                  <a:ext uri="{0D108BD9-81ED-4DB2-BD59-A6C34878D82A}">
                    <a16:rowId xmlns:a16="http://schemas.microsoft.com/office/drawing/2014/main" val="3587202976"/>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Region</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London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London RI Full</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Ireland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Ireland RI Full</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Frankfurt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Frankfurt RI Full</a:t>
                      </a:r>
                    </a:p>
                  </a:txBody>
                  <a:tcPr marL="6172" marR="6172" marT="6172" marB="0" anchor="b">
                    <a:lnL>
                      <a:noFill/>
                    </a:lnL>
                    <a:lnR>
                      <a:noFill/>
                    </a:lnR>
                    <a:lnT>
                      <a:noFill/>
                    </a:lnT>
                    <a:lnB>
                      <a:noFill/>
                    </a:lnB>
                    <a:noFill/>
                  </a:tcPr>
                </a:tc>
                <a:extLst>
                  <a:ext uri="{0D108BD9-81ED-4DB2-BD59-A6C34878D82A}">
                    <a16:rowId xmlns:a16="http://schemas.microsoft.com/office/drawing/2014/main" val="3161743837"/>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Compute (monthly)</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$268.563</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$137.149</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$250.768</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$129.225</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$277.894</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$131.233</a:t>
                      </a:r>
                    </a:p>
                  </a:txBody>
                  <a:tcPr marL="6172" marR="6172" marT="6172" marB="0" anchor="b">
                    <a:lnL>
                      <a:noFill/>
                    </a:lnL>
                    <a:lnR>
                      <a:noFill/>
                    </a:lnR>
                    <a:lnT>
                      <a:noFill/>
                    </a:lnT>
                    <a:lnB>
                      <a:noFill/>
                    </a:lnB>
                    <a:noFill/>
                  </a:tcPr>
                </a:tc>
                <a:extLst>
                  <a:ext uri="{0D108BD9-81ED-4DB2-BD59-A6C34878D82A}">
                    <a16:rowId xmlns:a16="http://schemas.microsoft.com/office/drawing/2014/main" val="470360322"/>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EBS Storage (monthly)</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$6.086</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$6.086</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$57.712</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$57.712</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$62.434</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$62.434</a:t>
                      </a:r>
                    </a:p>
                  </a:txBody>
                  <a:tcPr marL="6172" marR="6172" marT="6172" marB="0" anchor="b">
                    <a:lnL>
                      <a:noFill/>
                    </a:lnL>
                    <a:lnR>
                      <a:noFill/>
                    </a:lnR>
                    <a:lnT>
                      <a:noFill/>
                    </a:lnT>
                    <a:lnB>
                      <a:noFill/>
                    </a:lnB>
                    <a:noFill/>
                  </a:tcPr>
                </a:tc>
                <a:extLst>
                  <a:ext uri="{0D108BD9-81ED-4DB2-BD59-A6C34878D82A}">
                    <a16:rowId xmlns:a16="http://schemas.microsoft.com/office/drawing/2014/main" val="4262798940"/>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(monthly)</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$329.423</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$198.009</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$30.848</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$186.937</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$340.328</a:t>
                      </a: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$193.667</a:t>
                      </a:r>
                    </a:p>
                  </a:txBody>
                  <a:tcPr marL="6172" marR="6172" marT="6172" marB="0" anchor="b">
                    <a:lnL>
                      <a:noFill/>
                    </a:lnL>
                    <a:lnR>
                      <a:noFill/>
                    </a:lnR>
                    <a:lnT>
                      <a:noFill/>
                    </a:lnT>
                    <a:lnB>
                      <a:noFill/>
                    </a:lnB>
                    <a:noFill/>
                  </a:tcPr>
                </a:tc>
                <a:extLst>
                  <a:ext uri="{0D108BD9-81ED-4DB2-BD59-A6C34878D82A}">
                    <a16:rowId xmlns:a16="http://schemas.microsoft.com/office/drawing/2014/main" val="2095481988"/>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USD</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$3.953.080</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$2.376.112</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$3.701.762</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$2.243.242</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$4.083.940</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$2.324.003</a:t>
                      </a:r>
                    </a:p>
                  </a:txBody>
                  <a:tcPr marL="6172" marR="6172" marT="6172" marB="0" anchor="b">
                    <a:lnL>
                      <a:noFill/>
                    </a:lnL>
                    <a:lnR>
                      <a:noFill/>
                    </a:lnR>
                    <a:lnT>
                      <a:noFill/>
                    </a:lnT>
                    <a:lnB>
                      <a:noFill/>
                    </a:lnB>
                    <a:solidFill>
                      <a:srgbClr val="D9D9D9"/>
                    </a:solidFill>
                  </a:tcPr>
                </a:tc>
                <a:extLst>
                  <a:ext uri="{0D108BD9-81ED-4DB2-BD59-A6C34878D82A}">
                    <a16:rowId xmlns:a16="http://schemas.microsoft.com/office/drawing/2014/main" val="4272806661"/>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GBP</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£2.984.575</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£1.793.965</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£2.794.830</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£1.693.648</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£3.083.375</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£1.754.622</a:t>
                      </a:r>
                    </a:p>
                  </a:txBody>
                  <a:tcPr marL="6172" marR="6172" marT="6172" marB="0" anchor="b">
                    <a:lnL>
                      <a:noFill/>
                    </a:lnL>
                    <a:lnR>
                      <a:noFill/>
                    </a:lnR>
                    <a:lnT>
                      <a:noFill/>
                    </a:lnT>
                    <a:lnB>
                      <a:noFill/>
                    </a:lnB>
                    <a:solidFill>
                      <a:srgbClr val="A6A6A6"/>
                    </a:solidFill>
                  </a:tcPr>
                </a:tc>
                <a:extLst>
                  <a:ext uri="{0D108BD9-81ED-4DB2-BD59-A6C34878D82A}">
                    <a16:rowId xmlns:a16="http://schemas.microsoft.com/office/drawing/2014/main" val="2986744576"/>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RI Full Discount vs OD</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r>
                        <a:rPr lang="en-DE" sz="2000" b="0" i="0" u="none" strike="noStrike">
                          <a:solidFill>
                            <a:srgbClr val="000000"/>
                          </a:solidFill>
                          <a:effectLst/>
                          <a:latin typeface="Calibri" panose="020F0502020204030204" pitchFamily="34" charset="0"/>
                        </a:rPr>
                        <a:t>39.89%</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r>
                        <a:rPr lang="en-DE" sz="2000" b="0" i="0" u="none" strike="noStrike">
                          <a:solidFill>
                            <a:srgbClr val="000000"/>
                          </a:solidFill>
                          <a:effectLst/>
                          <a:latin typeface="Calibri" panose="020F0502020204030204" pitchFamily="34" charset="0"/>
                        </a:rPr>
                        <a:t>39.40%</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r>
                        <a:rPr lang="en-DE" sz="2000" b="0" i="0" u="none" strike="noStrike">
                          <a:solidFill>
                            <a:srgbClr val="000000"/>
                          </a:solidFill>
                          <a:effectLst/>
                          <a:latin typeface="Calibri" panose="020F0502020204030204" pitchFamily="34" charset="0"/>
                        </a:rPr>
                        <a:t>43.09%</a:t>
                      </a:r>
                    </a:p>
                  </a:txBody>
                  <a:tcPr marL="6172" marR="6172" marT="6172" marB="0" anchor="b">
                    <a:lnL>
                      <a:noFill/>
                    </a:lnL>
                    <a:lnR>
                      <a:noFill/>
                    </a:lnR>
                    <a:lnT>
                      <a:noFill/>
                    </a:lnT>
                    <a:lnB>
                      <a:noFill/>
                    </a:lnB>
                    <a:noFill/>
                  </a:tcPr>
                </a:tc>
                <a:extLst>
                  <a:ext uri="{0D108BD9-81ED-4DB2-BD59-A6C34878D82A}">
                    <a16:rowId xmlns:a16="http://schemas.microsoft.com/office/drawing/2014/main" val="3880312738"/>
                  </a:ext>
                </a:extLst>
              </a:tr>
              <a:tr h="308932">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extLst>
                  <a:ext uri="{0D108BD9-81ED-4DB2-BD59-A6C34878D82A}">
                    <a16:rowId xmlns:a16="http://schemas.microsoft.com/office/drawing/2014/main" val="3866718733"/>
                  </a:ext>
                </a:extLst>
              </a:tr>
              <a:tr h="610641">
                <a:tc>
                  <a:txBody>
                    <a:bodyPr/>
                    <a:lstStyle/>
                    <a:p>
                      <a:pPr algn="l" fontAlgn="b">
                        <a:buNone/>
                      </a:pPr>
                      <a:r>
                        <a:rPr lang="en-GB" sz="2000" b="0" i="0" u="none" strike="noStrike">
                          <a:solidFill>
                            <a:srgbClr val="000000"/>
                          </a:solidFill>
                          <a:effectLst/>
                          <a:latin typeface="Calibri" panose="020F0502020204030204" pitchFamily="34" charset="0"/>
                        </a:rPr>
                        <a:t>Azure - Option B (30% PAYG + 70% RIs)</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F0"/>
                    </a:solidFill>
                  </a:tcPr>
                </a:tc>
                <a:extLst>
                  <a:ext uri="{0D108BD9-81ED-4DB2-BD59-A6C34878D82A}">
                    <a16:rowId xmlns:a16="http://schemas.microsoft.com/office/drawing/2014/main" val="747972972"/>
                  </a:ext>
                </a:extLst>
              </a:tr>
              <a:tr h="610641">
                <a:tc>
                  <a:txBody>
                    <a:bodyPr/>
                    <a:lstStyle/>
                    <a:p>
                      <a:pPr algn="l" fontAlgn="b">
                        <a:buNone/>
                      </a:pPr>
                      <a:r>
                        <a:rPr lang="en-GB" sz="2000" b="0" i="0" u="none" strike="noStrike">
                          <a:solidFill>
                            <a:srgbClr val="000000"/>
                          </a:solidFill>
                          <a:effectLst/>
                          <a:latin typeface="Calibri" panose="020F0502020204030204" pitchFamily="34" charset="0"/>
                        </a:rPr>
                        <a:t>Region</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UK South -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UK South - RI</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North Europe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North Europe RI</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GWC  - OD</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Germany West Central - RI</a:t>
                      </a:r>
                    </a:p>
                  </a:txBody>
                  <a:tcPr marL="6172" marR="6172" marT="6172" marB="0" anchor="b">
                    <a:lnL>
                      <a:noFill/>
                    </a:lnL>
                    <a:lnR>
                      <a:noFill/>
                    </a:lnR>
                    <a:lnT>
                      <a:noFill/>
                    </a:lnT>
                    <a:lnB>
                      <a:noFill/>
                    </a:lnB>
                    <a:noFill/>
                  </a:tcPr>
                </a:tc>
                <a:extLst>
                  <a:ext uri="{0D108BD9-81ED-4DB2-BD59-A6C34878D82A}">
                    <a16:rowId xmlns:a16="http://schemas.microsoft.com/office/drawing/2014/main" val="2819745352"/>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(monthly)</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$219.000</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$199.655</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$206.053</a:t>
                      </a:r>
                    </a:p>
                  </a:txBody>
                  <a:tcPr marL="6172" marR="6172" marT="6172" marB="0" anchor="b">
                    <a:lnL>
                      <a:noFill/>
                    </a:lnL>
                    <a:lnR>
                      <a:noFill/>
                    </a:lnR>
                    <a:lnT>
                      <a:noFill/>
                    </a:lnT>
                    <a:lnB>
                      <a:noFill/>
                    </a:lnB>
                    <a:noFill/>
                  </a:tcPr>
                </a:tc>
                <a:extLst>
                  <a:ext uri="{0D108BD9-81ED-4DB2-BD59-A6C34878D82A}">
                    <a16:rowId xmlns:a16="http://schemas.microsoft.com/office/drawing/2014/main" val="908149823"/>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USD</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$2.627.996</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$2.395.858</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$2.472.637</a:t>
                      </a:r>
                    </a:p>
                  </a:txBody>
                  <a:tcPr marL="6172" marR="6172" marT="6172" marB="0" anchor="b">
                    <a:lnL>
                      <a:noFill/>
                    </a:lnL>
                    <a:lnR>
                      <a:noFill/>
                    </a:lnR>
                    <a:lnT>
                      <a:noFill/>
                    </a:lnT>
                    <a:lnB>
                      <a:noFill/>
                    </a:lnB>
                    <a:solidFill>
                      <a:srgbClr val="D9D9D9"/>
                    </a:solidFill>
                  </a:tcPr>
                </a:tc>
                <a:extLst>
                  <a:ext uri="{0D108BD9-81ED-4DB2-BD59-A6C34878D82A}">
                    <a16:rowId xmlns:a16="http://schemas.microsoft.com/office/drawing/2014/main" val="2104349518"/>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GBP</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£1.984.137</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£1.808.873</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£1.866.841</a:t>
                      </a:r>
                    </a:p>
                  </a:txBody>
                  <a:tcPr marL="6172" marR="6172" marT="6172" marB="0" anchor="b">
                    <a:lnL>
                      <a:noFill/>
                    </a:lnL>
                    <a:lnR>
                      <a:noFill/>
                    </a:lnR>
                    <a:lnT>
                      <a:noFill/>
                    </a:lnT>
                    <a:lnB>
                      <a:noFill/>
                    </a:lnB>
                    <a:solidFill>
                      <a:srgbClr val="A6A6A6"/>
                    </a:solidFill>
                  </a:tcPr>
                </a:tc>
                <a:extLst>
                  <a:ext uri="{0D108BD9-81ED-4DB2-BD59-A6C34878D82A}">
                    <a16:rowId xmlns:a16="http://schemas.microsoft.com/office/drawing/2014/main" val="1922513725"/>
                  </a:ext>
                </a:extLst>
              </a:tr>
              <a:tr h="308932">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extLst>
                  <a:ext uri="{0D108BD9-81ED-4DB2-BD59-A6C34878D82A}">
                    <a16:rowId xmlns:a16="http://schemas.microsoft.com/office/drawing/2014/main" val="205551570"/>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GCP</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00B050"/>
                    </a:solidFill>
                  </a:tcPr>
                </a:tc>
                <a:extLst>
                  <a:ext uri="{0D108BD9-81ED-4DB2-BD59-A6C34878D82A}">
                    <a16:rowId xmlns:a16="http://schemas.microsoft.com/office/drawing/2014/main" val="4252746817"/>
                  </a:ext>
                </a:extLst>
              </a:tr>
              <a:tr h="610641">
                <a:tc>
                  <a:txBody>
                    <a:bodyPr/>
                    <a:lstStyle/>
                    <a:p>
                      <a:pPr algn="l" fontAlgn="b">
                        <a:buNone/>
                      </a:pPr>
                      <a:r>
                        <a:rPr lang="en-GB" sz="2000" b="0" i="0" u="none" strike="noStrike">
                          <a:solidFill>
                            <a:srgbClr val="000000"/>
                          </a:solidFill>
                          <a:effectLst/>
                          <a:latin typeface="Calibri" panose="020F0502020204030204" pitchFamily="34" charset="0"/>
                        </a:rPr>
                        <a:t>Indicative Pricing - GCE CUDS Applied</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extLst>
                  <a:ext uri="{0D108BD9-81ED-4DB2-BD59-A6C34878D82A}">
                    <a16:rowId xmlns:a16="http://schemas.microsoft.com/office/drawing/2014/main" val="730933061"/>
                  </a:ext>
                </a:extLst>
              </a:tr>
              <a:tr h="308932">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LONDON</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LONDON</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FRANKFURT</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FRANKFURT</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BELGIUM</a:t>
                      </a:r>
                    </a:p>
                  </a:txBody>
                  <a:tcPr marL="6172" marR="6172" marT="6172" marB="0" anchor="b">
                    <a:lnL>
                      <a:noFill/>
                    </a:lnL>
                    <a:lnR>
                      <a:noFill/>
                    </a:lnR>
                    <a:lnT>
                      <a:noFill/>
                    </a:lnT>
                    <a:lnB>
                      <a:noFill/>
                    </a:lnB>
                    <a:noFill/>
                  </a:tcPr>
                </a:tc>
                <a:tc>
                  <a:txBody>
                    <a:bodyPr/>
                    <a:lstStyle/>
                    <a:p>
                      <a:pPr algn="ctr" fontAlgn="b">
                        <a:buNone/>
                      </a:pPr>
                      <a:r>
                        <a:rPr lang="en-GB" sz="2000" b="0" i="0" u="none" strike="noStrike">
                          <a:solidFill>
                            <a:srgbClr val="000000"/>
                          </a:solidFill>
                          <a:effectLst/>
                          <a:latin typeface="Calibri" panose="020F0502020204030204" pitchFamily="34" charset="0"/>
                        </a:rPr>
                        <a:t>BELGIUM</a:t>
                      </a:r>
                    </a:p>
                  </a:txBody>
                  <a:tcPr marL="6172" marR="6172" marT="6172" marB="0" anchor="b">
                    <a:lnL>
                      <a:noFill/>
                    </a:lnL>
                    <a:lnR>
                      <a:noFill/>
                    </a:lnR>
                    <a:lnT>
                      <a:noFill/>
                    </a:lnT>
                    <a:lnB>
                      <a:noFill/>
                    </a:lnB>
                    <a:noFill/>
                  </a:tcPr>
                </a:tc>
                <a:extLst>
                  <a:ext uri="{0D108BD9-81ED-4DB2-BD59-A6C34878D82A}">
                    <a16:rowId xmlns:a16="http://schemas.microsoft.com/office/drawing/2014/main" val="3222659501"/>
                  </a:ext>
                </a:extLst>
              </a:tr>
              <a:tr h="659056">
                <a:tc>
                  <a:txBody>
                    <a:bodyPr/>
                    <a:lstStyle/>
                    <a:p>
                      <a:pPr algn="l" fontAlgn="b">
                        <a:buNone/>
                      </a:pPr>
                      <a:r>
                        <a:rPr lang="en-GB" sz="2000" b="0" i="0" u="none" strike="noStrike">
                          <a:solidFill>
                            <a:srgbClr val="000000"/>
                          </a:solidFill>
                          <a:effectLst/>
                          <a:latin typeface="Calibri" panose="020F0502020204030204" pitchFamily="34" charset="0"/>
                        </a:rPr>
                        <a:t>Cloud - Compute Engine - London - 3 </a:t>
                      </a:r>
                      <a:br>
                        <a:rPr lang="en-GB" sz="2000" b="0" i="0" u="none" strike="noStrike">
                          <a:solidFill>
                            <a:srgbClr val="000000"/>
                          </a:solidFill>
                          <a:effectLst/>
                          <a:latin typeface="Calibri" panose="020F0502020204030204" pitchFamily="34" charset="0"/>
                        </a:rPr>
                      </a:br>
                      <a:r>
                        <a:rPr lang="en-GB" sz="2000" b="0" i="0" u="none" strike="noStrike">
                          <a:solidFill>
                            <a:srgbClr val="000000"/>
                          </a:solidFill>
                          <a:effectLst/>
                          <a:latin typeface="Calibri" panose="020F0502020204030204" pitchFamily="34" charset="0"/>
                        </a:rPr>
                        <a:t>Year CUD - VMWare Source (93%) </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$2.833.817</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$2.888.405</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$2.521.479</a:t>
                      </a:r>
                    </a:p>
                  </a:txBody>
                  <a:tcPr marL="6172" marR="6172" marT="6172" marB="0" anchor="b">
                    <a:lnL>
                      <a:noFill/>
                    </a:lnL>
                    <a:lnR>
                      <a:noFill/>
                    </a:lnR>
                    <a:lnT>
                      <a:noFill/>
                    </a:lnT>
                    <a:lnB>
                      <a:noFill/>
                    </a:lnB>
                    <a:noFill/>
                  </a:tcPr>
                </a:tc>
                <a:extLst>
                  <a:ext uri="{0D108BD9-81ED-4DB2-BD59-A6C34878D82A}">
                    <a16:rowId xmlns:a16="http://schemas.microsoft.com/office/drawing/2014/main" val="1678094586"/>
                  </a:ext>
                </a:extLst>
              </a:tr>
              <a:tr h="659056">
                <a:tc>
                  <a:txBody>
                    <a:bodyPr/>
                    <a:lstStyle/>
                    <a:p>
                      <a:pPr algn="l" fontAlgn="b">
                        <a:buNone/>
                      </a:pPr>
                      <a:r>
                        <a:rPr lang="en-GB" sz="2000" b="0" i="0" u="none" strike="noStrike">
                          <a:solidFill>
                            <a:srgbClr val="000000"/>
                          </a:solidFill>
                          <a:effectLst/>
                          <a:latin typeface="Calibri" panose="020F0502020204030204" pitchFamily="34" charset="0"/>
                        </a:rPr>
                        <a:t>Cloud - Compute Engine - London - 3 </a:t>
                      </a:r>
                      <a:br>
                        <a:rPr lang="en-GB" sz="2000" b="0" i="0" u="none" strike="noStrike">
                          <a:solidFill>
                            <a:srgbClr val="000000"/>
                          </a:solidFill>
                          <a:effectLst/>
                          <a:latin typeface="Calibri" panose="020F0502020204030204" pitchFamily="34" charset="0"/>
                        </a:rPr>
                      </a:br>
                      <a:r>
                        <a:rPr lang="en-GB" sz="2000" b="0" i="0" u="none" strike="noStrike">
                          <a:solidFill>
                            <a:srgbClr val="000000"/>
                          </a:solidFill>
                          <a:effectLst/>
                          <a:latin typeface="Calibri" panose="020F0502020204030204" pitchFamily="34" charset="0"/>
                        </a:rPr>
                        <a:t>Year CUD - Microsoft Source (7%) </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$213.298</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$217.407</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$189.789</a:t>
                      </a:r>
                    </a:p>
                  </a:txBody>
                  <a:tcPr marL="6172" marR="6172" marT="6172" marB="0" anchor="b">
                    <a:lnL>
                      <a:noFill/>
                    </a:lnL>
                    <a:lnR>
                      <a:noFill/>
                    </a:lnR>
                    <a:lnT>
                      <a:noFill/>
                    </a:lnT>
                    <a:lnB>
                      <a:noFill/>
                    </a:lnB>
                    <a:noFill/>
                  </a:tcPr>
                </a:tc>
                <a:extLst>
                  <a:ext uri="{0D108BD9-81ED-4DB2-BD59-A6C34878D82A}">
                    <a16:rowId xmlns:a16="http://schemas.microsoft.com/office/drawing/2014/main" val="598540912"/>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Databases - SQL</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$707.961</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$707.961</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$643.589</a:t>
                      </a:r>
                    </a:p>
                  </a:txBody>
                  <a:tcPr marL="6172" marR="6172" marT="6172" marB="0" anchor="b">
                    <a:lnL>
                      <a:noFill/>
                    </a:lnL>
                    <a:lnR>
                      <a:noFill/>
                    </a:lnR>
                    <a:lnT>
                      <a:noFill/>
                    </a:lnT>
                    <a:lnB>
                      <a:noFill/>
                    </a:lnB>
                    <a:noFill/>
                  </a:tcPr>
                </a:tc>
                <a:extLst>
                  <a:ext uri="{0D108BD9-81ED-4DB2-BD59-A6C34878D82A}">
                    <a16:rowId xmlns:a16="http://schemas.microsoft.com/office/drawing/2014/main" val="1989984105"/>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Databases - Oracle</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$1.094.726</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$1.094.726</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$1.094.726</a:t>
                      </a:r>
                    </a:p>
                  </a:txBody>
                  <a:tcPr marL="6172" marR="6172" marT="6172" marB="0" anchor="b">
                    <a:lnL>
                      <a:noFill/>
                    </a:lnL>
                    <a:lnR>
                      <a:noFill/>
                    </a:lnR>
                    <a:lnT>
                      <a:noFill/>
                    </a:lnT>
                    <a:lnB>
                      <a:noFill/>
                    </a:lnB>
                    <a:noFill/>
                  </a:tcPr>
                </a:tc>
                <a:extLst>
                  <a:ext uri="{0D108BD9-81ED-4DB2-BD59-A6C34878D82A}">
                    <a16:rowId xmlns:a16="http://schemas.microsoft.com/office/drawing/2014/main" val="2416866879"/>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Security &amp; Networking</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$267.655</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$270.590</a:t>
                      </a:r>
                    </a:p>
                  </a:txBody>
                  <a:tcPr marL="6172" marR="6172" marT="6172"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6172" marR="6172" marT="6172"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$247.644</a:t>
                      </a:r>
                    </a:p>
                  </a:txBody>
                  <a:tcPr marL="6172" marR="6172" marT="6172" marB="0" anchor="b">
                    <a:lnL>
                      <a:noFill/>
                    </a:lnL>
                    <a:lnR>
                      <a:noFill/>
                    </a:lnR>
                    <a:lnT>
                      <a:noFill/>
                    </a:lnT>
                    <a:lnB>
                      <a:noFill/>
                    </a:lnB>
                    <a:noFill/>
                  </a:tcPr>
                </a:tc>
                <a:extLst>
                  <a:ext uri="{0D108BD9-81ED-4DB2-BD59-A6C34878D82A}">
                    <a16:rowId xmlns:a16="http://schemas.microsoft.com/office/drawing/2014/main" val="3780327066"/>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USD</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$5.117.458</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$5.179.089</a:t>
                      </a:r>
                    </a:p>
                  </a:txBody>
                  <a:tcPr marL="6172" marR="6172" marT="6172" marB="0" anchor="b">
                    <a:lnL>
                      <a:noFill/>
                    </a:lnL>
                    <a:lnR>
                      <a:noFill/>
                    </a:lnR>
                    <a:lnT>
                      <a:noFill/>
                    </a:lnT>
                    <a:lnB>
                      <a:noFill/>
                    </a:lnB>
                    <a:solidFill>
                      <a:srgbClr val="D9D9D9"/>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D9D9D9"/>
                    </a:solidFill>
                  </a:tcPr>
                </a:tc>
                <a:tc>
                  <a:txBody>
                    <a:bodyPr/>
                    <a:lstStyle/>
                    <a:p>
                      <a:pPr algn="r" fontAlgn="b">
                        <a:buNone/>
                      </a:pPr>
                      <a:r>
                        <a:rPr lang="en-DE" sz="2000" b="0" i="0" u="none" strike="noStrike">
                          <a:solidFill>
                            <a:srgbClr val="000000"/>
                          </a:solidFill>
                          <a:effectLst/>
                          <a:latin typeface="Calibri" panose="020F0502020204030204" pitchFamily="34" charset="0"/>
                        </a:rPr>
                        <a:t>$4.697.227</a:t>
                      </a:r>
                    </a:p>
                  </a:txBody>
                  <a:tcPr marL="6172" marR="6172" marT="6172" marB="0" anchor="b">
                    <a:lnL>
                      <a:noFill/>
                    </a:lnL>
                    <a:lnR>
                      <a:noFill/>
                    </a:lnR>
                    <a:lnT>
                      <a:noFill/>
                    </a:lnT>
                    <a:lnB>
                      <a:noFill/>
                    </a:lnB>
                    <a:solidFill>
                      <a:srgbClr val="D9D9D9"/>
                    </a:solidFill>
                  </a:tcPr>
                </a:tc>
                <a:extLst>
                  <a:ext uri="{0D108BD9-81ED-4DB2-BD59-A6C34878D82A}">
                    <a16:rowId xmlns:a16="http://schemas.microsoft.com/office/drawing/2014/main" val="3015159502"/>
                  </a:ext>
                </a:extLst>
              </a:tr>
              <a:tr h="308932">
                <a:tc>
                  <a:txBody>
                    <a:bodyPr/>
                    <a:lstStyle/>
                    <a:p>
                      <a:pPr algn="l" fontAlgn="b">
                        <a:buNone/>
                      </a:pPr>
                      <a:r>
                        <a:rPr lang="en-GB" sz="2000" b="0" i="0" u="none" strike="noStrike">
                          <a:solidFill>
                            <a:srgbClr val="000000"/>
                          </a:solidFill>
                          <a:effectLst/>
                          <a:latin typeface="Calibri" panose="020F0502020204030204" pitchFamily="34" charset="0"/>
                        </a:rPr>
                        <a:t>TOTAL (annual) - GBP</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£3.863.680</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£3.910.212</a:t>
                      </a:r>
                    </a:p>
                  </a:txBody>
                  <a:tcPr marL="6172" marR="6172" marT="6172" marB="0" anchor="b">
                    <a:lnL>
                      <a:noFill/>
                    </a:lnL>
                    <a:lnR>
                      <a:noFill/>
                    </a:lnR>
                    <a:lnT>
                      <a:noFill/>
                    </a:lnT>
                    <a:lnB>
                      <a:noFill/>
                    </a:lnB>
                    <a:solidFill>
                      <a:srgbClr val="A6A6A6"/>
                    </a:solidFill>
                  </a:tcPr>
                </a:tc>
                <a:tc>
                  <a:txBody>
                    <a:bodyPr/>
                    <a:lstStyle/>
                    <a:p>
                      <a:pPr algn="l" fontAlgn="b">
                        <a:buNone/>
                      </a:pPr>
                      <a:r>
                        <a:rPr lang="en-DE" sz="2000" b="0" i="0" u="none" strike="noStrike">
                          <a:solidFill>
                            <a:srgbClr val="000000"/>
                          </a:solidFill>
                          <a:effectLst/>
                          <a:latin typeface="Calibri" panose="020F0502020204030204" pitchFamily="34" charset="0"/>
                        </a:rPr>
                        <a:t> </a:t>
                      </a:r>
                    </a:p>
                  </a:txBody>
                  <a:tcPr marL="6172" marR="6172" marT="6172" marB="0" anchor="b">
                    <a:lnL>
                      <a:noFill/>
                    </a:lnL>
                    <a:lnR>
                      <a:noFill/>
                    </a:lnR>
                    <a:lnT>
                      <a:noFill/>
                    </a:lnT>
                    <a:lnB>
                      <a:noFill/>
                    </a:lnB>
                    <a:solidFill>
                      <a:srgbClr val="A6A6A6"/>
                    </a:solidFill>
                  </a:tcPr>
                </a:tc>
                <a:tc>
                  <a:txBody>
                    <a:bodyPr/>
                    <a:lstStyle/>
                    <a:p>
                      <a:pPr algn="r" fontAlgn="b">
                        <a:buNone/>
                      </a:pPr>
                      <a:r>
                        <a:rPr lang="en-DE" sz="2000" b="0" i="0" u="none" strike="noStrike">
                          <a:solidFill>
                            <a:srgbClr val="000000"/>
                          </a:solidFill>
                          <a:effectLst/>
                          <a:latin typeface="Calibri" panose="020F0502020204030204" pitchFamily="34" charset="0"/>
                        </a:rPr>
                        <a:t>£3.546.407</a:t>
                      </a:r>
                    </a:p>
                  </a:txBody>
                  <a:tcPr marL="6172" marR="6172" marT="6172" marB="0" anchor="b">
                    <a:lnL>
                      <a:noFill/>
                    </a:lnL>
                    <a:lnR>
                      <a:noFill/>
                    </a:lnR>
                    <a:lnT>
                      <a:noFill/>
                    </a:lnT>
                    <a:lnB>
                      <a:noFill/>
                    </a:lnB>
                    <a:solidFill>
                      <a:srgbClr val="A6A6A6"/>
                    </a:solidFill>
                  </a:tcPr>
                </a:tc>
                <a:extLst>
                  <a:ext uri="{0D108BD9-81ED-4DB2-BD59-A6C34878D82A}">
                    <a16:rowId xmlns:a16="http://schemas.microsoft.com/office/drawing/2014/main" val="3509889802"/>
                  </a:ext>
                </a:extLst>
              </a:tr>
            </a:tbl>
          </a:graphicData>
        </a:graphic>
      </p:graphicFrame>
    </p:spTree>
    <p:extLst>
      <p:ext uri="{BB962C8B-B14F-4D97-AF65-F5344CB8AC3E}">
        <p14:creationId xmlns:p14="http://schemas.microsoft.com/office/powerpoint/2010/main" val="25156681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F535-EFF8-AD85-FB6E-AF047C2C07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FE05D7-021A-4B23-461F-C7CC56DEBEF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38</a:t>
            </a:fld>
            <a:endParaRPr lang="en-GB" noProof="0"/>
          </a:p>
        </p:txBody>
      </p:sp>
      <p:sp>
        <p:nvSpPr>
          <p:cNvPr id="4" name="TextBox 3">
            <a:extLst>
              <a:ext uri="{FF2B5EF4-FFF2-40B4-BE49-F238E27FC236}">
                <a16:creationId xmlns:a16="http://schemas.microsoft.com/office/drawing/2014/main" id="{32202BA8-5466-CFFB-A193-D1102FCDCF8D}"/>
              </a:ext>
            </a:extLst>
          </p:cNvPr>
          <p:cNvSpPr txBox="1"/>
          <p:nvPr/>
        </p:nvSpPr>
        <p:spPr>
          <a:xfrm>
            <a:off x="406009" y="473476"/>
            <a:ext cx="21331044" cy="1046440"/>
          </a:xfrm>
          <a:prstGeom prst="rect">
            <a:avLst/>
          </a:prstGeom>
          <a:noFill/>
        </p:spPr>
        <p:txBody>
          <a:bodyPr wrap="square" rtlCol="0">
            <a:spAutoFit/>
          </a:bodyPr>
          <a:lstStyle/>
          <a:p>
            <a:pPr algn="l"/>
            <a:r>
              <a:rPr lang="en-GB" sz="6200">
                <a:solidFill>
                  <a:srgbClr val="FF0000"/>
                </a:solidFill>
                <a:latin typeface="Fira Sans Light" panose="020B0403050000020004" pitchFamily="34" charset="0"/>
              </a:rPr>
              <a:t>Cloud Infra Cost Comparison – PAYG vs. 3 Year Commitment</a:t>
            </a:r>
            <a:endParaRPr lang="en-GB" sz="6200" noProof="0">
              <a:solidFill>
                <a:srgbClr val="FF0000"/>
              </a:solidFill>
              <a:latin typeface="Fira Sans Light" panose="020B0403050000020004" pitchFamily="34" charset="0"/>
            </a:endParaRPr>
          </a:p>
        </p:txBody>
      </p:sp>
      <p:sp>
        <p:nvSpPr>
          <p:cNvPr id="11" name="TextBox 10">
            <a:extLst>
              <a:ext uri="{FF2B5EF4-FFF2-40B4-BE49-F238E27FC236}">
                <a16:creationId xmlns:a16="http://schemas.microsoft.com/office/drawing/2014/main" id="{E1907E8D-B628-F175-3FEB-B9BB65AFB266}"/>
              </a:ext>
            </a:extLst>
          </p:cNvPr>
          <p:cNvSpPr txBox="1"/>
          <p:nvPr/>
        </p:nvSpPr>
        <p:spPr>
          <a:xfrm>
            <a:off x="293714" y="2767695"/>
            <a:ext cx="11240560" cy="5262979"/>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rial" panose="020B0604020202020204" pitchFamily="34" charset="0"/>
              <a:buChar char="•"/>
            </a:pPr>
            <a:r>
              <a:rPr lang="en-GB" sz="2800">
                <a:latin typeface="Fira Sans" panose="020B0503050000020004" pitchFamily="34" charset="0"/>
              </a:rPr>
              <a:t>AWS + GCP pricing are very closely matched (2%)</a:t>
            </a:r>
          </a:p>
          <a:p>
            <a:pPr marL="285750" indent="-285750" algn="l">
              <a:buClr>
                <a:srgbClr val="FF0000"/>
              </a:buClr>
              <a:buFont typeface="Arial" panose="020B0604020202020204" pitchFamily="34" charset="0"/>
              <a:buChar char="•"/>
            </a:pPr>
            <a:r>
              <a:rPr lang="en-GB" sz="2800">
                <a:latin typeface="Fira Sans" panose="020B0503050000020004" pitchFamily="34" charset="0"/>
              </a:rPr>
              <a:t>We priced independent of the Hyperscaler offerings</a:t>
            </a:r>
          </a:p>
          <a:p>
            <a:pPr marL="285750" indent="-285750" algn="l">
              <a:buClr>
                <a:srgbClr val="FF0000"/>
              </a:buClr>
              <a:buFont typeface="Arial" panose="020B0604020202020204" pitchFamily="34" charset="0"/>
              <a:buChar char="•"/>
            </a:pPr>
            <a:r>
              <a:rPr lang="en-GB" sz="2800">
                <a:latin typeface="Fira Sans" panose="020B0503050000020004" pitchFamily="34" charset="0"/>
              </a:rPr>
              <a:t>Same source data was fed to all three </a:t>
            </a:r>
            <a:r>
              <a:rPr lang="en-GB" sz="2800" err="1">
                <a:latin typeface="Fira Sans" panose="020B0503050000020004" pitchFamily="34" charset="0"/>
              </a:rPr>
              <a:t>hyperscaler</a:t>
            </a:r>
            <a:r>
              <a:rPr lang="en-GB" sz="2800">
                <a:latin typeface="Fira Sans" panose="020B0503050000020004" pitchFamily="34" charset="0"/>
              </a:rPr>
              <a:t> tools</a:t>
            </a:r>
            <a:endParaRPr lang="en-DE" sz="2800">
              <a:latin typeface="Fira Sans" panose="020B0503050000020004" pitchFamily="34" charset="0"/>
            </a:endParaRPr>
          </a:p>
          <a:p>
            <a:pPr marL="742950" lvl="1" indent="-285750">
              <a:buClr>
                <a:srgbClr val="FF0000"/>
              </a:buClr>
              <a:buFont typeface="Arial" panose="020B0604020202020204" pitchFamily="34" charset="0"/>
              <a:buChar char="•"/>
            </a:pPr>
            <a:r>
              <a:rPr lang="en-GB" sz="2800">
                <a:latin typeface="Fira Sans" panose="020B0503050000020004" pitchFamily="34" charset="0"/>
              </a:rPr>
              <a:t>3038 servers</a:t>
            </a:r>
          </a:p>
          <a:p>
            <a:pPr marL="1200150" lvl="2" indent="-285750">
              <a:buClr>
                <a:srgbClr val="FF0000"/>
              </a:buClr>
              <a:buFont typeface="Arial" panose="020B0604020202020204" pitchFamily="34" charset="0"/>
              <a:buChar char="•"/>
            </a:pPr>
            <a:r>
              <a:rPr lang="en-GB" sz="2800">
                <a:latin typeface="Fira Sans" panose="020B0503050000020004" pitchFamily="34" charset="0"/>
              </a:rPr>
              <a:t>14,165 vCPUs</a:t>
            </a:r>
          </a:p>
          <a:p>
            <a:pPr marL="1200150" lvl="2" indent="-285750">
              <a:buClr>
                <a:srgbClr val="FF0000"/>
              </a:buClr>
              <a:buFont typeface="Arial" panose="020B0604020202020204" pitchFamily="34" charset="0"/>
              <a:buChar char="•"/>
            </a:pPr>
            <a:r>
              <a:rPr lang="en-GB" sz="2800">
                <a:latin typeface="Fira Sans" panose="020B0503050000020004" pitchFamily="34" charset="0"/>
              </a:rPr>
              <a:t>53,758 GB Memory</a:t>
            </a:r>
          </a:p>
          <a:p>
            <a:pPr marL="1200150" lvl="2" indent="-285750">
              <a:buClr>
                <a:srgbClr val="FF0000"/>
              </a:buClr>
              <a:buFont typeface="Arial" panose="020B0604020202020204" pitchFamily="34" charset="0"/>
              <a:buChar char="•"/>
            </a:pPr>
            <a:r>
              <a:rPr lang="en-GB" sz="2800">
                <a:latin typeface="Fira Sans" panose="020B0503050000020004" pitchFamily="34" charset="0"/>
              </a:rPr>
              <a:t>1,261,841 Gb storage</a:t>
            </a:r>
            <a:endParaRPr lang="en-DE" sz="2800">
              <a:latin typeface="Fira Sans" panose="020B0503050000020004" pitchFamily="34" charset="0"/>
            </a:endParaRPr>
          </a:p>
          <a:p>
            <a:pPr marL="285750" indent="-285750" algn="l">
              <a:buClr>
                <a:srgbClr val="FF0000"/>
              </a:buClr>
              <a:buFont typeface="Arial" panose="020B0604020202020204" pitchFamily="34" charset="0"/>
              <a:buChar char="•"/>
            </a:pPr>
            <a:r>
              <a:rPr lang="en-GB" sz="2800">
                <a:latin typeface="Fira Sans" panose="020B0503050000020004" pitchFamily="34" charset="0"/>
              </a:rPr>
              <a:t>We focused on agnostic comparison using the source data</a:t>
            </a:r>
          </a:p>
          <a:p>
            <a:pPr marL="285750" indent="-285750" algn="l">
              <a:buClr>
                <a:srgbClr val="FF0000"/>
              </a:buClr>
              <a:buFont typeface="Arial" panose="020B0604020202020204" pitchFamily="34" charset="0"/>
              <a:buChar char="•"/>
            </a:pPr>
            <a:r>
              <a:rPr lang="en-GB" sz="2800">
                <a:latin typeface="Fira Sans" panose="020B0503050000020004" pitchFamily="34" charset="0"/>
              </a:rPr>
              <a:t>GCP tooling can create custom sizing (mem)</a:t>
            </a:r>
          </a:p>
          <a:p>
            <a:pPr marL="285750" indent="-285750">
              <a:buClr>
                <a:srgbClr val="FF0000"/>
              </a:buClr>
              <a:buFont typeface="Arial" panose="020B0604020202020204" pitchFamily="34" charset="0"/>
              <a:buChar char="•"/>
            </a:pPr>
            <a:r>
              <a:rPr lang="en-GB" sz="2800">
                <a:latin typeface="Fira Sans" panose="020B0503050000020004" pitchFamily="34" charset="0"/>
              </a:rPr>
              <a:t>Our numbers provide a strong baseline for a Part 1 independent comparison</a:t>
            </a:r>
          </a:p>
        </p:txBody>
      </p:sp>
      <p:sp>
        <p:nvSpPr>
          <p:cNvPr id="18" name="TextBox 17">
            <a:extLst>
              <a:ext uri="{FF2B5EF4-FFF2-40B4-BE49-F238E27FC236}">
                <a16:creationId xmlns:a16="http://schemas.microsoft.com/office/drawing/2014/main" id="{DBEF160F-8C1C-156D-03E1-11299B7CB912}"/>
              </a:ext>
            </a:extLst>
          </p:cNvPr>
          <p:cNvSpPr txBox="1"/>
          <p:nvPr/>
        </p:nvSpPr>
        <p:spPr>
          <a:xfrm>
            <a:off x="293714" y="8977743"/>
            <a:ext cx="11898286" cy="3693319"/>
          </a:xfrm>
          <a:prstGeom prst="rect">
            <a:avLst/>
          </a:prstGeom>
          <a:noFill/>
        </p:spPr>
        <p:txBody>
          <a:bodyPr wrap="square" lIns="91440" tIns="45720" rIns="91440" bIns="45720" anchor="t">
            <a:spAutoFit/>
          </a:bodyPr>
          <a:lstStyle/>
          <a:p>
            <a:r>
              <a:rPr lang="en-GB">
                <a:latin typeface="Fira Sans" panose="020B0503050000020004" pitchFamily="34" charset="0"/>
              </a:rPr>
              <a:t>Assumptions:</a:t>
            </a:r>
          </a:p>
          <a:p>
            <a:pPr marL="514350" indent="-514350">
              <a:buAutoNum type="arabicPeriod"/>
            </a:pPr>
            <a:r>
              <a:rPr lang="en-GB">
                <a:latin typeface="Fira Sans"/>
              </a:rPr>
              <a:t>All pricing verified via official cloud APIs (GCP Billing Catalog, AWS Price List, Azure Retail Prices)</a:t>
            </a:r>
          </a:p>
          <a:p>
            <a:pPr marL="514350" indent="-514350">
              <a:buAutoNum type="arabicPeriod"/>
            </a:pPr>
            <a:r>
              <a:rPr lang="en-GB">
                <a:latin typeface="Fira Sans" panose="020B0503050000020004" pitchFamily="34" charset="0"/>
              </a:rPr>
              <a:t>GCP and Azure rates in native GBP from API. AWS rates in USD, converted at corporate FX rate above.</a:t>
            </a:r>
          </a:p>
          <a:p>
            <a:pPr marL="514350" indent="-514350">
              <a:buAutoNum type="arabicPeriod"/>
            </a:pPr>
            <a:r>
              <a:rPr lang="en-GB">
                <a:latin typeface="Fira Sans" panose="020B0503050000020004" pitchFamily="34" charset="0"/>
              </a:rPr>
              <a:t>PAYG = on-demand. 3yr = GCP CUD / AWS 3yr Standard NURI (per-instance from API) / Azure 3yr RI</a:t>
            </a:r>
          </a:p>
          <a:p>
            <a:pPr marL="514350" indent="-514350">
              <a:buAutoNum type="arabicPeriod"/>
            </a:pPr>
            <a:r>
              <a:rPr lang="en-GB">
                <a:latin typeface="Fira Sans"/>
              </a:rPr>
              <a:t>Storage: GCP Balanced PD/</a:t>
            </a:r>
            <a:r>
              <a:rPr lang="en-GB" err="1">
                <a:latin typeface="Fira Sans"/>
              </a:rPr>
              <a:t>Hyperdisk</a:t>
            </a:r>
            <a:r>
              <a:rPr lang="en-GB">
                <a:latin typeface="Fira Sans"/>
              </a:rPr>
              <a:t> (SSD), AWS gp3 (per-region from API), Azure Premium SSD</a:t>
            </a:r>
          </a:p>
          <a:p>
            <a:pPr marL="514350" indent="-514350">
              <a:buAutoNum type="arabicPeriod"/>
            </a:pPr>
            <a:r>
              <a:rPr lang="en-GB">
                <a:latin typeface="Fira Sans"/>
              </a:rPr>
              <a:t>Network: 5% of (compute + storage) - standard cloud estimate estimate</a:t>
            </a:r>
          </a:p>
          <a:p>
            <a:pPr marL="514350" indent="-514350">
              <a:buAutoNum type="arabicPeriod"/>
            </a:pPr>
            <a:r>
              <a:rPr lang="en-GB">
                <a:latin typeface="Fira Sans" panose="020B0503050000020004" pitchFamily="34" charset="0"/>
              </a:rPr>
              <a:t>OS licensing: Windows/RHEL at PAYG surcharge rates. SQL Server and Oracle licensing in separate workbook.</a:t>
            </a:r>
          </a:p>
          <a:p>
            <a:pPr marL="514350" indent="-514350">
              <a:buAutoNum type="arabicPeriod"/>
            </a:pPr>
            <a:r>
              <a:rPr lang="en-GB">
                <a:latin typeface="Fira Sans"/>
              </a:rPr>
              <a:t>Instance mapping: GCP Migration </a:t>
            </a:r>
            <a:r>
              <a:rPr lang="en-GB" err="1">
                <a:latin typeface="Fira Sans"/>
              </a:rPr>
              <a:t>Center</a:t>
            </a:r>
            <a:r>
              <a:rPr lang="en-GB">
                <a:latin typeface="Fira Sans"/>
              </a:rPr>
              <a:t>, AWS Transform, Azure Migrate - all architect-assigned</a:t>
            </a:r>
          </a:p>
          <a:p>
            <a:pPr marL="514350" indent="-514350">
              <a:buAutoNum type="arabicPeriod"/>
            </a:pPr>
            <a:r>
              <a:rPr lang="en-GB">
                <a:latin typeface="Fira Sans"/>
              </a:rPr>
              <a:t>All 3 clouds sized from the same source dataset (GCP Migration </a:t>
            </a:r>
            <a:r>
              <a:rPr lang="en-GB" err="1">
                <a:latin typeface="Fira Sans"/>
              </a:rPr>
              <a:t>Center</a:t>
            </a:r>
            <a:r>
              <a:rPr lang="en-GB">
                <a:latin typeface="Fira Sans"/>
              </a:rPr>
              <a:t> export, 3,038 servers in scope)</a:t>
            </a:r>
          </a:p>
          <a:p>
            <a:endParaRPr lang="en-GB">
              <a:latin typeface="Fira Sans" panose="020B0503050000020004" pitchFamily="34" charset="0"/>
            </a:endParaRPr>
          </a:p>
          <a:p>
            <a:r>
              <a:rPr lang="en-GB">
                <a:latin typeface="Fira Sans" panose="020B0503050000020004" pitchFamily="34" charset="0"/>
              </a:rPr>
              <a:t>Not included: backup/DR, management tooling, migration execution, double-run overlap, egress, headcount, VMware savings</a:t>
            </a:r>
          </a:p>
        </p:txBody>
      </p:sp>
      <p:graphicFrame>
        <p:nvGraphicFramePr>
          <p:cNvPr id="20" name="Table 19">
            <a:extLst>
              <a:ext uri="{FF2B5EF4-FFF2-40B4-BE49-F238E27FC236}">
                <a16:creationId xmlns:a16="http://schemas.microsoft.com/office/drawing/2014/main" id="{B41B91A8-2F4A-AECE-3B4A-D12DC615055C}"/>
              </a:ext>
            </a:extLst>
          </p:cNvPr>
          <p:cNvGraphicFramePr>
            <a:graphicFrameLocks noGrp="1"/>
          </p:cNvGraphicFramePr>
          <p:nvPr/>
        </p:nvGraphicFramePr>
        <p:xfrm>
          <a:off x="12641214" y="2791326"/>
          <a:ext cx="11101137" cy="8969712"/>
        </p:xfrm>
        <a:graphic>
          <a:graphicData uri="http://schemas.openxmlformats.org/drawingml/2006/table">
            <a:tbl>
              <a:tblPr/>
              <a:tblGrid>
                <a:gridCol w="3211014">
                  <a:extLst>
                    <a:ext uri="{9D8B030D-6E8A-4147-A177-3AD203B41FA5}">
                      <a16:colId xmlns:a16="http://schemas.microsoft.com/office/drawing/2014/main" val="1767108210"/>
                    </a:ext>
                  </a:extLst>
                </a:gridCol>
                <a:gridCol w="2625219">
                  <a:extLst>
                    <a:ext uri="{9D8B030D-6E8A-4147-A177-3AD203B41FA5}">
                      <a16:colId xmlns:a16="http://schemas.microsoft.com/office/drawing/2014/main" val="3765965991"/>
                    </a:ext>
                  </a:extLst>
                </a:gridCol>
                <a:gridCol w="2632452">
                  <a:extLst>
                    <a:ext uri="{9D8B030D-6E8A-4147-A177-3AD203B41FA5}">
                      <a16:colId xmlns:a16="http://schemas.microsoft.com/office/drawing/2014/main" val="617367112"/>
                    </a:ext>
                  </a:extLst>
                </a:gridCol>
                <a:gridCol w="2632452">
                  <a:extLst>
                    <a:ext uri="{9D8B030D-6E8A-4147-A177-3AD203B41FA5}">
                      <a16:colId xmlns:a16="http://schemas.microsoft.com/office/drawing/2014/main" val="3388370713"/>
                    </a:ext>
                  </a:extLst>
                </a:gridCol>
              </a:tblGrid>
              <a:tr h="703507">
                <a:tc gridSpan="2">
                  <a:txBody>
                    <a:bodyPr/>
                    <a:lstStyle/>
                    <a:p>
                      <a:pPr algn="l" fontAlgn="b">
                        <a:buNone/>
                      </a:pPr>
                      <a:r>
                        <a:rPr lang="en-GB" sz="2000" b="0" i="0" u="none" strike="noStrike">
                          <a:solidFill>
                            <a:srgbClr val="404040"/>
                          </a:solidFill>
                          <a:effectLst/>
                          <a:latin typeface="Calibri" panose="020F0502020204030204" pitchFamily="34" charset="0"/>
                        </a:rPr>
                        <a:t>Generated: 15 April 2026 19:51</a:t>
                      </a:r>
                    </a:p>
                  </a:txBody>
                  <a:tcPr marL="8256" marR="8256" marT="8256" marB="0" anchor="b">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8256" marR="8256" marT="8256"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8278700"/>
                  </a:ext>
                </a:extLst>
              </a:tr>
              <a:tr h="449127">
                <a:tc gridSpan="4">
                  <a:txBody>
                    <a:bodyPr/>
                    <a:lstStyle/>
                    <a:p>
                      <a:pPr algn="l" fontAlgn="b">
                        <a:buNone/>
                      </a:pPr>
                      <a:r>
                        <a:rPr lang="en-GB" sz="2000" b="0" i="0" u="none" strike="noStrike">
                          <a:solidFill>
                            <a:srgbClr val="404040"/>
                          </a:solidFill>
                          <a:effectLst/>
                          <a:latin typeface="Calibri" panose="020F0502020204030204" pitchFamily="34" charset="0"/>
                        </a:rPr>
                        <a:t>Servers in scope: 3,038 | Currency: GBP | FX Rate: 1 USD = 0.755 GBP</a:t>
                      </a:r>
                    </a:p>
                  </a:txBody>
                  <a:tcPr marL="8256" marR="8256" marT="8256"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47331229"/>
                  </a:ext>
                </a:extLst>
              </a:tr>
              <a:tr h="410508">
                <a:tc gridSpan="4">
                  <a:txBody>
                    <a:bodyPr/>
                    <a:lstStyle/>
                    <a:p>
                      <a:pPr algn="l" fontAlgn="b">
                        <a:buNone/>
                      </a:pPr>
                      <a:r>
                        <a:rPr lang="en-GB" sz="2000" b="1" i="0" u="none" strike="noStrike">
                          <a:solidFill>
                            <a:srgbClr val="808080"/>
                          </a:solidFill>
                          <a:effectLst/>
                          <a:latin typeface="Calibri" panose="020F0502020204030204" pitchFamily="34" charset="0"/>
                        </a:rPr>
                        <a:t>All pricing API-verified: </a:t>
                      </a:r>
                      <a:r>
                        <a:rPr lang="en-GB" sz="2000" b="1" i="0" u="none" strike="noStrike">
                          <a:solidFill>
                            <a:srgbClr val="FABF8F"/>
                          </a:solidFill>
                          <a:effectLst/>
                          <a:latin typeface="Calibri" panose="020F0502020204030204" pitchFamily="34" charset="0"/>
                        </a:rPr>
                        <a:t>AWS Price List API</a:t>
                      </a:r>
                      <a:r>
                        <a:rPr lang="en-GB" sz="2000" b="1" i="0" u="none" strike="noStrike">
                          <a:solidFill>
                            <a:srgbClr val="808080"/>
                          </a:solidFill>
                          <a:effectLst/>
                          <a:latin typeface="Calibri" panose="020F0502020204030204" pitchFamily="34" charset="0"/>
                        </a:rPr>
                        <a:t> | </a:t>
                      </a:r>
                      <a:r>
                        <a:rPr lang="en-GB" sz="2000" b="1" i="0" u="none" strike="noStrike">
                          <a:solidFill>
                            <a:srgbClr val="C4D79B"/>
                          </a:solidFill>
                          <a:effectLst/>
                          <a:latin typeface="Calibri" panose="020F0502020204030204" pitchFamily="34" charset="0"/>
                        </a:rPr>
                        <a:t>GCP Billing Catalog API </a:t>
                      </a:r>
                      <a:r>
                        <a:rPr lang="en-GB" sz="2000" b="1" i="0" u="none" strike="noStrike">
                          <a:solidFill>
                            <a:srgbClr val="808080"/>
                          </a:solidFill>
                          <a:effectLst/>
                          <a:latin typeface="Calibri" panose="020F0502020204030204" pitchFamily="34" charset="0"/>
                        </a:rPr>
                        <a:t>| </a:t>
                      </a:r>
                      <a:r>
                        <a:rPr lang="en-GB" sz="2000" b="1" i="0" u="none" strike="noStrike">
                          <a:solidFill>
                            <a:srgbClr val="8DB4E2"/>
                          </a:solidFill>
                          <a:effectLst/>
                          <a:latin typeface="Calibri" panose="020F0502020204030204" pitchFamily="34" charset="0"/>
                        </a:rPr>
                        <a:t>Azure Retail Prices API</a:t>
                      </a:r>
                      <a:endParaRPr lang="en-GB" sz="2000" b="1" i="0" u="none" strike="noStrike">
                        <a:solidFill>
                          <a:srgbClr val="80808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320224"/>
                  </a:ext>
                </a:extLst>
              </a:tr>
              <a:tr h="160421">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a:noFill/>
                    </a:lnR>
                    <a:lnT>
                      <a:noFill/>
                    </a:lnT>
                    <a:lnB>
                      <a:noFill/>
                    </a:lnB>
                    <a:lnTlToBr w="12700" cmpd="sng">
                      <a:noFill/>
                      <a:prstDash val="solid"/>
                    </a:lnTlToBr>
                    <a:lnBlToTr w="12700" cmpd="sng">
                      <a:noFill/>
                      <a:prstDash val="solid"/>
                    </a:lnBlToTr>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a:noFill/>
                    </a:lnR>
                    <a:lnT>
                      <a:noFill/>
                    </a:lnT>
                    <a:lnB>
                      <a:noFill/>
                    </a:lnB>
                    <a:lnTlToBr w="12700" cmpd="sng">
                      <a:noFill/>
                      <a:prstDash val="solid"/>
                    </a:lnTlToBr>
                    <a:lnBlToTr w="12700" cmpd="sng">
                      <a:noFill/>
                      <a:prstDash val="solid"/>
                    </a:lnBlToTr>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273258797"/>
                  </a:ext>
                </a:extLst>
              </a:tr>
              <a:tr h="479068">
                <a:tc gridSpan="3">
                  <a:txBody>
                    <a:bodyPr/>
                    <a:lstStyle/>
                    <a:p>
                      <a:pPr algn="l" fontAlgn="b">
                        <a:buNone/>
                      </a:pPr>
                      <a:r>
                        <a:rPr lang="en-GB" sz="2400" b="1" i="0" u="none" strike="noStrike">
                          <a:solidFill>
                            <a:srgbClr val="1F4E79"/>
                          </a:solidFill>
                          <a:effectLst/>
                          <a:latin typeface="Calibri" panose="020F0502020204030204" pitchFamily="34" charset="0"/>
                        </a:rPr>
                        <a:t>PAYG Component Breakdown (Monthly)</a:t>
                      </a: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6DCE4"/>
                    </a:solidFill>
                  </a:tcPr>
                </a:tc>
                <a:tc hMerge="1">
                  <a:txBody>
                    <a:bodyPr/>
                    <a:lstStyle/>
                    <a:p>
                      <a:endParaRPr lang="en-GB"/>
                    </a:p>
                  </a:txBody>
                  <a:tcPr/>
                </a:tc>
                <a:tc hMerge="1">
                  <a:txBody>
                    <a:bodyPr/>
                    <a:lstStyle/>
                    <a:p>
                      <a:endParaRPr lang="en-GB"/>
                    </a:p>
                  </a:txBody>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6DCE4"/>
                    </a:solidFill>
                  </a:tcPr>
                </a:tc>
                <a:extLst>
                  <a:ext uri="{0D108BD9-81ED-4DB2-BD59-A6C34878D82A}">
                    <a16:rowId xmlns:a16="http://schemas.microsoft.com/office/drawing/2014/main" val="4212657850"/>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lnTlToBr w="12700" cmpd="sng">
                      <a:noFill/>
                      <a:prstDash val="solid"/>
                    </a:lnTlToBr>
                    <a:lnBlToTr w="12700" cmpd="sng">
                      <a:noFill/>
                      <a:prstDash val="solid"/>
                    </a:lnBlToTr>
                    <a:solidFill>
                      <a:srgbClr val="1F4E79"/>
                    </a:solidFill>
                  </a:tcPr>
                </a:tc>
                <a:tc>
                  <a:txBody>
                    <a:bodyPr/>
                    <a:lstStyle/>
                    <a:p>
                      <a:pPr algn="l" fontAlgn="b">
                        <a:buNone/>
                      </a:pPr>
                      <a:r>
                        <a:rPr lang="en-GB" sz="2400" b="1" i="0" u="none" strike="noStrike">
                          <a:solidFill>
                            <a:srgbClr val="FFFFFF"/>
                          </a:solidFill>
                          <a:effectLst/>
                          <a:latin typeface="Calibri" panose="020F0502020204030204" pitchFamily="34" charset="0"/>
                        </a:rPr>
                        <a:t>London</a:t>
                      </a:r>
                    </a:p>
                  </a:txBody>
                  <a:tcPr marL="8256" marR="8256" marT="8256" marB="0" anchor="b">
                    <a:lnL>
                      <a:noFill/>
                    </a:lnL>
                    <a:lnR>
                      <a:noFill/>
                    </a:lnR>
                    <a:lnT>
                      <a:noFill/>
                    </a:lnT>
                    <a:lnB>
                      <a:noFill/>
                    </a:lnB>
                    <a:lnTlToBr w="12700" cmpd="sng">
                      <a:noFill/>
                      <a:prstDash val="solid"/>
                    </a:lnTlToBr>
                    <a:lnBlToTr w="12700" cmpd="sng">
                      <a:noFill/>
                      <a:prstDash val="solid"/>
                    </a:lnBlToTr>
                    <a:solidFill>
                      <a:srgbClr val="1F4E79"/>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4E79"/>
                    </a:solidFill>
                  </a:tcPr>
                </a:tc>
                <a:extLst>
                  <a:ext uri="{0D108BD9-81ED-4DB2-BD59-A6C34878D82A}">
                    <a16:rowId xmlns:a16="http://schemas.microsoft.com/office/drawing/2014/main" val="2698480142"/>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fontAlgn="b">
                        <a:buNone/>
                      </a:pPr>
                      <a:r>
                        <a:rPr lang="en-GB" sz="2400" b="1" i="0" u="none" strike="noStrike">
                          <a:solidFill>
                            <a:srgbClr val="000000"/>
                          </a:solidFill>
                          <a:effectLst/>
                          <a:latin typeface="Calibri" panose="020F0502020204030204" pitchFamily="34" charset="0"/>
                        </a:rPr>
                        <a:t>AWS</a:t>
                      </a:r>
                    </a:p>
                  </a:txBody>
                  <a:tcPr marL="8256" marR="8256" marT="8256"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ctr" fontAlgn="b">
                        <a:buNone/>
                      </a:pPr>
                      <a:r>
                        <a:rPr lang="en-GB" sz="2400" b="1" i="0" u="none" strike="noStrike">
                          <a:solidFill>
                            <a:srgbClr val="000000"/>
                          </a:solidFill>
                          <a:effectLst/>
                          <a:latin typeface="Calibri" panose="020F0502020204030204" pitchFamily="34" charset="0"/>
                        </a:rPr>
                        <a:t>GCP</a:t>
                      </a:r>
                    </a:p>
                  </a:txBody>
                  <a:tcPr marL="8256" marR="8256" marT="8256"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ctr" fontAlgn="b">
                        <a:buNone/>
                      </a:pPr>
                      <a:r>
                        <a:rPr lang="en-GB" sz="2400" b="1" i="0" u="none" strike="noStrike">
                          <a:solidFill>
                            <a:srgbClr val="000000"/>
                          </a:solidFill>
                          <a:effectLst/>
                          <a:latin typeface="Calibri" panose="020F0502020204030204" pitchFamily="34" charset="0"/>
                        </a:rPr>
                        <a:t>Azure</a:t>
                      </a:r>
                    </a:p>
                  </a:txBody>
                  <a:tcPr marL="8256" marR="8256" marT="8256" marB="0" anchor="b">
                    <a:lnL>
                      <a:noFill/>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2087117143"/>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Compute</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228</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907</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196</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025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228</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410</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155959910"/>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Storage</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63</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587</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91</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005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159</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446</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722904484"/>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OS License</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21</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105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9</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883</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17</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582</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2637787268"/>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Network (5%)</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14</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625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14</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351</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19</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393</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2019845363"/>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Total - Monthly</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328</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223</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311</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264</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424</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831</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1243592117"/>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Annual (GBP)</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3</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938</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677</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3</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735</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172</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5</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097</a:t>
                      </a:r>
                      <a:r>
                        <a:rPr lang="en-GB" sz="2400" b="1" i="0" u="none" strike="noStrike">
                          <a:solidFill>
                            <a:srgbClr val="000000"/>
                          </a:solidFill>
                          <a:effectLst/>
                          <a:latin typeface="Calibri" panose="020F0502020204030204" pitchFamily="34" charset="0"/>
                        </a:rPr>
                        <a:t>,</a:t>
                      </a:r>
                      <a:r>
                        <a:rPr lang="en-DE" sz="2400" b="1" i="0" u="none" strike="noStrike">
                          <a:solidFill>
                            <a:srgbClr val="000000"/>
                          </a:solidFill>
                          <a:effectLst/>
                          <a:latin typeface="Calibri" panose="020F0502020204030204" pitchFamily="34" charset="0"/>
                        </a:rPr>
                        <a:t>970</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1383537535"/>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91853246"/>
                  </a:ext>
                </a:extLst>
              </a:tr>
              <a:tr h="479068">
                <a:tc gridSpan="2">
                  <a:txBody>
                    <a:bodyPr/>
                    <a:lstStyle/>
                    <a:p>
                      <a:pPr algn="l" fontAlgn="b">
                        <a:buNone/>
                      </a:pPr>
                      <a:r>
                        <a:rPr lang="en-GB" sz="2400" b="1" i="0" u="none" strike="noStrike">
                          <a:solidFill>
                            <a:srgbClr val="1F4E79"/>
                          </a:solidFill>
                          <a:effectLst/>
                          <a:latin typeface="Calibri" panose="020F0502020204030204" pitchFamily="34" charset="0"/>
                        </a:rPr>
                        <a:t>3yr Commitment Pricing Breakdown (GBP)</a:t>
                      </a: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6DCE4"/>
                    </a:solidFill>
                  </a:tcPr>
                </a:tc>
                <a:tc hMerge="1">
                  <a:txBody>
                    <a:bodyPr/>
                    <a:lstStyle/>
                    <a:p>
                      <a:endParaRPr lang="en-GB"/>
                    </a:p>
                  </a:txBody>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lnTlToBr w="12700" cmpd="sng">
                      <a:noFill/>
                      <a:prstDash val="solid"/>
                    </a:lnTlToBr>
                    <a:lnBlToTr w="12700" cmpd="sng">
                      <a:noFill/>
                      <a:prstDash val="solid"/>
                    </a:lnBlToTr>
                    <a:solidFill>
                      <a:srgbClr val="D6DCE4"/>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6DCE4"/>
                    </a:solidFill>
                  </a:tcPr>
                </a:tc>
                <a:extLst>
                  <a:ext uri="{0D108BD9-81ED-4DB2-BD59-A6C34878D82A}">
                    <a16:rowId xmlns:a16="http://schemas.microsoft.com/office/drawing/2014/main" val="524040744"/>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lnTlToBr w="12700" cmpd="sng">
                      <a:noFill/>
                      <a:prstDash val="solid"/>
                    </a:lnTlToBr>
                    <a:lnBlToTr w="12700" cmpd="sng">
                      <a:noFill/>
                      <a:prstDash val="solid"/>
                    </a:lnBlToTr>
                    <a:solidFill>
                      <a:srgbClr val="1F4E79"/>
                    </a:solidFill>
                  </a:tcPr>
                </a:tc>
                <a:tc>
                  <a:txBody>
                    <a:bodyPr/>
                    <a:lstStyle/>
                    <a:p>
                      <a:pPr algn="l" fontAlgn="b">
                        <a:buNone/>
                      </a:pPr>
                      <a:r>
                        <a:rPr lang="en-GB" sz="2400" b="1" i="0" u="none" strike="noStrike">
                          <a:solidFill>
                            <a:srgbClr val="FFFFFF"/>
                          </a:solidFill>
                          <a:effectLst/>
                          <a:latin typeface="Calibri" panose="020F0502020204030204" pitchFamily="34" charset="0"/>
                        </a:rPr>
                        <a:t>London</a:t>
                      </a:r>
                    </a:p>
                  </a:txBody>
                  <a:tcPr marL="8256" marR="8256" marT="8256" marB="0" anchor="b">
                    <a:lnL>
                      <a:noFill/>
                    </a:lnL>
                    <a:lnR>
                      <a:noFill/>
                    </a:lnR>
                    <a:lnT>
                      <a:noFill/>
                    </a:lnT>
                    <a:lnB>
                      <a:noFill/>
                    </a:lnB>
                    <a:lnTlToBr w="12700" cmpd="sng">
                      <a:noFill/>
                      <a:prstDash val="solid"/>
                    </a:lnTlToBr>
                    <a:lnBlToTr w="12700" cmpd="sng">
                      <a:noFill/>
                      <a:prstDash val="solid"/>
                    </a:lnBlToTr>
                    <a:solidFill>
                      <a:srgbClr val="1F4E79"/>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1F4E79"/>
                    </a:solidFill>
                  </a:tcPr>
                </a:tc>
                <a:extLst>
                  <a:ext uri="{0D108BD9-81ED-4DB2-BD59-A6C34878D82A}">
                    <a16:rowId xmlns:a16="http://schemas.microsoft.com/office/drawing/2014/main" val="818262096"/>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fontAlgn="b">
                        <a:buNone/>
                      </a:pPr>
                      <a:r>
                        <a:rPr lang="en-GB" sz="2400" b="1" i="0" u="none" strike="noStrike">
                          <a:solidFill>
                            <a:srgbClr val="000000"/>
                          </a:solidFill>
                          <a:effectLst/>
                          <a:latin typeface="Calibri" panose="020F0502020204030204" pitchFamily="34" charset="0"/>
                        </a:rPr>
                        <a:t>AWS</a:t>
                      </a:r>
                    </a:p>
                  </a:txBody>
                  <a:tcPr marL="8256" marR="8256" marT="8256"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ctr" fontAlgn="b">
                        <a:buNone/>
                      </a:pPr>
                      <a:r>
                        <a:rPr lang="en-GB" sz="2400" b="1" i="0" u="none" strike="noStrike">
                          <a:solidFill>
                            <a:srgbClr val="000000"/>
                          </a:solidFill>
                          <a:effectLst/>
                          <a:latin typeface="Calibri" panose="020F0502020204030204" pitchFamily="34" charset="0"/>
                        </a:rPr>
                        <a:t>GCP</a:t>
                      </a:r>
                    </a:p>
                  </a:txBody>
                  <a:tcPr marL="8256" marR="8256" marT="8256"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ctr" fontAlgn="b">
                        <a:buNone/>
                      </a:pPr>
                      <a:r>
                        <a:rPr lang="en-GB" sz="2400" b="1" i="0" u="none" strike="noStrike">
                          <a:solidFill>
                            <a:srgbClr val="000000"/>
                          </a:solidFill>
                          <a:effectLst/>
                          <a:latin typeface="Calibri" panose="020F0502020204030204" pitchFamily="34" charset="0"/>
                        </a:rPr>
                        <a:t>Azure</a:t>
                      </a:r>
                    </a:p>
                  </a:txBody>
                  <a:tcPr marL="8256" marR="8256" marT="8256" marB="0" anchor="b">
                    <a:lnL>
                      <a:noFill/>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2542220453"/>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Total - Monthly</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190</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285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186</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974</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274</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881</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3505649206"/>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Annual</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283</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419</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243</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685</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3</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298</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566</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3418260792"/>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Savings %</a:t>
                      </a:r>
                    </a:p>
                  </a:txBody>
                  <a:tcPr marL="8256" marR="8256" marT="8256" marB="0" anchor="b">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en-DE" sz="2400" b="0" i="0" u="none" strike="noStrike">
                          <a:solidFill>
                            <a:srgbClr val="000000"/>
                          </a:solidFill>
                          <a:effectLst/>
                          <a:latin typeface="Calibri" panose="020F0502020204030204" pitchFamily="34" charset="0"/>
                        </a:rPr>
                        <a:t>42</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0%</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39</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9%</a:t>
                      </a:r>
                    </a:p>
                  </a:txBody>
                  <a:tcPr marL="8256" marR="8256" marT="825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35</a:t>
                      </a:r>
                      <a:r>
                        <a:rPr lang="en-GB" sz="2400" b="0" i="0" u="none" strike="noStrike">
                          <a:solidFill>
                            <a:srgbClr val="000000"/>
                          </a:solidFill>
                          <a:effectLst/>
                          <a:latin typeface="Calibri" panose="020F0502020204030204" pitchFamily="34" charset="0"/>
                        </a:rPr>
                        <a:t>.</a:t>
                      </a:r>
                      <a:r>
                        <a:rPr lang="en-DE" sz="2400" b="0" i="0" u="none" strike="noStrike">
                          <a:solidFill>
                            <a:srgbClr val="000000"/>
                          </a:solidFill>
                          <a:effectLst/>
                          <a:latin typeface="Calibri" panose="020F0502020204030204" pitchFamily="34" charset="0"/>
                        </a:rPr>
                        <a:t>3%</a:t>
                      </a:r>
                    </a:p>
                  </a:txBody>
                  <a:tcPr marL="8256" marR="8256" marT="8256" marB="0" anchor="b">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2FD"/>
                    </a:solidFill>
                  </a:tcPr>
                </a:tc>
                <a:extLst>
                  <a:ext uri="{0D108BD9-81ED-4DB2-BD59-A6C34878D82A}">
                    <a16:rowId xmlns:a16="http://schemas.microsoft.com/office/drawing/2014/main" val="1583354433"/>
                  </a:ext>
                </a:extLst>
              </a:tr>
            </a:tbl>
          </a:graphicData>
        </a:graphic>
      </p:graphicFrame>
    </p:spTree>
    <p:extLst>
      <p:ext uri="{BB962C8B-B14F-4D97-AF65-F5344CB8AC3E}">
        <p14:creationId xmlns:p14="http://schemas.microsoft.com/office/powerpoint/2010/main" val="1161816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10A5-9944-3AED-FC9A-8E5A1D4285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E46C1B-A4B0-79AA-5A23-6D8EA91B79E6}"/>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39</a:t>
            </a:fld>
            <a:endParaRPr lang="en-GB" noProof="0"/>
          </a:p>
        </p:txBody>
      </p:sp>
      <p:sp>
        <p:nvSpPr>
          <p:cNvPr id="4" name="TextBox 3">
            <a:extLst>
              <a:ext uri="{FF2B5EF4-FFF2-40B4-BE49-F238E27FC236}">
                <a16:creationId xmlns:a16="http://schemas.microsoft.com/office/drawing/2014/main" id="{C20D9D89-E403-CA1F-4EEA-CDF27B36E441}"/>
              </a:ext>
            </a:extLst>
          </p:cNvPr>
          <p:cNvSpPr txBox="1"/>
          <p:nvPr/>
        </p:nvSpPr>
        <p:spPr>
          <a:xfrm>
            <a:off x="406009" y="473476"/>
            <a:ext cx="8335936"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Cost Comparison - TCO</a:t>
            </a:r>
            <a:endParaRPr lang="en-GB" sz="6200" noProof="0">
              <a:solidFill>
                <a:srgbClr val="FF0000"/>
              </a:solidFill>
              <a:latin typeface="Fira Sans Light" panose="020B0403050000020004" pitchFamily="34" charset="0"/>
            </a:endParaRPr>
          </a:p>
        </p:txBody>
      </p:sp>
      <p:sp>
        <p:nvSpPr>
          <p:cNvPr id="12" name="TextBox 11">
            <a:extLst>
              <a:ext uri="{FF2B5EF4-FFF2-40B4-BE49-F238E27FC236}">
                <a16:creationId xmlns:a16="http://schemas.microsoft.com/office/drawing/2014/main" id="{7CB5F6D8-648A-4156-C69B-39B74037DA41}"/>
              </a:ext>
            </a:extLst>
          </p:cNvPr>
          <p:cNvSpPr txBox="1"/>
          <p:nvPr/>
        </p:nvSpPr>
        <p:spPr>
          <a:xfrm>
            <a:off x="293713" y="2767695"/>
            <a:ext cx="7331730" cy="5262979"/>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rial" panose="020B0604020202020204" pitchFamily="34" charset="0"/>
              <a:buChar char="•"/>
            </a:pPr>
            <a:r>
              <a:rPr lang="en-GB" sz="2800">
                <a:latin typeface="Fira Sans" panose="020B0503050000020004" pitchFamily="34" charset="0"/>
              </a:rPr>
              <a:t>Windows BYOL – 2019 Only vs AHB</a:t>
            </a:r>
          </a:p>
          <a:p>
            <a:pPr marL="285750" indent="-285750">
              <a:buClr>
                <a:srgbClr val="FF0000"/>
              </a:buClr>
              <a:buFont typeface="Arial" panose="020B0604020202020204" pitchFamily="34" charset="0"/>
              <a:buChar char="•"/>
            </a:pPr>
            <a:r>
              <a:rPr lang="en-GB" sz="2800">
                <a:latin typeface="Fira Sans" panose="020B0503050000020004" pitchFamily="34" charset="0"/>
              </a:rPr>
              <a:t>SQL </a:t>
            </a:r>
            <a:r>
              <a:rPr lang="en-GB" sz="2800">
                <a:solidFill>
                  <a:srgbClr val="FF0000"/>
                </a:solidFill>
                <a:highlight>
                  <a:srgbClr val="FFFF00"/>
                </a:highlight>
                <a:latin typeface="Fira Sans" panose="020B0503050000020004" pitchFamily="34" charset="0"/>
              </a:rPr>
              <a:t>??? How exactly does it net to 0?</a:t>
            </a:r>
          </a:p>
          <a:p>
            <a:pPr marL="285750" indent="-285750">
              <a:buClr>
                <a:srgbClr val="FF0000"/>
              </a:buClr>
              <a:buFont typeface="Arial" panose="020B0604020202020204" pitchFamily="34" charset="0"/>
              <a:buChar char="•"/>
            </a:pPr>
            <a:r>
              <a:rPr lang="en-GB" sz="2800">
                <a:latin typeface="Fira Sans" panose="020B0503050000020004" pitchFamily="34" charset="0"/>
              </a:rPr>
              <a:t>Oracle </a:t>
            </a:r>
            <a:r>
              <a:rPr lang="en-GB" sz="2800" err="1">
                <a:latin typeface="Fira Sans" panose="020B0503050000020004" pitchFamily="34" charset="0"/>
              </a:rPr>
              <a:t>Exadata@Cloud</a:t>
            </a:r>
            <a:r>
              <a:rPr lang="en-GB" sz="2800">
                <a:latin typeface="Fira Sans" panose="020B0503050000020004" pitchFamily="34" charset="0"/>
              </a:rPr>
              <a:t> presents a good opportunity</a:t>
            </a:r>
          </a:p>
          <a:p>
            <a:pPr marL="285750" indent="-285750">
              <a:buClr>
                <a:srgbClr val="FF0000"/>
              </a:buClr>
              <a:buFont typeface="Arial" panose="020B0604020202020204" pitchFamily="34" charset="0"/>
              <a:buChar char="•"/>
            </a:pPr>
            <a:r>
              <a:rPr lang="en-GB" sz="2800">
                <a:latin typeface="Fira Sans" panose="020B0503050000020004" pitchFamily="34" charset="0"/>
              </a:rPr>
              <a:t>DevTest doesn’t need premium spec SSDs</a:t>
            </a:r>
          </a:p>
          <a:p>
            <a:pPr marL="285750" indent="-285750">
              <a:buClr>
                <a:srgbClr val="FF0000"/>
              </a:buClr>
              <a:buFont typeface="Arial" panose="020B0604020202020204" pitchFamily="34" charset="0"/>
              <a:buChar char="•"/>
            </a:pPr>
            <a:endParaRPr lang="en-GB" sz="2800">
              <a:latin typeface="Fira Sans" panose="020B0503050000020004" pitchFamily="34" charset="0"/>
            </a:endParaRPr>
          </a:p>
          <a:p>
            <a:pPr marL="285750" indent="-285750">
              <a:buClr>
                <a:srgbClr val="FF0000"/>
              </a:buClr>
              <a:buFont typeface="Arial" panose="020B0604020202020204" pitchFamily="34" charset="0"/>
              <a:buChar char="•"/>
            </a:pPr>
            <a:r>
              <a:rPr lang="en-GB" sz="2800"/>
              <a:t>v</a:t>
            </a:r>
            <a:r>
              <a:rPr lang="en-DE" sz="2800"/>
              <a:t>s. £</a:t>
            </a:r>
            <a:r>
              <a:rPr lang="en-GB" sz="2800"/>
              <a:t>3,636,242 On-Premise Cost</a:t>
            </a:r>
          </a:p>
          <a:p>
            <a:pPr marL="285750" indent="-285750">
              <a:buClr>
                <a:srgbClr val="FF0000"/>
              </a:buClr>
              <a:buFont typeface="Arial" panose="020B0604020202020204" pitchFamily="34" charset="0"/>
              <a:buChar char="•"/>
            </a:pPr>
            <a:endParaRPr lang="en-GB" sz="2800"/>
          </a:p>
          <a:p>
            <a:pPr marL="285750" indent="-285750">
              <a:buClr>
                <a:srgbClr val="FF0000"/>
              </a:buClr>
              <a:buFont typeface="Arial" panose="020B0604020202020204" pitchFamily="34" charset="0"/>
              <a:buChar char="•"/>
            </a:pPr>
            <a:r>
              <a:rPr lang="en-GB" sz="2800"/>
              <a:t>Credits and Discounts not included</a:t>
            </a:r>
          </a:p>
          <a:p>
            <a:pPr>
              <a:buClr>
                <a:srgbClr val="FF0000"/>
              </a:buClr>
            </a:pPr>
            <a:endParaRPr lang="en-GB" sz="2800">
              <a:latin typeface="Fira Sans" panose="020B0503050000020004" pitchFamily="34" charset="0"/>
            </a:endParaRPr>
          </a:p>
          <a:p>
            <a:pPr marL="285750" indent="-285750">
              <a:buClr>
                <a:srgbClr val="FF0000"/>
              </a:buClr>
              <a:buFont typeface="Arial" panose="020B0604020202020204" pitchFamily="34" charset="0"/>
              <a:buChar char="•"/>
            </a:pPr>
            <a:endParaRPr lang="en-GB" sz="2800">
              <a:latin typeface="Fira Sans" panose="020B0503050000020004" pitchFamily="34" charset="0"/>
            </a:endParaRPr>
          </a:p>
        </p:txBody>
      </p:sp>
      <p:graphicFrame>
        <p:nvGraphicFramePr>
          <p:cNvPr id="14" name="Table 13">
            <a:extLst>
              <a:ext uri="{FF2B5EF4-FFF2-40B4-BE49-F238E27FC236}">
                <a16:creationId xmlns:a16="http://schemas.microsoft.com/office/drawing/2014/main" id="{71B0B39C-FD8E-0726-75E0-155121932434}"/>
              </a:ext>
            </a:extLst>
          </p:cNvPr>
          <p:cNvGraphicFramePr>
            <a:graphicFrameLocks noGrp="1"/>
          </p:cNvGraphicFramePr>
          <p:nvPr/>
        </p:nvGraphicFramePr>
        <p:xfrm>
          <a:off x="8664359" y="2367461"/>
          <a:ext cx="15425928" cy="10464651"/>
        </p:xfrm>
        <a:graphic>
          <a:graphicData uri="http://schemas.openxmlformats.org/drawingml/2006/table">
            <a:tbl>
              <a:tblPr/>
              <a:tblGrid>
                <a:gridCol w="6730365">
                  <a:extLst>
                    <a:ext uri="{9D8B030D-6E8A-4147-A177-3AD203B41FA5}">
                      <a16:colId xmlns:a16="http://schemas.microsoft.com/office/drawing/2014/main" val="3459918798"/>
                    </a:ext>
                  </a:extLst>
                </a:gridCol>
                <a:gridCol w="2898521">
                  <a:extLst>
                    <a:ext uri="{9D8B030D-6E8A-4147-A177-3AD203B41FA5}">
                      <a16:colId xmlns:a16="http://schemas.microsoft.com/office/drawing/2014/main" val="1765058563"/>
                    </a:ext>
                  </a:extLst>
                </a:gridCol>
                <a:gridCol w="2898521">
                  <a:extLst>
                    <a:ext uri="{9D8B030D-6E8A-4147-A177-3AD203B41FA5}">
                      <a16:colId xmlns:a16="http://schemas.microsoft.com/office/drawing/2014/main" val="3004539941"/>
                    </a:ext>
                  </a:extLst>
                </a:gridCol>
                <a:gridCol w="2898521">
                  <a:extLst>
                    <a:ext uri="{9D8B030D-6E8A-4147-A177-3AD203B41FA5}">
                      <a16:colId xmlns:a16="http://schemas.microsoft.com/office/drawing/2014/main" val="3639917881"/>
                    </a:ext>
                  </a:extLst>
                </a:gridCol>
              </a:tblGrid>
              <a:tr h="405606">
                <a:tc gridSpan="4">
                  <a:txBody>
                    <a:bodyPr/>
                    <a:lstStyle/>
                    <a:p>
                      <a:pPr algn="ctr" rtl="0" fontAlgn="ctr">
                        <a:buNone/>
                      </a:pPr>
                      <a:r>
                        <a:rPr lang="en-GB" sz="2400" b="1" i="0" u="none" strike="noStrike">
                          <a:solidFill>
                            <a:srgbClr val="000000"/>
                          </a:solidFill>
                          <a:effectLst/>
                          <a:latin typeface="Calibri" panose="020F0502020204030204" pitchFamily="34" charset="0"/>
                        </a:rPr>
                        <a:t>COMPLETE VIEW (Baseline + Oracle Exadata + Savings)</a:t>
                      </a:r>
                    </a:p>
                  </a:txBody>
                  <a:tcPr marL="3864" marR="3864" marT="3864" marB="0" anchor="ctr">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93672943"/>
                  </a:ext>
                </a:extLst>
              </a:tr>
              <a:tr h="428783">
                <a:tc>
                  <a:txBody>
                    <a:bodyPr/>
                    <a:lstStyle/>
                    <a:p>
                      <a:pPr algn="ctr" rtl="0" fontAlgn="ctr">
                        <a:buNone/>
                      </a:pPr>
                      <a:r>
                        <a:rPr lang="en-GB" sz="2400" b="1" i="0" u="none" strike="noStrike">
                          <a:solidFill>
                            <a:srgbClr val="FFFFFF"/>
                          </a:solidFill>
                          <a:effectLst/>
                          <a:latin typeface="Calibri" panose="020F0502020204030204" pitchFamily="34" charset="0"/>
                        </a:rPr>
                        <a:t>Cost</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GCP (per month)</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AWS (per month)</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Azure (per month)</a:t>
                      </a:r>
                    </a:p>
                  </a:txBody>
                  <a:tcPr marL="3864" marR="3864" marT="3864" marB="0" anchor="ctr">
                    <a:lnL>
                      <a:noFill/>
                    </a:lnL>
                    <a:lnR>
                      <a:noFill/>
                    </a:lnR>
                    <a:lnT>
                      <a:noFill/>
                    </a:lnT>
                    <a:lnB>
                      <a:noFill/>
                    </a:lnB>
                    <a:solidFill>
                      <a:srgbClr val="1F4E79"/>
                    </a:solidFill>
                  </a:tcPr>
                </a:tc>
                <a:extLst>
                  <a:ext uri="{0D108BD9-81ED-4DB2-BD59-A6C34878D82A}">
                    <a16:rowId xmlns:a16="http://schemas.microsoft.com/office/drawing/2014/main" val="2857883305"/>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 Baseline 3yr</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£186,974</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£190,285</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£274,881</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1612050941"/>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 Windows BYOL (SA assumed)</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FF0000"/>
                          </a:solidFill>
                          <a:effectLst/>
                          <a:latin typeface="Calibri" panose="020F0502020204030204" pitchFamily="34" charset="0"/>
                        </a:rPr>
                        <a:t>-£7,220</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-£8,605</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-£17,529</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1705822289"/>
                  </a:ext>
                </a:extLst>
              </a:tr>
              <a:tr h="811215">
                <a:tc>
                  <a:txBody>
                    <a:bodyPr/>
                    <a:lstStyle/>
                    <a:p>
                      <a:pPr algn="l" rtl="0" fontAlgn="ctr">
                        <a:buNone/>
                      </a:pPr>
                      <a:r>
                        <a:rPr lang="en-GB" sz="2400" b="1" i="0" u="none" strike="noStrike">
                          <a:solidFill>
                            <a:srgbClr val="000000"/>
                          </a:solidFill>
                          <a:effectLst/>
                          <a:latin typeface="Calibri" panose="020F0502020204030204" pitchFamily="34" charset="0"/>
                        </a:rPr>
                        <a:t>-SQL SERVER (33 instances, 132 cores)</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FF0000"/>
                          </a:solidFill>
                          <a:effectLst/>
                          <a:latin typeface="Calibri" panose="020F0502020204030204" pitchFamily="34" charset="0"/>
                        </a:rPr>
                        <a:t>TBC</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TBC</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TBC</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1836653943"/>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 Storage tiering (non-prod to HDD)</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FF0000"/>
                          </a:solidFill>
                          <a:effectLst/>
                          <a:latin typeface="Calibri" panose="020F0502020204030204" pitchFamily="34" charset="0"/>
                        </a:rPr>
                        <a:t>-£18,603</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-£10,261</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FF0000"/>
                          </a:solidFill>
                          <a:effectLst/>
                          <a:latin typeface="Calibri" panose="020F0502020204030204" pitchFamily="34" charset="0"/>
                        </a:rPr>
                        <a:t>-£9,964</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4155701867"/>
                  </a:ext>
                </a:extLst>
              </a:tr>
              <a:tr h="811215">
                <a:tc>
                  <a:txBody>
                    <a:bodyPr/>
                    <a:lstStyle/>
                    <a:p>
                      <a:pPr algn="l" rtl="0" fontAlgn="ctr">
                        <a:buNone/>
                      </a:pPr>
                      <a:r>
                        <a:rPr lang="en-GB" sz="2400" b="1" i="0" u="none" strike="noStrike">
                          <a:solidFill>
                            <a:srgbClr val="000000"/>
                          </a:solidFill>
                          <a:effectLst/>
                          <a:latin typeface="Calibri" panose="020F0502020204030204" pitchFamily="34" charset="0"/>
                        </a:rPr>
                        <a:t>+ Option A: Oracle Exadata@Cloud (keep RAC, keep Oracle)</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£42,909</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£42,909</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£42,909</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1636163904"/>
                  </a:ext>
                </a:extLst>
              </a:tr>
              <a:tr h="811215">
                <a:tc>
                  <a:txBody>
                    <a:bodyPr/>
                    <a:lstStyle/>
                    <a:p>
                      <a:pPr algn="l" rtl="0" fontAlgn="ctr">
                        <a:buNone/>
                      </a:pPr>
                      <a:r>
                        <a:rPr lang="en-GB" sz="2400" b="1" i="0" u="none" strike="noStrike">
                          <a:solidFill>
                            <a:srgbClr val="000000"/>
                          </a:solidFill>
                          <a:effectLst/>
                          <a:latin typeface="Calibri" panose="020F0502020204030204" pitchFamily="34" charset="0"/>
                        </a:rPr>
                        <a:t>+ Oracle support (GBP 650K/yr, retained under BYOL)</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£54,167</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£54,167</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£54,167</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4220168511"/>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Ubuntu patching / support</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£1,667</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£1,667</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£1,667</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3159111683"/>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+Database Support (NCS)</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£47,333</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£47,333</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£47,333</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3172849215"/>
                  </a:ext>
                </a:extLst>
              </a:tr>
              <a:tr h="811215">
                <a:tc>
                  <a:txBody>
                    <a:bodyPr/>
                    <a:lstStyle/>
                    <a:p>
                      <a:pPr algn="l" rtl="0" fontAlgn="ctr">
                        <a:buNone/>
                      </a:pPr>
                      <a:r>
                        <a:rPr lang="en-GB" sz="2400" b="1" i="0" u="none" strike="noStrike">
                          <a:solidFill>
                            <a:srgbClr val="000000"/>
                          </a:solidFill>
                          <a:effectLst/>
                          <a:latin typeface="Calibri" panose="020F0502020204030204" pitchFamily="34" charset="0"/>
                        </a:rPr>
                        <a:t>+ Tenable / Guardicore (if applicable)</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£36,991</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£36,991</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£36,991</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717640834"/>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 Microsoft Support (MS Family)</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£6,667</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£6,667</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£6,667</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3494513243"/>
                  </a:ext>
                </a:extLst>
              </a:tr>
              <a:tr h="405606">
                <a:tc>
                  <a:txBody>
                    <a:bodyPr/>
                    <a:lstStyle/>
                    <a:p>
                      <a:pPr algn="l" rtl="0" fontAlgn="ctr">
                        <a:buNone/>
                      </a:pPr>
                      <a:r>
                        <a:rPr lang="en-GB" sz="2400" b="1" i="0" u="none" strike="noStrike">
                          <a:solidFill>
                            <a:srgbClr val="000000"/>
                          </a:solidFill>
                          <a:effectLst/>
                          <a:latin typeface="Calibri" panose="020F0502020204030204" pitchFamily="34" charset="0"/>
                        </a:rPr>
                        <a:t>+ Hyperscaler Support (Enterprise)</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£18,697</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£16,688</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£24,107</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649421055"/>
                  </a:ext>
                </a:extLst>
              </a:tr>
              <a:tr h="1216821">
                <a:tc>
                  <a:txBody>
                    <a:bodyPr/>
                    <a:lstStyle/>
                    <a:p>
                      <a:pPr algn="l" rtl="0" fontAlgn="ctr">
                        <a:buNone/>
                      </a:pPr>
                      <a:r>
                        <a:rPr lang="en-GB" sz="2400" b="1" i="0" u="none" strike="noStrike">
                          <a:solidFill>
                            <a:srgbClr val="000000"/>
                          </a:solidFill>
                          <a:effectLst/>
                          <a:latin typeface="Calibri" panose="020F0502020204030204" pitchFamily="34" charset="0"/>
                        </a:rPr>
                        <a:t>+ Internet egress at 100TB per month - illustrative, Part 2 to quantify actual volume</a:t>
                      </a:r>
                    </a:p>
                  </a:txBody>
                  <a:tcPr marL="3864" marR="3864" marT="3864" marB="0" anchor="ctr">
                    <a:lnL>
                      <a:noFill/>
                    </a:lnL>
                    <a:lnR>
                      <a:noFill/>
                    </a:lnR>
                    <a:lnT>
                      <a:noFill/>
                    </a:lnT>
                    <a:lnB>
                      <a:noFill/>
                    </a:lnB>
                    <a:noFill/>
                  </a:tcPr>
                </a:tc>
                <a:tc>
                  <a:txBody>
                    <a:bodyPr/>
                    <a:lstStyle/>
                    <a:p>
                      <a:pPr algn="ctr" rtl="0" fontAlgn="ctr">
                        <a:buNone/>
                      </a:pPr>
                      <a:r>
                        <a:rPr lang="en-GB" sz="2400" b="0" i="0" u="none" strike="noStrike">
                          <a:solidFill>
                            <a:srgbClr val="000000"/>
                          </a:solidFill>
                          <a:effectLst/>
                          <a:latin typeface="Calibri" panose="020F0502020204030204" pitchFamily="34" charset="0"/>
                        </a:rPr>
                        <a:t>£6,274</a:t>
                      </a:r>
                    </a:p>
                  </a:txBody>
                  <a:tcPr marL="3864" marR="3864" marT="3864" marB="0" anchor="ctr">
                    <a:lnL>
                      <a:noFill/>
                    </a:lnL>
                    <a:lnR>
                      <a:noFill/>
                    </a:lnR>
                    <a:lnT>
                      <a:noFill/>
                    </a:lnT>
                    <a:lnB>
                      <a:noFill/>
                    </a:lnB>
                    <a:solidFill>
                      <a:srgbClr val="E8F5E9"/>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£5,889</a:t>
                      </a:r>
                    </a:p>
                  </a:txBody>
                  <a:tcPr marL="3864" marR="3864" marT="3864" marB="0" anchor="ctr">
                    <a:lnL>
                      <a:noFill/>
                    </a:lnL>
                    <a:lnR>
                      <a:noFill/>
                    </a:lnR>
                    <a:lnT>
                      <a:noFill/>
                    </a:lnT>
                    <a:lnB>
                      <a:noFill/>
                    </a:lnB>
                    <a:solidFill>
                      <a:srgbClr val="FFF3E0"/>
                    </a:solidFill>
                  </a:tcPr>
                </a:tc>
                <a:tc>
                  <a:txBody>
                    <a:bodyPr/>
                    <a:lstStyle/>
                    <a:p>
                      <a:pPr algn="ctr" rtl="0" fontAlgn="ctr">
                        <a:buNone/>
                      </a:pPr>
                      <a:r>
                        <a:rPr lang="en-GB" sz="2400" b="0" i="0" u="none" strike="noStrike">
                          <a:solidFill>
                            <a:srgbClr val="000000"/>
                          </a:solidFill>
                          <a:effectLst/>
                          <a:latin typeface="Calibri" panose="020F0502020204030204" pitchFamily="34" charset="0"/>
                        </a:rPr>
                        <a:t>£4,832</a:t>
                      </a:r>
                    </a:p>
                  </a:txBody>
                  <a:tcPr marL="3864" marR="3864" marT="3864" marB="0" anchor="ctr">
                    <a:lnL>
                      <a:noFill/>
                    </a:lnL>
                    <a:lnR>
                      <a:noFill/>
                    </a:lnR>
                    <a:lnT>
                      <a:noFill/>
                    </a:lnT>
                    <a:lnB>
                      <a:noFill/>
                    </a:lnB>
                    <a:solidFill>
                      <a:srgbClr val="E3F2FD"/>
                    </a:solidFill>
                  </a:tcPr>
                </a:tc>
                <a:extLst>
                  <a:ext uri="{0D108BD9-81ED-4DB2-BD59-A6C34878D82A}">
                    <a16:rowId xmlns:a16="http://schemas.microsoft.com/office/drawing/2014/main" val="1491803263"/>
                  </a:ext>
                </a:extLst>
              </a:tr>
              <a:tr h="405606">
                <a:tc>
                  <a:txBody>
                    <a:bodyPr/>
                    <a:lstStyle/>
                    <a:p>
                      <a:pPr algn="l" rtl="0" fontAlgn="ctr">
                        <a:buNone/>
                      </a:pPr>
                      <a:r>
                        <a:rPr lang="en-GB" sz="2400" b="1" i="0" u="none" strike="noStrike">
                          <a:solidFill>
                            <a:srgbClr val="FFFFFF"/>
                          </a:solidFill>
                          <a:effectLst/>
                          <a:latin typeface="Calibri" panose="020F0502020204030204" pitchFamily="34" charset="0"/>
                        </a:rPr>
                        <a:t>COMPLETE VIEW (Monthly)</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£375,856</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£383,729</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£466,060</a:t>
                      </a:r>
                    </a:p>
                  </a:txBody>
                  <a:tcPr marL="3864" marR="3864" marT="3864" marB="0" anchor="ctr">
                    <a:lnL>
                      <a:noFill/>
                    </a:lnL>
                    <a:lnR>
                      <a:noFill/>
                    </a:lnR>
                    <a:lnT>
                      <a:noFill/>
                    </a:lnT>
                    <a:lnB>
                      <a:noFill/>
                    </a:lnB>
                    <a:solidFill>
                      <a:srgbClr val="1F4E79"/>
                    </a:solidFill>
                  </a:tcPr>
                </a:tc>
                <a:extLst>
                  <a:ext uri="{0D108BD9-81ED-4DB2-BD59-A6C34878D82A}">
                    <a16:rowId xmlns:a16="http://schemas.microsoft.com/office/drawing/2014/main" val="3661385750"/>
                  </a:ext>
                </a:extLst>
              </a:tr>
              <a:tr h="405606">
                <a:tc>
                  <a:txBody>
                    <a:bodyPr/>
                    <a:lstStyle/>
                    <a:p>
                      <a:pPr algn="l" rtl="0" fontAlgn="ctr">
                        <a:buNone/>
                      </a:pPr>
                      <a:r>
                        <a:rPr lang="en-GB" sz="2400" b="1" i="0" u="none" strike="noStrike">
                          <a:solidFill>
                            <a:srgbClr val="FFFFFF"/>
                          </a:solidFill>
                          <a:effectLst/>
                          <a:latin typeface="Calibri" panose="020F0502020204030204" pitchFamily="34" charset="0"/>
                        </a:rPr>
                        <a:t>COMPLETE VIEW (Annual)</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£4,510,268</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£4,604,751</a:t>
                      </a:r>
                    </a:p>
                  </a:txBody>
                  <a:tcPr marL="3864" marR="3864" marT="3864" marB="0" anchor="ctr">
                    <a:lnL>
                      <a:noFill/>
                    </a:lnL>
                    <a:lnR>
                      <a:noFill/>
                    </a:lnR>
                    <a:lnT>
                      <a:noFill/>
                    </a:lnT>
                    <a:lnB>
                      <a:noFill/>
                    </a:lnB>
                    <a:solidFill>
                      <a:srgbClr val="1F4E79"/>
                    </a:solidFill>
                  </a:tcPr>
                </a:tc>
                <a:tc>
                  <a:txBody>
                    <a:bodyPr/>
                    <a:lstStyle/>
                    <a:p>
                      <a:pPr algn="ctr" rtl="0" fontAlgn="ctr">
                        <a:buNone/>
                      </a:pPr>
                      <a:r>
                        <a:rPr lang="en-GB" sz="2400" b="1" i="0" u="none" strike="noStrike">
                          <a:solidFill>
                            <a:srgbClr val="FFFFFF"/>
                          </a:solidFill>
                          <a:effectLst/>
                          <a:latin typeface="Calibri" panose="020F0502020204030204" pitchFamily="34" charset="0"/>
                        </a:rPr>
                        <a:t>£5,592,724</a:t>
                      </a:r>
                    </a:p>
                  </a:txBody>
                  <a:tcPr marL="3864" marR="3864" marT="3864" marB="0" anchor="ctr">
                    <a:lnL>
                      <a:noFill/>
                    </a:lnL>
                    <a:lnR>
                      <a:noFill/>
                    </a:lnR>
                    <a:lnT>
                      <a:noFill/>
                    </a:lnT>
                    <a:lnB>
                      <a:noFill/>
                    </a:lnB>
                    <a:solidFill>
                      <a:srgbClr val="1F4E79"/>
                    </a:solidFill>
                  </a:tcPr>
                </a:tc>
                <a:extLst>
                  <a:ext uri="{0D108BD9-81ED-4DB2-BD59-A6C34878D82A}">
                    <a16:rowId xmlns:a16="http://schemas.microsoft.com/office/drawing/2014/main" val="3162235110"/>
                  </a:ext>
                </a:extLst>
              </a:tr>
              <a:tr h="405606">
                <a:tc>
                  <a:txBody>
                    <a:bodyPr/>
                    <a:lstStyle/>
                    <a:p>
                      <a:pPr algn="l" rtl="0" fontAlgn="ctr">
                        <a:buNone/>
                      </a:pPr>
                      <a:r>
                        <a:rPr lang="en-GB" sz="2400" b="0" i="0" u="none" strike="noStrike">
                          <a:solidFill>
                            <a:schemeClr val="tx1"/>
                          </a:solidFill>
                          <a:effectLst/>
                          <a:latin typeface="Calibri" panose="020F0502020204030204" pitchFamily="34" charset="0"/>
                        </a:rPr>
                        <a:t>On Prem Comparison</a:t>
                      </a:r>
                    </a:p>
                  </a:txBody>
                  <a:tcPr marL="3864" marR="3864" marT="3864" marB="0" anchor="ctr">
                    <a:lnL>
                      <a:noFill/>
                    </a:lnL>
                    <a:lnR>
                      <a:noFill/>
                    </a:lnR>
                    <a:lnT>
                      <a:noFill/>
                    </a:lnT>
                    <a:lnB>
                      <a:noFill/>
                    </a:lnB>
                    <a:solidFill>
                      <a:srgbClr val="CCC0DA"/>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£3,636,342</a:t>
                      </a:r>
                    </a:p>
                  </a:txBody>
                  <a:tcPr marL="3864" marR="3864" marT="3864" marB="0" anchor="ctr">
                    <a:lnL>
                      <a:noFill/>
                    </a:lnL>
                    <a:lnR>
                      <a:noFill/>
                    </a:lnR>
                    <a:lnT>
                      <a:noFill/>
                    </a:lnT>
                    <a:lnB>
                      <a:noFill/>
                    </a:lnB>
                    <a:solidFill>
                      <a:srgbClr val="CCC0DA"/>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£3,636,342</a:t>
                      </a:r>
                    </a:p>
                  </a:txBody>
                  <a:tcPr marL="3864" marR="3864" marT="3864" marB="0" anchor="ctr">
                    <a:lnL>
                      <a:noFill/>
                    </a:lnL>
                    <a:lnR>
                      <a:noFill/>
                    </a:lnR>
                    <a:lnT>
                      <a:noFill/>
                    </a:lnT>
                    <a:lnB>
                      <a:noFill/>
                    </a:lnB>
                    <a:solidFill>
                      <a:srgbClr val="CCC0DA"/>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£3,636,342</a:t>
                      </a:r>
                    </a:p>
                  </a:txBody>
                  <a:tcPr marL="3864" marR="3864" marT="3864" marB="0" anchor="ctr">
                    <a:lnL>
                      <a:noFill/>
                    </a:lnL>
                    <a:lnR>
                      <a:noFill/>
                    </a:lnR>
                    <a:lnT>
                      <a:noFill/>
                    </a:lnT>
                    <a:lnB>
                      <a:noFill/>
                    </a:lnB>
                    <a:solidFill>
                      <a:srgbClr val="CCC0DA"/>
                    </a:solidFill>
                  </a:tcPr>
                </a:tc>
                <a:extLst>
                  <a:ext uri="{0D108BD9-81ED-4DB2-BD59-A6C34878D82A}">
                    <a16:rowId xmlns:a16="http://schemas.microsoft.com/office/drawing/2014/main" val="3694488561"/>
                  </a:ext>
                </a:extLst>
              </a:tr>
              <a:tr h="405606">
                <a:tc>
                  <a:txBody>
                    <a:bodyPr/>
                    <a:lstStyle/>
                    <a:p>
                      <a:pPr algn="l" rtl="0" fontAlgn="ctr">
                        <a:buNone/>
                      </a:pPr>
                      <a:r>
                        <a:rPr lang="en-GB" sz="2400" b="0" i="0" u="none" strike="noStrike">
                          <a:solidFill>
                            <a:schemeClr val="tx1"/>
                          </a:solidFill>
                          <a:effectLst/>
                          <a:latin typeface="Calibri" panose="020F0502020204030204" pitchFamily="34" charset="0"/>
                        </a:rPr>
                        <a:t>Differential</a:t>
                      </a:r>
                    </a:p>
                  </a:txBody>
                  <a:tcPr marL="3864" marR="3864" marT="3864" marB="0" anchor="ctr">
                    <a:lnL>
                      <a:noFill/>
                    </a:lnL>
                    <a:lnR>
                      <a:noFill/>
                    </a:lnR>
                    <a:lnT>
                      <a:noFill/>
                    </a:lnT>
                    <a:lnB>
                      <a:noFill/>
                    </a:lnB>
                    <a:solidFill>
                      <a:srgbClr val="92CDDC"/>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£873,927</a:t>
                      </a:r>
                    </a:p>
                  </a:txBody>
                  <a:tcPr marL="3864" marR="3864" marT="3864" marB="0" anchor="ctr">
                    <a:lnL>
                      <a:noFill/>
                    </a:lnL>
                    <a:lnR>
                      <a:noFill/>
                    </a:lnR>
                    <a:lnT>
                      <a:noFill/>
                    </a:lnT>
                    <a:lnB>
                      <a:noFill/>
                    </a:lnB>
                    <a:solidFill>
                      <a:srgbClr val="92CDDC"/>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£968,410</a:t>
                      </a:r>
                    </a:p>
                  </a:txBody>
                  <a:tcPr marL="3864" marR="3864" marT="3864" marB="0" anchor="ctr">
                    <a:lnL>
                      <a:noFill/>
                    </a:lnL>
                    <a:lnR>
                      <a:noFill/>
                    </a:lnR>
                    <a:lnT>
                      <a:noFill/>
                    </a:lnT>
                    <a:lnB>
                      <a:noFill/>
                    </a:lnB>
                    <a:solidFill>
                      <a:srgbClr val="92CDDC"/>
                    </a:solidFill>
                  </a:tcPr>
                </a:tc>
                <a:tc>
                  <a:txBody>
                    <a:bodyPr/>
                    <a:lstStyle/>
                    <a:p>
                      <a:pPr algn="ctr" rtl="0" fontAlgn="ctr">
                        <a:buNone/>
                      </a:pPr>
                      <a:r>
                        <a:rPr lang="en-GB" sz="2400" b="0" i="0" u="none" strike="noStrike">
                          <a:solidFill>
                            <a:schemeClr val="tx1"/>
                          </a:solidFill>
                          <a:effectLst/>
                          <a:latin typeface="Calibri" panose="020F0502020204030204" pitchFamily="34" charset="0"/>
                        </a:rPr>
                        <a:t>£1,956,383</a:t>
                      </a:r>
                    </a:p>
                  </a:txBody>
                  <a:tcPr marL="3864" marR="3864" marT="3864" marB="0" anchor="ctr">
                    <a:lnL>
                      <a:noFill/>
                    </a:lnL>
                    <a:lnR>
                      <a:noFill/>
                    </a:lnR>
                    <a:lnT>
                      <a:noFill/>
                    </a:lnT>
                    <a:lnB>
                      <a:noFill/>
                    </a:lnB>
                    <a:solidFill>
                      <a:srgbClr val="92CDDC"/>
                    </a:solidFill>
                  </a:tcPr>
                </a:tc>
                <a:extLst>
                  <a:ext uri="{0D108BD9-81ED-4DB2-BD59-A6C34878D82A}">
                    <a16:rowId xmlns:a16="http://schemas.microsoft.com/office/drawing/2014/main" val="3613763367"/>
                  </a:ext>
                </a:extLst>
              </a:tr>
              <a:tr h="706915">
                <a:tc gridSpan="4">
                  <a:txBody>
                    <a:bodyPr/>
                    <a:lstStyle/>
                    <a:p>
                      <a:pPr algn="l" fontAlgn="ctr">
                        <a:buNone/>
                      </a:pPr>
                      <a:r>
                        <a:rPr lang="en-GB" sz="1800" b="0" i="0" u="none" strike="noStrike">
                          <a:solidFill>
                            <a:srgbClr val="000000"/>
                          </a:solidFill>
                          <a:effectLst/>
                          <a:latin typeface="Calibri" panose="020F0502020204030204" pitchFamily="34" charset="0"/>
                        </a:rPr>
                        <a:t>BASELINE (3yr Committed, London, Monthly) Includes: compute, storage, OS, 5% network placeholder (inter-zone/region), Oracle (Option A Exadata@Cloud), Oracle support retained under BYOL, Windows + SQL Server BYOL (SA assumed) SQL surcharge is not added because SA is assumed in place</a:t>
                      </a:r>
                    </a:p>
                  </a:txBody>
                  <a:tcPr marL="3864" marR="3864" marT="3864" marB="0" anchor="ctr">
                    <a:lnL>
                      <a:noFill/>
                    </a:lnL>
                    <a:lnR>
                      <a:noFill/>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9468951"/>
                  </a:ext>
                </a:extLst>
              </a:tr>
            </a:tbl>
          </a:graphicData>
        </a:graphic>
      </p:graphicFrame>
    </p:spTree>
    <p:extLst>
      <p:ext uri="{BB962C8B-B14F-4D97-AF65-F5344CB8AC3E}">
        <p14:creationId xmlns:p14="http://schemas.microsoft.com/office/powerpoint/2010/main" val="1422730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8625D-AB1F-8D85-FA31-9C251031FE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A7B96-F4C6-35E8-10B7-13C19035B16E}"/>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40</a:t>
            </a:fld>
            <a:endParaRPr lang="en-GB" noProof="0"/>
          </a:p>
        </p:txBody>
      </p:sp>
      <p:sp>
        <p:nvSpPr>
          <p:cNvPr id="4" name="TextBox 3">
            <a:extLst>
              <a:ext uri="{FF2B5EF4-FFF2-40B4-BE49-F238E27FC236}">
                <a16:creationId xmlns:a16="http://schemas.microsoft.com/office/drawing/2014/main" id="{69230930-958D-AE96-F953-99F5CC5BFEC5}"/>
              </a:ext>
            </a:extLst>
          </p:cNvPr>
          <p:cNvSpPr txBox="1"/>
          <p:nvPr/>
        </p:nvSpPr>
        <p:spPr>
          <a:xfrm>
            <a:off x="406009" y="473476"/>
            <a:ext cx="11024172" cy="1046440"/>
          </a:xfrm>
          <a:prstGeom prst="rect">
            <a:avLst/>
          </a:prstGeom>
          <a:noFill/>
        </p:spPr>
        <p:txBody>
          <a:bodyPr wrap="none" rtlCol="0">
            <a:spAutoFit/>
          </a:bodyPr>
          <a:lstStyle/>
          <a:p>
            <a:r>
              <a:rPr lang="en-US" sz="6200" err="1">
                <a:solidFill>
                  <a:srgbClr val="FF0000"/>
                </a:solidFill>
                <a:latin typeface="Fira Sans Light" panose="020B0403050000020004" pitchFamily="34" charset="0"/>
              </a:rPr>
              <a:t>Hyperscaler</a:t>
            </a:r>
            <a:r>
              <a:rPr lang="en-US" sz="6200">
                <a:solidFill>
                  <a:srgbClr val="FF0000"/>
                </a:solidFill>
                <a:latin typeface="Fira Sans Light" panose="020B0403050000020004" pitchFamily="34" charset="0"/>
              </a:rPr>
              <a:t> Funding Summary</a:t>
            </a:r>
            <a:endParaRPr lang="en-GB" sz="620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998CD89A-29BF-C169-3146-B2037F934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6412" y="3421608"/>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2F776BF8-954D-DC25-565B-0621313827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5343" y="3577038"/>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31C892FD-0969-DA5F-16C4-9BC5210A6A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5390" y="3338474"/>
            <a:ext cx="1366355" cy="13663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3A5D80BF-E46F-8F3D-12A9-22D3A2596FAC}"/>
              </a:ext>
            </a:extLst>
          </p:cNvPr>
          <p:cNvGraphicFramePr>
            <a:graphicFrameLocks noGrp="1"/>
          </p:cNvGraphicFramePr>
          <p:nvPr/>
        </p:nvGraphicFramePr>
        <p:xfrm>
          <a:off x="1765004" y="2930725"/>
          <a:ext cx="21533390" cy="7558365"/>
        </p:xfrm>
        <a:graphic>
          <a:graphicData uri="http://schemas.openxmlformats.org/drawingml/2006/table">
            <a:tbl>
              <a:tblPr firstRow="1" bandRow="1">
                <a:tableStyleId>{5940675A-B579-460E-94D1-54222C63F5DA}</a:tableStyleId>
              </a:tblPr>
              <a:tblGrid>
                <a:gridCol w="7355027">
                  <a:extLst>
                    <a:ext uri="{9D8B030D-6E8A-4147-A177-3AD203B41FA5}">
                      <a16:colId xmlns:a16="http://schemas.microsoft.com/office/drawing/2014/main" val="3363330012"/>
                    </a:ext>
                  </a:extLst>
                </a:gridCol>
                <a:gridCol w="4740891">
                  <a:extLst>
                    <a:ext uri="{9D8B030D-6E8A-4147-A177-3AD203B41FA5}">
                      <a16:colId xmlns:a16="http://schemas.microsoft.com/office/drawing/2014/main" val="1756671025"/>
                    </a:ext>
                  </a:extLst>
                </a:gridCol>
                <a:gridCol w="4718736">
                  <a:extLst>
                    <a:ext uri="{9D8B030D-6E8A-4147-A177-3AD203B41FA5}">
                      <a16:colId xmlns:a16="http://schemas.microsoft.com/office/drawing/2014/main" val="3364758751"/>
                    </a:ext>
                  </a:extLst>
                </a:gridCol>
                <a:gridCol w="4718736">
                  <a:extLst>
                    <a:ext uri="{9D8B030D-6E8A-4147-A177-3AD203B41FA5}">
                      <a16:colId xmlns:a16="http://schemas.microsoft.com/office/drawing/2014/main" val="1513833535"/>
                    </a:ext>
                  </a:extLst>
                </a:gridCol>
              </a:tblGrid>
              <a:tr h="2191538">
                <a:tc>
                  <a:txBody>
                    <a:bodyPr/>
                    <a:lstStyle/>
                    <a:p>
                      <a:endParaRPr lang="en-IN" sz="3200">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extLst>
                  <a:ext uri="{0D108BD9-81ED-4DB2-BD59-A6C34878D82A}">
                    <a16:rowId xmlns:a16="http://schemas.microsoft.com/office/drawing/2014/main" val="1473724744"/>
                  </a:ext>
                </a:extLst>
              </a:tr>
              <a:tr h="1042807">
                <a:tc>
                  <a:txBody>
                    <a:bodyPr/>
                    <a:lstStyle/>
                    <a:p>
                      <a:r>
                        <a:rPr lang="en-US" sz="3200">
                          <a:latin typeface="Fira Sans" panose="020B0503050000020004" pitchFamily="34" charset="0"/>
                        </a:rPr>
                        <a:t>Total cloud spend (3-yrs committed annual)</a:t>
                      </a: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a:ea typeface="+mn-ea"/>
                          <a:cs typeface="+mn-cs"/>
                        </a:rPr>
                        <a:t>$ </a:t>
                      </a:r>
                      <a:r>
                        <a:rPr lang="en-GB" sz="3200" b="0" i="0" u="none" strike="noStrike" kern="1200" noProof="0">
                          <a:solidFill>
                            <a:srgbClr val="000000"/>
                          </a:solidFill>
                          <a:effectLst/>
                          <a:latin typeface="Fira Sans"/>
                          <a:ea typeface="+mn-ea"/>
                          <a:cs typeface="+mn-cs"/>
                        </a:rPr>
                        <a:t>3,024,396</a:t>
                      </a:r>
                      <a:endParaRPr lang="en-IN" sz="3200" b="0" i="0" u="none" strike="noStrike" kern="1200">
                        <a:solidFill>
                          <a:srgbClr val="000000"/>
                        </a:solidFill>
                        <a:effectLst/>
                        <a:latin typeface="Fira Sans"/>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$ 4,368,962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a:t>
                      </a:r>
                      <a:r>
                        <a:rPr lang="en-IN" sz="3200" b="0" i="0" u="none" strike="noStrike" kern="1200">
                          <a:solidFill>
                            <a:srgbClr val="000000"/>
                          </a:solidFill>
                          <a:effectLst/>
                          <a:latin typeface="Fira Sans" panose="020B0503050000020004" pitchFamily="34" charset="0"/>
                          <a:ea typeface="+mn-ea"/>
                          <a:cs typeface="+mn-cs"/>
                        </a:rPr>
                        <a:t>2,243,685</a:t>
                      </a:r>
                    </a:p>
                  </a:txBody>
                  <a:tcPr/>
                </a:tc>
                <a:extLst>
                  <a:ext uri="{0D108BD9-81ED-4DB2-BD59-A6C34878D82A}">
                    <a16:rowId xmlns:a16="http://schemas.microsoft.com/office/drawing/2014/main" val="772295587"/>
                  </a:ext>
                </a:extLst>
              </a:tr>
              <a:tr h="1042807">
                <a:tc>
                  <a:txBody>
                    <a:bodyPr/>
                    <a:lstStyle/>
                    <a:p>
                      <a:r>
                        <a:rPr lang="en-US" sz="3200">
                          <a:latin typeface="Fira Sans" panose="020B0503050000020004" pitchFamily="34" charset="0"/>
                        </a:rPr>
                        <a:t>Total Partner Payment (A)</a:t>
                      </a:r>
                    </a:p>
                    <a:p>
                      <a:r>
                        <a:rPr lang="en-US" sz="3200">
                          <a:latin typeface="Fira Sans" panose="020B0503050000020004" pitchFamily="34" charset="0"/>
                        </a:rPr>
                        <a:t>(to discount migration cost)</a:t>
                      </a: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0" i="0" u="none" strike="noStrike" kern="1200">
                          <a:solidFill>
                            <a:srgbClr val="000000"/>
                          </a:solidFill>
                          <a:effectLst/>
                          <a:latin typeface="Fira Sans"/>
                          <a:ea typeface="+mn-ea"/>
                          <a:cs typeface="+mn-cs"/>
                        </a:rPr>
                        <a:t>$ </a:t>
                      </a:r>
                      <a:r>
                        <a:rPr lang="en-GB" sz="3200" b="0" i="0" u="none" strike="noStrike">
                          <a:solidFill>
                            <a:srgbClr val="000000"/>
                          </a:solidFill>
                          <a:effectLst/>
                          <a:latin typeface="Fira Sans" panose="020B0503050000020004" pitchFamily="34" charset="0"/>
                        </a:rPr>
                        <a:t>1,757,600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3200" b="0" i="0" u="none" strike="noStrike" kern="1200">
                        <a:solidFill>
                          <a:srgbClr val="000000"/>
                        </a:solidFill>
                        <a:effectLst/>
                        <a:latin typeface="Fira Sans"/>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3200" b="0" i="0" u="none" strike="noStrike">
                        <a:solidFill>
                          <a:srgbClr val="000000"/>
                        </a:solidFill>
                        <a:effectLst/>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0" i="0" u="none" strike="noStrike" kern="1200">
                          <a:solidFill>
                            <a:srgbClr val="000000"/>
                          </a:solidFill>
                          <a:effectLst/>
                          <a:latin typeface="Fira Sans" panose="020B0503050000020004" pitchFamily="34" charset="0"/>
                          <a:ea typeface="+mn-ea"/>
                          <a:cs typeface="+mn-cs"/>
                        </a:rPr>
                        <a:t>$ </a:t>
                      </a:r>
                      <a:r>
                        <a:rPr lang="en-GB" sz="3200" b="0" i="0" u="none" strike="noStrike">
                          <a:solidFill>
                            <a:srgbClr val="000000"/>
                          </a:solidFill>
                          <a:effectLst/>
                          <a:latin typeface="Fira Sans" panose="020B0503050000020004" pitchFamily="34" charset="0"/>
                        </a:rPr>
                        <a:t>1,080,498</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3200" b="0" i="0" u="none" strike="noStrike" kern="1200">
                        <a:solidFill>
                          <a:srgbClr val="000000"/>
                        </a:solidFill>
                        <a:effectLst/>
                        <a:latin typeface="Fira Sans" panose="020B0503050000020004" pitchFamily="34" charset="0"/>
                        <a:ea typeface="+mn-ea"/>
                        <a:cs typeface="+mn-cs"/>
                      </a:endParaRPr>
                    </a:p>
                  </a:txBody>
                  <a:tcPr/>
                </a:tc>
                <a:extLst>
                  <a:ext uri="{0D108BD9-81ED-4DB2-BD59-A6C34878D82A}">
                    <a16:rowId xmlns:a16="http://schemas.microsoft.com/office/drawing/2014/main" val="1208268411"/>
                  </a:ext>
                </a:extLst>
              </a:tr>
              <a:tr h="1198506">
                <a:tc>
                  <a:txBody>
                    <a:bodyPr/>
                    <a:lstStyle/>
                    <a:p>
                      <a:r>
                        <a:rPr lang="en-US" sz="3200">
                          <a:latin typeface="Fira Sans" panose="020B0503050000020004" pitchFamily="34" charset="0"/>
                        </a:rPr>
                        <a:t>Total Hyperscaler Credits (B)</a:t>
                      </a:r>
                    </a:p>
                    <a:p>
                      <a:r>
                        <a:rPr lang="en-US" sz="3200" kern="1200">
                          <a:solidFill>
                            <a:schemeClr val="tx1"/>
                          </a:solidFill>
                          <a:latin typeface="Fira Sans" panose="020B0503050000020004" pitchFamily="34" charset="0"/>
                          <a:ea typeface="+mn-ea"/>
                          <a:cs typeface="+mn-cs"/>
                        </a:rPr>
                        <a:t>(to offset </a:t>
                      </a:r>
                      <a:r>
                        <a:rPr lang="en-US" sz="3200">
                          <a:latin typeface="Fira Sans" panose="020B0503050000020004" pitchFamily="34" charset="0"/>
                        </a:rPr>
                        <a:t>Cloud</a:t>
                      </a:r>
                      <a:r>
                        <a:rPr lang="en-US" sz="3200" kern="1200">
                          <a:solidFill>
                            <a:schemeClr val="tx1"/>
                          </a:solidFill>
                          <a:latin typeface="Fira Sans" panose="020B0503050000020004" pitchFamily="34" charset="0"/>
                          <a:ea typeface="+mn-ea"/>
                          <a:cs typeface="+mn-cs"/>
                        </a:rPr>
                        <a:t> consumption)</a:t>
                      </a:r>
                      <a:endParaRPr lang="en-IN" sz="3200" kern="1200">
                        <a:solidFill>
                          <a:schemeClr val="tx1"/>
                        </a:solidFill>
                        <a:latin typeface="Fira Sans" panose="020B05030500000200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$ 756,099</a:t>
                      </a:r>
                    </a:p>
                  </a:txBody>
                  <a:tcPr/>
                </a:tc>
                <a:tc>
                  <a:txBody>
                    <a:bodyPr/>
                    <a:lstStyle/>
                    <a:p>
                      <a:pPr algn="ctr"/>
                      <a:r>
                        <a:rPr lang="en-US" sz="3200">
                          <a:solidFill>
                            <a:srgbClr val="FF0000"/>
                          </a:solidFill>
                          <a:latin typeface="Fira Sans" panose="020B0503050000020004" pitchFamily="34" charset="0"/>
                        </a:rPr>
                        <a:t>-</a:t>
                      </a:r>
                      <a:endParaRPr lang="en-IN" sz="3200">
                        <a:solidFill>
                          <a:srgbClr val="FF0000"/>
                        </a:solidFill>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$ 745,192</a:t>
                      </a:r>
                    </a:p>
                  </a:txBody>
                  <a:tcPr/>
                </a:tc>
                <a:extLst>
                  <a:ext uri="{0D108BD9-81ED-4DB2-BD59-A6C34878D82A}">
                    <a16:rowId xmlns:a16="http://schemas.microsoft.com/office/drawing/2014/main" val="1493135200"/>
                  </a:ext>
                </a:extLst>
              </a:tr>
              <a:tr h="1042807">
                <a:tc>
                  <a:txBody>
                    <a:bodyPr/>
                    <a:lstStyle/>
                    <a:p>
                      <a:r>
                        <a:rPr lang="en-IN" sz="3200">
                          <a:latin typeface="Fira Sans" panose="020B0503050000020004" pitchFamily="34" charset="0"/>
                        </a:rPr>
                        <a:t>Total funding in USD (A+B)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$ 2,513,699</a:t>
                      </a:r>
                    </a:p>
                  </a:txBody>
                  <a:tcPr/>
                </a:tc>
                <a:tc>
                  <a:txBody>
                    <a:bodyPr/>
                    <a:lstStyle/>
                    <a:p>
                      <a:pPr algn="ctr"/>
                      <a:r>
                        <a:rPr lang="en-IN" sz="3200">
                          <a:solidFill>
                            <a:srgbClr val="FF0000"/>
                          </a:solidFill>
                          <a:latin typeface="Fira Sans" panose="020B05030500000200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$ 1,825,690</a:t>
                      </a:r>
                    </a:p>
                  </a:txBody>
                  <a:tcPr/>
                </a:tc>
                <a:extLst>
                  <a:ext uri="{0D108BD9-81ED-4DB2-BD59-A6C34878D82A}">
                    <a16:rowId xmlns:a16="http://schemas.microsoft.com/office/drawing/2014/main" val="3857889692"/>
                  </a:ext>
                </a:extLst>
              </a:tr>
              <a:tr h="991914">
                <a:tc>
                  <a:txBody>
                    <a:bodyPr/>
                    <a:lstStyle/>
                    <a:p>
                      <a:r>
                        <a:rPr lang="en-IN" sz="3200">
                          <a:latin typeface="Fira Sans" panose="020B0503050000020004" pitchFamily="34" charset="0"/>
                        </a:rPr>
                        <a:t>Total funding in GBP*</a:t>
                      </a: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a:t>
                      </a:r>
                      <a:r>
                        <a:rPr lang="en-GB" sz="3200" b="0" i="0" u="none" strike="noStrike" kern="1200">
                          <a:solidFill>
                            <a:srgbClr val="000000"/>
                          </a:solidFill>
                          <a:effectLst/>
                          <a:latin typeface="Fira Sans" panose="020B0503050000020004" pitchFamily="34" charset="0"/>
                          <a:ea typeface="+mn-ea"/>
                          <a:cs typeface="+mn-cs"/>
                        </a:rPr>
                        <a:t>£</a:t>
                      </a:r>
                      <a:r>
                        <a:rPr lang="en-DE" sz="3200" b="0" i="0" u="none" strike="noStrike" kern="1200">
                          <a:solidFill>
                            <a:srgbClr val="000000"/>
                          </a:solidFill>
                          <a:effectLst/>
                          <a:latin typeface="Fira Sans" panose="020B0503050000020004" pitchFamily="34" charset="0"/>
                          <a:ea typeface="+mn-ea"/>
                          <a:cs typeface="+mn-cs"/>
                        </a:rPr>
                        <a:t> 1</a:t>
                      </a:r>
                      <a:r>
                        <a:rPr lang="en-IN" sz="3200" b="0" i="0" u="none" strike="noStrike" kern="1200">
                          <a:solidFill>
                            <a:srgbClr val="000000"/>
                          </a:solidFill>
                          <a:effectLst/>
                          <a:latin typeface="Fira Sans" panose="020B0503050000020004" pitchFamily="34" charset="0"/>
                          <a:ea typeface="+mn-ea"/>
                          <a:cs typeface="+mn-cs"/>
                        </a:rPr>
                        <a:t>,897,842</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tc>
                  <a:txBody>
                    <a:bodyPr/>
                    <a:lstStyle/>
                    <a:p>
                      <a:pPr algn="ctr"/>
                      <a:endParaRPr lang="en-IN" sz="3200" b="0" i="0" u="none" strike="noStrike" kern="1200">
                        <a:solidFill>
                          <a:srgbClr val="000000"/>
                        </a:solidFill>
                        <a:effectLst/>
                        <a:latin typeface="Fira Sans" panose="020B0503050000020004" pitchFamily="34" charset="0"/>
                        <a:ea typeface="+mn-ea"/>
                        <a:cs typeface="+mn-cs"/>
                      </a:endParaRP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a:t>
                      </a:r>
                      <a:r>
                        <a:rPr lang="en-GB" sz="3200" b="0" i="0" u="none" strike="noStrike" kern="1200">
                          <a:solidFill>
                            <a:srgbClr val="000000"/>
                          </a:solidFill>
                          <a:effectLst/>
                          <a:latin typeface="Fira Sans" panose="020B0503050000020004" pitchFamily="34" charset="0"/>
                          <a:ea typeface="+mn-ea"/>
                          <a:cs typeface="+mn-cs"/>
                        </a:rPr>
                        <a:t>£</a:t>
                      </a:r>
                      <a:r>
                        <a:rPr lang="en-DE" sz="3200" b="0" i="0" u="none" strike="noStrike" kern="1200">
                          <a:solidFill>
                            <a:srgbClr val="000000"/>
                          </a:solidFill>
                          <a:effectLst/>
                          <a:latin typeface="Fira Sans" panose="020B0503050000020004" pitchFamily="34" charset="0"/>
                          <a:ea typeface="+mn-ea"/>
                          <a:cs typeface="+mn-cs"/>
                        </a:rPr>
                        <a:t> 1,</a:t>
                      </a:r>
                      <a:r>
                        <a:rPr lang="en-IN" sz="3200" b="0" i="0" u="none" strike="noStrike" kern="1200">
                          <a:solidFill>
                            <a:srgbClr val="000000"/>
                          </a:solidFill>
                          <a:effectLst/>
                          <a:latin typeface="Fira Sans" panose="020B0503050000020004" pitchFamily="34" charset="0"/>
                          <a:ea typeface="+mn-ea"/>
                          <a:cs typeface="+mn-cs"/>
                        </a:rPr>
                        <a:t>378</a:t>
                      </a:r>
                      <a:r>
                        <a:rPr lang="en-DE" sz="3200" b="0" i="0" u="none" strike="noStrike" kern="1200">
                          <a:solidFill>
                            <a:srgbClr val="000000"/>
                          </a:solidFill>
                          <a:effectLst/>
                          <a:latin typeface="Fira Sans" panose="020B0503050000020004" pitchFamily="34" charset="0"/>
                          <a:ea typeface="+mn-ea"/>
                          <a:cs typeface="+mn-cs"/>
                        </a:rPr>
                        <a:t>,</a:t>
                      </a:r>
                      <a:r>
                        <a:rPr lang="en-IN" sz="3200" b="0" i="0" u="none" strike="noStrike" kern="1200">
                          <a:solidFill>
                            <a:srgbClr val="000000"/>
                          </a:solidFill>
                          <a:effectLst/>
                          <a:latin typeface="Fira Sans" panose="020B0503050000020004" pitchFamily="34" charset="0"/>
                          <a:ea typeface="+mn-ea"/>
                          <a:cs typeface="+mn-cs"/>
                        </a:rPr>
                        <a:t>396</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extLst>
                  <a:ext uri="{0D108BD9-81ED-4DB2-BD59-A6C34878D82A}">
                    <a16:rowId xmlns:a16="http://schemas.microsoft.com/office/drawing/2014/main" val="3246490241"/>
                  </a:ext>
                </a:extLst>
              </a:tr>
            </a:tbl>
          </a:graphicData>
        </a:graphic>
      </p:graphicFrame>
      <p:sp>
        <p:nvSpPr>
          <p:cNvPr id="5" name="TextBox 4">
            <a:extLst>
              <a:ext uri="{FF2B5EF4-FFF2-40B4-BE49-F238E27FC236}">
                <a16:creationId xmlns:a16="http://schemas.microsoft.com/office/drawing/2014/main" id="{6C06E6B0-DFE5-45F0-537C-96D71EA0A322}"/>
              </a:ext>
            </a:extLst>
          </p:cNvPr>
          <p:cNvSpPr txBox="1"/>
          <p:nvPr/>
        </p:nvSpPr>
        <p:spPr>
          <a:xfrm rot="20554523">
            <a:off x="14387680" y="7503168"/>
            <a:ext cx="4176143" cy="523220"/>
          </a:xfrm>
          <a:prstGeom prst="rect">
            <a:avLst/>
          </a:prstGeom>
          <a:noFill/>
        </p:spPr>
        <p:txBody>
          <a:bodyPr wrap="none" rtlCol="0">
            <a:spAutoFit/>
          </a:bodyPr>
          <a:lstStyle/>
          <a:p>
            <a:pPr algn="l"/>
            <a:r>
              <a:rPr lang="en-GB" sz="2800" b="1">
                <a:solidFill>
                  <a:schemeClr val="bg2"/>
                </a:solidFill>
              </a:rPr>
              <a:t>AZURE NUMBERS TBD</a:t>
            </a:r>
          </a:p>
        </p:txBody>
      </p:sp>
      <p:sp>
        <p:nvSpPr>
          <p:cNvPr id="6" name="TextBox 5">
            <a:extLst>
              <a:ext uri="{FF2B5EF4-FFF2-40B4-BE49-F238E27FC236}">
                <a16:creationId xmlns:a16="http://schemas.microsoft.com/office/drawing/2014/main" id="{4C4EC1B3-E969-E236-F8F2-ED0B1A35504B}"/>
              </a:ext>
            </a:extLst>
          </p:cNvPr>
          <p:cNvSpPr txBox="1"/>
          <p:nvPr/>
        </p:nvSpPr>
        <p:spPr>
          <a:xfrm>
            <a:off x="8385036" y="12319539"/>
            <a:ext cx="5309699" cy="400110"/>
          </a:xfrm>
          <a:prstGeom prst="rect">
            <a:avLst/>
          </a:prstGeom>
          <a:noFill/>
        </p:spPr>
        <p:txBody>
          <a:bodyPr wrap="square" rtlCol="0">
            <a:spAutoFit/>
          </a:bodyPr>
          <a:lstStyle/>
          <a:p>
            <a:pPr algn="l"/>
            <a:r>
              <a:rPr lang="en-IN" sz="2000" b="1" i="1">
                <a:latin typeface="Fira Sans Light" panose="020B0403050000020004" pitchFamily="34" charset="0"/>
              </a:rPr>
              <a:t>*FX Rate 1 USD = 0.755 GBP</a:t>
            </a:r>
          </a:p>
        </p:txBody>
      </p:sp>
      <p:sp>
        <p:nvSpPr>
          <p:cNvPr id="10" name="TextBox 9">
            <a:extLst>
              <a:ext uri="{FF2B5EF4-FFF2-40B4-BE49-F238E27FC236}">
                <a16:creationId xmlns:a16="http://schemas.microsoft.com/office/drawing/2014/main" id="{454D38BA-C297-CCCE-FF24-8F6029B0C45F}"/>
              </a:ext>
            </a:extLst>
          </p:cNvPr>
          <p:cNvSpPr txBox="1"/>
          <p:nvPr/>
        </p:nvSpPr>
        <p:spPr>
          <a:xfrm>
            <a:off x="1765003" y="10557755"/>
            <a:ext cx="9665177" cy="830997"/>
          </a:xfrm>
          <a:prstGeom prst="rect">
            <a:avLst/>
          </a:prstGeom>
          <a:noFill/>
        </p:spPr>
        <p:txBody>
          <a:bodyPr wrap="square" rtlCol="0">
            <a:spAutoFit/>
          </a:bodyPr>
          <a:lstStyle/>
          <a:p>
            <a:pPr algn="l"/>
            <a:r>
              <a:rPr lang="en-GB" sz="2400" b="1"/>
              <a:t>Note the </a:t>
            </a:r>
            <a:r>
              <a:rPr lang="en-GB" sz="2400" b="1" err="1"/>
              <a:t>hyperscaler</a:t>
            </a:r>
            <a:r>
              <a:rPr lang="en-GB" sz="2400" b="1"/>
              <a:t> funding figures are indicative only based on established funding programs – subject to approval. </a:t>
            </a:r>
          </a:p>
        </p:txBody>
      </p:sp>
    </p:spTree>
    <p:extLst>
      <p:ext uri="{BB962C8B-B14F-4D97-AF65-F5344CB8AC3E}">
        <p14:creationId xmlns:p14="http://schemas.microsoft.com/office/powerpoint/2010/main" val="2464234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55589-8388-2506-0CE5-5982BCBF68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C16BF6-3B26-43DE-0B74-0627EA4F763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DMG Readiness</a:t>
            </a:r>
          </a:p>
        </p:txBody>
      </p:sp>
    </p:spTree>
    <p:extLst>
      <p:ext uri="{BB962C8B-B14F-4D97-AF65-F5344CB8AC3E}">
        <p14:creationId xmlns:p14="http://schemas.microsoft.com/office/powerpoint/2010/main" val="10537768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4255-2512-EAE0-2A1B-48D08554C9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4B089E-4AB3-6689-07BA-9DA231FE85D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42</a:t>
            </a:fld>
            <a:endParaRPr lang="en-GB" noProof="0"/>
          </a:p>
        </p:txBody>
      </p:sp>
      <p:sp>
        <p:nvSpPr>
          <p:cNvPr id="10" name="Text Placeholder 9">
            <a:extLst>
              <a:ext uri="{FF2B5EF4-FFF2-40B4-BE49-F238E27FC236}">
                <a16:creationId xmlns:a16="http://schemas.microsoft.com/office/drawing/2014/main" id="{4E65BEEF-32F8-0D83-D953-FAE80AAA90F0}"/>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Cloud-specific, not overall capability</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8F8FE1E0-BE6B-5CD7-6A97-344197DA7E5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Readiness today</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EB7ADBED-5845-2955-16AA-D4BD4328EC82}"/>
              </a:ext>
            </a:extLst>
          </p:cNvPr>
          <p:cNvSpPr txBox="1"/>
          <p:nvPr/>
        </p:nvSpPr>
        <p:spPr>
          <a:xfrm>
            <a:off x="7107173" y="1362523"/>
            <a:ext cx="15913031" cy="11762194"/>
          </a:xfrm>
          <a:prstGeom prst="rect">
            <a:avLst/>
          </a:prstGeom>
          <a:noFill/>
        </p:spPr>
        <p:txBody>
          <a:bodyPr wrap="square">
            <a:spAutoFit/>
          </a:bodyPr>
          <a:lstStyle/>
          <a:p>
            <a:pPr defTabSz="1828800" fontAlgn="t">
              <a:spcAft>
                <a:spcPts val="800"/>
              </a:spcAft>
              <a:buClr>
                <a:srgbClr val="EB0000"/>
              </a:buClr>
            </a:pPr>
            <a:r>
              <a:rPr lang="en-GB" sz="3200" b="1">
                <a:latin typeface="Fira Sans" panose="020B0503050000020004" pitchFamily="34" charset="0"/>
              </a:rPr>
              <a:t>Your team has deep expertise in VMware, Oracle, and networking. This score measures cloud readiness only.</a:t>
            </a:r>
          </a:p>
          <a:p>
            <a:pPr marL="742950" indent="-742950" defTabSz="1828800" fontAlgn="t">
              <a:spcAft>
                <a:spcPts val="800"/>
              </a:spcAft>
              <a:buClr>
                <a:srgbClr val="EB0000"/>
              </a:buClr>
              <a:buFont typeface="Arial" panose="020B0604020202020204" pitchFamily="34" charset="0"/>
              <a:buChar char="•"/>
            </a:pPr>
            <a:endParaRPr lang="en-GB" sz="3200" b="1" noProof="0">
              <a:latin typeface="Fira Sans" panose="020B0503050000020004" pitchFamily="34" charset="0"/>
            </a:endParaRPr>
          </a:p>
          <a:p>
            <a:pPr defTabSz="1828800" fontAlgn="t">
              <a:spcAft>
                <a:spcPts val="800"/>
              </a:spcAft>
              <a:buClr>
                <a:srgbClr val="EB0000"/>
              </a:buClr>
            </a:pPr>
            <a:r>
              <a:rPr lang="en-GB" sz="3200">
                <a:latin typeface="Fira Sans" panose="020B0503050000020004" pitchFamily="34" charset="0"/>
              </a:rPr>
              <a:t>Business: 2.5 </a:t>
            </a:r>
          </a:p>
          <a:p>
            <a:pPr marL="1200150" lvl="1" indent="-742950" defTabSz="1828800" fontAlgn="t">
              <a:spcAft>
                <a:spcPts val="800"/>
              </a:spcAft>
              <a:buClr>
                <a:srgbClr val="EB0000"/>
              </a:buClr>
              <a:buFont typeface="Arial" panose="020B0604020202020204" pitchFamily="34" charset="0"/>
              <a:buChar char="•"/>
            </a:pPr>
            <a:r>
              <a:rPr lang="en-GB" sz="3200">
                <a:latin typeface="Fira Sans" panose="020B0503050000020004" pitchFamily="34" charset="0"/>
              </a:rPr>
              <a:t>Objectives clear. Operating model definition is the gap.</a:t>
            </a:r>
          </a:p>
          <a:p>
            <a:pPr marL="742950" indent="-742950" defTabSz="1828800" fontAlgn="t">
              <a:spcAft>
                <a:spcPts val="800"/>
              </a:spcAft>
              <a:buClr>
                <a:srgbClr val="EB0000"/>
              </a:buClr>
              <a:buFont typeface="Arial" panose="020B0604020202020204" pitchFamily="34" charset="0"/>
              <a:buChar char="•"/>
            </a:pPr>
            <a:endParaRPr lang="en-GB" sz="3200">
              <a:latin typeface="Fira Sans" panose="020B0503050000020004" pitchFamily="34" charset="0"/>
            </a:endParaRPr>
          </a:p>
          <a:p>
            <a:pPr defTabSz="1828800" fontAlgn="t">
              <a:spcAft>
                <a:spcPts val="800"/>
              </a:spcAft>
              <a:buClr>
                <a:srgbClr val="EB0000"/>
              </a:buClr>
            </a:pPr>
            <a:r>
              <a:rPr lang="en-GB" sz="3200">
                <a:latin typeface="Fira Sans" panose="020B0503050000020004" pitchFamily="34" charset="0"/>
              </a:rPr>
              <a:t>Governance: 3.0</a:t>
            </a:r>
          </a:p>
          <a:p>
            <a:pPr marL="742950" indent="-742950" defTabSz="1828800" fontAlgn="t">
              <a:spcAft>
                <a:spcPts val="800"/>
              </a:spcAft>
              <a:buClr>
                <a:srgbClr val="EB0000"/>
              </a:buClr>
              <a:buFont typeface="Arial" panose="020B0604020202020204" pitchFamily="34" charset="0"/>
              <a:buChar char="•"/>
            </a:pPr>
            <a:r>
              <a:rPr lang="en-GB" sz="3200">
                <a:latin typeface="Fira Sans" panose="020B0503050000020004" pitchFamily="34" charset="0"/>
              </a:rPr>
              <a:t>Strongest area. CMDB maintained, supplier management mature.</a:t>
            </a:r>
          </a:p>
          <a:p>
            <a:pPr marL="742950" indent="-742950" defTabSz="1828800" fontAlgn="t">
              <a:spcAft>
                <a:spcPts val="800"/>
              </a:spcAft>
              <a:buClr>
                <a:srgbClr val="EB0000"/>
              </a:buClr>
              <a:buFont typeface="Arial" panose="020B0604020202020204" pitchFamily="34" charset="0"/>
              <a:buChar char="•"/>
            </a:pPr>
            <a:endParaRPr lang="en-GB" sz="3200">
              <a:latin typeface="Fira Sans" panose="020B0503050000020004" pitchFamily="34" charset="0"/>
            </a:endParaRPr>
          </a:p>
          <a:p>
            <a:pPr defTabSz="1828800" fontAlgn="t">
              <a:spcAft>
                <a:spcPts val="800"/>
              </a:spcAft>
              <a:buClr>
                <a:srgbClr val="EB0000"/>
              </a:buClr>
            </a:pPr>
            <a:r>
              <a:rPr lang="en-GB" sz="3200">
                <a:latin typeface="Fira Sans" panose="020B0503050000020004" pitchFamily="34" charset="0"/>
              </a:rPr>
              <a:t>Operations: 1.8</a:t>
            </a:r>
          </a:p>
          <a:p>
            <a:pPr marL="742950" indent="-742950" defTabSz="1828800" fontAlgn="t">
              <a:spcAft>
                <a:spcPts val="800"/>
              </a:spcAft>
              <a:buClr>
                <a:srgbClr val="EB0000"/>
              </a:buClr>
              <a:buFont typeface="Arial" panose="020B0604020202020204" pitchFamily="34" charset="0"/>
              <a:buChar char="•"/>
            </a:pPr>
            <a:r>
              <a:rPr lang="en-GB" sz="3200">
                <a:latin typeface="Fira Sans" panose="020B0503050000020004" pitchFamily="34" charset="0"/>
              </a:rPr>
              <a:t>DR planning and cross-brand monitoring consistency are the gaps.</a:t>
            </a:r>
          </a:p>
          <a:p>
            <a:pPr marL="742950" indent="-742950" defTabSz="1828800" fontAlgn="t">
              <a:spcAft>
                <a:spcPts val="800"/>
              </a:spcAft>
              <a:buClr>
                <a:srgbClr val="EB0000"/>
              </a:buClr>
              <a:buFont typeface="Arial" panose="020B0604020202020204" pitchFamily="34" charset="0"/>
              <a:buChar char="•"/>
            </a:pPr>
            <a:endParaRPr lang="en-GB" sz="3200">
              <a:latin typeface="Fira Sans" panose="020B0503050000020004" pitchFamily="34" charset="0"/>
            </a:endParaRPr>
          </a:p>
          <a:p>
            <a:pPr defTabSz="1828800" fontAlgn="t">
              <a:spcAft>
                <a:spcPts val="800"/>
              </a:spcAft>
              <a:buClr>
                <a:srgbClr val="EB0000"/>
              </a:buClr>
            </a:pPr>
            <a:r>
              <a:rPr lang="en-GB" sz="3200">
                <a:latin typeface="Fira Sans" panose="020B0503050000020004" pitchFamily="34" charset="0"/>
              </a:rPr>
              <a:t>People: 1.2</a:t>
            </a:r>
          </a:p>
          <a:p>
            <a:pPr marL="742950" indent="-742950" defTabSz="1828800" fontAlgn="t">
              <a:spcAft>
                <a:spcPts val="800"/>
              </a:spcAft>
              <a:buClr>
                <a:srgbClr val="EB0000"/>
              </a:buClr>
              <a:buFont typeface="Arial" panose="020B0604020202020204" pitchFamily="34" charset="0"/>
              <a:buChar char="•"/>
            </a:pPr>
            <a:r>
              <a:rPr lang="en-GB" sz="3200">
                <a:latin typeface="Fira Sans" panose="020B0503050000020004" pitchFamily="34" charset="0"/>
              </a:rPr>
              <a:t>Cloud-specific skills at earliest stage. No formal training plan yet.</a:t>
            </a:r>
          </a:p>
          <a:p>
            <a:pPr marL="742950" indent="-742950" defTabSz="1828800" fontAlgn="t">
              <a:spcAft>
                <a:spcPts val="800"/>
              </a:spcAft>
              <a:buClr>
                <a:srgbClr val="EB0000"/>
              </a:buClr>
              <a:buFont typeface="Arial" panose="020B0604020202020204" pitchFamily="34" charset="0"/>
              <a:buChar char="•"/>
            </a:pPr>
            <a:endParaRPr lang="en-GB" sz="3200">
              <a:latin typeface="Fira Sans" panose="020B0503050000020004" pitchFamily="34" charset="0"/>
            </a:endParaRPr>
          </a:p>
          <a:p>
            <a:pPr defTabSz="1828800" fontAlgn="t">
              <a:spcAft>
                <a:spcPts val="800"/>
              </a:spcAft>
              <a:buClr>
                <a:srgbClr val="EB0000"/>
              </a:buClr>
            </a:pPr>
            <a:r>
              <a:rPr lang="en-GB" sz="3200">
                <a:latin typeface="Fira Sans" panose="020B0503050000020004" pitchFamily="34" charset="0"/>
              </a:rPr>
              <a:t>Security: 2.0</a:t>
            </a:r>
          </a:p>
          <a:p>
            <a:pPr marL="742950" indent="-742950" defTabSz="1828800" fontAlgn="t">
              <a:spcAft>
                <a:spcPts val="800"/>
              </a:spcAft>
              <a:buClr>
                <a:srgbClr val="EB0000"/>
              </a:buClr>
              <a:buFont typeface="Arial" panose="020B0604020202020204" pitchFamily="34" charset="0"/>
              <a:buChar char="•"/>
            </a:pPr>
            <a:r>
              <a:rPr lang="en-GB" sz="3200">
                <a:latin typeface="Fira Sans" panose="020B0503050000020004" pitchFamily="34" charset="0"/>
              </a:rPr>
              <a:t>CISO engaged. Shared responsibility model and cloud-native GRC early-stage.</a:t>
            </a:r>
          </a:p>
          <a:p>
            <a:pPr marL="742950" indent="-742950" defTabSz="1828800" fontAlgn="t">
              <a:spcAft>
                <a:spcPts val="1400"/>
              </a:spcAft>
              <a:buClr>
                <a:srgbClr val="EB0000"/>
              </a:buClr>
              <a:buFont typeface="Arial" panose="020B0604020202020204" pitchFamily="34" charset="0"/>
              <a:buChar char="•"/>
            </a:pPr>
            <a:endParaRPr lang="en-GB" sz="320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a:latin typeface="Fira Sans" panose="020B0503050000020004" pitchFamily="34" charset="0"/>
              </a:rPr>
              <a:t>Bottom line: Overall: 2.1 of 5. Consistent with an organisation at the start of its cloud journey.</a:t>
            </a:r>
            <a:endParaRPr lang="en-GB" sz="3200" noProof="0">
              <a:latin typeface="Fira Sans" panose="020B0503050000020004" pitchFamily="34" charset="0"/>
            </a:endParaRPr>
          </a:p>
        </p:txBody>
      </p:sp>
      <p:sp>
        <p:nvSpPr>
          <p:cNvPr id="2" name="Rounded Rectangle 1">
            <a:extLst>
              <a:ext uri="{FF2B5EF4-FFF2-40B4-BE49-F238E27FC236}">
                <a16:creationId xmlns:a16="http://schemas.microsoft.com/office/drawing/2014/main" id="{C77ED39A-7E0C-39E3-FDBA-A3776383E8EC}"/>
              </a:ext>
            </a:extLst>
          </p:cNvPr>
          <p:cNvSpPr/>
          <p:nvPr/>
        </p:nvSpPr>
        <p:spPr>
          <a:xfrm>
            <a:off x="13340717" y="11578859"/>
            <a:ext cx="2990850" cy="161925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solidFill>
                  <a:srgbClr val="FF0000"/>
                </a:solidFill>
              </a:rPr>
              <a:t>Needs Chart and articulation of the scale</a:t>
            </a:r>
            <a:br>
              <a:rPr lang="en-GB" sz="1800">
                <a:solidFill>
                  <a:srgbClr val="FF0000"/>
                </a:solidFill>
              </a:rPr>
            </a:br>
            <a:r>
              <a:rPr lang="en-GB" sz="1800" err="1">
                <a:solidFill>
                  <a:srgbClr val="FF0000"/>
                </a:solidFill>
              </a:rPr>
              <a:t>ie</a:t>
            </a:r>
            <a:r>
              <a:rPr lang="en-GB" sz="1800">
                <a:solidFill>
                  <a:srgbClr val="FF0000"/>
                </a:solidFill>
              </a:rPr>
              <a:t> 5 is good or 1 is good</a:t>
            </a:r>
          </a:p>
        </p:txBody>
      </p:sp>
    </p:spTree>
    <p:extLst>
      <p:ext uri="{BB962C8B-B14F-4D97-AF65-F5344CB8AC3E}">
        <p14:creationId xmlns:p14="http://schemas.microsoft.com/office/powerpoint/2010/main" val="14104132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444BF-3352-6CA4-BA20-1916CC886B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97C3E-582E-28FB-3EF4-0B51737D5CB6}"/>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43</a:t>
            </a:fld>
            <a:endParaRPr lang="en-GB" noProof="0"/>
          </a:p>
        </p:txBody>
      </p:sp>
      <p:sp>
        <p:nvSpPr>
          <p:cNvPr id="10" name="Text Placeholder 9">
            <a:extLst>
              <a:ext uri="{FF2B5EF4-FFF2-40B4-BE49-F238E27FC236}">
                <a16:creationId xmlns:a16="http://schemas.microsoft.com/office/drawing/2014/main" id="{97DD4CE2-3ECD-5BAD-4FBA-DB9E4FFC84B7}"/>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Current state to 12-month target</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2E824F35-3346-0328-FEDC-239C9A47D41D}"/>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Closing the gap</a:t>
            </a:r>
            <a:endParaRPr lang="en-GB" sz="5400" kern="1200" noProof="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C193EC8B-1C23-D119-528E-F70FE180230A}"/>
              </a:ext>
            </a:extLst>
          </p:cNvPr>
          <p:cNvSpPr txBox="1"/>
          <p:nvPr/>
        </p:nvSpPr>
        <p:spPr>
          <a:xfrm>
            <a:off x="7424165" y="1982775"/>
            <a:ext cx="7047739" cy="5047536"/>
          </a:xfrm>
          <a:prstGeom prst="rect">
            <a:avLst/>
          </a:prstGeom>
          <a:noFill/>
        </p:spPr>
        <p:txBody>
          <a:bodyPr wrap="square">
            <a:spAutoFit/>
          </a:bodyPr>
          <a:lstStyle/>
          <a:p>
            <a:pPr defTabSz="1828800" fontAlgn="t">
              <a:spcAft>
                <a:spcPts val="1400"/>
              </a:spcAft>
              <a:buClr>
                <a:srgbClr val="EB0000"/>
              </a:buClr>
            </a:pPr>
            <a:r>
              <a:rPr lang="en-GB" sz="3600">
                <a:latin typeface="Fira Sans" panose="020B0503050000020004" pitchFamily="34" charset="0"/>
              </a:rPr>
              <a:t>Current</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Business: 2.5</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Governance: 3.0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Operations: 1.8</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People: 1.2</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Security: 2.0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Overall: 2.1</a:t>
            </a:r>
          </a:p>
        </p:txBody>
      </p:sp>
      <p:sp>
        <p:nvSpPr>
          <p:cNvPr id="3" name="TextBox 2">
            <a:extLst>
              <a:ext uri="{FF2B5EF4-FFF2-40B4-BE49-F238E27FC236}">
                <a16:creationId xmlns:a16="http://schemas.microsoft.com/office/drawing/2014/main" id="{58937000-C9B7-14D5-012B-AB7000F3396F}"/>
              </a:ext>
            </a:extLst>
          </p:cNvPr>
          <p:cNvSpPr txBox="1"/>
          <p:nvPr/>
        </p:nvSpPr>
        <p:spPr>
          <a:xfrm>
            <a:off x="15440405" y="1982775"/>
            <a:ext cx="8175499" cy="5047536"/>
          </a:xfrm>
          <a:prstGeom prst="rect">
            <a:avLst/>
          </a:prstGeom>
          <a:noFill/>
        </p:spPr>
        <p:txBody>
          <a:bodyPr wrap="square">
            <a:spAutoFit/>
          </a:bodyPr>
          <a:lstStyle/>
          <a:p>
            <a:pPr defTabSz="1828800" fontAlgn="t">
              <a:spcAft>
                <a:spcPts val="1400"/>
              </a:spcAft>
              <a:buClr>
                <a:srgbClr val="EB0000"/>
              </a:buClr>
            </a:pPr>
            <a:r>
              <a:rPr lang="en-GB" sz="3600">
                <a:latin typeface="Fira Sans" panose="020B0503050000020004" pitchFamily="34" charset="0"/>
              </a:rPr>
              <a:t>12 Month target</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Business: 4.0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Governance: 4.0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Operations: 3.0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People: 3.0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Security: 4.0</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Overall: 3.6</a:t>
            </a:r>
            <a:endParaRPr lang="en-GB" sz="3600" noProof="0">
              <a:latin typeface="Fira Sans" panose="020B0503050000020004" pitchFamily="34" charset="0"/>
            </a:endParaRPr>
          </a:p>
        </p:txBody>
      </p:sp>
      <p:sp>
        <p:nvSpPr>
          <p:cNvPr id="7" name="TextBox 6">
            <a:extLst>
              <a:ext uri="{FF2B5EF4-FFF2-40B4-BE49-F238E27FC236}">
                <a16:creationId xmlns:a16="http://schemas.microsoft.com/office/drawing/2014/main" id="{61D5B0E8-340B-F60D-1B96-48C9715C90F0}"/>
              </a:ext>
            </a:extLst>
          </p:cNvPr>
          <p:cNvSpPr txBox="1"/>
          <p:nvPr/>
        </p:nvSpPr>
        <p:spPr>
          <a:xfrm>
            <a:off x="7424165" y="8140243"/>
            <a:ext cx="15569185" cy="4688463"/>
          </a:xfrm>
          <a:prstGeom prst="rect">
            <a:avLst/>
          </a:prstGeom>
          <a:noFill/>
        </p:spPr>
        <p:txBody>
          <a:bodyPr wrap="square">
            <a:spAutoFit/>
          </a:bodyPr>
          <a:lstStyle/>
          <a:p>
            <a:pPr defTabSz="1828800" fontAlgn="t">
              <a:spcAft>
                <a:spcPts val="1400"/>
              </a:spcAft>
              <a:buClr>
                <a:srgbClr val="EB0000"/>
              </a:buClr>
            </a:pPr>
            <a:r>
              <a:rPr lang="en-GB" sz="3600">
                <a:latin typeface="Fira Sans" panose="020B0503050000020004" pitchFamily="34" charset="0"/>
              </a:rPr>
              <a:t>How it closes:</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Landing zone build establishes governance, security baselines, and </a:t>
            </a:r>
            <a:r>
              <a:rPr lang="en-GB" sz="3600" err="1">
                <a:latin typeface="Fira Sans" panose="020B0503050000020004" pitchFamily="34" charset="0"/>
              </a:rPr>
              <a:t>IaC</a:t>
            </a:r>
            <a:r>
              <a:rPr lang="en-GB" sz="3600">
                <a:latin typeface="Fira Sans" panose="020B0503050000020004" pitchFamily="34" charset="0"/>
              </a:rPr>
              <a:t> from day one</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Partner-assisted delivery carries the specialist load during transition</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Your team works alongside, absorbing capability cohort by cohort</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End state: Customer-led cloud operation with internal capability built in-flight</a:t>
            </a:r>
          </a:p>
        </p:txBody>
      </p:sp>
    </p:spTree>
    <p:extLst>
      <p:ext uri="{BB962C8B-B14F-4D97-AF65-F5344CB8AC3E}">
        <p14:creationId xmlns:p14="http://schemas.microsoft.com/office/powerpoint/2010/main" val="2246743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AD97-DDC6-211E-ABF0-ADB5276288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575E3D-C54D-758F-C43A-031C9A8C6F5E}"/>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Challenges</a:t>
            </a:r>
          </a:p>
        </p:txBody>
      </p:sp>
    </p:spTree>
    <p:extLst>
      <p:ext uri="{BB962C8B-B14F-4D97-AF65-F5344CB8AC3E}">
        <p14:creationId xmlns:p14="http://schemas.microsoft.com/office/powerpoint/2010/main" val="33459742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1866-C390-50DB-2F36-8A5D5AC577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93F0B7-991F-7B1A-8B6C-97B315A0D3C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45</a:t>
            </a:fld>
            <a:endParaRPr lang="en-GB" noProof="0"/>
          </a:p>
        </p:txBody>
      </p:sp>
      <p:sp>
        <p:nvSpPr>
          <p:cNvPr id="4" name="TextBox 3">
            <a:extLst>
              <a:ext uri="{FF2B5EF4-FFF2-40B4-BE49-F238E27FC236}">
                <a16:creationId xmlns:a16="http://schemas.microsoft.com/office/drawing/2014/main" id="{22CB9205-8BC5-A354-3074-1839182EBC53}"/>
              </a:ext>
            </a:extLst>
          </p:cNvPr>
          <p:cNvSpPr txBox="1"/>
          <p:nvPr/>
        </p:nvSpPr>
        <p:spPr>
          <a:xfrm>
            <a:off x="406009" y="473476"/>
            <a:ext cx="7861447"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Challenges Observed</a:t>
            </a:r>
            <a:endParaRPr lang="en-GB" sz="6200" noProof="0">
              <a:solidFill>
                <a:srgbClr val="FF0000"/>
              </a:solidFill>
              <a:latin typeface="Fira Sans Light" panose="020B0403050000020004" pitchFamily="34" charset="0"/>
            </a:endParaRPr>
          </a:p>
        </p:txBody>
      </p:sp>
      <p:graphicFrame>
        <p:nvGraphicFramePr>
          <p:cNvPr id="92" name="Diagram 91">
            <a:extLst>
              <a:ext uri="{FF2B5EF4-FFF2-40B4-BE49-F238E27FC236}">
                <a16:creationId xmlns:a16="http://schemas.microsoft.com/office/drawing/2014/main" id="{91E2D2B3-D579-E6F3-BA2D-5A316438FA45}"/>
              </a:ext>
            </a:extLst>
          </p:cNvPr>
          <p:cNvGraphicFramePr/>
          <p:nvPr/>
        </p:nvGraphicFramePr>
        <p:xfrm>
          <a:off x="775368" y="2341022"/>
          <a:ext cx="9908674" cy="98509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3" name="Diagram 92">
            <a:extLst>
              <a:ext uri="{FF2B5EF4-FFF2-40B4-BE49-F238E27FC236}">
                <a16:creationId xmlns:a16="http://schemas.microsoft.com/office/drawing/2014/main" id="{7EF226EF-5554-E991-EDE7-BFF4D3E2B4AC}"/>
              </a:ext>
            </a:extLst>
          </p:cNvPr>
          <p:cNvGraphicFramePr/>
          <p:nvPr/>
        </p:nvGraphicFramePr>
        <p:xfrm>
          <a:off x="11566358" y="2629780"/>
          <a:ext cx="9908674" cy="98509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TextBox 2">
            <a:extLst>
              <a:ext uri="{FF2B5EF4-FFF2-40B4-BE49-F238E27FC236}">
                <a16:creationId xmlns:a16="http://schemas.microsoft.com/office/drawing/2014/main" id="{FEEBAC1F-2573-0635-4295-42C37612BFDD}"/>
              </a:ext>
            </a:extLst>
          </p:cNvPr>
          <p:cNvSpPr txBox="1"/>
          <p:nvPr/>
        </p:nvSpPr>
        <p:spPr>
          <a:xfrm>
            <a:off x="609600" y="1562516"/>
            <a:ext cx="6385560" cy="461665"/>
          </a:xfrm>
          <a:prstGeom prst="rect">
            <a:avLst/>
          </a:prstGeom>
          <a:noFill/>
        </p:spPr>
        <p:txBody>
          <a:bodyPr wrap="square" rtlCol="0">
            <a:spAutoFit/>
          </a:bodyPr>
          <a:lstStyle/>
          <a:p>
            <a:pPr algn="l"/>
            <a:r>
              <a:rPr lang="en-GB" sz="2400">
                <a:latin typeface="Fira Sans" panose="020B0503050000020004" pitchFamily="34" charset="0"/>
              </a:rPr>
              <a:t>Why will this be complex to migration</a:t>
            </a:r>
          </a:p>
        </p:txBody>
      </p:sp>
    </p:spTree>
    <p:extLst>
      <p:ext uri="{BB962C8B-B14F-4D97-AF65-F5344CB8AC3E}">
        <p14:creationId xmlns:p14="http://schemas.microsoft.com/office/powerpoint/2010/main" val="251233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2014-674A-13BB-EF10-D6F44E502D7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087EE60-60F6-E329-E47E-7E19DE29C8C3}"/>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Opportunities</a:t>
            </a:r>
          </a:p>
        </p:txBody>
      </p:sp>
    </p:spTree>
    <p:extLst>
      <p:ext uri="{BB962C8B-B14F-4D97-AF65-F5344CB8AC3E}">
        <p14:creationId xmlns:p14="http://schemas.microsoft.com/office/powerpoint/2010/main" val="468791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3C28-257F-78A0-04F8-E290C97EF3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BDA1C0-E651-62A9-74F9-7204AD2E09E1}"/>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47</a:t>
            </a:fld>
            <a:endParaRPr lang="en-GB" noProof="0"/>
          </a:p>
        </p:txBody>
      </p:sp>
      <p:sp>
        <p:nvSpPr>
          <p:cNvPr id="10" name="Text Placeholder 9">
            <a:extLst>
              <a:ext uri="{FF2B5EF4-FFF2-40B4-BE49-F238E27FC236}">
                <a16:creationId xmlns:a16="http://schemas.microsoft.com/office/drawing/2014/main" id="{624581D9-21E5-38ED-A56C-9D9D68AF9862}"/>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Modelled in Part 1</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1D2F2C55-F3DF-B7BC-FAB8-A4BC02716B4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Quantified opportunities</a:t>
            </a:r>
            <a:endParaRPr lang="en-GB" sz="5400" kern="1200" noProof="0">
              <a:ln w="9525">
                <a:noFill/>
              </a:ln>
              <a:latin typeface="Fira Sans" panose="020B0503050000020004" pitchFamily="34" charset="0"/>
            </a:endParaRPr>
          </a:p>
        </p:txBody>
      </p:sp>
      <p:sp>
        <p:nvSpPr>
          <p:cNvPr id="3" name="TextBox 2">
            <a:extLst>
              <a:ext uri="{FF2B5EF4-FFF2-40B4-BE49-F238E27FC236}">
                <a16:creationId xmlns:a16="http://schemas.microsoft.com/office/drawing/2014/main" id="{E471A8B5-1F74-1A17-E2CB-322DF4B62735}"/>
              </a:ext>
            </a:extLst>
          </p:cNvPr>
          <p:cNvSpPr txBox="1"/>
          <p:nvPr/>
        </p:nvSpPr>
        <p:spPr>
          <a:xfrm>
            <a:off x="6899911" y="830709"/>
            <a:ext cx="16344137" cy="10946586"/>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Oracle modernisation to PostgreSQL </a:t>
            </a:r>
            <a:r>
              <a:rPr lang="en-GB" sz="3600">
                <a:latin typeface="Fira Sans" panose="020B0503050000020004" pitchFamily="34" charset="0"/>
              </a:rPr>
              <a:t>| £45-65K/</a:t>
            </a:r>
            <a:r>
              <a:rPr lang="en-GB" sz="3600" err="1">
                <a:latin typeface="Fira Sans" panose="020B0503050000020004" pitchFamily="34" charset="0"/>
              </a:rPr>
              <a:t>mo</a:t>
            </a:r>
            <a:r>
              <a:rPr lang="en-GB" sz="3600">
                <a:latin typeface="Fira Sans" panose="020B0503050000020004" pitchFamily="34" charset="0"/>
              </a:rPr>
              <a:t> saving (£540-780K/yr) Eliminates £650K/yr support contract. Requires Part 2 assessment. Conversion cost not yet estimated.</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Windows BYOL </a:t>
            </a:r>
            <a:r>
              <a:rPr lang="en-GB" sz="3600">
                <a:latin typeface="Fira Sans" panose="020B0503050000020004" pitchFamily="34" charset="0"/>
              </a:rPr>
              <a:t>| £7-18K/</a:t>
            </a:r>
            <a:r>
              <a:rPr lang="en-GB" sz="3600" err="1">
                <a:latin typeface="Fira Sans" panose="020B0503050000020004" pitchFamily="34" charset="0"/>
              </a:rPr>
              <a:t>mo</a:t>
            </a:r>
            <a:r>
              <a:rPr lang="en-GB" sz="3600">
                <a:latin typeface="Fira Sans" panose="020B0503050000020004" pitchFamily="34" charset="0"/>
              </a:rPr>
              <a:t> saving depending on cloud Requires active SA. Cost-effective on Azure (AHB). On AWS/GCP only while EA is active (expires May 2027).</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SQL Server BYOL </a:t>
            </a:r>
            <a:r>
              <a:rPr lang="en-GB" sz="3600">
                <a:latin typeface="Fira Sans" panose="020B0503050000020004" pitchFamily="34" charset="0"/>
              </a:rPr>
              <a:t>| £14-15K/</a:t>
            </a:r>
            <a:r>
              <a:rPr lang="en-GB" sz="3600" err="1">
                <a:latin typeface="Fira Sans" panose="020B0503050000020004" pitchFamily="34" charset="0"/>
              </a:rPr>
              <a:t>mo</a:t>
            </a:r>
            <a:r>
              <a:rPr lang="en-GB" sz="3600">
                <a:latin typeface="Fira Sans" panose="020B0503050000020004" pitchFamily="34" charset="0"/>
              </a:rPr>
              <a:t> saving across all clouds Requires SA confirmation from </a:t>
            </a:r>
            <a:r>
              <a:rPr lang="en-GB" sz="3600" err="1">
                <a:latin typeface="Fira Sans" panose="020B0503050000020004" pitchFamily="34" charset="0"/>
              </a:rPr>
              <a:t>Bluesource</a:t>
            </a:r>
            <a:r>
              <a:rPr lang="en-GB" sz="3600">
                <a:latin typeface="Fira Sans" panose="020B0503050000020004" pitchFamily="34" charset="0"/>
              </a:rPr>
              <a:t>. Cost-effective on all three platforms.</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Storage tiering </a:t>
            </a:r>
            <a:r>
              <a:rPr lang="en-GB" sz="3600">
                <a:latin typeface="Fira Sans" panose="020B0503050000020004" pitchFamily="34" charset="0"/>
              </a:rPr>
              <a:t>| £10-19K/</a:t>
            </a:r>
            <a:r>
              <a:rPr lang="en-GB" sz="3600" err="1">
                <a:latin typeface="Fira Sans" panose="020B0503050000020004" pitchFamily="34" charset="0"/>
              </a:rPr>
              <a:t>mo</a:t>
            </a:r>
            <a:r>
              <a:rPr lang="en-GB" sz="3600">
                <a:latin typeface="Fira Sans" panose="020B0503050000020004" pitchFamily="34" charset="0"/>
              </a:rPr>
              <a:t> saving depending on cloud 336 TiB non-production moved from SSD to HDD class. No application impact.</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RTA rightsizing </a:t>
            </a:r>
            <a:r>
              <a:rPr lang="en-GB" sz="3600">
                <a:latin typeface="Fira Sans" panose="020B0503050000020004" pitchFamily="34" charset="0"/>
              </a:rPr>
              <a:t>| Saving TBD (Part 2 to quantify) Many instances significantly overprovisioned. Right-size during migration for immediate saving.</a:t>
            </a:r>
            <a:endParaRPr lang="en-GB" sz="3600" noProof="0">
              <a:latin typeface="Fira Sans" panose="020B0503050000020004" pitchFamily="34" charset="0"/>
            </a:endParaRPr>
          </a:p>
        </p:txBody>
      </p:sp>
      <p:sp>
        <p:nvSpPr>
          <p:cNvPr id="2" name="Rounded Rectangle 1">
            <a:extLst>
              <a:ext uri="{FF2B5EF4-FFF2-40B4-BE49-F238E27FC236}">
                <a16:creationId xmlns:a16="http://schemas.microsoft.com/office/drawing/2014/main" id="{E3C5F179-C39A-D0BC-3541-DCC8D9F1660B}"/>
              </a:ext>
            </a:extLst>
          </p:cNvPr>
          <p:cNvSpPr/>
          <p:nvPr/>
        </p:nvSpPr>
        <p:spPr>
          <a:xfrm>
            <a:off x="11572877" y="11816532"/>
            <a:ext cx="2990850" cy="161925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a:solidFill>
                  <a:srgbClr val="FF0000"/>
                </a:solidFill>
              </a:rPr>
              <a:t>Have these savings been factored into the TCO comparison</a:t>
            </a:r>
          </a:p>
        </p:txBody>
      </p:sp>
    </p:spTree>
    <p:extLst>
      <p:ext uri="{BB962C8B-B14F-4D97-AF65-F5344CB8AC3E}">
        <p14:creationId xmlns:p14="http://schemas.microsoft.com/office/powerpoint/2010/main" val="4211202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95C4-3CC9-C48C-CA19-FF3EF82974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2EECA7-7E5A-B22F-8BA7-E7F83BDBDFB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48</a:t>
            </a:fld>
            <a:endParaRPr lang="en-GB" noProof="0"/>
          </a:p>
        </p:txBody>
      </p:sp>
      <p:sp>
        <p:nvSpPr>
          <p:cNvPr id="10" name="Text Placeholder 9">
            <a:extLst>
              <a:ext uri="{FF2B5EF4-FFF2-40B4-BE49-F238E27FC236}">
                <a16:creationId xmlns:a16="http://schemas.microsoft.com/office/drawing/2014/main" id="{86B0F577-CC24-6B54-0AAC-0D730517E2B2}"/>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Part 2 to validate</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324EF621-39AE-9401-C78E-96A36D7F6CFC}"/>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Strategic opportunities</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32752ACD-A3A2-82EB-AAAC-3182A829071A}"/>
              </a:ext>
            </a:extLst>
          </p:cNvPr>
          <p:cNvSpPr txBox="1"/>
          <p:nvPr/>
        </p:nvSpPr>
        <p:spPr>
          <a:xfrm>
            <a:off x="6899911" y="830709"/>
            <a:ext cx="16344137" cy="12054582"/>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Sydney datacentre exit </a:t>
            </a:r>
            <a:r>
              <a:rPr lang="en-GB" sz="3600">
                <a:latin typeface="Fira Sans" panose="020B0503050000020004" pitchFamily="34" charset="0"/>
              </a:rPr>
              <a:t>4 servers, flexible contract, £40K/yr cost offset. Low-risk proof point. Migrate early</a:t>
            </a:r>
            <a:r>
              <a:rPr lang="en-GB" sz="3600" b="1">
                <a:latin typeface="Fira Sans" panose="020B0503050000020004" pitchFamily="34" charset="0"/>
              </a:rPr>
              <a:t>.</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Application rationalisation </a:t>
            </a:r>
            <a:r>
              <a:rPr lang="en-GB" sz="3600">
                <a:latin typeface="Fira Sans" panose="020B0503050000020004" pitchFamily="34" charset="0"/>
              </a:rPr>
              <a:t>Lotus Notes (SaaS replacement), </a:t>
            </a:r>
            <a:r>
              <a:rPr lang="en-GB" sz="3600" err="1">
                <a:latin typeface="Fira Sans" panose="020B0503050000020004" pitchFamily="34" charset="0"/>
              </a:rPr>
              <a:t>Atex</a:t>
            </a:r>
            <a:r>
              <a:rPr lang="en-GB" sz="3600">
                <a:latin typeface="Fira Sans" panose="020B0503050000020004" pitchFamily="34" charset="0"/>
              </a:rPr>
              <a:t> 5.5 (32-bit, retire when </a:t>
            </a:r>
            <a:r>
              <a:rPr lang="en-GB" sz="3600" err="1">
                <a:latin typeface="Fira Sans" panose="020B0503050000020004" pitchFamily="34" charset="0"/>
              </a:rPr>
              <a:t>Atex</a:t>
            </a:r>
            <a:r>
              <a:rPr lang="en-GB" sz="3600">
                <a:latin typeface="Fira Sans" panose="020B0503050000020004" pitchFamily="34" charset="0"/>
              </a:rPr>
              <a:t> 6 complete), SolarWinds and Zabbix (replace with cloud-native monitoring). Every app retired is servers removed from migration scope.</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Load balancer modernisation </a:t>
            </a:r>
            <a:r>
              <a:rPr lang="en-GB" sz="3600">
                <a:latin typeface="Fira Sans" panose="020B0503050000020004" pitchFamily="34" charset="0"/>
              </a:rPr>
              <a:t>F5 (corporate) and Zeus/Ivanti </a:t>
            </a:r>
            <a:r>
              <a:rPr lang="en-GB" sz="3600" err="1">
                <a:latin typeface="Fira Sans" panose="020B0503050000020004" pitchFamily="34" charset="0"/>
              </a:rPr>
              <a:t>vTM</a:t>
            </a:r>
            <a:r>
              <a:rPr lang="en-GB" sz="3600">
                <a:latin typeface="Fira Sans" panose="020B0503050000020004" pitchFamily="34" charset="0"/>
              </a:rPr>
              <a:t> (Mail Online) replaced by cloud-native. No hardware lifecycle, auto-scaling, native integration.</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Observability consolidation </a:t>
            </a:r>
            <a:r>
              <a:rPr lang="en-GB" sz="3600">
                <a:latin typeface="Fira Sans" panose="020B0503050000020004" pitchFamily="34" charset="0"/>
              </a:rPr>
              <a:t>Replace SolarWinds and Zabbix with a single cloud-native or cloud-agnostic monitoring platform. Consistent across brands.</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Infrastructure as Code from day one </a:t>
            </a:r>
            <a:r>
              <a:rPr lang="en-GB" sz="3600">
                <a:latin typeface="Fira Sans" panose="020B0503050000020004" pitchFamily="34" charset="0"/>
              </a:rPr>
              <a:t>All cloud provisioning via Terraform or cloud-native equivalent. Reproducible, auditable, eliminates manual configuration errors.</a:t>
            </a:r>
            <a:endParaRPr lang="en-GB" sz="3600" noProof="0">
              <a:latin typeface="Fira Sans" panose="020B0503050000020004" pitchFamily="34" charset="0"/>
            </a:endParaRPr>
          </a:p>
        </p:txBody>
      </p:sp>
    </p:spTree>
    <p:extLst>
      <p:ext uri="{BB962C8B-B14F-4D97-AF65-F5344CB8AC3E}">
        <p14:creationId xmlns:p14="http://schemas.microsoft.com/office/powerpoint/2010/main" val="3742802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DBEA-0CE9-F5E1-B3AB-C63A574AFD1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AE1DFF3-C252-F86B-085F-D8DA7CDD85D1}"/>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Moving Forward and Part 2</a:t>
            </a:r>
          </a:p>
        </p:txBody>
      </p:sp>
    </p:spTree>
    <p:extLst>
      <p:ext uri="{BB962C8B-B14F-4D97-AF65-F5344CB8AC3E}">
        <p14:creationId xmlns:p14="http://schemas.microsoft.com/office/powerpoint/2010/main" val="42407023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9C850-D44E-2DB1-D1FF-DA040904AD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9B58E7-7B02-95E1-F8D5-CAE43CDA9FEC}"/>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1400" b="0" i="0" u="none" strike="noStrike" kern="1200" cap="none" spc="0" normalizeH="0" baseline="0" noProof="0" smtClean="0">
                <a:ln>
                  <a:noFill/>
                </a:ln>
                <a:solidFill>
                  <a:srgbClr val="000000"/>
                </a:solidFill>
                <a:effectLst/>
                <a:uLnTx/>
                <a:uFillTx/>
                <a:latin typeface="Fira Sans Light" panose="020B04030500000200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400" b="0" i="0" u="none" strike="noStrike" kern="1200" cap="none" spc="0" normalizeH="0" baseline="0" noProof="0">
              <a:ln>
                <a:noFill/>
              </a:ln>
              <a:solidFill>
                <a:srgbClr val="000000"/>
              </a:solidFill>
              <a:effectLst/>
              <a:uLnTx/>
              <a:uFillTx/>
              <a:latin typeface="Fira Sans Light" panose="020B0403050000020004" pitchFamily="34" charset="0"/>
            </a:endParaRPr>
          </a:p>
        </p:txBody>
      </p:sp>
      <p:sp>
        <p:nvSpPr>
          <p:cNvPr id="3" name="TextBox 2">
            <a:extLst>
              <a:ext uri="{FF2B5EF4-FFF2-40B4-BE49-F238E27FC236}">
                <a16:creationId xmlns:a16="http://schemas.microsoft.com/office/drawing/2014/main" id="{17618281-58B2-C915-4FBE-C089008111BC}"/>
              </a:ext>
            </a:extLst>
          </p:cNvPr>
          <p:cNvSpPr txBox="1"/>
          <p:nvPr/>
        </p:nvSpPr>
        <p:spPr>
          <a:xfrm>
            <a:off x="406009" y="473476"/>
            <a:ext cx="13447336" cy="104644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200" b="0" i="0" u="none" strike="noStrike" kern="1200" cap="none" spc="0" normalizeH="0" baseline="0" noProof="0">
                <a:ln>
                  <a:noFill/>
                </a:ln>
                <a:effectLst/>
                <a:uLnTx/>
                <a:uFillTx/>
                <a:latin typeface="Fira Sans Light" panose="020B0403050000020004" pitchFamily="34" charset="0"/>
              </a:rPr>
              <a:t> Plan – Cloud Readiness Assessment</a:t>
            </a:r>
            <a:endParaRPr kumimoji="0" lang="en-GB" sz="6200" b="0" i="0" u="none" strike="noStrike" kern="1200" cap="none" spc="0" normalizeH="0" baseline="0" noProof="0">
              <a:ln>
                <a:noFill/>
              </a:ln>
              <a:effectLst/>
              <a:uLnTx/>
              <a:uFillTx/>
              <a:latin typeface="Fira Sans Light" panose="020B0403050000020004" pitchFamily="34" charset="0"/>
            </a:endParaRPr>
          </a:p>
        </p:txBody>
      </p:sp>
      <p:sp>
        <p:nvSpPr>
          <p:cNvPr id="5" name="AutoShape 2" descr="A minimalist map with typographic contour lines and hiking paths. The background is light, in muted tones like gray or beige, with contour lines curving smoothly to represent elevation. Hiking paths are marked with subtle dashed or dotted lines, weaving through the map. An arrow labeled 'You Are Here' in bold red should be moved to the top right area of the map, clearly pointing to a specific point on the trails. The overall design remains clean, with the focus on the hiking paths, contour lines, and the relocated 'You Are Here' label.">
            <a:extLst>
              <a:ext uri="{FF2B5EF4-FFF2-40B4-BE49-F238E27FC236}">
                <a16:creationId xmlns:a16="http://schemas.microsoft.com/office/drawing/2014/main" id="{2A7AC39A-F5C3-EC99-B61A-D5814FBC92B7}"/>
              </a:ext>
            </a:extLst>
          </p:cNvPr>
          <p:cNvSpPr>
            <a:spLocks noChangeAspect="1" noChangeArrowheads="1"/>
          </p:cNvSpPr>
          <p:nvPr/>
        </p:nvSpPr>
        <p:spPr bwMode="auto">
          <a:xfrm>
            <a:off x="11743760" y="6656832"/>
            <a:ext cx="609600" cy="5059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82880" tIns="91440" rIns="182880" bIns="9144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000000"/>
              </a:solidFill>
              <a:effectLst/>
              <a:uLnTx/>
              <a:uFillTx/>
              <a:latin typeface="Fira Sans Light" panose="020B0403050000020004" pitchFamily="34" charset="0"/>
            </a:endParaRPr>
          </a:p>
        </p:txBody>
      </p:sp>
      <p:sp>
        <p:nvSpPr>
          <p:cNvPr id="6" name="TextBox 5">
            <a:extLst>
              <a:ext uri="{FF2B5EF4-FFF2-40B4-BE49-F238E27FC236}">
                <a16:creationId xmlns:a16="http://schemas.microsoft.com/office/drawing/2014/main" id="{4DAA90F1-7636-A580-DECE-954A158C3D50}"/>
              </a:ext>
            </a:extLst>
          </p:cNvPr>
          <p:cNvSpPr txBox="1"/>
          <p:nvPr/>
        </p:nvSpPr>
        <p:spPr>
          <a:xfrm>
            <a:off x="990207" y="2546358"/>
            <a:ext cx="8875840" cy="553998"/>
          </a:xfrm>
          <a:prstGeom prst="rect">
            <a:avLst/>
          </a:prstGeom>
          <a:noFill/>
        </p:spPr>
        <p:txBody>
          <a:bodyPr wrap="square" lIns="182880" tIns="91440" rIns="182880" bIns="91440" rtlCol="0" anchor="t">
            <a:spAutoFit/>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0000"/>
                </a:solidFill>
                <a:effectLst/>
                <a:uLnTx/>
                <a:uFillTx/>
                <a:latin typeface="Fira Sans Light" panose="020B0403050000020004" pitchFamily="34" charset="0"/>
              </a:rPr>
              <a:t>Part 1 (Orange) &amp; Part 2 (Red)</a:t>
            </a:r>
          </a:p>
        </p:txBody>
      </p:sp>
      <p:sp>
        <p:nvSpPr>
          <p:cNvPr id="7" name="TextBox 6">
            <a:extLst>
              <a:ext uri="{FF2B5EF4-FFF2-40B4-BE49-F238E27FC236}">
                <a16:creationId xmlns:a16="http://schemas.microsoft.com/office/drawing/2014/main" id="{977950D6-B601-C1B5-15A5-81CBE854E983}"/>
              </a:ext>
            </a:extLst>
          </p:cNvPr>
          <p:cNvSpPr txBox="1"/>
          <p:nvPr/>
        </p:nvSpPr>
        <p:spPr>
          <a:xfrm>
            <a:off x="10050186" y="2365315"/>
            <a:ext cx="10587164" cy="923330"/>
          </a:xfrm>
          <a:prstGeom prst="rect">
            <a:avLst/>
          </a:prstGeom>
          <a:noFill/>
        </p:spPr>
        <p:txBody>
          <a:bodyPr wrap="square" lIns="182880" tIns="91440" rIns="182880" bIns="91440" rtlCol="0" anchor="t">
            <a:spAutoFit/>
          </a:bodyPr>
          <a:lstStyle>
            <a:defPPr>
              <a:defRPr lang="en-US"/>
            </a:defPPr>
            <a:lvl1pPr algn="ctr" defTabSz="914400">
              <a:defRPr sz="1200" b="1">
                <a:solidFill>
                  <a:schemeClr val="tx2"/>
                </a:solidFill>
                <a:latin typeface="Century Gothic"/>
              </a:defRPr>
            </a:lvl1p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prstClr val="white">
                    <a:lumMod val="65000"/>
                  </a:prstClr>
                </a:solidFill>
                <a:effectLst/>
                <a:uLnTx/>
                <a:uFillTx/>
                <a:latin typeface="Fira Sans Light" panose="020B0403050000020004" pitchFamily="34" charset="0"/>
              </a:rPr>
              <a:t>Part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prstClr val="white">
                    <a:lumMod val="65000"/>
                  </a:prstClr>
                </a:solidFill>
                <a:effectLst/>
                <a:uLnTx/>
                <a:uFillTx/>
                <a:latin typeface="Fira Sans Light" panose="020B0403050000020004" pitchFamily="34" charset="0"/>
              </a:rPr>
              <a:t>Migration / Modernisation Design &amp; Execution </a:t>
            </a:r>
          </a:p>
        </p:txBody>
      </p:sp>
      <p:sp>
        <p:nvSpPr>
          <p:cNvPr id="8" name="TextBox 7">
            <a:extLst>
              <a:ext uri="{FF2B5EF4-FFF2-40B4-BE49-F238E27FC236}">
                <a16:creationId xmlns:a16="http://schemas.microsoft.com/office/drawing/2014/main" id="{2431FEB0-2CCF-15D6-A915-F3D11FFBD36B}"/>
              </a:ext>
            </a:extLst>
          </p:cNvPr>
          <p:cNvSpPr txBox="1"/>
          <p:nvPr/>
        </p:nvSpPr>
        <p:spPr>
          <a:xfrm>
            <a:off x="20860023" y="2318422"/>
            <a:ext cx="3127958" cy="830997"/>
          </a:xfrm>
          <a:prstGeom prst="rect">
            <a:avLst/>
          </a:prstGeom>
          <a:noFill/>
        </p:spPr>
        <p:txBody>
          <a:bodyPr wrap="square" rtlCol="0">
            <a:spAutoFit/>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lumMod val="65000"/>
                  </a:prstClr>
                </a:solidFill>
                <a:effectLst/>
                <a:uLnTx/>
                <a:uFillTx/>
                <a:latin typeface="Fira Sans Light" panose="020B0403050000020004" pitchFamily="34" charset="0"/>
              </a:rPr>
              <a:t>Part 4</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lumMod val="65000"/>
                  </a:prstClr>
                </a:solidFill>
                <a:effectLst/>
                <a:uLnTx/>
                <a:uFillTx/>
                <a:latin typeface="Fira Sans Light" panose="020B0403050000020004" pitchFamily="34" charset="0"/>
              </a:rPr>
              <a:t>Post-Migration</a:t>
            </a:r>
          </a:p>
        </p:txBody>
      </p:sp>
      <p:sp>
        <p:nvSpPr>
          <p:cNvPr id="9" name="Arrow: Pentagon 8">
            <a:extLst>
              <a:ext uri="{FF2B5EF4-FFF2-40B4-BE49-F238E27FC236}">
                <a16:creationId xmlns:a16="http://schemas.microsoft.com/office/drawing/2014/main" id="{08B39F48-CF51-BF85-8236-93007E3A0D07}"/>
              </a:ext>
            </a:extLst>
          </p:cNvPr>
          <p:cNvSpPr/>
          <p:nvPr/>
        </p:nvSpPr>
        <p:spPr>
          <a:xfrm>
            <a:off x="5066406" y="4590386"/>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Tooling &amp; Discovery</a:t>
            </a:r>
          </a:p>
        </p:txBody>
      </p:sp>
      <p:sp>
        <p:nvSpPr>
          <p:cNvPr id="10" name="Arrow: Pentagon 9">
            <a:extLst>
              <a:ext uri="{FF2B5EF4-FFF2-40B4-BE49-F238E27FC236}">
                <a16:creationId xmlns:a16="http://schemas.microsoft.com/office/drawing/2014/main" id="{4452C975-BFA4-AF91-19DA-21ACC33A67F9}"/>
              </a:ext>
            </a:extLst>
          </p:cNvPr>
          <p:cNvSpPr/>
          <p:nvPr/>
        </p:nvSpPr>
        <p:spPr>
          <a:xfrm>
            <a:off x="1871668" y="4590386"/>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TCO Analysis</a:t>
            </a:r>
          </a:p>
        </p:txBody>
      </p:sp>
      <p:sp>
        <p:nvSpPr>
          <p:cNvPr id="11" name="Arrow: Pentagon 10">
            <a:extLst>
              <a:ext uri="{FF2B5EF4-FFF2-40B4-BE49-F238E27FC236}">
                <a16:creationId xmlns:a16="http://schemas.microsoft.com/office/drawing/2014/main" id="{D6148F68-B8A0-1FCC-5347-DBDEDC614CFE}"/>
              </a:ext>
            </a:extLst>
          </p:cNvPr>
          <p:cNvSpPr/>
          <p:nvPr/>
        </p:nvSpPr>
        <p:spPr>
          <a:xfrm>
            <a:off x="5095956" y="5593590"/>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Server/App Profiling</a:t>
            </a:r>
          </a:p>
        </p:txBody>
      </p:sp>
      <p:sp>
        <p:nvSpPr>
          <p:cNvPr id="12" name="Arrow: Pentagon 11">
            <a:extLst>
              <a:ext uri="{FF2B5EF4-FFF2-40B4-BE49-F238E27FC236}">
                <a16:creationId xmlns:a16="http://schemas.microsoft.com/office/drawing/2014/main" id="{A9139E78-AF28-F677-C8F0-6DACC3D5A48D}"/>
              </a:ext>
            </a:extLst>
          </p:cNvPr>
          <p:cNvSpPr/>
          <p:nvPr/>
        </p:nvSpPr>
        <p:spPr>
          <a:xfrm>
            <a:off x="10036487" y="6735520"/>
            <a:ext cx="307105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PoC Candidates</a:t>
            </a:r>
          </a:p>
        </p:txBody>
      </p:sp>
      <p:sp>
        <p:nvSpPr>
          <p:cNvPr id="14" name="Arrow: Pentagon 13">
            <a:extLst>
              <a:ext uri="{FF2B5EF4-FFF2-40B4-BE49-F238E27FC236}">
                <a16:creationId xmlns:a16="http://schemas.microsoft.com/office/drawing/2014/main" id="{C61A79FB-3988-22FB-2FAA-81705D73CC69}"/>
              </a:ext>
            </a:extLst>
          </p:cNvPr>
          <p:cNvSpPr/>
          <p:nvPr/>
        </p:nvSpPr>
        <p:spPr>
          <a:xfrm>
            <a:off x="5117076" y="662513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Dependency Mapping</a:t>
            </a:r>
          </a:p>
        </p:txBody>
      </p:sp>
      <p:sp>
        <p:nvSpPr>
          <p:cNvPr id="15" name="Arrow: Pentagon 14">
            <a:extLst>
              <a:ext uri="{FF2B5EF4-FFF2-40B4-BE49-F238E27FC236}">
                <a16:creationId xmlns:a16="http://schemas.microsoft.com/office/drawing/2014/main" id="{CC971C9E-1B86-2A83-D72C-BDA861B6CD7C}"/>
              </a:ext>
            </a:extLst>
          </p:cNvPr>
          <p:cNvSpPr/>
          <p:nvPr/>
        </p:nvSpPr>
        <p:spPr>
          <a:xfrm>
            <a:off x="10036488" y="4590386"/>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Migration Runbooks</a:t>
            </a:r>
          </a:p>
        </p:txBody>
      </p:sp>
      <p:sp>
        <p:nvSpPr>
          <p:cNvPr id="16" name="Arrow: Pentagon 15">
            <a:extLst>
              <a:ext uri="{FF2B5EF4-FFF2-40B4-BE49-F238E27FC236}">
                <a16:creationId xmlns:a16="http://schemas.microsoft.com/office/drawing/2014/main" id="{357DBA03-FE24-872C-BA49-B7BC95B2EF24}"/>
              </a:ext>
            </a:extLst>
          </p:cNvPr>
          <p:cNvSpPr/>
          <p:nvPr/>
        </p:nvSpPr>
        <p:spPr>
          <a:xfrm>
            <a:off x="13153645" y="6735520"/>
            <a:ext cx="757431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Migration Execution</a:t>
            </a:r>
          </a:p>
        </p:txBody>
      </p:sp>
      <p:sp>
        <p:nvSpPr>
          <p:cNvPr id="17" name="Arrow: Pentagon 16">
            <a:extLst>
              <a:ext uri="{FF2B5EF4-FFF2-40B4-BE49-F238E27FC236}">
                <a16:creationId xmlns:a16="http://schemas.microsoft.com/office/drawing/2014/main" id="{330D8FBB-83B9-97CE-1950-1BC15E98E988}"/>
              </a:ext>
            </a:extLst>
          </p:cNvPr>
          <p:cNvSpPr/>
          <p:nvPr/>
        </p:nvSpPr>
        <p:spPr>
          <a:xfrm>
            <a:off x="16868818" y="7777556"/>
            <a:ext cx="3806308"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Testing &amp; Remediation</a:t>
            </a:r>
          </a:p>
        </p:txBody>
      </p:sp>
      <p:sp>
        <p:nvSpPr>
          <p:cNvPr id="18" name="Arrow: Pentagon 17">
            <a:extLst>
              <a:ext uri="{FF2B5EF4-FFF2-40B4-BE49-F238E27FC236}">
                <a16:creationId xmlns:a16="http://schemas.microsoft.com/office/drawing/2014/main" id="{6092E615-3368-6FBA-F363-0D70EB436C04}"/>
              </a:ext>
            </a:extLst>
          </p:cNvPr>
          <p:cNvSpPr/>
          <p:nvPr/>
        </p:nvSpPr>
        <p:spPr>
          <a:xfrm>
            <a:off x="20839866" y="6735520"/>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Transition to </a:t>
            </a:r>
          </a:p>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Managed Service</a:t>
            </a:r>
          </a:p>
        </p:txBody>
      </p:sp>
      <p:cxnSp>
        <p:nvCxnSpPr>
          <p:cNvPr id="20" name="Straight Connector 19">
            <a:extLst>
              <a:ext uri="{FF2B5EF4-FFF2-40B4-BE49-F238E27FC236}">
                <a16:creationId xmlns:a16="http://schemas.microsoft.com/office/drawing/2014/main" id="{1039737A-925F-02D1-E6EF-1507E0931D5D}"/>
              </a:ext>
            </a:extLst>
          </p:cNvPr>
          <p:cNvCxnSpPr>
            <a:cxnSpLocks/>
          </p:cNvCxnSpPr>
          <p:nvPr/>
        </p:nvCxnSpPr>
        <p:spPr>
          <a:xfrm flipH="1">
            <a:off x="9898168" y="2417271"/>
            <a:ext cx="44048" cy="9736690"/>
          </a:xfrm>
          <a:prstGeom prst="line">
            <a:avLst/>
          </a:prstGeom>
          <a:noFill/>
          <a:ln w="28575" cap="flat" cmpd="sng" algn="ctr">
            <a:solidFill>
              <a:sysClr val="window" lastClr="FFFFFF">
                <a:lumMod val="65000"/>
              </a:sysClr>
            </a:solidFill>
            <a:prstDash val="sysDot"/>
            <a:miter lim="800000"/>
          </a:ln>
          <a:effectLst/>
        </p:spPr>
      </p:cxnSp>
      <p:cxnSp>
        <p:nvCxnSpPr>
          <p:cNvPr id="21" name="Straight Connector 20">
            <a:extLst>
              <a:ext uri="{FF2B5EF4-FFF2-40B4-BE49-F238E27FC236}">
                <a16:creationId xmlns:a16="http://schemas.microsoft.com/office/drawing/2014/main" id="{307F1E28-51DC-3EC2-26AC-1945E1412C8B}"/>
              </a:ext>
            </a:extLst>
          </p:cNvPr>
          <p:cNvCxnSpPr>
            <a:cxnSpLocks/>
          </p:cNvCxnSpPr>
          <p:nvPr/>
        </p:nvCxnSpPr>
        <p:spPr>
          <a:xfrm>
            <a:off x="20739368" y="2361096"/>
            <a:ext cx="0" cy="9703744"/>
          </a:xfrm>
          <a:prstGeom prst="line">
            <a:avLst/>
          </a:prstGeom>
          <a:noFill/>
          <a:ln w="28575" cap="flat" cmpd="sng" algn="ctr">
            <a:solidFill>
              <a:sysClr val="window" lastClr="FFFFFF">
                <a:lumMod val="65000"/>
              </a:sysClr>
            </a:solidFill>
            <a:prstDash val="sysDot"/>
            <a:miter lim="800000"/>
          </a:ln>
          <a:effectLst/>
        </p:spPr>
      </p:cxnSp>
      <p:sp>
        <p:nvSpPr>
          <p:cNvPr id="24" name="Arrow: Pentagon 23">
            <a:extLst>
              <a:ext uri="{FF2B5EF4-FFF2-40B4-BE49-F238E27FC236}">
                <a16:creationId xmlns:a16="http://schemas.microsoft.com/office/drawing/2014/main" id="{582A3A05-5FF5-806C-DA79-73FCAFF025A0}"/>
              </a:ext>
            </a:extLst>
          </p:cNvPr>
          <p:cNvSpPr/>
          <p:nvPr/>
        </p:nvSpPr>
        <p:spPr>
          <a:xfrm>
            <a:off x="10054411" y="7805042"/>
            <a:ext cx="305628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Design</a:t>
            </a:r>
          </a:p>
        </p:txBody>
      </p:sp>
      <p:sp>
        <p:nvSpPr>
          <p:cNvPr id="25" name="Arrow: Pentagon 24">
            <a:extLst>
              <a:ext uri="{FF2B5EF4-FFF2-40B4-BE49-F238E27FC236}">
                <a16:creationId xmlns:a16="http://schemas.microsoft.com/office/drawing/2014/main" id="{68B661D4-6D9F-A50C-A0DA-B99FD99257E7}"/>
              </a:ext>
            </a:extLst>
          </p:cNvPr>
          <p:cNvSpPr/>
          <p:nvPr/>
        </p:nvSpPr>
        <p:spPr>
          <a:xfrm>
            <a:off x="10967612" y="8797060"/>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Build</a:t>
            </a:r>
          </a:p>
        </p:txBody>
      </p:sp>
      <p:sp>
        <p:nvSpPr>
          <p:cNvPr id="26" name="Arrow: Pentagon 25">
            <a:extLst>
              <a:ext uri="{FF2B5EF4-FFF2-40B4-BE49-F238E27FC236}">
                <a16:creationId xmlns:a16="http://schemas.microsoft.com/office/drawing/2014/main" id="{AECC583B-3954-B059-2327-5F16AC20353B}"/>
              </a:ext>
            </a:extLst>
          </p:cNvPr>
          <p:cNvSpPr/>
          <p:nvPr/>
        </p:nvSpPr>
        <p:spPr>
          <a:xfrm>
            <a:off x="16868818" y="8819594"/>
            <a:ext cx="3806308"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Integration in Target</a:t>
            </a:r>
          </a:p>
        </p:txBody>
      </p:sp>
      <p:sp>
        <p:nvSpPr>
          <p:cNvPr id="27" name="Arrow: Pentagon 26">
            <a:extLst>
              <a:ext uri="{FF2B5EF4-FFF2-40B4-BE49-F238E27FC236}">
                <a16:creationId xmlns:a16="http://schemas.microsoft.com/office/drawing/2014/main" id="{893546D0-192B-36C1-9EB0-5A5DD34A340E}"/>
              </a:ext>
            </a:extLst>
          </p:cNvPr>
          <p:cNvSpPr/>
          <p:nvPr/>
        </p:nvSpPr>
        <p:spPr>
          <a:xfrm>
            <a:off x="9233654" y="3608616"/>
            <a:ext cx="11505704"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Governance</a:t>
            </a:r>
          </a:p>
        </p:txBody>
      </p:sp>
      <p:sp>
        <p:nvSpPr>
          <p:cNvPr id="28" name="Arrow: Pentagon 27">
            <a:extLst>
              <a:ext uri="{FF2B5EF4-FFF2-40B4-BE49-F238E27FC236}">
                <a16:creationId xmlns:a16="http://schemas.microsoft.com/office/drawing/2014/main" id="{72709CA2-7CE3-F097-D3A3-A0F656124386}"/>
              </a:ext>
            </a:extLst>
          </p:cNvPr>
          <p:cNvSpPr/>
          <p:nvPr/>
        </p:nvSpPr>
        <p:spPr>
          <a:xfrm>
            <a:off x="12446794" y="9787804"/>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Landing Zone Test</a:t>
            </a:r>
          </a:p>
        </p:txBody>
      </p:sp>
      <p:sp>
        <p:nvSpPr>
          <p:cNvPr id="29" name="Arrow: Pentagon 28">
            <a:extLst>
              <a:ext uri="{FF2B5EF4-FFF2-40B4-BE49-F238E27FC236}">
                <a16:creationId xmlns:a16="http://schemas.microsoft.com/office/drawing/2014/main" id="{EE1C2D81-BB64-9AFC-C178-7DBFD0FDC551}"/>
              </a:ext>
            </a:extLst>
          </p:cNvPr>
          <p:cNvSpPr/>
          <p:nvPr/>
        </p:nvSpPr>
        <p:spPr>
          <a:xfrm>
            <a:off x="1862932" y="559668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Data Strategy</a:t>
            </a:r>
          </a:p>
        </p:txBody>
      </p:sp>
      <p:sp>
        <p:nvSpPr>
          <p:cNvPr id="30" name="Arrow: Pentagon 29">
            <a:extLst>
              <a:ext uri="{FF2B5EF4-FFF2-40B4-BE49-F238E27FC236}">
                <a16:creationId xmlns:a16="http://schemas.microsoft.com/office/drawing/2014/main" id="{FF699E29-6588-2760-DFBE-C4B57538EB5F}"/>
              </a:ext>
            </a:extLst>
          </p:cNvPr>
          <p:cNvSpPr/>
          <p:nvPr/>
        </p:nvSpPr>
        <p:spPr>
          <a:xfrm>
            <a:off x="5096884" y="761924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High-Level </a:t>
            </a:r>
          </a:p>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Release Plan</a:t>
            </a:r>
          </a:p>
        </p:txBody>
      </p:sp>
      <p:sp>
        <p:nvSpPr>
          <p:cNvPr id="31" name="Arrow: Pentagon 30">
            <a:extLst>
              <a:ext uri="{FF2B5EF4-FFF2-40B4-BE49-F238E27FC236}">
                <a16:creationId xmlns:a16="http://schemas.microsoft.com/office/drawing/2014/main" id="{AC25BF8C-7A99-3B03-241A-D17BB124B4B1}"/>
              </a:ext>
            </a:extLst>
          </p:cNvPr>
          <p:cNvSpPr/>
          <p:nvPr/>
        </p:nvSpPr>
        <p:spPr>
          <a:xfrm>
            <a:off x="5096884" y="8632690"/>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Indicative  Modernisation Path</a:t>
            </a:r>
          </a:p>
        </p:txBody>
      </p:sp>
      <p:sp>
        <p:nvSpPr>
          <p:cNvPr id="32" name="Arrow: Pentagon 31">
            <a:extLst>
              <a:ext uri="{FF2B5EF4-FFF2-40B4-BE49-F238E27FC236}">
                <a16:creationId xmlns:a16="http://schemas.microsoft.com/office/drawing/2014/main" id="{91CA0006-CB7A-8230-50A2-9058BFD25BC3}"/>
              </a:ext>
            </a:extLst>
          </p:cNvPr>
          <p:cNvSpPr/>
          <p:nvPr/>
        </p:nvSpPr>
        <p:spPr>
          <a:xfrm>
            <a:off x="10042834" y="5677758"/>
            <a:ext cx="3117156" cy="881424"/>
          </a:xfrm>
          <a:prstGeom prst="homePlate">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Modernisation Runbooks</a:t>
            </a:r>
          </a:p>
        </p:txBody>
      </p:sp>
      <p:sp>
        <p:nvSpPr>
          <p:cNvPr id="19" name="Arrow: Pentagon 18">
            <a:extLst>
              <a:ext uri="{FF2B5EF4-FFF2-40B4-BE49-F238E27FC236}">
                <a16:creationId xmlns:a16="http://schemas.microsoft.com/office/drawing/2014/main" id="{19454A07-EF0F-45FF-679C-3ABA65855663}"/>
              </a:ext>
            </a:extLst>
          </p:cNvPr>
          <p:cNvSpPr/>
          <p:nvPr/>
        </p:nvSpPr>
        <p:spPr>
          <a:xfrm>
            <a:off x="958453" y="3609122"/>
            <a:ext cx="909594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Governance</a:t>
            </a:r>
          </a:p>
        </p:txBody>
      </p:sp>
      <p:sp>
        <p:nvSpPr>
          <p:cNvPr id="33" name="Arrow: Pentagon 32">
            <a:extLst>
              <a:ext uri="{FF2B5EF4-FFF2-40B4-BE49-F238E27FC236}">
                <a16:creationId xmlns:a16="http://schemas.microsoft.com/office/drawing/2014/main" id="{B889A607-B92F-A929-A087-4677489DEEF3}"/>
              </a:ext>
            </a:extLst>
          </p:cNvPr>
          <p:cNvSpPr/>
          <p:nvPr/>
        </p:nvSpPr>
        <p:spPr>
          <a:xfrm>
            <a:off x="1862932" y="6632814"/>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Business Strategy</a:t>
            </a:r>
          </a:p>
        </p:txBody>
      </p:sp>
      <p:sp>
        <p:nvSpPr>
          <p:cNvPr id="35" name="Arrow: Pentagon 34">
            <a:extLst>
              <a:ext uri="{FF2B5EF4-FFF2-40B4-BE49-F238E27FC236}">
                <a16:creationId xmlns:a16="http://schemas.microsoft.com/office/drawing/2014/main" id="{B9BDBE65-436C-1EE6-5039-1565DAD45F97}"/>
              </a:ext>
            </a:extLst>
          </p:cNvPr>
          <p:cNvSpPr/>
          <p:nvPr/>
        </p:nvSpPr>
        <p:spPr>
          <a:xfrm>
            <a:off x="1841232" y="8649078"/>
            <a:ext cx="3117156" cy="881424"/>
          </a:xfrm>
          <a:prstGeom prst="homePlate">
            <a:avLst/>
          </a:prstGeom>
          <a:solidFill>
            <a:srgbClr val="FFC000"/>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Public Cloud Recommendation</a:t>
            </a:r>
          </a:p>
        </p:txBody>
      </p:sp>
      <p:sp>
        <p:nvSpPr>
          <p:cNvPr id="4" name="Arrow: Pentagon 33">
            <a:extLst>
              <a:ext uri="{FF2B5EF4-FFF2-40B4-BE49-F238E27FC236}">
                <a16:creationId xmlns:a16="http://schemas.microsoft.com/office/drawing/2014/main" id="{EBF46C52-9C21-87CB-2A04-B53170EA1114}"/>
              </a:ext>
            </a:extLst>
          </p:cNvPr>
          <p:cNvSpPr/>
          <p:nvPr/>
        </p:nvSpPr>
        <p:spPr>
          <a:xfrm>
            <a:off x="1845250" y="7632366"/>
            <a:ext cx="3117156" cy="881424"/>
          </a:xfrm>
          <a:prstGeom prst="homePlate">
            <a:avLst/>
          </a:prstGeom>
          <a:solidFill>
            <a:schemeClr val="bg2"/>
          </a:solidFill>
          <a:ln w="12700" cap="flat" cmpd="sng" algn="ctr">
            <a:noFill/>
            <a:prstDash val="solid"/>
            <a:miter lim="800000"/>
          </a:ln>
          <a:effectLst/>
        </p:spPr>
        <p:txBody>
          <a:bodyPr rtlCol="0" anchor="ctr"/>
          <a:lstStyle/>
          <a:p>
            <a:pPr marL="0" marR="0" lvl="0" indent="0" algn="ctr" defTabSz="457108"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Fira Sans Light" panose="020B0403050000020004" pitchFamily="34" charset="0"/>
              </a:rPr>
              <a:t>Infra &amp; Security Assessment</a:t>
            </a:r>
          </a:p>
        </p:txBody>
      </p:sp>
    </p:spTree>
    <p:extLst>
      <p:ext uri="{BB962C8B-B14F-4D97-AF65-F5344CB8AC3E}">
        <p14:creationId xmlns:p14="http://schemas.microsoft.com/office/powerpoint/2010/main" val="3813000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DB93-D18E-906E-125C-E1E41ACF39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555FA0-7063-5FC4-3810-63E06AADDEFE}"/>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51</a:t>
            </a:fld>
            <a:endParaRPr lang="en-GB" noProof="0"/>
          </a:p>
        </p:txBody>
      </p:sp>
      <p:sp>
        <p:nvSpPr>
          <p:cNvPr id="10" name="Text Placeholder 9">
            <a:extLst>
              <a:ext uri="{FF2B5EF4-FFF2-40B4-BE49-F238E27FC236}">
                <a16:creationId xmlns:a16="http://schemas.microsoft.com/office/drawing/2014/main" id="{06A8287A-295B-8389-D389-1BD4FF605854}"/>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Five cohorts, one critical path</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A083AC47-87AD-BCFF-25C5-60EC1B9B8BB3}"/>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Migration cohorts</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29441D17-5B5E-40C0-AB9C-ED7E0B812BAF}"/>
              </a:ext>
            </a:extLst>
          </p:cNvPr>
          <p:cNvSpPr txBox="1"/>
          <p:nvPr/>
        </p:nvSpPr>
        <p:spPr>
          <a:xfrm>
            <a:off x="7107173" y="2330247"/>
            <a:ext cx="15913031" cy="9284593"/>
          </a:xfrm>
          <a:prstGeom prst="rect">
            <a:avLst/>
          </a:prstGeom>
          <a:noFill/>
        </p:spPr>
        <p:txBody>
          <a:bodyPr wrap="square">
            <a:spAutoFit/>
          </a:bodyPr>
          <a:lstStyle/>
          <a:p>
            <a:pPr marL="742950" indent="-74295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Cohort 0: Foundation </a:t>
            </a:r>
            <a:r>
              <a:rPr lang="en-GB" sz="3600">
                <a:latin typeface="Fira Sans" panose="020B0503050000020004" pitchFamily="34" charset="0"/>
              </a:rPr>
              <a:t>| 5 apps, 95 servers AD, monitoring, security, config management. Must exist before anything migrates.</a:t>
            </a:r>
          </a:p>
          <a:p>
            <a:pPr marL="742950" indent="-74295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Cohort 1: Quick wins </a:t>
            </a:r>
            <a:r>
              <a:rPr lang="en-GB" sz="3600">
                <a:latin typeface="Fira Sans" panose="020B0503050000020004" pitchFamily="34" charset="0"/>
              </a:rPr>
              <a:t>| 13 apps, 63 servers Independent, well-discovered, clear cloud fit. Early value and operational experience.</a:t>
            </a:r>
          </a:p>
          <a:p>
            <a:pPr marL="742950" indent="-74295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Cohort 2: Planned </a:t>
            </a:r>
            <a:r>
              <a:rPr lang="en-GB" sz="3600">
                <a:latin typeface="Fira Sans" panose="020B0503050000020004" pitchFamily="34" charset="0"/>
              </a:rPr>
              <a:t>| 17 apps, 425 servers Some database dependencies, mixed infrastructure. Manageable complexity.</a:t>
            </a:r>
          </a:p>
          <a:p>
            <a:pPr marL="742950" indent="-74295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Cohort 3: Complex </a:t>
            </a:r>
            <a:r>
              <a:rPr lang="en-GB" sz="3600">
                <a:latin typeface="Fira Sans" panose="020B0503050000020004" pitchFamily="34" charset="0"/>
              </a:rPr>
              <a:t>| 2 apps, 2,342 servers (77%) Mail Online + WPS. Oracle dependency. 91 sub-components. This is the programme.</a:t>
            </a:r>
          </a:p>
          <a:p>
            <a:pPr marL="742950" indent="-74295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Cohort 4: Decision required </a:t>
            </a:r>
            <a:r>
              <a:rPr lang="en-GB" sz="3600">
                <a:latin typeface="Fira Sans" panose="020B0503050000020004" pitchFamily="34" charset="0"/>
              </a:rPr>
              <a:t>| 2 apps, 113 servers </a:t>
            </a:r>
            <a:r>
              <a:rPr lang="en-GB" sz="3600" err="1">
                <a:latin typeface="Fira Sans" panose="020B0503050000020004" pitchFamily="34" charset="0"/>
              </a:rPr>
              <a:t>Atex</a:t>
            </a:r>
            <a:r>
              <a:rPr lang="en-GB" sz="3600">
                <a:latin typeface="Fira Sans" panose="020B0503050000020004" pitchFamily="34" charset="0"/>
              </a:rPr>
              <a:t> + </a:t>
            </a:r>
            <a:r>
              <a:rPr lang="en-GB" sz="3600" err="1">
                <a:latin typeface="Fira Sans" panose="020B0503050000020004" pitchFamily="34" charset="0"/>
              </a:rPr>
              <a:t>InstantPress</a:t>
            </a:r>
            <a:r>
              <a:rPr lang="en-GB" sz="3600">
                <a:latin typeface="Fira Sans" panose="020B0503050000020004" pitchFamily="34" charset="0"/>
              </a:rPr>
              <a:t>. Multicast constraint. Cannot progress until unicast decision is made.</a:t>
            </a:r>
            <a:endParaRPr lang="en-GB" sz="3600" noProof="0">
              <a:latin typeface="Fira Sans" panose="020B0503050000020004" pitchFamily="34" charset="0"/>
            </a:endParaRPr>
          </a:p>
        </p:txBody>
      </p:sp>
    </p:spTree>
    <p:extLst>
      <p:ext uri="{BB962C8B-B14F-4D97-AF65-F5344CB8AC3E}">
        <p14:creationId xmlns:p14="http://schemas.microsoft.com/office/powerpoint/2010/main" val="41577158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00C-7F7D-B5A0-DDB0-3AE766D620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BFC1A2-1006-F69F-8897-FB5A6978BB9F}"/>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52</a:t>
            </a:fld>
            <a:endParaRPr lang="en-GB" noProof="0"/>
          </a:p>
        </p:txBody>
      </p:sp>
      <p:sp>
        <p:nvSpPr>
          <p:cNvPr id="10" name="Text Placeholder 9">
            <a:extLst>
              <a:ext uri="{FF2B5EF4-FFF2-40B4-BE49-F238E27FC236}">
                <a16:creationId xmlns:a16="http://schemas.microsoft.com/office/drawing/2014/main" id="{0F0A0912-99AC-48BB-5196-DDBDC9A84575}"/>
              </a:ext>
            </a:extLst>
          </p:cNvPr>
          <p:cNvSpPr>
            <a:spLocks noGrp="1"/>
          </p:cNvSpPr>
          <p:nvPr>
            <p:ph type="body" sz="quarter" idx="13"/>
          </p:nvPr>
        </p:nvSpPr>
        <p:spPr>
          <a:xfrm>
            <a:off x="533709" y="5827194"/>
            <a:ext cx="5216526" cy="3536261"/>
          </a:xfrm>
        </p:spPr>
        <p:txBody>
          <a:bodyPr anchor="ctr"/>
          <a:lstStyle/>
          <a:p>
            <a:pPr algn="ctr"/>
            <a:r>
              <a:rPr lang="en-GB" sz="3200">
                <a:latin typeface="Fira Sans" panose="020B0503050000020004" pitchFamily="34" charset="0"/>
              </a:rPr>
              <a:t>Applications that must move together</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79CC79FA-3D62-F423-86E4-B3519EF51A0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Co-migration groups</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B9C95ECD-5ACA-A985-AA1A-C8346EAA8578}"/>
              </a:ext>
            </a:extLst>
          </p:cNvPr>
          <p:cNvSpPr txBox="1"/>
          <p:nvPr/>
        </p:nvSpPr>
        <p:spPr>
          <a:xfrm>
            <a:off x="7107173" y="2330247"/>
            <a:ext cx="7047739" cy="5991384"/>
          </a:xfrm>
          <a:prstGeom prst="rect">
            <a:avLst/>
          </a:prstGeom>
          <a:noFill/>
        </p:spPr>
        <p:txBody>
          <a:bodyPr wrap="square" lIns="91440" tIns="45720" rIns="91440" bIns="45720" anchor="t">
            <a:spAutoFit/>
          </a:bodyPr>
          <a:lstStyle/>
          <a:p>
            <a:pPr marL="571500" indent="-571500" defTabSz="1828800" fontAlgn="t">
              <a:spcAft>
                <a:spcPts val="1400"/>
              </a:spcAft>
              <a:buClr>
                <a:srgbClr val="EB0000"/>
              </a:buClr>
              <a:buFont typeface="Arial" panose="020B0604020202020204" pitchFamily="34" charset="0"/>
              <a:buChar char="•"/>
            </a:pPr>
            <a:r>
              <a:rPr lang="en-GB" sz="3600">
                <a:latin typeface="Fira Sans"/>
              </a:rPr>
              <a:t>Mail Online + WPS: WPS maintains sustained Oracle connections to the B-cluster. Splitting them breaks the publishing pipeline.</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a:latin typeface="Fira Sans"/>
              </a:rPr>
              <a:t>ECO3 + </a:t>
            </a:r>
            <a:r>
              <a:rPr lang="en-GB" sz="3600" err="1">
                <a:latin typeface="Fira Sans"/>
              </a:rPr>
              <a:t>OneVision</a:t>
            </a:r>
            <a:r>
              <a:rPr lang="en-GB" sz="3600">
                <a:latin typeface="Fira Sans"/>
              </a:rPr>
              <a:t>: </a:t>
            </a:r>
            <a:r>
              <a:rPr lang="en-GB" sz="3600" err="1">
                <a:latin typeface="Fira Sans"/>
              </a:rPr>
              <a:t>OneVision</a:t>
            </a:r>
            <a:r>
              <a:rPr lang="en-GB" sz="3600">
                <a:latin typeface="Fira Sans"/>
              </a:rPr>
              <a:t> reads from ECO3's courier database via SMB (port 445, network-confirmed).</a:t>
            </a:r>
            <a:endParaRPr lang="en-GB" sz="3600" noProof="0">
              <a:latin typeface="Fira Sans"/>
            </a:endParaRPr>
          </a:p>
        </p:txBody>
      </p:sp>
      <p:sp>
        <p:nvSpPr>
          <p:cNvPr id="2" name="TextBox 1">
            <a:extLst>
              <a:ext uri="{FF2B5EF4-FFF2-40B4-BE49-F238E27FC236}">
                <a16:creationId xmlns:a16="http://schemas.microsoft.com/office/drawing/2014/main" id="{D1AE85BF-0870-686A-9C6D-DA40CBE782A1}"/>
              </a:ext>
            </a:extLst>
          </p:cNvPr>
          <p:cNvSpPr txBox="1"/>
          <p:nvPr/>
        </p:nvSpPr>
        <p:spPr>
          <a:xfrm>
            <a:off x="15123413" y="2330247"/>
            <a:ext cx="8175499" cy="5991384"/>
          </a:xfrm>
          <a:prstGeom prst="rect">
            <a:avLst/>
          </a:prstGeom>
          <a:noFill/>
        </p:spPr>
        <p:txBody>
          <a:bodyPr wrap="square" lIns="91440" tIns="45720" rIns="91440" bIns="45720" anchor="t">
            <a:spAutoFit/>
          </a:bodyPr>
          <a:lstStyle/>
          <a:p>
            <a:pPr marL="571500" indent="-571500" defTabSz="1828800" fontAlgn="t">
              <a:spcAft>
                <a:spcPts val="1400"/>
              </a:spcAft>
              <a:buClr>
                <a:srgbClr val="EB0000"/>
              </a:buClr>
              <a:buFont typeface="Arial" panose="020B0604020202020204" pitchFamily="34" charset="0"/>
              <a:buChar char="•"/>
            </a:pPr>
            <a:r>
              <a:rPr lang="en-GB" sz="3600" err="1">
                <a:latin typeface="Fira Sans"/>
              </a:rPr>
              <a:t>Atex</a:t>
            </a:r>
            <a:r>
              <a:rPr lang="en-GB" sz="3600">
                <a:latin typeface="Fira Sans"/>
              </a:rPr>
              <a:t> + </a:t>
            </a:r>
            <a:r>
              <a:rPr lang="en-GB" sz="3600" err="1">
                <a:latin typeface="Fira Sans"/>
              </a:rPr>
              <a:t>InstantPress</a:t>
            </a:r>
            <a:r>
              <a:rPr lang="en-GB" sz="3600">
                <a:latin typeface="Fira Sans"/>
              </a:rPr>
              <a:t>: </a:t>
            </a:r>
            <a:r>
              <a:rPr lang="en-GB" sz="3600" err="1">
                <a:latin typeface="Fira Sans"/>
              </a:rPr>
              <a:t>InstantPress</a:t>
            </a:r>
            <a:r>
              <a:rPr lang="en-GB" sz="3600">
                <a:latin typeface="Fira Sans"/>
              </a:rPr>
              <a:t> produces PDF output from </a:t>
            </a:r>
            <a:r>
              <a:rPr lang="en-GB" sz="3600" err="1">
                <a:latin typeface="Fira Sans"/>
              </a:rPr>
              <a:t>Atex</a:t>
            </a:r>
            <a:r>
              <a:rPr lang="en-GB" sz="3600">
                <a:latin typeface="Fira Sans"/>
              </a:rPr>
              <a:t> content. Coupled by data flow.</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What this means These groups are scheduling constraints. Part  2 builds the release plan around them. You cannot pick applications for convenience. You pick them by coupling.</a:t>
            </a:r>
            <a:endParaRPr lang="en-GB" sz="3600" noProof="0">
              <a:latin typeface="Fira Sans" panose="020B0503050000020004" pitchFamily="34" charset="0"/>
            </a:endParaRPr>
          </a:p>
        </p:txBody>
      </p:sp>
    </p:spTree>
    <p:extLst>
      <p:ext uri="{BB962C8B-B14F-4D97-AF65-F5344CB8AC3E}">
        <p14:creationId xmlns:p14="http://schemas.microsoft.com/office/powerpoint/2010/main" val="2810822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D3A8-8F8B-22C2-DC2B-0B7E38610AB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26A489-A3AB-7E81-EF6B-F1A5EF65B5E5}"/>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53</a:t>
            </a:fld>
            <a:endParaRPr lang="en-GB" noProof="0"/>
          </a:p>
        </p:txBody>
      </p:sp>
      <p:sp>
        <p:nvSpPr>
          <p:cNvPr id="10" name="Text Placeholder 9">
            <a:extLst>
              <a:ext uri="{FF2B5EF4-FFF2-40B4-BE49-F238E27FC236}">
                <a16:creationId xmlns:a16="http://schemas.microsoft.com/office/drawing/2014/main" id="{191A3925-6712-2B0A-4984-C119C216D840}"/>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Data and decisions</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2F9BB55B-FD0C-79E9-DF2D-A7BCBA9E1FDF}"/>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What you need to do now</a:t>
            </a:r>
            <a:endParaRPr lang="en-GB" sz="5400" kern="1200" noProof="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0149AB80-CC43-1C95-F269-8BA70F5FC9D7}"/>
              </a:ext>
            </a:extLst>
          </p:cNvPr>
          <p:cNvSpPr txBox="1"/>
          <p:nvPr/>
        </p:nvSpPr>
        <p:spPr>
          <a:xfrm>
            <a:off x="7424165" y="1982775"/>
            <a:ext cx="7047739" cy="7458452"/>
          </a:xfrm>
          <a:prstGeom prst="rect">
            <a:avLst/>
          </a:prstGeom>
          <a:noFill/>
        </p:spPr>
        <p:txBody>
          <a:bodyPr wrap="square">
            <a:spAutoFit/>
          </a:bodyPr>
          <a:lstStyle/>
          <a:p>
            <a:pPr defTabSz="1828800" fontAlgn="t">
              <a:spcAft>
                <a:spcPts val="1400"/>
              </a:spcAft>
              <a:buClr>
                <a:srgbClr val="EB0000"/>
              </a:buClr>
            </a:pPr>
            <a:r>
              <a:rPr lang="en-GB" sz="3600">
                <a:latin typeface="Fira Sans" panose="020B0503050000020004" pitchFamily="34" charset="0"/>
              </a:rPr>
              <a:t>Data to provide</a:t>
            </a:r>
          </a:p>
          <a:p>
            <a:pPr marL="571500" indent="-571500" defTabSz="1828800" fontAlgn="t">
              <a:spcAft>
                <a:spcPts val="1400"/>
              </a:spcAft>
              <a:buClr>
                <a:srgbClr val="EB0000"/>
              </a:buClr>
              <a:buFont typeface="Arial" panose="020B0604020202020204" pitchFamily="34" charset="0"/>
              <a:buChar cha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SA confirmation from </a:t>
            </a:r>
            <a:r>
              <a:rPr lang="en-GB" sz="3600" err="1">
                <a:latin typeface="Fira Sans" panose="020B0503050000020004" pitchFamily="34" charset="0"/>
              </a:rPr>
              <a:t>Bluesource</a:t>
            </a:r>
            <a:r>
              <a:rPr lang="en-GB" sz="3600">
                <a:latin typeface="Fira Sans" panose="020B0503050000020004" pitchFamily="34" charset="0"/>
              </a:rPr>
              <a:t> (unblocks BYOL modelling)</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Broadcom VCF subscription quote (completes cost of doing nothing)</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MOL B-cluster DMA access (largest database, currently sized from hardware spec only)</a:t>
            </a:r>
          </a:p>
        </p:txBody>
      </p:sp>
      <p:sp>
        <p:nvSpPr>
          <p:cNvPr id="3" name="TextBox 2">
            <a:extLst>
              <a:ext uri="{FF2B5EF4-FFF2-40B4-BE49-F238E27FC236}">
                <a16:creationId xmlns:a16="http://schemas.microsoft.com/office/drawing/2014/main" id="{6CF84058-421F-8E28-EE84-440D2C3A3409}"/>
              </a:ext>
            </a:extLst>
          </p:cNvPr>
          <p:cNvSpPr txBox="1"/>
          <p:nvPr/>
        </p:nvSpPr>
        <p:spPr>
          <a:xfrm>
            <a:off x="15440405" y="1982775"/>
            <a:ext cx="8175499" cy="7817525"/>
          </a:xfrm>
          <a:prstGeom prst="rect">
            <a:avLst/>
          </a:prstGeom>
          <a:noFill/>
        </p:spPr>
        <p:txBody>
          <a:bodyPr wrap="square">
            <a:spAutoFit/>
          </a:bodyPr>
          <a:lstStyle/>
          <a:p>
            <a:pPr defTabSz="1828800" fontAlgn="t">
              <a:spcAft>
                <a:spcPts val="1400"/>
              </a:spcAft>
              <a:buClr>
                <a:srgbClr val="EB0000"/>
              </a:buClr>
            </a:pPr>
            <a:r>
              <a:rPr lang="en-GB" sz="3600">
                <a:latin typeface="Fira Sans" panose="020B0503050000020004" pitchFamily="34" charset="0"/>
              </a:rPr>
              <a:t>Decisions to make</a:t>
            </a:r>
          </a:p>
          <a:p>
            <a:pPr defTabSz="1828800" fontAlgn="t">
              <a:spcAft>
                <a:spcPts val="1400"/>
              </a:spcAft>
              <a:buClr>
                <a:srgbClr val="EB0000"/>
              </a:buClr>
            </a:pPr>
            <a:endParaRPr lang="en-GB" sz="360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Primary platform (this assessment recommends AWS)</a:t>
            </a:r>
          </a:p>
          <a:p>
            <a:pPr marL="571500" indent="-571500" defTabSz="1828800" fontAlgn="t">
              <a:spcAft>
                <a:spcPts val="1400"/>
              </a:spcAft>
              <a:buClr>
                <a:srgbClr val="EB0000"/>
              </a:buClr>
              <a:buFont typeface="Arial" panose="020B0604020202020204" pitchFamily="34" charset="0"/>
              <a:buChar char="•"/>
            </a:pPr>
            <a:r>
              <a:rPr lang="en-GB" sz="3600" err="1">
                <a:latin typeface="Fira Sans" panose="020B0503050000020004" pitchFamily="34" charset="0"/>
              </a:rPr>
              <a:t>Atex</a:t>
            </a:r>
            <a:r>
              <a:rPr lang="en-GB" sz="3600">
                <a:latin typeface="Fira Sans" panose="020B0503050000020004" pitchFamily="34" charset="0"/>
              </a:rPr>
              <a:t> vendor engagement on unicast support</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Oracle path: </a:t>
            </a:r>
            <a:r>
              <a:rPr lang="en-GB" sz="3600" err="1">
                <a:latin typeface="Fira Sans" panose="020B0503050000020004" pitchFamily="34" charset="0"/>
              </a:rPr>
              <a:t>Exadata@Cloud</a:t>
            </a:r>
            <a:r>
              <a:rPr lang="en-GB" sz="3600">
                <a:latin typeface="Fira Sans" panose="020B0503050000020004" pitchFamily="34" charset="0"/>
              </a:rPr>
              <a:t> now, PostgreSQL timing for Part 2</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Day 2 operating model (partner-assisted with upskilling)</a:t>
            </a:r>
          </a:p>
          <a:p>
            <a:pPr marL="571500" indent="-571500" defTabSz="1828800" fontAlgn="t">
              <a:spcAft>
                <a:spcPts val="1400"/>
              </a:spcAft>
              <a:buClr>
                <a:srgbClr val="EB0000"/>
              </a:buClr>
              <a:buFont typeface="Arial" panose="020B0604020202020204" pitchFamily="34" charset="0"/>
              <a:buChar char="•"/>
            </a:pPr>
            <a:r>
              <a:rPr lang="en-GB" sz="3600">
                <a:latin typeface="Fira Sans" panose="020B0503050000020004" pitchFamily="34" charset="0"/>
              </a:rPr>
              <a:t>CPO and CTO joint sponsorship for Mail Online</a:t>
            </a:r>
            <a:endParaRPr lang="en-GB" sz="3600" noProof="0">
              <a:latin typeface="Fira Sans" panose="020B0503050000020004" pitchFamily="34" charset="0"/>
            </a:endParaRPr>
          </a:p>
        </p:txBody>
      </p:sp>
    </p:spTree>
    <p:extLst>
      <p:ext uri="{BB962C8B-B14F-4D97-AF65-F5344CB8AC3E}">
        <p14:creationId xmlns:p14="http://schemas.microsoft.com/office/powerpoint/2010/main" val="22980656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ECC5E-FDFD-3533-E973-5BD06E774B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6896A-0D31-5322-ED74-6C607EB91D5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54</a:t>
            </a:fld>
            <a:endParaRPr lang="en-GB" noProof="0"/>
          </a:p>
        </p:txBody>
      </p:sp>
      <p:sp>
        <p:nvSpPr>
          <p:cNvPr id="10" name="Text Placeholder 9">
            <a:extLst>
              <a:ext uri="{FF2B5EF4-FFF2-40B4-BE49-F238E27FC236}">
                <a16:creationId xmlns:a16="http://schemas.microsoft.com/office/drawing/2014/main" id="{3CE5B241-B260-C5AC-BAFD-EF7391ABBDC3}"/>
              </a:ext>
            </a:extLst>
          </p:cNvPr>
          <p:cNvSpPr>
            <a:spLocks noGrp="1"/>
          </p:cNvSpPr>
          <p:nvPr>
            <p:ph type="body" sz="quarter" idx="13"/>
          </p:nvPr>
        </p:nvSpPr>
        <p:spPr>
          <a:xfrm>
            <a:off x="533709" y="6028362"/>
            <a:ext cx="5216526" cy="3536261"/>
          </a:xfrm>
        </p:spPr>
        <p:txBody>
          <a:bodyPr anchor="ctr"/>
          <a:lstStyle/>
          <a:p>
            <a:pPr algn="ctr"/>
            <a:r>
              <a:rPr lang="en-GB" sz="3200">
                <a:latin typeface="Fira Sans" panose="020B0503050000020004" pitchFamily="34" charset="0"/>
              </a:rPr>
              <a:t>From assessment to migration plan</a:t>
            </a:r>
            <a:endParaRPr lang="en-GB" sz="3200" noProof="0">
              <a:latin typeface="Fira Sans" panose="020B0503050000020004" pitchFamily="34" charset="0"/>
            </a:endParaRPr>
          </a:p>
        </p:txBody>
      </p:sp>
      <p:sp>
        <p:nvSpPr>
          <p:cNvPr id="5" name="Title 1">
            <a:extLst>
              <a:ext uri="{FF2B5EF4-FFF2-40B4-BE49-F238E27FC236}">
                <a16:creationId xmlns:a16="http://schemas.microsoft.com/office/drawing/2014/main" id="{9C7D1CD1-3791-40A5-2547-73556686B41B}"/>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a:latin typeface="Fira Sans" panose="020B0503050000020004" pitchFamily="34" charset="0"/>
              </a:rPr>
              <a:t>Part 2 entry point</a:t>
            </a:r>
            <a:endParaRPr lang="en-GB" sz="5400" kern="1200" noProof="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6DA1012-AA8A-567A-F1EE-138B84859202}"/>
              </a:ext>
            </a:extLst>
          </p:cNvPr>
          <p:cNvSpPr txBox="1"/>
          <p:nvPr/>
        </p:nvSpPr>
        <p:spPr>
          <a:xfrm>
            <a:off x="6899911" y="1475374"/>
            <a:ext cx="16344137" cy="10392589"/>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Discovery and profiling </a:t>
            </a:r>
            <a:r>
              <a:rPr lang="en-GB" sz="3600">
                <a:latin typeface="Fira Sans" panose="020B0503050000020004" pitchFamily="34" charset="0"/>
              </a:rPr>
              <a:t>Extend to full 4,500+ estate. MOL B-cluster DMA. Deep performance profiling. Per-application 7R classification.</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Architecture and design </a:t>
            </a:r>
            <a:r>
              <a:rPr lang="en-GB" sz="3600">
                <a:latin typeface="Fira Sans" panose="020B0503050000020004" pitchFamily="34" charset="0"/>
              </a:rPr>
              <a:t>Landing zone design. Security posture assessment. Network and load balancer modernisation. </a:t>
            </a:r>
            <a:r>
              <a:rPr lang="en-GB" sz="3600" err="1">
                <a:latin typeface="Fira Sans" panose="020B0503050000020004" pitchFamily="34" charset="0"/>
              </a:rPr>
              <a:t>Guardicore</a:t>
            </a:r>
            <a:r>
              <a:rPr lang="en-GB" sz="3600">
                <a:latin typeface="Fira Sans" panose="020B0503050000020004" pitchFamily="34" charset="0"/>
              </a:rPr>
              <a:t> policy migration.</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Data and modernisation </a:t>
            </a:r>
            <a:r>
              <a:rPr lang="en-GB" sz="3600">
                <a:latin typeface="Fira Sans" panose="020B0503050000020004" pitchFamily="34" charset="0"/>
              </a:rPr>
              <a:t>Oracle modernisation assessment (highest-value workstream). SQL Server per-instance assessment. PostgreSQL feasibility</a:t>
            </a:r>
            <a:r>
              <a:rPr lang="en-GB" sz="3600" b="1">
                <a:latin typeface="Fira Sans" panose="020B0503050000020004" pitchFamily="34" charset="0"/>
              </a:rPr>
              <a:t>.</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Planning and governance </a:t>
            </a:r>
            <a:r>
              <a:rPr lang="en-GB" sz="3600">
                <a:latin typeface="Fira Sans" panose="020B0503050000020004" pitchFamily="34" charset="0"/>
              </a:rPr>
              <a:t>Cohort sequencing with timeline. Co-migration group scheduling. Dual-run cost modelling. Cloud Platform Team formation. Staff training roadmap.</a:t>
            </a:r>
          </a:p>
          <a:p>
            <a:pPr marL="571500" indent="-571500" defTabSz="1828800" fontAlgn="t">
              <a:spcAft>
                <a:spcPts val="1400"/>
              </a:spcAft>
              <a:buClr>
                <a:srgbClr val="EB0000"/>
              </a:buClr>
              <a:buFont typeface="Arial" panose="020B0604020202020204" pitchFamily="34" charset="0"/>
              <a:buChar char="•"/>
            </a:pPr>
            <a:endParaRPr lang="en-GB" sz="3600" b="1">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a:latin typeface="Fira Sans" panose="020B0503050000020004" pitchFamily="34" charset="0"/>
              </a:rPr>
              <a:t>Bottom line: </a:t>
            </a:r>
            <a:r>
              <a:rPr lang="en-GB" sz="3600">
                <a:latin typeface="Fira Sans" panose="020B0503050000020004" pitchFamily="34" charset="0"/>
              </a:rPr>
              <a:t>Part 2 is a separately proposed engagement. It turns this report into a concrete migration plan. It does not execute migration.</a:t>
            </a:r>
            <a:endParaRPr lang="en-GB" sz="3600" noProof="0">
              <a:latin typeface="Fira Sans" panose="020B0503050000020004" pitchFamily="34" charset="0"/>
            </a:endParaRPr>
          </a:p>
        </p:txBody>
      </p:sp>
    </p:spTree>
    <p:extLst>
      <p:ext uri="{BB962C8B-B14F-4D97-AF65-F5344CB8AC3E}">
        <p14:creationId xmlns:p14="http://schemas.microsoft.com/office/powerpoint/2010/main" val="31873144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9BF4C0-3CB7-B987-AB17-F379D3BF9DEE}"/>
              </a:ext>
            </a:extLst>
          </p:cNvPr>
          <p:cNvSpPr>
            <a:spLocks noGrp="1"/>
          </p:cNvSpPr>
          <p:nvPr>
            <p:ph type="sldNum" sz="quarter" idx="11"/>
          </p:nvPr>
        </p:nvSpPr>
        <p:spPr/>
        <p:txBody>
          <a:bodyPr/>
          <a:lstStyle/>
          <a:p>
            <a:fld id="{762E77F0-FB5B-4E8E-9BC9-34F14560A017}" type="slidenum">
              <a:rPr lang="en-US" smtClean="0"/>
              <a:pPr/>
              <a:t>55</a:t>
            </a:fld>
            <a:endParaRPr lang="en-US"/>
          </a:p>
        </p:txBody>
      </p:sp>
      <p:sp>
        <p:nvSpPr>
          <p:cNvPr id="5" name="Title 4">
            <a:extLst>
              <a:ext uri="{FF2B5EF4-FFF2-40B4-BE49-F238E27FC236}">
                <a16:creationId xmlns:a16="http://schemas.microsoft.com/office/drawing/2014/main" id="{8DE43ACE-928C-D6DE-0262-8E3CD224B521}"/>
              </a:ext>
            </a:extLst>
          </p:cNvPr>
          <p:cNvSpPr>
            <a:spLocks noGrp="1"/>
          </p:cNvSpPr>
          <p:nvPr>
            <p:ph type="title"/>
          </p:nvPr>
        </p:nvSpPr>
        <p:spPr>
          <a:xfrm>
            <a:off x="668995" y="537179"/>
            <a:ext cx="5241586" cy="2017668"/>
          </a:xfrm>
        </p:spPr>
        <p:txBody>
          <a:bodyPr/>
          <a:lstStyle/>
          <a:p>
            <a:r>
              <a:rPr lang="en-IN"/>
              <a:t>Approach to CRA Phase 2</a:t>
            </a:r>
          </a:p>
        </p:txBody>
      </p:sp>
      <p:grpSp>
        <p:nvGrpSpPr>
          <p:cNvPr id="10" name="Group 9">
            <a:extLst>
              <a:ext uri="{FF2B5EF4-FFF2-40B4-BE49-F238E27FC236}">
                <a16:creationId xmlns:a16="http://schemas.microsoft.com/office/drawing/2014/main" id="{35B2446E-0430-82ED-6951-C2B3978BD3AD}"/>
              </a:ext>
            </a:extLst>
          </p:cNvPr>
          <p:cNvGrpSpPr/>
          <p:nvPr/>
        </p:nvGrpSpPr>
        <p:grpSpPr>
          <a:xfrm>
            <a:off x="6826104" y="916931"/>
            <a:ext cx="17080289" cy="1470326"/>
            <a:chOff x="6804838" y="1084521"/>
            <a:chExt cx="17080289" cy="1470326"/>
          </a:xfrm>
        </p:grpSpPr>
        <p:sp>
          <p:nvSpPr>
            <p:cNvPr id="7" name="Arrow: Pentagon 6">
              <a:extLst>
                <a:ext uri="{FF2B5EF4-FFF2-40B4-BE49-F238E27FC236}">
                  <a16:creationId xmlns:a16="http://schemas.microsoft.com/office/drawing/2014/main" id="{09F26E38-A00E-DAA4-BD88-173DE640FF80}"/>
                </a:ext>
              </a:extLst>
            </p:cNvPr>
            <p:cNvSpPr/>
            <p:nvPr/>
          </p:nvSpPr>
          <p:spPr>
            <a:xfrm>
              <a:off x="6804838" y="1084521"/>
              <a:ext cx="3955312" cy="1470326"/>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a:solidFill>
                    <a:schemeClr val="tx1"/>
                  </a:solidFill>
                  <a:latin typeface="Fira Sans" panose="020B0503050000020004" pitchFamily="34" charset="0"/>
                </a:rPr>
                <a:t>Discovery</a:t>
              </a:r>
            </a:p>
          </p:txBody>
        </p:sp>
        <p:sp>
          <p:nvSpPr>
            <p:cNvPr id="8" name="Arrow: Chevron 7">
              <a:extLst>
                <a:ext uri="{FF2B5EF4-FFF2-40B4-BE49-F238E27FC236}">
                  <a16:creationId xmlns:a16="http://schemas.microsoft.com/office/drawing/2014/main" id="{05D78A2E-F61E-AB25-4AD2-F9A70024A2E8}"/>
                </a:ext>
              </a:extLst>
            </p:cNvPr>
            <p:cNvSpPr/>
            <p:nvPr/>
          </p:nvSpPr>
          <p:spPr>
            <a:xfrm>
              <a:off x="10356113" y="1084521"/>
              <a:ext cx="10143459" cy="1470326"/>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a:solidFill>
                    <a:schemeClr val="tx1"/>
                  </a:solidFill>
                  <a:latin typeface="Fira Sans" panose="020B0503050000020004" pitchFamily="34" charset="0"/>
                </a:rPr>
                <a:t>Assessment</a:t>
              </a:r>
            </a:p>
          </p:txBody>
        </p:sp>
        <p:sp>
          <p:nvSpPr>
            <p:cNvPr id="9" name="Arrow: Chevron 8">
              <a:extLst>
                <a:ext uri="{FF2B5EF4-FFF2-40B4-BE49-F238E27FC236}">
                  <a16:creationId xmlns:a16="http://schemas.microsoft.com/office/drawing/2014/main" id="{DB5FD189-3917-A61D-AA23-4AAA903416CF}"/>
                </a:ext>
              </a:extLst>
            </p:cNvPr>
            <p:cNvSpPr/>
            <p:nvPr/>
          </p:nvSpPr>
          <p:spPr>
            <a:xfrm>
              <a:off x="20095536" y="1084521"/>
              <a:ext cx="3789591" cy="1470326"/>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a:solidFill>
                    <a:schemeClr val="tx1"/>
                  </a:solidFill>
                  <a:latin typeface="Fira Sans" panose="020B0503050000020004" pitchFamily="34" charset="0"/>
                </a:rPr>
                <a:t>Plan</a:t>
              </a:r>
            </a:p>
          </p:txBody>
        </p:sp>
      </p:grpSp>
      <p:sp>
        <p:nvSpPr>
          <p:cNvPr id="11" name="Rectangle: Rounded Corners 10">
            <a:extLst>
              <a:ext uri="{FF2B5EF4-FFF2-40B4-BE49-F238E27FC236}">
                <a16:creationId xmlns:a16="http://schemas.microsoft.com/office/drawing/2014/main" id="{6E400B12-FF8C-F04A-B5C7-080FDA4907C8}"/>
              </a:ext>
            </a:extLst>
          </p:cNvPr>
          <p:cNvSpPr/>
          <p:nvPr/>
        </p:nvSpPr>
        <p:spPr>
          <a:xfrm>
            <a:off x="6826104" y="3132570"/>
            <a:ext cx="3551275" cy="8648304"/>
          </a:xfrm>
          <a:prstGeom prst="round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
            </a:pPr>
            <a:endParaRPr lang="en-IN"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IN" sz="2800">
              <a:solidFill>
                <a:schemeClr val="tx1"/>
              </a:solidFill>
              <a:latin typeface="Fira Sans" panose="020B0503050000020004" pitchFamily="34" charset="0"/>
            </a:endParaRPr>
          </a:p>
          <a:p>
            <a:endParaRPr lang="en-IN"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IN" sz="2800">
              <a:solidFill>
                <a:schemeClr val="tx1"/>
              </a:solidFill>
              <a:latin typeface="Fira Sans" panose="020B0503050000020004" pitchFamily="34" charset="0"/>
            </a:endParaRPr>
          </a:p>
          <a:p>
            <a:pPr marL="342900" indent="-342900">
              <a:buFont typeface="Wingdings" panose="05000000000000000000" pitchFamily="2" charset="2"/>
              <a:buChar char="§"/>
            </a:pPr>
            <a:r>
              <a:rPr lang="en-IN" sz="2800">
                <a:solidFill>
                  <a:schemeClr val="tx1"/>
                </a:solidFill>
                <a:latin typeface="Fira Sans" panose="020B0503050000020004" pitchFamily="34" charset="0"/>
              </a:rPr>
              <a:t>Infrastructure discovery for ~1500 assets beyond the scope of CRA Phase I</a:t>
            </a:r>
          </a:p>
          <a:p>
            <a:pPr marL="342900" indent="-342900">
              <a:buFont typeface="Wingdings" panose="05000000000000000000" pitchFamily="2" charset="2"/>
              <a:buChar char="§"/>
            </a:pPr>
            <a:endParaRPr lang="en-IN" sz="2800">
              <a:solidFill>
                <a:schemeClr val="tx1"/>
              </a:solidFill>
              <a:latin typeface="Fira Sans" panose="020B0503050000020004" pitchFamily="34" charset="0"/>
            </a:endParaRPr>
          </a:p>
          <a:p>
            <a:pPr marL="342900" indent="-342900">
              <a:buFont typeface="Wingdings" panose="05000000000000000000" pitchFamily="2" charset="2"/>
              <a:buChar char="§"/>
            </a:pPr>
            <a:r>
              <a:rPr lang="en-US" sz="2800">
                <a:solidFill>
                  <a:schemeClr val="tx1"/>
                </a:solidFill>
                <a:latin typeface="Fira Sans" panose="020B0503050000020004" pitchFamily="34" charset="0"/>
              </a:rPr>
              <a:t>DMA data collection on MOL B-cluster (Oracle DB)</a:t>
            </a: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r>
              <a:rPr lang="en-IN" sz="2800">
                <a:solidFill>
                  <a:schemeClr val="tx1"/>
                </a:solidFill>
                <a:latin typeface="Fira Sans" panose="020B0503050000020004" pitchFamily="34" charset="0"/>
              </a:rPr>
              <a:t>Mapping of Network topology &amp; external dependencies</a:t>
            </a: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endParaRPr lang="en-US" sz="2800">
              <a:solidFill>
                <a:schemeClr val="tx1"/>
              </a:solidFill>
              <a:latin typeface="Fira Sans" panose="020B0503050000020004" pitchFamily="34" charset="0"/>
            </a:endParaRPr>
          </a:p>
        </p:txBody>
      </p:sp>
      <p:sp>
        <p:nvSpPr>
          <p:cNvPr id="12" name="Rectangle: Rounded Corners 11">
            <a:extLst>
              <a:ext uri="{FF2B5EF4-FFF2-40B4-BE49-F238E27FC236}">
                <a16:creationId xmlns:a16="http://schemas.microsoft.com/office/drawing/2014/main" id="{D78C3B15-50CB-6DAA-0675-2C06A9CC8032}"/>
              </a:ext>
            </a:extLst>
          </p:cNvPr>
          <p:cNvSpPr/>
          <p:nvPr/>
        </p:nvSpPr>
        <p:spPr>
          <a:xfrm>
            <a:off x="20107597" y="3132570"/>
            <a:ext cx="3551275" cy="8648304"/>
          </a:xfrm>
          <a:prstGeom prst="round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r>
              <a:rPr lang="en-US" sz="2800">
                <a:solidFill>
                  <a:schemeClr val="tx1"/>
                </a:solidFill>
                <a:latin typeface="Fira Sans" panose="020B0503050000020004" pitchFamily="34" charset="0"/>
              </a:rPr>
              <a:t>Migration wave sequencing with timeline estimates</a:t>
            </a: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r>
              <a:rPr lang="en-US" sz="2800">
                <a:solidFill>
                  <a:schemeClr val="tx1"/>
                </a:solidFill>
                <a:latin typeface="Fira Sans" panose="020B0503050000020004" pitchFamily="34" charset="0"/>
              </a:rPr>
              <a:t>Dual-run cost modelling (on-prem + cloud overlap during migration)</a:t>
            </a:r>
          </a:p>
          <a:p>
            <a:pPr marL="342900" indent="-342900">
              <a:buFont typeface="Wingdings" panose="05000000000000000000" pitchFamily="2" charset="2"/>
              <a:buChar char="§"/>
            </a:pPr>
            <a:endParaRPr lang="en-US" sz="2800">
              <a:solidFill>
                <a:schemeClr val="tx1"/>
              </a:solidFill>
              <a:latin typeface="Fira Sans" panose="020B0503050000020004" pitchFamily="34" charset="0"/>
            </a:endParaRPr>
          </a:p>
          <a:p>
            <a:pPr marL="342900" indent="-342900">
              <a:buFont typeface="Wingdings" panose="05000000000000000000" pitchFamily="2" charset="2"/>
              <a:buChar char="§"/>
            </a:pPr>
            <a:r>
              <a:rPr lang="en-IN" sz="2800">
                <a:solidFill>
                  <a:schemeClr val="tx1"/>
                </a:solidFill>
                <a:latin typeface="Fira Sans" panose="020B0503050000020004" pitchFamily="34" charset="0"/>
              </a:rPr>
              <a:t>Per-cluster migration decisions for Databases</a:t>
            </a:r>
          </a:p>
          <a:p>
            <a:pPr algn="ctr"/>
            <a:endParaRPr lang="en-IN"/>
          </a:p>
          <a:p>
            <a:pPr algn="ctr"/>
            <a:endParaRPr lang="en-US"/>
          </a:p>
          <a:p>
            <a:pPr algn="ctr"/>
            <a:endParaRPr lang="en-US" sz="1800"/>
          </a:p>
          <a:p>
            <a:pPr algn="ctr"/>
            <a:endParaRPr lang="en-IN" sz="1800"/>
          </a:p>
        </p:txBody>
      </p:sp>
      <p:graphicFrame>
        <p:nvGraphicFramePr>
          <p:cNvPr id="13" name="Diagram 12">
            <a:extLst>
              <a:ext uri="{FF2B5EF4-FFF2-40B4-BE49-F238E27FC236}">
                <a16:creationId xmlns:a16="http://schemas.microsoft.com/office/drawing/2014/main" id="{F6E28334-EAA8-EB94-147C-9316F908C475}"/>
              </a:ext>
            </a:extLst>
          </p:cNvPr>
          <p:cNvGraphicFramePr/>
          <p:nvPr>
            <p:extLst>
              <p:ext uri="{D42A27DB-BD31-4B8C-83A1-F6EECF244321}">
                <p14:modId xmlns:p14="http://schemas.microsoft.com/office/powerpoint/2010/main" val="2096473156"/>
              </p:ext>
            </p:extLst>
          </p:nvPr>
        </p:nvGraphicFramePr>
        <p:xfrm>
          <a:off x="10606692" y="3132570"/>
          <a:ext cx="9271592" cy="864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06703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E3D453-D882-B16F-4D0C-73F2B6EA99C4}"/>
              </a:ext>
            </a:extLst>
          </p:cNvPr>
          <p:cNvSpPr>
            <a:spLocks noGrp="1"/>
          </p:cNvSpPr>
          <p:nvPr>
            <p:ph type="title"/>
          </p:nvPr>
        </p:nvSpPr>
        <p:spPr>
          <a:xfrm>
            <a:off x="668992" y="537179"/>
            <a:ext cx="22991108" cy="997837"/>
          </a:xfrm>
        </p:spPr>
        <p:txBody>
          <a:bodyPr/>
          <a:lstStyle/>
          <a:p>
            <a:r>
              <a:rPr lang="en-IN">
                <a:latin typeface="Fira Sans Light" panose="020B0403050000020004" pitchFamily="34" charset="0"/>
              </a:rPr>
              <a:t>Cloud Readiness Assessment Phase II</a:t>
            </a:r>
          </a:p>
        </p:txBody>
      </p:sp>
      <p:sp>
        <p:nvSpPr>
          <p:cNvPr id="4" name="Slide Number Placeholder 3">
            <a:extLst>
              <a:ext uri="{FF2B5EF4-FFF2-40B4-BE49-F238E27FC236}">
                <a16:creationId xmlns:a16="http://schemas.microsoft.com/office/drawing/2014/main" id="{4F6DAF8C-84F9-E09E-1710-1FB4E7B17B62}"/>
              </a:ext>
            </a:extLst>
          </p:cNvPr>
          <p:cNvSpPr>
            <a:spLocks noGrp="1"/>
          </p:cNvSpPr>
          <p:nvPr>
            <p:ph type="sldNum" sz="quarter" idx="4"/>
          </p:nvPr>
        </p:nvSpPr>
        <p:spPr/>
        <p:txBody>
          <a:bodyPr/>
          <a:lstStyle/>
          <a:p>
            <a:fld id="{762E77F0-FB5B-4E8E-9BC9-34F14560A017}" type="slidenum">
              <a:rPr lang="en-US" smtClean="0"/>
              <a:pPr/>
              <a:t>56</a:t>
            </a:fld>
            <a:endParaRPr lang="en-US"/>
          </a:p>
        </p:txBody>
      </p:sp>
      <p:grpSp>
        <p:nvGrpSpPr>
          <p:cNvPr id="36" name="Group 35">
            <a:extLst>
              <a:ext uri="{FF2B5EF4-FFF2-40B4-BE49-F238E27FC236}">
                <a16:creationId xmlns:a16="http://schemas.microsoft.com/office/drawing/2014/main" id="{17938233-2028-9814-D22E-6D8851537673}"/>
              </a:ext>
            </a:extLst>
          </p:cNvPr>
          <p:cNvGrpSpPr/>
          <p:nvPr/>
        </p:nvGrpSpPr>
        <p:grpSpPr>
          <a:xfrm>
            <a:off x="3155635" y="2249106"/>
            <a:ext cx="19870910" cy="494093"/>
            <a:chOff x="2794130" y="2249106"/>
            <a:chExt cx="19870910" cy="494093"/>
          </a:xfrm>
        </p:grpSpPr>
        <p:sp>
          <p:nvSpPr>
            <p:cNvPr id="20" name="Rectangle 19">
              <a:extLst>
                <a:ext uri="{FF2B5EF4-FFF2-40B4-BE49-F238E27FC236}">
                  <a16:creationId xmlns:a16="http://schemas.microsoft.com/office/drawing/2014/main" id="{39248CA5-E511-7980-BB52-13177317F0CF}"/>
                </a:ext>
              </a:extLst>
            </p:cNvPr>
            <p:cNvSpPr/>
            <p:nvPr/>
          </p:nvSpPr>
          <p:spPr>
            <a:xfrm>
              <a:off x="2794130" y="2283502"/>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a:t>
              </a:r>
            </a:p>
          </p:txBody>
        </p:sp>
        <p:sp>
          <p:nvSpPr>
            <p:cNvPr id="21" name="Rectangle 20">
              <a:extLst>
                <a:ext uri="{FF2B5EF4-FFF2-40B4-BE49-F238E27FC236}">
                  <a16:creationId xmlns:a16="http://schemas.microsoft.com/office/drawing/2014/main" id="{58E4156D-EDF9-D619-0785-97ADCD1CE9BD}"/>
                </a:ext>
              </a:extLst>
            </p:cNvPr>
            <p:cNvSpPr/>
            <p:nvPr/>
          </p:nvSpPr>
          <p:spPr>
            <a:xfrm>
              <a:off x="4116109" y="2265782"/>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Week2</a:t>
              </a:r>
            </a:p>
          </p:txBody>
        </p:sp>
        <p:sp>
          <p:nvSpPr>
            <p:cNvPr id="22" name="Rectangle 21">
              <a:extLst>
                <a:ext uri="{FF2B5EF4-FFF2-40B4-BE49-F238E27FC236}">
                  <a16:creationId xmlns:a16="http://schemas.microsoft.com/office/drawing/2014/main" id="{3D69F2CF-852D-0C57-2E7B-49E5A2354293}"/>
                </a:ext>
              </a:extLst>
            </p:cNvPr>
            <p:cNvSpPr/>
            <p:nvPr/>
          </p:nvSpPr>
          <p:spPr>
            <a:xfrm>
              <a:off x="5462894" y="2265782"/>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Week3</a:t>
              </a:r>
            </a:p>
          </p:txBody>
        </p:sp>
        <p:sp>
          <p:nvSpPr>
            <p:cNvPr id="23" name="Rectangle 22">
              <a:extLst>
                <a:ext uri="{FF2B5EF4-FFF2-40B4-BE49-F238E27FC236}">
                  <a16:creationId xmlns:a16="http://schemas.microsoft.com/office/drawing/2014/main" id="{8420B084-D3DE-1A73-739A-BEE02F3FCCC6}"/>
                </a:ext>
              </a:extLst>
            </p:cNvPr>
            <p:cNvSpPr/>
            <p:nvPr/>
          </p:nvSpPr>
          <p:spPr>
            <a:xfrm>
              <a:off x="6784873" y="2269327"/>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Week4</a:t>
              </a:r>
            </a:p>
          </p:txBody>
        </p:sp>
        <p:sp>
          <p:nvSpPr>
            <p:cNvPr id="24" name="Rectangle 23">
              <a:extLst>
                <a:ext uri="{FF2B5EF4-FFF2-40B4-BE49-F238E27FC236}">
                  <a16:creationId xmlns:a16="http://schemas.microsoft.com/office/drawing/2014/main" id="{FC10C0B2-3B76-D669-B901-44859473F944}"/>
                </a:ext>
              </a:extLst>
            </p:cNvPr>
            <p:cNvSpPr/>
            <p:nvPr/>
          </p:nvSpPr>
          <p:spPr>
            <a:xfrm>
              <a:off x="8113951" y="2265782"/>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Week5</a:t>
              </a:r>
            </a:p>
          </p:txBody>
        </p:sp>
        <p:sp>
          <p:nvSpPr>
            <p:cNvPr id="25" name="Rectangle 24">
              <a:extLst>
                <a:ext uri="{FF2B5EF4-FFF2-40B4-BE49-F238E27FC236}">
                  <a16:creationId xmlns:a16="http://schemas.microsoft.com/office/drawing/2014/main" id="{79CCC1C9-9031-2470-2701-DCD999B146AD}"/>
                </a:ext>
              </a:extLst>
            </p:cNvPr>
            <p:cNvSpPr/>
            <p:nvPr/>
          </p:nvSpPr>
          <p:spPr>
            <a:xfrm>
              <a:off x="9435930" y="2269327"/>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Week6</a:t>
              </a:r>
            </a:p>
          </p:txBody>
        </p:sp>
        <p:sp>
          <p:nvSpPr>
            <p:cNvPr id="26" name="Rectangle 25">
              <a:extLst>
                <a:ext uri="{FF2B5EF4-FFF2-40B4-BE49-F238E27FC236}">
                  <a16:creationId xmlns:a16="http://schemas.microsoft.com/office/drawing/2014/main" id="{5250873F-C067-815F-9435-049CA4D81EF1}"/>
                </a:ext>
              </a:extLst>
            </p:cNvPr>
            <p:cNvSpPr/>
            <p:nvPr/>
          </p:nvSpPr>
          <p:spPr>
            <a:xfrm>
              <a:off x="10782715" y="2269327"/>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Week7</a:t>
              </a:r>
            </a:p>
          </p:txBody>
        </p:sp>
        <p:sp>
          <p:nvSpPr>
            <p:cNvPr id="27" name="Rectangle 26">
              <a:extLst>
                <a:ext uri="{FF2B5EF4-FFF2-40B4-BE49-F238E27FC236}">
                  <a16:creationId xmlns:a16="http://schemas.microsoft.com/office/drawing/2014/main" id="{5C7260AC-DF7B-9637-B3DC-7E62112A760D}"/>
                </a:ext>
              </a:extLst>
            </p:cNvPr>
            <p:cNvSpPr/>
            <p:nvPr/>
          </p:nvSpPr>
          <p:spPr>
            <a:xfrm>
              <a:off x="12104694" y="2272872"/>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Week8</a:t>
              </a:r>
            </a:p>
          </p:txBody>
        </p:sp>
        <p:sp>
          <p:nvSpPr>
            <p:cNvPr id="28" name="Rectangle 27">
              <a:extLst>
                <a:ext uri="{FF2B5EF4-FFF2-40B4-BE49-F238E27FC236}">
                  <a16:creationId xmlns:a16="http://schemas.microsoft.com/office/drawing/2014/main" id="{A56C6DE8-0331-B14D-3898-A00A7FEDF6BB}"/>
                </a:ext>
              </a:extLst>
            </p:cNvPr>
            <p:cNvSpPr/>
            <p:nvPr/>
          </p:nvSpPr>
          <p:spPr>
            <a:xfrm>
              <a:off x="13430214" y="2263281"/>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Week9</a:t>
              </a:r>
            </a:p>
          </p:txBody>
        </p:sp>
        <p:sp>
          <p:nvSpPr>
            <p:cNvPr id="29" name="Rectangle 28">
              <a:extLst>
                <a:ext uri="{FF2B5EF4-FFF2-40B4-BE49-F238E27FC236}">
                  <a16:creationId xmlns:a16="http://schemas.microsoft.com/office/drawing/2014/main" id="{63682301-1802-0541-6513-F7453FC09F80}"/>
                </a:ext>
              </a:extLst>
            </p:cNvPr>
            <p:cNvSpPr/>
            <p:nvPr/>
          </p:nvSpPr>
          <p:spPr>
            <a:xfrm>
              <a:off x="14752193" y="2266826"/>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Week10</a:t>
              </a:r>
            </a:p>
          </p:txBody>
        </p:sp>
        <p:sp>
          <p:nvSpPr>
            <p:cNvPr id="30" name="Rectangle 29">
              <a:extLst>
                <a:ext uri="{FF2B5EF4-FFF2-40B4-BE49-F238E27FC236}">
                  <a16:creationId xmlns:a16="http://schemas.microsoft.com/office/drawing/2014/main" id="{D5DE9F6A-2EAA-D41C-BE6F-27A6933A079C}"/>
                </a:ext>
              </a:extLst>
            </p:cNvPr>
            <p:cNvSpPr/>
            <p:nvPr/>
          </p:nvSpPr>
          <p:spPr>
            <a:xfrm>
              <a:off x="16098978" y="2266826"/>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Week11</a:t>
              </a:r>
            </a:p>
          </p:txBody>
        </p:sp>
        <p:sp>
          <p:nvSpPr>
            <p:cNvPr id="31" name="Rectangle 30">
              <a:extLst>
                <a:ext uri="{FF2B5EF4-FFF2-40B4-BE49-F238E27FC236}">
                  <a16:creationId xmlns:a16="http://schemas.microsoft.com/office/drawing/2014/main" id="{E2A809DA-CD4E-245F-C866-C99A84495DC6}"/>
                </a:ext>
              </a:extLst>
            </p:cNvPr>
            <p:cNvSpPr/>
            <p:nvPr/>
          </p:nvSpPr>
          <p:spPr>
            <a:xfrm>
              <a:off x="17420957" y="2270371"/>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Week12</a:t>
              </a:r>
            </a:p>
          </p:txBody>
        </p:sp>
        <p:sp>
          <p:nvSpPr>
            <p:cNvPr id="32" name="Rectangle 31">
              <a:extLst>
                <a:ext uri="{FF2B5EF4-FFF2-40B4-BE49-F238E27FC236}">
                  <a16:creationId xmlns:a16="http://schemas.microsoft.com/office/drawing/2014/main" id="{22EBA45B-B736-7190-E141-64C300F1CA52}"/>
                </a:ext>
              </a:extLst>
            </p:cNvPr>
            <p:cNvSpPr/>
            <p:nvPr/>
          </p:nvSpPr>
          <p:spPr>
            <a:xfrm>
              <a:off x="18750035" y="2266826"/>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Week13</a:t>
              </a:r>
            </a:p>
          </p:txBody>
        </p:sp>
        <p:sp>
          <p:nvSpPr>
            <p:cNvPr id="33" name="Rectangle 32">
              <a:extLst>
                <a:ext uri="{FF2B5EF4-FFF2-40B4-BE49-F238E27FC236}">
                  <a16:creationId xmlns:a16="http://schemas.microsoft.com/office/drawing/2014/main" id="{FF16FB36-1AFD-7654-7AC3-EE1C13A8586B}"/>
                </a:ext>
              </a:extLst>
            </p:cNvPr>
            <p:cNvSpPr/>
            <p:nvPr/>
          </p:nvSpPr>
          <p:spPr>
            <a:xfrm>
              <a:off x="20072014" y="2249106"/>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Week14</a:t>
              </a:r>
            </a:p>
          </p:txBody>
        </p:sp>
        <p:sp>
          <p:nvSpPr>
            <p:cNvPr id="34" name="Rectangle 33">
              <a:extLst>
                <a:ext uri="{FF2B5EF4-FFF2-40B4-BE49-F238E27FC236}">
                  <a16:creationId xmlns:a16="http://schemas.microsoft.com/office/drawing/2014/main" id="{8F2377E8-096C-8689-C3F9-A7C714941A27}"/>
                </a:ext>
              </a:extLst>
            </p:cNvPr>
            <p:cNvSpPr/>
            <p:nvPr/>
          </p:nvSpPr>
          <p:spPr>
            <a:xfrm>
              <a:off x="21418799" y="2249106"/>
              <a:ext cx="1246241" cy="459697"/>
            </a:xfrm>
            <a:prstGeom prst="rect">
              <a:avLst/>
            </a:prstGeom>
            <a:solidFill>
              <a:schemeClr val="tx1"/>
            </a:solidFill>
            <a:ln>
              <a:noFill/>
            </a:ln>
            <a:effectLst/>
            <a:scene3d>
              <a:camera prst="orthographicFront">
                <a:rot lat="0" lon="0" rev="0"/>
              </a:camera>
              <a:lightRig rig="threePt" dir="t">
                <a:rot lat="0" lon="0" rev="1200000"/>
              </a:lightRig>
            </a:scene3d>
            <a:sp3d/>
          </p:spPr>
          <p:txBody>
            <a:bodyPr rtlCol="0" anchor="ctr"/>
            <a:lstStyle/>
            <a:p>
              <a:pPr algn="ctr" defTabSz="1219140"/>
              <a:r>
                <a:rPr lang="en-US" sz="2000">
                  <a:solidFill>
                    <a:srgbClr val="FFFFFF"/>
                  </a:solidFill>
                  <a:latin typeface="Fira Sans Light" panose="020B0403050000020004" pitchFamily="34" charset="0"/>
                  <a:cs typeface="Arial" panose="020B0604020202020204" pitchFamily="34" charset="0"/>
                </a:rPr>
                <a:t>Week15</a:t>
              </a:r>
            </a:p>
          </p:txBody>
        </p:sp>
      </p:grpSp>
      <p:pic>
        <p:nvPicPr>
          <p:cNvPr id="37" name="Graphic 36" descr="Clipboard Partially Ticked outline">
            <a:extLst>
              <a:ext uri="{FF2B5EF4-FFF2-40B4-BE49-F238E27FC236}">
                <a16:creationId xmlns:a16="http://schemas.microsoft.com/office/drawing/2014/main" id="{CE8C9524-7B24-DDBA-3DD4-457DD396D9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11610" y="2943992"/>
            <a:ext cx="596250" cy="596250"/>
          </a:xfrm>
          <a:prstGeom prst="rect">
            <a:avLst/>
          </a:prstGeom>
        </p:spPr>
      </p:pic>
      <p:sp>
        <p:nvSpPr>
          <p:cNvPr id="38" name="Pentagon 112">
            <a:extLst>
              <a:ext uri="{FF2B5EF4-FFF2-40B4-BE49-F238E27FC236}">
                <a16:creationId xmlns:a16="http://schemas.microsoft.com/office/drawing/2014/main" id="{DF8116E1-5F42-2D7A-18F2-C4F53F80F945}"/>
              </a:ext>
            </a:extLst>
          </p:cNvPr>
          <p:cNvSpPr/>
          <p:nvPr/>
        </p:nvSpPr>
        <p:spPr>
          <a:xfrm>
            <a:off x="124169" y="2743199"/>
            <a:ext cx="1510071" cy="997836"/>
          </a:xfrm>
          <a:prstGeom prst="homePlate">
            <a:avLst>
              <a:gd name="adj" fmla="val 53150"/>
            </a:avLst>
          </a:prstGeom>
          <a:solidFill>
            <a:schemeClr val="tx2"/>
          </a:solidFill>
          <a:ln>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1219151"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FFFF"/>
                </a:solidFill>
                <a:effectLst/>
                <a:uLnTx/>
                <a:uFillTx/>
                <a:latin typeface="Fira Sans" panose="020B0503050000020004" pitchFamily="34" charset="0"/>
              </a:rPr>
              <a:t>Customer signed SOW </a:t>
            </a:r>
            <a:endParaRPr kumimoji="0" lang="en-US" b="1" i="0" u="none" strike="noStrike" kern="1200" cap="none" spc="0" normalizeH="0" baseline="0" noProof="0">
              <a:ln>
                <a:noFill/>
              </a:ln>
              <a:solidFill>
                <a:srgbClr val="FFFFFF"/>
              </a:solidFill>
              <a:effectLst/>
              <a:uLnTx/>
              <a:uFillTx/>
              <a:latin typeface="Fira Sans" panose="020B0503050000020004" pitchFamily="34" charset="0"/>
              <a:cs typeface="Arial" panose="020B0604020202020204" pitchFamily="34" charset="0"/>
            </a:endParaRPr>
          </a:p>
        </p:txBody>
      </p:sp>
      <p:sp>
        <p:nvSpPr>
          <p:cNvPr id="39" name="Pentagon 112">
            <a:extLst>
              <a:ext uri="{FF2B5EF4-FFF2-40B4-BE49-F238E27FC236}">
                <a16:creationId xmlns:a16="http://schemas.microsoft.com/office/drawing/2014/main" id="{9F5801FD-E4B6-8B2F-8064-3960BFFBEDCC}"/>
              </a:ext>
            </a:extLst>
          </p:cNvPr>
          <p:cNvSpPr/>
          <p:nvPr/>
        </p:nvSpPr>
        <p:spPr>
          <a:xfrm>
            <a:off x="1591710" y="3854050"/>
            <a:ext cx="1510071" cy="596250"/>
          </a:xfrm>
          <a:prstGeom prst="homePlate">
            <a:avLst>
              <a:gd name="adj" fmla="val 53150"/>
            </a:avLst>
          </a:prstGeom>
          <a:solidFill>
            <a:schemeClr val="bg2"/>
          </a:solidFill>
          <a:ln>
            <a:solidFill>
              <a:schemeClr val="accent4">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1219151"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Fira Sans" panose="020B0503050000020004" pitchFamily="34" charset="0"/>
              </a:rPr>
              <a:t>Mobilization</a:t>
            </a:r>
          </a:p>
        </p:txBody>
      </p:sp>
      <p:cxnSp>
        <p:nvCxnSpPr>
          <p:cNvPr id="41" name="Straight Connector 40">
            <a:extLst>
              <a:ext uri="{FF2B5EF4-FFF2-40B4-BE49-F238E27FC236}">
                <a16:creationId xmlns:a16="http://schemas.microsoft.com/office/drawing/2014/main" id="{A00A16DB-9664-114D-C1BB-B9AEEA767D95}"/>
              </a:ext>
            </a:extLst>
          </p:cNvPr>
          <p:cNvCxnSpPr/>
          <p:nvPr/>
        </p:nvCxnSpPr>
        <p:spPr>
          <a:xfrm>
            <a:off x="3155635" y="2773872"/>
            <a:ext cx="0" cy="9900138"/>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42" name="Pentagon 112">
            <a:extLst>
              <a:ext uri="{FF2B5EF4-FFF2-40B4-BE49-F238E27FC236}">
                <a16:creationId xmlns:a16="http://schemas.microsoft.com/office/drawing/2014/main" id="{28EDD1C8-7052-536F-EC5E-EB5BFEF24F78}"/>
              </a:ext>
            </a:extLst>
          </p:cNvPr>
          <p:cNvSpPr/>
          <p:nvPr/>
        </p:nvSpPr>
        <p:spPr>
          <a:xfrm>
            <a:off x="3206316" y="3627560"/>
            <a:ext cx="1416855" cy="865269"/>
          </a:xfrm>
          <a:prstGeom prst="homePlate">
            <a:avLst>
              <a:gd name="adj" fmla="val 53150"/>
            </a:avLst>
          </a:prstGeom>
          <a:solidFill>
            <a:schemeClr val="accent5"/>
          </a:solidFill>
          <a:ln>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1219151"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chemeClr val="tx1"/>
                </a:solidFill>
                <a:effectLst/>
                <a:uLnTx/>
                <a:uFillTx/>
                <a:latin typeface="Fira Sans" panose="020B0503050000020004" pitchFamily="34" charset="0"/>
              </a:rPr>
              <a:t>Project kick-off</a:t>
            </a:r>
            <a:endParaRPr kumimoji="0" lang="en-US" b="1" i="0" u="none" strike="noStrike" kern="1200" cap="none" spc="0" normalizeH="0" baseline="0" noProof="0">
              <a:ln>
                <a:noFill/>
              </a:ln>
              <a:solidFill>
                <a:schemeClr val="tx1"/>
              </a:solidFill>
              <a:effectLst/>
              <a:uLnTx/>
              <a:uFillTx/>
              <a:latin typeface="Fira Sans" panose="020B0503050000020004" pitchFamily="34" charset="0"/>
              <a:cs typeface="Arial" panose="020B0604020202020204" pitchFamily="34" charset="0"/>
            </a:endParaRPr>
          </a:p>
        </p:txBody>
      </p:sp>
      <p:sp>
        <p:nvSpPr>
          <p:cNvPr id="43" name="Pentagon 112">
            <a:extLst>
              <a:ext uri="{FF2B5EF4-FFF2-40B4-BE49-F238E27FC236}">
                <a16:creationId xmlns:a16="http://schemas.microsoft.com/office/drawing/2014/main" id="{486D85FF-658C-A7D3-EAC2-E13611A603B5}"/>
              </a:ext>
            </a:extLst>
          </p:cNvPr>
          <p:cNvSpPr/>
          <p:nvPr/>
        </p:nvSpPr>
        <p:spPr>
          <a:xfrm>
            <a:off x="3206316" y="4821568"/>
            <a:ext cx="7837358" cy="997837"/>
          </a:xfrm>
          <a:prstGeom prst="homePlate">
            <a:avLst>
              <a:gd name="adj" fmla="val 53150"/>
            </a:avLst>
          </a:prstGeom>
          <a:solidFill>
            <a:schemeClr val="accent5"/>
          </a:solidFill>
          <a:ln>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lvl="0" algn="ctr" defTabSz="1219151">
              <a:defRPr/>
            </a:pPr>
            <a:r>
              <a:rPr lang="en-IN" sz="2400" b="1">
                <a:latin typeface="Fira Sans" panose="020B0503050000020004" pitchFamily="34" charset="0"/>
              </a:rPr>
              <a:t>Infrastructure Discovery (Additional Scope)</a:t>
            </a:r>
            <a:endParaRPr kumimoji="0" lang="en-US" sz="2400" b="1" i="0" u="none" strike="noStrike" kern="1200" cap="none" spc="0" normalizeH="0" baseline="0" noProof="0">
              <a:ln>
                <a:noFill/>
              </a:ln>
              <a:solidFill>
                <a:schemeClr val="tx1"/>
              </a:solidFill>
              <a:effectLst/>
              <a:uLnTx/>
              <a:uFillTx/>
              <a:latin typeface="Fira Sans" panose="020B0503050000020004" pitchFamily="34" charset="0"/>
              <a:cs typeface="Arial" panose="020B0604020202020204" pitchFamily="34" charset="0"/>
            </a:endParaRPr>
          </a:p>
        </p:txBody>
      </p:sp>
      <p:sp>
        <p:nvSpPr>
          <p:cNvPr id="44" name="Arrow: Chevron 43">
            <a:extLst>
              <a:ext uri="{FF2B5EF4-FFF2-40B4-BE49-F238E27FC236}">
                <a16:creationId xmlns:a16="http://schemas.microsoft.com/office/drawing/2014/main" id="{3C69F874-BADC-DF4D-5DB3-17F0B6C0B30E}"/>
              </a:ext>
            </a:extLst>
          </p:cNvPr>
          <p:cNvSpPr/>
          <p:nvPr/>
        </p:nvSpPr>
        <p:spPr>
          <a:xfrm>
            <a:off x="4635795" y="6359081"/>
            <a:ext cx="14392908" cy="997837"/>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dk1"/>
                </a:solidFill>
                <a:latin typeface="Fira Sans" panose="020B0503050000020004" pitchFamily="34" charset="0"/>
              </a:rPr>
              <a:t>Application Profiling &amp; Migration Readiness Assessment</a:t>
            </a:r>
            <a:endParaRPr lang="en-IN" sz="2400" b="1">
              <a:solidFill>
                <a:schemeClr val="dk1"/>
              </a:solidFill>
              <a:latin typeface="Fira Sans" panose="020B0503050000020004" pitchFamily="34" charset="0"/>
            </a:endParaRPr>
          </a:p>
        </p:txBody>
      </p:sp>
      <p:sp>
        <p:nvSpPr>
          <p:cNvPr id="45" name="Arrow: Chevron 44">
            <a:extLst>
              <a:ext uri="{FF2B5EF4-FFF2-40B4-BE49-F238E27FC236}">
                <a16:creationId xmlns:a16="http://schemas.microsoft.com/office/drawing/2014/main" id="{C69F20A6-F20E-6E1D-89F7-B05EC05CF57A}"/>
              </a:ext>
            </a:extLst>
          </p:cNvPr>
          <p:cNvSpPr/>
          <p:nvPr/>
        </p:nvSpPr>
        <p:spPr>
          <a:xfrm>
            <a:off x="4635795" y="8002357"/>
            <a:ext cx="14392908" cy="997837"/>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dk1"/>
                </a:solidFill>
                <a:latin typeface="Fira Sans" panose="020B0503050000020004" pitchFamily="34" charset="0"/>
              </a:rPr>
              <a:t>Infrastructure &amp; Security Assessment</a:t>
            </a:r>
          </a:p>
        </p:txBody>
      </p:sp>
      <p:sp>
        <p:nvSpPr>
          <p:cNvPr id="46" name="Arrow: Chevron 45">
            <a:extLst>
              <a:ext uri="{FF2B5EF4-FFF2-40B4-BE49-F238E27FC236}">
                <a16:creationId xmlns:a16="http://schemas.microsoft.com/office/drawing/2014/main" id="{741E29B6-A580-D73E-152A-69666BB83098}"/>
              </a:ext>
            </a:extLst>
          </p:cNvPr>
          <p:cNvSpPr/>
          <p:nvPr/>
        </p:nvSpPr>
        <p:spPr>
          <a:xfrm>
            <a:off x="4635795" y="9645633"/>
            <a:ext cx="14392908" cy="997837"/>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dk1"/>
                </a:solidFill>
                <a:latin typeface="Fira Sans" panose="020B0503050000020004" pitchFamily="34" charset="0"/>
              </a:rPr>
              <a:t>Database Modernisation Assessment</a:t>
            </a:r>
          </a:p>
        </p:txBody>
      </p:sp>
      <p:sp>
        <p:nvSpPr>
          <p:cNvPr id="47" name="Arrow: Chevron 46">
            <a:extLst>
              <a:ext uri="{FF2B5EF4-FFF2-40B4-BE49-F238E27FC236}">
                <a16:creationId xmlns:a16="http://schemas.microsoft.com/office/drawing/2014/main" id="{1483DEBF-7355-F93C-9CD8-6943968CBCF7}"/>
              </a:ext>
            </a:extLst>
          </p:cNvPr>
          <p:cNvSpPr/>
          <p:nvPr/>
        </p:nvSpPr>
        <p:spPr>
          <a:xfrm>
            <a:off x="18992137" y="11204411"/>
            <a:ext cx="4256594" cy="997837"/>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dk1"/>
                </a:solidFill>
                <a:latin typeface="Fira Sans" panose="020B0503050000020004" pitchFamily="34" charset="0"/>
              </a:rPr>
              <a:t>Final Reporting and Executive playback</a:t>
            </a:r>
            <a:endParaRPr lang="en-IN" sz="2400" b="1">
              <a:solidFill>
                <a:schemeClr val="dk1"/>
              </a:solidFill>
              <a:latin typeface="Fira Sans" panose="020B0503050000020004" pitchFamily="34" charset="0"/>
            </a:endParaRPr>
          </a:p>
        </p:txBody>
      </p:sp>
      <p:cxnSp>
        <p:nvCxnSpPr>
          <p:cNvPr id="48" name="Straight Connector 47">
            <a:extLst>
              <a:ext uri="{FF2B5EF4-FFF2-40B4-BE49-F238E27FC236}">
                <a16:creationId xmlns:a16="http://schemas.microsoft.com/office/drawing/2014/main" id="{3C25E1E6-6155-E498-7723-911B52EC8436}"/>
              </a:ext>
            </a:extLst>
          </p:cNvPr>
          <p:cNvCxnSpPr/>
          <p:nvPr/>
        </p:nvCxnSpPr>
        <p:spPr>
          <a:xfrm>
            <a:off x="19028703" y="2773872"/>
            <a:ext cx="0" cy="9900138"/>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23A33F58-37DD-1951-7423-AA395B4A5175}"/>
              </a:ext>
            </a:extLst>
          </p:cNvPr>
          <p:cNvSpPr/>
          <p:nvPr/>
        </p:nvSpPr>
        <p:spPr>
          <a:xfrm>
            <a:off x="19415054" y="3854050"/>
            <a:ext cx="4469242" cy="6281109"/>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IN" sz="2400">
                <a:latin typeface="Fira Sans" panose="020B0503050000020004" pitchFamily="34" charset="0"/>
              </a:rPr>
              <a:t>7R analysis &amp; Application Charter</a:t>
            </a:r>
          </a:p>
          <a:p>
            <a:pPr marL="342900" indent="-342900">
              <a:buFont typeface="Arial" panose="020B0604020202020204" pitchFamily="34" charset="0"/>
              <a:buChar char="•"/>
            </a:pPr>
            <a:r>
              <a:rPr lang="en-IN" sz="2400">
                <a:latin typeface="Fira Sans" panose="020B0503050000020004" pitchFamily="34" charset="0"/>
              </a:rPr>
              <a:t>Migration Plan &amp; Runbook</a:t>
            </a:r>
          </a:p>
          <a:p>
            <a:pPr marL="342900" indent="-342900">
              <a:buFont typeface="Arial" panose="020B0604020202020204" pitchFamily="34" charset="0"/>
              <a:buChar char="•"/>
            </a:pPr>
            <a:r>
              <a:rPr lang="en-IN" sz="2400">
                <a:latin typeface="Fira Sans" panose="020B0503050000020004" pitchFamily="34" charset="0"/>
              </a:rPr>
              <a:t>Optimized Workload sizing</a:t>
            </a:r>
          </a:p>
          <a:p>
            <a:pPr marL="342900" indent="-342900">
              <a:buFont typeface="Arial" panose="020B0604020202020204" pitchFamily="34" charset="0"/>
              <a:buChar char="•"/>
            </a:pPr>
            <a:r>
              <a:rPr lang="en-IN" sz="2400">
                <a:latin typeface="Fira Sans" panose="020B0503050000020004" pitchFamily="34" charset="0"/>
              </a:rPr>
              <a:t>Dual-run cost modelling</a:t>
            </a:r>
          </a:p>
          <a:p>
            <a:pPr marL="342900" indent="-342900">
              <a:buFont typeface="Arial" panose="020B0604020202020204" pitchFamily="34" charset="0"/>
              <a:buChar char="•"/>
            </a:pPr>
            <a:r>
              <a:rPr lang="en-IN" sz="2400">
                <a:latin typeface="Fira Sans" panose="020B0503050000020004" pitchFamily="34" charset="0"/>
              </a:rPr>
              <a:t>Specific per-server plan for </a:t>
            </a:r>
          </a:p>
          <a:p>
            <a:pPr marL="342900" indent="-342900">
              <a:buFont typeface="Arial" panose="020B0604020202020204" pitchFamily="34" charset="0"/>
              <a:buChar char="•"/>
            </a:pPr>
            <a:r>
              <a:rPr lang="en-IN" sz="2400">
                <a:latin typeface="Fira Sans" panose="020B0503050000020004" pitchFamily="34" charset="0"/>
              </a:rPr>
              <a:t>EOL OS upgrade</a:t>
            </a:r>
          </a:p>
          <a:p>
            <a:pPr marL="342900" indent="-342900">
              <a:buFont typeface="Arial" panose="020B0604020202020204" pitchFamily="34" charset="0"/>
              <a:buChar char="•"/>
            </a:pPr>
            <a:r>
              <a:rPr lang="en-IN" sz="2400">
                <a:latin typeface="Fira Sans" panose="020B0503050000020004" pitchFamily="34" charset="0"/>
              </a:rPr>
              <a:t>Network &amp; Security readiness for cloud-ready landing zone design </a:t>
            </a:r>
          </a:p>
          <a:p>
            <a:pPr marL="342900" indent="-342900">
              <a:buFont typeface="Arial" panose="020B0604020202020204" pitchFamily="34" charset="0"/>
              <a:buChar char="•"/>
            </a:pPr>
            <a:r>
              <a:rPr lang="en-IN" sz="2400">
                <a:solidFill>
                  <a:schemeClr val="tx1"/>
                </a:solidFill>
                <a:latin typeface="Fira Sans" panose="020B0503050000020004" pitchFamily="34" charset="0"/>
              </a:rPr>
              <a:t>Per-cluster migration decisions for Oracle &amp; SQL Databases</a:t>
            </a:r>
          </a:p>
        </p:txBody>
      </p:sp>
      <p:cxnSp>
        <p:nvCxnSpPr>
          <p:cNvPr id="51" name="Connector: Elbow 50">
            <a:extLst>
              <a:ext uri="{FF2B5EF4-FFF2-40B4-BE49-F238E27FC236}">
                <a16:creationId xmlns:a16="http://schemas.microsoft.com/office/drawing/2014/main" id="{38269B97-24EB-F7FD-CDA3-809EE296BD31}"/>
              </a:ext>
            </a:extLst>
          </p:cNvPr>
          <p:cNvCxnSpPr>
            <a:stCxn id="49" idx="2"/>
            <a:endCxn id="47" idx="0"/>
          </p:cNvCxnSpPr>
          <p:nvPr/>
        </p:nvCxnSpPr>
        <p:spPr>
          <a:xfrm rot="5400000">
            <a:off x="20725699" y="10280435"/>
            <a:ext cx="1069252" cy="778700"/>
          </a:xfrm>
          <a:prstGeom prst="bentConnector3">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87664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34D6-843F-A625-0E1E-384E38E98A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D04AE8-9F37-FD1E-8B3F-26FA8E8864DC}"/>
              </a:ext>
            </a:extLst>
          </p:cNvPr>
          <p:cNvSpPr>
            <a:spLocks noGrp="1"/>
          </p:cNvSpPr>
          <p:nvPr>
            <p:ph type="title"/>
          </p:nvPr>
        </p:nvSpPr>
        <p:spPr/>
        <p:txBody>
          <a:bodyPr/>
          <a:lstStyle/>
          <a:p>
            <a:r>
              <a:rPr lang="en-GB"/>
              <a:t>Hyperscaler guidance</a:t>
            </a:r>
          </a:p>
        </p:txBody>
      </p:sp>
      <p:sp>
        <p:nvSpPr>
          <p:cNvPr id="4" name="Slide Number Placeholder 3">
            <a:extLst>
              <a:ext uri="{FF2B5EF4-FFF2-40B4-BE49-F238E27FC236}">
                <a16:creationId xmlns:a16="http://schemas.microsoft.com/office/drawing/2014/main" id="{3CDED91F-43F1-7AAD-8F36-77B49DFC1BA3}"/>
              </a:ext>
            </a:extLst>
          </p:cNvPr>
          <p:cNvSpPr>
            <a:spLocks noGrp="1"/>
          </p:cNvSpPr>
          <p:nvPr>
            <p:ph type="sldNum" sz="quarter" idx="4"/>
          </p:nvPr>
        </p:nvSpPr>
        <p:spPr/>
        <p:txBody>
          <a:bodyPr/>
          <a:lstStyle/>
          <a:p>
            <a:fld id="{762E77F0-FB5B-4E8E-9BC9-34F14560A017}" type="slidenum">
              <a:rPr lang="en-US" smtClean="0"/>
              <a:pPr/>
              <a:t>57</a:t>
            </a:fld>
            <a:endParaRPr lang="en-US"/>
          </a:p>
        </p:txBody>
      </p:sp>
      <p:sp>
        <p:nvSpPr>
          <p:cNvPr id="7" name="TextBox 6">
            <a:extLst>
              <a:ext uri="{FF2B5EF4-FFF2-40B4-BE49-F238E27FC236}">
                <a16:creationId xmlns:a16="http://schemas.microsoft.com/office/drawing/2014/main" id="{CB3B8C02-3404-3AE7-455A-ADD05A394A50}"/>
              </a:ext>
            </a:extLst>
          </p:cNvPr>
          <p:cNvSpPr txBox="1"/>
          <p:nvPr/>
        </p:nvSpPr>
        <p:spPr>
          <a:xfrm>
            <a:off x="1261872" y="3409801"/>
            <a:ext cx="9582912" cy="5386090"/>
          </a:xfrm>
          <a:prstGeom prst="rect">
            <a:avLst/>
          </a:prstGeom>
          <a:noFill/>
        </p:spPr>
        <p:txBody>
          <a:bodyPr wrap="square" rtlCol="0">
            <a:spAutoFit/>
          </a:bodyPr>
          <a:lstStyle/>
          <a:p>
            <a:r>
              <a:rPr lang="en-GB" sz="2800" b="1"/>
              <a:t>Questions to ask each cloud</a:t>
            </a:r>
          </a:p>
          <a:p>
            <a:pPr marL="285750" indent="-285750">
              <a:buFont typeface="Arial" panose="020B0604020202020204" pitchFamily="34" charset="0"/>
              <a:buChar char="•"/>
            </a:pPr>
            <a:endParaRPr lang="en-GB" sz="2800"/>
          </a:p>
          <a:p>
            <a:pPr marL="285750" indent="-285750">
              <a:buFont typeface="Arial" panose="020B0604020202020204" pitchFamily="34" charset="0"/>
              <a:buChar char="•"/>
            </a:pPr>
            <a:r>
              <a:rPr lang="en-GB" sz="3200"/>
              <a:t>What is your answer for Oracle? (the whole path, not just the price)</a:t>
            </a:r>
          </a:p>
          <a:p>
            <a:pPr marL="285750" indent="-285750">
              <a:buFont typeface="Arial" panose="020B0604020202020204" pitchFamily="34" charset="0"/>
              <a:buChar char="•"/>
            </a:pPr>
            <a:r>
              <a:rPr lang="en-GB" sz="3200"/>
              <a:t>How have you sized our workloads? (does their methodology match?)</a:t>
            </a:r>
          </a:p>
          <a:p>
            <a:pPr marL="285750" indent="-285750">
              <a:buFont typeface="Arial" panose="020B0604020202020204" pitchFamily="34" charset="0"/>
              <a:buChar char="•"/>
            </a:pPr>
            <a:r>
              <a:rPr lang="en-GB" sz="3200"/>
              <a:t>What does BYOL look like for Server 2022? (only Azure AHB works without restrictions)</a:t>
            </a:r>
          </a:p>
          <a:p>
            <a:pPr marL="285750" indent="-285750">
              <a:buFont typeface="Arial" panose="020B0604020202020204" pitchFamily="34" charset="0"/>
              <a:buChar char="•"/>
            </a:pPr>
            <a:r>
              <a:rPr lang="en-GB" sz="3200"/>
              <a:t>What is your commercial offer? (private pricing, credits, funded resources)</a:t>
            </a:r>
          </a:p>
          <a:p>
            <a:pPr marL="285750" indent="-285750">
              <a:buFont typeface="Arial" panose="020B0604020202020204" pitchFamily="34" charset="0"/>
              <a:buChar char="•"/>
            </a:pPr>
            <a:r>
              <a:rPr lang="en-GB" sz="3200"/>
              <a:t>Who owns Day 2 operations?</a:t>
            </a:r>
            <a:endParaRPr lang="en-GB" sz="3200" b="1"/>
          </a:p>
        </p:txBody>
      </p:sp>
      <p:sp>
        <p:nvSpPr>
          <p:cNvPr id="2" name="TextBox 1">
            <a:extLst>
              <a:ext uri="{FF2B5EF4-FFF2-40B4-BE49-F238E27FC236}">
                <a16:creationId xmlns:a16="http://schemas.microsoft.com/office/drawing/2014/main" id="{4494EDA4-5135-6095-2609-F7FD8617C914}"/>
              </a:ext>
            </a:extLst>
          </p:cNvPr>
          <p:cNvSpPr txBox="1"/>
          <p:nvPr/>
        </p:nvSpPr>
        <p:spPr>
          <a:xfrm>
            <a:off x="12819890" y="2948136"/>
            <a:ext cx="9582912" cy="6309420"/>
          </a:xfrm>
          <a:prstGeom prst="rect">
            <a:avLst/>
          </a:prstGeom>
          <a:noFill/>
        </p:spPr>
        <p:txBody>
          <a:bodyPr wrap="square" rtlCol="0">
            <a:spAutoFit/>
          </a:bodyPr>
          <a:lstStyle/>
          <a:p>
            <a:endParaRPr lang="en-GB" sz="2800"/>
          </a:p>
          <a:p>
            <a:r>
              <a:rPr lang="en-GB" sz="2800" b="1"/>
              <a:t>Warning signs</a:t>
            </a:r>
          </a:p>
          <a:p>
            <a:pPr marL="285750" indent="-285750">
              <a:buFont typeface="Arial" panose="020B0604020202020204" pitchFamily="34" charset="0"/>
              <a:buChar char="•"/>
            </a:pPr>
            <a:endParaRPr lang="en-GB" sz="2800"/>
          </a:p>
          <a:p>
            <a:pPr marL="285750" indent="-285750">
              <a:buFont typeface="Arial" panose="020B0604020202020204" pitchFamily="34" charset="0"/>
              <a:buChar char="•"/>
            </a:pPr>
            <a:r>
              <a:rPr lang="en-GB" sz="3200"/>
              <a:t>All-5 self-ratings without Customer-specific justification</a:t>
            </a:r>
          </a:p>
          <a:p>
            <a:pPr marL="285750" indent="-285750">
              <a:buFont typeface="Arial" panose="020B0604020202020204" pitchFamily="34" charset="0"/>
              <a:buChar char="•"/>
            </a:pPr>
            <a:r>
              <a:rPr lang="en-GB" sz="3200"/>
              <a:t>Cost figures that do not include Oracle, SQL licensing, or support</a:t>
            </a:r>
          </a:p>
          <a:p>
            <a:pPr marL="285750" indent="-285750">
              <a:buFont typeface="Arial" panose="020B0604020202020204" pitchFamily="34" charset="0"/>
              <a:buChar char="•"/>
            </a:pPr>
            <a:r>
              <a:rPr lang="en-GB" sz="3200"/>
              <a:t>Sizing using only their own tool without independent validation</a:t>
            </a:r>
          </a:p>
          <a:p>
            <a:pPr marL="285750" indent="-285750">
              <a:buFont typeface="Arial" panose="020B0604020202020204" pitchFamily="34" charset="0"/>
              <a:buChar char="•"/>
            </a:pPr>
            <a:r>
              <a:rPr lang="en-GB" sz="3200"/>
              <a:t>Year 1 savings claims without acknowledging dual-run cost</a:t>
            </a:r>
          </a:p>
          <a:p>
            <a:pPr marL="285750" indent="-285750">
              <a:buFont typeface="Arial" panose="020B0604020202020204" pitchFamily="34" charset="0"/>
              <a:buChar char="•"/>
            </a:pPr>
            <a:r>
              <a:rPr lang="en-GB" sz="3200"/>
              <a:t>Proposals that ignore your Software Assurance status</a:t>
            </a:r>
            <a:endParaRPr lang="en-GB" sz="3200" b="1"/>
          </a:p>
        </p:txBody>
      </p:sp>
    </p:spTree>
    <p:extLst>
      <p:ext uri="{BB962C8B-B14F-4D97-AF65-F5344CB8AC3E}">
        <p14:creationId xmlns:p14="http://schemas.microsoft.com/office/powerpoint/2010/main" val="19087317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F6B7D-9F2B-1D64-C1D6-061C3C9A7D69}"/>
              </a:ext>
            </a:extLst>
          </p:cNvPr>
          <p:cNvSpPr>
            <a:spLocks noGrp="1"/>
          </p:cNvSpPr>
          <p:nvPr>
            <p:ph type="sldNum" sz="quarter" idx="4"/>
          </p:nvPr>
        </p:nvSpPr>
        <p:spPr/>
        <p:txBody>
          <a:bodyPr/>
          <a:lstStyle/>
          <a:p>
            <a:fld id="{762E77F0-FB5B-4E8E-9BC9-34F14560A017}" type="slidenum">
              <a:rPr lang="en-US" smtClean="0"/>
              <a:pPr/>
              <a:t>58</a:t>
            </a:fld>
            <a:endParaRPr lang="en-US"/>
          </a:p>
        </p:txBody>
      </p:sp>
      <p:pic>
        <p:nvPicPr>
          <p:cNvPr id="4" name="Picture 3">
            <a:extLst>
              <a:ext uri="{FF2B5EF4-FFF2-40B4-BE49-F238E27FC236}">
                <a16:creationId xmlns:a16="http://schemas.microsoft.com/office/drawing/2014/main" id="{FEAD8882-BE4B-EE79-BAC2-0281377516D4}"/>
              </a:ext>
            </a:extLst>
          </p:cNvPr>
          <p:cNvPicPr>
            <a:picLocks noChangeAspect="1"/>
          </p:cNvPicPr>
          <p:nvPr/>
        </p:nvPicPr>
        <p:blipFill>
          <a:blip r:embed="rId2"/>
          <a:stretch>
            <a:fillRect/>
          </a:stretch>
        </p:blipFill>
        <p:spPr>
          <a:xfrm>
            <a:off x="0" y="0"/>
            <a:ext cx="24384000" cy="13716000"/>
          </a:xfrm>
          <a:prstGeom prst="rect">
            <a:avLst/>
          </a:prstGeom>
        </p:spPr>
      </p:pic>
    </p:spTree>
    <p:extLst>
      <p:ext uri="{BB962C8B-B14F-4D97-AF65-F5344CB8AC3E}">
        <p14:creationId xmlns:p14="http://schemas.microsoft.com/office/powerpoint/2010/main" val="957030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NAME" val="CustomIcon"/>
</p:tagLst>
</file>

<file path=ppt/tags/tag6.xml><?xml version="1.0" encoding="utf-8"?>
<p:tagLst xmlns:a="http://schemas.openxmlformats.org/drawingml/2006/main" xmlns:r="http://schemas.openxmlformats.org/officeDocument/2006/relationships" xmlns:p="http://schemas.openxmlformats.org/presentationml/2006/main">
  <p:tag name="NAME" val="CustomIcon"/>
</p:tagLst>
</file>

<file path=ppt/tags/tag7.xml><?xml version="1.0" encoding="utf-8"?>
<p:tagLst xmlns:a="http://schemas.openxmlformats.org/drawingml/2006/main" xmlns:r="http://schemas.openxmlformats.org/officeDocument/2006/relationships" xmlns:p="http://schemas.openxmlformats.org/presentationml/2006/main">
  <p:tag name="NAME" val="CustomIcon"/>
</p:tagLst>
</file>

<file path=ppt/tags/tag8.xml><?xml version="1.0" encoding="utf-8"?>
<p:tagLst xmlns:a="http://schemas.openxmlformats.org/drawingml/2006/main" xmlns:r="http://schemas.openxmlformats.org/officeDocument/2006/relationships" xmlns:p="http://schemas.openxmlformats.org/presentationml/2006/main">
  <p:tag name="NAME" val="CustomIcon"/>
</p:tagLst>
</file>

<file path=ppt/tags/tag9.xml><?xml version="1.0" encoding="utf-8"?>
<p:tagLst xmlns:a="http://schemas.openxmlformats.org/drawingml/2006/main" xmlns:r="http://schemas.openxmlformats.org/officeDocument/2006/relationships" xmlns:p="http://schemas.openxmlformats.org/presentationml/2006/main">
  <p:tag name="NAME" val="CustomIcon"/>
</p:tagLst>
</file>

<file path=ppt/tags/tag10.xml><?xml version="1.0" encoding="utf-8"?>
<p:tagLst xmlns:a="http://schemas.openxmlformats.org/drawingml/2006/main" xmlns:r="http://schemas.openxmlformats.org/officeDocument/2006/relationships" xmlns:p="http://schemas.openxmlformats.org/presentationml/2006/main">
  <p:tag name="NAME" val="CustomIcon"/>
</p:tagLst>
</file>

<file path=ppt/tags/tag11.xml><?xml version="1.0" encoding="utf-8"?>
<p:tagLst xmlns:a="http://schemas.openxmlformats.org/drawingml/2006/main" xmlns:r="http://schemas.openxmlformats.org/officeDocument/2006/relationships" xmlns:p="http://schemas.openxmlformats.org/presentationml/2006/main">
  <p:tag name="NAME" val="CustomIcon"/>
</p:tagLst>
</file>

<file path=ppt/theme/theme1.xml><?xml version="1.0" encoding="utf-8"?>
<a:theme xmlns:a="http://schemas.openxmlformats.org/drawingml/2006/main" name="4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B0000"/>
      </a:dk2>
      <a:lt2>
        <a:srgbClr val="C40023"/>
      </a:lt2>
      <a:accent1>
        <a:srgbClr val="FFDEDF"/>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B0000"/>
      </a:dk2>
      <a:lt2>
        <a:srgbClr val="C40023"/>
      </a:lt2>
      <a:accent1>
        <a:srgbClr val="FFDEDF"/>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