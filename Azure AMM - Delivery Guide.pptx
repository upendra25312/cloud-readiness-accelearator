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3.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5.xml" ContentType="application/vnd.openxmlformats-officedocument.theme+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theme/theme6.xml" ContentType="application/vnd.openxmlformats-officedocument.theme+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theme/theme7.xml" ContentType="application/vnd.openxmlformats-officedocument.theme+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theme/theme8.xml" ContentType="application/vnd.openxmlformats-officedocument.theme+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7FFFCE64_B9C83DB4.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4"/>
    <p:sldMasterId id="2147483944" r:id="rId5"/>
    <p:sldMasterId id="2147483830" r:id="rId6"/>
    <p:sldMasterId id="2147484006" r:id="rId7"/>
    <p:sldMasterId id="2147484038" r:id="rId8"/>
    <p:sldMasterId id="2147484070" r:id="rId9"/>
    <p:sldMasterId id="2147484113" r:id="rId10"/>
    <p:sldMasterId id="2147484163" r:id="rId11"/>
    <p:sldMasterId id="2147484205" r:id="rId12"/>
  </p:sldMasterIdLst>
  <p:notesMasterIdLst>
    <p:notesMasterId r:id="rId56"/>
  </p:notesMasterIdLst>
  <p:handoutMasterIdLst>
    <p:handoutMasterId r:id="rId57"/>
  </p:handoutMasterIdLst>
  <p:sldIdLst>
    <p:sldId id="259" r:id="rId13"/>
    <p:sldId id="2147480915" r:id="rId14"/>
    <p:sldId id="2147480903" r:id="rId15"/>
    <p:sldId id="3605" r:id="rId16"/>
    <p:sldId id="2147470934" r:id="rId17"/>
    <p:sldId id="2147480908" r:id="rId18"/>
    <p:sldId id="2147480912" r:id="rId19"/>
    <p:sldId id="2147470946" r:id="rId20"/>
    <p:sldId id="2147470941" r:id="rId21"/>
    <p:sldId id="263" r:id="rId22"/>
    <p:sldId id="2147470939" r:id="rId23"/>
    <p:sldId id="2147470958" r:id="rId24"/>
    <p:sldId id="260" r:id="rId25"/>
    <p:sldId id="261" r:id="rId26"/>
    <p:sldId id="262" r:id="rId27"/>
    <p:sldId id="2147480910" r:id="rId28"/>
    <p:sldId id="2147480913" r:id="rId29"/>
    <p:sldId id="2147480914" r:id="rId30"/>
    <p:sldId id="2147470935" r:id="rId31"/>
    <p:sldId id="2147480905" r:id="rId32"/>
    <p:sldId id="2147470936" r:id="rId33"/>
    <p:sldId id="2147480906" r:id="rId34"/>
    <p:sldId id="2147470956" r:id="rId35"/>
    <p:sldId id="2147470955" r:id="rId36"/>
    <p:sldId id="4056" r:id="rId37"/>
    <p:sldId id="2147470943" r:id="rId38"/>
    <p:sldId id="2147480909" r:id="rId39"/>
    <p:sldId id="2147480911" r:id="rId40"/>
    <p:sldId id="2147470938" r:id="rId41"/>
    <p:sldId id="2147480907" r:id="rId42"/>
    <p:sldId id="2147470948" r:id="rId43"/>
    <p:sldId id="2147470950" r:id="rId44"/>
    <p:sldId id="2147470951" r:id="rId45"/>
    <p:sldId id="2147470952" r:id="rId46"/>
    <p:sldId id="2147470940" r:id="rId47"/>
    <p:sldId id="2147470947" r:id="rId48"/>
    <p:sldId id="2147480904" r:id="rId49"/>
    <p:sldId id="2147480902" r:id="rId50"/>
    <p:sldId id="2147478743" r:id="rId51"/>
    <p:sldId id="2147478744" r:id="rId52"/>
    <p:sldId id="2147478745" r:id="rId53"/>
    <p:sldId id="2147480901" r:id="rId54"/>
    <p:sldId id="2147470908" r:id="rId55"/>
  </p:sldIdLst>
  <p:sldSz cx="12192000" cy="6858000"/>
  <p:notesSz cx="6858000" cy="9144000"/>
  <p:defaultText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defaultTextStyle>
  <p:extLst>
    <p:ext uri="{521415D9-36F7-43E2-AB2F-B90AF26B5E84}">
      <p14:sectionLst xmlns:p14="http://schemas.microsoft.com/office/powerpoint/2010/main">
        <p14:section name="Azure AMM" id="{4AE7326D-D6F2-440D-9A41-85E2343213A5}">
          <p14:sldIdLst>
            <p14:sldId id="259"/>
            <p14:sldId id="2147480915"/>
            <p14:sldId id="2147480903"/>
            <p14:sldId id="3605"/>
            <p14:sldId id="2147470934"/>
            <p14:sldId id="2147480908"/>
            <p14:sldId id="2147480912"/>
            <p14:sldId id="2147470946"/>
            <p14:sldId id="2147470941"/>
            <p14:sldId id="263"/>
            <p14:sldId id="2147470939"/>
            <p14:sldId id="2147470958"/>
            <p14:sldId id="260"/>
            <p14:sldId id="261"/>
            <p14:sldId id="262"/>
            <p14:sldId id="2147480910"/>
            <p14:sldId id="2147480913"/>
            <p14:sldId id="2147480914"/>
            <p14:sldId id="2147470935"/>
            <p14:sldId id="2147480905"/>
            <p14:sldId id="2147470936"/>
            <p14:sldId id="2147480906"/>
            <p14:sldId id="2147470956"/>
            <p14:sldId id="2147470955"/>
            <p14:sldId id="4056"/>
            <p14:sldId id="2147470943"/>
            <p14:sldId id="2147480909"/>
            <p14:sldId id="2147480911"/>
            <p14:sldId id="2147470938"/>
            <p14:sldId id="2147480907"/>
            <p14:sldId id="2147470948"/>
            <p14:sldId id="2147470950"/>
            <p14:sldId id="2147470951"/>
            <p14:sldId id="2147470952"/>
            <p14:sldId id="2147470940"/>
            <p14:sldId id="2147470947"/>
          </p14:sldIdLst>
        </p14:section>
        <p14:section name="Appendix" id="{9FEC6CB3-4358-C149-A119-B3B8A872E3CC}">
          <p14:sldIdLst>
            <p14:sldId id="2147480904"/>
            <p14:sldId id="2147480902"/>
            <p14:sldId id="2147478743"/>
            <p14:sldId id="2147478744"/>
            <p14:sldId id="2147478745"/>
            <p14:sldId id="2147480901"/>
            <p14:sldId id="214747090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656CEE7-D662-C989-0E8A-8BA59FD03605}" name="Max Hurn" initials="MH" userId="S::max.hurn@rackspace.com::993c5921-a4aa-4ec0-812d-a99733cd77b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shley Miesner" initials="AM" lastIdx="5" clrIdx="0">
    <p:extLst>
      <p:ext uri="{19B8F6BF-5375-455C-9EA6-DF929625EA0E}">
        <p15:presenceInfo xmlns:p15="http://schemas.microsoft.com/office/powerpoint/2012/main" userId="ad8e07fa54b49bda" providerId="Windows Live"/>
      </p:ext>
    </p:extLst>
  </p:cmAuthor>
  <p:cmAuthor id="2" name="Kim Wright" initials="KW" lastIdx="3" clrIdx="1">
    <p:extLst>
      <p:ext uri="{19B8F6BF-5375-455C-9EA6-DF929625EA0E}">
        <p15:presenceInfo xmlns:p15="http://schemas.microsoft.com/office/powerpoint/2012/main" userId="S::kim.wright@rackspace.com::c351f5f5-0fc6-4393-8dd9-32c853090481" providerId="AD"/>
      </p:ext>
    </p:extLst>
  </p:cmAuthor>
  <p:cmAuthor id="3" name="Stuart Brown" initials="SB" lastIdx="2" clrIdx="2">
    <p:extLst>
      <p:ext uri="{19B8F6BF-5375-455C-9EA6-DF929625EA0E}">
        <p15:presenceInfo xmlns:p15="http://schemas.microsoft.com/office/powerpoint/2012/main" userId="S::stuart.brown@rackspace.co.uk::4b149d90-d465-457e-90b6-6c704944a2a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0101"/>
    <a:srgbClr val="D8EBF9"/>
    <a:srgbClr val="003482"/>
    <a:srgbClr val="1C1C1C"/>
    <a:srgbClr val="111111"/>
    <a:srgbClr val="D1FFFB"/>
    <a:srgbClr val="005AC8"/>
    <a:srgbClr val="64005A"/>
    <a:srgbClr val="9E0000"/>
    <a:srgbClr val="BB5C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47"/>
    <p:restoredTop sz="94630"/>
  </p:normalViewPr>
  <p:slideViewPr>
    <p:cSldViewPr snapToGrid="0">
      <p:cViewPr varScale="1">
        <p:scale>
          <a:sx n="147" d="100"/>
          <a:sy n="147" d="100"/>
        </p:scale>
        <p:origin x="216" y="14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slide" Target="slides/slide35.xml"/><Relationship Id="rId50" Type="http://schemas.openxmlformats.org/officeDocument/2006/relationships/slide" Target="slides/slide38.xml"/><Relationship Id="rId55" Type="http://schemas.openxmlformats.org/officeDocument/2006/relationships/slide" Target="slides/slide43.xml"/><Relationship Id="rId63" Type="http://schemas.microsoft.com/office/2018/10/relationships/authors" Targe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slide" Target="slides/slide41.xml"/><Relationship Id="rId58" Type="http://schemas.openxmlformats.org/officeDocument/2006/relationships/commentAuthors" Target="commentAuthors.xml"/><Relationship Id="rId5" Type="http://schemas.openxmlformats.org/officeDocument/2006/relationships/slideMaster" Target="slideMasters/slideMaster2.xml"/><Relationship Id="rId61" Type="http://schemas.openxmlformats.org/officeDocument/2006/relationships/theme" Target="theme/theme1.xml"/><Relationship Id="rId19" Type="http://schemas.openxmlformats.org/officeDocument/2006/relationships/slide" Target="slides/slide7.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slide" Target="slides/slide39.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presProps" Target="presProps.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handoutMaster" Target="handoutMasters/handoutMaster1.xml"/><Relationship Id="rId10" Type="http://schemas.openxmlformats.org/officeDocument/2006/relationships/slideMaster" Target="slideMasters/slideMaster7.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omments/modernComment_7FFFCE64_B9C83DB4.xml><?xml version="1.0" encoding="utf-8"?>
<p188:cmLst xmlns:a="http://schemas.openxmlformats.org/drawingml/2006/main" xmlns:r="http://schemas.openxmlformats.org/officeDocument/2006/relationships" xmlns:p188="http://schemas.microsoft.com/office/powerpoint/2018/8/main">
  <p188:cm id="{EAC88919-ACA7-8B41-8E06-DA5791CE0402}" authorId="{E656CEE7-D662-C989-0E8A-8BA59FD03605}" created="2023-09-12T19:50:57.922">
    <ac:deMkLst xmlns:ac="http://schemas.microsoft.com/office/drawing/2013/main/command">
      <pc:docMk xmlns:pc="http://schemas.microsoft.com/office/powerpoint/2013/main/command"/>
      <pc:sldMk xmlns:pc="http://schemas.microsoft.com/office/powerpoint/2013/main/command" cId="3116907956" sldId="2147470948"/>
      <ac:graphicFrameMk id="3" creationId="{A0CEC524-5E0C-7F18-B891-E029876351BD}"/>
    </ac:deMkLst>
    <p188:txBody>
      <a:bodyPr/>
      <a:lstStyle/>
      <a:p>
        <a:r>
          <a:rPr lang="en-GB"/>
          <a:t>Should TC or CA be ‘Accountable’ </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D33FDA-89DB-884A-A8C5-ED28F88E5491}" type="doc">
      <dgm:prSet loTypeId="urn:microsoft.com/office/officeart/2005/8/layout/pyramid1" loCatId="pyramid" qsTypeId="urn:microsoft.com/office/officeart/2005/8/quickstyle/simple1" qsCatId="simple" csTypeId="urn:microsoft.com/office/officeart/2005/8/colors/accent1_2" csCatId="accent1" phldr="1"/>
      <dgm:spPr/>
    </dgm:pt>
    <dgm:pt modelId="{440907CC-62C9-E447-86C2-9C4E6D594D04}">
      <dgm:prSet phldrT="[Text]" custT="1"/>
      <dgm:spPr>
        <a:solidFill>
          <a:schemeClr val="accent4">
            <a:lumMod val="20000"/>
            <a:lumOff val="80000"/>
            <a:alpha val="70828"/>
          </a:schemeClr>
        </a:solidFill>
      </dgm:spPr>
      <dgm:t>
        <a:bodyPr/>
        <a:lstStyle/>
        <a:p>
          <a:endParaRPr lang="en-GB" sz="2400">
            <a:solidFill>
              <a:schemeClr val="bg1"/>
            </a:solidFill>
            <a:latin typeface="Fira Sans" panose="020B0503050000020004" pitchFamily="34" charset="0"/>
          </a:endParaRPr>
        </a:p>
        <a:p>
          <a:r>
            <a:rPr lang="en-GB" sz="2400">
              <a:solidFill>
                <a:schemeClr val="bg1"/>
              </a:solidFill>
              <a:latin typeface="Fira Sans" panose="020B0503050000020004" pitchFamily="34" charset="0"/>
            </a:rPr>
            <a:t>Detailed</a:t>
          </a:r>
        </a:p>
        <a:p>
          <a:r>
            <a:rPr lang="en-GB" sz="2400">
              <a:solidFill>
                <a:schemeClr val="bg1"/>
              </a:solidFill>
              <a:latin typeface="Fira Sans" panose="020B0503050000020004" pitchFamily="34" charset="0"/>
            </a:rPr>
            <a:t> Business Case</a:t>
          </a:r>
        </a:p>
      </dgm:t>
    </dgm:pt>
    <dgm:pt modelId="{1D9F599A-E822-E542-9088-5AC013C9FBB7}" type="parTrans" cxnId="{A6E52CC5-F5E8-E247-AB2F-B67C27476C3B}">
      <dgm:prSet/>
      <dgm:spPr/>
      <dgm:t>
        <a:bodyPr/>
        <a:lstStyle/>
        <a:p>
          <a:endParaRPr lang="en-GB"/>
        </a:p>
      </dgm:t>
    </dgm:pt>
    <dgm:pt modelId="{A0D110B6-9A74-7F40-BE7E-1DF9BEAE02AE}" type="sibTrans" cxnId="{A6E52CC5-F5E8-E247-AB2F-B67C27476C3B}">
      <dgm:prSet/>
      <dgm:spPr/>
      <dgm:t>
        <a:bodyPr/>
        <a:lstStyle/>
        <a:p>
          <a:endParaRPr lang="en-GB"/>
        </a:p>
      </dgm:t>
    </dgm:pt>
    <dgm:pt modelId="{7DC29D4C-6471-4342-9C81-E020473D6E83}">
      <dgm:prSet phldrT="[Text]" custT="1"/>
      <dgm:spPr>
        <a:solidFill>
          <a:schemeClr val="accent4">
            <a:lumMod val="40000"/>
            <a:lumOff val="60000"/>
            <a:alpha val="65250"/>
          </a:schemeClr>
        </a:solidFill>
      </dgm:spPr>
      <dgm:t>
        <a:bodyPr/>
        <a:lstStyle/>
        <a:p>
          <a:r>
            <a:rPr lang="en-GB" sz="2400">
              <a:solidFill>
                <a:schemeClr val="bg1"/>
              </a:solidFill>
              <a:latin typeface="Fira Sans" panose="020B0503050000020004" pitchFamily="34" charset="0"/>
            </a:rPr>
            <a:t>Directional Business Case</a:t>
          </a:r>
        </a:p>
      </dgm:t>
    </dgm:pt>
    <dgm:pt modelId="{E3E966F4-7E02-B34E-9826-BF3C7CEB2A22}" type="parTrans" cxnId="{78775284-81A7-D847-9E0F-E765EF55A40D}">
      <dgm:prSet/>
      <dgm:spPr/>
      <dgm:t>
        <a:bodyPr/>
        <a:lstStyle/>
        <a:p>
          <a:endParaRPr lang="en-GB"/>
        </a:p>
      </dgm:t>
    </dgm:pt>
    <dgm:pt modelId="{837AD1AC-B70B-7044-9456-5918E7BA5984}" type="sibTrans" cxnId="{78775284-81A7-D847-9E0F-E765EF55A40D}">
      <dgm:prSet/>
      <dgm:spPr/>
      <dgm:t>
        <a:bodyPr/>
        <a:lstStyle/>
        <a:p>
          <a:endParaRPr lang="en-GB"/>
        </a:p>
      </dgm:t>
    </dgm:pt>
    <dgm:pt modelId="{B7FDF095-F6C5-6143-9179-16833EC5CC09}">
      <dgm:prSet phldrT="[Text]" custT="1"/>
      <dgm:spPr>
        <a:solidFill>
          <a:schemeClr val="accent4">
            <a:lumMod val="60000"/>
            <a:lumOff val="40000"/>
            <a:alpha val="72000"/>
          </a:schemeClr>
        </a:solidFill>
      </dgm:spPr>
      <dgm:t>
        <a:bodyPr/>
        <a:lstStyle/>
        <a:p>
          <a:r>
            <a:rPr lang="en-GB" sz="2400">
              <a:solidFill>
                <a:schemeClr val="bg1"/>
              </a:solidFill>
              <a:latin typeface="Fira Sans" panose="020B0503050000020004" pitchFamily="34" charset="0"/>
            </a:rPr>
            <a:t>Business Value Analysis</a:t>
          </a:r>
        </a:p>
      </dgm:t>
    </dgm:pt>
    <dgm:pt modelId="{D2B74152-0921-444B-8B69-22F969C41CB3}" type="parTrans" cxnId="{2611F062-2FDD-2D4C-8596-8A5CA011BDC1}">
      <dgm:prSet/>
      <dgm:spPr/>
      <dgm:t>
        <a:bodyPr/>
        <a:lstStyle/>
        <a:p>
          <a:endParaRPr lang="en-GB"/>
        </a:p>
      </dgm:t>
    </dgm:pt>
    <dgm:pt modelId="{F4DDEA60-A9FC-344E-8B0E-E035F42CE11F}" type="sibTrans" cxnId="{2611F062-2FDD-2D4C-8596-8A5CA011BDC1}">
      <dgm:prSet/>
      <dgm:spPr/>
      <dgm:t>
        <a:bodyPr/>
        <a:lstStyle/>
        <a:p>
          <a:endParaRPr lang="en-GB"/>
        </a:p>
      </dgm:t>
    </dgm:pt>
    <dgm:pt modelId="{B7C3EAA9-454A-BD4E-A71A-BDADF134721A}" type="pres">
      <dgm:prSet presAssocID="{B2D33FDA-89DB-884A-A8C5-ED28F88E5491}" presName="Name0" presStyleCnt="0">
        <dgm:presLayoutVars>
          <dgm:dir/>
          <dgm:animLvl val="lvl"/>
          <dgm:resizeHandles val="exact"/>
        </dgm:presLayoutVars>
      </dgm:prSet>
      <dgm:spPr/>
    </dgm:pt>
    <dgm:pt modelId="{5957AF52-98CE-0143-8A05-36842654D351}" type="pres">
      <dgm:prSet presAssocID="{440907CC-62C9-E447-86C2-9C4E6D594D04}" presName="Name8" presStyleCnt="0"/>
      <dgm:spPr/>
    </dgm:pt>
    <dgm:pt modelId="{672B4914-840E-3E41-B4A2-4CD52B2C9724}" type="pres">
      <dgm:prSet presAssocID="{440907CC-62C9-E447-86C2-9C4E6D594D04}" presName="level" presStyleLbl="node1" presStyleIdx="0" presStyleCnt="3" custScaleY="146048">
        <dgm:presLayoutVars>
          <dgm:chMax val="1"/>
          <dgm:bulletEnabled val="1"/>
        </dgm:presLayoutVars>
      </dgm:prSet>
      <dgm:spPr/>
    </dgm:pt>
    <dgm:pt modelId="{2C9C3053-FB28-4647-B62B-BB0C8B35C75F}" type="pres">
      <dgm:prSet presAssocID="{440907CC-62C9-E447-86C2-9C4E6D594D04}" presName="levelTx" presStyleLbl="revTx" presStyleIdx="0" presStyleCnt="0">
        <dgm:presLayoutVars>
          <dgm:chMax val="1"/>
          <dgm:bulletEnabled val="1"/>
        </dgm:presLayoutVars>
      </dgm:prSet>
      <dgm:spPr/>
    </dgm:pt>
    <dgm:pt modelId="{93B10630-D997-2A4D-BF09-881FF26F42AB}" type="pres">
      <dgm:prSet presAssocID="{7DC29D4C-6471-4342-9C81-E020473D6E83}" presName="Name8" presStyleCnt="0"/>
      <dgm:spPr/>
    </dgm:pt>
    <dgm:pt modelId="{FFBEB74F-E166-4941-8407-44A5E28170FD}" type="pres">
      <dgm:prSet presAssocID="{7DC29D4C-6471-4342-9C81-E020473D6E83}" presName="level" presStyleLbl="node1" presStyleIdx="1" presStyleCnt="3">
        <dgm:presLayoutVars>
          <dgm:chMax val="1"/>
          <dgm:bulletEnabled val="1"/>
        </dgm:presLayoutVars>
      </dgm:prSet>
      <dgm:spPr/>
    </dgm:pt>
    <dgm:pt modelId="{4E714245-7D9B-8F48-B015-FC466A50695D}" type="pres">
      <dgm:prSet presAssocID="{7DC29D4C-6471-4342-9C81-E020473D6E83}" presName="levelTx" presStyleLbl="revTx" presStyleIdx="0" presStyleCnt="0">
        <dgm:presLayoutVars>
          <dgm:chMax val="1"/>
          <dgm:bulletEnabled val="1"/>
        </dgm:presLayoutVars>
      </dgm:prSet>
      <dgm:spPr/>
    </dgm:pt>
    <dgm:pt modelId="{A5A97655-EA2B-2F49-9CF6-E0F865D8A6DF}" type="pres">
      <dgm:prSet presAssocID="{B7FDF095-F6C5-6143-9179-16833EC5CC09}" presName="Name8" presStyleCnt="0"/>
      <dgm:spPr/>
    </dgm:pt>
    <dgm:pt modelId="{14A57750-1D82-4345-ADF6-013929FB5582}" type="pres">
      <dgm:prSet presAssocID="{B7FDF095-F6C5-6143-9179-16833EC5CC09}" presName="level" presStyleLbl="node1" presStyleIdx="2" presStyleCnt="3">
        <dgm:presLayoutVars>
          <dgm:chMax val="1"/>
          <dgm:bulletEnabled val="1"/>
        </dgm:presLayoutVars>
      </dgm:prSet>
      <dgm:spPr/>
    </dgm:pt>
    <dgm:pt modelId="{0FF4B8A5-6837-BE4D-A796-7FEC5788319A}" type="pres">
      <dgm:prSet presAssocID="{B7FDF095-F6C5-6143-9179-16833EC5CC09}" presName="levelTx" presStyleLbl="revTx" presStyleIdx="0" presStyleCnt="0">
        <dgm:presLayoutVars>
          <dgm:chMax val="1"/>
          <dgm:bulletEnabled val="1"/>
        </dgm:presLayoutVars>
      </dgm:prSet>
      <dgm:spPr/>
    </dgm:pt>
  </dgm:ptLst>
  <dgm:cxnLst>
    <dgm:cxn modelId="{8479E91F-1E1B-E04D-925B-7B9BD783D562}" type="presOf" srcId="{B7FDF095-F6C5-6143-9179-16833EC5CC09}" destId="{14A57750-1D82-4345-ADF6-013929FB5582}" srcOrd="0" destOrd="0" presId="urn:microsoft.com/office/officeart/2005/8/layout/pyramid1"/>
    <dgm:cxn modelId="{2611F062-2FDD-2D4C-8596-8A5CA011BDC1}" srcId="{B2D33FDA-89DB-884A-A8C5-ED28F88E5491}" destId="{B7FDF095-F6C5-6143-9179-16833EC5CC09}" srcOrd="2" destOrd="0" parTransId="{D2B74152-0921-444B-8B69-22F969C41CB3}" sibTransId="{F4DDEA60-A9FC-344E-8B0E-E035F42CE11F}"/>
    <dgm:cxn modelId="{ABD01F6A-0641-8741-AD0B-ED2010892D04}" type="presOf" srcId="{7DC29D4C-6471-4342-9C81-E020473D6E83}" destId="{4E714245-7D9B-8F48-B015-FC466A50695D}" srcOrd="1" destOrd="0" presId="urn:microsoft.com/office/officeart/2005/8/layout/pyramid1"/>
    <dgm:cxn modelId="{AB69FC4E-1EF1-BA46-A385-4CD0A4749B3D}" type="presOf" srcId="{B2D33FDA-89DB-884A-A8C5-ED28F88E5491}" destId="{B7C3EAA9-454A-BD4E-A71A-BDADF134721A}" srcOrd="0" destOrd="0" presId="urn:microsoft.com/office/officeart/2005/8/layout/pyramid1"/>
    <dgm:cxn modelId="{1AE03252-A7EE-1D42-B768-024D67D377F1}" type="presOf" srcId="{B7FDF095-F6C5-6143-9179-16833EC5CC09}" destId="{0FF4B8A5-6837-BE4D-A796-7FEC5788319A}" srcOrd="1" destOrd="0" presId="urn:microsoft.com/office/officeart/2005/8/layout/pyramid1"/>
    <dgm:cxn modelId="{3D8CE17A-5687-6F46-9550-4656D4C07CBC}" type="presOf" srcId="{440907CC-62C9-E447-86C2-9C4E6D594D04}" destId="{2C9C3053-FB28-4647-B62B-BB0C8B35C75F}" srcOrd="1" destOrd="0" presId="urn:microsoft.com/office/officeart/2005/8/layout/pyramid1"/>
    <dgm:cxn modelId="{78775284-81A7-D847-9E0F-E765EF55A40D}" srcId="{B2D33FDA-89DB-884A-A8C5-ED28F88E5491}" destId="{7DC29D4C-6471-4342-9C81-E020473D6E83}" srcOrd="1" destOrd="0" parTransId="{E3E966F4-7E02-B34E-9826-BF3C7CEB2A22}" sibTransId="{837AD1AC-B70B-7044-9456-5918E7BA5984}"/>
    <dgm:cxn modelId="{88D12691-D1CA-094C-AA94-7E6E64D961EF}" type="presOf" srcId="{440907CC-62C9-E447-86C2-9C4E6D594D04}" destId="{672B4914-840E-3E41-B4A2-4CD52B2C9724}" srcOrd="0" destOrd="0" presId="urn:microsoft.com/office/officeart/2005/8/layout/pyramid1"/>
    <dgm:cxn modelId="{A6E52CC5-F5E8-E247-AB2F-B67C27476C3B}" srcId="{B2D33FDA-89DB-884A-A8C5-ED28F88E5491}" destId="{440907CC-62C9-E447-86C2-9C4E6D594D04}" srcOrd="0" destOrd="0" parTransId="{1D9F599A-E822-E542-9088-5AC013C9FBB7}" sibTransId="{A0D110B6-9A74-7F40-BE7E-1DF9BEAE02AE}"/>
    <dgm:cxn modelId="{F51660EC-B55E-5F43-8D07-7D81E2805AA2}" type="presOf" srcId="{7DC29D4C-6471-4342-9C81-E020473D6E83}" destId="{FFBEB74F-E166-4941-8407-44A5E28170FD}" srcOrd="0" destOrd="0" presId="urn:microsoft.com/office/officeart/2005/8/layout/pyramid1"/>
    <dgm:cxn modelId="{D0D6E205-1722-5842-A448-9B5A78DF6328}" type="presParOf" srcId="{B7C3EAA9-454A-BD4E-A71A-BDADF134721A}" destId="{5957AF52-98CE-0143-8A05-36842654D351}" srcOrd="0" destOrd="0" presId="urn:microsoft.com/office/officeart/2005/8/layout/pyramid1"/>
    <dgm:cxn modelId="{EECA575C-0F24-E545-87E4-4DC0DF09A726}" type="presParOf" srcId="{5957AF52-98CE-0143-8A05-36842654D351}" destId="{672B4914-840E-3E41-B4A2-4CD52B2C9724}" srcOrd="0" destOrd="0" presId="urn:microsoft.com/office/officeart/2005/8/layout/pyramid1"/>
    <dgm:cxn modelId="{E7B1BDC2-A79F-974A-A766-993AFB805F63}" type="presParOf" srcId="{5957AF52-98CE-0143-8A05-36842654D351}" destId="{2C9C3053-FB28-4647-B62B-BB0C8B35C75F}" srcOrd="1" destOrd="0" presId="urn:microsoft.com/office/officeart/2005/8/layout/pyramid1"/>
    <dgm:cxn modelId="{AC53FA9D-D4E7-B246-96B0-985015A4BD2F}" type="presParOf" srcId="{B7C3EAA9-454A-BD4E-A71A-BDADF134721A}" destId="{93B10630-D997-2A4D-BF09-881FF26F42AB}" srcOrd="1" destOrd="0" presId="urn:microsoft.com/office/officeart/2005/8/layout/pyramid1"/>
    <dgm:cxn modelId="{33267A43-5F16-F044-8AB5-4C34B27B2045}" type="presParOf" srcId="{93B10630-D997-2A4D-BF09-881FF26F42AB}" destId="{FFBEB74F-E166-4941-8407-44A5E28170FD}" srcOrd="0" destOrd="0" presId="urn:microsoft.com/office/officeart/2005/8/layout/pyramid1"/>
    <dgm:cxn modelId="{93A53C2C-1CB9-994E-9EC1-524F3469B347}" type="presParOf" srcId="{93B10630-D997-2A4D-BF09-881FF26F42AB}" destId="{4E714245-7D9B-8F48-B015-FC466A50695D}" srcOrd="1" destOrd="0" presId="urn:microsoft.com/office/officeart/2005/8/layout/pyramid1"/>
    <dgm:cxn modelId="{22331305-31EE-E54E-94AD-D78B3AA65F28}" type="presParOf" srcId="{B7C3EAA9-454A-BD4E-A71A-BDADF134721A}" destId="{A5A97655-EA2B-2F49-9CF6-E0F865D8A6DF}" srcOrd="2" destOrd="0" presId="urn:microsoft.com/office/officeart/2005/8/layout/pyramid1"/>
    <dgm:cxn modelId="{D1B0BD35-2A68-7C43-9514-F5A62D2D8E88}" type="presParOf" srcId="{A5A97655-EA2B-2F49-9CF6-E0F865D8A6DF}" destId="{14A57750-1D82-4345-ADF6-013929FB5582}" srcOrd="0" destOrd="0" presId="urn:microsoft.com/office/officeart/2005/8/layout/pyramid1"/>
    <dgm:cxn modelId="{93BFE4EF-DAC4-1D4B-837E-B94500C7B408}" type="presParOf" srcId="{A5A97655-EA2B-2F49-9CF6-E0F865D8A6DF}" destId="{0FF4B8A5-6837-BE4D-A796-7FEC5788319A}"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2B4914-840E-3E41-B4A2-4CD52B2C9724}">
      <dsp:nvSpPr>
        <dsp:cNvPr id="0" name=""/>
        <dsp:cNvSpPr/>
      </dsp:nvSpPr>
      <dsp:spPr>
        <a:xfrm>
          <a:off x="2348807" y="0"/>
          <a:ext cx="3430385" cy="1992482"/>
        </a:xfrm>
        <a:prstGeom prst="trapezoid">
          <a:avLst>
            <a:gd name="adj" fmla="val 86083"/>
          </a:avLst>
        </a:prstGeom>
        <a:solidFill>
          <a:schemeClr val="accent4">
            <a:lumMod val="20000"/>
            <a:lumOff val="80000"/>
            <a:alpha val="70828"/>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GB" sz="2400" kern="1200">
            <a:solidFill>
              <a:schemeClr val="bg1"/>
            </a:solidFill>
            <a:latin typeface="Fira Sans" panose="020B0503050000020004" pitchFamily="34" charset="0"/>
          </a:endParaRPr>
        </a:p>
        <a:p>
          <a:pPr marL="0" lvl="0" indent="0" algn="ctr" defTabSz="1066800">
            <a:lnSpc>
              <a:spcPct val="90000"/>
            </a:lnSpc>
            <a:spcBef>
              <a:spcPct val="0"/>
            </a:spcBef>
            <a:spcAft>
              <a:spcPct val="35000"/>
            </a:spcAft>
            <a:buNone/>
          </a:pPr>
          <a:r>
            <a:rPr lang="en-GB" sz="2400" kern="1200">
              <a:solidFill>
                <a:schemeClr val="bg1"/>
              </a:solidFill>
              <a:latin typeface="Fira Sans" panose="020B0503050000020004" pitchFamily="34" charset="0"/>
            </a:rPr>
            <a:t>Detailed</a:t>
          </a:r>
        </a:p>
        <a:p>
          <a:pPr marL="0" lvl="0" indent="0" algn="ctr" defTabSz="1066800">
            <a:lnSpc>
              <a:spcPct val="90000"/>
            </a:lnSpc>
            <a:spcBef>
              <a:spcPct val="0"/>
            </a:spcBef>
            <a:spcAft>
              <a:spcPct val="35000"/>
            </a:spcAft>
            <a:buNone/>
          </a:pPr>
          <a:r>
            <a:rPr lang="en-GB" sz="2400" kern="1200">
              <a:solidFill>
                <a:schemeClr val="bg1"/>
              </a:solidFill>
              <a:latin typeface="Fira Sans" panose="020B0503050000020004" pitchFamily="34" charset="0"/>
            </a:rPr>
            <a:t> Business Case</a:t>
          </a:r>
        </a:p>
      </dsp:txBody>
      <dsp:txXfrm>
        <a:off x="2348807" y="0"/>
        <a:ext cx="3430385" cy="1992482"/>
      </dsp:txXfrm>
    </dsp:sp>
    <dsp:sp modelId="{FFBEB74F-E166-4941-8407-44A5E28170FD}">
      <dsp:nvSpPr>
        <dsp:cNvPr id="0" name=""/>
        <dsp:cNvSpPr/>
      </dsp:nvSpPr>
      <dsp:spPr>
        <a:xfrm>
          <a:off x="1174403" y="1992482"/>
          <a:ext cx="5779192" cy="1364265"/>
        </a:xfrm>
        <a:prstGeom prst="trapezoid">
          <a:avLst>
            <a:gd name="adj" fmla="val 86083"/>
          </a:avLst>
        </a:prstGeom>
        <a:solidFill>
          <a:schemeClr val="accent4">
            <a:lumMod val="40000"/>
            <a:lumOff val="60000"/>
            <a:alpha val="6525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kern="1200">
              <a:solidFill>
                <a:schemeClr val="bg1"/>
              </a:solidFill>
              <a:latin typeface="Fira Sans" panose="020B0503050000020004" pitchFamily="34" charset="0"/>
            </a:rPr>
            <a:t>Directional Business Case</a:t>
          </a:r>
        </a:p>
      </dsp:txBody>
      <dsp:txXfrm>
        <a:off x="2185762" y="1992482"/>
        <a:ext cx="3756475" cy="1364265"/>
      </dsp:txXfrm>
    </dsp:sp>
    <dsp:sp modelId="{14A57750-1D82-4345-ADF6-013929FB5582}">
      <dsp:nvSpPr>
        <dsp:cNvPr id="0" name=""/>
        <dsp:cNvSpPr/>
      </dsp:nvSpPr>
      <dsp:spPr>
        <a:xfrm>
          <a:off x="0" y="3356747"/>
          <a:ext cx="8128000" cy="1364265"/>
        </a:xfrm>
        <a:prstGeom prst="trapezoid">
          <a:avLst>
            <a:gd name="adj" fmla="val 86083"/>
          </a:avLst>
        </a:prstGeom>
        <a:solidFill>
          <a:schemeClr val="accent4">
            <a:lumMod val="60000"/>
            <a:lumOff val="40000"/>
            <a:alpha val="72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kern="1200">
              <a:solidFill>
                <a:schemeClr val="bg1"/>
              </a:solidFill>
              <a:latin typeface="Fira Sans" panose="020B0503050000020004" pitchFamily="34" charset="0"/>
            </a:rPr>
            <a:t>Business Value Analysis</a:t>
          </a:r>
        </a:p>
      </dsp:txBody>
      <dsp:txXfrm>
        <a:off x="1422399" y="3356747"/>
        <a:ext cx="5283200" cy="1364265"/>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A0C39B-B38C-4AAA-B27A-B351D17E9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458503-EC51-4570-9EFC-84D0DE753D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8552C3-53A9-4EAE-98D2-96F7E807C082}" type="datetimeFigureOut">
              <a:rPr lang="en-US" smtClean="0"/>
              <a:t>4/26/2026</a:t>
            </a:fld>
            <a:endParaRPr lang="en-US"/>
          </a:p>
        </p:txBody>
      </p:sp>
      <p:sp>
        <p:nvSpPr>
          <p:cNvPr id="4" name="Footer Placeholder 3">
            <a:extLst>
              <a:ext uri="{FF2B5EF4-FFF2-40B4-BE49-F238E27FC236}">
                <a16:creationId xmlns:a16="http://schemas.microsoft.com/office/drawing/2014/main" id="{CF9542E6-4148-41C6-8765-7774913CF9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0941AB6-8DCA-40B8-B06C-2834861451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F0DA6C-0510-45D0-8510-74AF9D91696C}" type="slidenum">
              <a:rPr lang="en-US" smtClean="0"/>
              <a:t>‹#›</a:t>
            </a:fld>
            <a:endParaRPr lang="en-US"/>
          </a:p>
        </p:txBody>
      </p:sp>
    </p:spTree>
    <p:extLst>
      <p:ext uri="{BB962C8B-B14F-4D97-AF65-F5344CB8AC3E}">
        <p14:creationId xmlns:p14="http://schemas.microsoft.com/office/powerpoint/2010/main" val="3582771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0" y="8793270"/>
            <a:ext cx="2971800" cy="350730"/>
          </a:xfrm>
          <a:prstGeom prst="rect">
            <a:avLst/>
          </a:prstGeom>
        </p:spPr>
        <p:txBody>
          <a:bodyPr vert="horz" lIns="91440" tIns="45720" rIns="91440" bIns="45720" rtlCol="0" anchor="t" anchorCtr="0"/>
          <a:lstStyle>
            <a:lvl1pPr algn="l">
              <a:defRPr sz="1000"/>
            </a:lvl1pPr>
          </a:lstStyle>
          <a:p>
            <a:fld id="{94C1FFEF-7AA5-49AA-AC58-7D6786C64E8F}" type="datetimeFigureOut">
              <a:rPr lang="en-US" smtClean="0"/>
              <a:pPr/>
              <a:t>4/26/2026</a:t>
            </a:fld>
            <a:endParaRPr lang="en-US"/>
          </a:p>
        </p:txBody>
      </p:sp>
      <p:sp>
        <p:nvSpPr>
          <p:cNvPr id="4" name="Slide Image Placeholder 3"/>
          <p:cNvSpPr>
            <a:spLocks noGrp="1" noRot="1" noChangeAspect="1"/>
          </p:cNvSpPr>
          <p:nvPr>
            <p:ph type="sldImg" idx="2"/>
          </p:nvPr>
        </p:nvSpPr>
        <p:spPr>
          <a:xfrm>
            <a:off x="990600" y="349946"/>
            <a:ext cx="4876800" cy="27432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04800" y="3344449"/>
            <a:ext cx="6248400" cy="527345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3884613" y="8793271"/>
            <a:ext cx="2971800" cy="350729"/>
          </a:xfrm>
          <a:prstGeom prst="rect">
            <a:avLst/>
          </a:prstGeom>
        </p:spPr>
        <p:txBody>
          <a:bodyPr vert="horz" lIns="91440" tIns="45720" rIns="91440" bIns="45720" rtlCol="0" anchor="t" anchorCtr="0"/>
          <a:lstStyle>
            <a:lvl1pPr algn="r">
              <a:defRPr sz="1000"/>
            </a:lvl1pPr>
          </a:lstStyle>
          <a:p>
            <a:fld id="{743F7EE4-7D84-4D77-B4B2-0C966043B366}" type="slidenum">
              <a:rPr lang="en-US" smtClean="0"/>
              <a:pPr/>
              <a:t>‹#›</a:t>
            </a:fld>
            <a:endParaRPr lang="en-US"/>
          </a:p>
        </p:txBody>
      </p:sp>
    </p:spTree>
    <p:extLst>
      <p:ext uri="{BB962C8B-B14F-4D97-AF65-F5344CB8AC3E}">
        <p14:creationId xmlns:p14="http://schemas.microsoft.com/office/powerpoint/2010/main" val="730966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43F7EE4-7D84-4D77-B4B2-0C966043B366}" type="slidenum">
              <a:rPr kumimoji="0" lang="en-US"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a:t>
            </a:fld>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837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43F7EE4-7D84-4D77-B4B2-0C966043B36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884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87873e9bc4_6_20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87873e9bc4_6_202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endParaRPr sz="600"/>
          </a:p>
        </p:txBody>
      </p:sp>
      <p:sp>
        <p:nvSpPr>
          <p:cNvPr id="500" name="Google Shape;500;g87873e9bc4_6_20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228600" rtl="0" eaLnBrk="1" fontAlgn="auto" latinLnBrk="0" hangingPunct="1">
                <a:lnSpc>
                  <a:spcPct val="100000"/>
                </a:lnSpc>
                <a:spcBef>
                  <a:spcPts val="0"/>
                </a:spcBef>
                <a:spcAft>
                  <a:spcPts val="0"/>
                </a:spcAft>
                <a:buClrTx/>
                <a:buSzTx/>
                <a:buFontTx/>
                <a:buNone/>
                <a:tabLst/>
                <a:defRPr/>
              </a:pPr>
              <a:t>7</a:t>
            </a:fld>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48182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87873e9bc4_6_20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87873e9bc4_6_202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914400" lvl="0" indent="0" algn="l" rtl="0">
              <a:lnSpc>
                <a:spcPct val="115000"/>
              </a:lnSpc>
              <a:spcBef>
                <a:spcPts val="1200"/>
              </a:spcBef>
              <a:spcAft>
                <a:spcPts val="0"/>
              </a:spcAft>
              <a:buNone/>
            </a:pPr>
            <a:endParaRPr lang="en-US">
              <a:solidFill>
                <a:srgbClr val="201F1E"/>
              </a:solidFill>
              <a:latin typeface="Calibri"/>
              <a:ea typeface="Calibri"/>
              <a:cs typeface="Calibri"/>
            </a:endParaRPr>
          </a:p>
          <a:p>
            <a:pPr marL="0" lvl="0" indent="0" algn="l" rtl="0">
              <a:lnSpc>
                <a:spcPct val="115000"/>
              </a:lnSpc>
              <a:spcBef>
                <a:spcPts val="1200"/>
              </a:spcBef>
              <a:spcAft>
                <a:spcPts val="0"/>
              </a:spcAft>
              <a:buNone/>
            </a:pPr>
            <a:endParaRPr sz="1300">
              <a:solidFill>
                <a:srgbClr val="201F1E"/>
              </a:solidFill>
              <a:latin typeface="Calibri"/>
              <a:ea typeface="Calibri"/>
              <a:cs typeface="Calibri"/>
              <a:sym typeface="Calibri"/>
            </a:endParaRPr>
          </a:p>
          <a:p>
            <a:pPr marL="0" lvl="0" indent="0" algn="l" rtl="0">
              <a:spcBef>
                <a:spcPts val="1200"/>
              </a:spcBef>
              <a:spcAft>
                <a:spcPts val="0"/>
              </a:spcAft>
              <a:buNone/>
            </a:pPr>
            <a:endParaRPr sz="600"/>
          </a:p>
        </p:txBody>
      </p:sp>
      <p:sp>
        <p:nvSpPr>
          <p:cNvPr id="500" name="Google Shape;500;g87873e9bc4_6_20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228600" rtl="0" eaLnBrk="1" fontAlgn="auto" latinLnBrk="0" hangingPunct="1">
                <a:lnSpc>
                  <a:spcPct val="100000"/>
                </a:lnSpc>
                <a:spcBef>
                  <a:spcPts val="0"/>
                </a:spcBef>
                <a:spcAft>
                  <a:spcPts val="0"/>
                </a:spcAft>
                <a:buClrTx/>
                <a:buSzTx/>
                <a:buFontTx/>
                <a:buNone/>
                <a:tabLst/>
                <a:defRPr/>
              </a:pPr>
              <a:t>8</a:t>
            </a:fld>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4294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887DE0-8279-43A8-83B3-7AFC2F9FFFF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9518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43F7EE4-7D84-4D77-B4B2-0C966043B366}" type="slidenum">
              <a:rPr kumimoji="0" lang="en-US"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12</a:t>
            </a:fld>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2866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43F7EE4-7D84-4D77-B4B2-0C966043B366}" type="slidenum">
              <a:rPr kumimoji="0" lang="en-US"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24</a:t>
            </a:fld>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3972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GB"/>
              <a:t>Carbon copy of AWS one with the same data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887DE0-8279-43A8-83B3-7AFC2F9FFFF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9690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sz="1400"/>
              <a:t>With </a:t>
            </a:r>
            <a:r>
              <a:rPr lang="en-US" sz="1400" b="1"/>
              <a:t>AMMP Partner-led</a:t>
            </a:r>
            <a:r>
              <a:rPr lang="en-US" sz="1400"/>
              <a:t>, the ease, scale and speed are increased, and friction points are reduced – </a:t>
            </a:r>
            <a:r>
              <a:rPr lang="en-US" sz="1800">
                <a:effectLst/>
                <a:latin typeface="Segoe UI" panose="020B0502040204020203" pitchFamily="34" charset="0"/>
              </a:rPr>
              <a:t>this path yields faster approvals and set engagement sizes (aka t-shirt sizing for S, M, L engagement sizes) which makes 'calculating' ACR much faster.</a:t>
            </a:r>
          </a:p>
          <a:p>
            <a:pPr marL="0" marR="0" fontAlgn="base">
              <a:lnSpc>
                <a:spcPct val="107000"/>
              </a:lnSpc>
              <a:spcBef>
                <a:spcPts val="0"/>
              </a:spcBef>
              <a:spcAft>
                <a:spcPts val="800"/>
              </a:spcAft>
            </a:pPr>
            <a:endParaRPr lang="en-US" sz="1800">
              <a:solidFill>
                <a:srgbClr val="222222"/>
              </a:solidFill>
              <a:effectLst/>
              <a:latin typeface="Segoe UI" panose="020B0502040204020203" pitchFamily="34" charset="0"/>
              <a:ea typeface="Times New Roman" panose="02020603050405020304" pitchFamily="18" charset="0"/>
              <a:cs typeface="Arial" panose="020B0604020202020204" pitchFamily="34" charset="0"/>
            </a:endParaRPr>
          </a:p>
          <a:p>
            <a:pPr marL="0" marR="0" fontAlgn="base">
              <a:lnSpc>
                <a:spcPct val="107000"/>
              </a:lnSpc>
              <a:spcBef>
                <a:spcPts val="0"/>
              </a:spcBef>
              <a:spcAft>
                <a:spcPts val="800"/>
              </a:spcAft>
            </a:pPr>
            <a:r>
              <a:rPr lang="en-US" sz="1800">
                <a:solidFill>
                  <a:srgbClr val="222222"/>
                </a:solidFill>
                <a:effectLst/>
                <a:latin typeface="Segoe UI" panose="020B0502040204020203" pitchFamily="34" charset="0"/>
                <a:ea typeface="Times New Roman" panose="02020603050405020304" pitchFamily="18" charset="0"/>
                <a:cs typeface="Arial" panose="020B0604020202020204" pitchFamily="34" charset="0"/>
              </a:rPr>
              <a:t>Now there is a new faster path available to Azure Specialized partners, </a:t>
            </a:r>
            <a:r>
              <a:rPr lang="en-US" sz="1800" b="1">
                <a:solidFill>
                  <a:srgbClr val="222222"/>
                </a:solidFill>
                <a:effectLst/>
                <a:latin typeface="Segoe UI" panose="020B0502040204020203" pitchFamily="34" charset="0"/>
                <a:ea typeface="Times New Roman" panose="02020603050405020304" pitchFamily="18" charset="0"/>
                <a:cs typeface="Arial" panose="020B0604020202020204" pitchFamily="34" charset="0"/>
              </a:rPr>
              <a:t>AMMP Partner-led </a:t>
            </a:r>
            <a:r>
              <a:rPr lang="en-US" sz="1800">
                <a:solidFill>
                  <a:srgbClr val="222222"/>
                </a:solidFill>
                <a:effectLst/>
                <a:latin typeface="Segoe UI" panose="020B0502040204020203" pitchFamily="34" charset="0"/>
                <a:ea typeface="Times New Roman" panose="02020603050405020304" pitchFamily="18" charset="0"/>
                <a:cs typeface="Arial" panose="020B0604020202020204" pitchFamily="34" charset="0"/>
              </a:rPr>
              <a:t>which</a:t>
            </a:r>
            <a:r>
              <a:rPr lang="en-US" sz="1800" b="1">
                <a:solidFill>
                  <a:srgbClr val="222222"/>
                </a:solidFill>
                <a:effectLst/>
                <a:latin typeface="Segoe UI" panose="020B0502040204020203" pitchFamily="34" charset="0"/>
                <a:ea typeface="Times New Roman" panose="02020603050405020304" pitchFamily="18" charset="0"/>
                <a:cs typeface="Arial" panose="020B0604020202020204" pitchFamily="34" charset="0"/>
              </a:rPr>
              <a:t> </a:t>
            </a:r>
            <a:r>
              <a:rPr lang="en-US" sz="1800">
                <a:solidFill>
                  <a:srgbClr val="222222"/>
                </a:solidFill>
                <a:effectLst/>
                <a:latin typeface="Segoe UI" panose="020B0502040204020203" pitchFamily="34" charset="0"/>
                <a:ea typeface="Times New Roman" panose="02020603050405020304" pitchFamily="18" charset="0"/>
                <a:cs typeface="Arial" panose="020B0604020202020204" pitchFamily="34" charset="0"/>
              </a:rPr>
              <a:t>is designed to provide an easy, friction free way to nominate customers for the Azure Migration and Modernization Program to drive scale and agility.  </a:t>
            </a:r>
            <a:br>
              <a:rPr lang="en-US" sz="1800">
                <a:effectLst/>
                <a:latin typeface="Calibri" panose="020F0502020204030204" pitchFamily="34" charset="0"/>
                <a:ea typeface="Calibri" panose="020F0502020204030204" pitchFamily="34" charset="0"/>
                <a:cs typeface="Arial" panose="020B0604020202020204" pitchFamily="34" charset="0"/>
              </a:rPr>
            </a:br>
            <a:r>
              <a:rPr lang="en-US" sz="1800">
                <a:solidFill>
                  <a:srgbClr val="222222"/>
                </a:solidFill>
                <a:effectLst/>
                <a:latin typeface="Segoe UI" panose="020B0502040204020203" pitchFamily="34" charset="0"/>
                <a:ea typeface="Times New Roman" panose="02020603050405020304" pitchFamily="18" charset="0"/>
                <a:cs typeface="Arial" panose="020B0604020202020204" pitchFamily="34" charset="0"/>
              </a:rPr>
              <a:t>Partners can now directly nominate customer projects to AMMP to migrate and modernize to the cloud and can secure engagement funding faster and at scale.</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fontAlgn="base">
              <a:lnSpc>
                <a:spcPct val="107000"/>
              </a:lnSpc>
              <a:spcBef>
                <a:spcPts val="0"/>
              </a:spcBef>
              <a:spcAft>
                <a:spcPts val="0"/>
              </a:spcAft>
            </a:pPr>
            <a:endParaRPr lang="en-US" sz="1800">
              <a:solidFill>
                <a:srgbClr val="222222"/>
              </a:solidFill>
              <a:effectLst/>
              <a:latin typeface="Segoe UI" panose="020B0502040204020203" pitchFamily="34" charset="0"/>
              <a:ea typeface="Calibri" panose="020F0502020204030204" pitchFamily="34" charset="0"/>
              <a:cs typeface="Arial" panose="020B0604020202020204" pitchFamily="34" charset="0"/>
            </a:endParaRPr>
          </a:p>
          <a:p>
            <a:pPr marL="0" marR="0" fontAlgn="base">
              <a:lnSpc>
                <a:spcPct val="107000"/>
              </a:lnSpc>
              <a:spcBef>
                <a:spcPts val="0"/>
              </a:spcBef>
              <a:spcAft>
                <a:spcPts val="0"/>
              </a:spcAft>
            </a:pPr>
            <a:r>
              <a:rPr lang="en-US" sz="1800">
                <a:solidFill>
                  <a:srgbClr val="222222"/>
                </a:solidFill>
                <a:effectLst/>
                <a:latin typeface="Segoe UI" panose="020B0502040204020203" pitchFamily="34" charset="0"/>
                <a:ea typeface="Calibri" panose="020F0502020204030204" pitchFamily="34" charset="0"/>
                <a:cs typeface="Arial" panose="020B0604020202020204" pitchFamily="34" charset="0"/>
              </a:rPr>
              <a:t>Funding is available in standardized engagement sizes in the Migration and Modernization offer with partners driving the entire process end to end. There will also be a self-serve tracking dashboard for these engagements. This new path should help to speed up approvals and funding distribution. </a:t>
            </a:r>
            <a:endParaRPr lang="en-US" sz="1800">
              <a:effectLst/>
              <a:latin typeface="Calibri" panose="020F0502020204030204" pitchFamily="34" charset="0"/>
              <a:ea typeface="Calibri" panose="020F0502020204030204" pitchFamily="34" charset="0"/>
              <a:cs typeface="Arial" panose="020B0604020202020204" pitchFamily="34" charset="0"/>
            </a:endParaRPr>
          </a:p>
          <a:p>
            <a:endParaRPr lang="en-US" sz="140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423110" marR="0" lvl="0" indent="0" algn="l" defTabSz="970640"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9C601B9-5273-467A-8E48-EC9939578C8F}"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4/26/2026 11:01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973973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ea typeface="Calibri"/>
              <a:cs typeface="Calibri"/>
            </a:endParaRPr>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423110" marR="0" lvl="0" indent="0" algn="l" defTabSz="970640"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a:t>
            </a:r>
          </a:p>
        </p:txBody>
      </p:sp>
      <p:sp>
        <p:nvSpPr>
          <p:cNvPr id="6" name="Date Placeholder 5"/>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C601B9-5273-467A-8E48-EC9939578C8F}"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4/26/2026 10:59 AM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5893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887DE0-8279-43A8-83B3-7AFC2F9FFFF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3260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sv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jpeg"/><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jpeg"/><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0.jpeg"/><Relationship Id="rId1" Type="http://schemas.openxmlformats.org/officeDocument/2006/relationships/slideMaster" Target="../slideMasters/slideMaster7.xml"/><Relationship Id="rId4" Type="http://schemas.openxmlformats.org/officeDocument/2006/relationships/image" Target="../media/image36.jpeg"/></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0.jpeg"/><Relationship Id="rId1" Type="http://schemas.openxmlformats.org/officeDocument/2006/relationships/slideMaster" Target="../slideMasters/slideMaster7.xml"/><Relationship Id="rId5" Type="http://schemas.openxmlformats.org/officeDocument/2006/relationships/image" Target="../media/image37.jpeg"/><Relationship Id="rId4" Type="http://schemas.openxmlformats.org/officeDocument/2006/relationships/image" Target="../media/image36.jpeg"/></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Master" Target="../slideMasters/slideMaster7.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Master" Target="../slideMasters/slideMaster7.xml"/><Relationship Id="rId4" Type="http://schemas.openxmlformats.org/officeDocument/2006/relationships/image" Target="../media/image42.jpeg"/></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Master" Target="../slideMasters/slideMaster7.xml"/><Relationship Id="rId5" Type="http://schemas.openxmlformats.org/officeDocument/2006/relationships/image" Target="../media/image46.jpeg"/><Relationship Id="rId4" Type="http://schemas.openxmlformats.org/officeDocument/2006/relationships/image" Target="../media/image45.jpeg"/></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0.jpeg"/><Relationship Id="rId1" Type="http://schemas.openxmlformats.org/officeDocument/2006/relationships/slideMaster" Target="../slideMasters/slideMaster7.xml"/><Relationship Id="rId6" Type="http://schemas.openxmlformats.org/officeDocument/2006/relationships/image" Target="../media/image47.jpeg"/><Relationship Id="rId5" Type="http://schemas.openxmlformats.org/officeDocument/2006/relationships/image" Target="../media/image37.jpeg"/><Relationship Id="rId4" Type="http://schemas.openxmlformats.org/officeDocument/2006/relationships/image" Target="../media/image36.jpeg"/></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0.jpeg"/><Relationship Id="rId1" Type="http://schemas.openxmlformats.org/officeDocument/2006/relationships/slideMaster" Target="../slideMasters/slideMaster7.xml"/><Relationship Id="rId4" Type="http://schemas.openxmlformats.org/officeDocument/2006/relationships/image" Target="../media/image36.jpeg"/></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0.jpeg"/><Relationship Id="rId1" Type="http://schemas.openxmlformats.org/officeDocument/2006/relationships/slideMaster" Target="../slideMasters/slideMaster7.xml"/><Relationship Id="rId5" Type="http://schemas.openxmlformats.org/officeDocument/2006/relationships/image" Target="../media/image37.jpeg"/><Relationship Id="rId4" Type="http://schemas.openxmlformats.org/officeDocument/2006/relationships/image" Target="../media/image36.jpeg"/></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0.jpeg"/><Relationship Id="rId1" Type="http://schemas.openxmlformats.org/officeDocument/2006/relationships/slideMaster" Target="../slideMasters/slideMaster7.xml"/><Relationship Id="rId6" Type="http://schemas.openxmlformats.org/officeDocument/2006/relationships/image" Target="../media/image47.jpeg"/><Relationship Id="rId5" Type="http://schemas.openxmlformats.org/officeDocument/2006/relationships/image" Target="../media/image37.jpeg"/><Relationship Id="rId4" Type="http://schemas.openxmlformats.org/officeDocument/2006/relationships/image" Target="../media/image36.jpe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Master" Target="../slideMasters/slideMaster7.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8.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8.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8.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8.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8.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8.xml"/></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8.xml"/></Relationships>
</file>

<file path=ppt/slideLayouts/_rels/slideLayout2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8.xml"/></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8.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8.xml"/></Relationships>
</file>

<file path=ppt/slideLayouts/_rels/slideLayout22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8.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8.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8.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8.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8.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8.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8.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8.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8.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8.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8.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8.xml"/></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8.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8.xml"/></Relationships>
</file>

<file path=ppt/slideLayouts/_rels/slideLayout23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8.xml"/></Relationships>
</file>

<file path=ppt/slideLayouts/_rels/slideLayout238.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8.xml"/></Relationships>
</file>

<file path=ppt/slideLayouts/_rels/slideLayout23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8.xml"/></Relationships>
</file>

<file path=ppt/slideLayouts/_rels/slideLayout24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8.xml"/></Relationships>
</file>

<file path=ppt/slideLayouts/_rels/slideLayout24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8.xml"/></Relationships>
</file>

<file path=ppt/slideLayouts/_rels/slideLayout24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8.xml"/></Relationships>
</file>

<file path=ppt/slideLayouts/_rels/slideLayout24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8.xml"/></Relationships>
</file>

<file path=ppt/slideLayouts/_rels/slideLayout24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8.xml"/></Relationships>
</file>

<file path=ppt/slideLayouts/_rels/slideLayout24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8.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8.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Master" Target="../slideMasters/slideMaster8.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25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6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9.xml"/></Relationships>
</file>

<file path=ppt/slideLayouts/_rels/slideLayout26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9.xml"/></Relationships>
</file>

<file path=ppt/slideLayouts/_rels/slideLayout2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9.xml"/></Relationships>
</file>

<file path=ppt/slideLayouts/_rels/slideLayout26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9.xml"/></Relationships>
</file>

<file path=ppt/slideLayouts/_rels/slideLayout26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9.xml"/></Relationships>
</file>

<file path=ppt/slideLayouts/_rels/slideLayout2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7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7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7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9.xml"/></Relationships>
</file>

<file path=ppt/slideLayouts/_rels/slideLayout27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9.xml"/></Relationships>
</file>

<file path=ppt/slideLayouts/_rels/slideLayout27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9.xml"/></Relationships>
</file>

<file path=ppt/slideLayouts/_rels/slideLayout27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9.xml"/></Relationships>
</file>

<file path=ppt/slideLayouts/_rels/slideLayout276.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9.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44050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lvl1pPr>
              <a:defRPr>
                <a:solidFill>
                  <a:schemeClr val="tx1"/>
                </a:solidFill>
              </a:defRPr>
            </a:lvl1p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1075695"/>
            <a:ext cx="12192000" cy="73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4792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869781"/>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170878" y="1390650"/>
            <a:ext cx="11468100" cy="292388"/>
          </a:xfrm>
        </p:spPr>
        <p:txBody>
          <a:bodyPr/>
          <a:lstStyle>
            <a:lvl1pPr marL="0" indent="0">
              <a:buNone/>
              <a:defRPr sz="1900" b="1"/>
            </a:lvl1pPr>
            <a:lvl2pPr marL="283368"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3055388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0" y="-2403"/>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09467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12192000" cy="15400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101556" y="-8229"/>
            <a:ext cx="8580301" cy="1548271"/>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98403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43199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5364173" cy="484043"/>
          </a:xfrm>
        </p:spPr>
        <p:txBody>
          <a:bodyPr wrap="square">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66958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1388582"/>
            <a:ext cx="3800474" cy="1744067"/>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365760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388582"/>
            <a:ext cx="2734056" cy="1169551"/>
          </a:xfrm>
        </p:spPr>
        <p:txBody>
          <a:bodyPr vert="horz" lIns="0" tIns="0" rIns="0" bIns="0" rtlCol="0">
            <a:spAutoFit/>
          </a:bodyPr>
          <a:lstStyle>
            <a:lvl1pPr>
              <a:defRPr lang="en-US" sz="19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GB"/>
              <a:t>Click to edit Master title style</a:t>
            </a:r>
            <a:endParaRPr lang="en-US"/>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1748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3543377"/>
            <a:ext cx="8591550" cy="276999"/>
          </a:xfrm>
        </p:spPr>
        <p:txBody>
          <a:bodyPr>
            <a:spAutoFit/>
          </a:bodyPr>
          <a:lstStyle/>
          <a:p>
            <a:r>
              <a:rPr lang="en-GB"/>
              <a:t>Click icon to add chart</a:t>
            </a:r>
            <a:endParaRPr lang="en-US"/>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525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9545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lvl1pPr>
              <a:defRPr>
                <a:solidFill>
                  <a:schemeClr val="tx1"/>
                </a:solidFill>
              </a:defRPr>
            </a:lvl1pPr>
          </a:lstStyle>
          <a:p>
            <a:r>
              <a:rPr lang="en-GB"/>
              <a:t>Click to edit Master title style</a:t>
            </a:r>
            <a:endParaRPr lang="en-US"/>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562391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680212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8615150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1744067"/>
          </a:xfrm>
        </p:spPr>
        <p:txBody>
          <a:bodyPr lIns="0">
            <a:spAutoFit/>
          </a:bodyPr>
          <a:lstStyle>
            <a:lvl1pPr>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66880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1744067"/>
          </a:xfrm>
        </p:spPr>
        <p:txBody>
          <a:bodyPr lIns="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8234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1500"/>
              </a:spcAft>
              <a:buFont typeface="Arial" panose="020B0604020202020204" pitchFamily="34" charset="0"/>
            </a:pPr>
            <a:r>
              <a:rPr lang="en-GB"/>
              <a:t>Click to edit Master title style</a:t>
            </a:r>
            <a:endParaRPr lang="en-US"/>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791769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2209800"/>
            <a:ext cx="3238500" cy="46482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360246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4745736"/>
            <a:ext cx="3226194" cy="2112264"/>
          </a:xfrm>
          <a:prstGeom prst="rect">
            <a:avLst/>
          </a:prstGeom>
        </p:spPr>
      </p:pic>
    </p:spTree>
    <p:extLst>
      <p:ext uri="{BB962C8B-B14F-4D97-AF65-F5344CB8AC3E}">
        <p14:creationId xmlns:p14="http://schemas.microsoft.com/office/powerpoint/2010/main" val="41905642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3238500" y="0"/>
            <a:ext cx="8953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3238500" y="1752600"/>
            <a:ext cx="7797800" cy="51054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tx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6454415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914400" y="780779"/>
            <a:ext cx="2330793" cy="6077221"/>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8" y="1843749"/>
            <a:ext cx="1810884" cy="1461939"/>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071844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a:ln>
            <a:noFill/>
          </a:ln>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1030708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23739572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3733484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21575041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092885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872357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1012190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4959533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69551"/>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2021066"/>
          </a:xfrm>
        </p:spPr>
        <p:txBody>
          <a:bodyPr vert="horz" lIns="0" tIns="0" rIns="0" bIns="0" rtlCol="0">
            <a:spAutoFit/>
          </a:bodyPr>
          <a:lstStyle>
            <a:lvl1pPr marL="142875" marR="0" indent="-142875"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015440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61950" y="326645"/>
            <a:ext cx="5580063" cy="2100073"/>
          </a:xfr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79413" y="2499268"/>
            <a:ext cx="5562600" cy="813594"/>
          </a:xfrm>
        </p:spPr>
        <p:txBody>
          <a:bodyPr vert="horz" lIns="0" tIns="0" rIns="0" bIns="0" rtlCol="0" anchor="t">
            <a:noAutofit/>
          </a:bodyPr>
          <a:lstStyle>
            <a:lvl1pPr marL="0" indent="0">
              <a:buNone/>
              <a:defRPr lang="en-US" sz="26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79525" y="5693264"/>
            <a:ext cx="2283862" cy="1029241"/>
          </a:xfrm>
          <a:prstGeom prst="rect">
            <a:avLst/>
          </a:prstGeom>
        </p:spPr>
      </p:pic>
    </p:spTree>
    <p:extLst>
      <p:ext uri="{BB962C8B-B14F-4D97-AF65-F5344CB8AC3E}">
        <p14:creationId xmlns:p14="http://schemas.microsoft.com/office/powerpoint/2010/main" val="38757130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ingle Column - Simple">
    <p:bg>
      <p:bgPr>
        <a:solidFill>
          <a:schemeClr val="tx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876300"/>
            <a:ext cx="11468100" cy="1744067"/>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sp>
        <p:nvSpPr>
          <p:cNvPr id="10" name="Footer Placeholder 4">
            <a:extLst>
              <a:ext uri="{FF2B5EF4-FFF2-40B4-BE49-F238E27FC236}">
                <a16:creationId xmlns:a16="http://schemas.microsoft.com/office/drawing/2014/main" id="{A78695ED-2F1E-494A-BB48-9F1643AA5F5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8F85B9C0-2FA3-C642-B0A2-F972FA1284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772558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876301"/>
            <a:ext cx="11485563" cy="292388"/>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EF68921A-3D84-0C43-BCF7-2359425BBAF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3C34AF9E-CC5A-D94B-A257-8357FE5D4D4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987985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40A38931-98FA-BE47-B1AE-523C0961A6B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969D2E81-8C3B-0043-9477-955DB211D4CB}"/>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210226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312485"/>
            <a:ext cx="3800474" cy="1744067"/>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3148"/>
            <a:ext cx="3657600" cy="1744067"/>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842516"/>
            <a:ext cx="2734056" cy="1169551"/>
          </a:xfrm>
          <a:prstGeom prst="rect">
            <a:avLst/>
          </a:prstGeom>
        </p:spPr>
        <p:txBody>
          <a:bodyPr vert="horz" lIns="0" tIns="0" rIns="0" bIns="0" rtlCol="0">
            <a:spAutoFit/>
          </a:bodyPr>
          <a:lstStyle>
            <a:lvl1pPr>
              <a:defRPr lang="en-US" sz="19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0" name="Footer Placeholder 4">
            <a:extLst>
              <a:ext uri="{FF2B5EF4-FFF2-40B4-BE49-F238E27FC236}">
                <a16:creationId xmlns:a16="http://schemas.microsoft.com/office/drawing/2014/main" id="{156A0A62-087E-784B-9DD1-38534E1A4B0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8E27B880-B2E3-2C46-B7F9-CAD8D1E9265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794090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2416705"/>
            <a:ext cx="8591550" cy="4079346"/>
          </a:xfrm>
          <a:prstGeom prst="rect">
            <a:avLst/>
          </a:prstGeo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1" name="Text Placeholder 2">
            <a:extLst>
              <a:ext uri="{FF2B5EF4-FFF2-40B4-BE49-F238E27FC236}">
                <a16:creationId xmlns:a16="http://schemas.microsoft.com/office/drawing/2014/main" id="{A208867F-67F6-E940-A59D-2EEB7E6B95FA}"/>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rial" panose="020B0604020202020204" pitchFamily="34" charset="0"/>
              <a:buChar char="•"/>
              <a:defRPr>
                <a:solidFill>
                  <a:schemeClr val="bg1"/>
                </a:solidFill>
              </a:defRPr>
            </a:lvl1pPr>
            <a:lvl2pPr marL="742950" indent="-285750">
              <a:buClr>
                <a:schemeClr val="bg1"/>
              </a:buClr>
              <a:buFont typeface="Arial" panose="020B0604020202020204" pitchFamily="34" charset="0"/>
              <a:buChar char="•"/>
              <a:defRPr>
                <a:solidFill>
                  <a:schemeClr val="bg1"/>
                </a:solidFill>
              </a:defRPr>
            </a:lvl2pPr>
            <a:lvl3pPr marL="1200150" indent="-285750">
              <a:buClr>
                <a:schemeClr val="bg1"/>
              </a:buClr>
              <a:buFont typeface="Arial" panose="020B0604020202020204" pitchFamily="34" charset="0"/>
              <a:buChar char="•"/>
              <a:defRPr>
                <a:solidFill>
                  <a:schemeClr val="bg1"/>
                </a:solidFill>
              </a:defRPr>
            </a:lvl3pPr>
            <a:lvl4pPr marL="1657350" indent="-285750">
              <a:buClr>
                <a:schemeClr val="bg1"/>
              </a:buClr>
              <a:buFont typeface="Arial" panose="020B0604020202020204" pitchFamily="34" charset="0"/>
              <a:buChar char="•"/>
              <a:defRPr>
                <a:solidFill>
                  <a:schemeClr val="bg1"/>
                </a:solidFill>
              </a:defRPr>
            </a:lvl4pPr>
            <a:lvl5pPr marL="2114550" indent="-285750">
              <a:buClr>
                <a:schemeClr val="bg1"/>
              </a:buClr>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11EF6F69-B713-564F-BAF2-3A8E767B5BD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991D8A6-7F67-9440-AF41-53A069C8F40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473670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rial" panose="020B0604020202020204" pitchFamily="34" charset="0"/>
              <a:buChar char="•"/>
              <a:defRPr>
                <a:solidFill>
                  <a:schemeClr val="bg1"/>
                </a:solidFill>
              </a:defRPr>
            </a:lvl1pPr>
            <a:lvl2pPr marL="742950" indent="-285750">
              <a:buClr>
                <a:schemeClr val="bg1"/>
              </a:buClr>
              <a:buFont typeface="Arial" panose="020B0604020202020204" pitchFamily="34" charset="0"/>
              <a:buChar char="•"/>
              <a:defRPr>
                <a:solidFill>
                  <a:schemeClr val="bg1"/>
                </a:solidFill>
              </a:defRPr>
            </a:lvl2pPr>
            <a:lvl3pPr marL="1200150" indent="-285750">
              <a:buClr>
                <a:schemeClr val="bg1"/>
              </a:buClr>
              <a:buFont typeface="Arial" panose="020B0604020202020204" pitchFamily="34" charset="0"/>
              <a:buChar char="•"/>
              <a:defRPr>
                <a:solidFill>
                  <a:schemeClr val="bg1"/>
                </a:solidFill>
              </a:defRPr>
            </a:lvl3pPr>
            <a:lvl4pPr marL="1657350" indent="-285750">
              <a:buClr>
                <a:schemeClr val="bg1"/>
              </a:buClr>
              <a:buFont typeface="Arial" panose="020B0604020202020204" pitchFamily="34" charset="0"/>
              <a:buChar char="•"/>
              <a:defRPr>
                <a:solidFill>
                  <a:schemeClr val="bg1"/>
                </a:solidFill>
              </a:defRPr>
            </a:lvl4pPr>
            <a:lvl5pPr marL="2114550" indent="-285750">
              <a:buClr>
                <a:schemeClr val="bg1"/>
              </a:buClr>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74285A73-5F89-444B-B12F-B9E47CB2DFD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19773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6947089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584D6BBB-8B3E-F84A-B277-B88C35D2A732}"/>
              </a:ext>
            </a:extLst>
          </p:cNvPr>
          <p:cNvPicPr>
            <a:picLocks noChangeAspect="1"/>
          </p:cNvPicPr>
          <p:nvPr userDrawn="1"/>
        </p:nvPicPr>
        <p:blipFill rotWithShape="1">
          <a:blip r:embed="rId3"/>
          <a:srcRect l="2678" r="9374" b="52081"/>
          <a:stretch/>
        </p:blipFill>
        <p:spPr>
          <a:xfrm rot="16200000">
            <a:off x="7539776" y="2205774"/>
            <a:ext cx="6858001" cy="2446450"/>
          </a:xfrm>
          <a:prstGeom prst="rect">
            <a:avLst/>
          </a:prstGeom>
        </p:spPr>
      </p:pic>
    </p:spTree>
    <p:extLst>
      <p:ext uri="{BB962C8B-B14F-4D97-AF65-F5344CB8AC3E}">
        <p14:creationId xmlns:p14="http://schemas.microsoft.com/office/powerpoint/2010/main" val="424557432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p>
            <a:r>
              <a:rPr lang="en-US"/>
              <a:t>Click to edit Master title style</a:t>
            </a:r>
          </a:p>
        </p:txBody>
      </p: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06D1107E-377F-1C4D-825D-2D388EB1CC1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EA424A9-9F99-5C4C-867C-130C2A181E2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781027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1C7891-1362-8010-8830-780659EC8F66}"/>
              </a:ext>
            </a:extLst>
          </p:cNvPr>
          <p:cNvPicPr>
            <a:picLocks noChangeAspect="1"/>
          </p:cNvPicPr>
          <p:nvPr userDrawn="1"/>
        </p:nvPicPr>
        <p:blipFill>
          <a:blip r:embed="rId2"/>
          <a:stretch>
            <a:fillRect/>
          </a:stretch>
        </p:blipFill>
        <p:spPr>
          <a:xfrm>
            <a:off x="1175093"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prstGeom prst="rect">
            <a:avLst/>
          </a:prstGeo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12" name="Footer Placeholder 4">
            <a:extLst>
              <a:ext uri="{FF2B5EF4-FFF2-40B4-BE49-F238E27FC236}">
                <a16:creationId xmlns:a16="http://schemas.microsoft.com/office/drawing/2014/main" id="{62696866-BC8C-9147-9465-61E5AEA4F58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EF17C66D-3409-BF41-8787-FD6B3224F20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Tree>
    <p:extLst>
      <p:ext uri="{BB962C8B-B14F-4D97-AF65-F5344CB8AC3E}">
        <p14:creationId xmlns:p14="http://schemas.microsoft.com/office/powerpoint/2010/main" val="42468700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264690-A606-6B63-BC27-F4A5A5FBC7C4}"/>
              </a:ext>
            </a:extLst>
          </p:cNvPr>
          <p:cNvPicPr>
            <a:picLocks noChangeAspect="1"/>
          </p:cNvPicPr>
          <p:nvPr userDrawn="1"/>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834B8D64-D2B5-B04A-8E1B-280A11CF824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5" name="Footer Placeholder 4">
            <a:extLst>
              <a:ext uri="{FF2B5EF4-FFF2-40B4-BE49-F238E27FC236}">
                <a16:creationId xmlns:a16="http://schemas.microsoft.com/office/drawing/2014/main" id="{D6781EC2-90CC-EA49-9C4F-F63A18DB9A4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6" name="Slide Number Placeholder 5">
            <a:extLst>
              <a:ext uri="{FF2B5EF4-FFF2-40B4-BE49-F238E27FC236}">
                <a16:creationId xmlns:a16="http://schemas.microsoft.com/office/drawing/2014/main" id="{773A6A02-6A23-704D-B348-F117251E3C9B}"/>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2919085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4737100" y="0"/>
            <a:ext cx="7454900" cy="62738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1011652"/>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005012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358406" y="0"/>
            <a:ext cx="10833593" cy="6858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433148"/>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090531"/>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79887805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4292600" y="0"/>
            <a:ext cx="7899400" cy="6858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344507"/>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4346911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72806" y="0"/>
            <a:ext cx="9919194" cy="6858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937059"/>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594442"/>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7843152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1032953"/>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690336"/>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47523" y="0"/>
            <a:ext cx="6844477" cy="6858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6835796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5436844" y="311905"/>
            <a:ext cx="5580063" cy="2100073"/>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5454307" y="2484528"/>
            <a:ext cx="4437855" cy="800219"/>
          </a:xfrm>
          <a:prstGeom prst="rect">
            <a:avLst/>
          </a:prstGeom>
        </p:spPr>
        <p:txBody>
          <a:bodyPr vert="horz" wrap="square" lIns="0" tIns="0" rIns="0" bIns="0" rtlCol="0" anchor="t">
            <a:spAutoFit/>
          </a:bodyPr>
          <a:lstStyle>
            <a:lvl1pPr marL="0" indent="0">
              <a:buNone/>
              <a:defRPr lang="en-US" sz="26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1905000" y="0"/>
            <a:ext cx="10287000" cy="6858000"/>
          </a:xfrm>
          <a:prstGeom prst="rect">
            <a:avLst/>
          </a:prstGeom>
        </p:spPr>
      </p:pic>
    </p:spTree>
    <p:extLst>
      <p:ext uri="{BB962C8B-B14F-4D97-AF65-F5344CB8AC3E}">
        <p14:creationId xmlns:p14="http://schemas.microsoft.com/office/powerpoint/2010/main" val="23390444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7454900" cy="62738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091679" y="1113883"/>
            <a:ext cx="5100321"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38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109142" y="3429000"/>
            <a:ext cx="5084359" cy="307777"/>
          </a:xfrm>
          <a:prstGeom prst="rect">
            <a:avLst/>
          </a:prstGeom>
        </p:spPr>
        <p:txBody>
          <a:bodyPr vert="horz" wrap="square" lIns="0" tIns="0" rIns="0" bIns="0" rtlCol="0" anchor="t">
            <a:spAutoFit/>
          </a:bodyPr>
          <a:lstStyle>
            <a:lvl1pPr marL="0" indent="0">
              <a:buNone/>
              <a:defRPr lang="en-US" sz="2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9551165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552" y="309191"/>
            <a:ext cx="259873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300"/>
              </a:spcBef>
              <a:spcAft>
                <a:spcPts val="300"/>
              </a:spcAft>
            </a:pPr>
            <a:r>
              <a:rPr lang="en-US" sz="1500" b="1">
                <a:solidFill>
                  <a:schemeClr val="tx1"/>
                </a:solidFill>
              </a:rPr>
              <a:t>Rackspace Technology</a:t>
            </a:r>
          </a:p>
          <a:p>
            <a:pPr>
              <a:lnSpc>
                <a:spcPct val="110000"/>
              </a:lnSpc>
              <a:spcBef>
                <a:spcPts val="300"/>
              </a:spcBef>
              <a:spcAft>
                <a:spcPts val="300"/>
              </a:spcAft>
            </a:pPr>
            <a:r>
              <a:rPr lang="en-US" sz="1500">
                <a:solidFill>
                  <a:schemeClr val="tx1"/>
                </a:solidFill>
              </a:rPr>
              <a:t>One Fanatical Place</a:t>
            </a:r>
            <a:br>
              <a:rPr lang="en-US" sz="1500">
                <a:solidFill>
                  <a:schemeClr val="tx1"/>
                </a:solidFill>
              </a:rPr>
            </a:br>
            <a:r>
              <a:rPr lang="en-US" sz="1500">
                <a:solidFill>
                  <a:schemeClr val="tx1"/>
                </a:solidFill>
              </a:rPr>
              <a:t>San Antonio, TX 78218</a:t>
            </a:r>
          </a:p>
          <a:p>
            <a:pPr>
              <a:lnSpc>
                <a:spcPct val="110000"/>
              </a:lnSpc>
              <a:spcBef>
                <a:spcPts val="300"/>
              </a:spcBef>
              <a:spcAft>
                <a:spcPts val="300"/>
              </a:spcAft>
            </a:pPr>
            <a:r>
              <a:rPr lang="en-US" sz="1500">
                <a:solidFill>
                  <a:schemeClr val="tx1"/>
                </a:solidFill>
              </a:rPr>
              <a:t>US sales: 1-800-961-2888 </a:t>
            </a:r>
            <a:br>
              <a:rPr lang="en-US" sz="1500">
                <a:solidFill>
                  <a:schemeClr val="tx1"/>
                </a:solidFill>
              </a:rPr>
            </a:br>
            <a:r>
              <a:rPr lang="en-US" sz="1500">
                <a:solidFill>
                  <a:schemeClr val="tx1"/>
                </a:solidFill>
              </a:rPr>
              <a:t>US support: 1-800-961-4454  </a:t>
            </a:r>
          </a:p>
          <a:p>
            <a:pPr marL="0" algn="l" defTabSz="228600" rtl="0" eaLnBrk="1" latinLnBrk="0" hangingPunct="1">
              <a:lnSpc>
                <a:spcPct val="110000"/>
              </a:lnSpc>
              <a:spcBef>
                <a:spcPts val="300"/>
              </a:spcBef>
              <a:spcAft>
                <a:spcPts val="1800"/>
              </a:spcAft>
            </a:pPr>
            <a:r>
              <a:rPr lang="en-US" sz="1500" b="1" kern="1200" cap="none">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and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914400" rtl="0" eaLnBrk="1" fontAlgn="auto" latinLnBrk="0" hangingPunct="1">
              <a:lnSpc>
                <a:spcPct val="110000"/>
              </a:lnSpc>
              <a:spcBef>
                <a:spcPts val="300"/>
              </a:spcBef>
              <a:spcAft>
                <a:spcPts val="300"/>
              </a:spcAft>
              <a:buClrTx/>
              <a:buSzTx/>
              <a:buFont typeface="Arial" panose="020B0604020202020204" pitchFamily="34" charset="0"/>
              <a:buNone/>
              <a:tabLst/>
              <a:defRPr/>
            </a:pPr>
            <a:endParaRPr lang="en-US" sz="450" cap="none" baseline="0">
              <a:solidFill>
                <a:schemeClr val="tx1"/>
              </a:solidFill>
            </a:endParaRPr>
          </a:p>
          <a:p>
            <a:pPr>
              <a:spcBef>
                <a:spcPts val="300"/>
              </a:spcBef>
              <a:spcAft>
                <a:spcPts val="300"/>
              </a:spcAft>
            </a:pPr>
            <a:endParaRPr lang="en-US" sz="45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35283118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a:solidFill>
                  <a:schemeClr val="tx1"/>
                </a:solidFill>
                <a:latin typeface="+mn-lt"/>
                <a:ea typeface="+mn-ea"/>
                <a:cs typeface="+mn-cs"/>
              </a:rPr>
              <a:t>8 Millington Road</a:t>
            </a:r>
            <a:br>
              <a:rPr lang="en-US" sz="1500" kern="1200">
                <a:solidFill>
                  <a:schemeClr val="tx1"/>
                </a:solidFill>
                <a:latin typeface="+mn-lt"/>
                <a:ea typeface="+mn-ea"/>
                <a:cs typeface="+mn-cs"/>
              </a:rPr>
            </a:br>
            <a:r>
              <a:rPr lang="en-US" sz="1500" kern="1200">
                <a:solidFill>
                  <a:schemeClr val="tx1"/>
                </a:solidFill>
                <a:latin typeface="+mn-lt"/>
                <a:ea typeface="+mn-ea"/>
                <a:cs typeface="+mn-cs"/>
              </a:rPr>
              <a:t>Hayes, Middlesex </a:t>
            </a:r>
            <a:br>
              <a:rPr lang="en-US" sz="1500" kern="1200">
                <a:solidFill>
                  <a:schemeClr val="tx1"/>
                </a:solidFill>
                <a:latin typeface="+mn-lt"/>
                <a:ea typeface="+mn-ea"/>
                <a:cs typeface="+mn-cs"/>
              </a:rPr>
            </a:br>
            <a:r>
              <a:rPr lang="en-US" sz="1500" kern="1200">
                <a:solidFill>
                  <a:schemeClr val="tx1"/>
                </a:solidFill>
                <a:latin typeface="+mn-lt"/>
                <a:ea typeface="+mn-ea"/>
                <a:cs typeface="+mn-cs"/>
              </a:rPr>
              <a:t>UB3 4AZ</a:t>
            </a:r>
          </a:p>
          <a:p>
            <a:pPr>
              <a:lnSpc>
                <a:spcPct val="110000"/>
              </a:lnSpc>
              <a:spcBef>
                <a:spcPts val="300"/>
              </a:spcBef>
              <a:spcAft>
                <a:spcPts val="300"/>
              </a:spcAft>
            </a:pPr>
            <a:r>
              <a:rPr lang="en-US" sz="1500">
                <a:solidFill>
                  <a:schemeClr val="tx1"/>
                </a:solidFill>
              </a:rPr>
              <a:t>U.K. sales: 020 8734 2600  </a:t>
            </a:r>
            <a:br>
              <a:rPr lang="en-US" sz="1500">
                <a:solidFill>
                  <a:schemeClr val="tx1"/>
                </a:solidFill>
              </a:rPr>
            </a:br>
            <a:r>
              <a:rPr lang="en-US" sz="1500">
                <a:solidFill>
                  <a:schemeClr val="tx1"/>
                </a:solidFill>
              </a:rPr>
              <a:t>U.K. support: 020 8734 2700   </a:t>
            </a:r>
          </a:p>
          <a:p>
            <a:pPr marL="0" algn="l" defTabSz="228600" rtl="0" eaLnBrk="1" latinLnBrk="0" hangingPunct="1">
              <a:lnSpc>
                <a:spcPct val="110000"/>
              </a:lnSpc>
              <a:spcBef>
                <a:spcPts val="300"/>
              </a:spcBef>
              <a:spcAft>
                <a:spcPts val="1800"/>
              </a:spcAft>
            </a:pPr>
            <a:r>
              <a:rPr lang="en-US" sz="1500" b="1" kern="1200" cap="none">
                <a:solidFill>
                  <a:schemeClr val="tx1"/>
                </a:solidFill>
                <a:latin typeface="+mn-lt"/>
                <a:ea typeface="+mn-ea"/>
                <a:cs typeface="+mn-cs"/>
              </a:rPr>
              <a:t>www.rackspace.co.uk</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and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a:solidFill>
                <a:schemeClr val="tx1"/>
              </a:solidFill>
            </a:endParaRPr>
          </a:p>
          <a:p>
            <a:pPr>
              <a:spcBef>
                <a:spcPts val="300"/>
              </a:spcBef>
              <a:spcAft>
                <a:spcPts val="300"/>
              </a:spcAft>
            </a:pPr>
            <a:endParaRPr lang="en-US" sz="45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6790271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a:solidFill>
                  <a:schemeClr val="tx1"/>
                </a:solidFill>
                <a:latin typeface="+mn-lt"/>
                <a:ea typeface="+mn-ea"/>
                <a:cs typeface="+mn-cs"/>
              </a:rPr>
              <a:t>Level 1, 37 Pitt Street,</a:t>
            </a:r>
            <a:br>
              <a:rPr lang="en-US" sz="1500" kern="1200">
                <a:solidFill>
                  <a:schemeClr val="tx1"/>
                </a:solidFill>
                <a:latin typeface="+mn-lt"/>
                <a:ea typeface="+mn-ea"/>
                <a:cs typeface="+mn-cs"/>
              </a:rPr>
            </a:br>
            <a:r>
              <a:rPr lang="en-US" sz="1500" kern="1200">
                <a:solidFill>
                  <a:schemeClr val="tx1"/>
                </a:solidFill>
                <a:latin typeface="+mn-lt"/>
                <a:ea typeface="+mn-ea"/>
                <a:cs typeface="+mn-cs"/>
              </a:rPr>
              <a:t>Sydney NSW 2000, Australia</a:t>
            </a:r>
          </a:p>
          <a:p>
            <a:pPr>
              <a:lnSpc>
                <a:spcPct val="110000"/>
              </a:lnSpc>
              <a:spcBef>
                <a:spcPts val="300"/>
              </a:spcBef>
              <a:spcAft>
                <a:spcPts val="300"/>
              </a:spcAft>
            </a:pPr>
            <a:r>
              <a:rPr lang="en-US" sz="1500">
                <a:solidFill>
                  <a:schemeClr val="tx1"/>
                </a:solidFill>
              </a:rPr>
              <a:t>AUS sales: 1-800-722-577</a:t>
            </a:r>
            <a:br>
              <a:rPr lang="en-US" sz="1500">
                <a:solidFill>
                  <a:schemeClr val="tx1"/>
                </a:solidFill>
              </a:rPr>
            </a:br>
            <a:r>
              <a:rPr lang="en-US" sz="1500">
                <a:solidFill>
                  <a:schemeClr val="tx1"/>
                </a:solidFill>
              </a:rPr>
              <a:t>AUS support: 1-800-421-267   </a:t>
            </a:r>
          </a:p>
          <a:p>
            <a:pPr marL="0" algn="l" defTabSz="228600" rtl="0" eaLnBrk="1" latinLnBrk="0" hangingPunct="1">
              <a:lnSpc>
                <a:spcPct val="110000"/>
              </a:lnSpc>
              <a:spcBef>
                <a:spcPts val="300"/>
              </a:spcBef>
              <a:spcAft>
                <a:spcPts val="1800"/>
              </a:spcAft>
            </a:pPr>
            <a:r>
              <a:rPr lang="en-US" sz="1500" b="1" kern="1200" cap="none">
                <a:solidFill>
                  <a:schemeClr val="tx1"/>
                </a:solidFill>
                <a:latin typeface="+mn-lt"/>
                <a:ea typeface="+mn-ea"/>
                <a:cs typeface="+mn-cs"/>
              </a:rPr>
              <a:t>www.rackspace.co.au</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and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a:solidFill>
                <a:schemeClr val="tx1"/>
              </a:solidFill>
            </a:endParaRPr>
          </a:p>
          <a:p>
            <a:pPr>
              <a:spcBef>
                <a:spcPts val="300"/>
              </a:spcBef>
              <a:spcAft>
                <a:spcPts val="300"/>
              </a:spcAft>
            </a:pPr>
            <a:endParaRPr lang="en-US" sz="45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42146199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618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a:solidFill>
                  <a:schemeClr val="tx1"/>
                </a:solidFill>
                <a:latin typeface="+mn-lt"/>
                <a:ea typeface="+mn-ea"/>
                <a:cs typeface="+mn-cs"/>
              </a:rPr>
              <a:t>Rackspace Technology</a:t>
            </a:r>
          </a:p>
          <a:p>
            <a:pPr marL="0" marR="0" lvl="0" indent="0" algn="l" defTabSz="228600" rtl="0" eaLnBrk="1" fontAlgn="auto" latinLnBrk="0" hangingPunct="1">
              <a:lnSpc>
                <a:spcPct val="110000"/>
              </a:lnSpc>
              <a:spcBef>
                <a:spcPts val="300"/>
              </a:spcBef>
              <a:spcAft>
                <a:spcPts val="600"/>
              </a:spcAft>
              <a:buClrTx/>
              <a:buSzTx/>
              <a:buFontTx/>
              <a:buNone/>
              <a:tabLst/>
              <a:defRPr/>
            </a:pPr>
            <a:r>
              <a:rPr lang="en-US" sz="1500" kern="1200" cap="none">
                <a:solidFill>
                  <a:schemeClr val="tx1"/>
                </a:solidFill>
                <a:latin typeface="+mn-lt"/>
                <a:ea typeface="+mn-ea"/>
                <a:cs typeface="+mn-cs"/>
              </a:rPr>
              <a:t>9/F., Cambridge House</a:t>
            </a:r>
            <a:br>
              <a:rPr lang="en-US" sz="1500" kern="1200" cap="none">
                <a:solidFill>
                  <a:schemeClr val="tx1"/>
                </a:solidFill>
                <a:latin typeface="+mn-lt"/>
                <a:ea typeface="+mn-ea"/>
                <a:cs typeface="+mn-cs"/>
              </a:rPr>
            </a:br>
            <a:r>
              <a:rPr lang="en-US" sz="1500" kern="1200" cap="none">
                <a:solidFill>
                  <a:schemeClr val="tx1"/>
                </a:solidFill>
                <a:latin typeface="+mn-lt"/>
                <a:ea typeface="+mn-ea"/>
                <a:cs typeface="+mn-cs"/>
              </a:rPr>
              <a:t>Taikoo Place, 979 King's Road</a:t>
            </a:r>
            <a:br>
              <a:rPr lang="en-US" sz="1500" kern="1200" cap="none">
                <a:solidFill>
                  <a:schemeClr val="tx1"/>
                </a:solidFill>
                <a:latin typeface="+mn-lt"/>
                <a:ea typeface="+mn-ea"/>
                <a:cs typeface="+mn-cs"/>
              </a:rPr>
            </a:br>
            <a:r>
              <a:rPr lang="en-US" sz="1500" kern="1200" cap="none">
                <a:solidFill>
                  <a:schemeClr val="tx1"/>
                </a:solidFill>
                <a:latin typeface="+mn-lt"/>
                <a:ea typeface="+mn-ea"/>
                <a:cs typeface="+mn-cs"/>
              </a:rPr>
              <a:t>Quarry Bay, Hong Kong</a:t>
            </a:r>
          </a:p>
          <a:p>
            <a:pPr marL="0" algn="l" defTabSz="228600" rtl="0" eaLnBrk="1" latinLnBrk="0" hangingPunct="1">
              <a:lnSpc>
                <a:spcPct val="110000"/>
              </a:lnSpc>
              <a:spcBef>
                <a:spcPts val="300"/>
              </a:spcBef>
              <a:spcAft>
                <a:spcPts val="0"/>
              </a:spcAft>
            </a:pPr>
            <a:r>
              <a:rPr lang="en-US" sz="1500" kern="1200" cap="none">
                <a:solidFill>
                  <a:schemeClr val="tx1"/>
                </a:solidFill>
                <a:latin typeface="+mn-lt"/>
                <a:ea typeface="+mn-ea"/>
                <a:cs typeface="+mn-cs"/>
              </a:rPr>
              <a:t>China: +86 21 5058 8808 </a:t>
            </a:r>
          </a:p>
          <a:p>
            <a:pPr marL="0" algn="l" defTabSz="228600" rtl="0" eaLnBrk="1" latinLnBrk="0" hangingPunct="1">
              <a:lnSpc>
                <a:spcPct val="110000"/>
              </a:lnSpc>
              <a:spcBef>
                <a:spcPts val="300"/>
              </a:spcBef>
              <a:spcAft>
                <a:spcPts val="0"/>
              </a:spcAft>
            </a:pPr>
            <a:r>
              <a:rPr lang="en-US" sz="1500" kern="1200" cap="none">
                <a:solidFill>
                  <a:schemeClr val="tx1"/>
                </a:solidFill>
                <a:latin typeface="+mn-lt"/>
                <a:ea typeface="+mn-ea"/>
                <a:cs typeface="+mn-cs"/>
              </a:rPr>
              <a:t>Hong Kong: +852 3752 6488 </a:t>
            </a:r>
          </a:p>
          <a:p>
            <a:pPr marL="0" algn="l" defTabSz="228600" rtl="0" eaLnBrk="1" latinLnBrk="0" hangingPunct="1">
              <a:lnSpc>
                <a:spcPct val="110000"/>
              </a:lnSpc>
              <a:spcBef>
                <a:spcPts val="300"/>
              </a:spcBef>
              <a:spcAft>
                <a:spcPts val="0"/>
              </a:spcAft>
            </a:pPr>
            <a:r>
              <a:rPr lang="en-US" sz="1500" kern="1200" cap="none">
                <a:solidFill>
                  <a:schemeClr val="tx1"/>
                </a:solidFill>
                <a:latin typeface="+mn-lt"/>
                <a:ea typeface="+mn-ea"/>
                <a:cs typeface="+mn-cs"/>
              </a:rPr>
              <a:t>India: 000800 100 8796</a:t>
            </a:r>
          </a:p>
          <a:p>
            <a:pPr marL="0" algn="l" defTabSz="228600" rtl="0" eaLnBrk="1" latinLnBrk="0" hangingPunct="1">
              <a:lnSpc>
                <a:spcPct val="110000"/>
              </a:lnSpc>
              <a:spcBef>
                <a:spcPts val="300"/>
              </a:spcBef>
              <a:spcAft>
                <a:spcPts val="0"/>
              </a:spcAft>
            </a:pPr>
            <a:r>
              <a:rPr lang="en-US" sz="1500" kern="1200" cap="none">
                <a:solidFill>
                  <a:schemeClr val="tx1"/>
                </a:solidFill>
                <a:latin typeface="+mn-lt"/>
                <a:ea typeface="+mn-ea"/>
                <a:cs typeface="+mn-cs"/>
              </a:rPr>
              <a:t>Philippines: 1 800 1110 1468 </a:t>
            </a:r>
          </a:p>
          <a:p>
            <a:pPr marL="0" algn="l" defTabSz="228600" rtl="0" eaLnBrk="1" latinLnBrk="0" hangingPunct="1">
              <a:lnSpc>
                <a:spcPct val="110000"/>
              </a:lnSpc>
              <a:spcBef>
                <a:spcPts val="300"/>
              </a:spcBef>
              <a:spcAft>
                <a:spcPts val="0"/>
              </a:spcAft>
            </a:pPr>
            <a:r>
              <a:rPr lang="en-US" sz="1500" kern="1200" cap="none">
                <a:solidFill>
                  <a:schemeClr val="tx1"/>
                </a:solidFill>
                <a:latin typeface="+mn-lt"/>
                <a:ea typeface="+mn-ea"/>
                <a:cs typeface="+mn-cs"/>
              </a:rPr>
              <a:t>Singapore: +65 6428 6102 </a:t>
            </a:r>
          </a:p>
          <a:p>
            <a:pPr marL="0" algn="l" defTabSz="228600" rtl="0" eaLnBrk="1" latinLnBrk="0" hangingPunct="1">
              <a:lnSpc>
                <a:spcPct val="110000"/>
              </a:lnSpc>
              <a:spcBef>
                <a:spcPts val="300"/>
              </a:spcBef>
              <a:spcAft>
                <a:spcPts val="0"/>
              </a:spcAft>
            </a:pPr>
            <a:r>
              <a:rPr lang="en-US" sz="1500" kern="1200" cap="none">
                <a:solidFill>
                  <a:schemeClr val="tx1"/>
                </a:solidFill>
                <a:latin typeface="+mn-lt"/>
                <a:ea typeface="+mn-ea"/>
                <a:cs typeface="+mn-cs"/>
              </a:rPr>
              <a:t>Taiwan: +886 2 2650 7441</a:t>
            </a:r>
          </a:p>
          <a:p>
            <a:pPr marL="0" algn="l" defTabSz="228600" rtl="0" eaLnBrk="1" latinLnBrk="0" hangingPunct="1">
              <a:lnSpc>
                <a:spcPct val="110000"/>
              </a:lnSpc>
              <a:spcBef>
                <a:spcPts val="300"/>
              </a:spcBef>
              <a:spcAft>
                <a:spcPts val="600"/>
              </a:spcAft>
            </a:pPr>
            <a:r>
              <a:rPr lang="en-US" sz="1500" kern="1200" cap="none">
                <a:solidFill>
                  <a:schemeClr val="tx1"/>
                </a:solidFill>
                <a:latin typeface="+mn-lt"/>
                <a:ea typeface="+mn-ea"/>
                <a:cs typeface="+mn-cs"/>
              </a:rPr>
              <a:t>Thailand: +66 2105 5712 </a:t>
            </a:r>
          </a:p>
          <a:p>
            <a:pPr marL="0" algn="l" defTabSz="228600" rtl="0" eaLnBrk="1" latinLnBrk="0" hangingPunct="1">
              <a:lnSpc>
                <a:spcPct val="110000"/>
              </a:lnSpc>
              <a:spcBef>
                <a:spcPts val="300"/>
              </a:spcBef>
              <a:spcAft>
                <a:spcPts val="1800"/>
              </a:spcAft>
            </a:pPr>
            <a:r>
              <a:rPr lang="en-US" sz="1500" b="1" kern="1200" cap="none">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and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a:solidFill>
                <a:schemeClr val="tx1"/>
              </a:solidFill>
            </a:endParaRPr>
          </a:p>
          <a:p>
            <a:pPr>
              <a:spcBef>
                <a:spcPts val="300"/>
              </a:spcBef>
              <a:spcAft>
                <a:spcPts val="300"/>
              </a:spcAft>
            </a:pPr>
            <a:endParaRPr lang="en-US" sz="45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414859974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838200" y="0"/>
            <a:ext cx="10515600" cy="6858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2823505" y="2807208"/>
            <a:ext cx="6544990" cy="1243584"/>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957089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838200" y="0"/>
            <a:ext cx="10515600" cy="6858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167607" y="2991749"/>
            <a:ext cx="4011558" cy="1243584"/>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79861114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8009424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lvl1pPr>
              <a:defRPr>
                <a:solidFill>
                  <a:schemeClr val="tx1"/>
                </a:solidFill>
              </a:defRPr>
            </a:lvl1p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1075695"/>
            <a:ext cx="12192000" cy="73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989632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869781"/>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170878" y="1390650"/>
            <a:ext cx="11468100" cy="292388"/>
          </a:xfrm>
        </p:spPr>
        <p:txBody>
          <a:bodyPr/>
          <a:lstStyle>
            <a:lvl1pPr marL="0" indent="0">
              <a:buNone/>
              <a:defRPr sz="1900" b="1"/>
            </a:lvl1pPr>
            <a:lvl2pPr marL="283368"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8600801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0" y="-2403"/>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86909211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0" y="0"/>
            <a:ext cx="12667343" cy="760398"/>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1510966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12192000" cy="15400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101556" y="-8229"/>
            <a:ext cx="8580301" cy="1548271"/>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7777990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8845292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5364173" cy="484043"/>
          </a:xfrm>
        </p:spPr>
        <p:txBody>
          <a:bodyPr wrap="square">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0549918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1388582"/>
            <a:ext cx="3800474" cy="1744067"/>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365760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388582"/>
            <a:ext cx="2734056" cy="1169551"/>
          </a:xfrm>
        </p:spPr>
        <p:txBody>
          <a:bodyPr vert="horz" lIns="0" tIns="0" rIns="0" bIns="0" rtlCol="0">
            <a:spAutoFit/>
          </a:bodyPr>
          <a:lstStyle>
            <a:lvl1pPr>
              <a:defRPr lang="en-US" sz="19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GB"/>
              <a:t>Click to edit Master title style</a:t>
            </a:r>
            <a:endParaRPr lang="en-US"/>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22990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3543377"/>
            <a:ext cx="8591550" cy="276999"/>
          </a:xfrm>
        </p:spPr>
        <p:txBody>
          <a:bodyPr>
            <a:spAutoFit/>
          </a:bodyPr>
          <a:lstStyle/>
          <a:p>
            <a:r>
              <a:rPr lang="en-GB"/>
              <a:t>Click icon to add chart</a:t>
            </a:r>
            <a:endParaRPr lang="en-US"/>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540104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8522564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lvl1pPr>
              <a:defRPr>
                <a:solidFill>
                  <a:schemeClr val="tx1"/>
                </a:solidFill>
              </a:defRPr>
            </a:lvl1pPr>
          </a:lstStyle>
          <a:p>
            <a:r>
              <a:rPr lang="en-GB"/>
              <a:t>Click to edit Master title style</a:t>
            </a:r>
            <a:endParaRPr lang="en-US"/>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8558920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96404885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0423666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1744067"/>
          </a:xfrm>
        </p:spPr>
        <p:txBody>
          <a:bodyPr lIns="0">
            <a:spAutoFit/>
          </a:bodyPr>
          <a:lstStyle>
            <a:lvl1pPr>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86234966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1744067"/>
          </a:xfrm>
        </p:spPr>
        <p:txBody>
          <a:bodyPr lIns="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2389172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1500"/>
              </a:spcAft>
              <a:buFont typeface="Arial" panose="020B0604020202020204" pitchFamily="34" charset="0"/>
            </a:pPr>
            <a:r>
              <a:rPr lang="en-GB"/>
              <a:t>Click to edit Master title style</a:t>
            </a:r>
            <a:endParaRPr lang="en-US"/>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0042377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2209800"/>
            <a:ext cx="3238500" cy="46482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1711123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4745736"/>
            <a:ext cx="3226194" cy="2112264"/>
          </a:xfrm>
          <a:prstGeom prst="rect">
            <a:avLst/>
          </a:prstGeom>
        </p:spPr>
      </p:pic>
    </p:spTree>
    <p:extLst>
      <p:ext uri="{BB962C8B-B14F-4D97-AF65-F5344CB8AC3E}">
        <p14:creationId xmlns:p14="http://schemas.microsoft.com/office/powerpoint/2010/main" val="189240614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3238500" y="0"/>
            <a:ext cx="8953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3238500" y="1752600"/>
            <a:ext cx="7797800" cy="51054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tx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6398056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914400" y="780779"/>
            <a:ext cx="2330793" cy="6077221"/>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8" y="1843749"/>
            <a:ext cx="1810884" cy="1461939"/>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5203972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a:ln>
            <a:noFill/>
          </a:ln>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413400416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354346277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100016072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16779029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2885044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1474429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1012190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5869267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69551"/>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2021066"/>
          </a:xfrm>
        </p:spPr>
        <p:txBody>
          <a:bodyPr vert="horz" lIns="0" tIns="0" rIns="0" bIns="0" rtlCol="0">
            <a:spAutoFit/>
          </a:bodyPr>
          <a:lstStyle>
            <a:lvl1pPr marL="142875" marR="0" indent="-142875"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92697185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61950" y="326645"/>
            <a:ext cx="5580063" cy="2100073"/>
          </a:xfr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79413" y="2499268"/>
            <a:ext cx="5562600" cy="813594"/>
          </a:xfrm>
        </p:spPr>
        <p:txBody>
          <a:bodyPr vert="horz" lIns="0" tIns="0" rIns="0" bIns="0" rtlCol="0" anchor="t">
            <a:noAutofit/>
          </a:bodyPr>
          <a:lstStyle>
            <a:lvl1pPr marL="0" indent="0">
              <a:buNone/>
              <a:defRPr lang="en-US" sz="26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79525" y="5693264"/>
            <a:ext cx="2283862" cy="1029241"/>
          </a:xfrm>
          <a:prstGeom prst="rect">
            <a:avLst/>
          </a:prstGeom>
        </p:spPr>
      </p:pic>
    </p:spTree>
    <p:extLst>
      <p:ext uri="{BB962C8B-B14F-4D97-AF65-F5344CB8AC3E}">
        <p14:creationId xmlns:p14="http://schemas.microsoft.com/office/powerpoint/2010/main" val="42032087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cSld name="1/6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1635252"/>
          </a:xfrm>
          <a:ln w="12700">
            <a:noFill/>
          </a:ln>
        </p:spPr>
        <p:txBody>
          <a:bodyPr vert="horz" lIns="0" tIns="0" rIns="0" bIns="0" rtlCol="0" anchor="t" anchorCtr="0">
            <a:noAutofit/>
          </a:bodyPr>
          <a:lstStyle>
            <a:lvl1pPr>
              <a:defRPr lang="en-US" b="0" i="0" dirty="0">
                <a:ln w="9525">
                  <a:noFill/>
                </a:ln>
                <a:solidFill>
                  <a:schemeClr val="bg1"/>
                </a:solidFill>
                <a:latin typeface="Fira Sans" panose="020B0503050000020004" pitchFamily="34" charset="0"/>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b="0" i="0">
                <a:latin typeface="Fira Sans" panose="020B0503050000020004" pitchFamily="34" charset="0"/>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b="0" i="0">
                <a:latin typeface="Fira Sans" panose="020B0503050000020004" pitchFamily="34" charset="0"/>
              </a:defRPr>
            </a:lvl1pPr>
          </a:lstStyle>
          <a:p>
            <a:fld id="{40AB207C-A0B8-4592-A7E1-217EA4542221}" type="slidenum">
              <a:rPr lang="en-GB" smtClean="0"/>
              <a:pPr/>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354405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1"/>
            <a:ext cx="6097524" cy="1215717"/>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b="0" i="0">
                <a:latin typeface="Fira Sans" panose="020B0503050000020004" pitchFamily="34" charset="0"/>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392906"/>
          </a:xfrm>
        </p:spPr>
        <p:txBody>
          <a:bodyPr vert="horz" lIns="0" tIns="0" rIns="0" bIns="0" rtlCol="0">
            <a:noAutofit/>
          </a:bodyPr>
          <a:lstStyle>
            <a:lvl1pPr marL="0" indent="0">
              <a:buNone/>
              <a:defRPr lang="en-US" sz="1900" b="0" i="0">
                <a:ln w="3175">
                  <a:noFill/>
                </a:ln>
                <a:solidFill>
                  <a:schemeClr val="tx2"/>
                </a:solidFill>
                <a:latin typeface="Fira Sans" panose="020B0503050000020004" pitchFamily="34" charset="0"/>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393192"/>
          </a:xfrm>
        </p:spPr>
        <p:txBody>
          <a:bodyPr vert="horz" lIns="0" tIns="0" rIns="0" bIns="0" rtlCol="0">
            <a:noAutofit/>
          </a:bodyPr>
          <a:lstStyle>
            <a:lvl1pPr marL="0" indent="0">
              <a:buNone/>
              <a:defRPr lang="en-US" sz="1900" b="0" i="0">
                <a:ln w="3175">
                  <a:noFill/>
                </a:ln>
                <a:solidFill>
                  <a:schemeClr val="tx2"/>
                </a:solidFill>
                <a:latin typeface="Fira Sans" panose="020B0503050000020004" pitchFamily="34" charset="0"/>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393192"/>
          </a:xfrm>
        </p:spPr>
        <p:txBody>
          <a:bodyPr vert="horz" lIns="0" tIns="0" rIns="0" bIns="0" rtlCol="0">
            <a:noAutofit/>
          </a:bodyPr>
          <a:lstStyle>
            <a:lvl1pPr marL="0" indent="0">
              <a:buNone/>
              <a:defRPr lang="en-US" sz="1900" b="0" i="0">
                <a:ln w="3175">
                  <a:noFill/>
                </a:ln>
                <a:solidFill>
                  <a:schemeClr val="tx2"/>
                </a:solidFill>
                <a:latin typeface="Fira Sans" panose="020B0503050000020004" pitchFamily="34" charset="0"/>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393192"/>
          </a:xfrm>
        </p:spPr>
        <p:txBody>
          <a:bodyPr vert="horz" lIns="0" tIns="0" rIns="0" bIns="0" rtlCol="0">
            <a:noAutofit/>
          </a:bodyPr>
          <a:lstStyle>
            <a:lvl1pPr marL="0" indent="0">
              <a:buNone/>
              <a:defRPr lang="en-US" sz="1900" b="0" i="0">
                <a:ln w="3175">
                  <a:noFill/>
                </a:ln>
                <a:solidFill>
                  <a:schemeClr val="tx2"/>
                </a:solidFill>
                <a:latin typeface="Fira Sans" panose="020B0503050000020004" pitchFamily="34" charset="0"/>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431435"/>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431435"/>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431435"/>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b="0" i="0">
                <a:latin typeface="Fira Sans" panose="020B050305000002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463279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3249541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1075695"/>
            <a:ext cx="12192000" cy="73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373957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869781"/>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170878" y="1390650"/>
            <a:ext cx="11468100" cy="292388"/>
          </a:xfrm>
        </p:spPr>
        <p:txBody>
          <a:bodyPr/>
          <a:lstStyle>
            <a:lvl1pPr marL="0" indent="0">
              <a:buNone/>
              <a:defRPr sz="1900" b="1"/>
            </a:lvl1pPr>
            <a:lvl2pPr marL="283368"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64128784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0" y="-2403"/>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4353644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12192000" cy="15400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101556" y="-8229"/>
            <a:ext cx="8580301" cy="1548271"/>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8232205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1351049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5364173" cy="484043"/>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0223591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1388582"/>
            <a:ext cx="3800474" cy="1744067"/>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365760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388582"/>
            <a:ext cx="2734056" cy="1169551"/>
          </a:xfrm>
        </p:spPr>
        <p:txBody>
          <a:bodyPr vert="horz" lIns="0" tIns="0" rIns="0" bIns="0" rtlCol="0">
            <a:spAutoFit/>
          </a:bodyPr>
          <a:lstStyle>
            <a:lvl1pPr>
              <a:defRPr lang="en-US" sz="19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257282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3543377"/>
            <a:ext cx="8591550" cy="276999"/>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98660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5633315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7266239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7916128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5547356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1744067"/>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66772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1744067"/>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7811496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15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4472740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2209800"/>
            <a:ext cx="3238500" cy="46482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7136762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4745736"/>
            <a:ext cx="3226194" cy="2112264"/>
          </a:xfrm>
          <a:prstGeom prst="rect">
            <a:avLst/>
          </a:prstGeom>
        </p:spPr>
      </p:pic>
    </p:spTree>
    <p:extLst>
      <p:ext uri="{BB962C8B-B14F-4D97-AF65-F5344CB8AC3E}">
        <p14:creationId xmlns:p14="http://schemas.microsoft.com/office/powerpoint/2010/main" val="227465545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3238500" y="0"/>
            <a:ext cx="8953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3238500" y="1752600"/>
            <a:ext cx="7797800" cy="51054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91873398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914400" y="780779"/>
            <a:ext cx="2330793" cy="6077221"/>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8" y="1843749"/>
            <a:ext cx="1810884" cy="1461939"/>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8507617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a:ln>
            <a:noFill/>
          </a:ln>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278035473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143211146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73365126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31444848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1109036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0068534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1012190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6936020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69551"/>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2021066"/>
          </a:xfrm>
        </p:spPr>
        <p:txBody>
          <a:bodyPr vert="horz" lIns="0" tIns="0" rIns="0" bIns="0" rtlCol="0">
            <a:spAutoFit/>
          </a:bodyPr>
          <a:lstStyle>
            <a:lvl1pPr marL="142875" marR="0" indent="-142875"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58476442"/>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61950" y="326645"/>
            <a:ext cx="5580063" cy="2100073"/>
          </a:xfr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79413" y="2499268"/>
            <a:ext cx="5562600" cy="813594"/>
          </a:xfrm>
        </p:spPr>
        <p:txBody>
          <a:bodyPr vert="horz" lIns="0" tIns="0" rIns="0" bIns="0" rtlCol="0" anchor="t">
            <a:noAutofit/>
          </a:bodyPr>
          <a:lstStyle>
            <a:lvl1pPr marL="0" indent="0">
              <a:buNone/>
              <a:defRPr lang="en-US" sz="26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79525" y="5693264"/>
            <a:ext cx="2283862" cy="1029241"/>
          </a:xfrm>
          <a:prstGeom prst="rect">
            <a:avLst/>
          </a:prstGeom>
        </p:spPr>
      </p:pic>
    </p:spTree>
    <p:extLst>
      <p:ext uri="{BB962C8B-B14F-4D97-AF65-F5344CB8AC3E}">
        <p14:creationId xmlns:p14="http://schemas.microsoft.com/office/powerpoint/2010/main" val="361813255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2_Single Column - Simple">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E2ECD493-AF91-8A43-8178-A9C1F5F56C11}"/>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3000" contrast="15000"/>
                    </a14:imgEffect>
                  </a14:imgLayer>
                </a14:imgProps>
              </a:ext>
            </a:extLst>
          </a:blip>
          <a:stretch>
            <a:fillRect/>
          </a:stretch>
        </p:blipFill>
        <p:spPr>
          <a:xfrm>
            <a:off x="0" y="0"/>
            <a:ext cx="12192000" cy="6858000"/>
          </a:xfrm>
          <a:prstGeom prst="rect">
            <a:avLst/>
          </a:prstGeom>
        </p:spPr>
      </p:pic>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1418503022"/>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3CEBEF5-5F64-D477-77CA-127C6A5E8558}"/>
              </a:ext>
            </a:extLst>
          </p:cNvPr>
          <p:cNvSpPr>
            <a:spLocks noGrp="1"/>
          </p:cNvSpPr>
          <p:nvPr>
            <p:ph type="ftr" sz="quarter" idx="10"/>
          </p:nvPr>
        </p:nvSpPr>
        <p:spPr/>
        <p:txBody>
          <a:bodyPr/>
          <a:lstStyle/>
          <a:p>
            <a:endParaRPr lang="en-US"/>
          </a:p>
        </p:txBody>
      </p:sp>
      <p:sp>
        <p:nvSpPr>
          <p:cNvPr id="3" name="Slide Number Placeholder 2">
            <a:extLst>
              <a:ext uri="{FF2B5EF4-FFF2-40B4-BE49-F238E27FC236}">
                <a16:creationId xmlns:a16="http://schemas.microsoft.com/office/drawing/2014/main" id="{28261476-9687-C505-0878-3971DD50217B}"/>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1192444133"/>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3082413" y="0"/>
            <a:ext cx="28022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876300"/>
            <a:ext cx="11468100" cy="561136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607712"/>
          </a:xfrm>
        </p:spPr>
        <p:txBody>
          <a:bodyPr/>
          <a:lstStyle/>
          <a:p>
            <a:r>
              <a:rPr lang="en-US"/>
              <a:t>Click to edit Master title style</a:t>
            </a:r>
          </a:p>
        </p:txBody>
      </p:sp>
    </p:spTree>
    <p:extLst>
      <p:ext uri="{BB962C8B-B14F-4D97-AF65-F5344CB8AC3E}">
        <p14:creationId xmlns:p14="http://schemas.microsoft.com/office/powerpoint/2010/main" val="58678295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3082413" y="0"/>
            <a:ext cx="28022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509701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876301"/>
            <a:ext cx="11485563" cy="5143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607712"/>
          </a:xfrm>
        </p:spPr>
        <p:txBody>
          <a:bodyPr/>
          <a:lstStyle/>
          <a:p>
            <a:r>
              <a:rPr lang="en-US"/>
              <a:t>Click to edit Master title style</a:t>
            </a:r>
          </a:p>
        </p:txBody>
      </p:sp>
    </p:spTree>
    <p:extLst>
      <p:ext uri="{BB962C8B-B14F-4D97-AF65-F5344CB8AC3E}">
        <p14:creationId xmlns:p14="http://schemas.microsoft.com/office/powerpoint/2010/main" val="165503522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p>
            <a:r>
              <a:rPr lang="en-US"/>
              <a:t>Click to edit Master title style</a:t>
            </a:r>
          </a:p>
        </p:txBody>
      </p:sp>
    </p:spTree>
    <p:extLst>
      <p:ext uri="{BB962C8B-B14F-4D97-AF65-F5344CB8AC3E}">
        <p14:creationId xmlns:p14="http://schemas.microsoft.com/office/powerpoint/2010/main" val="50985037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hasCustomPrompt="1"/>
          </p:nvPr>
        </p:nvSpPr>
        <p:spPr>
          <a:xfrm>
            <a:off x="8029577" y="312485"/>
            <a:ext cx="3800474" cy="61753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3148"/>
            <a:ext cx="3657600" cy="6176772"/>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1" y="1842516"/>
            <a:ext cx="2618253" cy="1138428"/>
          </a:xfrm>
        </p:spPr>
        <p:txBody>
          <a:bodyPr vert="horz" lIns="0" tIns="0" rIns="0" bIns="0" rtlCol="0">
            <a:noAutofit/>
          </a:bodyPr>
          <a:lstStyle>
            <a:lvl1pPr>
              <a:defRPr lang="en-US" sz="19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182880"/>
          <a:lstStyle/>
          <a:p>
            <a:endParaRPr lang="en-US"/>
          </a:p>
        </p:txBody>
      </p:sp>
    </p:spTree>
    <p:extLst>
      <p:ext uri="{BB962C8B-B14F-4D97-AF65-F5344CB8AC3E}">
        <p14:creationId xmlns:p14="http://schemas.microsoft.com/office/powerpoint/2010/main" val="341520399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152775" y="2416705"/>
            <a:ext cx="8591550" cy="4079346"/>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310896"/>
            <a:ext cx="8580120" cy="1468660"/>
          </a:xfrm>
        </p:spPr>
        <p:txBody>
          <a:bodyPr lIns="18288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8763442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468660"/>
          </a:xfrm>
        </p:spPr>
        <p:txBody>
          <a:bodyPr lIns="18288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2113947800"/>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58813397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4191000" y="6500158"/>
            <a:ext cx="2873446" cy="243205"/>
          </a:xfrm>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2646062"/>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6175387"/>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DDE50C59-4891-4B61-861D-AFDDCDDDBC49}"/>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60635558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3238500" y="6500158"/>
            <a:ext cx="2759146" cy="243205"/>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A82C6687-F817-452E-A9E5-14021D46A7D9}"/>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61882899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3238500" y="6500158"/>
            <a:ext cx="2823916" cy="243205"/>
          </a:xfrm>
        </p:spPr>
        <p:txBody>
          <a:bodyPr lIns="18288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6175387"/>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CD43B523-15C5-4B07-814A-A20877C99FBE}"/>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16938729"/>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607712"/>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2972151"/>
          </a:xfrm>
        </p:spPr>
        <p:txBody>
          <a:bodyPr lIns="0"/>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D6BEBB49-959A-4EB0-A47F-63B63FBBE2B3}"/>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6807071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2972151"/>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69532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56D9CD07-5AE1-482F-A618-9E43C9B6026D}"/>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37030507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2605049" cy="2972151"/>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3238500" y="876302"/>
            <a:ext cx="2666962" cy="292332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74CDD492-DA90-450D-9611-0AF03FB0F9F3}"/>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5425460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2605049" cy="2972151"/>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3238500" y="1584902"/>
            <a:ext cx="2666962" cy="292332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344489" y="876302"/>
            <a:ext cx="5561013" cy="69532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E10A35F-A572-41B6-9982-B2D09CD00418}"/>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968522180"/>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15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5">
            <a:extLst>
              <a:ext uri="{FF2B5EF4-FFF2-40B4-BE49-F238E27FC236}">
                <a16:creationId xmlns:a16="http://schemas.microsoft.com/office/drawing/2014/main" id="{62A334C7-39E0-4BC9-909A-79A06CAC7E86}"/>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215062295"/>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18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6000"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1500"/>
              </a:spcAft>
              <a:buFont typeface="Arial"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EBA87B6E-F16C-4855-A953-A8C4737FFBD6}"/>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74541935"/>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8972550" y="0"/>
            <a:ext cx="3219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9226296" y="310896"/>
            <a:ext cx="2601468" cy="6176772"/>
          </a:xfrm>
        </p:spPr>
        <p:txBody>
          <a:bodyPr vert="horz" lIns="0" tIns="0" rIns="0" bIns="0" rtlCol="0">
            <a:noAutofit/>
          </a:bodyPr>
          <a:lstStyle>
            <a:lvl1pPr marL="0" indent="0">
              <a:lnSpc>
                <a:spcPct val="110000"/>
              </a:lnSpc>
              <a:buNone/>
              <a:defRPr lang="en-US" sz="2600" dirty="0">
                <a:ln w="3175">
                  <a:noFill/>
                </a:ln>
                <a:solidFill>
                  <a:schemeClr val="bg1"/>
                </a:solidFill>
              </a:defRPr>
            </a:lvl1pPr>
          </a:lstStyle>
          <a:p>
            <a:pPr lvl="0" fontAlgn="base">
              <a:spcAft>
                <a:spcPts val="2625"/>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361951" y="200026"/>
            <a:ext cx="8467725" cy="4752975"/>
          </a:xfrm>
        </p:spPr>
        <p:txBody>
          <a:bodyPr lIns="0"/>
          <a:lstStyle>
            <a:lvl1pPr marL="0" indent="0">
              <a:buFont typeface="Arial" panose="020B0604020202020204" pitchFamily="34" charset="0"/>
              <a:buNone/>
              <a:defRPr lang="en-US" sz="6700" kern="1200" dirty="0">
                <a:ln w="38100">
                  <a:noFill/>
                </a:ln>
                <a:solidFill>
                  <a:srgbClr val="EB0000"/>
                </a:solidFill>
                <a:latin typeface="+mj-lt"/>
                <a:ea typeface="+mj-ea"/>
                <a:cs typeface="+mj-cs"/>
              </a:defRPr>
            </a:lvl1pPr>
          </a:lstStyle>
          <a:p>
            <a:pPr marL="142875" lvl="0" indent="-142875" fontAlgn="b">
              <a:lnSpc>
                <a:spcPct val="112000"/>
              </a:lnSpc>
              <a:spcBef>
                <a:spcPct val="0"/>
              </a:spcBef>
            </a:pPr>
            <a:r>
              <a:rPr lang="en-US"/>
              <a:t>Callout slide</a:t>
            </a:r>
          </a:p>
        </p:txBody>
      </p:sp>
      <p:pic>
        <p:nvPicPr>
          <p:cNvPr id="11" name="Picture 10">
            <a:extLst>
              <a:ext uri="{FF2B5EF4-FFF2-40B4-BE49-F238E27FC236}">
                <a16:creationId xmlns:a16="http://schemas.microsoft.com/office/drawing/2014/main" id="{D4434CB0-2D97-49C4-9549-325F9A985CA1}"/>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15817214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8972550" y="0"/>
            <a:ext cx="321945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9220199" y="314326"/>
            <a:ext cx="2619375" cy="6172200"/>
          </a:xfrm>
        </p:spPr>
        <p:txBody>
          <a:bodyPr lIns="0"/>
          <a:lstStyle>
            <a:lvl1pPr marL="0" indent="0">
              <a:lnSpc>
                <a:spcPct val="110000"/>
              </a:lnSpc>
              <a:buNone/>
              <a:defRPr sz="2600">
                <a:solidFill>
                  <a:schemeClr val="bg1"/>
                </a:solidFill>
              </a:defRPr>
            </a:lvl1pPr>
            <a:lvl2pPr marL="283368" indent="0">
              <a:buNone/>
              <a:defRPr sz="2600">
                <a:solidFill>
                  <a:schemeClr val="bg1"/>
                </a:solidFill>
              </a:defRPr>
            </a:lvl2pPr>
            <a:lvl3pPr marL="566737" indent="0">
              <a:buNone/>
              <a:defRPr sz="2600">
                <a:solidFill>
                  <a:schemeClr val="bg1"/>
                </a:solidFill>
              </a:defRPr>
            </a:lvl3pPr>
            <a:lvl4pPr marL="850106" indent="0">
              <a:buNone/>
              <a:defRPr sz="2600">
                <a:solidFill>
                  <a:schemeClr val="bg1"/>
                </a:solidFill>
              </a:defRPr>
            </a:lvl4pPr>
            <a:lvl5pPr marL="1133475" indent="0">
              <a:buNone/>
              <a:defRPr sz="2600">
                <a:solidFill>
                  <a:schemeClr val="bg1"/>
                </a:solidFill>
              </a:defRPr>
            </a:lvl5pPr>
          </a:lstStyle>
          <a:p>
            <a:pPr lvl="0"/>
            <a:r>
              <a:rPr lang="en-US"/>
              <a:t>Additional information if needed</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292609" y="196596"/>
            <a:ext cx="8596049" cy="5244314"/>
          </a:xfrm>
          <a:ln w="12700">
            <a:noFill/>
          </a:ln>
        </p:spPr>
        <p:txBody>
          <a:bodyPr vert="horz" lIns="0" tIns="0" rIns="0" bIns="0" rtlCol="0" anchor="t" anchorCtr="0">
            <a:noAutofit/>
          </a:bodyPr>
          <a:lstStyle>
            <a:lvl1pPr marL="0" indent="0">
              <a:buNone/>
              <a:defRPr lang="en-US" sz="6700" i="1" dirty="0">
                <a:ln w="38100">
                  <a:noFill/>
                </a:ln>
                <a:solidFill>
                  <a:srgbClr val="EB0000"/>
                </a:solidFill>
                <a:latin typeface="+mj-lt"/>
                <a:ea typeface="+mj-ea"/>
                <a:cs typeface="+mj-cs"/>
              </a:defRPr>
            </a:lvl1pPr>
          </a:lstStyle>
          <a:p>
            <a:pPr marL="142875" lvl="0" indent="-142875"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345387" y="5407018"/>
            <a:ext cx="8553450" cy="400050"/>
          </a:xfrm>
        </p:spPr>
        <p:txBody>
          <a:bodyPr vert="horz" lIns="0" tIns="0" rIns="0" bIns="0" rtlCol="0">
            <a:noAutofit/>
          </a:bodyPr>
          <a:lstStyle>
            <a:lvl1pPr marL="0" indent="0">
              <a:buNone/>
              <a:defRPr lang="en-US" sz="1800" smtClean="0">
                <a:solidFill>
                  <a:schemeClr val="tx1"/>
                </a:solidFill>
              </a:defRPr>
            </a:lvl1pPr>
            <a:lvl2pPr>
              <a:defRPr lang="en-US" smtClean="0"/>
            </a:lvl2pPr>
            <a:lvl3pPr>
              <a:defRPr lang="en-US" smtClean="0"/>
            </a:lvl3pPr>
            <a:lvl4pPr>
              <a:defRPr lang="en-US" smtClean="0"/>
            </a:lvl4pPr>
            <a:lvl5pPr>
              <a:defRPr lang="en-US"/>
            </a:lvl5pPr>
          </a:lstStyle>
          <a:p>
            <a:pPr marL="142875" lvl="0" indent="-142875"/>
            <a:r>
              <a:rPr lang="en-US"/>
              <a:t>Quote Source (Name)</a:t>
            </a:r>
          </a:p>
        </p:txBody>
      </p:sp>
      <p:pic>
        <p:nvPicPr>
          <p:cNvPr id="9" name="Picture 8">
            <a:extLst>
              <a:ext uri="{FF2B5EF4-FFF2-40B4-BE49-F238E27FC236}">
                <a16:creationId xmlns:a16="http://schemas.microsoft.com/office/drawing/2014/main" id="{841E7A66-D870-4C1E-9E6E-1A17919A41F5}"/>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2647384165"/>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E1422F4A-F341-4586-A8F8-46D4C7276617}"/>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58670007"/>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B5845AAA-BED0-4398-B713-72768175EACE}"/>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13615032"/>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6096000" cy="3429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2347946"/>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392906"/>
          </a:xfrm>
          <a:ln>
            <a:noFill/>
          </a:ln>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393192"/>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393192"/>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393192"/>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37199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371737"/>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371737"/>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371737"/>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3" name="Picture 22">
            <a:extLst>
              <a:ext uri="{FF2B5EF4-FFF2-40B4-BE49-F238E27FC236}">
                <a16:creationId xmlns:a16="http://schemas.microsoft.com/office/drawing/2014/main" id="{A5EF6E62-49B7-4648-BD94-6E22AA138C49}"/>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077596855"/>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6096000" cy="1905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163525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354405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392906"/>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393192"/>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393192"/>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393192"/>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7" name="Picture 16">
            <a:extLst>
              <a:ext uri="{FF2B5EF4-FFF2-40B4-BE49-F238E27FC236}">
                <a16:creationId xmlns:a16="http://schemas.microsoft.com/office/drawing/2014/main" id="{003C9149-C5DE-41D7-AA30-BF91FED573C2}"/>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458614985"/>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1138428"/>
          </a:xfrm>
        </p:spPr>
        <p:txBody>
          <a:bodyPr vert="horz" lIns="0" tIns="0" rIns="0" bIns="0" rtlCol="0">
            <a:noAutofit/>
          </a:bodyPr>
          <a:lstStyle>
            <a:lvl1pPr marL="11113" indent="-11113" algn="l">
              <a:buFontTx/>
              <a:buNone/>
              <a:tabLst/>
              <a:defRPr lang="en-US" sz="1900" dirty="0">
                <a:ln w="3175">
                  <a:noFill/>
                </a:ln>
                <a:solidFill>
                  <a:schemeClr val="bg1"/>
                </a:solidFill>
              </a:defRPr>
            </a:lvl1pPr>
          </a:lstStyle>
          <a:p>
            <a:pPr marL="142875" lvl="0" indent="-142875"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2868613"/>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5">
            <a:extLst>
              <a:ext uri="{FF2B5EF4-FFF2-40B4-BE49-F238E27FC236}">
                <a16:creationId xmlns:a16="http://schemas.microsoft.com/office/drawing/2014/main" id="{D54D659C-D8FD-4F93-8C77-B8A55AFB2AE7}"/>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12019276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1138428"/>
          </a:xfrm>
        </p:spPr>
        <p:txBody>
          <a:bodyPr vert="horz" lIns="0" tIns="0" rIns="0" bIns="0" rtlCol="0">
            <a:no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1531053"/>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2868613"/>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1" name="Freeform 5">
            <a:extLst>
              <a:ext uri="{FF2B5EF4-FFF2-40B4-BE49-F238E27FC236}">
                <a16:creationId xmlns:a16="http://schemas.microsoft.com/office/drawing/2014/main" id="{E2A96162-D306-4576-A5C2-48AEDBC2AE86}"/>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48903098"/>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38428"/>
          </a:xfrm>
        </p:spPr>
        <p:txBody>
          <a:bodyPr vert="horz" lIns="0" tIns="0" rIns="0" bIns="0" rtlCol="0">
            <a:no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6176772"/>
          </a:xfrm>
        </p:spPr>
        <p:txBody>
          <a:bodyPr vert="horz" lIns="0" tIns="0" rIns="0" bIns="0" rtlCol="0">
            <a:noAutofit/>
          </a:bodyPr>
          <a:lstStyle>
            <a:lvl1pPr marL="142875" marR="0" indent="-142875" algn="l" defTabSz="914400" rtl="0" eaLnBrk="1" fontAlgn="auto" latinLnBrk="0" hangingPunct="1">
              <a:lnSpc>
                <a:spcPct val="100000"/>
              </a:lnSpc>
              <a:spcBef>
                <a:spcPts val="0"/>
              </a:spcBef>
              <a:spcAft>
                <a:spcPts val="1500"/>
              </a:spcAft>
              <a:buClr>
                <a:schemeClr val="bg1"/>
              </a:buClr>
              <a:buSzTx/>
              <a:buFont typeface="Arial"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1500"/>
              </a:spcAft>
              <a:buClr>
                <a:schemeClr val="bg1"/>
              </a:buClr>
              <a:buSzTx/>
              <a:buFont typeface="Arial"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1500"/>
              </a:spcAft>
              <a:buClr>
                <a:schemeClr val="bg1"/>
              </a:buClr>
              <a:buSzTx/>
              <a:buFont typeface="Arial"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1500"/>
              </a:spcAft>
              <a:buClr>
                <a:schemeClr val="bg1"/>
              </a:buClr>
              <a:buSzTx/>
              <a:buFont typeface="Arial"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15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DE5BFC79-186A-4929-B2E7-4CC5D37CF893}"/>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89087590"/>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31751B68-E87A-4B97-835D-658C3BACD65D}"/>
              </a:ext>
            </a:extLst>
          </p:cNvPr>
          <p:cNvSpPr>
            <a:spLocks noGrp="1"/>
          </p:cNvSpPr>
          <p:nvPr>
            <p:ph sz="quarter" idx="13"/>
          </p:nvPr>
        </p:nvSpPr>
        <p:spPr>
          <a:xfrm>
            <a:off x="323850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2943A067-BA21-420F-B462-83F14269CE4A}"/>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41759353"/>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8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4476" y="365760"/>
            <a:ext cx="2878074" cy="203454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53601784-4D78-4579-A49D-1EDD743CA563}"/>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D263A39B-32BF-4C6F-BD0D-5E8D082789DB}"/>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27836288"/>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userDrawn="1">
  <p:cSld name="Image Slide - case study">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2110740" y="6500158"/>
            <a:ext cx="2759146" cy="243205"/>
          </a:xfrm>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hasCustomPrompt="1"/>
          </p:nvPr>
        </p:nvSpPr>
        <p:spPr>
          <a:xfrm>
            <a:off x="334496" y="268589"/>
            <a:ext cx="5571004" cy="607712"/>
          </a:xfrm>
        </p:spPr>
        <p:txBody>
          <a:bodyPr/>
          <a:lstStyle>
            <a:lvl1pPr>
              <a:defRPr kumimoji="0" lang="en-US" sz="2400" i="0" u="none" strike="noStrike" kern="1200" cap="none" spc="0" normalizeH="0" baseline="0" dirty="0">
                <a:ln>
                  <a:noFill/>
                </a:ln>
                <a:solidFill>
                  <a:schemeClr val="tx2"/>
                </a:solidFill>
                <a:effectLst/>
                <a:uLnTx/>
                <a:uFillTx/>
                <a:latin typeface="Arial"/>
                <a:ea typeface="+mn-ea"/>
                <a:cs typeface="+mn-cs"/>
              </a:defRPr>
            </a:lvl1pPr>
          </a:lstStyle>
          <a:p>
            <a:pPr marL="0" marR="0" lvl="0" indent="0" algn="l" defTabSz="228600" rtl="0" eaLnBrk="1" fontAlgn="auto" latinLnBrk="0" hangingPunct="1">
              <a:lnSpc>
                <a:spcPct val="100000"/>
              </a:lnSpc>
              <a:spcBef>
                <a:spcPts val="0"/>
              </a:spcBef>
              <a:spcAft>
                <a:spcPts val="0"/>
              </a:spcAft>
              <a:buClrTx/>
              <a:buSzTx/>
              <a:buFontTx/>
              <a:buNone/>
              <a:tabLst/>
              <a:defRPr/>
            </a:pPr>
            <a:r>
              <a:rPr lang="en-US"/>
              <a:t>Case study</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200152"/>
            <a:ext cx="5557799" cy="5295898"/>
          </a:xfrm>
        </p:spPr>
        <p:txBody>
          <a:bodyPr lIns="0"/>
          <a:lstStyle>
            <a:lvl1pPr marL="0" indent="0">
              <a:spcBef>
                <a:spcPts val="2400"/>
              </a:spcBef>
              <a:spcAft>
                <a:spcPts val="0"/>
              </a:spcAft>
              <a:buNone/>
              <a:defRPr sz="2000" b="1"/>
            </a:lvl1pPr>
            <a:lvl2pPr marL="283368" indent="0">
              <a:spcBef>
                <a:spcPts val="300"/>
              </a:spcBef>
              <a:spcAft>
                <a:spcPts val="300"/>
              </a:spcAft>
              <a:buNone/>
              <a:defRPr/>
            </a:lvl2pPr>
            <a:lvl3pPr marL="566737" indent="0">
              <a:spcBef>
                <a:spcPts val="300"/>
              </a:spcBef>
              <a:spcAft>
                <a:spcPts val="300"/>
              </a:spcAft>
              <a:buNone/>
              <a:defRPr/>
            </a:lvl3pPr>
            <a:lvl4pPr marL="850106" indent="0">
              <a:spcBef>
                <a:spcPts val="300"/>
              </a:spcBef>
              <a:spcAft>
                <a:spcPts val="300"/>
              </a:spcAft>
              <a:buNone/>
              <a:defRPr/>
            </a:lvl4pPr>
            <a:lvl5pPr marL="1133475" indent="0">
              <a:spcBef>
                <a:spcPts val="300"/>
              </a:spcBef>
              <a:spcAft>
                <a:spcPts val="300"/>
              </a:spcAft>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D4200C12-46D4-4518-A0B7-3701251A4FB1}"/>
              </a:ext>
            </a:extLst>
          </p:cNvPr>
          <p:cNvSpPr>
            <a:spLocks noGrp="1"/>
          </p:cNvSpPr>
          <p:nvPr>
            <p:ph sz="quarter" idx="16"/>
          </p:nvPr>
        </p:nvSpPr>
        <p:spPr>
          <a:xfrm>
            <a:off x="6096000" y="5942052"/>
            <a:ext cx="6096000" cy="553998"/>
          </a:xfrm>
          <a:solidFill>
            <a:schemeClr val="bg2"/>
          </a:solidFill>
        </p:spPr>
        <p:txBody>
          <a:bodyPr wrap="square" lIns="182880" tIns="91440" rIns="182880" bIns="182880" anchor="b" anchorCtr="0">
            <a:spAutoFit/>
          </a:bodyPr>
          <a:lstStyle>
            <a:lvl1pPr marL="60325" indent="-60325" algn="l" defTabSz="914400" rtl="0" eaLnBrk="1" latinLnBrk="0" hangingPunct="1">
              <a:lnSpc>
                <a:spcPct val="100000"/>
              </a:lnSpc>
              <a:spcBef>
                <a:spcPts val="1200"/>
              </a:spcBef>
              <a:spcAft>
                <a:spcPts val="0"/>
              </a:spcAft>
              <a:buClr>
                <a:schemeClr val="tx2"/>
              </a:buClr>
              <a:buFont typeface="Arial" panose="020B0604020202020204" pitchFamily="34" charset="0"/>
              <a:buNone/>
              <a:defRPr lang="en-US" sz="1800" kern="1200" dirty="0" smtClean="0">
                <a:ln>
                  <a:noFill/>
                </a:ln>
                <a:solidFill>
                  <a:prstClr val="white"/>
                </a:solidFill>
                <a:latin typeface="+mn-lt"/>
                <a:ea typeface="+mn-ea"/>
                <a:cs typeface="+mn-cs"/>
              </a:defRPr>
            </a:lvl1pPr>
            <a:lvl2pPr>
              <a:defRPr lang="en-US" sz="900" smtClean="0"/>
            </a:lvl2pPr>
            <a:lvl3pPr>
              <a:defRPr lang="en-US" sz="900" smtClean="0"/>
            </a:lvl3pPr>
            <a:lvl4pPr>
              <a:defRPr lang="en-US" sz="900" smtClean="0"/>
            </a:lvl4pPr>
            <a:lvl5pPr>
              <a:defRPr lang="en-US" sz="900"/>
            </a:lvl5pPr>
          </a:lstStyle>
          <a:p>
            <a:pPr marL="74613" lvl="0" indent="-74613" defTabSz="228600"/>
            <a:r>
              <a:rPr lang="en-US"/>
              <a:t>Click to edit Master text styles</a:t>
            </a:r>
          </a:p>
        </p:txBody>
      </p:sp>
      <p:sp>
        <p:nvSpPr>
          <p:cNvPr id="9" name="Picture Placeholder 8">
            <a:extLst>
              <a:ext uri="{FF2B5EF4-FFF2-40B4-BE49-F238E27FC236}">
                <a16:creationId xmlns:a16="http://schemas.microsoft.com/office/drawing/2014/main" id="{F8BB2227-3D4D-4CC6-A74E-E59F4C42E1E7}"/>
              </a:ext>
            </a:extLst>
          </p:cNvPr>
          <p:cNvSpPr>
            <a:spLocks noGrp="1"/>
          </p:cNvSpPr>
          <p:nvPr>
            <p:ph type="pic" sz="quarter" idx="17" hasCustomPrompt="1"/>
          </p:nvPr>
        </p:nvSpPr>
        <p:spPr>
          <a:xfrm>
            <a:off x="4236692" y="6111829"/>
            <a:ext cx="1666875" cy="550862"/>
          </a:xfrm>
        </p:spPr>
        <p:txBody>
          <a:bodyPr anchor="ctr" anchorCtr="0"/>
          <a:lstStyle>
            <a:lvl1pPr marL="0" indent="0" algn="ctr">
              <a:buNone/>
              <a:defRPr b="0">
                <a:solidFill>
                  <a:schemeClr val="tx1"/>
                </a:solidFill>
                <a:highlight>
                  <a:srgbClr val="FFFF00"/>
                </a:highlight>
              </a:defRPr>
            </a:lvl1pPr>
          </a:lstStyle>
          <a:p>
            <a:r>
              <a:rPr lang="en-US"/>
              <a:t>LOGO</a:t>
            </a:r>
          </a:p>
        </p:txBody>
      </p:sp>
      <p:pic>
        <p:nvPicPr>
          <p:cNvPr id="10" name="Picture 9">
            <a:extLst>
              <a:ext uri="{FF2B5EF4-FFF2-40B4-BE49-F238E27FC236}">
                <a16:creationId xmlns:a16="http://schemas.microsoft.com/office/drawing/2014/main" id="{E26D4CF9-DA02-47C6-9FC8-B0A3A9F7ADDE}"/>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798244264"/>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5949687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62B4C78-B914-4446-A66F-140BF3BF0639}"/>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82537354"/>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6096000" cy="3429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2347946"/>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3911602"/>
            <a:ext cx="2604228" cy="2551857"/>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392906"/>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3563605"/>
            <a:ext cx="2608263"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3563605"/>
            <a:ext cx="2608307"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3563605"/>
            <a:ext cx="2608322"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40" y="3902784"/>
            <a:ext cx="2605524"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3911077"/>
            <a:ext cx="2604669"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3911077"/>
            <a:ext cx="2604669"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BE21847E-13F4-4E38-8691-D656AF93AA4A}"/>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02605433"/>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6096000"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163525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354405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392906"/>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22BED7DB-D222-46CF-9B99-F1C631E2EF7F}"/>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5834253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accent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6A2D20C4-66D0-4CE2-8BD3-9DDCFA49A2E1}"/>
              </a:ext>
            </a:extLst>
          </p:cNvPr>
          <p:cNvSpPr>
            <a:spLocks noGrp="1"/>
          </p:cNvSpPr>
          <p:nvPr>
            <p:ph sz="quarter" idx="13"/>
          </p:nvPr>
        </p:nvSpPr>
        <p:spPr>
          <a:xfrm>
            <a:off x="323850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31A78552-D992-4658-BA5E-E928AC9D8C8B}"/>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96902397"/>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6000" y="365760"/>
            <a:ext cx="2878074" cy="203454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01DF4AB6-0CA0-4F6F-A402-D64FFDDB2FD6}"/>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7AB3128C-224A-4FCF-B9C8-5AC4ED524CB1}"/>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0861492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3238501" y="312485"/>
            <a:ext cx="8580301" cy="6175387"/>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5">
            <a:extLst>
              <a:ext uri="{FF2B5EF4-FFF2-40B4-BE49-F238E27FC236}">
                <a16:creationId xmlns:a16="http://schemas.microsoft.com/office/drawing/2014/main" id="{9805233A-26E2-42B0-A929-15D77E5D60AD}"/>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63399336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2462C2CF-31F5-416E-BCB4-4A82A49459DE}"/>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46339470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6096000" cy="3429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2347946"/>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3911602"/>
            <a:ext cx="2604228" cy="2551857"/>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392906"/>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3563605"/>
            <a:ext cx="2608263"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3563605"/>
            <a:ext cx="2532437"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3563605"/>
            <a:ext cx="2608322"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3911077"/>
            <a:ext cx="2605524"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3911077"/>
            <a:ext cx="2528905"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3911077"/>
            <a:ext cx="2604669"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79D19EE4-D3FD-46BD-90D3-24A8C4336495}"/>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34986803"/>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6096000" cy="1905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163525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354405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392906"/>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8FBD6D32-C64B-4DE4-BF37-7CF847BA88C8}"/>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51079711"/>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B3DF85A6-1AD2-4BCB-AAB5-75DBE64F6165}"/>
              </a:ext>
            </a:extLst>
          </p:cNvPr>
          <p:cNvSpPr>
            <a:spLocks noGrp="1"/>
          </p:cNvSpPr>
          <p:nvPr>
            <p:ph sz="quarter" idx="13"/>
          </p:nvPr>
        </p:nvSpPr>
        <p:spPr>
          <a:xfrm>
            <a:off x="323850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95EB7D96-D7B0-4CDD-8226-A5B6926114B1}"/>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612472842"/>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4476" y="365760"/>
            <a:ext cx="2878074" cy="203454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DE114E42-B9CD-419F-AF34-28A5B96009CA}"/>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58B04D86-084D-4319-96B9-CA48FBCF4170}"/>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9941694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DBBA3A1-69C1-4D01-8B53-E978A8064861}"/>
              </a:ext>
            </a:extLst>
          </p:cNvPr>
          <p:cNvSpPr>
            <a:spLocks noGrp="1"/>
          </p:cNvSpPr>
          <p:nvPr>
            <p:ph type="ftr" sz="quarter" idx="10"/>
          </p:nvPr>
        </p:nvSpPr>
        <p:spPr/>
        <p:txBody>
          <a:bodyPr/>
          <a:lstStyle/>
          <a:p>
            <a:endParaRPr lang="en-US"/>
          </a:p>
        </p:txBody>
      </p:sp>
      <p:sp>
        <p:nvSpPr>
          <p:cNvPr id="3" name="Slide Number Placeholder 2">
            <a:extLst>
              <a:ext uri="{FF2B5EF4-FFF2-40B4-BE49-F238E27FC236}">
                <a16:creationId xmlns:a16="http://schemas.microsoft.com/office/drawing/2014/main" id="{3D39B1F1-E106-4F0C-B5A7-04087B56033A}"/>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385788146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userDrawn="1">
  <p:cSld name="Title_Only">
    <p:spTree>
      <p:nvGrpSpPr>
        <p:cNvPr id="1" name=""/>
        <p:cNvGrpSpPr/>
        <p:nvPr/>
      </p:nvGrpSpPr>
      <p:grpSpPr>
        <a:xfrm>
          <a:off x="0" y="0"/>
          <a:ext cx="0" cy="0"/>
          <a:chOff x="0" y="0"/>
          <a:chExt cx="0" cy="0"/>
        </a:xfrm>
      </p:grpSpPr>
      <p:sp>
        <p:nvSpPr>
          <p:cNvPr id="2" name="Title 1"/>
          <p:cNvSpPr>
            <a:spLocks noGrp="1"/>
          </p:cNvSpPr>
          <p:nvPr>
            <p:ph type="title"/>
          </p:nvPr>
        </p:nvSpPr>
        <p:spPr>
          <a:xfrm>
            <a:off x="269875" y="289511"/>
            <a:ext cx="11652356" cy="899665"/>
          </a:xfrm>
        </p:spPr>
        <p:txBody>
          <a:bodyPr lIns="182880" tIns="146304" rIns="182880" bIns="146304"/>
          <a:lstStyle/>
          <a:p>
            <a:r>
              <a:rPr lang="en-US"/>
              <a:t>Click to edit Master title style</a:t>
            </a:r>
          </a:p>
        </p:txBody>
      </p:sp>
    </p:spTree>
    <p:extLst>
      <p:ext uri="{BB962C8B-B14F-4D97-AF65-F5344CB8AC3E}">
        <p14:creationId xmlns:p14="http://schemas.microsoft.com/office/powerpoint/2010/main" val="3788445184"/>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634ACE52-CAB4-1020-8498-005BFDB5EAE3}"/>
              </a:ext>
              <a:ext uri="{C183D7F6-B498-43B3-948B-1728B52AA6E4}">
                <adec:decorative xmlns:adec="http://schemas.microsoft.com/office/drawing/2017/decorative" val="1"/>
              </a:ext>
            </a:extLst>
          </p:cNvPr>
          <p:cNvGrpSpPr/>
          <p:nvPr userDrawn="1"/>
        </p:nvGrpSpPr>
        <p:grpSpPr>
          <a:xfrm>
            <a:off x="-1" y="-1"/>
            <a:ext cx="12193730" cy="6858001"/>
            <a:chOff x="-1" y="-1"/>
            <a:chExt cx="12436476" cy="6994526"/>
          </a:xfrm>
        </p:grpSpPr>
        <p:pic>
          <p:nvPicPr>
            <p:cNvPr id="4" name="Picture 3">
              <a:extLst>
                <a:ext uri="{FF2B5EF4-FFF2-40B4-BE49-F238E27FC236}">
                  <a16:creationId xmlns:a16="http://schemas.microsoft.com/office/drawing/2014/main" id="{42A55C81-93EC-F3F5-1217-D2263732165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25700" y="-1"/>
              <a:ext cx="10010775" cy="6994525"/>
            </a:xfrm>
            <a:prstGeom prst="rect">
              <a:avLst/>
            </a:prstGeom>
          </p:spPr>
        </p:pic>
        <p:sp>
          <p:nvSpPr>
            <p:cNvPr id="6" name="Rectangle 5">
              <a:extLst>
                <a:ext uri="{FF2B5EF4-FFF2-40B4-BE49-F238E27FC236}">
                  <a16:creationId xmlns:a16="http://schemas.microsoft.com/office/drawing/2014/main" id="{165A7E42-984F-E51A-A540-0657CB104A06}"/>
                </a:ext>
                <a:ext uri="{C183D7F6-B498-43B3-948B-1728B52AA6E4}">
                  <adec:decorative xmlns:adec="http://schemas.microsoft.com/office/drawing/2017/decorative" val="1"/>
                </a:ext>
              </a:extLst>
            </p:cNvPr>
            <p:cNvSpPr/>
            <p:nvPr userDrawn="1"/>
          </p:nvSpPr>
          <p:spPr bwMode="auto">
            <a:xfrm>
              <a:off x="-1" y="0"/>
              <a:ext cx="8069263" cy="6994525"/>
            </a:xfrm>
            <a:prstGeom prst="rect">
              <a:avLst/>
            </a:prstGeom>
            <a:gradFill flip="none" rotWithShape="1">
              <a:gsLst>
                <a:gs pos="39000">
                  <a:srgbClr val="000000"/>
                </a:gs>
                <a:gs pos="100000">
                  <a:srgbClr val="000000">
                    <a:alpha val="0"/>
                  </a:srgbClr>
                </a:gs>
              </a:gsLst>
              <a:lin ang="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a:extLst>
              <a:ext uri="{FF2B5EF4-FFF2-40B4-BE49-F238E27FC236}">
                <a16:creationId xmlns:a16="http://schemas.microsoft.com/office/drawing/2014/main" id="{76449D9A-237F-8631-725A-12C791B51E39}"/>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84200" y="585788"/>
            <a:ext cx="1335673" cy="190278"/>
          </a:xfrm>
          <a:prstGeom prst="rect">
            <a:avLst/>
          </a:prstGeom>
        </p:spPr>
      </p:pic>
    </p:spTree>
    <p:extLst>
      <p:ext uri="{BB962C8B-B14F-4D97-AF65-F5344CB8AC3E}">
        <p14:creationId xmlns:p14="http://schemas.microsoft.com/office/powerpoint/2010/main" val="33847668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EF15B8-3413-A9AB-43B4-65C40675A0CC}"/>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12436475" cy="6994525"/>
          </a:xfrm>
          <a:prstGeom prst="rect">
            <a:avLst/>
          </a:prstGeom>
        </p:spPr>
      </p:pic>
      <p:sp>
        <p:nvSpPr>
          <p:cNvPr id="4" name="Rectangle 3">
            <a:extLst>
              <a:ext uri="{FF2B5EF4-FFF2-40B4-BE49-F238E27FC236}">
                <a16:creationId xmlns:a16="http://schemas.microsoft.com/office/drawing/2014/main" id="{88B4B6DF-BF26-FE12-723E-BAFCD67654D2}"/>
              </a:ext>
              <a:ext uri="{C183D7F6-B498-43B3-948B-1728B52AA6E4}">
                <adec:decorative xmlns:adec="http://schemas.microsoft.com/office/drawing/2017/decorative" val="1"/>
              </a:ext>
            </a:extLst>
          </p:cNvPr>
          <p:cNvSpPr/>
          <p:nvPr userDrawn="1"/>
        </p:nvSpPr>
        <p:spPr bwMode="auto">
          <a:xfrm>
            <a:off x="0" y="0"/>
            <a:ext cx="7010400" cy="6994525"/>
          </a:xfrm>
          <a:prstGeom prst="rect">
            <a:avLst/>
          </a:prstGeom>
          <a:gradFill flip="none" rotWithShape="1">
            <a:gsLst>
              <a:gs pos="24000">
                <a:schemeClr val="bg2"/>
              </a:gs>
              <a:gs pos="100000">
                <a:schemeClr val="bg2">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a:extLst>
              <a:ext uri="{FF2B5EF4-FFF2-40B4-BE49-F238E27FC236}">
                <a16:creationId xmlns:a16="http://schemas.microsoft.com/office/drawing/2014/main" id="{2851CB6C-E141-70CE-1192-55E2C2D655B7}"/>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84200" y="585788"/>
            <a:ext cx="1335673" cy="190278"/>
          </a:xfrm>
          <a:prstGeom prst="rect">
            <a:avLst/>
          </a:prstGeom>
        </p:spPr>
      </p:pic>
    </p:spTree>
    <p:extLst>
      <p:ext uri="{BB962C8B-B14F-4D97-AF65-F5344CB8AC3E}">
        <p14:creationId xmlns:p14="http://schemas.microsoft.com/office/powerpoint/2010/main" val="266335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Text Box 3">
            <a:extLst>
              <a:ext uri="{FF2B5EF4-FFF2-40B4-BE49-F238E27FC236}">
                <a16:creationId xmlns:a16="http://schemas.microsoft.com/office/drawing/2014/main" id="{B31748D0-0FD9-AB7B-E095-E89665BDA21E}"/>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298613035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Box 3">
            <a:extLst>
              <a:ext uri="{FF2B5EF4-FFF2-40B4-BE49-F238E27FC236}">
                <a16:creationId xmlns:a16="http://schemas.microsoft.com/office/drawing/2014/main" id="{5D9B72CF-3ACC-D6D3-4686-ECDF8F09BB06}"/>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400399794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Text Box 3">
            <a:extLst>
              <a:ext uri="{FF2B5EF4-FFF2-40B4-BE49-F238E27FC236}">
                <a16:creationId xmlns:a16="http://schemas.microsoft.com/office/drawing/2014/main" id="{51216DC5-C19E-EF90-645A-068DCF99672F}"/>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296311059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Box 3">
            <a:extLst>
              <a:ext uri="{FF2B5EF4-FFF2-40B4-BE49-F238E27FC236}">
                <a16:creationId xmlns:a16="http://schemas.microsoft.com/office/drawing/2014/main" id="{A8429C8E-FB60-DA39-C4A0-7696A57AD71C}"/>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18704258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Box 3">
            <a:extLst>
              <a:ext uri="{FF2B5EF4-FFF2-40B4-BE49-F238E27FC236}">
                <a16:creationId xmlns:a16="http://schemas.microsoft.com/office/drawing/2014/main" id="{6F0A2194-5139-9E36-D920-65C26CD5B883}"/>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376285776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Box 3">
            <a:extLst>
              <a:ext uri="{FF2B5EF4-FFF2-40B4-BE49-F238E27FC236}">
                <a16:creationId xmlns:a16="http://schemas.microsoft.com/office/drawing/2014/main" id="{72097F46-2D12-A3B7-BAFB-D355A7A184A1}"/>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304391157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Box 3">
            <a:extLst>
              <a:ext uri="{FF2B5EF4-FFF2-40B4-BE49-F238E27FC236}">
                <a16:creationId xmlns:a16="http://schemas.microsoft.com/office/drawing/2014/main" id="{EDA20F80-D793-E9A4-DCA4-C9711D0514E6}"/>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2921732068"/>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Box 3">
            <a:extLst>
              <a:ext uri="{FF2B5EF4-FFF2-40B4-BE49-F238E27FC236}">
                <a16:creationId xmlns:a16="http://schemas.microsoft.com/office/drawing/2014/main" id="{44227F73-71EC-8E70-AFF7-1AB2880F0367}"/>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2379668055"/>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Box 3">
            <a:extLst>
              <a:ext uri="{FF2B5EF4-FFF2-40B4-BE49-F238E27FC236}">
                <a16:creationId xmlns:a16="http://schemas.microsoft.com/office/drawing/2014/main" id="{80F4A6B3-3FA0-E6CC-3A8D-253C20BDF9AD}"/>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3997501468"/>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Box 3">
            <a:extLst>
              <a:ext uri="{FF2B5EF4-FFF2-40B4-BE49-F238E27FC236}">
                <a16:creationId xmlns:a16="http://schemas.microsoft.com/office/drawing/2014/main" id="{63F027FD-373F-B272-C66F-C6B6238EDB99}"/>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20605146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
        <p:nvSpPr>
          <p:cNvPr id="3" name="Text Box 3">
            <a:extLst>
              <a:ext uri="{FF2B5EF4-FFF2-40B4-BE49-F238E27FC236}">
                <a16:creationId xmlns:a16="http://schemas.microsoft.com/office/drawing/2014/main" id="{C79CF2F2-8E34-904C-DC8B-9CED249CB53C}"/>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314185602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
        <p:nvSpPr>
          <p:cNvPr id="3" name="Text Box 3">
            <a:extLst>
              <a:ext uri="{FF2B5EF4-FFF2-40B4-BE49-F238E27FC236}">
                <a16:creationId xmlns:a16="http://schemas.microsoft.com/office/drawing/2014/main" id="{12ADC99C-ABAB-CC50-43DD-84295F06D46F}"/>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15374086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 name="Text Box 3">
            <a:extLst>
              <a:ext uri="{FF2B5EF4-FFF2-40B4-BE49-F238E27FC236}">
                <a16:creationId xmlns:a16="http://schemas.microsoft.com/office/drawing/2014/main" id="{EC3A5C24-9817-6B29-B8D6-60DB6D425DFB}"/>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271151093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 name="Text Box 3">
            <a:extLst>
              <a:ext uri="{FF2B5EF4-FFF2-40B4-BE49-F238E27FC236}">
                <a16:creationId xmlns:a16="http://schemas.microsoft.com/office/drawing/2014/main" id="{8B17C54C-F9A6-85D9-72ED-C805D5228E09}"/>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113952042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 name="Text Box 3">
            <a:extLst>
              <a:ext uri="{FF2B5EF4-FFF2-40B4-BE49-F238E27FC236}">
                <a16:creationId xmlns:a16="http://schemas.microsoft.com/office/drawing/2014/main" id="{34BE7339-CD48-B853-D14F-B67F034B38E3}"/>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70938939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03236715"/>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3923012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8717955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Text Box 3">
            <a:extLst>
              <a:ext uri="{FF2B5EF4-FFF2-40B4-BE49-F238E27FC236}">
                <a16:creationId xmlns:a16="http://schemas.microsoft.com/office/drawing/2014/main" id="{7AB660B8-298F-74C1-A9D4-55ADB2FE273B}"/>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7469446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49660347"/>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 name="Text Box 3">
            <a:extLst>
              <a:ext uri="{FF2B5EF4-FFF2-40B4-BE49-F238E27FC236}">
                <a16:creationId xmlns:a16="http://schemas.microsoft.com/office/drawing/2014/main" id="{0613A74B-1466-90EC-CCBA-3953E44DF7C5}"/>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2492095050"/>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 name="Text Box 3">
            <a:extLst>
              <a:ext uri="{FF2B5EF4-FFF2-40B4-BE49-F238E27FC236}">
                <a16:creationId xmlns:a16="http://schemas.microsoft.com/office/drawing/2014/main" id="{593BECAC-0BF1-B650-078F-7A4B2B326976}"/>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150193496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 name="Text Box 3">
            <a:extLst>
              <a:ext uri="{FF2B5EF4-FFF2-40B4-BE49-F238E27FC236}">
                <a16:creationId xmlns:a16="http://schemas.microsoft.com/office/drawing/2014/main" id="{71674590-9761-13A8-45A4-F2AFAF7F0C32}"/>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233267289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Box 3">
            <a:extLst>
              <a:ext uri="{FF2B5EF4-FFF2-40B4-BE49-F238E27FC236}">
                <a16:creationId xmlns:a16="http://schemas.microsoft.com/office/drawing/2014/main" id="{E5FF78C7-C351-71BD-85F0-AEFA796AAFB9}"/>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241821962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Box 3">
            <a:extLst>
              <a:ext uri="{FF2B5EF4-FFF2-40B4-BE49-F238E27FC236}">
                <a16:creationId xmlns:a16="http://schemas.microsoft.com/office/drawing/2014/main" id="{63781498-A03A-C36C-248C-24A3D2452F04}"/>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29656438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Box 3">
            <a:extLst>
              <a:ext uri="{FF2B5EF4-FFF2-40B4-BE49-F238E27FC236}">
                <a16:creationId xmlns:a16="http://schemas.microsoft.com/office/drawing/2014/main" id="{D9D14265-22B2-3631-B127-7686814C3125}"/>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352237731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Box 3">
            <a:extLst>
              <a:ext uri="{FF2B5EF4-FFF2-40B4-BE49-F238E27FC236}">
                <a16:creationId xmlns:a16="http://schemas.microsoft.com/office/drawing/2014/main" id="{8EB6564E-8767-E196-9ECE-B7D31D61E3AC}"/>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5606547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Text Box 3">
            <a:extLst>
              <a:ext uri="{FF2B5EF4-FFF2-40B4-BE49-F238E27FC236}">
                <a16:creationId xmlns:a16="http://schemas.microsoft.com/office/drawing/2014/main" id="{69671F74-9BEB-21CA-09DF-3F1555CB484F}"/>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180234224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Box 3">
            <a:extLst>
              <a:ext uri="{FF2B5EF4-FFF2-40B4-BE49-F238E27FC236}">
                <a16:creationId xmlns:a16="http://schemas.microsoft.com/office/drawing/2014/main" id="{729E2179-20A8-C40A-F205-6762E1952ACB}"/>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365979359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inserts</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Box 3">
            <a:extLst>
              <a:ext uri="{FF2B5EF4-FFF2-40B4-BE49-F238E27FC236}">
                <a16:creationId xmlns:a16="http://schemas.microsoft.com/office/drawing/2014/main" id="{157AF44D-3508-7F32-B900-408865448966}"/>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349468400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Box 3">
            <a:extLst>
              <a:ext uri="{FF2B5EF4-FFF2-40B4-BE49-F238E27FC236}">
                <a16:creationId xmlns:a16="http://schemas.microsoft.com/office/drawing/2014/main" id="{AE0535BF-308F-17D1-4992-81672FE84599}"/>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310111308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Box 3">
            <a:extLst>
              <a:ext uri="{FF2B5EF4-FFF2-40B4-BE49-F238E27FC236}">
                <a16:creationId xmlns:a16="http://schemas.microsoft.com/office/drawing/2014/main" id="{7E185171-F2AF-0ED8-16B7-DC587C4475A1}"/>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128783706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713406342"/>
      </p:ext>
    </p:extLst>
  </p:cSld>
  <p:clrMapOvr>
    <a:masterClrMapping/>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563806228"/>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41450512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44568450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62461433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62256554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
        <p:nvSpPr>
          <p:cNvPr id="3" name="Text Box 3">
            <a:extLst>
              <a:ext uri="{FF2B5EF4-FFF2-40B4-BE49-F238E27FC236}">
                <a16:creationId xmlns:a16="http://schemas.microsoft.com/office/drawing/2014/main" id="{E86061CD-35D5-C82A-1AE9-4BD98E4DD0A2}"/>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40762748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
        <p:nvSpPr>
          <p:cNvPr id="3" name="Text Box 3">
            <a:extLst>
              <a:ext uri="{FF2B5EF4-FFF2-40B4-BE49-F238E27FC236}">
                <a16:creationId xmlns:a16="http://schemas.microsoft.com/office/drawing/2014/main" id="{E6867B11-6684-63A2-34F9-16967D48FCE2}"/>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1395962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
        <p:nvSpPr>
          <p:cNvPr id="3" name="Text Box 3">
            <a:extLst>
              <a:ext uri="{FF2B5EF4-FFF2-40B4-BE49-F238E27FC236}">
                <a16:creationId xmlns:a16="http://schemas.microsoft.com/office/drawing/2014/main" id="{485F9854-EB8D-E6A8-B935-691B583DECB3}"/>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771448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
        <p:nvSpPr>
          <p:cNvPr id="3" name="Text Box 3">
            <a:extLst>
              <a:ext uri="{FF2B5EF4-FFF2-40B4-BE49-F238E27FC236}">
                <a16:creationId xmlns:a16="http://schemas.microsoft.com/office/drawing/2014/main" id="{C49AF55C-8524-822B-353B-097C05C4BC71}"/>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3106101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59B1EC13-559E-0332-B7AE-AC82BCF064FA}"/>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240951101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1"/>
      </p:bgRef>
    </p:bg>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CD5E74AC-7B40-60D8-AA30-F3C313365C43}"/>
              </a:ext>
            </a:extLst>
          </p:cNvPr>
          <p:cNvSpPr txBox="1">
            <a:spLocks noChangeArrowheads="1"/>
          </p:cNvSpPr>
          <p:nvPr userDrawn="1"/>
        </p:nvSpPr>
        <p:spPr bwMode="blackWhite">
          <a:xfrm>
            <a:off x="586740" y="6353230"/>
            <a:ext cx="11018521"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737373"/>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331650017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1"/>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3" name="Picture 2">
            <a:extLst>
              <a:ext uri="{FF2B5EF4-FFF2-40B4-BE49-F238E27FC236}">
                <a16:creationId xmlns:a16="http://schemas.microsoft.com/office/drawing/2014/main" id="{747C1053-94F0-7865-7B7D-E907310D127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4200" y="585788"/>
            <a:ext cx="1335673" cy="190278"/>
          </a:xfrm>
          <a:prstGeom prst="rect">
            <a:avLst/>
          </a:prstGeom>
        </p:spPr>
      </p:pic>
    </p:spTree>
    <p:extLst>
      <p:ext uri="{BB962C8B-B14F-4D97-AF65-F5344CB8AC3E}">
        <p14:creationId xmlns:p14="http://schemas.microsoft.com/office/powerpoint/2010/main" val="164524393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189544962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a:t>Title</a:t>
            </a:r>
          </a:p>
        </p:txBody>
      </p:sp>
      <p:sp>
        <p:nvSpPr>
          <p:cNvPr id="8" name="Text Box 3">
            <a:extLst>
              <a:ext uri="{FF2B5EF4-FFF2-40B4-BE49-F238E27FC236}">
                <a16:creationId xmlns:a16="http://schemas.microsoft.com/office/drawing/2014/main" id="{3F1DAFF6-F27C-B74D-96EC-43A1B70AA06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2561941727"/>
      </p:ext>
    </p:extLst>
  </p:cSld>
  <p:clrMapOvr>
    <a:masterClrMapping/>
  </p:clrMapOvr>
  <p:transition>
    <p:fade/>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87630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75178169"/>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876301"/>
            <a:ext cx="11485563" cy="292388"/>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29118242"/>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26988714"/>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0446832"/>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9F8248E2-079E-D048-BFDB-5E3D53CC7A75}"/>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5624515"/>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312485"/>
            <a:ext cx="3800474" cy="1744067"/>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3148"/>
            <a:ext cx="365760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842516"/>
            <a:ext cx="2734056" cy="1169551"/>
          </a:xfrm>
        </p:spPr>
        <p:txBody>
          <a:bodyPr vert="horz" lIns="0" tIns="0" rIns="0" bIns="0" rtlCol="0">
            <a:spAutoFit/>
          </a:bodyPr>
          <a:lstStyle>
            <a:lvl1pPr>
              <a:defRPr lang="en-US" sz="19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8689102"/>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2416705"/>
            <a:ext cx="8591550" cy="276999"/>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843749"/>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310896"/>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5847937"/>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843749"/>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9771E720-A860-C747-8C6C-2E9495B713C2}"/>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4106726"/>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52838743"/>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77013726"/>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661215046"/>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607712"/>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1744067"/>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633281621"/>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1744067"/>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86695112"/>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2605049" cy="2021066"/>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3238500" y="876302"/>
            <a:ext cx="2666962" cy="2021066"/>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95AC8FBD-FE97-6642-8436-2FEDE1F26E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E2B02E0F-958B-D343-8575-8BC713243DC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934D70E-9CAD-904F-9B97-4F8F754E83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86238715"/>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2605049" cy="2021066"/>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3238500" y="1584902"/>
            <a:ext cx="2666962" cy="2021066"/>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Graphic 10">
            <a:extLst>
              <a:ext uri="{FF2B5EF4-FFF2-40B4-BE49-F238E27FC236}">
                <a16:creationId xmlns:a16="http://schemas.microsoft.com/office/drawing/2014/main" id="{48C1390A-5E39-B74E-829D-2D9BFC0AB8A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4" name="Footer Placeholder 4">
            <a:extLst>
              <a:ext uri="{FF2B5EF4-FFF2-40B4-BE49-F238E27FC236}">
                <a16:creationId xmlns:a16="http://schemas.microsoft.com/office/drawing/2014/main" id="{17A9286D-8AD3-CB46-B613-DFA76629A08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BF77D4FD-4664-EC48-9279-63E7C134C6A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04338987"/>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15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54587497"/>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18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6000"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1500"/>
              </a:spcAft>
              <a:buFont typeface="Arial"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41E3877-4B41-9F45-BD42-A1FE25C7E3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E9B603E0-8FA9-9847-B36F-F5BA639FA39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343FC31D-21A8-9944-9030-294192AB357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90404460"/>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8972550" y="0"/>
            <a:ext cx="3219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9226296" y="310896"/>
            <a:ext cx="2601468" cy="1286186"/>
          </a:xfrm>
        </p:spPr>
        <p:txBody>
          <a:bodyPr vert="horz" lIns="0" tIns="0" rIns="0" bIns="0" rtlCol="0">
            <a:spAutoFit/>
          </a:bodyPr>
          <a:lstStyle>
            <a:lvl1pPr marL="0" indent="0">
              <a:lnSpc>
                <a:spcPct val="110000"/>
              </a:lnSpc>
              <a:buNone/>
              <a:defRPr lang="en-US" sz="2600" dirty="0">
                <a:ln w="3175">
                  <a:noFill/>
                </a:ln>
                <a:solidFill>
                  <a:schemeClr val="bg1"/>
                </a:solidFill>
              </a:defRPr>
            </a:lvl1pPr>
          </a:lstStyle>
          <a:p>
            <a:pPr lvl="0" fontAlgn="base">
              <a:spcAft>
                <a:spcPts val="2625"/>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361951" y="200026"/>
            <a:ext cx="8467725" cy="964495"/>
          </a:xfrm>
        </p:spPr>
        <p:txBody>
          <a:bodyPr lIns="0">
            <a:spAutoFit/>
          </a:bodyPr>
          <a:lstStyle>
            <a:lvl1pPr marL="0" indent="0">
              <a:buFont typeface="Arial" panose="020B0604020202020204" pitchFamily="34" charset="0"/>
              <a:buNone/>
              <a:defRPr lang="en-US" sz="6700" kern="1200" dirty="0">
                <a:ln w="38100">
                  <a:noFill/>
                </a:ln>
                <a:solidFill>
                  <a:srgbClr val="EB0000"/>
                </a:solidFill>
                <a:latin typeface="+mj-lt"/>
                <a:ea typeface="+mj-ea"/>
                <a:cs typeface="+mj-cs"/>
              </a:defRPr>
            </a:lvl1pPr>
          </a:lstStyle>
          <a:p>
            <a:pPr marL="142875" lvl="0" indent="-142875" fontAlgn="b">
              <a:lnSpc>
                <a:spcPct val="112000"/>
              </a:lnSpc>
              <a:spcBef>
                <a:spcPct val="0"/>
              </a:spcBef>
            </a:pPr>
            <a:r>
              <a:rPr lang="en-US"/>
              <a:t>Callout slide</a:t>
            </a:r>
          </a:p>
        </p:txBody>
      </p:sp>
      <p:pic>
        <p:nvPicPr>
          <p:cNvPr id="10" name="Graphic 9">
            <a:extLst>
              <a:ext uri="{FF2B5EF4-FFF2-40B4-BE49-F238E27FC236}">
                <a16:creationId xmlns:a16="http://schemas.microsoft.com/office/drawing/2014/main" id="{DBB2A12C-D648-A649-ABB5-D03617FC85C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9FD5F880-4836-C449-9783-CE04F8417CA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A2F629D-4995-C54F-9A64-51737169A442}"/>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6055238"/>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8972550" y="0"/>
            <a:ext cx="321945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9220199" y="314326"/>
            <a:ext cx="2619375" cy="1320361"/>
          </a:xfrm>
        </p:spPr>
        <p:txBody>
          <a:bodyPr lIns="0">
            <a:spAutoFit/>
          </a:bodyPr>
          <a:lstStyle>
            <a:lvl1pPr marL="0" indent="0">
              <a:lnSpc>
                <a:spcPct val="110000"/>
              </a:lnSpc>
              <a:buNone/>
              <a:defRPr sz="2600">
                <a:solidFill>
                  <a:schemeClr val="bg1"/>
                </a:solidFill>
              </a:defRPr>
            </a:lvl1pPr>
            <a:lvl2pPr marL="283368" indent="0">
              <a:buNone/>
              <a:defRPr sz="2600">
                <a:solidFill>
                  <a:schemeClr val="bg1"/>
                </a:solidFill>
              </a:defRPr>
            </a:lvl2pPr>
            <a:lvl3pPr marL="566737" indent="0">
              <a:buNone/>
              <a:defRPr sz="2600">
                <a:solidFill>
                  <a:schemeClr val="bg1"/>
                </a:solidFill>
              </a:defRPr>
            </a:lvl3pPr>
            <a:lvl4pPr marL="850106" indent="0">
              <a:buNone/>
              <a:defRPr sz="2600">
                <a:solidFill>
                  <a:schemeClr val="bg1"/>
                </a:solidFill>
              </a:defRPr>
            </a:lvl4pPr>
            <a:lvl5pPr marL="1133475" indent="0">
              <a:buNone/>
              <a:defRPr sz="2600">
                <a:solidFill>
                  <a:schemeClr val="bg1"/>
                </a:solidFill>
              </a:defRPr>
            </a:lvl5pPr>
          </a:lstStyle>
          <a:p>
            <a:pPr lvl="0"/>
            <a:r>
              <a:rPr lang="en-US"/>
              <a:t>Additional information if needed</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292609" y="196596"/>
            <a:ext cx="8596049" cy="964559"/>
          </a:xfrm>
          <a:ln w="12700">
            <a:noFill/>
          </a:ln>
        </p:spPr>
        <p:txBody>
          <a:bodyPr vert="horz" lIns="0" tIns="0" rIns="0" bIns="0" rtlCol="0" anchor="t" anchorCtr="0">
            <a:spAutoFit/>
          </a:bodyPr>
          <a:lstStyle>
            <a:lvl1pPr marL="0" indent="0">
              <a:buNone/>
              <a:defRPr lang="en-US" sz="6700" i="1" dirty="0">
                <a:ln w="38100">
                  <a:noFill/>
                </a:ln>
                <a:solidFill>
                  <a:srgbClr val="EB0000"/>
                </a:solidFill>
                <a:latin typeface="+mj-lt"/>
                <a:ea typeface="+mj-ea"/>
                <a:cs typeface="+mj-cs"/>
              </a:defRPr>
            </a:lvl1pPr>
          </a:lstStyle>
          <a:p>
            <a:pPr marL="142875" lvl="0" indent="-142875"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345387" y="5407018"/>
            <a:ext cx="8553450" cy="276999"/>
          </a:xfrm>
        </p:spPr>
        <p:txBody>
          <a:bodyPr vert="horz" lIns="0" tIns="0" rIns="0" bIns="0" rtlCol="0">
            <a:spAutoFit/>
          </a:bodyPr>
          <a:lstStyle>
            <a:lvl1pPr marL="0" indent="0">
              <a:buNone/>
              <a:defRPr lang="en-US" sz="1800" smtClean="0">
                <a:solidFill>
                  <a:schemeClr val="tx1"/>
                </a:solidFill>
              </a:defRPr>
            </a:lvl1pPr>
            <a:lvl2pPr>
              <a:defRPr lang="en-US" smtClean="0"/>
            </a:lvl2pPr>
            <a:lvl3pPr>
              <a:defRPr lang="en-US" smtClean="0"/>
            </a:lvl3pPr>
            <a:lvl4pPr>
              <a:defRPr lang="en-US" smtClean="0"/>
            </a:lvl4pPr>
            <a:lvl5pPr>
              <a:defRPr lang="en-US"/>
            </a:lvl5pPr>
          </a:lstStyle>
          <a:p>
            <a:pPr marL="142875" lvl="0" indent="-142875"/>
            <a:r>
              <a:rPr lang="en-US"/>
              <a:t>Quote Source (Name)</a:t>
            </a:r>
          </a:p>
        </p:txBody>
      </p:sp>
      <p:pic>
        <p:nvPicPr>
          <p:cNvPr id="9" name="Graphic 8">
            <a:extLst>
              <a:ext uri="{FF2B5EF4-FFF2-40B4-BE49-F238E27FC236}">
                <a16:creationId xmlns:a16="http://schemas.microsoft.com/office/drawing/2014/main" id="{B8B09FA7-0368-CA42-9C8A-2E48C9D933B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336C8641-33A4-5C4F-9DA7-173CE0A5090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4536EE17-66CB-DB42-BBD8-8F288A5837A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66346486"/>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04185055"/>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15898922"/>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6096000" cy="3429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484043"/>
          </a:xfrm>
          <a:ln w="12700">
            <a:noFill/>
          </a:ln>
        </p:spPr>
        <p:txBody>
          <a:bodyPr vert="horz"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a:ln>
            <a:noFill/>
          </a:ln>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482817661"/>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6096000" cy="1905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484043"/>
          </a:xfrm>
          <a:ln w="12700">
            <a:noFill/>
          </a:ln>
        </p:spPr>
        <p:txBody>
          <a:bodyPr vert="horz"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744047"/>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66476262"/>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22688245"/>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69551"/>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2021066"/>
          </a:xfrm>
        </p:spPr>
        <p:txBody>
          <a:bodyPr vert="horz" lIns="0" tIns="0" rIns="0" bIns="0" rtlCol="0">
            <a:spAutoFit/>
          </a:bodyPr>
          <a:lstStyle>
            <a:lvl1pPr marL="142875" marR="0" indent="-142875"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440766671"/>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31751B68-E87A-4B97-835D-658C3BACD65D}"/>
              </a:ext>
            </a:extLst>
          </p:cNvPr>
          <p:cNvSpPr>
            <a:spLocks noGrp="1"/>
          </p:cNvSpPr>
          <p:nvPr>
            <p:ph sz="quarter" idx="13"/>
          </p:nvPr>
        </p:nvSpPr>
        <p:spPr>
          <a:xfrm>
            <a:off x="323850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Graphic 7">
            <a:extLst>
              <a:ext uri="{FF2B5EF4-FFF2-40B4-BE49-F238E27FC236}">
                <a16:creationId xmlns:a16="http://schemas.microsoft.com/office/drawing/2014/main" id="{F17E2B4D-67B4-3646-88A9-CFDDEEDDA8B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F7F2E8EC-ADB8-6948-8BDB-5533FAF38B8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04029D90-B1F2-5741-A076-7B567472D6D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0584730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8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slide to add picture</a:t>
            </a:r>
          </a:p>
          <a:p>
            <a:endParaRPr lang="en-US"/>
          </a:p>
          <a:p>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4476" y="365760"/>
            <a:ext cx="2878074" cy="203454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53601784-4D78-4579-A49D-1EDD743CA563}"/>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Graphic 7">
            <a:extLst>
              <a:ext uri="{FF2B5EF4-FFF2-40B4-BE49-F238E27FC236}">
                <a16:creationId xmlns:a16="http://schemas.microsoft.com/office/drawing/2014/main" id="{6DCC27A8-9DE9-5643-9AC4-300A406ABAA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A3B644D4-D08F-934E-8F5A-20A1DE7716A6}"/>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6F1F298-0170-AC4B-9060-E3B73E87615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08291690"/>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p>
        </p:txBody>
      </p:sp>
      <p:pic>
        <p:nvPicPr>
          <p:cNvPr id="12" name="Graphic 11">
            <a:extLst>
              <a:ext uri="{FF2B5EF4-FFF2-40B4-BE49-F238E27FC236}">
                <a16:creationId xmlns:a16="http://schemas.microsoft.com/office/drawing/2014/main" id="{855C35C3-B5B3-484A-A7C7-CDC7F3EAC5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5" name="Footer Placeholder 4">
            <a:extLst>
              <a:ext uri="{FF2B5EF4-FFF2-40B4-BE49-F238E27FC236}">
                <a16:creationId xmlns:a16="http://schemas.microsoft.com/office/drawing/2014/main" id="{EDB8C4FC-FBFC-5346-82FD-C044C5383FB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6" name="Slide Number Placeholder 5">
            <a:extLst>
              <a:ext uri="{FF2B5EF4-FFF2-40B4-BE49-F238E27FC236}">
                <a16:creationId xmlns:a16="http://schemas.microsoft.com/office/drawing/2014/main" id="{B0AB6D74-B190-4D44-990A-8B8558A5A50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78252716"/>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BE506436-58B7-9049-8168-84C3B6E662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9726819C-12C6-3749-B173-1CA473A524D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261F191C-2FA8-A846-805C-F6D4D2B7A7F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09686110"/>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6096000" cy="3429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484043"/>
          </a:xfrm>
          <a:ln w="12700">
            <a:noFill/>
          </a:ln>
        </p:spPr>
        <p:txBody>
          <a:bodyPr vert="horz"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3911602"/>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3563605"/>
            <a:ext cx="2608263"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3563605"/>
            <a:ext cx="2608307"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3563605"/>
            <a:ext cx="2608322"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40" y="3902784"/>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3911077"/>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3911077"/>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F1597FD9-D017-D249-9B0B-77A66CDDA5A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464A1CE8-1E79-7642-95C9-27094C03447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79D511E2-1B60-2E47-9146-07693D83C24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21000973"/>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6096000"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484043"/>
          </a:xfrm>
          <a:ln w="12700">
            <a:noFill/>
          </a:ln>
        </p:spPr>
        <p:txBody>
          <a:bodyPr vert="horz"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B8DD5DF0-E111-6142-8863-A30B4196432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C493C235-5CD8-2341-8D0C-682DF428E00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998A19E2-38FE-FF45-A7F9-99D4FFA72BA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43854353"/>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accent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6A2D20C4-66D0-4CE2-8BD3-9DDCFA49A2E1}"/>
              </a:ext>
            </a:extLst>
          </p:cNvPr>
          <p:cNvSpPr>
            <a:spLocks noGrp="1"/>
          </p:cNvSpPr>
          <p:nvPr>
            <p:ph sz="quarter" idx="13"/>
          </p:nvPr>
        </p:nvSpPr>
        <p:spPr>
          <a:xfrm>
            <a:off x="323850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Graphic 7">
            <a:extLst>
              <a:ext uri="{FF2B5EF4-FFF2-40B4-BE49-F238E27FC236}">
                <a16:creationId xmlns:a16="http://schemas.microsoft.com/office/drawing/2014/main" id="{B0FDB801-F8F5-7443-9A86-15B98C81A0C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9BDE7E31-E329-F042-B1A5-CFA50EE7360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7855B2D-8955-004A-AB6C-55EE9BD03D2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115972"/>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6000" y="365760"/>
            <a:ext cx="2878074" cy="203454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01DF4AB6-0CA0-4F6F-A402-D64FFDDB2FD6}"/>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Graphic 7">
            <a:extLst>
              <a:ext uri="{FF2B5EF4-FFF2-40B4-BE49-F238E27FC236}">
                <a16:creationId xmlns:a16="http://schemas.microsoft.com/office/drawing/2014/main" id="{EA9F37C6-3426-9248-9D21-11CD2837313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9F12A5AD-E5E7-B147-9A16-73DABEB014C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60A66B2C-807F-3946-844E-B5B2E1EDFA22}"/>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1376320"/>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3238501" y="312485"/>
            <a:ext cx="8580301"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Graphic 10">
            <a:extLst>
              <a:ext uri="{FF2B5EF4-FFF2-40B4-BE49-F238E27FC236}">
                <a16:creationId xmlns:a16="http://schemas.microsoft.com/office/drawing/2014/main" id="{85D6DF84-7473-9D43-9A0F-FDEC904115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C58B8EE0-C966-5340-9543-A3A1D90999B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F796A77B-EE90-9741-A30B-1501B13ABDE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934769611"/>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2F0D26EB-3461-5648-9015-ABE94DB76E2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B3AB10A3-9A6E-1245-B2CD-193CAEAD446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EC026F6A-6F3F-F444-8376-96AF59BE2C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35158995"/>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6096000" cy="3429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484043"/>
          </a:xfrm>
          <a:ln w="12700">
            <a:noFill/>
          </a:ln>
        </p:spPr>
        <p:txBody>
          <a:bodyPr vert="horz"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3911602"/>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3563605"/>
            <a:ext cx="2608263"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3563605"/>
            <a:ext cx="2532437"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3563605"/>
            <a:ext cx="2608322"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3911077"/>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3911077"/>
            <a:ext cx="2528905"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3911077"/>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94E48EC5-AF1A-664A-982F-08A0BB0CDCB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9CC2D313-4FD8-F74B-8006-534E635A217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BEF1EB87-2717-B14C-A85B-6055AB5B8912}"/>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66477515"/>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6096000" cy="1905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484043"/>
          </a:xfrm>
          <a:ln w="12700">
            <a:noFill/>
          </a:ln>
        </p:spPr>
        <p:txBody>
          <a:bodyPr vert="horz"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6D7C4D85-1130-354D-9FB2-15A75E2C91D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E676B79-96D9-E445-8ECA-D492E74A78C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C4B45379-7E83-7142-A621-344CBEDEFAB2}"/>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460250820"/>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B3DF85A6-1AD2-4BCB-AAB5-75DBE64F6165}"/>
              </a:ext>
            </a:extLst>
          </p:cNvPr>
          <p:cNvSpPr>
            <a:spLocks noGrp="1"/>
          </p:cNvSpPr>
          <p:nvPr>
            <p:ph sz="quarter" idx="13"/>
          </p:nvPr>
        </p:nvSpPr>
        <p:spPr>
          <a:xfrm>
            <a:off x="323850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Graphic 7">
            <a:extLst>
              <a:ext uri="{FF2B5EF4-FFF2-40B4-BE49-F238E27FC236}">
                <a16:creationId xmlns:a16="http://schemas.microsoft.com/office/drawing/2014/main" id="{C8644A06-73D5-2D47-B994-49E6117E38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A30F2A19-5020-714F-93CC-134F12BEE21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E03C7475-E793-9548-BDDF-C0057ED0969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83725170"/>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4476" y="365760"/>
            <a:ext cx="2878074" cy="203454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DE114E42-B9CD-419F-AF34-28A5B96009CA}"/>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Graphic 7">
            <a:extLst>
              <a:ext uri="{FF2B5EF4-FFF2-40B4-BE49-F238E27FC236}">
                <a16:creationId xmlns:a16="http://schemas.microsoft.com/office/drawing/2014/main" id="{F2ABCBA4-78C1-204D-8770-053BDD42271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8644948A-80FF-B34D-B66B-15D71EBED9B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A90C47F5-8F80-E74B-BD16-237A93C3240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70253862"/>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cSld name="1_Title Slide 1">
    <p:bg>
      <p:bgPr>
        <a:solidFill>
          <a:schemeClr val="bg2"/>
        </a:solidFill>
        <a:effectLst/>
      </p:bgPr>
    </p:bg>
    <p:spTree>
      <p:nvGrpSpPr>
        <p:cNvPr id="1" name=""/>
        <p:cNvGrpSpPr/>
        <p:nvPr/>
      </p:nvGrpSpPr>
      <p:grpSpPr>
        <a:xfrm>
          <a:off x="0" y="0"/>
          <a:ext cx="0" cy="0"/>
          <a:chOff x="0" y="0"/>
          <a:chExt cx="0" cy="0"/>
        </a:xfrm>
      </p:grpSpPr>
      <p:grpSp>
        <p:nvGrpSpPr>
          <p:cNvPr id="81" name="Group 80">
            <a:extLst>
              <a:ext uri="{FF2B5EF4-FFF2-40B4-BE49-F238E27FC236}">
                <a16:creationId xmlns:a16="http://schemas.microsoft.com/office/drawing/2014/main" id="{F73A28EA-51F1-4C30-A492-E229702BEC5C}"/>
              </a:ext>
            </a:extLst>
          </p:cNvPr>
          <p:cNvGrpSpPr/>
          <p:nvPr/>
        </p:nvGrpSpPr>
        <p:grpSpPr>
          <a:xfrm>
            <a:off x="5918200" y="3071813"/>
            <a:ext cx="2641601" cy="1677988"/>
            <a:chOff x="5918200" y="3071813"/>
            <a:chExt cx="2641601" cy="1677988"/>
          </a:xfrm>
        </p:grpSpPr>
        <p:sp>
          <p:nvSpPr>
            <p:cNvPr id="73" name="Freeform 13">
              <a:extLst>
                <a:ext uri="{FF2B5EF4-FFF2-40B4-BE49-F238E27FC236}">
                  <a16:creationId xmlns:a16="http://schemas.microsoft.com/office/drawing/2014/main" id="{157B225C-57AA-4F02-907E-B10DC7584CAC}"/>
                </a:ext>
              </a:extLst>
            </p:cNvPr>
            <p:cNvSpPr>
              <a:spLocks/>
            </p:cNvSpPr>
            <p:nvPr/>
          </p:nvSpPr>
          <p:spPr bwMode="auto">
            <a:xfrm>
              <a:off x="7994650" y="4386263"/>
              <a:ext cx="179388" cy="363538"/>
            </a:xfrm>
            <a:custGeom>
              <a:avLst/>
              <a:gdLst>
                <a:gd name="T0" fmla="*/ 0 w 63"/>
                <a:gd name="T1" fmla="*/ 128 h 128"/>
                <a:gd name="T2" fmla="*/ 62 w 63"/>
                <a:gd name="T3" fmla="*/ 66 h 128"/>
                <a:gd name="T4" fmla="*/ 62 w 63"/>
                <a:gd name="T5" fmla="*/ 62 h 128"/>
                <a:gd name="T6" fmla="*/ 0 w 63"/>
                <a:gd name="T7" fmla="*/ 0 h 128"/>
              </a:gdLst>
              <a:ahLst/>
              <a:cxnLst>
                <a:cxn ang="0">
                  <a:pos x="T0" y="T1"/>
                </a:cxn>
                <a:cxn ang="0">
                  <a:pos x="T2" y="T3"/>
                </a:cxn>
                <a:cxn ang="0">
                  <a:pos x="T4" y="T5"/>
                </a:cxn>
                <a:cxn ang="0">
                  <a:pos x="T6" y="T7"/>
                </a:cxn>
              </a:cxnLst>
              <a:rect l="0" t="0" r="r" b="b"/>
              <a:pathLst>
                <a:path w="63" h="128">
                  <a:moveTo>
                    <a:pt x="0" y="128"/>
                  </a:moveTo>
                  <a:cubicBezTo>
                    <a:pt x="62" y="66"/>
                    <a:pt x="62" y="66"/>
                    <a:pt x="62" y="66"/>
                  </a:cubicBezTo>
                  <a:cubicBezTo>
                    <a:pt x="63" y="65"/>
                    <a:pt x="63" y="63"/>
                    <a:pt x="62" y="62"/>
                  </a:cubicBezTo>
                  <a:cubicBezTo>
                    <a:pt x="0" y="0"/>
                    <a:pt x="0" y="0"/>
                    <a:pt x="0" y="0"/>
                  </a:cubicBezTo>
                </a:path>
              </a:pathLst>
            </a:custGeom>
            <a:noFill/>
            <a:ln w="31750" cap="rnd">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4" name="Freeform 14">
              <a:extLst>
                <a:ext uri="{FF2B5EF4-FFF2-40B4-BE49-F238E27FC236}">
                  <a16:creationId xmlns:a16="http://schemas.microsoft.com/office/drawing/2014/main" id="{B47757C2-A088-403D-8939-9F19E1E88DC5}"/>
                </a:ext>
              </a:extLst>
            </p:cNvPr>
            <p:cNvSpPr>
              <a:spLocks/>
            </p:cNvSpPr>
            <p:nvPr/>
          </p:nvSpPr>
          <p:spPr bwMode="auto">
            <a:xfrm>
              <a:off x="7994650" y="3071813"/>
              <a:ext cx="179388" cy="363538"/>
            </a:xfrm>
            <a:custGeom>
              <a:avLst/>
              <a:gdLst>
                <a:gd name="T0" fmla="*/ 0 w 63"/>
                <a:gd name="T1" fmla="*/ 128 h 128"/>
                <a:gd name="T2" fmla="*/ 62 w 63"/>
                <a:gd name="T3" fmla="*/ 66 h 128"/>
                <a:gd name="T4" fmla="*/ 62 w 63"/>
                <a:gd name="T5" fmla="*/ 62 h 128"/>
                <a:gd name="T6" fmla="*/ 0 w 63"/>
                <a:gd name="T7" fmla="*/ 0 h 128"/>
              </a:gdLst>
              <a:ahLst/>
              <a:cxnLst>
                <a:cxn ang="0">
                  <a:pos x="T0" y="T1"/>
                </a:cxn>
                <a:cxn ang="0">
                  <a:pos x="T2" y="T3"/>
                </a:cxn>
                <a:cxn ang="0">
                  <a:pos x="T4" y="T5"/>
                </a:cxn>
                <a:cxn ang="0">
                  <a:pos x="T6" y="T7"/>
                </a:cxn>
              </a:cxnLst>
              <a:rect l="0" t="0" r="r" b="b"/>
              <a:pathLst>
                <a:path w="63" h="128">
                  <a:moveTo>
                    <a:pt x="0" y="128"/>
                  </a:moveTo>
                  <a:cubicBezTo>
                    <a:pt x="62" y="66"/>
                    <a:pt x="62" y="66"/>
                    <a:pt x="62" y="66"/>
                  </a:cubicBezTo>
                  <a:cubicBezTo>
                    <a:pt x="63" y="65"/>
                    <a:pt x="63" y="63"/>
                    <a:pt x="62" y="62"/>
                  </a:cubicBezTo>
                  <a:cubicBezTo>
                    <a:pt x="0" y="0"/>
                    <a:pt x="0" y="0"/>
                    <a:pt x="0" y="0"/>
                  </a:cubicBezTo>
                </a:path>
              </a:pathLst>
            </a:custGeom>
            <a:noFill/>
            <a:ln w="31750" cap="rnd">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15">
              <a:extLst>
                <a:ext uri="{FF2B5EF4-FFF2-40B4-BE49-F238E27FC236}">
                  <a16:creationId xmlns:a16="http://schemas.microsoft.com/office/drawing/2014/main" id="{649E9D8E-5DB2-4222-A673-564C37469D48}"/>
                </a:ext>
              </a:extLst>
            </p:cNvPr>
            <p:cNvSpPr>
              <a:spLocks/>
            </p:cNvSpPr>
            <p:nvPr/>
          </p:nvSpPr>
          <p:spPr bwMode="auto">
            <a:xfrm>
              <a:off x="8380413" y="3462338"/>
              <a:ext cx="179388" cy="365125"/>
            </a:xfrm>
            <a:custGeom>
              <a:avLst/>
              <a:gdLst>
                <a:gd name="T0" fmla="*/ 0 w 63"/>
                <a:gd name="T1" fmla="*/ 128 h 128"/>
                <a:gd name="T2" fmla="*/ 62 w 63"/>
                <a:gd name="T3" fmla="*/ 67 h 128"/>
                <a:gd name="T4" fmla="*/ 62 w 63"/>
                <a:gd name="T5" fmla="*/ 62 h 128"/>
                <a:gd name="T6" fmla="*/ 0 w 63"/>
                <a:gd name="T7" fmla="*/ 0 h 128"/>
              </a:gdLst>
              <a:ahLst/>
              <a:cxnLst>
                <a:cxn ang="0">
                  <a:pos x="T0" y="T1"/>
                </a:cxn>
                <a:cxn ang="0">
                  <a:pos x="T2" y="T3"/>
                </a:cxn>
                <a:cxn ang="0">
                  <a:pos x="T4" y="T5"/>
                </a:cxn>
                <a:cxn ang="0">
                  <a:pos x="T6" y="T7"/>
                </a:cxn>
              </a:cxnLst>
              <a:rect l="0" t="0" r="r" b="b"/>
              <a:pathLst>
                <a:path w="63" h="128">
                  <a:moveTo>
                    <a:pt x="0" y="128"/>
                  </a:moveTo>
                  <a:cubicBezTo>
                    <a:pt x="62" y="67"/>
                    <a:pt x="62" y="67"/>
                    <a:pt x="62" y="67"/>
                  </a:cubicBezTo>
                  <a:cubicBezTo>
                    <a:pt x="63" y="65"/>
                    <a:pt x="63" y="63"/>
                    <a:pt x="62" y="62"/>
                  </a:cubicBezTo>
                  <a:cubicBezTo>
                    <a:pt x="0" y="0"/>
                    <a:pt x="0" y="0"/>
                    <a:pt x="0" y="0"/>
                  </a:cubicBezTo>
                </a:path>
              </a:pathLst>
            </a:custGeom>
            <a:noFill/>
            <a:ln w="31750" cap="rnd">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6" name="Freeform 16">
              <a:extLst>
                <a:ext uri="{FF2B5EF4-FFF2-40B4-BE49-F238E27FC236}">
                  <a16:creationId xmlns:a16="http://schemas.microsoft.com/office/drawing/2014/main" id="{1312A355-A1CD-4AB9-8252-4A133AF956BE}"/>
                </a:ext>
              </a:extLst>
            </p:cNvPr>
            <p:cNvSpPr>
              <a:spLocks/>
            </p:cNvSpPr>
            <p:nvPr/>
          </p:nvSpPr>
          <p:spPr bwMode="auto">
            <a:xfrm>
              <a:off x="8380413" y="3995738"/>
              <a:ext cx="179388" cy="363538"/>
            </a:xfrm>
            <a:custGeom>
              <a:avLst/>
              <a:gdLst>
                <a:gd name="T0" fmla="*/ 0 w 63"/>
                <a:gd name="T1" fmla="*/ 128 h 128"/>
                <a:gd name="T2" fmla="*/ 62 w 63"/>
                <a:gd name="T3" fmla="*/ 66 h 128"/>
                <a:gd name="T4" fmla="*/ 62 w 63"/>
                <a:gd name="T5" fmla="*/ 61 h 128"/>
                <a:gd name="T6" fmla="*/ 0 w 63"/>
                <a:gd name="T7" fmla="*/ 0 h 128"/>
              </a:gdLst>
              <a:ahLst/>
              <a:cxnLst>
                <a:cxn ang="0">
                  <a:pos x="T0" y="T1"/>
                </a:cxn>
                <a:cxn ang="0">
                  <a:pos x="T2" y="T3"/>
                </a:cxn>
                <a:cxn ang="0">
                  <a:pos x="T4" y="T5"/>
                </a:cxn>
                <a:cxn ang="0">
                  <a:pos x="T6" y="T7"/>
                </a:cxn>
              </a:cxnLst>
              <a:rect l="0" t="0" r="r" b="b"/>
              <a:pathLst>
                <a:path w="63" h="128">
                  <a:moveTo>
                    <a:pt x="0" y="128"/>
                  </a:moveTo>
                  <a:cubicBezTo>
                    <a:pt x="62" y="66"/>
                    <a:pt x="62" y="66"/>
                    <a:pt x="62" y="66"/>
                  </a:cubicBezTo>
                  <a:cubicBezTo>
                    <a:pt x="63" y="65"/>
                    <a:pt x="63" y="62"/>
                    <a:pt x="62" y="61"/>
                  </a:cubicBezTo>
                  <a:cubicBezTo>
                    <a:pt x="0" y="0"/>
                    <a:pt x="0" y="0"/>
                    <a:pt x="0" y="0"/>
                  </a:cubicBezTo>
                </a:path>
              </a:pathLst>
            </a:custGeom>
            <a:noFill/>
            <a:ln w="31750" cap="rnd">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17">
              <a:extLst>
                <a:ext uri="{FF2B5EF4-FFF2-40B4-BE49-F238E27FC236}">
                  <a16:creationId xmlns:a16="http://schemas.microsoft.com/office/drawing/2014/main" id="{A2115675-7D24-4D80-9014-90B54EAF5D67}"/>
                </a:ext>
              </a:extLst>
            </p:cNvPr>
            <p:cNvSpPr>
              <a:spLocks/>
            </p:cNvSpPr>
            <p:nvPr/>
          </p:nvSpPr>
          <p:spPr bwMode="auto">
            <a:xfrm>
              <a:off x="5918200" y="3254375"/>
              <a:ext cx="2641600" cy="922338"/>
            </a:xfrm>
            <a:custGeom>
              <a:avLst/>
              <a:gdLst>
                <a:gd name="T0" fmla="*/ 929 w 929"/>
                <a:gd name="T1" fmla="*/ 324 h 324"/>
                <a:gd name="T2" fmla="*/ 724 w 929"/>
                <a:gd name="T3" fmla="*/ 324 h 324"/>
                <a:gd name="T4" fmla="*/ 655 w 929"/>
                <a:gd name="T5" fmla="*/ 295 h 324"/>
                <a:gd name="T6" fmla="*/ 430 w 929"/>
                <a:gd name="T7" fmla="*/ 69 h 324"/>
                <a:gd name="T8" fmla="*/ 263 w 929"/>
                <a:gd name="T9" fmla="*/ 0 h 324"/>
                <a:gd name="T10" fmla="*/ 0 w 929"/>
                <a:gd name="T11" fmla="*/ 0 h 324"/>
              </a:gdLst>
              <a:ahLst/>
              <a:cxnLst>
                <a:cxn ang="0">
                  <a:pos x="T0" y="T1"/>
                </a:cxn>
                <a:cxn ang="0">
                  <a:pos x="T2" y="T3"/>
                </a:cxn>
                <a:cxn ang="0">
                  <a:pos x="T4" y="T5"/>
                </a:cxn>
                <a:cxn ang="0">
                  <a:pos x="T6" y="T7"/>
                </a:cxn>
                <a:cxn ang="0">
                  <a:pos x="T8" y="T9"/>
                </a:cxn>
                <a:cxn ang="0">
                  <a:pos x="T10" y="T11"/>
                </a:cxn>
              </a:cxnLst>
              <a:rect l="0" t="0" r="r" b="b"/>
              <a:pathLst>
                <a:path w="929" h="324">
                  <a:moveTo>
                    <a:pt x="929" y="324"/>
                  </a:moveTo>
                  <a:cubicBezTo>
                    <a:pt x="724" y="324"/>
                    <a:pt x="724" y="324"/>
                    <a:pt x="724" y="324"/>
                  </a:cubicBezTo>
                  <a:cubicBezTo>
                    <a:pt x="698" y="324"/>
                    <a:pt x="674" y="313"/>
                    <a:pt x="655" y="295"/>
                  </a:cubicBezTo>
                  <a:cubicBezTo>
                    <a:pt x="430" y="69"/>
                    <a:pt x="430" y="69"/>
                    <a:pt x="430" y="69"/>
                  </a:cubicBezTo>
                  <a:cubicBezTo>
                    <a:pt x="385" y="25"/>
                    <a:pt x="326" y="0"/>
                    <a:pt x="263" y="0"/>
                  </a:cubicBezTo>
                  <a:cubicBezTo>
                    <a:pt x="0" y="0"/>
                    <a:pt x="0" y="0"/>
                    <a:pt x="0" y="0"/>
                  </a:cubicBez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18">
              <a:extLst>
                <a:ext uri="{FF2B5EF4-FFF2-40B4-BE49-F238E27FC236}">
                  <a16:creationId xmlns:a16="http://schemas.microsoft.com/office/drawing/2014/main" id="{42B3A8E0-E546-4B6C-8779-583A33D14EC6}"/>
                </a:ext>
              </a:extLst>
            </p:cNvPr>
            <p:cNvSpPr>
              <a:spLocks/>
            </p:cNvSpPr>
            <p:nvPr/>
          </p:nvSpPr>
          <p:spPr bwMode="auto">
            <a:xfrm>
              <a:off x="5918200" y="3644900"/>
              <a:ext cx="2255838" cy="923925"/>
            </a:xfrm>
            <a:custGeom>
              <a:avLst/>
              <a:gdLst>
                <a:gd name="T0" fmla="*/ 793 w 793"/>
                <a:gd name="T1" fmla="*/ 324 h 324"/>
                <a:gd name="T2" fmla="*/ 724 w 793"/>
                <a:gd name="T3" fmla="*/ 324 h 324"/>
                <a:gd name="T4" fmla="*/ 558 w 793"/>
                <a:gd name="T5" fmla="*/ 255 h 324"/>
                <a:gd name="T6" fmla="*/ 332 w 793"/>
                <a:gd name="T7" fmla="*/ 29 h 324"/>
                <a:gd name="T8" fmla="*/ 263 w 793"/>
                <a:gd name="T9" fmla="*/ 0 h 324"/>
                <a:gd name="T10" fmla="*/ 0 w 793"/>
                <a:gd name="T11" fmla="*/ 0 h 324"/>
              </a:gdLst>
              <a:ahLst/>
              <a:cxnLst>
                <a:cxn ang="0">
                  <a:pos x="T0" y="T1"/>
                </a:cxn>
                <a:cxn ang="0">
                  <a:pos x="T2" y="T3"/>
                </a:cxn>
                <a:cxn ang="0">
                  <a:pos x="T4" y="T5"/>
                </a:cxn>
                <a:cxn ang="0">
                  <a:pos x="T6" y="T7"/>
                </a:cxn>
                <a:cxn ang="0">
                  <a:pos x="T8" y="T9"/>
                </a:cxn>
                <a:cxn ang="0">
                  <a:pos x="T10" y="T11"/>
                </a:cxn>
              </a:cxnLst>
              <a:rect l="0" t="0" r="r" b="b"/>
              <a:pathLst>
                <a:path w="793" h="324">
                  <a:moveTo>
                    <a:pt x="793" y="324"/>
                  </a:moveTo>
                  <a:cubicBezTo>
                    <a:pt x="724" y="324"/>
                    <a:pt x="724" y="324"/>
                    <a:pt x="724" y="324"/>
                  </a:cubicBezTo>
                  <a:cubicBezTo>
                    <a:pt x="662" y="324"/>
                    <a:pt x="603" y="299"/>
                    <a:pt x="558" y="255"/>
                  </a:cubicBezTo>
                  <a:cubicBezTo>
                    <a:pt x="332" y="29"/>
                    <a:pt x="332" y="29"/>
                    <a:pt x="332" y="29"/>
                  </a:cubicBezTo>
                  <a:cubicBezTo>
                    <a:pt x="314" y="11"/>
                    <a:pt x="289" y="0"/>
                    <a:pt x="263" y="0"/>
                  </a:cubicBezTo>
                  <a:cubicBezTo>
                    <a:pt x="0" y="0"/>
                    <a:pt x="0" y="0"/>
                    <a:pt x="0" y="0"/>
                  </a:cubicBez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9">
              <a:extLst>
                <a:ext uri="{FF2B5EF4-FFF2-40B4-BE49-F238E27FC236}">
                  <a16:creationId xmlns:a16="http://schemas.microsoft.com/office/drawing/2014/main" id="{4B006A29-D4BA-4149-B62E-CDDCEF6978AC}"/>
                </a:ext>
              </a:extLst>
            </p:cNvPr>
            <p:cNvSpPr>
              <a:spLocks/>
            </p:cNvSpPr>
            <p:nvPr/>
          </p:nvSpPr>
          <p:spPr bwMode="auto">
            <a:xfrm>
              <a:off x="5918200" y="3644900"/>
              <a:ext cx="2641600" cy="923925"/>
            </a:xfrm>
            <a:custGeom>
              <a:avLst/>
              <a:gdLst>
                <a:gd name="T0" fmla="*/ 929 w 929"/>
                <a:gd name="T1" fmla="*/ 0 h 324"/>
                <a:gd name="T2" fmla="*/ 724 w 929"/>
                <a:gd name="T3" fmla="*/ 0 h 324"/>
                <a:gd name="T4" fmla="*/ 655 w 929"/>
                <a:gd name="T5" fmla="*/ 29 h 324"/>
                <a:gd name="T6" fmla="*/ 430 w 929"/>
                <a:gd name="T7" fmla="*/ 255 h 324"/>
                <a:gd name="T8" fmla="*/ 263 w 929"/>
                <a:gd name="T9" fmla="*/ 324 h 324"/>
                <a:gd name="T10" fmla="*/ 0 w 929"/>
                <a:gd name="T11" fmla="*/ 324 h 324"/>
              </a:gdLst>
              <a:ahLst/>
              <a:cxnLst>
                <a:cxn ang="0">
                  <a:pos x="T0" y="T1"/>
                </a:cxn>
                <a:cxn ang="0">
                  <a:pos x="T2" y="T3"/>
                </a:cxn>
                <a:cxn ang="0">
                  <a:pos x="T4" y="T5"/>
                </a:cxn>
                <a:cxn ang="0">
                  <a:pos x="T6" y="T7"/>
                </a:cxn>
                <a:cxn ang="0">
                  <a:pos x="T8" y="T9"/>
                </a:cxn>
                <a:cxn ang="0">
                  <a:pos x="T10" y="T11"/>
                </a:cxn>
              </a:cxnLst>
              <a:rect l="0" t="0" r="r" b="b"/>
              <a:pathLst>
                <a:path w="929" h="324">
                  <a:moveTo>
                    <a:pt x="929" y="0"/>
                  </a:moveTo>
                  <a:cubicBezTo>
                    <a:pt x="724" y="0"/>
                    <a:pt x="724" y="0"/>
                    <a:pt x="724" y="0"/>
                  </a:cubicBezTo>
                  <a:cubicBezTo>
                    <a:pt x="698" y="0"/>
                    <a:pt x="674" y="11"/>
                    <a:pt x="655" y="29"/>
                  </a:cubicBezTo>
                  <a:cubicBezTo>
                    <a:pt x="430" y="255"/>
                    <a:pt x="430" y="255"/>
                    <a:pt x="430" y="255"/>
                  </a:cubicBezTo>
                  <a:cubicBezTo>
                    <a:pt x="385" y="299"/>
                    <a:pt x="326" y="324"/>
                    <a:pt x="263" y="324"/>
                  </a:cubicBezTo>
                  <a:cubicBezTo>
                    <a:pt x="0" y="324"/>
                    <a:pt x="0" y="324"/>
                    <a:pt x="0" y="324"/>
                  </a:cubicBez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20">
              <a:extLst>
                <a:ext uri="{FF2B5EF4-FFF2-40B4-BE49-F238E27FC236}">
                  <a16:creationId xmlns:a16="http://schemas.microsoft.com/office/drawing/2014/main" id="{3C2CB164-1BE6-471B-B246-EF7FB7231919}"/>
                </a:ext>
              </a:extLst>
            </p:cNvPr>
            <p:cNvSpPr>
              <a:spLocks/>
            </p:cNvSpPr>
            <p:nvPr/>
          </p:nvSpPr>
          <p:spPr bwMode="auto">
            <a:xfrm>
              <a:off x="5918200" y="3254375"/>
              <a:ext cx="2255838" cy="922338"/>
            </a:xfrm>
            <a:custGeom>
              <a:avLst/>
              <a:gdLst>
                <a:gd name="T0" fmla="*/ 793 w 793"/>
                <a:gd name="T1" fmla="*/ 0 h 324"/>
                <a:gd name="T2" fmla="*/ 724 w 793"/>
                <a:gd name="T3" fmla="*/ 0 h 324"/>
                <a:gd name="T4" fmla="*/ 558 w 793"/>
                <a:gd name="T5" fmla="*/ 69 h 324"/>
                <a:gd name="T6" fmla="*/ 332 w 793"/>
                <a:gd name="T7" fmla="*/ 295 h 324"/>
                <a:gd name="T8" fmla="*/ 263 w 793"/>
                <a:gd name="T9" fmla="*/ 324 h 324"/>
                <a:gd name="T10" fmla="*/ 0 w 793"/>
                <a:gd name="T11" fmla="*/ 324 h 324"/>
              </a:gdLst>
              <a:ahLst/>
              <a:cxnLst>
                <a:cxn ang="0">
                  <a:pos x="T0" y="T1"/>
                </a:cxn>
                <a:cxn ang="0">
                  <a:pos x="T2" y="T3"/>
                </a:cxn>
                <a:cxn ang="0">
                  <a:pos x="T4" y="T5"/>
                </a:cxn>
                <a:cxn ang="0">
                  <a:pos x="T6" y="T7"/>
                </a:cxn>
                <a:cxn ang="0">
                  <a:pos x="T8" y="T9"/>
                </a:cxn>
                <a:cxn ang="0">
                  <a:pos x="T10" y="T11"/>
                </a:cxn>
              </a:cxnLst>
              <a:rect l="0" t="0" r="r" b="b"/>
              <a:pathLst>
                <a:path w="793" h="324">
                  <a:moveTo>
                    <a:pt x="793" y="0"/>
                  </a:moveTo>
                  <a:cubicBezTo>
                    <a:pt x="724" y="0"/>
                    <a:pt x="724" y="0"/>
                    <a:pt x="724" y="0"/>
                  </a:cubicBezTo>
                  <a:cubicBezTo>
                    <a:pt x="662" y="0"/>
                    <a:pt x="603" y="25"/>
                    <a:pt x="558" y="69"/>
                  </a:cubicBezTo>
                  <a:cubicBezTo>
                    <a:pt x="332" y="295"/>
                    <a:pt x="332" y="295"/>
                    <a:pt x="332" y="295"/>
                  </a:cubicBezTo>
                  <a:cubicBezTo>
                    <a:pt x="314" y="313"/>
                    <a:pt x="289" y="324"/>
                    <a:pt x="263" y="324"/>
                  </a:cubicBezTo>
                  <a:cubicBezTo>
                    <a:pt x="0" y="324"/>
                    <a:pt x="0" y="324"/>
                    <a:pt x="0" y="324"/>
                  </a:cubicBez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14" name="Picture 13" descr="A close up of a logo&#10;&#10;Description automatically generated">
            <a:extLst>
              <a:ext uri="{FF2B5EF4-FFF2-40B4-BE49-F238E27FC236}">
                <a16:creationId xmlns:a16="http://schemas.microsoft.com/office/drawing/2014/main" id="{74A3A973-6385-4D91-A23B-E0CBBADE5009}"/>
              </a:ext>
            </a:extLst>
          </p:cNvPr>
          <p:cNvPicPr>
            <a:picLocks noChangeAspect="1"/>
          </p:cNvPicPr>
          <p:nvPr/>
        </p:nvPicPr>
        <p:blipFill rotWithShape="1">
          <a:blip r:embed="rId2"/>
          <a:srcRect l="11992"/>
          <a:stretch/>
        </p:blipFill>
        <p:spPr>
          <a:xfrm>
            <a:off x="0" y="4763"/>
            <a:ext cx="5432508" cy="6858000"/>
          </a:xfrm>
          <a:prstGeom prst="rect">
            <a:avLst/>
          </a:prstGeom>
        </p:spPr>
      </p:pic>
      <p:sp>
        <p:nvSpPr>
          <p:cNvPr id="2" name="Title 1"/>
          <p:cNvSpPr>
            <a:spLocks noGrp="1"/>
          </p:cNvSpPr>
          <p:nvPr>
            <p:ph type="ctrTitle" hasCustomPrompt="1"/>
          </p:nvPr>
        </p:nvSpPr>
        <p:spPr>
          <a:xfrm>
            <a:off x="361950" y="361950"/>
            <a:ext cx="4402137" cy="2201376"/>
          </a:xfrm>
        </p:spPr>
        <p:txBody>
          <a:bodyPr anchor="b" anchorCtr="0">
            <a:noAutofit/>
          </a:bodyPr>
          <a:lstStyle>
            <a:lvl1pPr algn="l" fontAlgn="b">
              <a:lnSpc>
                <a:spcPct val="100000"/>
              </a:lnSpc>
              <a:defRPr sz="3800">
                <a:solidFill>
                  <a:schemeClr val="bg1"/>
                </a:solidFill>
              </a:defRPr>
            </a:lvl1pPr>
          </a:lstStyle>
          <a:p>
            <a:r>
              <a:rPr lang="en-US"/>
              <a:t>Title with multiple </a:t>
            </a:r>
            <a:br>
              <a:rPr lang="en-US"/>
            </a:br>
            <a:r>
              <a:rPr lang="en-US"/>
              <a:t>lines here</a:t>
            </a:r>
          </a:p>
        </p:txBody>
      </p:sp>
      <p:sp>
        <p:nvSpPr>
          <p:cNvPr id="3" name="Subtitle 2"/>
          <p:cNvSpPr>
            <a:spLocks noGrp="1"/>
          </p:cNvSpPr>
          <p:nvPr>
            <p:ph type="subTitle" idx="1" hasCustomPrompt="1"/>
          </p:nvPr>
        </p:nvSpPr>
        <p:spPr>
          <a:xfrm>
            <a:off x="377064" y="2682889"/>
            <a:ext cx="4242562" cy="1153319"/>
          </a:xfrm>
        </p:spPr>
        <p:txBody>
          <a:bodyPr tIns="0" anchor="t">
            <a:noAutofit/>
          </a:bodyPr>
          <a:lstStyle>
            <a:lvl1pPr marL="0" indent="0" algn="l">
              <a:buNone/>
              <a:defRPr sz="20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Date/subtitle goes here</a:t>
            </a:r>
          </a:p>
        </p:txBody>
      </p:sp>
      <p:sp>
        <p:nvSpPr>
          <p:cNvPr id="17" name="Text Placeholder 16">
            <a:extLst>
              <a:ext uri="{FF2B5EF4-FFF2-40B4-BE49-F238E27FC236}">
                <a16:creationId xmlns:a16="http://schemas.microsoft.com/office/drawing/2014/main" id="{53F3D094-8507-4675-9425-D7CCB291279A}"/>
              </a:ext>
            </a:extLst>
          </p:cNvPr>
          <p:cNvSpPr>
            <a:spLocks noGrp="1"/>
          </p:cNvSpPr>
          <p:nvPr>
            <p:ph type="body" sz="quarter" idx="10" hasCustomPrompt="1"/>
          </p:nvPr>
        </p:nvSpPr>
        <p:spPr>
          <a:xfrm>
            <a:off x="361875" y="4953000"/>
            <a:ext cx="4019626" cy="790575"/>
          </a:xfrm>
        </p:spPr>
        <p:txBody>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12" name="Freeform 5">
            <a:extLst>
              <a:ext uri="{FF2B5EF4-FFF2-40B4-BE49-F238E27FC236}">
                <a16:creationId xmlns:a16="http://schemas.microsoft.com/office/drawing/2014/main" id="{4D4D4EAC-2D01-4ED7-90E4-A8C115E12CBD}"/>
              </a:ext>
            </a:extLst>
          </p:cNvPr>
          <p:cNvSpPr>
            <a:spLocks noEditPoints="1"/>
          </p:cNvSpPr>
          <p:nvPr/>
        </p:nvSpPr>
        <p:spPr bwMode="auto">
          <a:xfrm>
            <a:off x="4101874" y="-3175"/>
            <a:ext cx="5530235" cy="6861176"/>
          </a:xfrm>
          <a:custGeom>
            <a:avLst/>
            <a:gdLst>
              <a:gd name="T0" fmla="*/ 738 w 1934"/>
              <a:gd name="T1" fmla="*/ 2360 h 2400"/>
              <a:gd name="T2" fmla="*/ 737 w 1934"/>
              <a:gd name="T3" fmla="*/ 2364 h 2400"/>
              <a:gd name="T4" fmla="*/ 729 w 1934"/>
              <a:gd name="T5" fmla="*/ 2364 h 2400"/>
              <a:gd name="T6" fmla="*/ 725 w 1934"/>
              <a:gd name="T7" fmla="*/ 2384 h 2400"/>
              <a:gd name="T8" fmla="*/ 722 w 1934"/>
              <a:gd name="T9" fmla="*/ 2384 h 2400"/>
              <a:gd name="T10" fmla="*/ 725 w 1934"/>
              <a:gd name="T11" fmla="*/ 2364 h 2400"/>
              <a:gd name="T12" fmla="*/ 718 w 1934"/>
              <a:gd name="T13" fmla="*/ 2364 h 2400"/>
              <a:gd name="T14" fmla="*/ 718 w 1934"/>
              <a:gd name="T15" fmla="*/ 2360 h 2400"/>
              <a:gd name="T16" fmla="*/ 738 w 1934"/>
              <a:gd name="T17" fmla="*/ 2360 h 2400"/>
              <a:gd name="T18" fmla="*/ 763 w 1934"/>
              <a:gd name="T19" fmla="*/ 2360 h 2400"/>
              <a:gd name="T20" fmla="*/ 752 w 1934"/>
              <a:gd name="T21" fmla="*/ 2374 h 2400"/>
              <a:gd name="T22" fmla="*/ 745 w 1934"/>
              <a:gd name="T23" fmla="*/ 2360 h 2400"/>
              <a:gd name="T24" fmla="*/ 742 w 1934"/>
              <a:gd name="T25" fmla="*/ 2360 h 2400"/>
              <a:gd name="T26" fmla="*/ 737 w 1934"/>
              <a:gd name="T27" fmla="*/ 2384 h 2400"/>
              <a:gd name="T28" fmla="*/ 741 w 1934"/>
              <a:gd name="T29" fmla="*/ 2384 h 2400"/>
              <a:gd name="T30" fmla="*/ 744 w 1934"/>
              <a:gd name="T31" fmla="*/ 2367 h 2400"/>
              <a:gd name="T32" fmla="*/ 750 w 1934"/>
              <a:gd name="T33" fmla="*/ 2379 h 2400"/>
              <a:gd name="T34" fmla="*/ 752 w 1934"/>
              <a:gd name="T35" fmla="*/ 2379 h 2400"/>
              <a:gd name="T36" fmla="*/ 762 w 1934"/>
              <a:gd name="T37" fmla="*/ 2367 h 2400"/>
              <a:gd name="T38" fmla="*/ 758 w 1934"/>
              <a:gd name="T39" fmla="*/ 2384 h 2400"/>
              <a:gd name="T40" fmla="*/ 762 w 1934"/>
              <a:gd name="T41" fmla="*/ 2384 h 2400"/>
              <a:gd name="T42" fmla="*/ 767 w 1934"/>
              <a:gd name="T43" fmla="*/ 2360 h 2400"/>
              <a:gd name="T44" fmla="*/ 763 w 1934"/>
              <a:gd name="T45" fmla="*/ 2360 h 2400"/>
              <a:gd name="T46" fmla="*/ 1535 w 1934"/>
              <a:gd name="T47" fmla="*/ 0 h 2400"/>
              <a:gd name="T48" fmla="*/ 971 w 1934"/>
              <a:gd name="T49" fmla="*/ 523 h 2400"/>
              <a:gd name="T50" fmla="*/ 1070 w 1934"/>
              <a:gd name="T51" fmla="*/ 0 h 2400"/>
              <a:gd name="T52" fmla="*/ 457 w 1934"/>
              <a:gd name="T53" fmla="*/ 0 h 2400"/>
              <a:gd name="T54" fmla="*/ 0 w 1934"/>
              <a:gd name="T55" fmla="*/ 2400 h 2400"/>
              <a:gd name="T56" fmla="*/ 697 w 1934"/>
              <a:gd name="T57" fmla="*/ 2400 h 2400"/>
              <a:gd name="T58" fmla="*/ 885 w 1934"/>
              <a:gd name="T59" fmla="*/ 1410 h 2400"/>
              <a:gd name="T60" fmla="*/ 1807 w 1934"/>
              <a:gd name="T61" fmla="*/ 666 h 2400"/>
              <a:gd name="T62" fmla="*/ 1934 w 1934"/>
              <a:gd name="T63" fmla="*/ 0 h 2400"/>
              <a:gd name="T64" fmla="*/ 1535 w 1934"/>
              <a:gd name="T65" fmla="*/ 0 h 2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34" h="2400">
                <a:moveTo>
                  <a:pt x="738" y="2360"/>
                </a:moveTo>
                <a:cubicBezTo>
                  <a:pt x="737" y="2364"/>
                  <a:pt x="737" y="2364"/>
                  <a:pt x="737" y="2364"/>
                </a:cubicBezTo>
                <a:cubicBezTo>
                  <a:pt x="729" y="2364"/>
                  <a:pt x="729" y="2364"/>
                  <a:pt x="729" y="2364"/>
                </a:cubicBezTo>
                <a:cubicBezTo>
                  <a:pt x="725" y="2384"/>
                  <a:pt x="725" y="2384"/>
                  <a:pt x="725" y="2384"/>
                </a:cubicBezTo>
                <a:cubicBezTo>
                  <a:pt x="722" y="2384"/>
                  <a:pt x="722" y="2384"/>
                  <a:pt x="722" y="2384"/>
                </a:cubicBezTo>
                <a:cubicBezTo>
                  <a:pt x="725" y="2364"/>
                  <a:pt x="725" y="2364"/>
                  <a:pt x="725" y="2364"/>
                </a:cubicBezTo>
                <a:cubicBezTo>
                  <a:pt x="718" y="2364"/>
                  <a:pt x="718" y="2364"/>
                  <a:pt x="718" y="2364"/>
                </a:cubicBezTo>
                <a:cubicBezTo>
                  <a:pt x="718" y="2360"/>
                  <a:pt x="718" y="2360"/>
                  <a:pt x="718" y="2360"/>
                </a:cubicBezTo>
                <a:lnTo>
                  <a:pt x="738" y="2360"/>
                </a:lnTo>
                <a:close/>
                <a:moveTo>
                  <a:pt x="763" y="2360"/>
                </a:moveTo>
                <a:cubicBezTo>
                  <a:pt x="752" y="2374"/>
                  <a:pt x="752" y="2374"/>
                  <a:pt x="752" y="2374"/>
                </a:cubicBezTo>
                <a:cubicBezTo>
                  <a:pt x="745" y="2360"/>
                  <a:pt x="745" y="2360"/>
                  <a:pt x="745" y="2360"/>
                </a:cubicBezTo>
                <a:cubicBezTo>
                  <a:pt x="742" y="2360"/>
                  <a:pt x="742" y="2360"/>
                  <a:pt x="742" y="2360"/>
                </a:cubicBezTo>
                <a:cubicBezTo>
                  <a:pt x="737" y="2384"/>
                  <a:pt x="737" y="2384"/>
                  <a:pt x="737" y="2384"/>
                </a:cubicBezTo>
                <a:cubicBezTo>
                  <a:pt x="741" y="2384"/>
                  <a:pt x="741" y="2384"/>
                  <a:pt x="741" y="2384"/>
                </a:cubicBezTo>
                <a:cubicBezTo>
                  <a:pt x="744" y="2367"/>
                  <a:pt x="744" y="2367"/>
                  <a:pt x="744" y="2367"/>
                </a:cubicBezTo>
                <a:cubicBezTo>
                  <a:pt x="750" y="2379"/>
                  <a:pt x="750" y="2379"/>
                  <a:pt x="750" y="2379"/>
                </a:cubicBezTo>
                <a:cubicBezTo>
                  <a:pt x="752" y="2379"/>
                  <a:pt x="752" y="2379"/>
                  <a:pt x="752" y="2379"/>
                </a:cubicBezTo>
                <a:cubicBezTo>
                  <a:pt x="762" y="2367"/>
                  <a:pt x="762" y="2367"/>
                  <a:pt x="762" y="2367"/>
                </a:cubicBezTo>
                <a:cubicBezTo>
                  <a:pt x="758" y="2384"/>
                  <a:pt x="758" y="2384"/>
                  <a:pt x="758" y="2384"/>
                </a:cubicBezTo>
                <a:cubicBezTo>
                  <a:pt x="762" y="2384"/>
                  <a:pt x="762" y="2384"/>
                  <a:pt x="762" y="2384"/>
                </a:cubicBezTo>
                <a:cubicBezTo>
                  <a:pt x="767" y="2360"/>
                  <a:pt x="767" y="2360"/>
                  <a:pt x="767" y="2360"/>
                </a:cubicBezTo>
                <a:lnTo>
                  <a:pt x="763" y="2360"/>
                </a:lnTo>
                <a:close/>
                <a:moveTo>
                  <a:pt x="1535" y="0"/>
                </a:moveTo>
                <a:cubicBezTo>
                  <a:pt x="1283" y="89"/>
                  <a:pt x="1078" y="279"/>
                  <a:pt x="971" y="523"/>
                </a:cubicBezTo>
                <a:cubicBezTo>
                  <a:pt x="1070" y="0"/>
                  <a:pt x="1070" y="0"/>
                  <a:pt x="1070" y="0"/>
                </a:cubicBezTo>
                <a:cubicBezTo>
                  <a:pt x="457" y="0"/>
                  <a:pt x="457" y="0"/>
                  <a:pt x="457" y="0"/>
                </a:cubicBezTo>
                <a:cubicBezTo>
                  <a:pt x="0" y="2400"/>
                  <a:pt x="0" y="2400"/>
                  <a:pt x="0" y="2400"/>
                </a:cubicBezTo>
                <a:cubicBezTo>
                  <a:pt x="697" y="2400"/>
                  <a:pt x="697" y="2400"/>
                  <a:pt x="697" y="2400"/>
                </a:cubicBezTo>
                <a:cubicBezTo>
                  <a:pt x="885" y="1410"/>
                  <a:pt x="885" y="1410"/>
                  <a:pt x="885" y="1410"/>
                </a:cubicBezTo>
                <a:cubicBezTo>
                  <a:pt x="996" y="827"/>
                  <a:pt x="1331" y="593"/>
                  <a:pt x="1807" y="666"/>
                </a:cubicBezTo>
                <a:cubicBezTo>
                  <a:pt x="1934" y="0"/>
                  <a:pt x="1934" y="0"/>
                  <a:pt x="1934" y="0"/>
                </a:cubicBezTo>
                <a:lnTo>
                  <a:pt x="1535"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 name="Freeform 5">
            <a:extLst>
              <a:ext uri="{FF2B5EF4-FFF2-40B4-BE49-F238E27FC236}">
                <a16:creationId xmlns:a16="http://schemas.microsoft.com/office/drawing/2014/main" id="{CCFC7880-B034-486A-8893-74E17548C9AF}"/>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6" name="Group 35">
            <a:extLst>
              <a:ext uri="{FF2B5EF4-FFF2-40B4-BE49-F238E27FC236}">
                <a16:creationId xmlns:a16="http://schemas.microsoft.com/office/drawing/2014/main" id="{E9F1ECED-7D89-4877-846B-696CCBF1EC3B}"/>
              </a:ext>
            </a:extLst>
          </p:cNvPr>
          <p:cNvGrpSpPr/>
          <p:nvPr/>
        </p:nvGrpSpPr>
        <p:grpSpPr>
          <a:xfrm>
            <a:off x="10241279" y="5808617"/>
            <a:ext cx="1455289" cy="742043"/>
            <a:chOff x="6551613" y="3198813"/>
            <a:chExt cx="5856287" cy="2986087"/>
          </a:xfrm>
          <a:solidFill>
            <a:schemeClr val="bg1"/>
          </a:solidFill>
        </p:grpSpPr>
        <p:sp>
          <p:nvSpPr>
            <p:cNvPr id="37" name="Freeform 5">
              <a:extLst>
                <a:ext uri="{FF2B5EF4-FFF2-40B4-BE49-F238E27FC236}">
                  <a16:creationId xmlns:a16="http://schemas.microsoft.com/office/drawing/2014/main" id="{C6C2C708-F66F-4681-842E-1E0B031DB3B7}"/>
                </a:ext>
              </a:extLst>
            </p:cNvPr>
            <p:cNvSpPr>
              <a:spLocks/>
            </p:cNvSpPr>
            <p:nvPr/>
          </p:nvSpPr>
          <p:spPr bwMode="auto">
            <a:xfrm>
              <a:off x="6559550" y="3346450"/>
              <a:ext cx="822325" cy="1155700"/>
            </a:xfrm>
            <a:custGeom>
              <a:avLst/>
              <a:gdLst>
                <a:gd name="T0" fmla="*/ 209 w 218"/>
                <a:gd name="T1" fmla="*/ 36 h 306"/>
                <a:gd name="T2" fmla="*/ 181 w 218"/>
                <a:gd name="T3" fmla="*/ 68 h 306"/>
                <a:gd name="T4" fmla="*/ 115 w 218"/>
                <a:gd name="T5" fmla="*/ 42 h 306"/>
                <a:gd name="T6" fmla="*/ 70 w 218"/>
                <a:gd name="T7" fmla="*/ 77 h 306"/>
                <a:gd name="T8" fmla="*/ 130 w 218"/>
                <a:gd name="T9" fmla="*/ 123 h 306"/>
                <a:gd name="T10" fmla="*/ 218 w 218"/>
                <a:gd name="T11" fmla="*/ 216 h 306"/>
                <a:gd name="T12" fmla="*/ 106 w 218"/>
                <a:gd name="T13" fmla="*/ 306 h 306"/>
                <a:gd name="T14" fmla="*/ 0 w 218"/>
                <a:gd name="T15" fmla="*/ 266 h 306"/>
                <a:gd name="T16" fmla="*/ 29 w 218"/>
                <a:gd name="T17" fmla="*/ 233 h 306"/>
                <a:gd name="T18" fmla="*/ 105 w 218"/>
                <a:gd name="T19" fmla="*/ 263 h 306"/>
                <a:gd name="T20" fmla="*/ 159 w 218"/>
                <a:gd name="T21" fmla="*/ 219 h 306"/>
                <a:gd name="T22" fmla="*/ 101 w 218"/>
                <a:gd name="T23" fmla="*/ 169 h 306"/>
                <a:gd name="T24" fmla="*/ 12 w 218"/>
                <a:gd name="T25" fmla="*/ 81 h 306"/>
                <a:gd name="T26" fmla="*/ 112 w 218"/>
                <a:gd name="T27" fmla="*/ 0 h 306"/>
                <a:gd name="T28" fmla="*/ 209 w 218"/>
                <a:gd name="T29" fmla="*/ 3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8" h="306">
                  <a:moveTo>
                    <a:pt x="209" y="36"/>
                  </a:moveTo>
                  <a:cubicBezTo>
                    <a:pt x="181" y="68"/>
                    <a:pt x="181" y="68"/>
                    <a:pt x="181" y="68"/>
                  </a:cubicBezTo>
                  <a:cubicBezTo>
                    <a:pt x="160" y="50"/>
                    <a:pt x="140" y="42"/>
                    <a:pt x="115" y="42"/>
                  </a:cubicBezTo>
                  <a:cubicBezTo>
                    <a:pt x="89" y="42"/>
                    <a:pt x="70" y="54"/>
                    <a:pt x="70" y="77"/>
                  </a:cubicBezTo>
                  <a:cubicBezTo>
                    <a:pt x="70" y="99"/>
                    <a:pt x="81" y="108"/>
                    <a:pt x="130" y="123"/>
                  </a:cubicBezTo>
                  <a:cubicBezTo>
                    <a:pt x="182" y="139"/>
                    <a:pt x="218" y="161"/>
                    <a:pt x="218" y="216"/>
                  </a:cubicBezTo>
                  <a:cubicBezTo>
                    <a:pt x="218" y="269"/>
                    <a:pt x="176" y="306"/>
                    <a:pt x="106" y="306"/>
                  </a:cubicBezTo>
                  <a:cubicBezTo>
                    <a:pt x="59" y="306"/>
                    <a:pt x="24" y="290"/>
                    <a:pt x="0" y="266"/>
                  </a:cubicBezTo>
                  <a:cubicBezTo>
                    <a:pt x="29" y="233"/>
                    <a:pt x="29" y="233"/>
                    <a:pt x="29" y="233"/>
                  </a:cubicBezTo>
                  <a:cubicBezTo>
                    <a:pt x="51" y="252"/>
                    <a:pt x="74" y="263"/>
                    <a:pt x="105" y="263"/>
                  </a:cubicBezTo>
                  <a:cubicBezTo>
                    <a:pt x="136" y="263"/>
                    <a:pt x="159" y="248"/>
                    <a:pt x="159" y="219"/>
                  </a:cubicBezTo>
                  <a:cubicBezTo>
                    <a:pt x="159" y="194"/>
                    <a:pt x="147" y="183"/>
                    <a:pt x="101" y="169"/>
                  </a:cubicBezTo>
                  <a:cubicBezTo>
                    <a:pt x="39" y="150"/>
                    <a:pt x="12" y="125"/>
                    <a:pt x="12" y="81"/>
                  </a:cubicBezTo>
                  <a:cubicBezTo>
                    <a:pt x="12" y="32"/>
                    <a:pt x="54" y="0"/>
                    <a:pt x="112" y="0"/>
                  </a:cubicBezTo>
                  <a:cubicBezTo>
                    <a:pt x="155" y="0"/>
                    <a:pt x="184" y="12"/>
                    <a:pt x="209"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6">
              <a:extLst>
                <a:ext uri="{FF2B5EF4-FFF2-40B4-BE49-F238E27FC236}">
                  <a16:creationId xmlns:a16="http://schemas.microsoft.com/office/drawing/2014/main" id="{0E261E13-1B9A-4F4C-8D86-71FE73D68FF4}"/>
                </a:ext>
              </a:extLst>
            </p:cNvPr>
            <p:cNvSpPr>
              <a:spLocks noEditPoints="1"/>
            </p:cNvSpPr>
            <p:nvPr/>
          </p:nvSpPr>
          <p:spPr bwMode="auto">
            <a:xfrm>
              <a:off x="7456488" y="3603625"/>
              <a:ext cx="800100" cy="898525"/>
            </a:xfrm>
            <a:custGeom>
              <a:avLst/>
              <a:gdLst>
                <a:gd name="T0" fmla="*/ 212 w 212"/>
                <a:gd name="T1" fmla="*/ 119 h 238"/>
                <a:gd name="T2" fmla="*/ 106 w 212"/>
                <a:gd name="T3" fmla="*/ 238 h 238"/>
                <a:gd name="T4" fmla="*/ 0 w 212"/>
                <a:gd name="T5" fmla="*/ 119 h 238"/>
                <a:gd name="T6" fmla="*/ 106 w 212"/>
                <a:gd name="T7" fmla="*/ 0 h 238"/>
                <a:gd name="T8" fmla="*/ 212 w 212"/>
                <a:gd name="T9" fmla="*/ 119 h 238"/>
                <a:gd name="T10" fmla="*/ 57 w 212"/>
                <a:gd name="T11" fmla="*/ 119 h 238"/>
                <a:gd name="T12" fmla="*/ 106 w 212"/>
                <a:gd name="T13" fmla="*/ 197 h 238"/>
                <a:gd name="T14" fmla="*/ 154 w 212"/>
                <a:gd name="T15" fmla="*/ 119 h 238"/>
                <a:gd name="T16" fmla="*/ 106 w 212"/>
                <a:gd name="T17" fmla="*/ 42 h 238"/>
                <a:gd name="T18" fmla="*/ 57 w 212"/>
                <a:gd name="T19" fmla="*/ 11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8">
                  <a:moveTo>
                    <a:pt x="212" y="119"/>
                  </a:moveTo>
                  <a:cubicBezTo>
                    <a:pt x="212" y="190"/>
                    <a:pt x="172" y="238"/>
                    <a:pt x="106" y="238"/>
                  </a:cubicBezTo>
                  <a:cubicBezTo>
                    <a:pt x="40" y="238"/>
                    <a:pt x="0" y="193"/>
                    <a:pt x="0" y="119"/>
                  </a:cubicBezTo>
                  <a:cubicBezTo>
                    <a:pt x="0" y="48"/>
                    <a:pt x="40" y="0"/>
                    <a:pt x="106" y="0"/>
                  </a:cubicBezTo>
                  <a:cubicBezTo>
                    <a:pt x="173" y="0"/>
                    <a:pt x="212" y="46"/>
                    <a:pt x="212" y="119"/>
                  </a:cubicBezTo>
                  <a:moveTo>
                    <a:pt x="57" y="119"/>
                  </a:moveTo>
                  <a:cubicBezTo>
                    <a:pt x="57" y="173"/>
                    <a:pt x="74" y="197"/>
                    <a:pt x="106" y="197"/>
                  </a:cubicBezTo>
                  <a:cubicBezTo>
                    <a:pt x="138" y="197"/>
                    <a:pt x="154" y="173"/>
                    <a:pt x="154" y="119"/>
                  </a:cubicBezTo>
                  <a:cubicBezTo>
                    <a:pt x="154" y="66"/>
                    <a:pt x="138" y="42"/>
                    <a:pt x="106" y="42"/>
                  </a:cubicBezTo>
                  <a:cubicBezTo>
                    <a:pt x="74" y="42"/>
                    <a:pt x="57" y="66"/>
                    <a:pt x="57"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7">
              <a:extLst>
                <a:ext uri="{FF2B5EF4-FFF2-40B4-BE49-F238E27FC236}">
                  <a16:creationId xmlns:a16="http://schemas.microsoft.com/office/drawing/2014/main" id="{C8313422-4C68-499E-AB13-5AAC6B5EFAC5}"/>
                </a:ext>
              </a:extLst>
            </p:cNvPr>
            <p:cNvSpPr>
              <a:spLocks/>
            </p:cNvSpPr>
            <p:nvPr/>
          </p:nvSpPr>
          <p:spPr bwMode="auto">
            <a:xfrm>
              <a:off x="8369300" y="3267075"/>
              <a:ext cx="342900" cy="1235075"/>
            </a:xfrm>
            <a:custGeom>
              <a:avLst/>
              <a:gdLst>
                <a:gd name="T0" fmla="*/ 0 w 91"/>
                <a:gd name="T1" fmla="*/ 269 h 327"/>
                <a:gd name="T2" fmla="*/ 0 w 91"/>
                <a:gd name="T3" fmla="*/ 6 h 327"/>
                <a:gd name="T4" fmla="*/ 54 w 91"/>
                <a:gd name="T5" fmla="*/ 0 h 327"/>
                <a:gd name="T6" fmla="*/ 54 w 91"/>
                <a:gd name="T7" fmla="*/ 268 h 327"/>
                <a:gd name="T8" fmla="*/ 67 w 91"/>
                <a:gd name="T9" fmla="*/ 283 h 327"/>
                <a:gd name="T10" fmla="*/ 80 w 91"/>
                <a:gd name="T11" fmla="*/ 281 h 327"/>
                <a:gd name="T12" fmla="*/ 91 w 91"/>
                <a:gd name="T13" fmla="*/ 320 h 327"/>
                <a:gd name="T14" fmla="*/ 55 w 91"/>
                <a:gd name="T15" fmla="*/ 327 h 327"/>
                <a:gd name="T16" fmla="*/ 0 w 91"/>
                <a:gd name="T17" fmla="*/ 269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327">
                  <a:moveTo>
                    <a:pt x="0" y="269"/>
                  </a:moveTo>
                  <a:cubicBezTo>
                    <a:pt x="0" y="6"/>
                    <a:pt x="0" y="6"/>
                    <a:pt x="0" y="6"/>
                  </a:cubicBezTo>
                  <a:cubicBezTo>
                    <a:pt x="54" y="0"/>
                    <a:pt x="54" y="0"/>
                    <a:pt x="54" y="0"/>
                  </a:cubicBezTo>
                  <a:cubicBezTo>
                    <a:pt x="54" y="268"/>
                    <a:pt x="54" y="268"/>
                    <a:pt x="54" y="268"/>
                  </a:cubicBezTo>
                  <a:cubicBezTo>
                    <a:pt x="54" y="278"/>
                    <a:pt x="58" y="283"/>
                    <a:pt x="67" y="283"/>
                  </a:cubicBezTo>
                  <a:cubicBezTo>
                    <a:pt x="72" y="283"/>
                    <a:pt x="76" y="283"/>
                    <a:pt x="80" y="281"/>
                  </a:cubicBezTo>
                  <a:cubicBezTo>
                    <a:pt x="91" y="320"/>
                    <a:pt x="91" y="320"/>
                    <a:pt x="91" y="320"/>
                  </a:cubicBezTo>
                  <a:cubicBezTo>
                    <a:pt x="82" y="324"/>
                    <a:pt x="69" y="327"/>
                    <a:pt x="55" y="327"/>
                  </a:cubicBezTo>
                  <a:cubicBezTo>
                    <a:pt x="20" y="327"/>
                    <a:pt x="0" y="306"/>
                    <a:pt x="0" y="2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8">
              <a:extLst>
                <a:ext uri="{FF2B5EF4-FFF2-40B4-BE49-F238E27FC236}">
                  <a16:creationId xmlns:a16="http://schemas.microsoft.com/office/drawing/2014/main" id="{168A9235-959C-40F1-B326-E1F4FC15F43C}"/>
                </a:ext>
              </a:extLst>
            </p:cNvPr>
            <p:cNvSpPr>
              <a:spLocks/>
            </p:cNvSpPr>
            <p:nvPr/>
          </p:nvSpPr>
          <p:spPr bwMode="auto">
            <a:xfrm>
              <a:off x="8640763" y="3630613"/>
              <a:ext cx="803275" cy="849312"/>
            </a:xfrm>
            <a:custGeom>
              <a:avLst/>
              <a:gdLst>
                <a:gd name="T0" fmla="*/ 330 w 506"/>
                <a:gd name="T1" fmla="*/ 535 h 535"/>
                <a:gd name="T2" fmla="*/ 176 w 506"/>
                <a:gd name="T3" fmla="*/ 535 h 535"/>
                <a:gd name="T4" fmla="*/ 0 w 506"/>
                <a:gd name="T5" fmla="*/ 0 h 535"/>
                <a:gd name="T6" fmla="*/ 140 w 506"/>
                <a:gd name="T7" fmla="*/ 0 h 535"/>
                <a:gd name="T8" fmla="*/ 254 w 506"/>
                <a:gd name="T9" fmla="*/ 430 h 535"/>
                <a:gd name="T10" fmla="*/ 371 w 506"/>
                <a:gd name="T11" fmla="*/ 0 h 535"/>
                <a:gd name="T12" fmla="*/ 506 w 506"/>
                <a:gd name="T13" fmla="*/ 0 h 535"/>
                <a:gd name="T14" fmla="*/ 330 w 506"/>
                <a:gd name="T15" fmla="*/ 535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6" h="535">
                  <a:moveTo>
                    <a:pt x="330" y="535"/>
                  </a:moveTo>
                  <a:lnTo>
                    <a:pt x="176" y="535"/>
                  </a:lnTo>
                  <a:lnTo>
                    <a:pt x="0" y="0"/>
                  </a:lnTo>
                  <a:lnTo>
                    <a:pt x="140" y="0"/>
                  </a:lnTo>
                  <a:lnTo>
                    <a:pt x="254" y="430"/>
                  </a:lnTo>
                  <a:lnTo>
                    <a:pt x="371" y="0"/>
                  </a:lnTo>
                  <a:lnTo>
                    <a:pt x="506" y="0"/>
                  </a:lnTo>
                  <a:lnTo>
                    <a:pt x="330" y="5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9">
              <a:extLst>
                <a:ext uri="{FF2B5EF4-FFF2-40B4-BE49-F238E27FC236}">
                  <a16:creationId xmlns:a16="http://schemas.microsoft.com/office/drawing/2014/main" id="{65EE248C-8592-406A-9281-28418A79F296}"/>
                </a:ext>
              </a:extLst>
            </p:cNvPr>
            <p:cNvSpPr>
              <a:spLocks noEditPoints="1"/>
            </p:cNvSpPr>
            <p:nvPr/>
          </p:nvSpPr>
          <p:spPr bwMode="auto">
            <a:xfrm>
              <a:off x="9471025" y="3198813"/>
              <a:ext cx="255587" cy="1281112"/>
            </a:xfrm>
            <a:custGeom>
              <a:avLst/>
              <a:gdLst>
                <a:gd name="T0" fmla="*/ 68 w 68"/>
                <a:gd name="T1" fmla="*/ 33 h 339"/>
                <a:gd name="T2" fmla="*/ 34 w 68"/>
                <a:gd name="T3" fmla="*/ 66 h 339"/>
                <a:gd name="T4" fmla="*/ 0 w 68"/>
                <a:gd name="T5" fmla="*/ 33 h 339"/>
                <a:gd name="T6" fmla="*/ 34 w 68"/>
                <a:gd name="T7" fmla="*/ 0 h 339"/>
                <a:gd name="T8" fmla="*/ 68 w 68"/>
                <a:gd name="T9" fmla="*/ 33 h 339"/>
                <a:gd name="T10" fmla="*/ 62 w 68"/>
                <a:gd name="T11" fmla="*/ 339 h 339"/>
                <a:gd name="T12" fmla="*/ 7 w 68"/>
                <a:gd name="T13" fmla="*/ 339 h 339"/>
                <a:gd name="T14" fmla="*/ 7 w 68"/>
                <a:gd name="T15" fmla="*/ 114 h 339"/>
                <a:gd name="T16" fmla="*/ 62 w 68"/>
                <a:gd name="T17" fmla="*/ 114 h 339"/>
                <a:gd name="T18" fmla="*/ 62 w 68"/>
                <a:gd name="T19" fmla="*/ 3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339">
                  <a:moveTo>
                    <a:pt x="68" y="33"/>
                  </a:moveTo>
                  <a:cubicBezTo>
                    <a:pt x="68" y="51"/>
                    <a:pt x="54" y="66"/>
                    <a:pt x="34" y="66"/>
                  </a:cubicBezTo>
                  <a:cubicBezTo>
                    <a:pt x="14" y="66"/>
                    <a:pt x="0" y="51"/>
                    <a:pt x="0" y="33"/>
                  </a:cubicBezTo>
                  <a:cubicBezTo>
                    <a:pt x="0" y="14"/>
                    <a:pt x="14" y="0"/>
                    <a:pt x="34" y="0"/>
                  </a:cubicBezTo>
                  <a:cubicBezTo>
                    <a:pt x="54" y="0"/>
                    <a:pt x="68" y="14"/>
                    <a:pt x="68" y="33"/>
                  </a:cubicBezTo>
                  <a:moveTo>
                    <a:pt x="62" y="339"/>
                  </a:moveTo>
                  <a:cubicBezTo>
                    <a:pt x="7" y="339"/>
                    <a:pt x="7" y="339"/>
                    <a:pt x="7" y="339"/>
                  </a:cubicBezTo>
                  <a:cubicBezTo>
                    <a:pt x="7" y="114"/>
                    <a:pt x="7" y="114"/>
                    <a:pt x="7" y="114"/>
                  </a:cubicBezTo>
                  <a:cubicBezTo>
                    <a:pt x="62" y="114"/>
                    <a:pt x="62" y="114"/>
                    <a:pt x="62" y="114"/>
                  </a:cubicBezTo>
                  <a:lnTo>
                    <a:pt x="62" y="3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10">
              <a:extLst>
                <a:ext uri="{FF2B5EF4-FFF2-40B4-BE49-F238E27FC236}">
                  <a16:creationId xmlns:a16="http://schemas.microsoft.com/office/drawing/2014/main" id="{01FE2F4B-BFE3-4CBF-A3F7-2CDC97BBAD36}"/>
                </a:ext>
              </a:extLst>
            </p:cNvPr>
            <p:cNvSpPr>
              <a:spLocks/>
            </p:cNvSpPr>
            <p:nvPr/>
          </p:nvSpPr>
          <p:spPr bwMode="auto">
            <a:xfrm>
              <a:off x="9877425" y="3603625"/>
              <a:ext cx="693737" cy="876300"/>
            </a:xfrm>
            <a:custGeom>
              <a:avLst/>
              <a:gdLst>
                <a:gd name="T0" fmla="*/ 184 w 184"/>
                <a:gd name="T1" fmla="*/ 69 h 232"/>
                <a:gd name="T2" fmla="*/ 184 w 184"/>
                <a:gd name="T3" fmla="*/ 232 h 232"/>
                <a:gd name="T4" fmla="*/ 129 w 184"/>
                <a:gd name="T5" fmla="*/ 232 h 232"/>
                <a:gd name="T6" fmla="*/ 129 w 184"/>
                <a:gd name="T7" fmla="*/ 77 h 232"/>
                <a:gd name="T8" fmla="*/ 102 w 184"/>
                <a:gd name="T9" fmla="*/ 41 h 232"/>
                <a:gd name="T10" fmla="*/ 54 w 184"/>
                <a:gd name="T11" fmla="*/ 75 h 232"/>
                <a:gd name="T12" fmla="*/ 54 w 184"/>
                <a:gd name="T13" fmla="*/ 232 h 232"/>
                <a:gd name="T14" fmla="*/ 0 w 184"/>
                <a:gd name="T15" fmla="*/ 232 h 232"/>
                <a:gd name="T16" fmla="*/ 0 w 184"/>
                <a:gd name="T17" fmla="*/ 7 h 232"/>
                <a:gd name="T18" fmla="*/ 47 w 184"/>
                <a:gd name="T19" fmla="*/ 7 h 232"/>
                <a:gd name="T20" fmla="*/ 51 w 184"/>
                <a:gd name="T21" fmla="*/ 36 h 232"/>
                <a:gd name="T22" fmla="*/ 120 w 184"/>
                <a:gd name="T23" fmla="*/ 0 h 232"/>
                <a:gd name="T24" fmla="*/ 184 w 184"/>
                <a:gd name="T25" fmla="*/ 69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232">
                  <a:moveTo>
                    <a:pt x="184" y="69"/>
                  </a:moveTo>
                  <a:cubicBezTo>
                    <a:pt x="184" y="232"/>
                    <a:pt x="184" y="232"/>
                    <a:pt x="184" y="232"/>
                  </a:cubicBezTo>
                  <a:cubicBezTo>
                    <a:pt x="129" y="232"/>
                    <a:pt x="129" y="232"/>
                    <a:pt x="129" y="232"/>
                  </a:cubicBezTo>
                  <a:cubicBezTo>
                    <a:pt x="129" y="77"/>
                    <a:pt x="129" y="77"/>
                    <a:pt x="129" y="77"/>
                  </a:cubicBezTo>
                  <a:cubicBezTo>
                    <a:pt x="129" y="49"/>
                    <a:pt x="119" y="41"/>
                    <a:pt x="102" y="41"/>
                  </a:cubicBezTo>
                  <a:cubicBezTo>
                    <a:pt x="82" y="41"/>
                    <a:pt x="68" y="54"/>
                    <a:pt x="54" y="75"/>
                  </a:cubicBezTo>
                  <a:cubicBezTo>
                    <a:pt x="54" y="232"/>
                    <a:pt x="54" y="232"/>
                    <a:pt x="54" y="232"/>
                  </a:cubicBezTo>
                  <a:cubicBezTo>
                    <a:pt x="0" y="232"/>
                    <a:pt x="0" y="232"/>
                    <a:pt x="0" y="232"/>
                  </a:cubicBezTo>
                  <a:cubicBezTo>
                    <a:pt x="0" y="7"/>
                    <a:pt x="0" y="7"/>
                    <a:pt x="0" y="7"/>
                  </a:cubicBezTo>
                  <a:cubicBezTo>
                    <a:pt x="47" y="7"/>
                    <a:pt x="47" y="7"/>
                    <a:pt x="47" y="7"/>
                  </a:cubicBezTo>
                  <a:cubicBezTo>
                    <a:pt x="51" y="36"/>
                    <a:pt x="51" y="36"/>
                    <a:pt x="51" y="36"/>
                  </a:cubicBezTo>
                  <a:cubicBezTo>
                    <a:pt x="69" y="14"/>
                    <a:pt x="91" y="0"/>
                    <a:pt x="120" y="0"/>
                  </a:cubicBezTo>
                  <a:cubicBezTo>
                    <a:pt x="160" y="0"/>
                    <a:pt x="184" y="26"/>
                    <a:pt x="184" y="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11">
              <a:extLst>
                <a:ext uri="{FF2B5EF4-FFF2-40B4-BE49-F238E27FC236}">
                  <a16:creationId xmlns:a16="http://schemas.microsoft.com/office/drawing/2014/main" id="{E3FCE8F6-4A54-476E-B268-0D03BF8CBBF0}"/>
                </a:ext>
              </a:extLst>
            </p:cNvPr>
            <p:cNvSpPr>
              <a:spLocks noEditPoints="1"/>
            </p:cNvSpPr>
            <p:nvPr/>
          </p:nvSpPr>
          <p:spPr bwMode="auto">
            <a:xfrm>
              <a:off x="10628313" y="3509963"/>
              <a:ext cx="836612" cy="1322387"/>
            </a:xfrm>
            <a:custGeom>
              <a:avLst/>
              <a:gdLst>
                <a:gd name="T0" fmla="*/ 222 w 222"/>
                <a:gd name="T1" fmla="*/ 44 h 350"/>
                <a:gd name="T2" fmla="*/ 156 w 222"/>
                <a:gd name="T3" fmla="*/ 51 h 350"/>
                <a:gd name="T4" fmla="*/ 197 w 222"/>
                <a:gd name="T5" fmla="*/ 109 h 350"/>
                <a:gd name="T6" fmla="*/ 107 w 222"/>
                <a:gd name="T7" fmla="*/ 185 h 350"/>
                <a:gd name="T8" fmla="*/ 80 w 222"/>
                <a:gd name="T9" fmla="*/ 182 h 350"/>
                <a:gd name="T10" fmla="*/ 71 w 222"/>
                <a:gd name="T11" fmla="*/ 198 h 350"/>
                <a:gd name="T12" fmla="*/ 98 w 222"/>
                <a:gd name="T13" fmla="*/ 214 h 350"/>
                <a:gd name="T14" fmla="*/ 132 w 222"/>
                <a:gd name="T15" fmla="*/ 214 h 350"/>
                <a:gd name="T16" fmla="*/ 214 w 222"/>
                <a:gd name="T17" fmla="*/ 278 h 350"/>
                <a:gd name="T18" fmla="*/ 102 w 222"/>
                <a:gd name="T19" fmla="*/ 350 h 350"/>
                <a:gd name="T20" fmla="*/ 0 w 222"/>
                <a:gd name="T21" fmla="*/ 279 h 350"/>
                <a:gd name="T22" fmla="*/ 48 w 222"/>
                <a:gd name="T23" fmla="*/ 279 h 350"/>
                <a:gd name="T24" fmla="*/ 103 w 222"/>
                <a:gd name="T25" fmla="*/ 311 h 350"/>
                <a:gd name="T26" fmla="*/ 159 w 222"/>
                <a:gd name="T27" fmla="*/ 281 h 350"/>
                <a:gd name="T28" fmla="*/ 121 w 222"/>
                <a:gd name="T29" fmla="*/ 255 h 350"/>
                <a:gd name="T30" fmla="*/ 87 w 222"/>
                <a:gd name="T31" fmla="*/ 255 h 350"/>
                <a:gd name="T32" fmla="*/ 23 w 222"/>
                <a:gd name="T33" fmla="*/ 211 h 350"/>
                <a:gd name="T34" fmla="*/ 49 w 222"/>
                <a:gd name="T35" fmla="*/ 170 h 350"/>
                <a:gd name="T36" fmla="*/ 10 w 222"/>
                <a:gd name="T37" fmla="*/ 106 h 350"/>
                <a:gd name="T38" fmla="*/ 103 w 222"/>
                <a:gd name="T39" fmla="*/ 25 h 350"/>
                <a:gd name="T40" fmla="*/ 208 w 222"/>
                <a:gd name="T41" fmla="*/ 0 h 350"/>
                <a:gd name="T42" fmla="*/ 222 w 222"/>
                <a:gd name="T43" fmla="*/ 44 h 350"/>
                <a:gd name="T44" fmla="*/ 65 w 222"/>
                <a:gd name="T45" fmla="*/ 105 h 350"/>
                <a:gd name="T46" fmla="*/ 105 w 222"/>
                <a:gd name="T47" fmla="*/ 150 h 350"/>
                <a:gd name="T48" fmla="*/ 145 w 222"/>
                <a:gd name="T49" fmla="*/ 105 h 350"/>
                <a:gd name="T50" fmla="*/ 104 w 222"/>
                <a:gd name="T51" fmla="*/ 62 h 350"/>
                <a:gd name="T52" fmla="*/ 65 w 222"/>
                <a:gd name="T53" fmla="*/ 10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50">
                  <a:moveTo>
                    <a:pt x="222" y="44"/>
                  </a:moveTo>
                  <a:cubicBezTo>
                    <a:pt x="205" y="50"/>
                    <a:pt x="183" y="51"/>
                    <a:pt x="156" y="51"/>
                  </a:cubicBezTo>
                  <a:cubicBezTo>
                    <a:pt x="184" y="64"/>
                    <a:pt x="197" y="81"/>
                    <a:pt x="197" y="109"/>
                  </a:cubicBezTo>
                  <a:cubicBezTo>
                    <a:pt x="197" y="153"/>
                    <a:pt x="163" y="185"/>
                    <a:pt x="107" y="185"/>
                  </a:cubicBezTo>
                  <a:cubicBezTo>
                    <a:pt x="97" y="185"/>
                    <a:pt x="88" y="184"/>
                    <a:pt x="80" y="182"/>
                  </a:cubicBezTo>
                  <a:cubicBezTo>
                    <a:pt x="74" y="185"/>
                    <a:pt x="71" y="191"/>
                    <a:pt x="71" y="198"/>
                  </a:cubicBezTo>
                  <a:cubicBezTo>
                    <a:pt x="71" y="206"/>
                    <a:pt x="75" y="214"/>
                    <a:pt x="98" y="214"/>
                  </a:cubicBezTo>
                  <a:cubicBezTo>
                    <a:pt x="132" y="214"/>
                    <a:pt x="132" y="214"/>
                    <a:pt x="132" y="214"/>
                  </a:cubicBezTo>
                  <a:cubicBezTo>
                    <a:pt x="182" y="214"/>
                    <a:pt x="214" y="241"/>
                    <a:pt x="214" y="278"/>
                  </a:cubicBezTo>
                  <a:cubicBezTo>
                    <a:pt x="214" y="323"/>
                    <a:pt x="176" y="350"/>
                    <a:pt x="102" y="350"/>
                  </a:cubicBezTo>
                  <a:cubicBezTo>
                    <a:pt x="22" y="350"/>
                    <a:pt x="0" y="324"/>
                    <a:pt x="0" y="279"/>
                  </a:cubicBezTo>
                  <a:cubicBezTo>
                    <a:pt x="48" y="279"/>
                    <a:pt x="48" y="279"/>
                    <a:pt x="48" y="279"/>
                  </a:cubicBezTo>
                  <a:cubicBezTo>
                    <a:pt x="48" y="301"/>
                    <a:pt x="58" y="311"/>
                    <a:pt x="103" y="311"/>
                  </a:cubicBezTo>
                  <a:cubicBezTo>
                    <a:pt x="147" y="311"/>
                    <a:pt x="159" y="299"/>
                    <a:pt x="159" y="281"/>
                  </a:cubicBezTo>
                  <a:cubicBezTo>
                    <a:pt x="159" y="265"/>
                    <a:pt x="146" y="255"/>
                    <a:pt x="121" y="255"/>
                  </a:cubicBezTo>
                  <a:cubicBezTo>
                    <a:pt x="87" y="255"/>
                    <a:pt x="87" y="255"/>
                    <a:pt x="87" y="255"/>
                  </a:cubicBezTo>
                  <a:cubicBezTo>
                    <a:pt x="42" y="255"/>
                    <a:pt x="23" y="235"/>
                    <a:pt x="23" y="211"/>
                  </a:cubicBezTo>
                  <a:cubicBezTo>
                    <a:pt x="23" y="196"/>
                    <a:pt x="33" y="180"/>
                    <a:pt x="49" y="170"/>
                  </a:cubicBezTo>
                  <a:cubicBezTo>
                    <a:pt x="22" y="155"/>
                    <a:pt x="10" y="135"/>
                    <a:pt x="10" y="106"/>
                  </a:cubicBezTo>
                  <a:cubicBezTo>
                    <a:pt x="10" y="57"/>
                    <a:pt x="48" y="25"/>
                    <a:pt x="103" y="25"/>
                  </a:cubicBezTo>
                  <a:cubicBezTo>
                    <a:pt x="156" y="27"/>
                    <a:pt x="181" y="15"/>
                    <a:pt x="208" y="0"/>
                  </a:cubicBezTo>
                  <a:lnTo>
                    <a:pt x="222" y="44"/>
                  </a:lnTo>
                  <a:close/>
                  <a:moveTo>
                    <a:pt x="65" y="105"/>
                  </a:moveTo>
                  <a:cubicBezTo>
                    <a:pt x="65" y="133"/>
                    <a:pt x="79" y="150"/>
                    <a:pt x="105" y="150"/>
                  </a:cubicBezTo>
                  <a:cubicBezTo>
                    <a:pt x="131" y="150"/>
                    <a:pt x="145" y="133"/>
                    <a:pt x="145" y="105"/>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12">
              <a:extLst>
                <a:ext uri="{FF2B5EF4-FFF2-40B4-BE49-F238E27FC236}">
                  <a16:creationId xmlns:a16="http://schemas.microsoft.com/office/drawing/2014/main" id="{A41FCED7-D327-44A7-9747-7DD2534F37AC}"/>
                </a:ext>
              </a:extLst>
            </p:cNvPr>
            <p:cNvSpPr>
              <a:spLocks/>
            </p:cNvSpPr>
            <p:nvPr/>
          </p:nvSpPr>
          <p:spPr bwMode="auto">
            <a:xfrm>
              <a:off x="6551613" y="4722813"/>
              <a:ext cx="822325" cy="1109662"/>
            </a:xfrm>
            <a:custGeom>
              <a:avLst/>
              <a:gdLst>
                <a:gd name="T0" fmla="*/ 504 w 518"/>
                <a:gd name="T1" fmla="*/ 107 h 699"/>
                <a:gd name="T2" fmla="*/ 323 w 518"/>
                <a:gd name="T3" fmla="*/ 107 h 699"/>
                <a:gd name="T4" fmla="*/ 323 w 518"/>
                <a:gd name="T5" fmla="*/ 699 h 699"/>
                <a:gd name="T6" fmla="*/ 188 w 518"/>
                <a:gd name="T7" fmla="*/ 699 h 699"/>
                <a:gd name="T8" fmla="*/ 188 w 518"/>
                <a:gd name="T9" fmla="*/ 107 h 699"/>
                <a:gd name="T10" fmla="*/ 0 w 518"/>
                <a:gd name="T11" fmla="*/ 107 h 699"/>
                <a:gd name="T12" fmla="*/ 0 w 518"/>
                <a:gd name="T13" fmla="*/ 0 h 699"/>
                <a:gd name="T14" fmla="*/ 518 w 518"/>
                <a:gd name="T15" fmla="*/ 0 h 699"/>
                <a:gd name="T16" fmla="*/ 504 w 518"/>
                <a:gd name="T17" fmla="*/ 107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8" h="699">
                  <a:moveTo>
                    <a:pt x="504" y="107"/>
                  </a:moveTo>
                  <a:lnTo>
                    <a:pt x="323" y="107"/>
                  </a:lnTo>
                  <a:lnTo>
                    <a:pt x="323" y="699"/>
                  </a:lnTo>
                  <a:lnTo>
                    <a:pt x="188" y="699"/>
                  </a:lnTo>
                  <a:lnTo>
                    <a:pt x="188" y="107"/>
                  </a:lnTo>
                  <a:lnTo>
                    <a:pt x="0" y="107"/>
                  </a:lnTo>
                  <a:lnTo>
                    <a:pt x="0" y="0"/>
                  </a:lnTo>
                  <a:lnTo>
                    <a:pt x="518" y="0"/>
                  </a:lnTo>
                  <a:lnTo>
                    <a:pt x="504" y="1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3">
              <a:extLst>
                <a:ext uri="{FF2B5EF4-FFF2-40B4-BE49-F238E27FC236}">
                  <a16:creationId xmlns:a16="http://schemas.microsoft.com/office/drawing/2014/main" id="{CEBA576E-6E60-4E79-A3C6-F060072B286D}"/>
                </a:ext>
              </a:extLst>
            </p:cNvPr>
            <p:cNvSpPr>
              <a:spLocks noEditPoints="1"/>
            </p:cNvSpPr>
            <p:nvPr/>
          </p:nvSpPr>
          <p:spPr bwMode="auto">
            <a:xfrm>
              <a:off x="7227888" y="4959350"/>
              <a:ext cx="798512" cy="896937"/>
            </a:xfrm>
            <a:custGeom>
              <a:avLst/>
              <a:gdLst>
                <a:gd name="T0" fmla="*/ 212 w 212"/>
                <a:gd name="T1" fmla="*/ 118 h 237"/>
                <a:gd name="T2" fmla="*/ 106 w 212"/>
                <a:gd name="T3" fmla="*/ 237 h 237"/>
                <a:gd name="T4" fmla="*/ 0 w 212"/>
                <a:gd name="T5" fmla="*/ 118 h 237"/>
                <a:gd name="T6" fmla="*/ 106 w 212"/>
                <a:gd name="T7" fmla="*/ 0 h 237"/>
                <a:gd name="T8" fmla="*/ 212 w 212"/>
                <a:gd name="T9" fmla="*/ 118 h 237"/>
                <a:gd name="T10" fmla="*/ 57 w 212"/>
                <a:gd name="T11" fmla="*/ 118 h 237"/>
                <a:gd name="T12" fmla="*/ 106 w 212"/>
                <a:gd name="T13" fmla="*/ 196 h 237"/>
                <a:gd name="T14" fmla="*/ 154 w 212"/>
                <a:gd name="T15" fmla="*/ 118 h 237"/>
                <a:gd name="T16" fmla="*/ 106 w 212"/>
                <a:gd name="T17" fmla="*/ 41 h 237"/>
                <a:gd name="T18" fmla="*/ 57 w 212"/>
                <a:gd name="T19" fmla="*/ 11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7">
                  <a:moveTo>
                    <a:pt x="212" y="118"/>
                  </a:moveTo>
                  <a:cubicBezTo>
                    <a:pt x="212" y="189"/>
                    <a:pt x="172" y="237"/>
                    <a:pt x="106" y="237"/>
                  </a:cubicBezTo>
                  <a:cubicBezTo>
                    <a:pt x="39" y="237"/>
                    <a:pt x="0" y="192"/>
                    <a:pt x="0" y="118"/>
                  </a:cubicBezTo>
                  <a:cubicBezTo>
                    <a:pt x="0" y="48"/>
                    <a:pt x="39" y="0"/>
                    <a:pt x="106" y="0"/>
                  </a:cubicBezTo>
                  <a:cubicBezTo>
                    <a:pt x="172" y="0"/>
                    <a:pt x="212" y="45"/>
                    <a:pt x="212" y="118"/>
                  </a:cubicBezTo>
                  <a:moveTo>
                    <a:pt x="57" y="118"/>
                  </a:moveTo>
                  <a:cubicBezTo>
                    <a:pt x="57" y="172"/>
                    <a:pt x="74" y="196"/>
                    <a:pt x="106" y="196"/>
                  </a:cubicBezTo>
                  <a:cubicBezTo>
                    <a:pt x="138" y="196"/>
                    <a:pt x="154" y="172"/>
                    <a:pt x="154" y="118"/>
                  </a:cubicBezTo>
                  <a:cubicBezTo>
                    <a:pt x="154" y="65"/>
                    <a:pt x="138" y="41"/>
                    <a:pt x="106" y="41"/>
                  </a:cubicBezTo>
                  <a:cubicBezTo>
                    <a:pt x="74" y="41"/>
                    <a:pt x="57" y="65"/>
                    <a:pt x="57" y="1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4">
              <a:extLst>
                <a:ext uri="{FF2B5EF4-FFF2-40B4-BE49-F238E27FC236}">
                  <a16:creationId xmlns:a16="http://schemas.microsoft.com/office/drawing/2014/main" id="{88F27F48-433F-4BEE-B4D1-287FB42002C4}"/>
                </a:ext>
              </a:extLst>
            </p:cNvPr>
            <p:cNvSpPr>
              <a:spLocks noEditPoints="1"/>
            </p:cNvSpPr>
            <p:nvPr/>
          </p:nvSpPr>
          <p:spPr bwMode="auto">
            <a:xfrm>
              <a:off x="8048625" y="4865688"/>
              <a:ext cx="838200" cy="1319212"/>
            </a:xfrm>
            <a:custGeom>
              <a:avLst/>
              <a:gdLst>
                <a:gd name="T0" fmla="*/ 222 w 222"/>
                <a:gd name="T1" fmla="*/ 43 h 349"/>
                <a:gd name="T2" fmla="*/ 157 w 222"/>
                <a:gd name="T3" fmla="*/ 51 h 349"/>
                <a:gd name="T4" fmla="*/ 197 w 222"/>
                <a:gd name="T5" fmla="*/ 109 h 349"/>
                <a:gd name="T6" fmla="*/ 107 w 222"/>
                <a:gd name="T7" fmla="*/ 184 h 349"/>
                <a:gd name="T8" fmla="*/ 80 w 222"/>
                <a:gd name="T9" fmla="*/ 181 h 349"/>
                <a:gd name="T10" fmla="*/ 71 w 222"/>
                <a:gd name="T11" fmla="*/ 197 h 349"/>
                <a:gd name="T12" fmla="*/ 98 w 222"/>
                <a:gd name="T13" fmla="*/ 213 h 349"/>
                <a:gd name="T14" fmla="*/ 132 w 222"/>
                <a:gd name="T15" fmla="*/ 213 h 349"/>
                <a:gd name="T16" fmla="*/ 214 w 222"/>
                <a:gd name="T17" fmla="*/ 277 h 349"/>
                <a:gd name="T18" fmla="*/ 102 w 222"/>
                <a:gd name="T19" fmla="*/ 349 h 349"/>
                <a:gd name="T20" fmla="*/ 0 w 222"/>
                <a:gd name="T21" fmla="*/ 278 h 349"/>
                <a:gd name="T22" fmla="*/ 48 w 222"/>
                <a:gd name="T23" fmla="*/ 278 h 349"/>
                <a:gd name="T24" fmla="*/ 103 w 222"/>
                <a:gd name="T25" fmla="*/ 311 h 349"/>
                <a:gd name="T26" fmla="*/ 159 w 222"/>
                <a:gd name="T27" fmla="*/ 281 h 349"/>
                <a:gd name="T28" fmla="*/ 121 w 222"/>
                <a:gd name="T29" fmla="*/ 254 h 349"/>
                <a:gd name="T30" fmla="*/ 87 w 222"/>
                <a:gd name="T31" fmla="*/ 254 h 349"/>
                <a:gd name="T32" fmla="*/ 23 w 222"/>
                <a:gd name="T33" fmla="*/ 211 h 349"/>
                <a:gd name="T34" fmla="*/ 49 w 222"/>
                <a:gd name="T35" fmla="*/ 169 h 349"/>
                <a:gd name="T36" fmla="*/ 10 w 222"/>
                <a:gd name="T37" fmla="*/ 106 h 349"/>
                <a:gd name="T38" fmla="*/ 103 w 222"/>
                <a:gd name="T39" fmla="*/ 25 h 349"/>
                <a:gd name="T40" fmla="*/ 208 w 222"/>
                <a:gd name="T41" fmla="*/ 0 h 349"/>
                <a:gd name="T42" fmla="*/ 222 w 222"/>
                <a:gd name="T43" fmla="*/ 43 h 349"/>
                <a:gd name="T44" fmla="*/ 65 w 222"/>
                <a:gd name="T45" fmla="*/ 105 h 349"/>
                <a:gd name="T46" fmla="*/ 105 w 222"/>
                <a:gd name="T47" fmla="*/ 149 h 349"/>
                <a:gd name="T48" fmla="*/ 145 w 222"/>
                <a:gd name="T49" fmla="*/ 104 h 349"/>
                <a:gd name="T50" fmla="*/ 104 w 222"/>
                <a:gd name="T51" fmla="*/ 62 h 349"/>
                <a:gd name="T52" fmla="*/ 65 w 222"/>
                <a:gd name="T53" fmla="*/ 105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49">
                  <a:moveTo>
                    <a:pt x="222" y="43"/>
                  </a:moveTo>
                  <a:cubicBezTo>
                    <a:pt x="205" y="49"/>
                    <a:pt x="183" y="51"/>
                    <a:pt x="157" y="51"/>
                  </a:cubicBezTo>
                  <a:cubicBezTo>
                    <a:pt x="184" y="63"/>
                    <a:pt x="197" y="80"/>
                    <a:pt x="197" y="109"/>
                  </a:cubicBezTo>
                  <a:cubicBezTo>
                    <a:pt x="197" y="152"/>
                    <a:pt x="163" y="184"/>
                    <a:pt x="107" y="184"/>
                  </a:cubicBezTo>
                  <a:cubicBezTo>
                    <a:pt x="97" y="184"/>
                    <a:pt x="88" y="183"/>
                    <a:pt x="80" y="181"/>
                  </a:cubicBezTo>
                  <a:cubicBezTo>
                    <a:pt x="74" y="185"/>
                    <a:pt x="71" y="191"/>
                    <a:pt x="71" y="197"/>
                  </a:cubicBezTo>
                  <a:cubicBezTo>
                    <a:pt x="71" y="205"/>
                    <a:pt x="75" y="213"/>
                    <a:pt x="98" y="213"/>
                  </a:cubicBezTo>
                  <a:cubicBezTo>
                    <a:pt x="132" y="213"/>
                    <a:pt x="132" y="213"/>
                    <a:pt x="132" y="213"/>
                  </a:cubicBezTo>
                  <a:cubicBezTo>
                    <a:pt x="182" y="213"/>
                    <a:pt x="214" y="240"/>
                    <a:pt x="214" y="277"/>
                  </a:cubicBezTo>
                  <a:cubicBezTo>
                    <a:pt x="214" y="322"/>
                    <a:pt x="176" y="349"/>
                    <a:pt x="102" y="349"/>
                  </a:cubicBezTo>
                  <a:cubicBezTo>
                    <a:pt x="22" y="349"/>
                    <a:pt x="0" y="323"/>
                    <a:pt x="0" y="278"/>
                  </a:cubicBezTo>
                  <a:cubicBezTo>
                    <a:pt x="48" y="278"/>
                    <a:pt x="48" y="278"/>
                    <a:pt x="48" y="278"/>
                  </a:cubicBezTo>
                  <a:cubicBezTo>
                    <a:pt x="48" y="301"/>
                    <a:pt x="58" y="311"/>
                    <a:pt x="103" y="311"/>
                  </a:cubicBezTo>
                  <a:cubicBezTo>
                    <a:pt x="147" y="311"/>
                    <a:pt x="159" y="299"/>
                    <a:pt x="159" y="281"/>
                  </a:cubicBezTo>
                  <a:cubicBezTo>
                    <a:pt x="159" y="264"/>
                    <a:pt x="146" y="254"/>
                    <a:pt x="121" y="254"/>
                  </a:cubicBezTo>
                  <a:cubicBezTo>
                    <a:pt x="87" y="254"/>
                    <a:pt x="87" y="254"/>
                    <a:pt x="87" y="254"/>
                  </a:cubicBezTo>
                  <a:cubicBezTo>
                    <a:pt x="42" y="254"/>
                    <a:pt x="23" y="234"/>
                    <a:pt x="23" y="211"/>
                  </a:cubicBezTo>
                  <a:cubicBezTo>
                    <a:pt x="23" y="195"/>
                    <a:pt x="33" y="179"/>
                    <a:pt x="49" y="169"/>
                  </a:cubicBezTo>
                  <a:cubicBezTo>
                    <a:pt x="22" y="154"/>
                    <a:pt x="10" y="134"/>
                    <a:pt x="10" y="106"/>
                  </a:cubicBezTo>
                  <a:cubicBezTo>
                    <a:pt x="10" y="57"/>
                    <a:pt x="48" y="25"/>
                    <a:pt x="103" y="25"/>
                  </a:cubicBezTo>
                  <a:cubicBezTo>
                    <a:pt x="156" y="26"/>
                    <a:pt x="181" y="14"/>
                    <a:pt x="208" y="0"/>
                  </a:cubicBezTo>
                  <a:lnTo>
                    <a:pt x="222" y="43"/>
                  </a:lnTo>
                  <a:close/>
                  <a:moveTo>
                    <a:pt x="65" y="105"/>
                  </a:moveTo>
                  <a:cubicBezTo>
                    <a:pt x="65" y="132"/>
                    <a:pt x="80" y="149"/>
                    <a:pt x="105" y="149"/>
                  </a:cubicBezTo>
                  <a:cubicBezTo>
                    <a:pt x="131" y="149"/>
                    <a:pt x="145" y="133"/>
                    <a:pt x="145" y="104"/>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15">
              <a:extLst>
                <a:ext uri="{FF2B5EF4-FFF2-40B4-BE49-F238E27FC236}">
                  <a16:creationId xmlns:a16="http://schemas.microsoft.com/office/drawing/2014/main" id="{010D65D6-4FE6-4171-8660-825D29A5DAE3}"/>
                </a:ext>
              </a:extLst>
            </p:cNvPr>
            <p:cNvSpPr>
              <a:spLocks noEditPoints="1"/>
            </p:cNvSpPr>
            <p:nvPr/>
          </p:nvSpPr>
          <p:spPr bwMode="auto">
            <a:xfrm>
              <a:off x="8851900" y="4959350"/>
              <a:ext cx="750887" cy="896937"/>
            </a:xfrm>
            <a:custGeom>
              <a:avLst/>
              <a:gdLst>
                <a:gd name="T0" fmla="*/ 197 w 199"/>
                <a:gd name="T1" fmla="*/ 135 h 237"/>
                <a:gd name="T2" fmla="*/ 56 w 199"/>
                <a:gd name="T3" fmla="*/ 135 h 237"/>
                <a:gd name="T4" fmla="*/ 112 w 199"/>
                <a:gd name="T5" fmla="*/ 196 h 237"/>
                <a:gd name="T6" fmla="*/ 168 w 199"/>
                <a:gd name="T7" fmla="*/ 176 h 237"/>
                <a:gd name="T8" fmla="*/ 190 w 199"/>
                <a:gd name="T9" fmla="*/ 207 h 237"/>
                <a:gd name="T10" fmla="*/ 107 w 199"/>
                <a:gd name="T11" fmla="*/ 237 h 237"/>
                <a:gd name="T12" fmla="*/ 0 w 199"/>
                <a:gd name="T13" fmla="*/ 120 h 237"/>
                <a:gd name="T14" fmla="*/ 100 w 199"/>
                <a:gd name="T15" fmla="*/ 0 h 237"/>
                <a:gd name="T16" fmla="*/ 199 w 199"/>
                <a:gd name="T17" fmla="*/ 113 h 237"/>
                <a:gd name="T18" fmla="*/ 197 w 199"/>
                <a:gd name="T19" fmla="*/ 135 h 237"/>
                <a:gd name="T20" fmla="*/ 145 w 199"/>
                <a:gd name="T21" fmla="*/ 98 h 237"/>
                <a:gd name="T22" fmla="*/ 101 w 199"/>
                <a:gd name="T23" fmla="*/ 38 h 237"/>
                <a:gd name="T24" fmla="*/ 56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7" y="135"/>
                  </a:moveTo>
                  <a:cubicBezTo>
                    <a:pt x="56" y="135"/>
                    <a:pt x="56" y="135"/>
                    <a:pt x="56" y="135"/>
                  </a:cubicBezTo>
                  <a:cubicBezTo>
                    <a:pt x="60" y="181"/>
                    <a:pt x="82" y="196"/>
                    <a:pt x="112" y="196"/>
                  </a:cubicBezTo>
                  <a:cubicBezTo>
                    <a:pt x="132" y="196"/>
                    <a:pt x="148" y="190"/>
                    <a:pt x="168" y="176"/>
                  </a:cubicBezTo>
                  <a:cubicBezTo>
                    <a:pt x="190" y="207"/>
                    <a:pt x="190" y="207"/>
                    <a:pt x="190" y="207"/>
                  </a:cubicBezTo>
                  <a:cubicBezTo>
                    <a:pt x="168" y="225"/>
                    <a:pt x="141" y="237"/>
                    <a:pt x="107" y="237"/>
                  </a:cubicBezTo>
                  <a:cubicBezTo>
                    <a:pt x="37" y="237"/>
                    <a:pt x="0" y="191"/>
                    <a:pt x="0" y="120"/>
                  </a:cubicBezTo>
                  <a:cubicBezTo>
                    <a:pt x="0" y="52"/>
                    <a:pt x="36" y="0"/>
                    <a:pt x="100" y="0"/>
                  </a:cubicBezTo>
                  <a:cubicBezTo>
                    <a:pt x="163" y="0"/>
                    <a:pt x="199" y="42"/>
                    <a:pt x="199" y="113"/>
                  </a:cubicBezTo>
                  <a:cubicBezTo>
                    <a:pt x="199" y="121"/>
                    <a:pt x="198" y="129"/>
                    <a:pt x="197" y="135"/>
                  </a:cubicBezTo>
                  <a:moveTo>
                    <a:pt x="145" y="98"/>
                  </a:moveTo>
                  <a:cubicBezTo>
                    <a:pt x="145" y="61"/>
                    <a:pt x="132" y="38"/>
                    <a:pt x="101" y="38"/>
                  </a:cubicBezTo>
                  <a:cubicBezTo>
                    <a:pt x="75" y="38"/>
                    <a:pt x="59" y="55"/>
                    <a:pt x="56"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16">
              <a:extLst>
                <a:ext uri="{FF2B5EF4-FFF2-40B4-BE49-F238E27FC236}">
                  <a16:creationId xmlns:a16="http://schemas.microsoft.com/office/drawing/2014/main" id="{0EA781E8-E5DD-4498-B5D5-8D479C4B657A}"/>
                </a:ext>
              </a:extLst>
            </p:cNvPr>
            <p:cNvSpPr>
              <a:spLocks/>
            </p:cNvSpPr>
            <p:nvPr/>
          </p:nvSpPr>
          <p:spPr bwMode="auto">
            <a:xfrm>
              <a:off x="9598025" y="4770438"/>
              <a:ext cx="600075" cy="1085850"/>
            </a:xfrm>
            <a:custGeom>
              <a:avLst/>
              <a:gdLst>
                <a:gd name="T0" fmla="*/ 159 w 159"/>
                <a:gd name="T1" fmla="*/ 270 h 287"/>
                <a:gd name="T2" fmla="*/ 103 w 159"/>
                <a:gd name="T3" fmla="*/ 287 h 287"/>
                <a:gd name="T4" fmla="*/ 35 w 159"/>
                <a:gd name="T5" fmla="*/ 214 h 287"/>
                <a:gd name="T6" fmla="*/ 35 w 159"/>
                <a:gd name="T7" fmla="*/ 95 h 287"/>
                <a:gd name="T8" fmla="*/ 0 w 159"/>
                <a:gd name="T9" fmla="*/ 95 h 287"/>
                <a:gd name="T10" fmla="*/ 0 w 159"/>
                <a:gd name="T11" fmla="*/ 56 h 287"/>
                <a:gd name="T12" fmla="*/ 35 w 159"/>
                <a:gd name="T13" fmla="*/ 56 h 287"/>
                <a:gd name="T14" fmla="*/ 35 w 159"/>
                <a:gd name="T15" fmla="*/ 6 h 287"/>
                <a:gd name="T16" fmla="*/ 90 w 159"/>
                <a:gd name="T17" fmla="*/ 0 h 287"/>
                <a:gd name="T18" fmla="*/ 90 w 159"/>
                <a:gd name="T19" fmla="*/ 56 h 287"/>
                <a:gd name="T20" fmla="*/ 142 w 159"/>
                <a:gd name="T21" fmla="*/ 56 h 287"/>
                <a:gd name="T22" fmla="*/ 136 w 159"/>
                <a:gd name="T23" fmla="*/ 95 h 287"/>
                <a:gd name="T24" fmla="*/ 90 w 159"/>
                <a:gd name="T25" fmla="*/ 95 h 287"/>
                <a:gd name="T26" fmla="*/ 90 w 159"/>
                <a:gd name="T27" fmla="*/ 213 h 287"/>
                <a:gd name="T28" fmla="*/ 113 w 159"/>
                <a:gd name="T29" fmla="*/ 244 h 287"/>
                <a:gd name="T30" fmla="*/ 140 w 159"/>
                <a:gd name="T31" fmla="*/ 236 h 287"/>
                <a:gd name="T32" fmla="*/ 159 w 159"/>
                <a:gd name="T33" fmla="*/ 27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9" h="287">
                  <a:moveTo>
                    <a:pt x="159" y="270"/>
                  </a:moveTo>
                  <a:cubicBezTo>
                    <a:pt x="143" y="282"/>
                    <a:pt x="123" y="287"/>
                    <a:pt x="103" y="287"/>
                  </a:cubicBezTo>
                  <a:cubicBezTo>
                    <a:pt x="59" y="287"/>
                    <a:pt x="35" y="262"/>
                    <a:pt x="35" y="214"/>
                  </a:cubicBezTo>
                  <a:cubicBezTo>
                    <a:pt x="35" y="95"/>
                    <a:pt x="35" y="95"/>
                    <a:pt x="35" y="95"/>
                  </a:cubicBezTo>
                  <a:cubicBezTo>
                    <a:pt x="0" y="95"/>
                    <a:pt x="0" y="95"/>
                    <a:pt x="0" y="95"/>
                  </a:cubicBezTo>
                  <a:cubicBezTo>
                    <a:pt x="0" y="56"/>
                    <a:pt x="0" y="56"/>
                    <a:pt x="0" y="56"/>
                  </a:cubicBezTo>
                  <a:cubicBezTo>
                    <a:pt x="35" y="56"/>
                    <a:pt x="35" y="56"/>
                    <a:pt x="35" y="56"/>
                  </a:cubicBezTo>
                  <a:cubicBezTo>
                    <a:pt x="35" y="6"/>
                    <a:pt x="35" y="6"/>
                    <a:pt x="35" y="6"/>
                  </a:cubicBezTo>
                  <a:cubicBezTo>
                    <a:pt x="90" y="0"/>
                    <a:pt x="90" y="0"/>
                    <a:pt x="90" y="0"/>
                  </a:cubicBezTo>
                  <a:cubicBezTo>
                    <a:pt x="90" y="56"/>
                    <a:pt x="90" y="56"/>
                    <a:pt x="90" y="56"/>
                  </a:cubicBezTo>
                  <a:cubicBezTo>
                    <a:pt x="142" y="56"/>
                    <a:pt x="142" y="56"/>
                    <a:pt x="142" y="56"/>
                  </a:cubicBezTo>
                  <a:cubicBezTo>
                    <a:pt x="136" y="95"/>
                    <a:pt x="136" y="95"/>
                    <a:pt x="136" y="95"/>
                  </a:cubicBezTo>
                  <a:cubicBezTo>
                    <a:pt x="90" y="95"/>
                    <a:pt x="90" y="95"/>
                    <a:pt x="90" y="95"/>
                  </a:cubicBezTo>
                  <a:cubicBezTo>
                    <a:pt x="90" y="213"/>
                    <a:pt x="90" y="213"/>
                    <a:pt x="90" y="213"/>
                  </a:cubicBezTo>
                  <a:cubicBezTo>
                    <a:pt x="90" y="235"/>
                    <a:pt x="97" y="244"/>
                    <a:pt x="113" y="244"/>
                  </a:cubicBezTo>
                  <a:cubicBezTo>
                    <a:pt x="122" y="244"/>
                    <a:pt x="130" y="241"/>
                    <a:pt x="140" y="236"/>
                  </a:cubicBezTo>
                  <a:lnTo>
                    <a:pt x="159" y="2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7">
              <a:extLst>
                <a:ext uri="{FF2B5EF4-FFF2-40B4-BE49-F238E27FC236}">
                  <a16:creationId xmlns:a16="http://schemas.microsoft.com/office/drawing/2014/main" id="{A081E92B-ED8B-4355-AB17-55DF5099EA28}"/>
                </a:ext>
              </a:extLst>
            </p:cNvPr>
            <p:cNvSpPr>
              <a:spLocks/>
            </p:cNvSpPr>
            <p:nvPr/>
          </p:nvSpPr>
          <p:spPr bwMode="auto">
            <a:xfrm>
              <a:off x="10244138" y="4624388"/>
              <a:ext cx="693737" cy="1208087"/>
            </a:xfrm>
            <a:custGeom>
              <a:avLst/>
              <a:gdLst>
                <a:gd name="T0" fmla="*/ 184 w 184"/>
                <a:gd name="T1" fmla="*/ 157 h 320"/>
                <a:gd name="T2" fmla="*/ 184 w 184"/>
                <a:gd name="T3" fmla="*/ 320 h 320"/>
                <a:gd name="T4" fmla="*/ 129 w 184"/>
                <a:gd name="T5" fmla="*/ 320 h 320"/>
                <a:gd name="T6" fmla="*/ 129 w 184"/>
                <a:gd name="T7" fmla="*/ 166 h 320"/>
                <a:gd name="T8" fmla="*/ 102 w 184"/>
                <a:gd name="T9" fmla="*/ 130 h 320"/>
                <a:gd name="T10" fmla="*/ 54 w 184"/>
                <a:gd name="T11" fmla="*/ 163 h 320"/>
                <a:gd name="T12" fmla="*/ 54 w 184"/>
                <a:gd name="T13" fmla="*/ 320 h 320"/>
                <a:gd name="T14" fmla="*/ 0 w 184"/>
                <a:gd name="T15" fmla="*/ 320 h 320"/>
                <a:gd name="T16" fmla="*/ 0 w 184"/>
                <a:gd name="T17" fmla="*/ 5 h 320"/>
                <a:gd name="T18" fmla="*/ 54 w 184"/>
                <a:gd name="T19" fmla="*/ 0 h 320"/>
                <a:gd name="T20" fmla="*/ 54 w 184"/>
                <a:gd name="T21" fmla="*/ 122 h 320"/>
                <a:gd name="T22" fmla="*/ 120 w 184"/>
                <a:gd name="T23" fmla="*/ 89 h 320"/>
                <a:gd name="T24" fmla="*/ 184 w 184"/>
                <a:gd name="T25" fmla="*/ 15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320">
                  <a:moveTo>
                    <a:pt x="184" y="157"/>
                  </a:moveTo>
                  <a:cubicBezTo>
                    <a:pt x="184" y="320"/>
                    <a:pt x="184" y="320"/>
                    <a:pt x="184" y="320"/>
                  </a:cubicBezTo>
                  <a:cubicBezTo>
                    <a:pt x="129" y="320"/>
                    <a:pt x="129" y="320"/>
                    <a:pt x="129" y="320"/>
                  </a:cubicBezTo>
                  <a:cubicBezTo>
                    <a:pt x="129" y="166"/>
                    <a:pt x="129" y="166"/>
                    <a:pt x="129" y="166"/>
                  </a:cubicBezTo>
                  <a:cubicBezTo>
                    <a:pt x="129" y="138"/>
                    <a:pt x="118" y="130"/>
                    <a:pt x="102" y="130"/>
                  </a:cubicBezTo>
                  <a:cubicBezTo>
                    <a:pt x="82" y="130"/>
                    <a:pt x="67" y="143"/>
                    <a:pt x="54" y="163"/>
                  </a:cubicBezTo>
                  <a:cubicBezTo>
                    <a:pt x="54" y="320"/>
                    <a:pt x="54" y="320"/>
                    <a:pt x="54" y="320"/>
                  </a:cubicBezTo>
                  <a:cubicBezTo>
                    <a:pt x="0" y="320"/>
                    <a:pt x="0" y="320"/>
                    <a:pt x="0" y="320"/>
                  </a:cubicBezTo>
                  <a:cubicBezTo>
                    <a:pt x="0" y="5"/>
                    <a:pt x="0" y="5"/>
                    <a:pt x="0" y="5"/>
                  </a:cubicBezTo>
                  <a:cubicBezTo>
                    <a:pt x="54" y="0"/>
                    <a:pt x="54" y="0"/>
                    <a:pt x="54" y="0"/>
                  </a:cubicBezTo>
                  <a:cubicBezTo>
                    <a:pt x="54" y="122"/>
                    <a:pt x="54" y="122"/>
                    <a:pt x="54" y="122"/>
                  </a:cubicBezTo>
                  <a:cubicBezTo>
                    <a:pt x="72" y="101"/>
                    <a:pt x="93" y="89"/>
                    <a:pt x="120" y="89"/>
                  </a:cubicBezTo>
                  <a:cubicBezTo>
                    <a:pt x="160" y="89"/>
                    <a:pt x="184" y="115"/>
                    <a:pt x="184" y="15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8">
              <a:extLst>
                <a:ext uri="{FF2B5EF4-FFF2-40B4-BE49-F238E27FC236}">
                  <a16:creationId xmlns:a16="http://schemas.microsoft.com/office/drawing/2014/main" id="{B754666D-2003-49B0-AA0B-2966753F31BE}"/>
                </a:ext>
              </a:extLst>
            </p:cNvPr>
            <p:cNvSpPr>
              <a:spLocks noEditPoints="1"/>
            </p:cNvSpPr>
            <p:nvPr/>
          </p:nvSpPr>
          <p:spPr bwMode="auto">
            <a:xfrm>
              <a:off x="11039475" y="4959350"/>
              <a:ext cx="749300" cy="896937"/>
            </a:xfrm>
            <a:custGeom>
              <a:avLst/>
              <a:gdLst>
                <a:gd name="T0" fmla="*/ 198 w 199"/>
                <a:gd name="T1" fmla="*/ 135 h 237"/>
                <a:gd name="T2" fmla="*/ 57 w 199"/>
                <a:gd name="T3" fmla="*/ 135 h 237"/>
                <a:gd name="T4" fmla="*/ 112 w 199"/>
                <a:gd name="T5" fmla="*/ 196 h 237"/>
                <a:gd name="T6" fmla="*/ 168 w 199"/>
                <a:gd name="T7" fmla="*/ 176 h 237"/>
                <a:gd name="T8" fmla="*/ 191 w 199"/>
                <a:gd name="T9" fmla="*/ 207 h 237"/>
                <a:gd name="T10" fmla="*/ 107 w 199"/>
                <a:gd name="T11" fmla="*/ 237 h 237"/>
                <a:gd name="T12" fmla="*/ 0 w 199"/>
                <a:gd name="T13" fmla="*/ 120 h 237"/>
                <a:gd name="T14" fmla="*/ 100 w 199"/>
                <a:gd name="T15" fmla="*/ 0 h 237"/>
                <a:gd name="T16" fmla="*/ 199 w 199"/>
                <a:gd name="T17" fmla="*/ 113 h 237"/>
                <a:gd name="T18" fmla="*/ 198 w 199"/>
                <a:gd name="T19" fmla="*/ 135 h 237"/>
                <a:gd name="T20" fmla="*/ 145 w 199"/>
                <a:gd name="T21" fmla="*/ 98 h 237"/>
                <a:gd name="T22" fmla="*/ 101 w 199"/>
                <a:gd name="T23" fmla="*/ 38 h 237"/>
                <a:gd name="T24" fmla="*/ 57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8" y="135"/>
                  </a:moveTo>
                  <a:cubicBezTo>
                    <a:pt x="57" y="135"/>
                    <a:pt x="57" y="135"/>
                    <a:pt x="57" y="135"/>
                  </a:cubicBezTo>
                  <a:cubicBezTo>
                    <a:pt x="61" y="181"/>
                    <a:pt x="82" y="196"/>
                    <a:pt x="112" y="196"/>
                  </a:cubicBezTo>
                  <a:cubicBezTo>
                    <a:pt x="132" y="196"/>
                    <a:pt x="149" y="190"/>
                    <a:pt x="168" y="176"/>
                  </a:cubicBezTo>
                  <a:cubicBezTo>
                    <a:pt x="191" y="207"/>
                    <a:pt x="191" y="207"/>
                    <a:pt x="191" y="207"/>
                  </a:cubicBezTo>
                  <a:cubicBezTo>
                    <a:pt x="169" y="225"/>
                    <a:pt x="141" y="237"/>
                    <a:pt x="107" y="237"/>
                  </a:cubicBezTo>
                  <a:cubicBezTo>
                    <a:pt x="38" y="237"/>
                    <a:pt x="0" y="191"/>
                    <a:pt x="0" y="120"/>
                  </a:cubicBezTo>
                  <a:cubicBezTo>
                    <a:pt x="0" y="52"/>
                    <a:pt x="36" y="0"/>
                    <a:pt x="100" y="0"/>
                  </a:cubicBezTo>
                  <a:cubicBezTo>
                    <a:pt x="163" y="0"/>
                    <a:pt x="199" y="42"/>
                    <a:pt x="199" y="113"/>
                  </a:cubicBezTo>
                  <a:cubicBezTo>
                    <a:pt x="199" y="121"/>
                    <a:pt x="198" y="129"/>
                    <a:pt x="198" y="135"/>
                  </a:cubicBezTo>
                  <a:moveTo>
                    <a:pt x="145" y="98"/>
                  </a:moveTo>
                  <a:cubicBezTo>
                    <a:pt x="145" y="61"/>
                    <a:pt x="132" y="38"/>
                    <a:pt x="101" y="38"/>
                  </a:cubicBezTo>
                  <a:cubicBezTo>
                    <a:pt x="76" y="38"/>
                    <a:pt x="60" y="55"/>
                    <a:pt x="57"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19">
              <a:extLst>
                <a:ext uri="{FF2B5EF4-FFF2-40B4-BE49-F238E27FC236}">
                  <a16:creationId xmlns:a16="http://schemas.microsoft.com/office/drawing/2014/main" id="{53402CC8-49B0-474D-862D-2093AB8F711C}"/>
                </a:ext>
              </a:extLst>
            </p:cNvPr>
            <p:cNvSpPr>
              <a:spLocks/>
            </p:cNvSpPr>
            <p:nvPr/>
          </p:nvSpPr>
          <p:spPr bwMode="auto">
            <a:xfrm>
              <a:off x="11903075" y="4959350"/>
              <a:ext cx="504825" cy="873125"/>
            </a:xfrm>
            <a:custGeom>
              <a:avLst/>
              <a:gdLst>
                <a:gd name="T0" fmla="*/ 134 w 134"/>
                <a:gd name="T1" fmla="*/ 3 h 231"/>
                <a:gd name="T2" fmla="*/ 124 w 134"/>
                <a:gd name="T3" fmla="*/ 56 h 231"/>
                <a:gd name="T4" fmla="*/ 104 w 134"/>
                <a:gd name="T5" fmla="*/ 53 h 231"/>
                <a:gd name="T6" fmla="*/ 55 w 134"/>
                <a:gd name="T7" fmla="*/ 111 h 231"/>
                <a:gd name="T8" fmla="*/ 55 w 134"/>
                <a:gd name="T9" fmla="*/ 231 h 231"/>
                <a:gd name="T10" fmla="*/ 0 w 134"/>
                <a:gd name="T11" fmla="*/ 231 h 231"/>
                <a:gd name="T12" fmla="*/ 0 w 134"/>
                <a:gd name="T13" fmla="*/ 6 h 231"/>
                <a:gd name="T14" fmla="*/ 47 w 134"/>
                <a:gd name="T15" fmla="*/ 6 h 231"/>
                <a:gd name="T16" fmla="*/ 52 w 134"/>
                <a:gd name="T17" fmla="*/ 50 h 231"/>
                <a:gd name="T18" fmla="*/ 111 w 134"/>
                <a:gd name="T19" fmla="*/ 0 h 231"/>
                <a:gd name="T20" fmla="*/ 134 w 134"/>
                <a:gd name="T21" fmla="*/ 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231">
                  <a:moveTo>
                    <a:pt x="134" y="3"/>
                  </a:moveTo>
                  <a:cubicBezTo>
                    <a:pt x="124" y="56"/>
                    <a:pt x="124" y="56"/>
                    <a:pt x="124" y="56"/>
                  </a:cubicBezTo>
                  <a:cubicBezTo>
                    <a:pt x="118" y="54"/>
                    <a:pt x="112" y="53"/>
                    <a:pt x="104" y="53"/>
                  </a:cubicBezTo>
                  <a:cubicBezTo>
                    <a:pt x="77" y="53"/>
                    <a:pt x="63" y="73"/>
                    <a:pt x="55" y="111"/>
                  </a:cubicBezTo>
                  <a:cubicBezTo>
                    <a:pt x="55" y="231"/>
                    <a:pt x="55" y="231"/>
                    <a:pt x="55" y="231"/>
                  </a:cubicBezTo>
                  <a:cubicBezTo>
                    <a:pt x="0" y="231"/>
                    <a:pt x="0" y="231"/>
                    <a:pt x="0" y="231"/>
                  </a:cubicBezTo>
                  <a:cubicBezTo>
                    <a:pt x="0" y="6"/>
                    <a:pt x="0" y="6"/>
                    <a:pt x="0" y="6"/>
                  </a:cubicBezTo>
                  <a:cubicBezTo>
                    <a:pt x="47" y="6"/>
                    <a:pt x="47" y="6"/>
                    <a:pt x="47" y="6"/>
                  </a:cubicBezTo>
                  <a:cubicBezTo>
                    <a:pt x="52" y="50"/>
                    <a:pt x="52" y="50"/>
                    <a:pt x="52" y="50"/>
                  </a:cubicBezTo>
                  <a:cubicBezTo>
                    <a:pt x="63" y="18"/>
                    <a:pt x="85" y="0"/>
                    <a:pt x="111" y="0"/>
                  </a:cubicBezTo>
                  <a:cubicBezTo>
                    <a:pt x="119" y="0"/>
                    <a:pt x="126" y="1"/>
                    <a:pt x="134" y="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0">
              <a:extLst>
                <a:ext uri="{FF2B5EF4-FFF2-40B4-BE49-F238E27FC236}">
                  <a16:creationId xmlns:a16="http://schemas.microsoft.com/office/drawing/2014/main" id="{A9A5AAE8-A786-4E0B-86F9-31081CC001E9}"/>
                </a:ext>
              </a:extLst>
            </p:cNvPr>
            <p:cNvSpPr>
              <a:spLocks/>
            </p:cNvSpPr>
            <p:nvPr/>
          </p:nvSpPr>
          <p:spPr bwMode="auto">
            <a:xfrm>
              <a:off x="12158663" y="5703888"/>
              <a:ext cx="87312" cy="128587"/>
            </a:xfrm>
            <a:custGeom>
              <a:avLst/>
              <a:gdLst>
                <a:gd name="T0" fmla="*/ 52 w 55"/>
                <a:gd name="T1" fmla="*/ 7 h 81"/>
                <a:gd name="T2" fmla="*/ 29 w 55"/>
                <a:gd name="T3" fmla="*/ 7 h 81"/>
                <a:gd name="T4" fmla="*/ 29 w 55"/>
                <a:gd name="T5" fmla="*/ 81 h 81"/>
                <a:gd name="T6" fmla="*/ 24 w 55"/>
                <a:gd name="T7" fmla="*/ 81 h 81"/>
                <a:gd name="T8" fmla="*/ 24 w 55"/>
                <a:gd name="T9" fmla="*/ 7 h 81"/>
                <a:gd name="T10" fmla="*/ 0 w 55"/>
                <a:gd name="T11" fmla="*/ 7 h 81"/>
                <a:gd name="T12" fmla="*/ 0 w 55"/>
                <a:gd name="T13" fmla="*/ 0 h 81"/>
                <a:gd name="T14" fmla="*/ 55 w 55"/>
                <a:gd name="T15" fmla="*/ 0 h 81"/>
                <a:gd name="T16" fmla="*/ 52 w 55"/>
                <a:gd name="T17"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81">
                  <a:moveTo>
                    <a:pt x="52" y="7"/>
                  </a:moveTo>
                  <a:lnTo>
                    <a:pt x="29" y="7"/>
                  </a:lnTo>
                  <a:lnTo>
                    <a:pt x="29" y="81"/>
                  </a:lnTo>
                  <a:lnTo>
                    <a:pt x="24" y="81"/>
                  </a:lnTo>
                  <a:lnTo>
                    <a:pt x="24" y="7"/>
                  </a:lnTo>
                  <a:lnTo>
                    <a:pt x="0" y="7"/>
                  </a:lnTo>
                  <a:lnTo>
                    <a:pt x="0" y="0"/>
                  </a:lnTo>
                  <a:lnTo>
                    <a:pt x="55" y="0"/>
                  </a:lnTo>
                  <a:lnTo>
                    <a:pt x="5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1">
              <a:extLst>
                <a:ext uri="{FF2B5EF4-FFF2-40B4-BE49-F238E27FC236}">
                  <a16:creationId xmlns:a16="http://schemas.microsoft.com/office/drawing/2014/main" id="{12A1B7F2-70C4-4FD1-BA32-8ABF7EA2D2A5}"/>
                </a:ext>
              </a:extLst>
            </p:cNvPr>
            <p:cNvSpPr>
              <a:spLocks/>
            </p:cNvSpPr>
            <p:nvPr/>
          </p:nvSpPr>
          <p:spPr bwMode="auto">
            <a:xfrm>
              <a:off x="12245975" y="5703888"/>
              <a:ext cx="115887" cy="128587"/>
            </a:xfrm>
            <a:custGeom>
              <a:avLst/>
              <a:gdLst>
                <a:gd name="T0" fmla="*/ 31 w 31"/>
                <a:gd name="T1" fmla="*/ 34 h 34"/>
                <a:gd name="T2" fmla="*/ 28 w 31"/>
                <a:gd name="T3" fmla="*/ 34 h 34"/>
                <a:gd name="T4" fmla="*/ 27 w 31"/>
                <a:gd name="T5" fmla="*/ 18 h 34"/>
                <a:gd name="T6" fmla="*/ 26 w 31"/>
                <a:gd name="T7" fmla="*/ 3 h 34"/>
                <a:gd name="T8" fmla="*/ 17 w 31"/>
                <a:gd name="T9" fmla="*/ 30 h 34"/>
                <a:gd name="T10" fmla="*/ 14 w 31"/>
                <a:gd name="T11" fmla="*/ 30 h 34"/>
                <a:gd name="T12" fmla="*/ 6 w 31"/>
                <a:gd name="T13" fmla="*/ 3 h 34"/>
                <a:gd name="T14" fmla="*/ 4 w 31"/>
                <a:gd name="T15" fmla="*/ 18 h 34"/>
                <a:gd name="T16" fmla="*/ 3 w 31"/>
                <a:gd name="T17" fmla="*/ 34 h 34"/>
                <a:gd name="T18" fmla="*/ 0 w 31"/>
                <a:gd name="T19" fmla="*/ 34 h 34"/>
                <a:gd name="T20" fmla="*/ 3 w 31"/>
                <a:gd name="T21" fmla="*/ 0 h 34"/>
                <a:gd name="T22" fmla="*/ 7 w 31"/>
                <a:gd name="T23" fmla="*/ 0 h 34"/>
                <a:gd name="T24" fmla="*/ 16 w 31"/>
                <a:gd name="T25" fmla="*/ 26 h 34"/>
                <a:gd name="T26" fmla="*/ 24 w 31"/>
                <a:gd name="T27" fmla="*/ 0 h 34"/>
                <a:gd name="T28" fmla="*/ 28 w 31"/>
                <a:gd name="T29" fmla="*/ 0 h 34"/>
                <a:gd name="T30" fmla="*/ 31 w 31"/>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4">
                  <a:moveTo>
                    <a:pt x="31" y="34"/>
                  </a:moveTo>
                  <a:cubicBezTo>
                    <a:pt x="28" y="34"/>
                    <a:pt x="28" y="34"/>
                    <a:pt x="28" y="34"/>
                  </a:cubicBezTo>
                  <a:cubicBezTo>
                    <a:pt x="27" y="18"/>
                    <a:pt x="27" y="18"/>
                    <a:pt x="27" y="18"/>
                  </a:cubicBezTo>
                  <a:cubicBezTo>
                    <a:pt x="26" y="12"/>
                    <a:pt x="26" y="6"/>
                    <a:pt x="26" y="3"/>
                  </a:cubicBezTo>
                  <a:cubicBezTo>
                    <a:pt x="17" y="30"/>
                    <a:pt x="17" y="30"/>
                    <a:pt x="17" y="30"/>
                  </a:cubicBezTo>
                  <a:cubicBezTo>
                    <a:pt x="14" y="30"/>
                    <a:pt x="14" y="30"/>
                    <a:pt x="14" y="30"/>
                  </a:cubicBezTo>
                  <a:cubicBezTo>
                    <a:pt x="6" y="3"/>
                    <a:pt x="6" y="3"/>
                    <a:pt x="6" y="3"/>
                  </a:cubicBezTo>
                  <a:cubicBezTo>
                    <a:pt x="5" y="6"/>
                    <a:pt x="5" y="12"/>
                    <a:pt x="4" y="18"/>
                  </a:cubicBezTo>
                  <a:cubicBezTo>
                    <a:pt x="3" y="34"/>
                    <a:pt x="3" y="34"/>
                    <a:pt x="3" y="34"/>
                  </a:cubicBezTo>
                  <a:cubicBezTo>
                    <a:pt x="0" y="34"/>
                    <a:pt x="0" y="34"/>
                    <a:pt x="0" y="34"/>
                  </a:cubicBezTo>
                  <a:cubicBezTo>
                    <a:pt x="3" y="0"/>
                    <a:pt x="3" y="0"/>
                    <a:pt x="3" y="0"/>
                  </a:cubicBezTo>
                  <a:cubicBezTo>
                    <a:pt x="7" y="0"/>
                    <a:pt x="7" y="0"/>
                    <a:pt x="7" y="0"/>
                  </a:cubicBezTo>
                  <a:cubicBezTo>
                    <a:pt x="16" y="26"/>
                    <a:pt x="16" y="26"/>
                    <a:pt x="16" y="26"/>
                  </a:cubicBezTo>
                  <a:cubicBezTo>
                    <a:pt x="24" y="0"/>
                    <a:pt x="24" y="0"/>
                    <a:pt x="24" y="0"/>
                  </a:cubicBezTo>
                  <a:cubicBezTo>
                    <a:pt x="28" y="0"/>
                    <a:pt x="28" y="0"/>
                    <a:pt x="28" y="0"/>
                  </a:cubicBezTo>
                  <a:lnTo>
                    <a:pt x="31"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449099343"/>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44050521"/>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lvl1pPr>
              <a:defRPr>
                <a:solidFill>
                  <a:schemeClr val="tx1"/>
                </a:solidFill>
              </a:defRPr>
            </a:lvl1p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1075695"/>
            <a:ext cx="12192000" cy="73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4792869"/>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869781"/>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170878" y="1390650"/>
            <a:ext cx="11468100" cy="292388"/>
          </a:xfrm>
        </p:spPr>
        <p:txBody>
          <a:bodyPr/>
          <a:lstStyle>
            <a:lvl1pPr marL="0" indent="0">
              <a:buNone/>
              <a:defRPr sz="1900" b="1"/>
            </a:lvl1pPr>
            <a:lvl2pPr marL="283368"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3055388184"/>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0" y="-2403"/>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09467591"/>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12192000" cy="15400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101556" y="-8229"/>
            <a:ext cx="8580301" cy="1548271"/>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98403669"/>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43199712"/>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5364173" cy="484043"/>
          </a:xfrm>
        </p:spPr>
        <p:txBody>
          <a:bodyPr wrap="square">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66958788"/>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1388582"/>
            <a:ext cx="3800474" cy="1744067"/>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365760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388582"/>
            <a:ext cx="2734056" cy="1169551"/>
          </a:xfrm>
        </p:spPr>
        <p:txBody>
          <a:bodyPr vert="horz" lIns="0" tIns="0" rIns="0" bIns="0" rtlCol="0">
            <a:spAutoFit/>
          </a:bodyPr>
          <a:lstStyle>
            <a:lvl1pPr>
              <a:defRPr lang="en-US" sz="19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GB"/>
              <a:t>Click to edit Master title style</a:t>
            </a:r>
            <a:endParaRPr lang="en-US"/>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1748201"/>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3543377"/>
            <a:ext cx="8591550" cy="276999"/>
          </a:xfrm>
        </p:spPr>
        <p:txBody>
          <a:bodyPr>
            <a:spAutoFit/>
          </a:bodyPr>
          <a:lstStyle/>
          <a:p>
            <a:r>
              <a:rPr lang="en-GB"/>
              <a:t>Click icon to add chart</a:t>
            </a:r>
            <a:endParaRPr lang="en-US"/>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525351"/>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9545597"/>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lvl1pPr>
              <a:defRPr>
                <a:solidFill>
                  <a:schemeClr val="tx1"/>
                </a:solidFill>
              </a:defRPr>
            </a:lvl1pPr>
          </a:lstStyle>
          <a:p>
            <a:r>
              <a:rPr lang="en-GB"/>
              <a:t>Click to edit Master title style</a:t>
            </a:r>
            <a:endParaRPr lang="en-US"/>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56239141"/>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68021209"/>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861515070"/>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1744067"/>
          </a:xfrm>
        </p:spPr>
        <p:txBody>
          <a:bodyPr lIns="0">
            <a:spAutoFit/>
          </a:bodyPr>
          <a:lstStyle>
            <a:lvl1pPr>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66880111"/>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1744067"/>
          </a:xfrm>
        </p:spPr>
        <p:txBody>
          <a:bodyPr lIns="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8234247"/>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1500"/>
              </a:spcAft>
              <a:buFont typeface="Arial" panose="020B0604020202020204" pitchFamily="34" charset="0"/>
            </a:pPr>
            <a:r>
              <a:rPr lang="en-GB"/>
              <a:t>Click to edit Master title style</a:t>
            </a:r>
            <a:endParaRPr lang="en-US"/>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79176949"/>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2209800"/>
            <a:ext cx="3238500" cy="46482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36024625"/>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4745736"/>
            <a:ext cx="3226194" cy="2112264"/>
          </a:xfrm>
          <a:prstGeom prst="rect">
            <a:avLst/>
          </a:prstGeom>
        </p:spPr>
      </p:pic>
    </p:spTree>
    <p:extLst>
      <p:ext uri="{BB962C8B-B14F-4D97-AF65-F5344CB8AC3E}">
        <p14:creationId xmlns:p14="http://schemas.microsoft.com/office/powerpoint/2010/main" val="4190564277"/>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3238500" y="0"/>
            <a:ext cx="8953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3238500" y="1752600"/>
            <a:ext cx="7797800" cy="51054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tx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645441539"/>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914400" y="780779"/>
            <a:ext cx="2330793" cy="6077221"/>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8" y="1843749"/>
            <a:ext cx="1810884" cy="1461939"/>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07184445"/>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a:ln>
            <a:noFill/>
          </a:ln>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103070898"/>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2373957266"/>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3733484159"/>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2157504184"/>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09288508"/>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87235766"/>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1012190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495953315"/>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69551"/>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2021066"/>
          </a:xfrm>
        </p:spPr>
        <p:txBody>
          <a:bodyPr vert="horz" lIns="0" tIns="0" rIns="0" bIns="0" rtlCol="0">
            <a:spAutoFit/>
          </a:bodyPr>
          <a:lstStyle>
            <a:lvl1pPr marL="142875" marR="0" indent="-142875"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01544098"/>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61950" y="326645"/>
            <a:ext cx="5580063" cy="2100073"/>
          </a:xfr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79413" y="2499268"/>
            <a:ext cx="5562600" cy="813594"/>
          </a:xfrm>
        </p:spPr>
        <p:txBody>
          <a:bodyPr vert="horz" lIns="0" tIns="0" rIns="0" bIns="0" rtlCol="0" anchor="t">
            <a:noAutofit/>
          </a:bodyPr>
          <a:lstStyle>
            <a:lvl1pPr marL="0" indent="0">
              <a:buNone/>
              <a:defRPr lang="en-US" sz="26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79525" y="5693264"/>
            <a:ext cx="2283862" cy="1029241"/>
          </a:xfrm>
          <a:prstGeom prst="rect">
            <a:avLst/>
          </a:prstGeom>
        </p:spPr>
      </p:pic>
    </p:spTree>
    <p:extLst>
      <p:ext uri="{BB962C8B-B14F-4D97-AF65-F5344CB8AC3E}">
        <p14:creationId xmlns:p14="http://schemas.microsoft.com/office/powerpoint/2010/main" val="3875713044"/>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32385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875"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lvl1pPr>
              <a:defRPr>
                <a:solidFill>
                  <a:schemeClr val="bg1"/>
                </a:solidFill>
              </a:defRPr>
            </a:lvl1pPr>
          </a:lstStyle>
          <a:p>
            <a:r>
              <a:rPr lang="en-US"/>
              <a:t>Click to edit Master title style</a:t>
            </a:r>
          </a:p>
        </p:txBody>
      </p:sp>
      <p:sp>
        <p:nvSpPr>
          <p:cNvPr id="10" name="AutoShape 3">
            <a:extLst>
              <a:ext uri="{FF2B5EF4-FFF2-40B4-BE49-F238E27FC236}">
                <a16:creationId xmlns:a16="http://schemas.microsoft.com/office/drawing/2014/main" id="{DB1FC8E1-930A-49A8-A379-274ADAB24777}"/>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5">
            <a:extLst>
              <a:ext uri="{FF2B5EF4-FFF2-40B4-BE49-F238E27FC236}">
                <a16:creationId xmlns:a16="http://schemas.microsoft.com/office/drawing/2014/main" id="{DD287C41-2B14-4810-A18E-B2E65C2766F5}"/>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68666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image" Target="../media/image4.svg"/><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image" Target="../media/image12.svg"/><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66.xml"/><Relationship Id="rId18" Type="http://schemas.openxmlformats.org/officeDocument/2006/relationships/slideLayout" Target="../slideLayouts/slideLayout71.xml"/><Relationship Id="rId26" Type="http://schemas.openxmlformats.org/officeDocument/2006/relationships/slideLayout" Target="../slideLayouts/slideLayout79.xml"/><Relationship Id="rId3" Type="http://schemas.openxmlformats.org/officeDocument/2006/relationships/slideLayout" Target="../slideLayouts/slideLayout56.xml"/><Relationship Id="rId21" Type="http://schemas.openxmlformats.org/officeDocument/2006/relationships/slideLayout" Target="../slideLayouts/slideLayout74.xml"/><Relationship Id="rId34" Type="http://schemas.openxmlformats.org/officeDocument/2006/relationships/image" Target="../media/image2.png"/><Relationship Id="rId7" Type="http://schemas.openxmlformats.org/officeDocument/2006/relationships/slideLayout" Target="../slideLayouts/slideLayout60.xml"/><Relationship Id="rId12" Type="http://schemas.openxmlformats.org/officeDocument/2006/relationships/slideLayout" Target="../slideLayouts/slideLayout65.xml"/><Relationship Id="rId17" Type="http://schemas.openxmlformats.org/officeDocument/2006/relationships/slideLayout" Target="../slideLayouts/slideLayout70.xml"/><Relationship Id="rId25" Type="http://schemas.openxmlformats.org/officeDocument/2006/relationships/slideLayout" Target="../slideLayouts/slideLayout78.xml"/><Relationship Id="rId33" Type="http://schemas.openxmlformats.org/officeDocument/2006/relationships/image" Target="../media/image1.svg"/><Relationship Id="rId2" Type="http://schemas.openxmlformats.org/officeDocument/2006/relationships/slideLayout" Target="../slideLayouts/slideLayout55.xml"/><Relationship Id="rId16" Type="http://schemas.openxmlformats.org/officeDocument/2006/relationships/slideLayout" Target="../slideLayouts/slideLayout69.xml"/><Relationship Id="rId20" Type="http://schemas.openxmlformats.org/officeDocument/2006/relationships/slideLayout" Target="../slideLayouts/slideLayout73.xml"/><Relationship Id="rId29" Type="http://schemas.openxmlformats.org/officeDocument/2006/relationships/slideLayout" Target="../slideLayouts/slideLayout82.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24" Type="http://schemas.openxmlformats.org/officeDocument/2006/relationships/slideLayout" Target="../slideLayouts/slideLayout77.xml"/><Relationship Id="rId32" Type="http://schemas.openxmlformats.org/officeDocument/2006/relationships/theme" Target="../theme/theme4.xml"/><Relationship Id="rId5" Type="http://schemas.openxmlformats.org/officeDocument/2006/relationships/slideLayout" Target="../slideLayouts/slideLayout58.xml"/><Relationship Id="rId15" Type="http://schemas.openxmlformats.org/officeDocument/2006/relationships/slideLayout" Target="../slideLayouts/slideLayout68.xml"/><Relationship Id="rId23" Type="http://schemas.openxmlformats.org/officeDocument/2006/relationships/slideLayout" Target="../slideLayouts/slideLayout76.xml"/><Relationship Id="rId28" Type="http://schemas.openxmlformats.org/officeDocument/2006/relationships/slideLayout" Target="../slideLayouts/slideLayout81.xml"/><Relationship Id="rId10" Type="http://schemas.openxmlformats.org/officeDocument/2006/relationships/slideLayout" Target="../slideLayouts/slideLayout63.xml"/><Relationship Id="rId19" Type="http://schemas.openxmlformats.org/officeDocument/2006/relationships/slideLayout" Target="../slideLayouts/slideLayout72.xml"/><Relationship Id="rId31" Type="http://schemas.openxmlformats.org/officeDocument/2006/relationships/slideLayout" Target="../slideLayouts/slideLayout84.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 Id="rId22" Type="http://schemas.openxmlformats.org/officeDocument/2006/relationships/slideLayout" Target="../slideLayouts/slideLayout75.xml"/><Relationship Id="rId27" Type="http://schemas.openxmlformats.org/officeDocument/2006/relationships/slideLayout" Target="../slideLayouts/slideLayout80.xml"/><Relationship Id="rId30" Type="http://schemas.openxmlformats.org/officeDocument/2006/relationships/slideLayout" Target="../slideLayouts/slideLayout83.xml"/><Relationship Id="rId8" Type="http://schemas.openxmlformats.org/officeDocument/2006/relationships/slideLayout" Target="../slideLayouts/slideLayout61.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slideLayout" Target="../slideLayouts/slideLayout110.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34" Type="http://schemas.openxmlformats.org/officeDocument/2006/relationships/image" Target="../media/image2.png"/><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33" Type="http://schemas.openxmlformats.org/officeDocument/2006/relationships/image" Target="../media/image1.svg"/><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29" Type="http://schemas.openxmlformats.org/officeDocument/2006/relationships/slideLayout" Target="../slideLayouts/slideLayout113.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32" Type="http://schemas.openxmlformats.org/officeDocument/2006/relationships/theme" Target="../theme/theme5.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slideLayout" Target="../slideLayouts/slideLayout112.xml"/><Relationship Id="rId10" Type="http://schemas.openxmlformats.org/officeDocument/2006/relationships/slideLayout" Target="../slideLayouts/slideLayout94.xml"/><Relationship Id="rId19" Type="http://schemas.openxmlformats.org/officeDocument/2006/relationships/slideLayout" Target="../slideLayouts/slideLayout103.xml"/><Relationship Id="rId31" Type="http://schemas.openxmlformats.org/officeDocument/2006/relationships/slideLayout" Target="../slideLayouts/slideLayout115.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slideLayout" Target="../slideLayouts/slideLayout111.xml"/><Relationship Id="rId30" Type="http://schemas.openxmlformats.org/officeDocument/2006/relationships/slideLayout" Target="../slideLayouts/slideLayout114.xml"/><Relationship Id="rId8" Type="http://schemas.openxmlformats.org/officeDocument/2006/relationships/slideLayout" Target="../slideLayouts/slideLayout92.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28.xml"/><Relationship Id="rId18" Type="http://schemas.openxmlformats.org/officeDocument/2006/relationships/slideLayout" Target="../slideLayouts/slideLayout133.xml"/><Relationship Id="rId26" Type="http://schemas.openxmlformats.org/officeDocument/2006/relationships/slideLayout" Target="../slideLayouts/slideLayout141.xml"/><Relationship Id="rId39" Type="http://schemas.openxmlformats.org/officeDocument/2006/relationships/slideLayout" Target="../slideLayouts/slideLayout154.xml"/><Relationship Id="rId21" Type="http://schemas.openxmlformats.org/officeDocument/2006/relationships/slideLayout" Target="../slideLayouts/slideLayout136.xml"/><Relationship Id="rId34" Type="http://schemas.openxmlformats.org/officeDocument/2006/relationships/slideLayout" Target="../slideLayouts/slideLayout149.xml"/><Relationship Id="rId42" Type="http://schemas.openxmlformats.org/officeDocument/2006/relationships/slideLayout" Target="../slideLayouts/slideLayout157.xml"/><Relationship Id="rId7" Type="http://schemas.openxmlformats.org/officeDocument/2006/relationships/slideLayout" Target="../slideLayouts/slideLayout122.xml"/><Relationship Id="rId2" Type="http://schemas.openxmlformats.org/officeDocument/2006/relationships/slideLayout" Target="../slideLayouts/slideLayout117.xml"/><Relationship Id="rId16" Type="http://schemas.openxmlformats.org/officeDocument/2006/relationships/slideLayout" Target="../slideLayouts/slideLayout131.xml"/><Relationship Id="rId20" Type="http://schemas.openxmlformats.org/officeDocument/2006/relationships/slideLayout" Target="../slideLayouts/slideLayout135.xml"/><Relationship Id="rId29" Type="http://schemas.openxmlformats.org/officeDocument/2006/relationships/slideLayout" Target="../slideLayouts/slideLayout144.xml"/><Relationship Id="rId41" Type="http://schemas.openxmlformats.org/officeDocument/2006/relationships/slideLayout" Target="../slideLayouts/slideLayout156.xml"/><Relationship Id="rId1" Type="http://schemas.openxmlformats.org/officeDocument/2006/relationships/slideLayout" Target="../slideLayouts/slideLayout116.xml"/><Relationship Id="rId6" Type="http://schemas.openxmlformats.org/officeDocument/2006/relationships/slideLayout" Target="../slideLayouts/slideLayout121.xml"/><Relationship Id="rId11" Type="http://schemas.openxmlformats.org/officeDocument/2006/relationships/slideLayout" Target="../slideLayouts/slideLayout126.xml"/><Relationship Id="rId24" Type="http://schemas.openxmlformats.org/officeDocument/2006/relationships/slideLayout" Target="../slideLayouts/slideLayout139.xml"/><Relationship Id="rId32" Type="http://schemas.openxmlformats.org/officeDocument/2006/relationships/slideLayout" Target="../slideLayouts/slideLayout147.xml"/><Relationship Id="rId37" Type="http://schemas.openxmlformats.org/officeDocument/2006/relationships/slideLayout" Target="../slideLayouts/slideLayout152.xml"/><Relationship Id="rId40" Type="http://schemas.openxmlformats.org/officeDocument/2006/relationships/slideLayout" Target="../slideLayouts/slideLayout155.xml"/><Relationship Id="rId5" Type="http://schemas.openxmlformats.org/officeDocument/2006/relationships/slideLayout" Target="../slideLayouts/slideLayout120.xml"/><Relationship Id="rId15" Type="http://schemas.openxmlformats.org/officeDocument/2006/relationships/slideLayout" Target="../slideLayouts/slideLayout130.xml"/><Relationship Id="rId23" Type="http://schemas.openxmlformats.org/officeDocument/2006/relationships/slideLayout" Target="../slideLayouts/slideLayout138.xml"/><Relationship Id="rId28" Type="http://schemas.openxmlformats.org/officeDocument/2006/relationships/slideLayout" Target="../slideLayouts/slideLayout143.xml"/><Relationship Id="rId36" Type="http://schemas.openxmlformats.org/officeDocument/2006/relationships/slideLayout" Target="../slideLayouts/slideLayout151.xml"/><Relationship Id="rId10" Type="http://schemas.openxmlformats.org/officeDocument/2006/relationships/slideLayout" Target="../slideLayouts/slideLayout125.xml"/><Relationship Id="rId19" Type="http://schemas.openxmlformats.org/officeDocument/2006/relationships/slideLayout" Target="../slideLayouts/slideLayout134.xml"/><Relationship Id="rId31" Type="http://schemas.openxmlformats.org/officeDocument/2006/relationships/slideLayout" Target="../slideLayouts/slideLayout146.xml"/><Relationship Id="rId44" Type="http://schemas.openxmlformats.org/officeDocument/2006/relationships/image" Target="../media/image24.emf"/><Relationship Id="rId4" Type="http://schemas.openxmlformats.org/officeDocument/2006/relationships/slideLayout" Target="../slideLayouts/slideLayout119.xml"/><Relationship Id="rId9" Type="http://schemas.openxmlformats.org/officeDocument/2006/relationships/slideLayout" Target="../slideLayouts/slideLayout124.xml"/><Relationship Id="rId14" Type="http://schemas.openxmlformats.org/officeDocument/2006/relationships/slideLayout" Target="../slideLayouts/slideLayout129.xml"/><Relationship Id="rId22" Type="http://schemas.openxmlformats.org/officeDocument/2006/relationships/slideLayout" Target="../slideLayouts/slideLayout137.xml"/><Relationship Id="rId27" Type="http://schemas.openxmlformats.org/officeDocument/2006/relationships/slideLayout" Target="../slideLayouts/slideLayout142.xml"/><Relationship Id="rId30" Type="http://schemas.openxmlformats.org/officeDocument/2006/relationships/slideLayout" Target="../slideLayouts/slideLayout145.xml"/><Relationship Id="rId35" Type="http://schemas.openxmlformats.org/officeDocument/2006/relationships/slideLayout" Target="../slideLayouts/slideLayout150.xml"/><Relationship Id="rId43" Type="http://schemas.openxmlformats.org/officeDocument/2006/relationships/theme" Target="../theme/theme6.xml"/><Relationship Id="rId8" Type="http://schemas.openxmlformats.org/officeDocument/2006/relationships/slideLayout" Target="../slideLayouts/slideLayout123.xml"/><Relationship Id="rId3" Type="http://schemas.openxmlformats.org/officeDocument/2006/relationships/slideLayout" Target="../slideLayouts/slideLayout118.xml"/><Relationship Id="rId12" Type="http://schemas.openxmlformats.org/officeDocument/2006/relationships/slideLayout" Target="../slideLayouts/slideLayout127.xml"/><Relationship Id="rId17" Type="http://schemas.openxmlformats.org/officeDocument/2006/relationships/slideLayout" Target="../slideLayouts/slideLayout132.xml"/><Relationship Id="rId25" Type="http://schemas.openxmlformats.org/officeDocument/2006/relationships/slideLayout" Target="../slideLayouts/slideLayout140.xml"/><Relationship Id="rId33" Type="http://schemas.openxmlformats.org/officeDocument/2006/relationships/slideLayout" Target="../slideLayouts/slideLayout148.xml"/><Relationship Id="rId38" Type="http://schemas.openxmlformats.org/officeDocument/2006/relationships/slideLayout" Target="../slideLayouts/slideLayout153.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170.xml"/><Relationship Id="rId18" Type="http://schemas.openxmlformats.org/officeDocument/2006/relationships/slideLayout" Target="../slideLayouts/slideLayout175.xml"/><Relationship Id="rId26" Type="http://schemas.openxmlformats.org/officeDocument/2006/relationships/slideLayout" Target="../slideLayouts/slideLayout183.xml"/><Relationship Id="rId39" Type="http://schemas.openxmlformats.org/officeDocument/2006/relationships/slideLayout" Target="../slideLayouts/slideLayout196.xml"/><Relationship Id="rId21" Type="http://schemas.openxmlformats.org/officeDocument/2006/relationships/slideLayout" Target="../slideLayouts/slideLayout178.xml"/><Relationship Id="rId34" Type="http://schemas.openxmlformats.org/officeDocument/2006/relationships/slideLayout" Target="../slideLayouts/slideLayout191.xml"/><Relationship Id="rId42" Type="http://schemas.openxmlformats.org/officeDocument/2006/relationships/slideLayout" Target="../slideLayouts/slideLayout199.xml"/><Relationship Id="rId47" Type="http://schemas.openxmlformats.org/officeDocument/2006/relationships/slideLayout" Target="../slideLayouts/slideLayout204.xml"/><Relationship Id="rId50" Type="http://schemas.openxmlformats.org/officeDocument/2006/relationships/theme" Target="../theme/theme7.xml"/><Relationship Id="rId7" Type="http://schemas.openxmlformats.org/officeDocument/2006/relationships/slideLayout" Target="../slideLayouts/slideLayout164.xml"/><Relationship Id="rId2" Type="http://schemas.openxmlformats.org/officeDocument/2006/relationships/slideLayout" Target="../slideLayouts/slideLayout159.xml"/><Relationship Id="rId16" Type="http://schemas.openxmlformats.org/officeDocument/2006/relationships/slideLayout" Target="../slideLayouts/slideLayout173.xml"/><Relationship Id="rId29" Type="http://schemas.openxmlformats.org/officeDocument/2006/relationships/slideLayout" Target="../slideLayouts/slideLayout186.xml"/><Relationship Id="rId11" Type="http://schemas.openxmlformats.org/officeDocument/2006/relationships/slideLayout" Target="../slideLayouts/slideLayout168.xml"/><Relationship Id="rId24" Type="http://schemas.openxmlformats.org/officeDocument/2006/relationships/slideLayout" Target="../slideLayouts/slideLayout181.xml"/><Relationship Id="rId32" Type="http://schemas.openxmlformats.org/officeDocument/2006/relationships/slideLayout" Target="../slideLayouts/slideLayout189.xml"/><Relationship Id="rId37" Type="http://schemas.openxmlformats.org/officeDocument/2006/relationships/slideLayout" Target="../slideLayouts/slideLayout194.xml"/><Relationship Id="rId40" Type="http://schemas.openxmlformats.org/officeDocument/2006/relationships/slideLayout" Target="../slideLayouts/slideLayout197.xml"/><Relationship Id="rId45" Type="http://schemas.openxmlformats.org/officeDocument/2006/relationships/slideLayout" Target="../slideLayouts/slideLayout202.xml"/><Relationship Id="rId5" Type="http://schemas.openxmlformats.org/officeDocument/2006/relationships/slideLayout" Target="../slideLayouts/slideLayout162.xml"/><Relationship Id="rId15" Type="http://schemas.openxmlformats.org/officeDocument/2006/relationships/slideLayout" Target="../slideLayouts/slideLayout172.xml"/><Relationship Id="rId23" Type="http://schemas.openxmlformats.org/officeDocument/2006/relationships/slideLayout" Target="../slideLayouts/slideLayout180.xml"/><Relationship Id="rId28" Type="http://schemas.openxmlformats.org/officeDocument/2006/relationships/slideLayout" Target="../slideLayouts/slideLayout185.xml"/><Relationship Id="rId36" Type="http://schemas.openxmlformats.org/officeDocument/2006/relationships/slideLayout" Target="../slideLayouts/slideLayout193.xml"/><Relationship Id="rId49" Type="http://schemas.openxmlformats.org/officeDocument/2006/relationships/slideLayout" Target="../slideLayouts/slideLayout206.xml"/><Relationship Id="rId10" Type="http://schemas.openxmlformats.org/officeDocument/2006/relationships/slideLayout" Target="../slideLayouts/slideLayout167.xml"/><Relationship Id="rId19" Type="http://schemas.openxmlformats.org/officeDocument/2006/relationships/slideLayout" Target="../slideLayouts/slideLayout176.xml"/><Relationship Id="rId31" Type="http://schemas.openxmlformats.org/officeDocument/2006/relationships/slideLayout" Target="../slideLayouts/slideLayout188.xml"/><Relationship Id="rId44" Type="http://schemas.openxmlformats.org/officeDocument/2006/relationships/slideLayout" Target="../slideLayouts/slideLayout201.xml"/><Relationship Id="rId4" Type="http://schemas.openxmlformats.org/officeDocument/2006/relationships/slideLayout" Target="../slideLayouts/slideLayout161.xml"/><Relationship Id="rId9" Type="http://schemas.openxmlformats.org/officeDocument/2006/relationships/slideLayout" Target="../slideLayouts/slideLayout166.xml"/><Relationship Id="rId14" Type="http://schemas.openxmlformats.org/officeDocument/2006/relationships/slideLayout" Target="../slideLayouts/slideLayout171.xml"/><Relationship Id="rId22" Type="http://schemas.openxmlformats.org/officeDocument/2006/relationships/slideLayout" Target="../slideLayouts/slideLayout179.xml"/><Relationship Id="rId27" Type="http://schemas.openxmlformats.org/officeDocument/2006/relationships/slideLayout" Target="../slideLayouts/slideLayout184.xml"/><Relationship Id="rId30" Type="http://schemas.openxmlformats.org/officeDocument/2006/relationships/slideLayout" Target="../slideLayouts/slideLayout187.xml"/><Relationship Id="rId35" Type="http://schemas.openxmlformats.org/officeDocument/2006/relationships/slideLayout" Target="../slideLayouts/slideLayout192.xml"/><Relationship Id="rId43" Type="http://schemas.openxmlformats.org/officeDocument/2006/relationships/slideLayout" Target="../slideLayouts/slideLayout200.xml"/><Relationship Id="rId48" Type="http://schemas.openxmlformats.org/officeDocument/2006/relationships/slideLayout" Target="../slideLayouts/slideLayout205.xml"/><Relationship Id="rId8" Type="http://schemas.openxmlformats.org/officeDocument/2006/relationships/slideLayout" Target="../slideLayouts/slideLayout165.xml"/><Relationship Id="rId51" Type="http://schemas.openxmlformats.org/officeDocument/2006/relationships/image" Target="../media/image25.emf"/><Relationship Id="rId3" Type="http://schemas.openxmlformats.org/officeDocument/2006/relationships/slideLayout" Target="../slideLayouts/slideLayout160.xml"/><Relationship Id="rId12" Type="http://schemas.openxmlformats.org/officeDocument/2006/relationships/slideLayout" Target="../slideLayouts/slideLayout169.xml"/><Relationship Id="rId17" Type="http://schemas.openxmlformats.org/officeDocument/2006/relationships/slideLayout" Target="../slideLayouts/slideLayout174.xml"/><Relationship Id="rId25" Type="http://schemas.openxmlformats.org/officeDocument/2006/relationships/slideLayout" Target="../slideLayouts/slideLayout182.xml"/><Relationship Id="rId33" Type="http://schemas.openxmlformats.org/officeDocument/2006/relationships/slideLayout" Target="../slideLayouts/slideLayout190.xml"/><Relationship Id="rId38" Type="http://schemas.openxmlformats.org/officeDocument/2006/relationships/slideLayout" Target="../slideLayouts/slideLayout195.xml"/><Relationship Id="rId46" Type="http://schemas.openxmlformats.org/officeDocument/2006/relationships/slideLayout" Target="../slideLayouts/slideLayout203.xml"/><Relationship Id="rId20" Type="http://schemas.openxmlformats.org/officeDocument/2006/relationships/slideLayout" Target="../slideLayouts/slideLayout177.xml"/><Relationship Id="rId41" Type="http://schemas.openxmlformats.org/officeDocument/2006/relationships/slideLayout" Target="../slideLayouts/slideLayout198.xml"/><Relationship Id="rId1" Type="http://schemas.openxmlformats.org/officeDocument/2006/relationships/slideLayout" Target="../slideLayouts/slideLayout158.xml"/><Relationship Id="rId6" Type="http://schemas.openxmlformats.org/officeDocument/2006/relationships/slideLayout" Target="../slideLayouts/slideLayout163.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219.xml"/><Relationship Id="rId18" Type="http://schemas.openxmlformats.org/officeDocument/2006/relationships/slideLayout" Target="../slideLayouts/slideLayout224.xml"/><Relationship Id="rId26" Type="http://schemas.openxmlformats.org/officeDocument/2006/relationships/slideLayout" Target="../slideLayouts/slideLayout232.xml"/><Relationship Id="rId39" Type="http://schemas.openxmlformats.org/officeDocument/2006/relationships/slideLayout" Target="../slideLayouts/slideLayout245.xml"/><Relationship Id="rId21" Type="http://schemas.openxmlformats.org/officeDocument/2006/relationships/slideLayout" Target="../slideLayouts/slideLayout227.xml"/><Relationship Id="rId34" Type="http://schemas.openxmlformats.org/officeDocument/2006/relationships/slideLayout" Target="../slideLayouts/slideLayout240.xml"/><Relationship Id="rId42" Type="http://schemas.openxmlformats.org/officeDocument/2006/relationships/theme" Target="../theme/theme8.xml"/><Relationship Id="rId7" Type="http://schemas.openxmlformats.org/officeDocument/2006/relationships/slideLayout" Target="../slideLayouts/slideLayout213.xml"/><Relationship Id="rId2" Type="http://schemas.openxmlformats.org/officeDocument/2006/relationships/slideLayout" Target="../slideLayouts/slideLayout208.xml"/><Relationship Id="rId16" Type="http://schemas.openxmlformats.org/officeDocument/2006/relationships/slideLayout" Target="../slideLayouts/slideLayout222.xml"/><Relationship Id="rId20" Type="http://schemas.openxmlformats.org/officeDocument/2006/relationships/slideLayout" Target="../slideLayouts/slideLayout226.xml"/><Relationship Id="rId29" Type="http://schemas.openxmlformats.org/officeDocument/2006/relationships/slideLayout" Target="../slideLayouts/slideLayout235.xml"/><Relationship Id="rId41" Type="http://schemas.openxmlformats.org/officeDocument/2006/relationships/slideLayout" Target="../slideLayouts/slideLayout247.xml"/><Relationship Id="rId1" Type="http://schemas.openxmlformats.org/officeDocument/2006/relationships/slideLayout" Target="../slideLayouts/slideLayout207.xml"/><Relationship Id="rId6" Type="http://schemas.openxmlformats.org/officeDocument/2006/relationships/slideLayout" Target="../slideLayouts/slideLayout212.xml"/><Relationship Id="rId11" Type="http://schemas.openxmlformats.org/officeDocument/2006/relationships/slideLayout" Target="../slideLayouts/slideLayout217.xml"/><Relationship Id="rId24" Type="http://schemas.openxmlformats.org/officeDocument/2006/relationships/slideLayout" Target="../slideLayouts/slideLayout230.xml"/><Relationship Id="rId32" Type="http://schemas.openxmlformats.org/officeDocument/2006/relationships/slideLayout" Target="../slideLayouts/slideLayout238.xml"/><Relationship Id="rId37" Type="http://schemas.openxmlformats.org/officeDocument/2006/relationships/slideLayout" Target="../slideLayouts/slideLayout243.xml"/><Relationship Id="rId40" Type="http://schemas.openxmlformats.org/officeDocument/2006/relationships/slideLayout" Target="../slideLayouts/slideLayout246.xml"/><Relationship Id="rId5" Type="http://schemas.openxmlformats.org/officeDocument/2006/relationships/slideLayout" Target="../slideLayouts/slideLayout211.xml"/><Relationship Id="rId15" Type="http://schemas.openxmlformats.org/officeDocument/2006/relationships/slideLayout" Target="../slideLayouts/slideLayout221.xml"/><Relationship Id="rId23" Type="http://schemas.openxmlformats.org/officeDocument/2006/relationships/slideLayout" Target="../slideLayouts/slideLayout229.xml"/><Relationship Id="rId28" Type="http://schemas.openxmlformats.org/officeDocument/2006/relationships/slideLayout" Target="../slideLayouts/slideLayout234.xml"/><Relationship Id="rId36" Type="http://schemas.openxmlformats.org/officeDocument/2006/relationships/slideLayout" Target="../slideLayouts/slideLayout242.xml"/><Relationship Id="rId10" Type="http://schemas.openxmlformats.org/officeDocument/2006/relationships/slideLayout" Target="../slideLayouts/slideLayout216.xml"/><Relationship Id="rId19" Type="http://schemas.openxmlformats.org/officeDocument/2006/relationships/slideLayout" Target="../slideLayouts/slideLayout225.xml"/><Relationship Id="rId31" Type="http://schemas.openxmlformats.org/officeDocument/2006/relationships/slideLayout" Target="../slideLayouts/slideLayout237.xml"/><Relationship Id="rId4" Type="http://schemas.openxmlformats.org/officeDocument/2006/relationships/slideLayout" Target="../slideLayouts/slideLayout210.xml"/><Relationship Id="rId9" Type="http://schemas.openxmlformats.org/officeDocument/2006/relationships/slideLayout" Target="../slideLayouts/slideLayout215.xml"/><Relationship Id="rId14" Type="http://schemas.openxmlformats.org/officeDocument/2006/relationships/slideLayout" Target="../slideLayouts/slideLayout220.xml"/><Relationship Id="rId22" Type="http://schemas.openxmlformats.org/officeDocument/2006/relationships/slideLayout" Target="../slideLayouts/slideLayout228.xml"/><Relationship Id="rId27" Type="http://schemas.openxmlformats.org/officeDocument/2006/relationships/slideLayout" Target="../slideLayouts/slideLayout233.xml"/><Relationship Id="rId30" Type="http://schemas.openxmlformats.org/officeDocument/2006/relationships/slideLayout" Target="../slideLayouts/slideLayout236.xml"/><Relationship Id="rId35" Type="http://schemas.openxmlformats.org/officeDocument/2006/relationships/slideLayout" Target="../slideLayouts/slideLayout241.xml"/><Relationship Id="rId43" Type="http://schemas.openxmlformats.org/officeDocument/2006/relationships/image" Target="../media/image1.svg"/><Relationship Id="rId8" Type="http://schemas.openxmlformats.org/officeDocument/2006/relationships/slideLayout" Target="../slideLayouts/slideLayout214.xml"/><Relationship Id="rId3" Type="http://schemas.openxmlformats.org/officeDocument/2006/relationships/slideLayout" Target="../slideLayouts/slideLayout209.xml"/><Relationship Id="rId12" Type="http://schemas.openxmlformats.org/officeDocument/2006/relationships/slideLayout" Target="../slideLayouts/slideLayout218.xml"/><Relationship Id="rId17" Type="http://schemas.openxmlformats.org/officeDocument/2006/relationships/slideLayout" Target="../slideLayouts/slideLayout223.xml"/><Relationship Id="rId25" Type="http://schemas.openxmlformats.org/officeDocument/2006/relationships/slideLayout" Target="../slideLayouts/slideLayout231.xml"/><Relationship Id="rId33" Type="http://schemas.openxmlformats.org/officeDocument/2006/relationships/slideLayout" Target="../slideLayouts/slideLayout239.xml"/><Relationship Id="rId38" Type="http://schemas.openxmlformats.org/officeDocument/2006/relationships/slideLayout" Target="../slideLayouts/slideLayout244.xml"/></Relationships>
</file>

<file path=ppt/slideMasters/_rels/slideMaster9.xml.rels><?xml version="1.0" encoding="UTF-8" standalone="yes"?>
<Relationships xmlns="http://schemas.openxmlformats.org/package/2006/relationships"><Relationship Id="rId13" Type="http://schemas.openxmlformats.org/officeDocument/2006/relationships/slideLayout" Target="../slideLayouts/slideLayout260.xml"/><Relationship Id="rId18" Type="http://schemas.openxmlformats.org/officeDocument/2006/relationships/slideLayout" Target="../slideLayouts/slideLayout265.xml"/><Relationship Id="rId26" Type="http://schemas.openxmlformats.org/officeDocument/2006/relationships/slideLayout" Target="../slideLayouts/slideLayout273.xml"/><Relationship Id="rId3" Type="http://schemas.openxmlformats.org/officeDocument/2006/relationships/slideLayout" Target="../slideLayouts/slideLayout250.xml"/><Relationship Id="rId21" Type="http://schemas.openxmlformats.org/officeDocument/2006/relationships/slideLayout" Target="../slideLayouts/slideLayout268.xml"/><Relationship Id="rId7" Type="http://schemas.openxmlformats.org/officeDocument/2006/relationships/slideLayout" Target="../slideLayouts/slideLayout254.xml"/><Relationship Id="rId12" Type="http://schemas.openxmlformats.org/officeDocument/2006/relationships/slideLayout" Target="../slideLayouts/slideLayout259.xml"/><Relationship Id="rId17" Type="http://schemas.openxmlformats.org/officeDocument/2006/relationships/slideLayout" Target="../slideLayouts/slideLayout264.xml"/><Relationship Id="rId25" Type="http://schemas.openxmlformats.org/officeDocument/2006/relationships/slideLayout" Target="../slideLayouts/slideLayout272.xml"/><Relationship Id="rId33" Type="http://schemas.openxmlformats.org/officeDocument/2006/relationships/image" Target="../media/image2.png"/><Relationship Id="rId2" Type="http://schemas.openxmlformats.org/officeDocument/2006/relationships/slideLayout" Target="../slideLayouts/slideLayout249.xml"/><Relationship Id="rId16" Type="http://schemas.openxmlformats.org/officeDocument/2006/relationships/slideLayout" Target="../slideLayouts/slideLayout263.xml"/><Relationship Id="rId20" Type="http://schemas.openxmlformats.org/officeDocument/2006/relationships/slideLayout" Target="../slideLayouts/slideLayout267.xml"/><Relationship Id="rId29" Type="http://schemas.openxmlformats.org/officeDocument/2006/relationships/slideLayout" Target="../slideLayouts/slideLayout276.xml"/><Relationship Id="rId1" Type="http://schemas.openxmlformats.org/officeDocument/2006/relationships/slideLayout" Target="../slideLayouts/slideLayout248.xml"/><Relationship Id="rId6" Type="http://schemas.openxmlformats.org/officeDocument/2006/relationships/slideLayout" Target="../slideLayouts/slideLayout253.xml"/><Relationship Id="rId11" Type="http://schemas.openxmlformats.org/officeDocument/2006/relationships/slideLayout" Target="../slideLayouts/slideLayout258.xml"/><Relationship Id="rId24" Type="http://schemas.openxmlformats.org/officeDocument/2006/relationships/slideLayout" Target="../slideLayouts/slideLayout271.xml"/><Relationship Id="rId32" Type="http://schemas.openxmlformats.org/officeDocument/2006/relationships/image" Target="../media/image1.svg"/><Relationship Id="rId5" Type="http://schemas.openxmlformats.org/officeDocument/2006/relationships/slideLayout" Target="../slideLayouts/slideLayout252.xml"/><Relationship Id="rId15" Type="http://schemas.openxmlformats.org/officeDocument/2006/relationships/slideLayout" Target="../slideLayouts/slideLayout262.xml"/><Relationship Id="rId23" Type="http://schemas.openxmlformats.org/officeDocument/2006/relationships/slideLayout" Target="../slideLayouts/slideLayout270.xml"/><Relationship Id="rId28" Type="http://schemas.openxmlformats.org/officeDocument/2006/relationships/slideLayout" Target="../slideLayouts/slideLayout275.xml"/><Relationship Id="rId10" Type="http://schemas.openxmlformats.org/officeDocument/2006/relationships/slideLayout" Target="../slideLayouts/slideLayout257.xml"/><Relationship Id="rId19" Type="http://schemas.openxmlformats.org/officeDocument/2006/relationships/slideLayout" Target="../slideLayouts/slideLayout266.xml"/><Relationship Id="rId31" Type="http://schemas.openxmlformats.org/officeDocument/2006/relationships/theme" Target="../theme/theme9.xml"/><Relationship Id="rId4" Type="http://schemas.openxmlformats.org/officeDocument/2006/relationships/slideLayout" Target="../slideLayouts/slideLayout251.xml"/><Relationship Id="rId9" Type="http://schemas.openxmlformats.org/officeDocument/2006/relationships/slideLayout" Target="../slideLayouts/slideLayout256.xml"/><Relationship Id="rId14" Type="http://schemas.openxmlformats.org/officeDocument/2006/relationships/slideLayout" Target="../slideLayouts/slideLayout261.xml"/><Relationship Id="rId22" Type="http://schemas.openxmlformats.org/officeDocument/2006/relationships/slideLayout" Target="../slideLayouts/slideLayout269.xml"/><Relationship Id="rId27" Type="http://schemas.openxmlformats.org/officeDocument/2006/relationships/slideLayout" Target="../slideLayouts/slideLayout274.xml"/><Relationship Id="rId30" Type="http://schemas.openxmlformats.org/officeDocument/2006/relationships/slideLayout" Target="../slideLayouts/slideLayout277.xml"/><Relationship Id="rId8" Type="http://schemas.openxmlformats.org/officeDocument/2006/relationships/slideLayout" Target="../slideLayouts/slideLayout2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38501" y="1388582"/>
            <a:ext cx="8580301" cy="1744067"/>
          </a:xfrm>
          <a:prstGeom prst="rect">
            <a:avLst/>
          </a:prstGeom>
        </p:spPr>
        <p:txBody>
          <a:bodyPr vert="horz" lIns="182880" tIns="0" rIns="0" bIns="0" rtlCol="0">
            <a:spAutoFit/>
          </a:body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0" y="-2403"/>
            <a:ext cx="12667343" cy="1099683"/>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334497" y="268589"/>
            <a:ext cx="6147946" cy="498919"/>
          </a:xfrm>
          <a:prstGeom prst="rect">
            <a:avLst/>
          </a:prstGeom>
          <a:ln w="12700">
            <a:noFill/>
          </a:ln>
        </p:spPr>
        <p:txBody>
          <a:bodyPr vert="horz" wrap="square" lIns="0" tIns="0" rIns="0" bIns="0" rtlCol="0" anchor="t" anchorCtr="0">
            <a:spAutoFit/>
          </a:bodyPr>
          <a:lstStyle/>
          <a:p>
            <a:r>
              <a:rPr lang="en-GB"/>
              <a:t>Click to edit Master title style</a:t>
            </a:r>
            <a:endParaRPr lang="en-US"/>
          </a:p>
        </p:txBody>
      </p:sp>
    </p:spTree>
    <p:extLst>
      <p:ext uri="{BB962C8B-B14F-4D97-AF65-F5344CB8AC3E}">
        <p14:creationId xmlns:p14="http://schemas.microsoft.com/office/powerpoint/2010/main" val="605910522"/>
      </p:ext>
    </p:extLst>
  </p:cSld>
  <p:clrMap bg1="lt1" tx1="dk1" bg2="lt2" tx2="dk2" accent1="accent1" accent2="accent2" accent3="accent3" accent4="accent4" accent5="accent5" accent6="accent6" hlink="hlink" folHlink="folHlink"/>
  <p:sldLayoutIdLst>
    <p:sldLayoutId id="2147484004" r:id="rId1"/>
    <p:sldLayoutId id="2147483873" r:id="rId2"/>
    <p:sldLayoutId id="2147483843" r:id="rId3"/>
    <p:sldLayoutId id="2147483828" r:id="rId4"/>
    <p:sldLayoutId id="2147484003" r:id="rId5"/>
    <p:sldLayoutId id="2147483989" r:id="rId6"/>
    <p:sldLayoutId id="2147483817" r:id="rId7"/>
    <p:sldLayoutId id="2147483818" r:id="rId8"/>
    <p:sldLayoutId id="2147483819" r:id="rId9"/>
    <p:sldLayoutId id="2147483820" r:id="rId10"/>
    <p:sldLayoutId id="2147483829" r:id="rId11"/>
    <p:sldLayoutId id="2147483821" r:id="rId12"/>
    <p:sldLayoutId id="2147483822" r:id="rId13"/>
    <p:sldLayoutId id="2147483874" r:id="rId14"/>
    <p:sldLayoutId id="2147483823" r:id="rId15"/>
    <p:sldLayoutId id="2147483866" r:id="rId16"/>
    <p:sldLayoutId id="2147483844" r:id="rId17"/>
    <p:sldLayoutId id="2147483990" r:id="rId18"/>
    <p:sldLayoutId id="2147483991" r:id="rId19"/>
    <p:sldLayoutId id="2147483853" r:id="rId20"/>
    <p:sldLayoutId id="2147483849" r:id="rId21"/>
    <p:sldLayoutId id="2147483996" r:id="rId22"/>
    <p:sldLayoutId id="2147483851" r:id="rId23"/>
    <p:sldLayoutId id="2147483995" r:id="rId24"/>
    <p:sldLayoutId id="2147483854" r:id="rId25"/>
    <p:sldLayoutId id="2147483997" r:id="rId26"/>
    <p:sldLayoutId id="2147483855" r:id="rId27"/>
    <p:sldLayoutId id="2147483856" r:id="rId28"/>
    <p:sldLayoutId id="2147483999" r:id="rId29"/>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Fira Sans" panose="020B0503050000020004" pitchFamily="34" charset="0"/>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52" userDrawn="1">
          <p15:clr>
            <a:srgbClr val="000000"/>
          </p15:clr>
        </p15:guide>
        <p15:guide id="5" orient="horz" pos="228" userDrawn="1">
          <p15:clr>
            <a:srgbClr val="000000"/>
          </p15:clr>
        </p15:guide>
        <p15:guide id="8" orient="horz" pos="1200" userDrawn="1">
          <p15:clr>
            <a:srgbClr val="000000"/>
          </p15:clr>
        </p15:guide>
        <p15:guide id="11" orient="horz" pos="2160" userDrawn="1">
          <p15:clr>
            <a:srgbClr val="000000"/>
          </p15:clr>
        </p15:guide>
        <p15:guide id="14" orient="horz" pos="4092" userDrawn="1">
          <p15:clr>
            <a:srgbClr val="000000"/>
          </p15:clr>
        </p15:guide>
        <p15:guide id="45" orient="horz" pos="3120" userDrawn="1">
          <p15:clr>
            <a:srgbClr val="000000"/>
          </p15:clr>
        </p15:guide>
        <p15:guide id="52" pos="2040" userDrawn="1">
          <p15:clr>
            <a:srgbClr val="000000"/>
          </p15:clr>
        </p15:guide>
        <p15:guide id="55" pos="3840" userDrawn="1">
          <p15:clr>
            <a:srgbClr val="000000"/>
          </p15:clr>
        </p15:guide>
        <p15:guide id="58" pos="5652" userDrawn="1">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497" y="268589"/>
            <a:ext cx="2733169" cy="1531053"/>
          </a:xfrm>
          <a:prstGeom prst="rect">
            <a:avLst/>
          </a:prstGeom>
          <a:ln w="12700">
            <a:noFill/>
          </a:ln>
        </p:spPr>
        <p:txBody>
          <a:bodyPr vert="horz" lIns="0" tIns="0" rIns="0" bIns="0" rtlCol="0" anchor="t" anchorCtr="0">
            <a:noAutofit/>
          </a:bodyPr>
          <a:lstStyle/>
          <a:p>
            <a:r>
              <a:rPr lang="en-US"/>
              <a:t>Click to edit Master title style</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
        <p:nvSpPr>
          <p:cNvPr id="9" name="Text Placeholder 2">
            <a:extLst>
              <a:ext uri="{FF2B5EF4-FFF2-40B4-BE49-F238E27FC236}">
                <a16:creationId xmlns:a16="http://schemas.microsoft.com/office/drawing/2014/main" id="{8D79F404-BCB4-4942-A594-6B1E63AEBB15}"/>
              </a:ext>
            </a:extLst>
          </p:cNvPr>
          <p:cNvSpPr>
            <a:spLocks noGrp="1"/>
          </p:cNvSpPr>
          <p:nvPr>
            <p:ph type="body" idx="1"/>
          </p:nvPr>
        </p:nvSpPr>
        <p:spPr>
          <a:xfrm>
            <a:off x="3238501" y="312485"/>
            <a:ext cx="8580301"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101594CF-9E60-FEE9-725B-28644E2BEFC6}"/>
              </a:ext>
            </a:extLst>
          </p:cNvPr>
          <p:cNvPicPr>
            <a:picLocks noChangeAspect="1"/>
          </p:cNvPicPr>
          <p:nvPr userDrawn="1"/>
        </p:nvPicPr>
        <p:blipFill>
          <a:blip r:embed="rId14"/>
          <a:stretch>
            <a:fillRect/>
          </a:stretch>
        </p:blipFill>
        <p:spPr>
          <a:xfrm>
            <a:off x="0" y="4745736"/>
            <a:ext cx="3226194" cy="2112264"/>
          </a:xfrm>
          <a:prstGeom prst="rect">
            <a:avLst/>
          </a:prstGeom>
        </p:spPr>
      </p:pic>
    </p:spTree>
    <p:extLst>
      <p:ext uri="{BB962C8B-B14F-4D97-AF65-F5344CB8AC3E}">
        <p14:creationId xmlns:p14="http://schemas.microsoft.com/office/powerpoint/2010/main" val="1305847445"/>
      </p:ext>
    </p:extLst>
  </p:cSld>
  <p:clrMap bg1="lt1" tx1="dk1" bg2="lt2" tx2="dk2" accent1="accent1" accent2="accent2" accent3="accent3" accent4="accent4" accent5="accent5" accent6="accent6" hlink="hlink" folHlink="folHlink"/>
  <p:sldLayoutIdLst>
    <p:sldLayoutId id="2147483945" r:id="rId1"/>
    <p:sldLayoutId id="2147483946" r:id="rId2"/>
    <p:sldLayoutId id="2147483947" r:id="rId3"/>
    <p:sldLayoutId id="2147483948" r:id="rId4"/>
    <p:sldLayoutId id="2147483949" r:id="rId5"/>
    <p:sldLayoutId id="2147483950" r:id="rId6"/>
    <p:sldLayoutId id="2147483951" r:id="rId7"/>
    <p:sldLayoutId id="2147483955" r:id="rId8"/>
    <p:sldLayoutId id="2147483952" r:id="rId9"/>
    <p:sldLayoutId id="2147483953" r:id="rId10"/>
    <p:sldLayoutId id="2147483954" r:id="rId11"/>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52" userDrawn="1">
          <p15:clr>
            <a:srgbClr val="000000"/>
          </p15:clr>
        </p15:guide>
        <p15:guide id="5" orient="horz" pos="228" userDrawn="1">
          <p15:clr>
            <a:srgbClr val="000000"/>
          </p15:clr>
        </p15:guide>
        <p15:guide id="8" orient="horz" pos="1200" userDrawn="1">
          <p15:clr>
            <a:srgbClr val="000000"/>
          </p15:clr>
        </p15:guide>
        <p15:guide id="11" orient="horz" pos="2160" userDrawn="1">
          <p15:clr>
            <a:srgbClr val="000000"/>
          </p15:clr>
        </p15:guide>
        <p15:guide id="14" orient="horz" pos="4092" userDrawn="1">
          <p15:clr>
            <a:srgbClr val="000000"/>
          </p15:clr>
        </p15:guide>
        <p15:guide id="45" orient="horz" pos="3120" userDrawn="1">
          <p15:clr>
            <a:srgbClr val="000000"/>
          </p15:clr>
        </p15:guide>
        <p15:guide id="52" pos="2040" userDrawn="1">
          <p15:clr>
            <a:srgbClr val="000000"/>
          </p15:clr>
        </p15:guide>
        <p15:guide id="55" pos="3840" userDrawn="1">
          <p15:clr>
            <a:srgbClr val="000000"/>
          </p15:clr>
        </p15:guide>
        <p15:guide id="58" pos="5652" userDrawn="1">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244359039"/>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993" r:id="rId3"/>
    <p:sldLayoutId id="2147483994" r:id="rId4"/>
    <p:sldLayoutId id="2147483992" r:id="rId5"/>
    <p:sldLayoutId id="2147483836" r:id="rId6"/>
    <p:sldLayoutId id="2147483940" r:id="rId7"/>
    <p:sldLayoutId id="2147483838" r:id="rId8"/>
    <p:sldLayoutId id="2147483839" r:id="rId9"/>
    <p:sldLayoutId id="2147483840" r:id="rId10"/>
    <p:sldLayoutId id="2147483841" r:id="rId11"/>
    <p:sldLayoutId id="2147483985" r:id="rId12"/>
    <p:sldLayoutId id="2147484005" r:id="rId13"/>
  </p:sldLayoutIdLst>
  <p:hf hdr="0" ftr="0" dt="0"/>
  <p:txStyles>
    <p:titleStyle>
      <a:lvl1pPr algn="l" defTabSz="914400" rtl="0" eaLnBrk="1" fontAlgn="base" latinLnBrk="0" hangingPunct="1">
        <a:lnSpc>
          <a:spcPct val="112000"/>
        </a:lnSpc>
        <a:spcBef>
          <a:spcPct val="0"/>
        </a:spcBef>
        <a:buNone/>
        <a:defRPr lang="en-US" sz="4500" kern="1200" dirty="0">
          <a:ln w="9525">
            <a:noFill/>
          </a:ln>
          <a:solidFill>
            <a:schemeClr val="tx2"/>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49" userDrawn="1">
          <p15:clr>
            <a:srgbClr val="000000"/>
          </p15:clr>
        </p15:guide>
        <p15:guide id="5" orient="horz" pos="228" userDrawn="1">
          <p15:clr>
            <a:srgbClr val="000000"/>
          </p15:clr>
        </p15:guide>
        <p15:guide id="11" orient="horz" pos="3120" userDrawn="1">
          <p15:clr>
            <a:srgbClr val="000000"/>
          </p15:clr>
        </p15:guide>
        <p15:guide id="14" orient="horz" pos="4092" userDrawn="1">
          <p15:clr>
            <a:srgbClr val="000000"/>
          </p15:clr>
        </p15:guide>
        <p15:guide id="34" pos="2040" userDrawn="1">
          <p15:clr>
            <a:srgbClr val="000000"/>
          </p15:clr>
        </p15:guide>
        <p15:guide id="36" pos="3840" userDrawn="1">
          <p15:clr>
            <a:srgbClr val="000000"/>
          </p15:clr>
        </p15:guide>
        <p15:guide id="38" pos="5652" userDrawn="1">
          <p15:clr>
            <a:srgbClr val="000000"/>
          </p15:clr>
        </p15:guide>
        <p15:guide id="40" orient="horz" pos="2163" userDrawn="1">
          <p15:clr>
            <a:srgbClr val="000000"/>
          </p15:clr>
        </p15:guide>
        <p15:guide id="41" orient="horz" pos="1201" userDrawn="1">
          <p15:clr>
            <a:srgbClr val="00000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38501" y="1388582"/>
            <a:ext cx="8580301" cy="1744067"/>
          </a:xfrm>
          <a:prstGeom prst="rect">
            <a:avLst/>
          </a:prstGeom>
        </p:spPr>
        <p:txBody>
          <a:bodyPr vert="horz" lIns="182880" tIns="0" rIns="0" bIns="0" rtlCol="0">
            <a:spAutoFit/>
          </a:body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3"/>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0" y="-2403"/>
            <a:ext cx="12667343" cy="1099683"/>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4"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334497" y="268589"/>
            <a:ext cx="6147946" cy="498919"/>
          </a:xfrm>
          <a:prstGeom prst="rect">
            <a:avLst/>
          </a:prstGeom>
          <a:ln w="12700">
            <a:noFill/>
          </a:ln>
        </p:spPr>
        <p:txBody>
          <a:bodyPr vert="horz" wrap="square" lIns="0" tIns="0" rIns="0" bIns="0" rtlCol="0" anchor="t" anchorCtr="0">
            <a:spAutoFit/>
          </a:bodyPr>
          <a:lstStyle/>
          <a:p>
            <a:r>
              <a:rPr lang="en-GB"/>
              <a:t>Click to edit Master title style</a:t>
            </a:r>
            <a:endParaRPr lang="en-US"/>
          </a:p>
        </p:txBody>
      </p:sp>
    </p:spTree>
    <p:extLst>
      <p:ext uri="{BB962C8B-B14F-4D97-AF65-F5344CB8AC3E}">
        <p14:creationId xmlns:p14="http://schemas.microsoft.com/office/powerpoint/2010/main" val="1745573113"/>
      </p:ext>
    </p:extLst>
  </p:cSld>
  <p:clrMap bg1="lt1" tx1="dk1" bg2="lt2" tx2="dk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 id="2147484024" r:id="rId18"/>
    <p:sldLayoutId id="2147484025" r:id="rId19"/>
    <p:sldLayoutId id="2147484026" r:id="rId20"/>
    <p:sldLayoutId id="2147484027" r:id="rId21"/>
    <p:sldLayoutId id="2147484028" r:id="rId22"/>
    <p:sldLayoutId id="2147484029" r:id="rId23"/>
    <p:sldLayoutId id="2147484030" r:id="rId24"/>
    <p:sldLayoutId id="2147484031" r:id="rId25"/>
    <p:sldLayoutId id="2147484032" r:id="rId26"/>
    <p:sldLayoutId id="2147484033" r:id="rId27"/>
    <p:sldLayoutId id="2147484034" r:id="rId28"/>
    <p:sldLayoutId id="2147484035" r:id="rId29"/>
    <p:sldLayoutId id="2147484036" r:id="rId30"/>
    <p:sldLayoutId id="2147484037" r:id="rId31"/>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Fira Sans" panose="020B0503050000020004" pitchFamily="34" charset="0"/>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38501" y="1388582"/>
            <a:ext cx="8580301" cy="1744067"/>
          </a:xfrm>
          <a:prstGeom prst="rect">
            <a:avLst/>
          </a:prstGeom>
        </p:spPr>
        <p:txBody>
          <a:bodyPr vert="horz" lIns="182880" tIns="0" rIns="0" bIns="0" rtlCol="0">
            <a:spAutoFit/>
          </a:body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3"/>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p:nvGrpSpPr>
        <p:grpSpPr>
          <a:xfrm>
            <a:off x="0" y="-2403"/>
            <a:ext cx="12667343" cy="1099683"/>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4"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334497" y="268589"/>
            <a:ext cx="6147946" cy="484043"/>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1045577193"/>
      </p:ext>
    </p:extLst>
  </p:cSld>
  <p:clrMap bg1="lt1" tx1="dk1" bg2="lt2" tx2="dk2" accent1="accent1" accent2="accent2" accent3="accent3" accent4="accent4" accent5="accent5" accent6="accent6" hlink="hlink" folHlink="folHlink"/>
  <p:sldLayoutIdLst>
    <p:sldLayoutId id="2147484039" r:id="rId1"/>
    <p:sldLayoutId id="2147484040" r:id="rId2"/>
    <p:sldLayoutId id="2147484041" r:id="rId3"/>
    <p:sldLayoutId id="2147484042" r:id="rId4"/>
    <p:sldLayoutId id="2147484043" r:id="rId5"/>
    <p:sldLayoutId id="2147484044" r:id="rId6"/>
    <p:sldLayoutId id="2147484045" r:id="rId7"/>
    <p:sldLayoutId id="2147484046" r:id="rId8"/>
    <p:sldLayoutId id="2147484047" r:id="rId9"/>
    <p:sldLayoutId id="2147484048" r:id="rId10"/>
    <p:sldLayoutId id="2147484049" r:id="rId11"/>
    <p:sldLayoutId id="2147484050" r:id="rId12"/>
    <p:sldLayoutId id="2147484051" r:id="rId13"/>
    <p:sldLayoutId id="2147484052" r:id="rId14"/>
    <p:sldLayoutId id="2147484053" r:id="rId15"/>
    <p:sldLayoutId id="2147484054" r:id="rId16"/>
    <p:sldLayoutId id="2147484055" r:id="rId17"/>
    <p:sldLayoutId id="2147484056" r:id="rId18"/>
    <p:sldLayoutId id="2147484057" r:id="rId19"/>
    <p:sldLayoutId id="2147484058" r:id="rId20"/>
    <p:sldLayoutId id="2147484059" r:id="rId21"/>
    <p:sldLayoutId id="2147484060" r:id="rId22"/>
    <p:sldLayoutId id="2147484061" r:id="rId23"/>
    <p:sldLayoutId id="2147484062" r:id="rId24"/>
    <p:sldLayoutId id="2147484063" r:id="rId25"/>
    <p:sldLayoutId id="2147484064" r:id="rId26"/>
    <p:sldLayoutId id="2147484065" r:id="rId27"/>
    <p:sldLayoutId id="2147484066" r:id="rId28"/>
    <p:sldLayoutId id="2147484067" r:id="rId29"/>
    <p:sldLayoutId id="2147484068" r:id="rId30"/>
    <p:sldLayoutId id="2147484069" r:id="rId31"/>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497" y="268589"/>
            <a:ext cx="2733169" cy="1531053"/>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3238501" y="312485"/>
            <a:ext cx="8580301" cy="6175387"/>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238500" y="6500158"/>
            <a:ext cx="2759146" cy="243205"/>
          </a:xfrm>
          <a:prstGeom prst="rect">
            <a:avLst/>
          </a:prstGeom>
        </p:spPr>
        <p:txBody>
          <a:bodyPr vert="horz" lIns="182880" tIns="73152" rIns="91440" bIns="45720" rtlCol="0" anchor="t" anchorCtr="0"/>
          <a:lstStyle>
            <a:lvl1pPr algn="l">
              <a:defRPr sz="700">
                <a:solidFill>
                  <a:schemeClr val="tx1"/>
                </a:solidFill>
              </a:defRPr>
            </a:lvl1pPr>
          </a:lstStyle>
          <a:p>
            <a:endParaRPr lang="en-US"/>
          </a:p>
        </p:txBody>
      </p:sp>
      <p:sp>
        <p:nvSpPr>
          <p:cNvPr id="6" name="Slide Number Placeholder 5"/>
          <p:cNvSpPr>
            <a:spLocks noGrp="1"/>
          </p:cNvSpPr>
          <p:nvPr>
            <p:ph type="sldNum" sz="quarter" idx="4"/>
          </p:nvPr>
        </p:nvSpPr>
        <p:spPr>
          <a:xfrm>
            <a:off x="11201401" y="6492875"/>
            <a:ext cx="617402" cy="233172"/>
          </a:xfrm>
          <a:prstGeom prst="rect">
            <a:avLst/>
          </a:prstGeom>
        </p:spPr>
        <p:txBody>
          <a:bodyPr vert="horz" lIns="0" tIns="73152" rIns="0" bIns="45720" rtlCol="0" anchor="t" anchorCtr="0"/>
          <a:lstStyle>
            <a:lvl1pPr algn="r">
              <a:defRPr sz="7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38FF4373-A3FC-4217-B28A-1614FA7CF9E0}"/>
              </a:ext>
            </a:extLst>
          </p:cNvPr>
          <p:cNvPicPr>
            <a:picLocks noChangeAspect="1"/>
          </p:cNvPicPr>
          <p:nvPr userDrawn="1"/>
        </p:nvPicPr>
        <p:blipFill>
          <a:blip r:embed="rId44"/>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2883511793"/>
      </p:ext>
    </p:extLst>
  </p:cSld>
  <p:clrMap bg1="lt1" tx1="dk1" bg2="lt2" tx2="dk2" accent1="accent1" accent2="accent2" accent3="accent3" accent4="accent4" accent5="accent5" accent6="accent6" hlink="hlink" folHlink="folHlink"/>
  <p:sldLayoutIdLst>
    <p:sldLayoutId id="2147484071" r:id="rId1"/>
    <p:sldLayoutId id="2147484072" r:id="rId2"/>
    <p:sldLayoutId id="2147484073" r:id="rId3"/>
    <p:sldLayoutId id="2147484074" r:id="rId4"/>
    <p:sldLayoutId id="2147484075" r:id="rId5"/>
    <p:sldLayoutId id="2147484076" r:id="rId6"/>
    <p:sldLayoutId id="2147484077" r:id="rId7"/>
    <p:sldLayoutId id="2147484078" r:id="rId8"/>
    <p:sldLayoutId id="2147484079" r:id="rId9"/>
    <p:sldLayoutId id="2147484080" r:id="rId10"/>
    <p:sldLayoutId id="2147484081" r:id="rId11"/>
    <p:sldLayoutId id="2147484082" r:id="rId12"/>
    <p:sldLayoutId id="2147484083" r:id="rId13"/>
    <p:sldLayoutId id="2147484084" r:id="rId14"/>
    <p:sldLayoutId id="2147484085" r:id="rId15"/>
    <p:sldLayoutId id="2147484086" r:id="rId16"/>
    <p:sldLayoutId id="2147484087" r:id="rId17"/>
    <p:sldLayoutId id="2147484088" r:id="rId18"/>
    <p:sldLayoutId id="2147484089" r:id="rId19"/>
    <p:sldLayoutId id="2147484090" r:id="rId20"/>
    <p:sldLayoutId id="2147484091" r:id="rId21"/>
    <p:sldLayoutId id="2147484092" r:id="rId22"/>
    <p:sldLayoutId id="2147484093" r:id="rId23"/>
    <p:sldLayoutId id="2147484094" r:id="rId24"/>
    <p:sldLayoutId id="2147484095" r:id="rId25"/>
    <p:sldLayoutId id="2147484096" r:id="rId26"/>
    <p:sldLayoutId id="2147484097" r:id="rId27"/>
    <p:sldLayoutId id="2147484098" r:id="rId28"/>
    <p:sldLayoutId id="2147484099" r:id="rId29"/>
    <p:sldLayoutId id="2147484100" r:id="rId30"/>
    <p:sldLayoutId id="2147484101" r:id="rId31"/>
    <p:sldLayoutId id="2147484102" r:id="rId32"/>
    <p:sldLayoutId id="2147484103" r:id="rId33"/>
    <p:sldLayoutId id="2147484104" r:id="rId34"/>
    <p:sldLayoutId id="2147484105" r:id="rId35"/>
    <p:sldLayoutId id="2147484106" r:id="rId36"/>
    <p:sldLayoutId id="2147484107" r:id="rId37"/>
    <p:sldLayoutId id="2147484108" r:id="rId38"/>
    <p:sldLayoutId id="2147484109" r:id="rId39"/>
    <p:sldLayoutId id="2147484110" r:id="rId40"/>
    <p:sldLayoutId id="2147484111" r:id="rId41"/>
    <p:sldLayoutId id="2147484112" r:id="rId42"/>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tx2"/>
          </a:solidFill>
          <a:latin typeface="+mj-lt"/>
          <a:ea typeface="+mj-ea"/>
          <a:cs typeface="+mj-cs"/>
        </a:defRPr>
      </a:lvl1pPr>
    </p:titleStyle>
    <p:bodyStyle>
      <a:lvl1pPr marL="142875" indent="-142875" algn="l" defTabSz="914400" rtl="0" eaLnBrk="1" latinLnBrk="0" hangingPunct="1">
        <a:lnSpc>
          <a:spcPct val="100000"/>
        </a:lnSpc>
        <a:spcBef>
          <a:spcPts val="0"/>
        </a:spcBef>
        <a:spcAft>
          <a:spcPts val="1500"/>
        </a:spcAft>
        <a:buClr>
          <a:schemeClr val="tx2"/>
        </a:buClr>
        <a:buFont typeface="Arial" panose="020B0604020202020204" pitchFamily="34" charset="0"/>
        <a:buChar char="•"/>
        <a:defRPr sz="1800" kern="1200">
          <a:ln>
            <a:noFill/>
          </a:ln>
          <a:solidFill>
            <a:schemeClr val="tx1"/>
          </a:solidFill>
          <a:latin typeface="+mn-lt"/>
          <a:ea typeface="+mn-ea"/>
          <a:cs typeface="+mn-cs"/>
        </a:defRPr>
      </a:lvl1pPr>
      <a:lvl2pPr marL="428625" indent="-145257" algn="l" defTabSz="914400" rtl="0" eaLnBrk="1" latinLnBrk="0" hangingPunct="1">
        <a:lnSpc>
          <a:spcPct val="100000"/>
        </a:lnSpc>
        <a:spcBef>
          <a:spcPts val="0"/>
        </a:spcBef>
        <a:spcAft>
          <a:spcPts val="1500"/>
        </a:spcAft>
        <a:buClr>
          <a:schemeClr val="tx2"/>
        </a:buClr>
        <a:buFont typeface="Arial" panose="020B0604020202020204" pitchFamily="34" charset="0"/>
        <a:buChar char="•"/>
        <a:defRPr sz="1800" kern="1200">
          <a:ln>
            <a:noFill/>
          </a:ln>
          <a:solidFill>
            <a:schemeClr val="tx1"/>
          </a:solidFill>
          <a:latin typeface="+mn-lt"/>
          <a:ea typeface="+mn-ea"/>
          <a:cs typeface="+mn-cs"/>
        </a:defRPr>
      </a:lvl2pPr>
      <a:lvl3pPr marL="714375" indent="-147638" algn="l" defTabSz="914400" rtl="0" eaLnBrk="1" latinLnBrk="0" hangingPunct="1">
        <a:lnSpc>
          <a:spcPct val="100000"/>
        </a:lnSpc>
        <a:spcBef>
          <a:spcPts val="0"/>
        </a:spcBef>
        <a:spcAft>
          <a:spcPts val="1500"/>
        </a:spcAft>
        <a:buClr>
          <a:schemeClr val="tx2"/>
        </a:buClr>
        <a:buFont typeface="Arial" panose="020B0604020202020204" pitchFamily="34" charset="0"/>
        <a:buChar char="•"/>
        <a:defRPr sz="1800" kern="1200">
          <a:ln>
            <a:noFill/>
          </a:ln>
          <a:solidFill>
            <a:schemeClr val="tx1"/>
          </a:solidFill>
          <a:latin typeface="+mn-lt"/>
          <a:ea typeface="+mn-ea"/>
          <a:cs typeface="+mn-cs"/>
        </a:defRPr>
      </a:lvl3pPr>
      <a:lvl4pPr marL="1000125" indent="-150019" algn="l" defTabSz="914400" rtl="0" eaLnBrk="1" latinLnBrk="0" hangingPunct="1">
        <a:lnSpc>
          <a:spcPct val="100000"/>
        </a:lnSpc>
        <a:spcBef>
          <a:spcPts val="0"/>
        </a:spcBef>
        <a:spcAft>
          <a:spcPts val="1500"/>
        </a:spcAft>
        <a:buClr>
          <a:schemeClr val="tx2"/>
        </a:buClr>
        <a:buFont typeface="Arial" panose="020B0604020202020204" pitchFamily="34" charset="0"/>
        <a:buChar char="•"/>
        <a:defRPr sz="1800" kern="1200">
          <a:ln>
            <a:noFill/>
          </a:ln>
          <a:solidFill>
            <a:schemeClr val="tx1"/>
          </a:solidFill>
          <a:latin typeface="+mn-lt"/>
          <a:ea typeface="+mn-ea"/>
          <a:cs typeface="+mn-cs"/>
        </a:defRPr>
      </a:lvl4pPr>
      <a:lvl5pPr marL="1285875" indent="-152400" algn="l" defTabSz="914400" rtl="0" eaLnBrk="1" latinLnBrk="0" hangingPunct="1">
        <a:lnSpc>
          <a:spcPct val="100000"/>
        </a:lnSpc>
        <a:spcBef>
          <a:spcPts val="0"/>
        </a:spcBef>
        <a:spcAft>
          <a:spcPts val="1500"/>
        </a:spcAft>
        <a:buClr>
          <a:schemeClr val="tx2"/>
        </a:buClr>
        <a:buFont typeface="Arial" panose="020B0604020202020204" pitchFamily="34" charset="0"/>
        <a:buChar char="•"/>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51"/>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742200591"/>
      </p:ext>
    </p:extLst>
  </p:cSld>
  <p:clrMap bg1="lt1" tx1="dk1" bg2="lt2" tx2="dk2" accent1="accent1" accent2="accent2" accent3="accent3" accent4="accent4" accent5="accent5" accent6="accent6" hlink="hlink" folHlink="folHlink"/>
  <p:sldLayoutIdLst>
    <p:sldLayoutId id="2147484114" r:id="rId1"/>
    <p:sldLayoutId id="2147484115" r:id="rId2"/>
    <p:sldLayoutId id="2147484116" r:id="rId3"/>
    <p:sldLayoutId id="2147484117" r:id="rId4"/>
    <p:sldLayoutId id="2147484118" r:id="rId5"/>
    <p:sldLayoutId id="2147484119" r:id="rId6"/>
    <p:sldLayoutId id="2147484235" r:id="rId7"/>
    <p:sldLayoutId id="2147484121" r:id="rId8"/>
    <p:sldLayoutId id="2147484122" r:id="rId9"/>
    <p:sldLayoutId id="2147484123"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1" r:id="rId38"/>
    <p:sldLayoutId id="2147484152" r:id="rId39"/>
    <p:sldLayoutId id="2147484153" r:id="rId40"/>
    <p:sldLayoutId id="2147484154" r:id="rId41"/>
    <p:sldLayoutId id="2147484155" r:id="rId42"/>
    <p:sldLayoutId id="2147484156" r:id="rId43"/>
    <p:sldLayoutId id="2147484157" r:id="rId44"/>
    <p:sldLayoutId id="2147484158" r:id="rId45"/>
    <p:sldLayoutId id="2147484159" r:id="rId46"/>
    <p:sldLayoutId id="2147484160" r:id="rId47"/>
    <p:sldLayoutId id="2147484161" r:id="rId48"/>
    <p:sldLayoutId id="2147484162" r:id="rId49"/>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497" y="268589"/>
            <a:ext cx="2733169" cy="1531053"/>
          </a:xfrm>
          <a:prstGeom prst="rect">
            <a:avLst/>
          </a:prstGeom>
          <a:ln w="12700">
            <a:noFill/>
          </a:ln>
        </p:spPr>
        <p:txBody>
          <a:bodyPr vert="horz" lIns="0" tIns="0" rIns="0" bIns="0" rtlCol="0" anchor="t" anchorCtr="0">
            <a:spAutoFit/>
          </a:bodyPr>
          <a:lstStyle/>
          <a:p>
            <a:r>
              <a:rPr lang="en-US"/>
              <a:t>Click to edit Master title style</a:t>
            </a:r>
          </a:p>
        </p:txBody>
      </p:sp>
      <p:sp>
        <p:nvSpPr>
          <p:cNvPr id="3" name="Text Placeholder 2"/>
          <p:cNvSpPr>
            <a:spLocks noGrp="1"/>
          </p:cNvSpPr>
          <p:nvPr>
            <p:ph type="body" idx="1"/>
          </p:nvPr>
        </p:nvSpPr>
        <p:spPr>
          <a:xfrm>
            <a:off x="3238501" y="312485"/>
            <a:ext cx="8580301" cy="1744067"/>
          </a:xfrm>
          <a:prstGeom prst="rect">
            <a:avLst/>
          </a:prstGeom>
        </p:spPr>
        <p:txBody>
          <a:bodyPr vert="horz" lIns="182880" tIns="0" rIns="0" bIns="0" rtlCol="0">
            <a:spAutoFit/>
          </a:body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a:extLst>
              <a:ext uri="{96DAC541-7B7A-43D3-8B79-37D633B846F1}">
                <asvg:svgBlip xmlns:asvg="http://schemas.microsoft.com/office/drawing/2016/SVG/main" r:embed="rId43"/>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03722099"/>
      </p:ext>
    </p:extLst>
  </p:cSld>
  <p:clrMap bg1="lt1" tx1="dk1" bg2="lt2" tx2="dk2" accent1="accent1" accent2="accent2" accent3="accent3" accent4="accent4" accent5="accent5" accent6="accent6" hlink="hlink" folHlink="folHlink"/>
  <p:sldLayoutIdLst>
    <p:sldLayoutId id="2147484164" r:id="rId1"/>
    <p:sldLayoutId id="2147484165" r:id="rId2"/>
    <p:sldLayoutId id="2147484166" r:id="rId3"/>
    <p:sldLayoutId id="2147484167" r:id="rId4"/>
    <p:sldLayoutId id="2147484168" r:id="rId5"/>
    <p:sldLayoutId id="2147484169" r:id="rId6"/>
    <p:sldLayoutId id="2147484170" r:id="rId7"/>
    <p:sldLayoutId id="2147484171" r:id="rId8"/>
    <p:sldLayoutId id="2147484172" r:id="rId9"/>
    <p:sldLayoutId id="2147484173" r:id="rId10"/>
    <p:sldLayoutId id="2147484174" r:id="rId11"/>
    <p:sldLayoutId id="2147484175" r:id="rId12"/>
    <p:sldLayoutId id="2147484176" r:id="rId13"/>
    <p:sldLayoutId id="2147484177" r:id="rId14"/>
    <p:sldLayoutId id="2147484178" r:id="rId15"/>
    <p:sldLayoutId id="2147484179" r:id="rId16"/>
    <p:sldLayoutId id="2147484180" r:id="rId17"/>
    <p:sldLayoutId id="2147484181" r:id="rId18"/>
    <p:sldLayoutId id="2147484182" r:id="rId19"/>
    <p:sldLayoutId id="2147484183" r:id="rId20"/>
    <p:sldLayoutId id="2147484184" r:id="rId21"/>
    <p:sldLayoutId id="2147484185" r:id="rId22"/>
    <p:sldLayoutId id="2147484186" r:id="rId23"/>
    <p:sldLayoutId id="2147484187" r:id="rId24"/>
    <p:sldLayoutId id="2147484188" r:id="rId25"/>
    <p:sldLayoutId id="2147484189" r:id="rId26"/>
    <p:sldLayoutId id="2147484190" r:id="rId27"/>
    <p:sldLayoutId id="2147484191" r:id="rId28"/>
    <p:sldLayoutId id="2147484192" r:id="rId29"/>
    <p:sldLayoutId id="2147484193" r:id="rId30"/>
    <p:sldLayoutId id="2147484194" r:id="rId31"/>
    <p:sldLayoutId id="2147484195" r:id="rId32"/>
    <p:sldLayoutId id="2147484196" r:id="rId33"/>
    <p:sldLayoutId id="2147484197" r:id="rId34"/>
    <p:sldLayoutId id="2147484198" r:id="rId35"/>
    <p:sldLayoutId id="2147484199" r:id="rId36"/>
    <p:sldLayoutId id="2147484200" r:id="rId37"/>
    <p:sldLayoutId id="2147484201" r:id="rId38"/>
    <p:sldLayoutId id="2147484202" r:id="rId39"/>
    <p:sldLayoutId id="2147484203" r:id="rId40"/>
    <p:sldLayoutId id="2147484204" r:id="rId41"/>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tx2"/>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38501" y="1388582"/>
            <a:ext cx="8580301" cy="1744067"/>
          </a:xfrm>
          <a:prstGeom prst="rect">
            <a:avLst/>
          </a:prstGeom>
        </p:spPr>
        <p:txBody>
          <a:bodyPr vert="horz" lIns="182880" tIns="0" rIns="0" bIns="0" rtlCol="0">
            <a:spAutoFit/>
          </a:body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0" y="-2403"/>
            <a:ext cx="12667343" cy="1099683"/>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3"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334497" y="268589"/>
            <a:ext cx="6147946" cy="498919"/>
          </a:xfrm>
          <a:prstGeom prst="rect">
            <a:avLst/>
          </a:prstGeom>
          <a:ln w="12700">
            <a:noFill/>
          </a:ln>
        </p:spPr>
        <p:txBody>
          <a:bodyPr vert="horz" wrap="square" lIns="0" tIns="0" rIns="0" bIns="0" rtlCol="0" anchor="t" anchorCtr="0">
            <a:spAutoFit/>
          </a:bodyPr>
          <a:lstStyle/>
          <a:p>
            <a:r>
              <a:rPr lang="en-GB"/>
              <a:t>Click to edit Master title style</a:t>
            </a:r>
            <a:endParaRPr lang="en-US"/>
          </a:p>
        </p:txBody>
      </p:sp>
    </p:spTree>
    <p:extLst>
      <p:ext uri="{BB962C8B-B14F-4D97-AF65-F5344CB8AC3E}">
        <p14:creationId xmlns:p14="http://schemas.microsoft.com/office/powerpoint/2010/main" val="605910522"/>
      </p:ext>
    </p:extLst>
  </p:cSld>
  <p:clrMap bg1="lt1" tx1="dk1" bg2="lt2" tx2="dk2" accent1="accent1" accent2="accent2" accent3="accent3" accent4="accent4" accent5="accent5" accent6="accent6" hlink="hlink" folHlink="folHlink"/>
  <p:sldLayoutIdLst>
    <p:sldLayoutId id="2147484206" r:id="rId1"/>
    <p:sldLayoutId id="2147484207" r:id="rId2"/>
    <p:sldLayoutId id="2147484208" r:id="rId3"/>
    <p:sldLayoutId id="2147484209" r:id="rId4"/>
    <p:sldLayoutId id="2147484210" r:id="rId5"/>
    <p:sldLayoutId id="2147484211" r:id="rId6"/>
    <p:sldLayoutId id="2147484212" r:id="rId7"/>
    <p:sldLayoutId id="2147484213" r:id="rId8"/>
    <p:sldLayoutId id="2147484214" r:id="rId9"/>
    <p:sldLayoutId id="2147484215" r:id="rId10"/>
    <p:sldLayoutId id="2147484216" r:id="rId11"/>
    <p:sldLayoutId id="2147484217" r:id="rId12"/>
    <p:sldLayoutId id="2147484218" r:id="rId13"/>
    <p:sldLayoutId id="2147484219" r:id="rId14"/>
    <p:sldLayoutId id="2147484220" r:id="rId15"/>
    <p:sldLayoutId id="2147484221" r:id="rId16"/>
    <p:sldLayoutId id="2147484222" r:id="rId17"/>
    <p:sldLayoutId id="2147484223" r:id="rId18"/>
    <p:sldLayoutId id="2147484224" r:id="rId19"/>
    <p:sldLayoutId id="2147484225" r:id="rId20"/>
    <p:sldLayoutId id="2147484226" r:id="rId21"/>
    <p:sldLayoutId id="2147484227" r:id="rId22"/>
    <p:sldLayoutId id="2147484228" r:id="rId23"/>
    <p:sldLayoutId id="2147484229" r:id="rId24"/>
    <p:sldLayoutId id="2147484230" r:id="rId25"/>
    <p:sldLayoutId id="2147484231" r:id="rId26"/>
    <p:sldLayoutId id="2147484232" r:id="rId27"/>
    <p:sldLayoutId id="2147484233" r:id="rId28"/>
    <p:sldLayoutId id="2147484234" r:id="rId29"/>
    <p:sldLayoutId id="2147484120" r:id="rId30"/>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Fira Sans" panose="020B0503050000020004" pitchFamily="34" charset="0"/>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52" userDrawn="1">
          <p15:clr>
            <a:srgbClr val="000000"/>
          </p15:clr>
        </p15:guide>
        <p15:guide id="5" orient="horz" pos="228" userDrawn="1">
          <p15:clr>
            <a:srgbClr val="000000"/>
          </p15:clr>
        </p15:guide>
        <p15:guide id="8" orient="horz" pos="1200" userDrawn="1">
          <p15:clr>
            <a:srgbClr val="000000"/>
          </p15:clr>
        </p15:guide>
        <p15:guide id="11" orient="horz" pos="2160" userDrawn="1">
          <p15:clr>
            <a:srgbClr val="000000"/>
          </p15:clr>
        </p15:guide>
        <p15:guide id="14" orient="horz" pos="4092" userDrawn="1">
          <p15:clr>
            <a:srgbClr val="000000"/>
          </p15:clr>
        </p15:guide>
        <p15:guide id="45" orient="horz" pos="3120" userDrawn="1">
          <p15:clr>
            <a:srgbClr val="000000"/>
          </p15:clr>
        </p15:guide>
        <p15:guide id="52" pos="2040" userDrawn="1">
          <p15:clr>
            <a:srgbClr val="000000"/>
          </p15:clr>
        </p15:guide>
        <p15:guide id="55" pos="3840" userDrawn="1">
          <p15:clr>
            <a:srgbClr val="000000"/>
          </p15:clr>
        </p15:guide>
        <p15:guide id="58" pos="5652" userDrawn="1">
          <p15:clr>
            <a:srgbClr val="00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5.xml.rels><?xml version="1.0" encoding="UTF-8" standalone="yes"?>
<Relationships xmlns="http://schemas.openxmlformats.org/package/2006/relationships"><Relationship Id="rId2" Type="http://schemas.openxmlformats.org/officeDocument/2006/relationships/hyperlink" Target="https://partner.microsoft.com/en-us/asset/collection/azure-migrate-and-modernize-partner-led-collection#/" TargetMode="External"/><Relationship Id="rId1" Type="http://schemas.openxmlformats.org/officeDocument/2006/relationships/slideLayout" Target="../slideLayouts/slideLayout72.xml"/></Relationships>
</file>

<file path=ppt/slides/_rels/slide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2.xml"/></Relationships>
</file>

<file path=ppt/slides/_rels/slide7.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3.xml"/><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4.xml"/><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5.xml"/><Relationship Id="rId1" Type="http://schemas.openxmlformats.org/officeDocument/2006/relationships/slideLayout" Target="../slideLayouts/slideLayout5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8" Type="http://schemas.openxmlformats.org/officeDocument/2006/relationships/hyperlink" Target="https://learn.microsoft.com/en-us/movere/overview" TargetMode="External"/><Relationship Id="rId3" Type="http://schemas.openxmlformats.org/officeDocument/2006/relationships/hyperlink" Target="https://raxglobal.sharepoint.com/:x:/r/sites/SolutionHub/Docs%20%20Professional%20Services/EMEA%20-%20Professional%20Services/Migrations/Other%20Collaterals/Delivery%20Toolkit%20Examples/Delivery%20Guide%20Artifacts/AMM%20Collateral/Migration%20Accelerator%20Assessment-%20Data%20Capture%20Workbook.xlsx?d=w3362f0b818994d159f8d44b1b31b327a&amp;csf=1&amp;web=1&amp;e=DDBLJy" TargetMode="External"/><Relationship Id="rId7" Type="http://schemas.openxmlformats.org/officeDocument/2006/relationships/hyperlink" Target="https://partner.microsoft.com/en-us/licensing/solution-assessments" TargetMode="External"/><Relationship Id="rId2" Type="http://schemas.openxmlformats.org/officeDocument/2006/relationships/hyperlink" Target="https://raxglobal.sharepoint.com/:x:/r/sites/SolutionHub/Docs%20%20Professional%20Services/EMEA%20-%20Professional%20Services/Migrations/Other%20Collaterals/Delivery%20Toolkit%20Examples/Delivery%20Guide%20Artifacts/AMM%20Collateral/Governance%20Foundations%20Alignment%20Tool%20-%20Template.xlsx?d=w1360c752419442ad963d384e06c9d13b&amp;csf=1&amp;web=1&amp;e=l6VpWN" TargetMode="External"/><Relationship Id="rId1" Type="http://schemas.openxmlformats.org/officeDocument/2006/relationships/slideLayout" Target="../slideLayouts/slideLayout23.xml"/><Relationship Id="rId6" Type="http://schemas.openxmlformats.org/officeDocument/2006/relationships/hyperlink" Target="https://learn.microsoft.com/en-gb/azure/migrate/migrate-services-overview" TargetMode="External"/><Relationship Id="rId5" Type="http://schemas.openxmlformats.org/officeDocument/2006/relationships/hyperlink" Target="https://raxglobal.sharepoint.com/:f:/r/sites/SolutionHub/Docs%20%20Professional%20Services/EMEA%20-%20Professional%20Services/Migrations/Other%20Collaterals/Delivery%20Toolkit%20Examples/Delivery%20Guide%20Artefacts/AMM%20Collateral/DrMigrate%20Exports?csf=1&amp;web=1&amp;e=weEcbC" TargetMode="External"/><Relationship Id="rId4" Type="http://schemas.openxmlformats.org/officeDocument/2006/relationships/hyperlink" Target="https://raxglobal.sharepoint.com/:x:/r/sites/SolutionHub/Docs%20%20Professional%20Services/EMEA%20-%20Professional%20Services/Migrations/Other%20Collaterals/Delivery%20Toolkit%20Examples/Delivery%20Guide%20Artifacts/AMM%20Collateral/Scoping%20%26%20Profiling%20Data%20Gathering%20Template%20Examples.xlsx?d=wa715f410ef75481285b84d704a1dba3e&amp;csf=1&amp;web=1&amp;e=XqDZ6t" TargetMode="External"/><Relationship Id="rId9" Type="http://schemas.openxmlformats.org/officeDocument/2006/relationships/hyperlink" Target="https://azuremarketplace.microsoft.com/en-us/marketplace/apps/lab3solutions.lab3_dr_migrate_saas?tab=Overview"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raxglobal.sharepoint.com/:w:/r/sites/emeatechnicalconsulting/Document%20Catalogue/MPA%20Workshops%20Details%20v0.1.docx?d=w5232cc0669b94d54bf919ed1aa66ab6d&amp;csf=1&amp;web=1&amp;e=Rm6rv7" TargetMode="External"/><Relationship Id="rId2" Type="http://schemas.openxmlformats.org/officeDocument/2006/relationships/hyperlink" Target="https://raxglobal.sharepoint.com/:w:/r/sites/SolutionHub/Docs%20%20Professional%20Services/EMEA%20-%20Professional%20Services/Migrations/Other%20Collaterals/Delivery%20Toolkit%20Examples/Delivery%20Guide%20Artifacts/AMM%20Collateral/CRA%20-%20LITE%20Governance%20Assessment%20Workshop%20Schedule%20Template.docx?d=w66141ff62b264816a419d27c88818fd6&amp;csf=1&amp;web=1&amp;e=Jl2lfO" TargetMode="Externa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hyperlink" Target="https://raxglobal.sharepoint.com/:x:/r/sites/SolutionHub/Docs%20%20Professional%20Services/EMEA%20-%20Professional%20Services/Migrations/Other%20Collaterals/Delivery%20Toolkit%20Examples/Delivery%20Guide%20Artifacts/AMM%20Collateral/Governance%20Foundations%20Alignment%20Tool%20-%20Template.xlsx?d=w1360c752419442ad963d384e06c9d13b&amp;csf=1&amp;web=1&amp;e=l6VpWN" TargetMode="Externa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hyperlink" Target="https://learn.microsoft.com/en-us/assessments/Strategic-Migration-Assessment/" TargetMode="Externa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hyperlink" Target="https://raxglobal.sharepoint.com/:p:/r/sites/SolutionHub/Docs%20%20Professional%20Services/EMEA%20-%20Professional%20Services/Migrations/Other%20Collaterals/Delivery%20Toolkit%20Examples/Delivery%20Guide%20Artifacts/AMM%20Collateral/Data%20Gathering%20Template%20Guide.pptx?d=wee86e23e761b4be6b87de4f9c1011e9a&amp;csf=1&amp;web=1&amp;e=vNeLNh" TargetMode="External"/><Relationship Id="rId2" Type="http://schemas.openxmlformats.org/officeDocument/2006/relationships/hyperlink" Target="https://raxglobal.sharepoint.com/:p:/r/sites/ProfessionalServices-UK/Shared%20Documents/TC/MAP%20ASSESS%20Collateral/Data%20Gathering%20Template%20Guide.pptx?d=w863bd78ed5824b9bb0a6daa3f03f053b&amp;csf=1&amp;web=1&amp;e=VNQLog" TargetMode="Externa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hyperlink" Target="https://raxglobal.sharepoint.com/:b:/r/sites/SolutionHub/Docs%20%20Professional%20Services/EMEA%20-%20Professional%20Services/Migrations/Other%20Collaterals/Delivery%20Toolkit%20Examples/Delivery%20Guide%20Artefacts/AMM%20Collateral/Azure%20Migrate%20Marketplace%20Deployment%20Guide.pdf?csf=1&amp;web=1&amp;e=f0Em7R" TargetMode="External"/><Relationship Id="rId2" Type="http://schemas.openxmlformats.org/officeDocument/2006/relationships/hyperlink" Target="https://learn.microsoft.com/en-us/azure/migrate/migrate-appliance#deployment-scenarios" TargetMode="External"/><Relationship Id="rId1" Type="http://schemas.openxmlformats.org/officeDocument/2006/relationships/slideLayout" Target="../slideLayouts/slideLayout71.xml"/><Relationship Id="rId5" Type="http://schemas.openxmlformats.org/officeDocument/2006/relationships/hyperlink" Target="https://raxglobal.sharepoint.com/:p:/r/sites/SolutionHub/Docs%20%20Professional%20Services/EMEA%20-%20Professional%20Services/Migrations/Other%20Collaterals/Delivery%20Toolkit%20Examples/Delivery%20Guide%20Artifacts/AMM%20Collateral/Azure%20Migrate%20and%20Dr.%20Migrate%20Deployment%20Guide.pptx?d=wab85e0bc9e084d13b1aa1441d83e4a6e&amp;csf=1&amp;web=1&amp;e=Egcaog" TargetMode="External"/><Relationship Id="rId4" Type="http://schemas.openxmlformats.org/officeDocument/2006/relationships/hyperlink" Target="https://learn.microsoft.com/en-us/movere/console-deployment-requirements" TargetMode="External"/></Relationships>
</file>

<file path=ppt/slides/_rels/slide21.xml.rels><?xml version="1.0" encoding="UTF-8" standalone="yes"?>
<Relationships xmlns="http://schemas.openxmlformats.org/package/2006/relationships"><Relationship Id="rId2" Type="http://schemas.openxmlformats.org/officeDocument/2006/relationships/hyperlink" Target="https://youtu.be/1LlHEnaz3ZU" TargetMode="External"/><Relationship Id="rId1" Type="http://schemas.openxmlformats.org/officeDocument/2006/relationships/slideLayout" Target="../slideLayouts/slideLayout71.xml"/></Relationships>
</file>

<file path=ppt/slides/_rels/slide22.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hyperlink" Target="https://raxglobal.sharepoint.com/:w:/r/sites/SolutionHub/Docs%20%20Professional%20Services/EMEA%20-%20Professional%20Services/Migrations/Other%20Collaterals/Delivery%20Toolkit%20Examples/Delivery%20Guide%20Artifacts/AMM%20Collateral/Azure%20Assessment%20Business%20Case%20Template.docx?d=wbd94f31149a34d94b261f7bf8fe00015&amp;csf=1&amp;web=1&amp;e=AzJD2O" TargetMode="External"/><Relationship Id="rId1" Type="http://schemas.openxmlformats.org/officeDocument/2006/relationships/slideLayout" Target="../slideLayouts/slideLayout71.xml"/><Relationship Id="rId4" Type="http://schemas.openxmlformats.org/officeDocument/2006/relationships/hyperlink" Target="https://learn.microsoft.com/en-us/azure/cloud-adoption-framework/strategy/cloud-migration-business-case#tools-and-calculator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1.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7.xml.rels><?xml version="1.0" encoding="UTF-8" standalone="yes"?>
<Relationships xmlns="http://schemas.openxmlformats.org/package/2006/relationships"><Relationship Id="rId2" Type="http://schemas.openxmlformats.org/officeDocument/2006/relationships/hyperlink" Target="https://raxglobal.sharepoint.com/:f:/r/sites/SolutionHub/Docs%20%20Professional%20Services/EMEA%20-%20Professional%20Services/Migrations/Other%20Collaterals/Delivery%20Toolkit%20Examples/Delivery%20Guide%20Artifacts/DrMigrate%20Exports?csf=1&amp;web=1&amp;e=qrdbeS" TargetMode="External"/><Relationship Id="rId1" Type="http://schemas.openxmlformats.org/officeDocument/2006/relationships/slideLayout" Target="../slideLayouts/slideLayout72.xml"/></Relationships>
</file>

<file path=ppt/slides/_rels/slide28.xml.rels><?xml version="1.0" encoding="UTF-8" standalone="yes"?>
<Relationships xmlns="http://schemas.openxmlformats.org/package/2006/relationships"><Relationship Id="rId3" Type="http://schemas.openxmlformats.org/officeDocument/2006/relationships/hyperlink" Target="https://raxglobal.sharepoint.com/:p:/r/sites/SolutionHub/Docs%20%20Professional%20Services/EMEA%20-%20Professional%20Services/Migrations/Other%20Collaterals/Delivery%20Toolkit%20Examples/Delivery%20Guide%20Artifacts/AMM%20Collateral/DrMigrate%20Exports/drmigrate%20Holistic%20Insights%20-%20Extended%20-%2025%20October%202023.pptx?d=w38bd0cea4804400b8b5770e7af26740f&amp;csf=1&amp;web=1&amp;e=jKIRyX" TargetMode="External"/><Relationship Id="rId2" Type="http://schemas.openxmlformats.org/officeDocument/2006/relationships/hyperlink" Target="https://raxglobal.sharepoint.com/:p:/r/sites/SolutionHub/Docs%20%20Professional%20Services/EMEA%20-%20Professional%20Services/Migrations/Other%20Collaterals/Delivery%20Toolkit%20Examples/Delivery%20Guide%20Artifacts/AMM%20Collateral/DrMigrate%20Exports/Contoso%20-%20Rapid%20Migration%20v4.pptx?d=w9fa68be353d24862bd7e6ed73f9cd5ee&amp;csf=1&amp;web=1&amp;e=p64xhS" TargetMode="External"/><Relationship Id="rId1" Type="http://schemas.openxmlformats.org/officeDocument/2006/relationships/slideLayout" Target="../slideLayouts/slideLayout72.xml"/><Relationship Id="rId4" Type="http://schemas.openxmlformats.org/officeDocument/2006/relationships/hyperlink" Target="https://raxglobal.sharepoint.com/:f:/r/sites/SolutionHub/Docs%20%20Professional%20Services/EMEA%20-%20Professional%20Services/Migrations/Other%20Collaterals/Delivery%20Toolkit%20Examples/Delivery%20Guide%20Artifacts/AMM%20Collateral/DrMigrate%20Exports?csf=1&amp;web=1&amp;e=kxDKKG"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raxglobal.sharepoint.com/:p:/r/sites/emeatechnicalconsulting/Document%20Catalogue/Scoping%20and%20Profiling%20playback%20deck%20template.pptx?d=w4e62cf4e479d4ee3be32a8b8a656c5bc&amp;csf=1&amp;web=1&amp;e=X2nSJz" TargetMode="External"/><Relationship Id="rId2" Type="http://schemas.openxmlformats.org/officeDocument/2006/relationships/image" Target="../media/image54.png"/><Relationship Id="rId1" Type="http://schemas.openxmlformats.org/officeDocument/2006/relationships/slideLayout" Target="../slideLayouts/slideLayout72.xml"/><Relationship Id="rId5" Type="http://schemas.openxmlformats.org/officeDocument/2006/relationships/image" Target="../media/image56.png"/><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31.xml.rels><?xml version="1.0" encoding="UTF-8" standalone="yes"?>
<Relationships xmlns="http://schemas.openxmlformats.org/package/2006/relationships"><Relationship Id="rId2" Type="http://schemas.microsoft.com/office/2018/10/relationships/comments" Target="../comments/modernComment_7FFFCE64_B9C83DB4.xml"/><Relationship Id="rId1" Type="http://schemas.openxmlformats.org/officeDocument/2006/relationships/slideLayout" Target="../slideLayouts/slideLayout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36.xml.rels><?xml version="1.0" encoding="UTF-8" standalone="yes"?>
<Relationships xmlns="http://schemas.openxmlformats.org/package/2006/relationships"><Relationship Id="rId2" Type="http://schemas.openxmlformats.org/officeDocument/2006/relationships/hyperlink" Target="https://raxglobal.sharepoint.com/:w:/r/sites/SolutionHub/Docs%20%20Professional%20Services/EMEA%20-%20Professional%20Services/Migrations/Other%20Collaterals/Sales%20Toolkit/Statement%20of%20Work%20-%20Template%20-%20AMMP%20Assessment-v0.2.docx?d=w98f056d708814aa282e2b3578c30aa45&amp;csf=1&amp;web=1&amp;e=WXczTT" TargetMode="External"/><Relationship Id="rId1" Type="http://schemas.openxmlformats.org/officeDocument/2006/relationships/slideLayout" Target="../slideLayouts/slideLayout72.xml"/></Relationships>
</file>

<file path=ppt/slides/_rels/slide37.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8.xml"/><Relationship Id="rId1" Type="http://schemas.openxmlformats.org/officeDocument/2006/relationships/slideLayout" Target="../slideLayouts/slideLayout57.xml"/></Relationships>
</file>

<file path=ppt/slides/_rels/slide38.xml.rels><?xml version="1.0" encoding="UTF-8" standalone="yes"?>
<Relationships xmlns="http://schemas.openxmlformats.org/package/2006/relationships"><Relationship Id="rId3" Type="http://schemas.openxmlformats.org/officeDocument/2006/relationships/hyperlink" Target="https://partner.microsoft.com/en-us/asset/collection/caf-ready-and-govern-workshop-material#/" TargetMode="External"/><Relationship Id="rId2" Type="http://schemas.openxmlformats.org/officeDocument/2006/relationships/hyperlink" Target="https://partner.microsoft.com/en-us/asset/collection/azure-migrate-and-modernize-partner-led-and-azure-innovate-resources#/" TargetMode="External"/><Relationship Id="rId1" Type="http://schemas.openxmlformats.org/officeDocument/2006/relationships/slideLayout" Target="../slideLayouts/slideLayout72.xml"/><Relationship Id="rId5" Type="http://schemas.openxmlformats.org/officeDocument/2006/relationships/hyperlink" Target="https://learn.microsoft.com/en-us/assessments/50adbf76-60fb-47ce-a787-f9d5f52f6a48/" TargetMode="External"/><Relationship Id="rId4" Type="http://schemas.openxmlformats.org/officeDocument/2006/relationships/hyperlink" Target="https://learn.microsoft.com/en-us/azure/migrate/how-to-assess"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notesSlide" Target="../notesSlides/notesSlide9.xml"/><Relationship Id="rId1" Type="http://schemas.openxmlformats.org/officeDocument/2006/relationships/slideLayout" Target="../slideLayouts/slideLayout169.xml"/></Relationships>
</file>

<file path=ppt/slides/_rels/slide4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62.xml"/></Relationships>
</file>

<file path=ppt/slides/_rels/slide4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62.xml"/></Relationships>
</file>

<file path=ppt/slides/_rels/slide42.xml.rels><?xml version="1.0" encoding="UTF-8" standalone="yes"?>
<Relationships xmlns="http://schemas.openxmlformats.org/package/2006/relationships"><Relationship Id="rId3" Type="http://schemas.openxmlformats.org/officeDocument/2006/relationships/hyperlink" Target="mailto:AzurePartnerOffering@microsoft.com" TargetMode="External"/><Relationship Id="rId2" Type="http://schemas.openxmlformats.org/officeDocument/2006/relationships/notesSlide" Target="../notesSlides/notesSlide10.xml"/><Relationship Id="rId1" Type="http://schemas.openxmlformats.org/officeDocument/2006/relationships/slideLayout" Target="../slideLayouts/slideLayout169.xml"/><Relationship Id="rId4" Type="http://schemas.openxmlformats.org/officeDocument/2006/relationships/hyperlink" Target="http://aka.ms/incentivesguide"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50.svg"/><Relationship Id="rId7" Type="http://schemas.openxmlformats.org/officeDocument/2006/relationships/image" Target="../media/image63.svg"/><Relationship Id="rId2" Type="http://schemas.openxmlformats.org/officeDocument/2006/relationships/notesSlide" Target="../notesSlides/notesSlide11.xml"/><Relationship Id="rId1" Type="http://schemas.openxmlformats.org/officeDocument/2006/relationships/slideLayout" Target="../slideLayouts/slideLayout57.xml"/><Relationship Id="rId6" Type="http://schemas.openxmlformats.org/officeDocument/2006/relationships/image" Target="../media/image62.svg"/><Relationship Id="rId5" Type="http://schemas.openxmlformats.org/officeDocument/2006/relationships/image" Target="../media/image61.svg"/><Relationship Id="rId4" Type="http://schemas.openxmlformats.org/officeDocument/2006/relationships/image" Target="../media/image6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3232E11B-5A17-8586-BCC7-7AB47AC4CAB5}"/>
              </a:ext>
            </a:extLst>
          </p:cNvPr>
          <p:cNvSpPr>
            <a:spLocks noGrp="1"/>
          </p:cNvSpPr>
          <p:nvPr>
            <p:ph type="body" sz="quarter" idx="10"/>
          </p:nvPr>
        </p:nvSpPr>
        <p:spPr/>
        <p:txBody>
          <a:bodyPr/>
          <a:lstStyle/>
          <a:p>
            <a:r>
              <a:rPr lang="en-US" i="1"/>
              <a:t>For Internal Rackspace Migration Teams</a:t>
            </a:r>
          </a:p>
          <a:p>
            <a:r>
              <a:rPr lang="en-US" i="1"/>
              <a:t>(formerly known as AMMP)</a:t>
            </a:r>
          </a:p>
        </p:txBody>
      </p:sp>
      <p:sp>
        <p:nvSpPr>
          <p:cNvPr id="7" name="Title 1">
            <a:extLst>
              <a:ext uri="{FF2B5EF4-FFF2-40B4-BE49-F238E27FC236}">
                <a16:creationId xmlns:a16="http://schemas.microsoft.com/office/drawing/2014/main" id="{8B8C9FEE-5358-28C5-E449-DA3F9D0FCA88}"/>
              </a:ext>
            </a:extLst>
          </p:cNvPr>
          <p:cNvSpPr>
            <a:spLocks noGrp="1"/>
          </p:cNvSpPr>
          <p:nvPr>
            <p:ph type="ctrTitle"/>
          </p:nvPr>
        </p:nvSpPr>
        <p:spPr>
          <a:xfrm>
            <a:off x="323545" y="1011652"/>
            <a:ext cx="7292869" cy="1954638"/>
          </a:xfrm>
        </p:spPr>
        <p:txBody>
          <a:bodyPr/>
          <a:lstStyle/>
          <a:p>
            <a:r>
              <a:rPr lang="en-US" dirty="0"/>
              <a:t>Azure Migrate and Modernize</a:t>
            </a:r>
            <a:br>
              <a:rPr lang="en-US" dirty="0"/>
            </a:br>
            <a:r>
              <a:rPr lang="en-US" dirty="0"/>
              <a:t>Delivery Guide (Azure) </a:t>
            </a:r>
            <a:br>
              <a:rPr lang="en-US" dirty="0"/>
            </a:br>
            <a:r>
              <a:rPr lang="en-US" dirty="0"/>
              <a:t>RXT Delivery Team</a:t>
            </a:r>
          </a:p>
        </p:txBody>
      </p:sp>
    </p:spTree>
    <p:extLst>
      <p:ext uri="{BB962C8B-B14F-4D97-AF65-F5344CB8AC3E}">
        <p14:creationId xmlns:p14="http://schemas.microsoft.com/office/powerpoint/2010/main" val="2819458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ABEE583-A7CF-13BE-A657-2F02E6B8232B}"/>
              </a:ext>
            </a:extLst>
          </p:cNvPr>
          <p:cNvSpPr>
            <a:spLocks noGrp="1"/>
          </p:cNvSpPr>
          <p:nvPr>
            <p:ph type="body" sz="quarter" idx="13"/>
          </p:nvPr>
        </p:nvSpPr>
        <p:spPr/>
        <p:txBody>
          <a:bodyPr/>
          <a:lstStyle/>
          <a:p>
            <a:r>
              <a:rPr lang="en-GB"/>
              <a:t>Please Log any changes to Doc. </a:t>
            </a:r>
          </a:p>
        </p:txBody>
      </p:sp>
      <p:sp>
        <p:nvSpPr>
          <p:cNvPr id="4" name="Title 3">
            <a:extLst>
              <a:ext uri="{FF2B5EF4-FFF2-40B4-BE49-F238E27FC236}">
                <a16:creationId xmlns:a16="http://schemas.microsoft.com/office/drawing/2014/main" id="{EE7526EB-445C-34C7-6DE5-DA32AB35AFF7}"/>
              </a:ext>
            </a:extLst>
          </p:cNvPr>
          <p:cNvSpPr>
            <a:spLocks noGrp="1"/>
          </p:cNvSpPr>
          <p:nvPr>
            <p:ph type="title"/>
          </p:nvPr>
        </p:nvSpPr>
        <p:spPr/>
        <p:txBody>
          <a:bodyPr/>
          <a:lstStyle/>
          <a:p>
            <a:r>
              <a:rPr lang="en-GB"/>
              <a:t>Doc Control</a:t>
            </a:r>
          </a:p>
        </p:txBody>
      </p:sp>
      <p:sp>
        <p:nvSpPr>
          <p:cNvPr id="5" name="Slide Number Placeholder 4">
            <a:extLst>
              <a:ext uri="{FF2B5EF4-FFF2-40B4-BE49-F238E27FC236}">
                <a16:creationId xmlns:a16="http://schemas.microsoft.com/office/drawing/2014/main" id="{F05943FD-1857-96FA-8EFD-A53F65C4149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graphicFrame>
        <p:nvGraphicFramePr>
          <p:cNvPr id="7" name="Table 6">
            <a:extLst>
              <a:ext uri="{FF2B5EF4-FFF2-40B4-BE49-F238E27FC236}">
                <a16:creationId xmlns:a16="http://schemas.microsoft.com/office/drawing/2014/main" id="{B6C1B68B-2637-A6CB-2766-4C4B82F465EF}"/>
              </a:ext>
            </a:extLst>
          </p:cNvPr>
          <p:cNvGraphicFramePr>
            <a:graphicFrameLocks noGrp="1"/>
          </p:cNvGraphicFramePr>
          <p:nvPr>
            <p:extLst>
              <p:ext uri="{D42A27DB-BD31-4B8C-83A1-F6EECF244321}">
                <p14:modId xmlns:p14="http://schemas.microsoft.com/office/powerpoint/2010/main" val="817737268"/>
              </p:ext>
            </p:extLst>
          </p:nvPr>
        </p:nvGraphicFramePr>
        <p:xfrm>
          <a:off x="3501903" y="884373"/>
          <a:ext cx="8211126" cy="5089254"/>
        </p:xfrm>
        <a:graphic>
          <a:graphicData uri="http://schemas.openxmlformats.org/drawingml/2006/table">
            <a:tbl>
              <a:tblPr/>
              <a:tblGrid>
                <a:gridCol w="1135702">
                  <a:extLst>
                    <a:ext uri="{9D8B030D-6E8A-4147-A177-3AD203B41FA5}">
                      <a16:colId xmlns:a16="http://schemas.microsoft.com/office/drawing/2014/main" val="1884722055"/>
                    </a:ext>
                  </a:extLst>
                </a:gridCol>
                <a:gridCol w="953990">
                  <a:extLst>
                    <a:ext uri="{9D8B030D-6E8A-4147-A177-3AD203B41FA5}">
                      <a16:colId xmlns:a16="http://schemas.microsoft.com/office/drawing/2014/main" val="1739775448"/>
                    </a:ext>
                  </a:extLst>
                </a:gridCol>
                <a:gridCol w="806349">
                  <a:extLst>
                    <a:ext uri="{9D8B030D-6E8A-4147-A177-3AD203B41FA5}">
                      <a16:colId xmlns:a16="http://schemas.microsoft.com/office/drawing/2014/main" val="1169733161"/>
                    </a:ext>
                  </a:extLst>
                </a:gridCol>
                <a:gridCol w="5315085">
                  <a:extLst>
                    <a:ext uri="{9D8B030D-6E8A-4147-A177-3AD203B41FA5}">
                      <a16:colId xmlns:a16="http://schemas.microsoft.com/office/drawing/2014/main" val="3808049446"/>
                    </a:ext>
                  </a:extLst>
                </a:gridCol>
              </a:tblGrid>
              <a:tr h="518941">
                <a:tc>
                  <a:txBody>
                    <a:bodyPr/>
                    <a:lstStyle/>
                    <a:p>
                      <a:pPr algn="ctr" rtl="0" fontAlgn="ctr"/>
                      <a:r>
                        <a:rPr lang="en-GB" sz="900" b="1" i="0" u="none" strike="noStrike">
                          <a:solidFill>
                            <a:srgbClr val="FFFFFF"/>
                          </a:solidFill>
                          <a:effectLst/>
                          <a:latin typeface="Fira Sans"/>
                        </a:rPr>
                        <a:t>Document Ref:</a:t>
                      </a:r>
                    </a:p>
                  </a:txBody>
                  <a:tcPr marL="0" marR="0" marT="0" marB="0"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gridSpan="3">
                  <a:txBody>
                    <a:bodyPr/>
                    <a:lstStyle/>
                    <a:p>
                      <a:pPr algn="ctr" fontAlgn="ctr"/>
                      <a:r>
                        <a:rPr lang="en-GB" sz="900" b="1" i="0" u="none" strike="noStrike">
                          <a:solidFill>
                            <a:srgbClr val="FFFFFF"/>
                          </a:solidFill>
                          <a:effectLst/>
                          <a:latin typeface="Fira Sans"/>
                        </a:rPr>
                        <a:t>Azure AMM Delivery Guide</a:t>
                      </a:r>
                    </a:p>
                  </a:txBody>
                  <a:tcPr marL="0" marR="0" marT="0" marB="0"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790622028"/>
                  </a:ext>
                </a:extLst>
              </a:tr>
              <a:tr h="278004">
                <a:tc gridSpan="4">
                  <a:txBody>
                    <a:bodyPr/>
                    <a:lstStyle/>
                    <a:p>
                      <a:pPr algn="l" rtl="0" fontAlgn="ctr"/>
                      <a:r>
                        <a:rPr lang="en-GB" sz="900" b="1" i="0" u="none" strike="noStrike">
                          <a:solidFill>
                            <a:srgbClr val="111111"/>
                          </a:solidFill>
                          <a:effectLst/>
                          <a:latin typeface="Fira Sans"/>
                        </a:rPr>
                        <a:t>Version History</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802315331"/>
                  </a:ext>
                </a:extLst>
              </a:tr>
              <a:tr h="278004">
                <a:tc>
                  <a:txBody>
                    <a:bodyPr/>
                    <a:lstStyle/>
                    <a:p>
                      <a:pPr algn="ctr" rtl="0" fontAlgn="ctr"/>
                      <a:r>
                        <a:rPr lang="en-GB" sz="900" b="1" i="0" u="none" strike="noStrike">
                          <a:solidFill>
                            <a:srgbClr val="111111"/>
                          </a:solidFill>
                          <a:effectLst/>
                          <a:latin typeface="Fira Sans"/>
                        </a:rPr>
                        <a:t>Author</a:t>
                      </a:r>
                    </a:p>
                  </a:txBody>
                  <a:tcPr marL="0" marR="0" marT="0"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n-GB" sz="900" b="1" i="0" u="none" strike="noStrike">
                          <a:solidFill>
                            <a:srgbClr val="111111"/>
                          </a:solidFill>
                          <a:effectLst/>
                          <a:latin typeface="Fira Sans"/>
                        </a:rPr>
                        <a:t>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n-GB" sz="900" b="1" i="0" u="none" strike="noStrike">
                          <a:solidFill>
                            <a:srgbClr val="111111"/>
                          </a:solidFill>
                          <a:effectLst/>
                          <a:latin typeface="Fira Sans"/>
                        </a:rPr>
                        <a:t>Version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n-GB" sz="900" b="1" i="0" u="none" strike="noStrike">
                          <a:solidFill>
                            <a:srgbClr val="111111"/>
                          </a:solidFill>
                          <a:effectLst/>
                          <a:latin typeface="Fira Sans"/>
                        </a:rPr>
                        <a:t>Comments</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582450879"/>
                  </a:ext>
                </a:extLst>
              </a:tr>
              <a:tr h="278004">
                <a:tc>
                  <a:txBody>
                    <a:bodyPr/>
                    <a:lstStyle/>
                    <a:p>
                      <a:pPr algn="ctr" rtl="0" fontAlgn="ctr"/>
                      <a:r>
                        <a:rPr lang="en-GB" sz="900" b="0" i="0" u="none" strike="noStrike">
                          <a:solidFill>
                            <a:srgbClr val="111111"/>
                          </a:solidFill>
                          <a:effectLst/>
                          <a:latin typeface="Fira Sans"/>
                        </a:rPr>
                        <a:t>Max Hurn</a:t>
                      </a:r>
                    </a:p>
                  </a:txBody>
                  <a:tcPr marL="0" marR="0" marT="0"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n-GB" sz="900" b="0" i="0" u="none" strike="noStrike">
                          <a:solidFill>
                            <a:srgbClr val="111111"/>
                          </a:solidFill>
                          <a:effectLst/>
                          <a:latin typeface="Fira Sans"/>
                        </a:rPr>
                        <a:t>Apr-24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n-GB" sz="900" b="0" i="0" u="none" strike="noStrike">
                          <a:solidFill>
                            <a:srgbClr val="111111"/>
                          </a:solidFill>
                          <a:effectLst/>
                          <a:latin typeface="Fira Sans"/>
                        </a:rPr>
                        <a:t>v0.1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n-GB" sz="900" b="0" i="0" u="none" strike="noStrike">
                          <a:solidFill>
                            <a:srgbClr val="111111"/>
                          </a:solidFill>
                          <a:effectLst/>
                          <a:latin typeface="Fira Sans"/>
                        </a:rPr>
                        <a:t>Initial Draft for Solution Hub</a:t>
                      </a:r>
                      <a:endParaRPr lang="en-GB" sz="900" b="0" i="0" u="none" strike="noStrike">
                        <a:solidFill>
                          <a:srgbClr val="111111"/>
                        </a:solidFill>
                        <a:effectLst/>
                        <a:latin typeface="Fira Sans" panose="020B05030500000200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0553308"/>
                  </a:ext>
                </a:extLst>
              </a:tr>
              <a:tr h="278004">
                <a:tc>
                  <a:txBody>
                    <a:bodyPr/>
                    <a:lstStyle/>
                    <a:p>
                      <a:pPr algn="ctr" rtl="0" fontAlgn="ctr"/>
                      <a:endParaRPr lang="en-GB" sz="900" b="0" i="0" u="none" strike="noStrike">
                        <a:solidFill>
                          <a:srgbClr val="111111"/>
                        </a:solidFill>
                        <a:effectLst/>
                        <a:latin typeface="Fira Sans"/>
                      </a:endParaRPr>
                    </a:p>
                  </a:txBody>
                  <a:tcPr marL="0" marR="0" marT="0"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endParaRPr lang="en-GB" sz="900" b="0" i="0" u="none" strike="noStrike">
                        <a:solidFill>
                          <a:srgbClr val="111111"/>
                        </a:solidFill>
                        <a:effectLst/>
                        <a:latin typeface="Fira San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endParaRPr lang="en-GB" sz="900" b="0" i="0" u="none" strike="noStrike">
                        <a:solidFill>
                          <a:srgbClr val="111111"/>
                        </a:solidFill>
                        <a:effectLst/>
                        <a:latin typeface="Fira San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lvl="0" algn="ctr" rtl="0">
                        <a:buNone/>
                      </a:pPr>
                      <a:endParaRPr lang="en-GB" sz="900"/>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56934072"/>
                  </a:ext>
                </a:extLst>
              </a:tr>
              <a:tr h="278004">
                <a:tc>
                  <a:txBody>
                    <a:bodyPr/>
                    <a:lstStyle/>
                    <a:p>
                      <a:pPr algn="l" rtl="0" fontAlgn="ctr"/>
                      <a:endParaRPr lang="en-GB" sz="900" b="0" i="0" u="none" strike="noStrike">
                        <a:solidFill>
                          <a:srgbClr val="111111"/>
                        </a:solidFill>
                        <a:effectLst/>
                        <a:latin typeface="Fira Sans" panose="020B0503050000020004" pitchFamily="34" charset="0"/>
                      </a:endParaRPr>
                    </a:p>
                  </a:txBody>
                  <a:tcPr marL="0" marR="0" marT="0"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endParaRPr lang="en-GB" sz="900" b="0" i="0" u="none" strike="noStrike">
                        <a:solidFill>
                          <a:srgbClr val="111111"/>
                        </a:solidFill>
                        <a:effectLst/>
                        <a:latin typeface="Fira Sans" panose="020B05030500000200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endParaRPr lang="en-GB" sz="900" b="0" i="0" u="none" strike="noStrike">
                        <a:solidFill>
                          <a:srgbClr val="111111"/>
                        </a:solidFill>
                        <a:effectLst/>
                        <a:latin typeface="Fira Sans" panose="020B05030500000200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endParaRPr lang="en-GB" sz="900" b="0" i="0" u="none" strike="noStrike">
                        <a:solidFill>
                          <a:srgbClr val="111111"/>
                        </a:solidFill>
                        <a:effectLst/>
                        <a:latin typeface="Fira Sans" panose="020B05030500000200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57484843"/>
                  </a:ext>
                </a:extLst>
              </a:tr>
              <a:tr h="278004">
                <a:tc>
                  <a:txBody>
                    <a:bodyPr/>
                    <a:lstStyle/>
                    <a:p>
                      <a:pPr algn="l" rtl="0" fontAlgn="ctr"/>
                      <a:endParaRPr lang="en-GB" sz="900" b="0" i="0" u="none" strike="noStrike">
                        <a:solidFill>
                          <a:srgbClr val="111111"/>
                        </a:solidFill>
                        <a:effectLst/>
                        <a:latin typeface="Fira Sans"/>
                      </a:endParaRPr>
                    </a:p>
                  </a:txBody>
                  <a:tcPr marL="0" marR="0" marT="0"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endParaRPr lang="en-GB" sz="900" b="0" i="0" u="none" strike="noStrike">
                        <a:solidFill>
                          <a:srgbClr val="111111"/>
                        </a:solidFill>
                        <a:effectLst/>
                        <a:latin typeface="Fira San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endParaRPr lang="en-GB" sz="900" b="0" i="0" u="none" strike="noStrike">
                        <a:solidFill>
                          <a:srgbClr val="111111"/>
                        </a:solidFill>
                        <a:effectLst/>
                        <a:latin typeface="Fira San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endParaRPr lang="en-GB" sz="900" b="0" i="0" u="none" strike="noStrike">
                        <a:solidFill>
                          <a:srgbClr val="111111"/>
                        </a:solidFill>
                        <a:effectLst/>
                        <a:latin typeface="Fira Sans"/>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15839787"/>
                  </a:ext>
                </a:extLst>
              </a:tr>
              <a:tr h="278004">
                <a:tc>
                  <a:txBody>
                    <a:bodyPr/>
                    <a:lstStyle/>
                    <a:p>
                      <a:pPr algn="l" rtl="0" fontAlgn="ctr"/>
                      <a:endParaRPr lang="en-GB" sz="900" b="0" i="0" u="none" strike="noStrike">
                        <a:solidFill>
                          <a:srgbClr val="111111"/>
                        </a:solidFill>
                        <a:effectLst/>
                        <a:latin typeface="Fira Sans"/>
                      </a:endParaRPr>
                    </a:p>
                  </a:txBody>
                  <a:tcPr marL="0" marR="0" marT="0"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endParaRPr lang="en-GB" sz="900" b="0" i="0" u="none" strike="noStrike">
                        <a:solidFill>
                          <a:srgbClr val="111111"/>
                        </a:solidFill>
                        <a:effectLst/>
                        <a:latin typeface="Fira San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endParaRPr lang="en-GB" sz="900" b="0" i="0" u="none" strike="noStrike">
                        <a:solidFill>
                          <a:srgbClr val="111111"/>
                        </a:solidFill>
                        <a:effectLst/>
                        <a:latin typeface="Fira San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endParaRPr lang="en-GB" sz="900" b="0" i="0" u="none" strike="noStrike">
                        <a:solidFill>
                          <a:srgbClr val="111111"/>
                        </a:solidFill>
                        <a:effectLst/>
                        <a:latin typeface="Fira Sans"/>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04360038"/>
                  </a:ext>
                </a:extLst>
              </a:tr>
              <a:tr h="278004">
                <a:tc>
                  <a:txBody>
                    <a:bodyPr/>
                    <a:lstStyle/>
                    <a:p>
                      <a:pPr algn="l" rtl="0" fontAlgn="ctr"/>
                      <a:endParaRPr lang="en-GB" sz="900" b="1" i="0" u="none" strike="noStrike">
                        <a:solidFill>
                          <a:srgbClr val="111111"/>
                        </a:solidFill>
                        <a:effectLst/>
                        <a:latin typeface="Fira Sans"/>
                      </a:endParaRPr>
                    </a:p>
                  </a:txBody>
                  <a:tcPr marL="0" marR="0" marT="0" marB="0" anchor="ctr">
                    <a:lnL w="12700" cap="flat" cmpd="sng" algn="ctr">
                      <a:solidFill>
                        <a:schemeClr val="bg1"/>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l" rtl="0" fontAlgn="ctr"/>
                      <a:endParaRPr lang="en-GB" sz="900" b="1" i="0" u="none" strike="noStrike">
                        <a:solidFill>
                          <a:srgbClr val="111111"/>
                        </a:solidFill>
                        <a:effectLst/>
                        <a:latin typeface="Fira Sans"/>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l" rtl="0" fontAlgn="ctr"/>
                      <a:endParaRPr lang="en-GB" sz="900" b="0" i="0" u="none" strike="noStrike">
                        <a:solidFill>
                          <a:srgbClr val="111111"/>
                        </a:solidFill>
                        <a:effectLst/>
                        <a:latin typeface="Fira Sans"/>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l" rtl="0" fontAlgn="ctr"/>
                      <a:endParaRPr lang="en-GB" sz="900" b="0" i="0" u="none" strike="noStrike">
                        <a:solidFill>
                          <a:srgbClr val="111111"/>
                        </a:solidFill>
                        <a:effectLst/>
                        <a:latin typeface="Fira Sans"/>
                      </a:endParaRPr>
                    </a:p>
                  </a:txBody>
                  <a:tcPr marL="0" marR="0" marT="0" marB="0" anchor="ctr">
                    <a:lnL>
                      <a:noFill/>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570286493"/>
                  </a:ext>
                </a:extLst>
              </a:tr>
              <a:tr h="278004">
                <a:tc gridSpan="4">
                  <a:txBody>
                    <a:bodyPr/>
                    <a:lstStyle/>
                    <a:p>
                      <a:pPr algn="ctr" rtl="0" fontAlgn="ctr"/>
                      <a:r>
                        <a:rPr lang="en-GB" sz="900" b="1" i="0" u="none" strike="noStrike">
                          <a:solidFill>
                            <a:srgbClr val="FFFFFF"/>
                          </a:solidFill>
                          <a:effectLst/>
                          <a:latin typeface="Fira Sans"/>
                        </a:rPr>
                        <a:t>Distribution</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941969981"/>
                  </a:ext>
                </a:extLst>
              </a:tr>
              <a:tr h="400253">
                <a:tc>
                  <a:txBody>
                    <a:bodyPr/>
                    <a:lstStyle/>
                    <a:p>
                      <a:pPr algn="ctr" rtl="0" fontAlgn="ctr"/>
                      <a:r>
                        <a:rPr lang="en-GB" sz="900" b="1" i="0" u="none" strike="noStrike">
                          <a:solidFill>
                            <a:srgbClr val="111111"/>
                          </a:solidFill>
                          <a:effectLst/>
                          <a:latin typeface="Fira Sans"/>
                        </a:rPr>
                        <a:t>Name</a:t>
                      </a:r>
                    </a:p>
                  </a:txBody>
                  <a:tcPr marL="0" marR="0" marT="0"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n-GB" sz="900" b="1" i="0" u="none" strike="noStrike">
                          <a:solidFill>
                            <a:srgbClr val="111111"/>
                          </a:solidFill>
                          <a:effectLst/>
                          <a:latin typeface="Fira Sans"/>
                        </a:rPr>
                        <a:t>Company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n-GB" sz="900" b="1" i="0" u="none" strike="noStrike">
                          <a:solidFill>
                            <a:srgbClr val="111111"/>
                          </a:solidFill>
                          <a:effectLst/>
                          <a:latin typeface="Fira Sans"/>
                        </a:rPr>
                        <a:t>Role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n-GB" sz="900" b="1" i="0" u="none" strike="noStrike">
                          <a:solidFill>
                            <a:srgbClr val="111111"/>
                          </a:solidFill>
                          <a:effectLst/>
                          <a:latin typeface="Fira Sans"/>
                        </a:rPr>
                        <a:t>Contact Details</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35417742"/>
                  </a:ext>
                </a:extLst>
              </a:tr>
              <a:tr h="278004">
                <a:tc>
                  <a:txBody>
                    <a:bodyPr/>
                    <a:lstStyle/>
                    <a:p>
                      <a:pPr algn="ctr" rtl="0" fontAlgn="ctr"/>
                      <a:r>
                        <a:rPr lang="en-GB" sz="900" b="0" i="0" u="none" strike="noStrike">
                          <a:solidFill>
                            <a:srgbClr val="111111"/>
                          </a:solidFill>
                          <a:effectLst/>
                          <a:latin typeface="Fira Sans"/>
                        </a:rPr>
                        <a:t> Solution Hub</a:t>
                      </a:r>
                    </a:p>
                  </a:txBody>
                  <a:tcPr marL="0" marR="0" marT="0"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n-GB" sz="900" b="0" i="0" u="none" strike="noStrike">
                          <a:solidFill>
                            <a:srgbClr val="111111"/>
                          </a:solidFill>
                          <a:effectLst/>
                          <a:latin typeface="Fira Sans"/>
                        </a:rPr>
                        <a:t>RXT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900" b="0" i="0" u="none" strike="noStrike">
                          <a:solidFill>
                            <a:srgbClr val="000000"/>
                          </a:solidFill>
                          <a:effectLst/>
                          <a:latin typeface="Fira Sans"/>
                        </a:rPr>
                        <a:t>N/A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900" b="0" i="0" u="none" strike="noStrike">
                          <a:solidFill>
                            <a:srgbClr val="000000"/>
                          </a:solidFill>
                          <a:effectLst/>
                          <a:latin typeface="Fira Sans"/>
                        </a:rPr>
                        <a:t>N/A</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64357546"/>
                  </a:ext>
                </a:extLst>
              </a:tr>
              <a:tr h="278004">
                <a:tc>
                  <a:txBody>
                    <a:bodyPr/>
                    <a:lstStyle/>
                    <a:p>
                      <a:pPr algn="l" rtl="0" fontAlgn="ctr"/>
                      <a:endParaRPr lang="en-GB" sz="900" b="0" i="0" u="none" strike="noStrike">
                        <a:solidFill>
                          <a:srgbClr val="111111"/>
                        </a:solidFill>
                        <a:effectLst/>
                        <a:latin typeface="Fira Sans"/>
                      </a:endParaRPr>
                    </a:p>
                  </a:txBody>
                  <a:tcPr marL="0" marR="0" marT="0"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endParaRPr lang="en-GB" sz="900" b="0" i="0" u="none" strike="noStrike">
                        <a:solidFill>
                          <a:srgbClr val="111111"/>
                        </a:solidFill>
                        <a:effectLst/>
                        <a:latin typeface="Fira San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GB" sz="900" b="0" i="0" u="none" strike="noStrike">
                        <a:solidFill>
                          <a:srgbClr val="000000"/>
                        </a:solidFill>
                        <a:effectLst/>
                        <a:latin typeface="Fira Sans"/>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GB" sz="900" b="0" i="0" u="none" strike="noStrike">
                        <a:solidFill>
                          <a:srgbClr val="000000"/>
                        </a:solidFill>
                        <a:effectLst/>
                        <a:latin typeface="Fira Sans"/>
                      </a:endParaRPr>
                    </a:p>
                  </a:txBody>
                  <a:tcPr marL="0" marR="0" marT="0" marB="0" anchor="b">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74114475"/>
                  </a:ext>
                </a:extLst>
              </a:tr>
              <a:tr h="278004">
                <a:tc>
                  <a:txBody>
                    <a:bodyPr/>
                    <a:lstStyle/>
                    <a:p>
                      <a:pPr algn="l" rtl="0" fontAlgn="ctr"/>
                      <a:endParaRPr lang="en-GB" sz="900" b="0" i="0" u="none" strike="noStrike">
                        <a:solidFill>
                          <a:srgbClr val="111111"/>
                        </a:solidFill>
                        <a:effectLst/>
                        <a:latin typeface="Fira Sans"/>
                      </a:endParaRPr>
                    </a:p>
                  </a:txBody>
                  <a:tcPr marL="0" marR="0" marT="0"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endParaRPr lang="en-GB" sz="900" b="0" i="0" u="none" strike="noStrike">
                        <a:solidFill>
                          <a:srgbClr val="111111"/>
                        </a:solidFill>
                        <a:effectLst/>
                        <a:latin typeface="Fira San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GB" sz="900" b="0" i="0" u="none" strike="noStrike">
                        <a:solidFill>
                          <a:srgbClr val="000000"/>
                        </a:solidFill>
                        <a:effectLst/>
                        <a:latin typeface="Fira Sans"/>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GB" sz="900" b="0" i="0" u="none" strike="noStrike">
                        <a:solidFill>
                          <a:srgbClr val="000000"/>
                        </a:solidFill>
                        <a:effectLst/>
                        <a:latin typeface="Fira Sans"/>
                      </a:endParaRPr>
                    </a:p>
                  </a:txBody>
                  <a:tcPr marL="0" marR="0" marT="0" marB="0" anchor="b">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99199949"/>
                  </a:ext>
                </a:extLst>
              </a:tr>
              <a:tr h="278004">
                <a:tc>
                  <a:txBody>
                    <a:bodyPr/>
                    <a:lstStyle/>
                    <a:p>
                      <a:pPr algn="l" rtl="0" fontAlgn="ctr"/>
                      <a:endParaRPr lang="en-GB" sz="900" b="0" i="0" u="none" strike="noStrike">
                        <a:solidFill>
                          <a:srgbClr val="111111"/>
                        </a:solidFill>
                        <a:effectLst/>
                        <a:latin typeface="Fira Sans"/>
                      </a:endParaRPr>
                    </a:p>
                  </a:txBody>
                  <a:tcPr marL="0" marR="0" marT="0"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endParaRPr lang="en-GB" sz="900" b="0" i="0" u="none" strike="noStrike">
                        <a:solidFill>
                          <a:srgbClr val="111111"/>
                        </a:solidFill>
                        <a:effectLst/>
                        <a:latin typeface="Fira San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GB" sz="900" b="0" i="0" u="none" strike="noStrike">
                        <a:solidFill>
                          <a:srgbClr val="000000"/>
                        </a:solidFill>
                        <a:effectLst/>
                        <a:latin typeface="Fira Sans"/>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GB" sz="900" b="0" i="0" u="none" strike="noStrike">
                        <a:solidFill>
                          <a:srgbClr val="000000"/>
                        </a:solidFill>
                        <a:effectLst/>
                        <a:latin typeface="Fira Sans"/>
                      </a:endParaRPr>
                    </a:p>
                  </a:txBody>
                  <a:tcPr marL="0" marR="0" marT="0" marB="0" anchor="b">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17067713"/>
                  </a:ext>
                </a:extLst>
              </a:tr>
              <a:tr h="278004">
                <a:tc>
                  <a:txBody>
                    <a:bodyPr/>
                    <a:lstStyle/>
                    <a:p>
                      <a:pPr algn="l" rtl="0" fontAlgn="ctr"/>
                      <a:endParaRPr lang="en-GB" sz="900" b="0" i="0" u="none" strike="noStrike">
                        <a:solidFill>
                          <a:srgbClr val="111111"/>
                        </a:solidFill>
                        <a:effectLst/>
                        <a:latin typeface="Fira Sans"/>
                      </a:endParaRPr>
                    </a:p>
                  </a:txBody>
                  <a:tcPr marL="0" marR="0" marT="0"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endParaRPr lang="en-GB" sz="900" b="0" i="0" u="none" strike="noStrike">
                        <a:solidFill>
                          <a:srgbClr val="111111"/>
                        </a:solidFill>
                        <a:effectLst/>
                        <a:latin typeface="Fira San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GB" sz="900" b="0" i="0" u="none" strike="noStrike">
                        <a:solidFill>
                          <a:srgbClr val="000000"/>
                        </a:solidFill>
                        <a:effectLst/>
                        <a:latin typeface="Fira Sans"/>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endParaRPr lang="en-GB" sz="900" b="0" i="0" u="none" strike="noStrike">
                        <a:solidFill>
                          <a:srgbClr val="000000"/>
                        </a:solidFill>
                        <a:effectLst/>
                        <a:latin typeface="Fira Sans"/>
                      </a:endParaRPr>
                    </a:p>
                  </a:txBody>
                  <a:tcPr marL="0" marR="0" marT="0" marB="0">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70846505"/>
                  </a:ext>
                </a:extLst>
              </a:tr>
              <a:tr h="278004">
                <a:tc>
                  <a:txBody>
                    <a:bodyPr/>
                    <a:lstStyle/>
                    <a:p>
                      <a:pPr algn="l" rtl="0" fontAlgn="ctr"/>
                      <a:endParaRPr lang="en-GB" sz="900" b="0" i="0" u="none" strike="noStrike">
                        <a:solidFill>
                          <a:srgbClr val="111111"/>
                        </a:solidFill>
                        <a:effectLst/>
                        <a:latin typeface="Fira Sans"/>
                      </a:endParaRPr>
                    </a:p>
                  </a:txBody>
                  <a:tcPr marL="0" marR="0" marT="0"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l" rtl="0" fontAlgn="ctr"/>
                      <a:endParaRPr lang="en-GB" sz="900" b="0" i="0" u="none" strike="noStrike">
                        <a:solidFill>
                          <a:srgbClr val="111111"/>
                        </a:solidFill>
                        <a:effectLst/>
                        <a:latin typeface="Fira San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l" fontAlgn="b"/>
                      <a:endParaRPr lang="en-GB" sz="900" b="0" i="0" u="none" strike="noStrike">
                        <a:solidFill>
                          <a:srgbClr val="000000"/>
                        </a:solidFill>
                        <a:effectLst/>
                        <a:latin typeface="Fira Sans"/>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l" fontAlgn="t"/>
                      <a:endParaRPr lang="en-GB" sz="900" b="0" i="0" u="none" strike="noStrike">
                        <a:solidFill>
                          <a:srgbClr val="000000"/>
                        </a:solidFill>
                        <a:effectLst/>
                        <a:latin typeface="Fira Sans"/>
                      </a:endParaRPr>
                    </a:p>
                  </a:txBody>
                  <a:tcPr marL="0" marR="0" marT="0" marB="0">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17689280"/>
                  </a:ext>
                </a:extLst>
              </a:tr>
            </a:tbl>
          </a:graphicData>
        </a:graphic>
      </p:graphicFrame>
    </p:spTree>
    <p:extLst>
      <p:ext uri="{BB962C8B-B14F-4D97-AF65-F5344CB8AC3E}">
        <p14:creationId xmlns:p14="http://schemas.microsoft.com/office/powerpoint/2010/main" val="2904876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9ADA297-9656-8CCD-D46B-BE386AC144F2}"/>
              </a:ext>
            </a:extLst>
          </p:cNvPr>
          <p:cNvSpPr>
            <a:spLocks noGrp="1"/>
          </p:cNvSpPr>
          <p:nvPr>
            <p:ph type="title"/>
          </p:nvPr>
        </p:nvSpPr>
        <p:spPr>
          <a:xfrm>
            <a:off x="334497" y="268589"/>
            <a:ext cx="2620793" cy="1872564"/>
          </a:xfrm>
        </p:spPr>
        <p:txBody>
          <a:bodyPr/>
          <a:lstStyle/>
          <a:p>
            <a:r>
              <a:rPr lang="en-GB" sz="2800"/>
              <a:t>Azure Migrate and Modernise Partner Lead - Assess</a:t>
            </a:r>
          </a:p>
        </p:txBody>
      </p:sp>
      <p:sp>
        <p:nvSpPr>
          <p:cNvPr id="5" name="Slide Number Placeholder 4">
            <a:extLst>
              <a:ext uri="{FF2B5EF4-FFF2-40B4-BE49-F238E27FC236}">
                <a16:creationId xmlns:a16="http://schemas.microsoft.com/office/drawing/2014/main" id="{1576DB4D-AE85-1925-20A4-BFD45FFE6ADC}"/>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3</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
        <p:nvSpPr>
          <p:cNvPr id="14" name="Text Placeholder 13">
            <a:extLst>
              <a:ext uri="{FF2B5EF4-FFF2-40B4-BE49-F238E27FC236}">
                <a16:creationId xmlns:a16="http://schemas.microsoft.com/office/drawing/2014/main" id="{DD424583-7C07-D2D7-CBCA-F6B530718762}"/>
              </a:ext>
            </a:extLst>
          </p:cNvPr>
          <p:cNvSpPr>
            <a:spLocks noGrp="1"/>
          </p:cNvSpPr>
          <p:nvPr>
            <p:ph type="body" sz="quarter" idx="12"/>
          </p:nvPr>
        </p:nvSpPr>
        <p:spPr>
          <a:xfrm>
            <a:off x="3238500" y="310896"/>
            <a:ext cx="8580120" cy="4237057"/>
          </a:xfrm>
        </p:spPr>
        <p:txBody>
          <a:bodyPr/>
          <a:lstStyle/>
          <a:p>
            <a:r>
              <a:rPr lang="en-GB"/>
              <a:t>In time of writing Microsoft offer both field and partner lead opportunities. </a:t>
            </a:r>
          </a:p>
          <a:p>
            <a:r>
              <a:rPr lang="en-GB"/>
              <a:t>Partner Lead Assess projects only receive a small amount of funding (5k) if they choose for the partner to do the assessment (Partner Lead). There are ‘t-shirt sizing’ engagements </a:t>
            </a:r>
          </a:p>
          <a:p>
            <a:r>
              <a:rPr lang="en-GB"/>
              <a:t>Microsoft offer as part of Azure Assess &amp; Plan Phase (Field Lead) 30k in partner funding to work with Microsoft and allow them to carry out the assessment with </a:t>
            </a:r>
            <a:r>
              <a:rPr lang="en-GB" err="1"/>
              <a:t>Dr.Migrate</a:t>
            </a:r>
            <a:r>
              <a:rPr lang="en-GB"/>
              <a:t> with some assistance from the partner (mainly carrying out the Cloud Adoption Framework, Landing Zone design) – this may be our opportunity to do a mini scoping and profiling session with the customer to get complexity scorings, to give us rough estimates on how long it’ll take to migrate each application. </a:t>
            </a:r>
          </a:p>
          <a:p>
            <a:endParaRPr lang="en-GB"/>
          </a:p>
          <a:p>
            <a:r>
              <a:rPr lang="en-GB"/>
              <a:t>This guide is aimed at if RXT perform the assessment and have no help from Microsoft (aka NOT Solution Assessment Route). </a:t>
            </a:r>
          </a:p>
        </p:txBody>
      </p:sp>
    </p:spTree>
    <p:extLst>
      <p:ext uri="{BB962C8B-B14F-4D97-AF65-F5344CB8AC3E}">
        <p14:creationId xmlns:p14="http://schemas.microsoft.com/office/powerpoint/2010/main" val="4268815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AC2484-61D3-4CFC-AB23-3B59D31427F4}"/>
              </a:ext>
            </a:extLst>
          </p:cNvPr>
          <p:cNvSpPr>
            <a:spLocks noGrp="1"/>
          </p:cNvSpPr>
          <p:nvPr>
            <p:ph type="title"/>
          </p:nvPr>
        </p:nvSpPr>
        <p:spPr>
          <a:xfrm>
            <a:off x="334496" y="268589"/>
            <a:ext cx="11495554" cy="498919"/>
          </a:xfrm>
        </p:spPr>
        <p:txBody>
          <a:bodyPr/>
          <a:lstStyle/>
          <a:p>
            <a:r>
              <a:rPr lang="en-GB"/>
              <a:t>Azure AMM Assess</a:t>
            </a:r>
          </a:p>
        </p:txBody>
      </p:sp>
      <p:grpSp>
        <p:nvGrpSpPr>
          <p:cNvPr id="44" name="Group 43">
            <a:extLst>
              <a:ext uri="{FF2B5EF4-FFF2-40B4-BE49-F238E27FC236}">
                <a16:creationId xmlns:a16="http://schemas.microsoft.com/office/drawing/2014/main" id="{B76AC3E9-3FD6-4AF9-B7CA-8210C30A4D04}"/>
              </a:ext>
            </a:extLst>
          </p:cNvPr>
          <p:cNvGrpSpPr/>
          <p:nvPr/>
        </p:nvGrpSpPr>
        <p:grpSpPr>
          <a:xfrm>
            <a:off x="290952" y="1550398"/>
            <a:ext cx="11628904" cy="4562404"/>
            <a:chOff x="540347" y="2537101"/>
            <a:chExt cx="11111306" cy="3740282"/>
          </a:xfrm>
        </p:grpSpPr>
        <p:grpSp>
          <p:nvGrpSpPr>
            <p:cNvPr id="45" name="Group 44">
              <a:extLst>
                <a:ext uri="{FF2B5EF4-FFF2-40B4-BE49-F238E27FC236}">
                  <a16:creationId xmlns:a16="http://schemas.microsoft.com/office/drawing/2014/main" id="{D898078A-1CFF-42C9-9837-9C96059F7695}"/>
                </a:ext>
              </a:extLst>
            </p:cNvPr>
            <p:cNvGrpSpPr/>
            <p:nvPr/>
          </p:nvGrpSpPr>
          <p:grpSpPr>
            <a:xfrm>
              <a:off x="540347" y="2537101"/>
              <a:ext cx="11111306" cy="3740282"/>
              <a:chOff x="553732" y="6475197"/>
              <a:chExt cx="11111306" cy="3740282"/>
            </a:xfrm>
          </p:grpSpPr>
          <p:grpSp>
            <p:nvGrpSpPr>
              <p:cNvPr id="47" name="Group 46">
                <a:extLst>
                  <a:ext uri="{FF2B5EF4-FFF2-40B4-BE49-F238E27FC236}">
                    <a16:creationId xmlns:a16="http://schemas.microsoft.com/office/drawing/2014/main" id="{2B5C5D38-95B9-41B4-8049-1F42118E5E6B}"/>
                  </a:ext>
                </a:extLst>
              </p:cNvPr>
              <p:cNvGrpSpPr/>
              <p:nvPr/>
            </p:nvGrpSpPr>
            <p:grpSpPr>
              <a:xfrm>
                <a:off x="553732" y="6475197"/>
                <a:ext cx="11111306" cy="3735431"/>
                <a:chOff x="482601" y="2587901"/>
                <a:chExt cx="11111306" cy="3735431"/>
              </a:xfrm>
            </p:grpSpPr>
            <p:sp>
              <p:nvSpPr>
                <p:cNvPr id="49" name="Rectangle 48">
                  <a:extLst>
                    <a:ext uri="{FF2B5EF4-FFF2-40B4-BE49-F238E27FC236}">
                      <a16:creationId xmlns:a16="http://schemas.microsoft.com/office/drawing/2014/main" id="{EC1D5230-9036-40B1-A830-F8AE585CF326}"/>
                    </a:ext>
                  </a:extLst>
                </p:cNvPr>
                <p:cNvSpPr/>
                <p:nvPr/>
              </p:nvSpPr>
              <p:spPr>
                <a:xfrm>
                  <a:off x="482601" y="2587901"/>
                  <a:ext cx="11111306" cy="3735431"/>
                </a:xfrm>
                <a:prstGeom prst="rect">
                  <a:avLst/>
                </a:prstGeom>
                <a:solidFill>
                  <a:srgbClr val="FFFFFF"/>
                </a:solidFill>
                <a:ln w="12700" cap="flat">
                  <a:noFill/>
                  <a:miter lim="400000"/>
                </a:ln>
                <a:effectLst>
                  <a:outerShdw blurRad="190500" dist="1905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rmAutofit/>
                </a:bodyPr>
                <a:lstStyle/>
                <a:p>
                  <a:pPr marL="0" marR="0" lvl="0" indent="0" algn="l" defTabSz="825500" rtl="0" eaLnBrk="1" fontAlgn="auto" latinLnBrk="0" hangingPunct="1">
                    <a:lnSpc>
                      <a:spcPct val="100000"/>
                    </a:lnSpc>
                    <a:spcBef>
                      <a:spcPts val="600"/>
                    </a:spcBef>
                    <a:spcAft>
                      <a:spcPts val="0"/>
                    </a:spcAft>
                    <a:buClrTx/>
                    <a:buSzTx/>
                    <a:buFontTx/>
                    <a:buNone/>
                    <a:tabLst/>
                    <a:defRPr/>
                  </a:pPr>
                  <a:endParaRPr kumimoji="0" lang="en-GB" sz="1600" b="0" i="0" u="none" strike="noStrike" kern="1200" cap="none" spc="0" normalizeH="0" baseline="0" noProof="0">
                    <a:ln>
                      <a:noFill/>
                    </a:ln>
                    <a:solidFill>
                      <a:srgbClr val="FFFFFF"/>
                    </a:solidFill>
                    <a:effectLst/>
                    <a:uLnTx/>
                    <a:uFillTx/>
                    <a:latin typeface="Arial"/>
                    <a:ea typeface="+mn-ea"/>
                    <a:cs typeface="+mn-cs"/>
                  </a:endParaRPr>
                </a:p>
              </p:txBody>
            </p:sp>
            <p:sp>
              <p:nvSpPr>
                <p:cNvPr id="50" name="TextBox 49">
                  <a:extLst>
                    <a:ext uri="{FF2B5EF4-FFF2-40B4-BE49-F238E27FC236}">
                      <a16:creationId xmlns:a16="http://schemas.microsoft.com/office/drawing/2014/main" id="{76EBBF92-2406-4C92-A9F5-8B0A03594F93}"/>
                    </a:ext>
                  </a:extLst>
                </p:cNvPr>
                <p:cNvSpPr txBox="1"/>
                <p:nvPr/>
              </p:nvSpPr>
              <p:spPr>
                <a:xfrm>
                  <a:off x="772931" y="2967244"/>
                  <a:ext cx="10510575" cy="4462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lvl="0" indent="0" algn="ctr" defTabSz="825500" rtl="0" eaLnBrk="1" fontAlgn="auto" latinLnBrk="0" hangingPunct="1">
                    <a:lnSpc>
                      <a:spcPct val="100000"/>
                    </a:lnSpc>
                    <a:spcBef>
                      <a:spcPts val="600"/>
                    </a:spcBef>
                    <a:spcAft>
                      <a:spcPts val="0"/>
                    </a:spcAft>
                    <a:buClrTx/>
                    <a:buSzTx/>
                    <a:buFontTx/>
                    <a:buNone/>
                    <a:tabLst/>
                    <a:defRPr/>
                  </a:pPr>
                  <a:r>
                    <a:rPr kumimoji="0" lang="en-GB" sz="2400" b="1" i="0" u="none" strike="noStrike" kern="1200" cap="none" spc="0" normalizeH="0" baseline="0" noProof="0">
                      <a:ln>
                        <a:noFill/>
                      </a:ln>
                      <a:solidFill>
                        <a:prstClr val="black"/>
                      </a:solidFill>
                      <a:effectLst/>
                      <a:uLnTx/>
                      <a:uFillTx/>
                      <a:latin typeface="Arial"/>
                      <a:ea typeface="+mn-ea"/>
                      <a:cs typeface="+mn-cs"/>
                    </a:rPr>
                    <a:t>Why Do We Assess?</a:t>
                  </a:r>
                </a:p>
              </p:txBody>
            </p:sp>
          </p:grpSp>
          <p:sp>
            <p:nvSpPr>
              <p:cNvPr id="48" name="TextBox 47">
                <a:extLst>
                  <a:ext uri="{FF2B5EF4-FFF2-40B4-BE49-F238E27FC236}">
                    <a16:creationId xmlns:a16="http://schemas.microsoft.com/office/drawing/2014/main" id="{80F9AF0B-5517-4411-912B-8C996BF086FF}"/>
                  </a:ext>
                </a:extLst>
              </p:cNvPr>
              <p:cNvSpPr txBox="1"/>
              <p:nvPr/>
            </p:nvSpPr>
            <p:spPr>
              <a:xfrm>
                <a:off x="844062" y="7523259"/>
                <a:ext cx="10510575" cy="2692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285750" marR="0" lvl="0" indent="-285750" algn="l" defTabSz="825500" rtl="0" eaLnBrk="1" fontAlgn="auto" latinLnBrk="0" hangingPunct="0">
                  <a:lnSpc>
                    <a:spcPct val="90000"/>
                  </a:lnSpc>
                  <a:spcBef>
                    <a:spcPts val="6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EB0000">
                        <a:lumMod val="10000"/>
                      </a:srgbClr>
                    </a:solidFill>
                    <a:effectLst/>
                    <a:uLnTx/>
                    <a:uFillTx/>
                    <a:latin typeface="Arial"/>
                    <a:ea typeface="+mn-ea"/>
                    <a:cs typeface="+mn-cs"/>
                  </a:rPr>
                  <a:t>To discover</a:t>
                </a:r>
                <a:r>
                  <a:rPr kumimoji="0" lang="en-GB" sz="1600" b="0" i="0" u="none" strike="noStrike" kern="1200" cap="none" spc="0" normalizeH="0" baseline="0" noProof="0">
                    <a:ln>
                      <a:noFill/>
                    </a:ln>
                    <a:solidFill>
                      <a:srgbClr val="EB0000">
                        <a:lumMod val="10000"/>
                      </a:srgbClr>
                    </a:solidFill>
                    <a:effectLst/>
                    <a:uLnTx/>
                    <a:uFillTx/>
                    <a:latin typeface="Arial"/>
                    <a:ea typeface="+mn-ea"/>
                    <a:cs typeface="+mn-cs"/>
                    <a:sym typeface="Arial"/>
                  </a:rPr>
                  <a:t> the value and </a:t>
                </a:r>
                <a:r>
                  <a:rPr kumimoji="0" lang="en-GB" sz="1600" b="0" i="0" u="none" strike="noStrike" kern="1200" cap="none" spc="0" normalizeH="0" baseline="0" noProof="0">
                    <a:ln>
                      <a:noFill/>
                    </a:ln>
                    <a:solidFill>
                      <a:srgbClr val="EB0000">
                        <a:lumMod val="10000"/>
                      </a:srgbClr>
                    </a:solidFill>
                    <a:effectLst/>
                    <a:uLnTx/>
                    <a:uFillTx/>
                    <a:latin typeface="Arial"/>
                    <a:ea typeface="+mn-ea"/>
                    <a:cs typeface="+mn-cs"/>
                  </a:rPr>
                  <a:t>usage of the applications for the day-to-day business functions.</a:t>
                </a:r>
              </a:p>
              <a:p>
                <a:pPr marL="285750" marR="0" lvl="0" indent="-285750" algn="l" defTabSz="825500" rtl="0" eaLnBrk="1" fontAlgn="auto" latinLnBrk="0" hangingPunct="0">
                  <a:lnSpc>
                    <a:spcPct val="90000"/>
                  </a:lnSpc>
                  <a:spcBef>
                    <a:spcPts val="600"/>
                  </a:spcBef>
                  <a:spcAft>
                    <a:spcPts val="0"/>
                  </a:spcAft>
                  <a:buClrTx/>
                  <a:buSzTx/>
                  <a:buFont typeface="Arial" panose="020B0604020202020204" pitchFamily="34" charset="0"/>
                  <a:buChar char="•"/>
                  <a:tabLst/>
                  <a:defRPr/>
                </a:pPr>
                <a:endParaRPr kumimoji="0" lang="en-GB" sz="1600" b="0" i="0" u="none" strike="noStrike" kern="1200" cap="none" spc="0" normalizeH="0" baseline="0" noProof="0">
                  <a:ln>
                    <a:noFill/>
                  </a:ln>
                  <a:solidFill>
                    <a:srgbClr val="EB0000">
                      <a:lumMod val="10000"/>
                    </a:srgbClr>
                  </a:solidFill>
                  <a:effectLst/>
                  <a:uLnTx/>
                  <a:uFillTx/>
                  <a:latin typeface="Arial"/>
                  <a:ea typeface="+mn-ea"/>
                  <a:cs typeface="+mn-cs"/>
                  <a:sym typeface="Arial"/>
                </a:endParaRPr>
              </a:p>
              <a:p>
                <a:pPr marL="285750" marR="0" lvl="0" indent="-285750" algn="l" defTabSz="825500" rtl="0" eaLnBrk="1" fontAlgn="auto" latinLnBrk="0" hangingPunct="0">
                  <a:lnSpc>
                    <a:spcPct val="90000"/>
                  </a:lnSpc>
                  <a:spcBef>
                    <a:spcPts val="6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EB0000">
                        <a:lumMod val="10000"/>
                      </a:srgbClr>
                    </a:solidFill>
                    <a:effectLst/>
                    <a:uLnTx/>
                    <a:uFillTx/>
                    <a:latin typeface="Arial"/>
                    <a:ea typeface="+mn-ea"/>
                    <a:cs typeface="+mn-cs"/>
                  </a:rPr>
                  <a:t>To understand the application components, current infrastructure and the wider ecosystem.</a:t>
                </a:r>
                <a:endParaRPr kumimoji="0" lang="en-GB" sz="1600" b="0" i="0" u="none" strike="noStrike" kern="1200" cap="none" spc="0" normalizeH="0" baseline="0" noProof="0">
                  <a:ln>
                    <a:noFill/>
                  </a:ln>
                  <a:solidFill>
                    <a:srgbClr val="EB0000">
                      <a:lumMod val="10000"/>
                    </a:srgbClr>
                  </a:solidFill>
                  <a:effectLst/>
                  <a:uLnTx/>
                  <a:uFillTx/>
                  <a:latin typeface="Arial"/>
                  <a:ea typeface="+mn-ea"/>
                  <a:cs typeface="+mn-cs"/>
                  <a:sym typeface="Arial"/>
                </a:endParaRPr>
              </a:p>
              <a:p>
                <a:pPr marL="285750" marR="0" lvl="0" indent="-285750" algn="l" defTabSz="825500" rtl="0" eaLnBrk="1" fontAlgn="auto" latinLnBrk="0" hangingPunct="0">
                  <a:lnSpc>
                    <a:spcPct val="90000"/>
                  </a:lnSpc>
                  <a:spcBef>
                    <a:spcPts val="600"/>
                  </a:spcBef>
                  <a:spcAft>
                    <a:spcPts val="0"/>
                  </a:spcAft>
                  <a:buClrTx/>
                  <a:buSzTx/>
                  <a:buFont typeface="Arial" panose="020B0604020202020204" pitchFamily="34" charset="0"/>
                  <a:buChar char="•"/>
                  <a:tabLst/>
                  <a:defRPr/>
                </a:pPr>
                <a:endParaRPr kumimoji="0" lang="en-GB" sz="1600" b="0" i="0" u="none" strike="noStrike" kern="1200" cap="none" spc="0" normalizeH="0" baseline="0" noProof="0">
                  <a:ln>
                    <a:noFill/>
                  </a:ln>
                  <a:solidFill>
                    <a:srgbClr val="EB0000">
                      <a:lumMod val="10000"/>
                    </a:srgbClr>
                  </a:solidFill>
                  <a:effectLst/>
                  <a:uLnTx/>
                  <a:uFillTx/>
                  <a:latin typeface="Arial"/>
                  <a:ea typeface="+mn-ea"/>
                  <a:cs typeface="+mn-cs"/>
                </a:endParaRPr>
              </a:p>
              <a:p>
                <a:pPr marL="285750" marR="0" lvl="0" indent="-285750" algn="l" defTabSz="825500" rtl="0" eaLnBrk="1" fontAlgn="auto" latinLnBrk="0" hangingPunct="0">
                  <a:lnSpc>
                    <a:spcPct val="90000"/>
                  </a:lnSpc>
                  <a:spcBef>
                    <a:spcPts val="6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EB0000">
                        <a:lumMod val="10000"/>
                      </a:srgbClr>
                    </a:solidFill>
                    <a:effectLst/>
                    <a:uLnTx/>
                    <a:uFillTx/>
                    <a:latin typeface="Arial"/>
                    <a:ea typeface="+mn-ea"/>
                    <a:cs typeface="+mn-cs"/>
                    <a:sym typeface="Arial"/>
                  </a:rPr>
                  <a:t>To determine an appropriate indicative migration approach per application.</a:t>
                </a:r>
              </a:p>
              <a:p>
                <a:pPr marL="285750" marR="0" lvl="0" indent="-285750" algn="l" defTabSz="825500" rtl="0" eaLnBrk="1" fontAlgn="auto" latinLnBrk="0" hangingPunct="0">
                  <a:lnSpc>
                    <a:spcPct val="90000"/>
                  </a:lnSpc>
                  <a:spcBef>
                    <a:spcPts val="600"/>
                  </a:spcBef>
                  <a:spcAft>
                    <a:spcPts val="0"/>
                  </a:spcAft>
                  <a:buClrTx/>
                  <a:buSzTx/>
                  <a:buFont typeface="Arial" panose="020B0604020202020204" pitchFamily="34" charset="0"/>
                  <a:buChar char="•"/>
                  <a:tabLst/>
                  <a:defRPr/>
                </a:pPr>
                <a:endParaRPr kumimoji="0" lang="en-GB" sz="1600" b="0" i="0" u="none" strike="noStrike" kern="1200" cap="none" spc="0" normalizeH="0" baseline="0" noProof="0">
                  <a:ln>
                    <a:noFill/>
                  </a:ln>
                  <a:solidFill>
                    <a:srgbClr val="EB0000">
                      <a:lumMod val="10000"/>
                    </a:srgbClr>
                  </a:solidFill>
                  <a:effectLst/>
                  <a:uLnTx/>
                  <a:uFillTx/>
                  <a:latin typeface="Arial"/>
                  <a:ea typeface="+mn-ea"/>
                  <a:cs typeface="+mn-cs"/>
                  <a:sym typeface="Arial"/>
                </a:endParaRPr>
              </a:p>
              <a:p>
                <a:pPr marL="285750" marR="0" lvl="0" indent="-285750" algn="l" defTabSz="825500" rtl="0" eaLnBrk="1" fontAlgn="auto" latinLnBrk="0" hangingPunct="0">
                  <a:lnSpc>
                    <a:spcPct val="90000"/>
                  </a:lnSpc>
                  <a:spcBef>
                    <a:spcPts val="6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EB0000">
                        <a:lumMod val="10000"/>
                      </a:srgbClr>
                    </a:solidFill>
                    <a:effectLst/>
                    <a:uLnTx/>
                    <a:uFillTx/>
                    <a:latin typeface="Arial"/>
                    <a:ea typeface="+mn-ea"/>
                    <a:cs typeface="+mn-cs"/>
                    <a:sym typeface="Arial"/>
                  </a:rPr>
                  <a:t>Understand the business readiness to migrate into cloud and identify what resources will need to be bolstered.</a:t>
                </a:r>
              </a:p>
              <a:p>
                <a:pPr marL="285750" marR="0" lvl="0" indent="-285750" algn="l" defTabSz="825500" rtl="0" eaLnBrk="1" fontAlgn="auto" latinLnBrk="0" hangingPunct="0">
                  <a:lnSpc>
                    <a:spcPct val="90000"/>
                  </a:lnSpc>
                  <a:spcBef>
                    <a:spcPts val="600"/>
                  </a:spcBef>
                  <a:spcAft>
                    <a:spcPts val="0"/>
                  </a:spcAft>
                  <a:buClrTx/>
                  <a:buSzTx/>
                  <a:buFont typeface="Arial" panose="020B0604020202020204" pitchFamily="34" charset="0"/>
                  <a:buChar char="•"/>
                  <a:tabLst/>
                  <a:defRPr/>
                </a:pPr>
                <a:endParaRPr kumimoji="0" lang="en-GB" sz="1600" b="0" i="0" u="none" strike="noStrike" kern="1200" cap="none" spc="0" normalizeH="0" baseline="0" noProof="0">
                  <a:ln>
                    <a:noFill/>
                  </a:ln>
                  <a:solidFill>
                    <a:srgbClr val="EB0000">
                      <a:lumMod val="10000"/>
                    </a:srgbClr>
                  </a:solidFill>
                  <a:effectLst/>
                  <a:uLnTx/>
                  <a:uFillTx/>
                  <a:latin typeface="Arial"/>
                  <a:ea typeface="+mn-ea"/>
                  <a:cs typeface="+mn-cs"/>
                  <a:sym typeface="Arial"/>
                </a:endParaRPr>
              </a:p>
              <a:p>
                <a:pPr marL="285750" marR="0" lvl="0" indent="-285750" algn="l" defTabSz="825500" rtl="0" eaLnBrk="1" fontAlgn="auto" latinLnBrk="0" hangingPunct="0">
                  <a:lnSpc>
                    <a:spcPct val="90000"/>
                  </a:lnSpc>
                  <a:spcBef>
                    <a:spcPts val="6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EB0000">
                        <a:lumMod val="10000"/>
                      </a:srgbClr>
                    </a:solidFill>
                    <a:effectLst/>
                    <a:uLnTx/>
                    <a:uFillTx/>
                    <a:latin typeface="Arial"/>
                    <a:ea typeface="+mn-ea"/>
                    <a:cs typeface="+mn-cs"/>
                    <a:sym typeface="Arial"/>
                  </a:rPr>
                  <a:t>To show the benefit of migrating into cloud, both technological and financial. </a:t>
                </a:r>
              </a:p>
              <a:p>
                <a:pPr marL="285750" marR="0" lvl="0" indent="-285750" algn="l" defTabSz="825500" rtl="0" eaLnBrk="1" fontAlgn="auto" latinLnBrk="0" hangingPunct="0">
                  <a:lnSpc>
                    <a:spcPct val="90000"/>
                  </a:lnSpc>
                  <a:spcBef>
                    <a:spcPts val="600"/>
                  </a:spcBef>
                  <a:spcAft>
                    <a:spcPts val="0"/>
                  </a:spcAft>
                  <a:buClrTx/>
                  <a:buSzTx/>
                  <a:buFont typeface="Arial" panose="020B0604020202020204" pitchFamily="34" charset="0"/>
                  <a:buChar char="•"/>
                  <a:tabLst/>
                  <a:defRPr/>
                </a:pPr>
                <a:endParaRPr kumimoji="0" lang="en-GB" sz="1600" b="0" i="0" u="none" strike="noStrike" kern="1200" cap="none" spc="0" normalizeH="0" baseline="0" noProof="0">
                  <a:ln>
                    <a:noFill/>
                  </a:ln>
                  <a:solidFill>
                    <a:srgbClr val="EB0000">
                      <a:lumMod val="10000"/>
                    </a:srgbClr>
                  </a:solidFill>
                  <a:effectLst/>
                  <a:uLnTx/>
                  <a:uFillTx/>
                  <a:latin typeface="Arial"/>
                  <a:ea typeface="+mn-ea"/>
                  <a:cs typeface="+mn-cs"/>
                  <a:sym typeface="Arial"/>
                </a:endParaRPr>
              </a:p>
              <a:p>
                <a:pPr marL="285750" marR="0" lvl="0" indent="-285750" algn="l" defTabSz="825500" rtl="0" eaLnBrk="1" fontAlgn="auto" latinLnBrk="0" hangingPunct="0">
                  <a:lnSpc>
                    <a:spcPct val="90000"/>
                  </a:lnSpc>
                  <a:spcBef>
                    <a:spcPts val="600"/>
                  </a:spcBef>
                  <a:spcAft>
                    <a:spcPts val="0"/>
                  </a:spcAft>
                  <a:buClrTx/>
                  <a:buSzTx/>
                  <a:buFont typeface="Arial" panose="020B0604020202020204" pitchFamily="34" charset="0"/>
                  <a:buChar char="•"/>
                  <a:tabLst/>
                  <a:defRPr/>
                </a:pPr>
                <a:endParaRPr kumimoji="0" lang="en-GB" sz="1600" b="0" i="0" u="none" strike="noStrike" kern="1200" cap="none" spc="0" normalizeH="0" baseline="0" noProof="0">
                  <a:ln>
                    <a:noFill/>
                  </a:ln>
                  <a:solidFill>
                    <a:srgbClr val="EB0000">
                      <a:lumMod val="10000"/>
                    </a:srgbClr>
                  </a:solidFill>
                  <a:effectLst/>
                  <a:uLnTx/>
                  <a:uFillTx/>
                  <a:latin typeface="Arial"/>
                  <a:ea typeface="+mn-ea"/>
                  <a:cs typeface="+mn-cs"/>
                  <a:sym typeface="Arial"/>
                </a:endParaRPr>
              </a:p>
            </p:txBody>
          </p:sp>
        </p:grpSp>
        <p:sp>
          <p:nvSpPr>
            <p:cNvPr id="46" name="Rectangle 45">
              <a:extLst>
                <a:ext uri="{FF2B5EF4-FFF2-40B4-BE49-F238E27FC236}">
                  <a16:creationId xmlns:a16="http://schemas.microsoft.com/office/drawing/2014/main" id="{E859928B-8115-4492-A3A2-DA7ACC4070F6}"/>
                </a:ext>
              </a:extLst>
            </p:cNvPr>
            <p:cNvSpPr/>
            <p:nvPr/>
          </p:nvSpPr>
          <p:spPr>
            <a:xfrm>
              <a:off x="625079" y="2610966"/>
              <a:ext cx="10941842" cy="3587700"/>
            </a:xfrm>
            <a:prstGeom prst="rect">
              <a:avLst/>
            </a:prstGeom>
            <a:noFill/>
            <a:ln w="19050" cap="flat">
              <a:solidFill>
                <a:srgbClr val="2E3C49"/>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rmAutofit/>
            </a:bodyPr>
            <a:lstStyle/>
            <a:p>
              <a:pPr marL="0" marR="0" lvl="0" indent="0" algn="l" defTabSz="1828800" rtl="0" eaLnBrk="1" fontAlgn="auto" latinLnBrk="0" hangingPunct="0">
                <a:lnSpc>
                  <a:spcPct val="93000"/>
                </a:lnSpc>
                <a:spcBef>
                  <a:spcPts val="2200"/>
                </a:spcBef>
                <a:spcAft>
                  <a:spcPts val="0"/>
                </a:spcAft>
                <a:buClrTx/>
                <a:buSzTx/>
                <a:buFontTx/>
                <a:buNone/>
                <a:tabLst/>
                <a:defRPr/>
              </a:pPr>
              <a:endParaRPr kumimoji="0" lang="en-GB" sz="2400" b="0" i="0" u="none" strike="noStrike" kern="1200" cap="none" spc="0" normalizeH="0" baseline="0" noProof="0">
                <a:ln>
                  <a:noFill/>
                </a:ln>
                <a:solidFill>
                  <a:srgbClr val="111111"/>
                </a:solidFill>
                <a:effectLst/>
                <a:uLnTx/>
                <a:uFillTx/>
                <a:latin typeface="Arial"/>
                <a:ea typeface="+mn-ea"/>
                <a:cs typeface="+mn-cs"/>
                <a:sym typeface="Arial"/>
              </a:endParaRPr>
            </a:p>
          </p:txBody>
        </p:sp>
      </p:grpSp>
    </p:spTree>
    <p:extLst>
      <p:ext uri="{BB962C8B-B14F-4D97-AF65-F5344CB8AC3E}">
        <p14:creationId xmlns:p14="http://schemas.microsoft.com/office/powerpoint/2010/main" val="2978077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A0150D-1458-9022-7AFC-7666917BFB76}"/>
              </a:ext>
            </a:extLst>
          </p:cNvPr>
          <p:cNvSpPr>
            <a:spLocks noGrp="1"/>
          </p:cNvSpPr>
          <p:nvPr>
            <p:ph type="body" sz="quarter" idx="12"/>
          </p:nvPr>
        </p:nvSpPr>
        <p:spPr>
          <a:xfrm>
            <a:off x="3194956" y="422173"/>
            <a:ext cx="8580120" cy="6258123"/>
          </a:xfrm>
        </p:spPr>
        <p:txBody>
          <a:bodyPr/>
          <a:lstStyle/>
          <a:p>
            <a:pPr marL="0" indent="0">
              <a:buNone/>
            </a:pPr>
            <a:r>
              <a:rPr lang="en-GB"/>
              <a:t>The goal of this delivery guide is to help better understand how the process of Azure Migrate and Modernize will run and what will need to be achieved by the end of the engagement. </a:t>
            </a:r>
          </a:p>
          <a:p>
            <a:pPr marL="0" indent="0">
              <a:buNone/>
            </a:pPr>
            <a:endParaRPr lang="en-GB"/>
          </a:p>
          <a:p>
            <a:pPr marL="0" indent="0">
              <a:buNone/>
            </a:pPr>
            <a:r>
              <a:rPr lang="en-GB"/>
              <a:t>The Azure Migrate and Modernize programme is from Azure which aims to accelerate migrations into their public cloud platform for various companies.</a:t>
            </a:r>
          </a:p>
          <a:p>
            <a:pPr marL="0" indent="0">
              <a:buNone/>
            </a:pPr>
            <a:endParaRPr lang="en-GB"/>
          </a:p>
          <a:p>
            <a:pPr marL="0" indent="0">
              <a:buNone/>
            </a:pPr>
            <a:r>
              <a:rPr lang="en-GB"/>
              <a:t>There are incentives for customers to go through the programme, such as paying Rackspace to carry the work out for them with little or no cost to the customer. It’s best to ensure to keep to up to date with the current benefits customer can utilise, as during the writing of this documentation there was a recent change to this (which could happen again). Engagements may be ‘rapid’ assessments which could be more infra focused with some insight into first mover apps that can be decided with the customer via workshops. </a:t>
            </a:r>
          </a:p>
          <a:p>
            <a:pPr marL="0" indent="0">
              <a:buNone/>
            </a:pPr>
            <a:endParaRPr lang="en-GB"/>
          </a:p>
          <a:p>
            <a:pPr marL="0" indent="0">
              <a:buNone/>
            </a:pPr>
            <a:r>
              <a:rPr lang="en-GB"/>
              <a:t>The following slides are an overview of the programme, the various assessments you may face and a general timeline of a assess project. The below link is further details on partner vs field led opportunities.</a:t>
            </a:r>
          </a:p>
          <a:p>
            <a:pPr marL="0" indent="0">
              <a:buNone/>
            </a:pPr>
            <a:endParaRPr lang="en-GB"/>
          </a:p>
          <a:p>
            <a:pPr marL="0" indent="0">
              <a:buNone/>
            </a:pPr>
            <a:r>
              <a:rPr lang="en-GB">
                <a:hlinkClick r:id="rId2"/>
              </a:rPr>
              <a:t>Azure Migrate and Modernize &amp; Azure Innovate Partner-Led Collection of assets </a:t>
            </a:r>
            <a:endParaRPr lang="en-GB"/>
          </a:p>
        </p:txBody>
      </p:sp>
      <p:sp>
        <p:nvSpPr>
          <p:cNvPr id="4" name="Title 3">
            <a:extLst>
              <a:ext uri="{FF2B5EF4-FFF2-40B4-BE49-F238E27FC236}">
                <a16:creationId xmlns:a16="http://schemas.microsoft.com/office/drawing/2014/main" id="{69E33631-D873-0182-C36F-BA4E203A3C53}"/>
              </a:ext>
            </a:extLst>
          </p:cNvPr>
          <p:cNvSpPr>
            <a:spLocks noGrp="1"/>
          </p:cNvSpPr>
          <p:nvPr>
            <p:ph type="title"/>
          </p:nvPr>
        </p:nvSpPr>
        <p:spPr>
          <a:xfrm>
            <a:off x="237393" y="268589"/>
            <a:ext cx="2700016" cy="1398588"/>
          </a:xfrm>
        </p:spPr>
        <p:txBody>
          <a:bodyPr/>
          <a:lstStyle/>
          <a:p>
            <a:r>
              <a:rPr lang="en-GB" sz="2800"/>
              <a:t>Welcome to Azure Migrate and Modernize </a:t>
            </a:r>
          </a:p>
        </p:txBody>
      </p:sp>
      <p:sp>
        <p:nvSpPr>
          <p:cNvPr id="5" name="Slide Number Placeholder 4">
            <a:extLst>
              <a:ext uri="{FF2B5EF4-FFF2-40B4-BE49-F238E27FC236}">
                <a16:creationId xmlns:a16="http://schemas.microsoft.com/office/drawing/2014/main" id="{7751E08B-33A7-6D7C-2CD5-D1747D1F3775}"/>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5</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340948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0FAFC98-5CC7-A7F2-DDEA-185D594469F7}"/>
              </a:ext>
            </a:extLst>
          </p:cNvPr>
          <p:cNvSpPr>
            <a:spLocks noGrp="1"/>
          </p:cNvSpPr>
          <p:nvPr>
            <p:ph type="body" sz="quarter" idx="13"/>
          </p:nvPr>
        </p:nvSpPr>
        <p:spPr>
          <a:xfrm>
            <a:off x="344487" y="1843749"/>
            <a:ext cx="2608263" cy="1754326"/>
          </a:xfrm>
        </p:spPr>
        <p:txBody>
          <a:bodyPr/>
          <a:lstStyle/>
          <a:p>
            <a:r>
              <a:rPr lang="en-GB"/>
              <a:t>There are various assessment routes that a customer can go down, this is a breakdown of each of those routes. </a:t>
            </a:r>
          </a:p>
        </p:txBody>
      </p:sp>
      <p:sp>
        <p:nvSpPr>
          <p:cNvPr id="4" name="Title 3">
            <a:extLst>
              <a:ext uri="{FF2B5EF4-FFF2-40B4-BE49-F238E27FC236}">
                <a16:creationId xmlns:a16="http://schemas.microsoft.com/office/drawing/2014/main" id="{D2E1D2D7-D872-FC18-129A-3C736FE767A3}"/>
              </a:ext>
            </a:extLst>
          </p:cNvPr>
          <p:cNvSpPr>
            <a:spLocks noGrp="1"/>
          </p:cNvSpPr>
          <p:nvPr>
            <p:ph type="title"/>
          </p:nvPr>
        </p:nvSpPr>
        <p:spPr>
          <a:xfrm>
            <a:off x="334497" y="268589"/>
            <a:ext cx="2620793" cy="1023678"/>
          </a:xfrm>
        </p:spPr>
        <p:txBody>
          <a:bodyPr/>
          <a:lstStyle/>
          <a:p>
            <a:r>
              <a:rPr lang="en-GB"/>
              <a:t>Assessment Routes </a:t>
            </a:r>
          </a:p>
        </p:txBody>
      </p:sp>
      <p:sp>
        <p:nvSpPr>
          <p:cNvPr id="5" name="Slide Number Placeholder 4">
            <a:extLst>
              <a:ext uri="{FF2B5EF4-FFF2-40B4-BE49-F238E27FC236}">
                <a16:creationId xmlns:a16="http://schemas.microsoft.com/office/drawing/2014/main" id="{E3A40F58-23F7-06C0-C2BE-561C11BF5480}"/>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6</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grpSp>
        <p:nvGrpSpPr>
          <p:cNvPr id="6" name="Group 5">
            <a:extLst>
              <a:ext uri="{FF2B5EF4-FFF2-40B4-BE49-F238E27FC236}">
                <a16:creationId xmlns:a16="http://schemas.microsoft.com/office/drawing/2014/main" id="{51C15B42-9D6A-3ECF-60DF-CA12A91B187C}"/>
              </a:ext>
            </a:extLst>
          </p:cNvPr>
          <p:cNvGrpSpPr>
            <a:grpSpLocks noChangeAspect="1"/>
          </p:cNvGrpSpPr>
          <p:nvPr/>
        </p:nvGrpSpPr>
        <p:grpSpPr>
          <a:xfrm>
            <a:off x="6334554" y="268589"/>
            <a:ext cx="582227" cy="582227"/>
            <a:chOff x="2728748" y="510378"/>
            <a:chExt cx="788068" cy="788068"/>
          </a:xfrm>
        </p:grpSpPr>
        <p:sp>
          <p:nvSpPr>
            <p:cNvPr id="7" name="Freeform 55">
              <a:extLst>
                <a:ext uri="{FF2B5EF4-FFF2-40B4-BE49-F238E27FC236}">
                  <a16:creationId xmlns:a16="http://schemas.microsoft.com/office/drawing/2014/main" id="{FC543CD7-65DD-487E-F9B8-F0F2FAFAAB7B}"/>
                </a:ext>
              </a:extLst>
            </p:cNvPr>
            <p:cNvSpPr>
              <a:spLocks noChangeArrowheads="1"/>
            </p:cNvSpPr>
            <p:nvPr/>
          </p:nvSpPr>
          <p:spPr bwMode="auto">
            <a:xfrm>
              <a:off x="2728748" y="510378"/>
              <a:ext cx="788068" cy="788068"/>
            </a:xfrm>
            <a:custGeom>
              <a:avLst/>
              <a:gdLst>
                <a:gd name="T0" fmla="*/ 1467 w 1751"/>
                <a:gd name="T1" fmla="*/ 1750 h 1751"/>
                <a:gd name="T2" fmla="*/ 1750 w 1751"/>
                <a:gd name="T3" fmla="*/ 1467 h 1751"/>
                <a:gd name="T4" fmla="*/ 1750 w 1751"/>
                <a:gd name="T5" fmla="*/ 282 h 1751"/>
                <a:gd name="T6" fmla="*/ 1467 w 1751"/>
                <a:gd name="T7" fmla="*/ 0 h 1751"/>
                <a:gd name="T8" fmla="*/ 282 w 1751"/>
                <a:gd name="T9" fmla="*/ 0 h 1751"/>
                <a:gd name="T10" fmla="*/ 0 w 1751"/>
                <a:gd name="T11" fmla="*/ 282 h 1751"/>
                <a:gd name="T12" fmla="*/ 0 w 1751"/>
                <a:gd name="T13" fmla="*/ 1467 h 1751"/>
                <a:gd name="T14" fmla="*/ 282 w 1751"/>
                <a:gd name="T15" fmla="*/ 1750 h 1751"/>
                <a:gd name="T16" fmla="*/ 1467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7" y="1750"/>
                  </a:moveTo>
                  <a:cubicBezTo>
                    <a:pt x="1623" y="1750"/>
                    <a:pt x="1750" y="1623"/>
                    <a:pt x="1750" y="1467"/>
                  </a:cubicBezTo>
                  <a:cubicBezTo>
                    <a:pt x="1750" y="1072"/>
                    <a:pt x="1750" y="677"/>
                    <a:pt x="1750" y="282"/>
                  </a:cubicBezTo>
                  <a:cubicBezTo>
                    <a:pt x="1750" y="127"/>
                    <a:pt x="1623" y="0"/>
                    <a:pt x="1467" y="0"/>
                  </a:cubicBezTo>
                  <a:cubicBezTo>
                    <a:pt x="1072" y="0"/>
                    <a:pt x="677" y="0"/>
                    <a:pt x="282" y="0"/>
                  </a:cubicBezTo>
                  <a:cubicBezTo>
                    <a:pt x="127" y="0"/>
                    <a:pt x="0" y="127"/>
                    <a:pt x="0" y="282"/>
                  </a:cubicBezTo>
                  <a:cubicBezTo>
                    <a:pt x="0" y="677"/>
                    <a:pt x="0" y="1072"/>
                    <a:pt x="0" y="1467"/>
                  </a:cubicBezTo>
                  <a:cubicBezTo>
                    <a:pt x="0" y="1623"/>
                    <a:pt x="127" y="1750"/>
                    <a:pt x="282" y="1750"/>
                  </a:cubicBezTo>
                  <a:cubicBezTo>
                    <a:pt x="677" y="1750"/>
                    <a:pt x="1072" y="1750"/>
                    <a:pt x="1467" y="1750"/>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nvGrpSpPr>
            <p:cNvPr id="8" name="Group 7">
              <a:extLst>
                <a:ext uri="{FF2B5EF4-FFF2-40B4-BE49-F238E27FC236}">
                  <a16:creationId xmlns:a16="http://schemas.microsoft.com/office/drawing/2014/main" id="{976D174C-51E9-D862-9555-B068E000B461}"/>
                </a:ext>
              </a:extLst>
            </p:cNvPr>
            <p:cNvGrpSpPr/>
            <p:nvPr/>
          </p:nvGrpSpPr>
          <p:grpSpPr>
            <a:xfrm>
              <a:off x="2937179" y="603676"/>
              <a:ext cx="327534" cy="601471"/>
              <a:chOff x="2961883" y="626367"/>
              <a:chExt cx="324971" cy="596765"/>
            </a:xfrm>
          </p:grpSpPr>
          <p:sp>
            <p:nvSpPr>
              <p:cNvPr id="9" name="Freeform 56">
                <a:extLst>
                  <a:ext uri="{FF2B5EF4-FFF2-40B4-BE49-F238E27FC236}">
                    <a16:creationId xmlns:a16="http://schemas.microsoft.com/office/drawing/2014/main" id="{4E477B00-57F4-183F-9D76-64091DEC66F7}"/>
                  </a:ext>
                </a:extLst>
              </p:cNvPr>
              <p:cNvSpPr>
                <a:spLocks noChangeArrowheads="1"/>
              </p:cNvSpPr>
              <p:nvPr/>
            </p:nvSpPr>
            <p:spPr bwMode="auto">
              <a:xfrm>
                <a:off x="3101719" y="648031"/>
                <a:ext cx="88629" cy="88629"/>
              </a:xfrm>
              <a:custGeom>
                <a:avLst/>
                <a:gdLst>
                  <a:gd name="T0" fmla="*/ 198 w 199"/>
                  <a:gd name="T1" fmla="*/ 98 h 198"/>
                  <a:gd name="T2" fmla="*/ 185 w 199"/>
                  <a:gd name="T3" fmla="*/ 148 h 198"/>
                  <a:gd name="T4" fmla="*/ 148 w 199"/>
                  <a:gd name="T5" fmla="*/ 184 h 198"/>
                  <a:gd name="T6" fmla="*/ 99 w 199"/>
                  <a:gd name="T7" fmla="*/ 197 h 198"/>
                  <a:gd name="T8" fmla="*/ 50 w 199"/>
                  <a:gd name="T9" fmla="*/ 184 h 198"/>
                  <a:gd name="T10" fmla="*/ 13 w 199"/>
                  <a:gd name="T11" fmla="*/ 148 h 198"/>
                  <a:gd name="T12" fmla="*/ 0 w 199"/>
                  <a:gd name="T13" fmla="*/ 98 h 198"/>
                  <a:gd name="T14" fmla="*/ 13 w 199"/>
                  <a:gd name="T15" fmla="*/ 49 h 198"/>
                  <a:gd name="T16" fmla="*/ 50 w 199"/>
                  <a:gd name="T17" fmla="*/ 13 h 198"/>
                  <a:gd name="T18" fmla="*/ 99 w 199"/>
                  <a:gd name="T19" fmla="*/ 0 h 198"/>
                  <a:gd name="T20" fmla="*/ 148 w 199"/>
                  <a:gd name="T21" fmla="*/ 13 h 198"/>
                  <a:gd name="T22" fmla="*/ 185 w 199"/>
                  <a:gd name="T23" fmla="*/ 49 h 198"/>
                  <a:gd name="T24" fmla="*/ 198 w 199"/>
                  <a:gd name="T25" fmla="*/ 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9" h="198">
                    <a:moveTo>
                      <a:pt x="198" y="98"/>
                    </a:moveTo>
                    <a:cubicBezTo>
                      <a:pt x="198" y="117"/>
                      <a:pt x="194" y="132"/>
                      <a:pt x="185" y="148"/>
                    </a:cubicBezTo>
                    <a:cubicBezTo>
                      <a:pt x="175" y="164"/>
                      <a:pt x="163" y="175"/>
                      <a:pt x="148" y="184"/>
                    </a:cubicBezTo>
                    <a:cubicBezTo>
                      <a:pt x="132" y="193"/>
                      <a:pt x="117" y="197"/>
                      <a:pt x="99" y="197"/>
                    </a:cubicBezTo>
                    <a:cubicBezTo>
                      <a:pt x="81" y="197"/>
                      <a:pt x="65" y="193"/>
                      <a:pt x="50" y="184"/>
                    </a:cubicBezTo>
                    <a:cubicBezTo>
                      <a:pt x="34" y="175"/>
                      <a:pt x="22" y="164"/>
                      <a:pt x="13" y="148"/>
                    </a:cubicBezTo>
                    <a:cubicBezTo>
                      <a:pt x="3" y="132"/>
                      <a:pt x="0" y="116"/>
                      <a:pt x="0" y="98"/>
                    </a:cubicBezTo>
                    <a:cubicBezTo>
                      <a:pt x="0" y="79"/>
                      <a:pt x="3" y="65"/>
                      <a:pt x="13" y="49"/>
                    </a:cubicBezTo>
                    <a:cubicBezTo>
                      <a:pt x="22" y="33"/>
                      <a:pt x="34" y="22"/>
                      <a:pt x="50" y="13"/>
                    </a:cubicBezTo>
                    <a:cubicBezTo>
                      <a:pt x="65" y="4"/>
                      <a:pt x="81" y="0"/>
                      <a:pt x="99" y="0"/>
                    </a:cubicBezTo>
                    <a:cubicBezTo>
                      <a:pt x="117" y="0"/>
                      <a:pt x="132" y="4"/>
                      <a:pt x="148" y="13"/>
                    </a:cubicBezTo>
                    <a:cubicBezTo>
                      <a:pt x="163" y="22"/>
                      <a:pt x="175" y="33"/>
                      <a:pt x="185" y="49"/>
                    </a:cubicBezTo>
                    <a:cubicBezTo>
                      <a:pt x="194" y="65"/>
                      <a:pt x="198" y="80"/>
                      <a:pt x="198" y="98"/>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 name="Freeform 57">
                <a:extLst>
                  <a:ext uri="{FF2B5EF4-FFF2-40B4-BE49-F238E27FC236}">
                    <a16:creationId xmlns:a16="http://schemas.microsoft.com/office/drawing/2014/main" id="{BE0D06C0-A94F-1E9A-8083-B33950D2CC20}"/>
                  </a:ext>
                </a:extLst>
              </p:cNvPr>
              <p:cNvSpPr>
                <a:spLocks noChangeArrowheads="1"/>
              </p:cNvSpPr>
              <p:nvPr/>
            </p:nvSpPr>
            <p:spPr bwMode="auto">
              <a:xfrm>
                <a:off x="2961883" y="626367"/>
                <a:ext cx="324971" cy="596765"/>
              </a:xfrm>
              <a:custGeom>
                <a:avLst/>
                <a:gdLst>
                  <a:gd name="T0" fmla="*/ 272 w 726"/>
                  <a:gd name="T1" fmla="*/ 1284 h 1335"/>
                  <a:gd name="T2" fmla="*/ 321 w 726"/>
                  <a:gd name="T3" fmla="*/ 1334 h 1335"/>
                  <a:gd name="T4" fmla="*/ 371 w 726"/>
                  <a:gd name="T5" fmla="*/ 1284 h 1335"/>
                  <a:gd name="T6" fmla="*/ 371 w 726"/>
                  <a:gd name="T7" fmla="*/ 865 h 1335"/>
                  <a:gd name="T8" fmla="*/ 412 w 726"/>
                  <a:gd name="T9" fmla="*/ 823 h 1335"/>
                  <a:gd name="T10" fmla="*/ 453 w 726"/>
                  <a:gd name="T11" fmla="*/ 865 h 1335"/>
                  <a:gd name="T12" fmla="*/ 453 w 726"/>
                  <a:gd name="T13" fmla="*/ 1284 h 1335"/>
                  <a:gd name="T14" fmla="*/ 503 w 726"/>
                  <a:gd name="T15" fmla="*/ 1334 h 1335"/>
                  <a:gd name="T16" fmla="*/ 552 w 726"/>
                  <a:gd name="T17" fmla="*/ 1284 h 1335"/>
                  <a:gd name="T18" fmla="*/ 552 w 726"/>
                  <a:gd name="T19" fmla="*/ 489 h 1335"/>
                  <a:gd name="T20" fmla="*/ 555 w 726"/>
                  <a:gd name="T21" fmla="*/ 484 h 1335"/>
                  <a:gd name="T22" fmla="*/ 561 w 726"/>
                  <a:gd name="T23" fmla="*/ 485 h 1335"/>
                  <a:gd name="T24" fmla="*/ 626 w 726"/>
                  <a:gd name="T25" fmla="*/ 642 h 1335"/>
                  <a:gd name="T26" fmla="*/ 626 w 726"/>
                  <a:gd name="T27" fmla="*/ 766 h 1335"/>
                  <a:gd name="T28" fmla="*/ 675 w 726"/>
                  <a:gd name="T29" fmla="*/ 815 h 1335"/>
                  <a:gd name="T30" fmla="*/ 725 w 726"/>
                  <a:gd name="T31" fmla="*/ 766 h 1335"/>
                  <a:gd name="T32" fmla="*/ 725 w 726"/>
                  <a:gd name="T33" fmla="*/ 634 h 1335"/>
                  <a:gd name="T34" fmla="*/ 412 w 726"/>
                  <a:gd name="T35" fmla="*/ 321 h 1335"/>
                  <a:gd name="T36" fmla="*/ 297 w 726"/>
                  <a:gd name="T37" fmla="*/ 321 h 1335"/>
                  <a:gd name="T38" fmla="*/ 99 w 726"/>
                  <a:gd name="T39" fmla="*/ 123 h 1335"/>
                  <a:gd name="T40" fmla="*/ 99 w 726"/>
                  <a:gd name="T41" fmla="*/ 49 h 1335"/>
                  <a:gd name="T42" fmla="*/ 50 w 726"/>
                  <a:gd name="T43" fmla="*/ 0 h 1335"/>
                  <a:gd name="T44" fmla="*/ 0 w 726"/>
                  <a:gd name="T45" fmla="*/ 49 h 1335"/>
                  <a:gd name="T46" fmla="*/ 0 w 726"/>
                  <a:gd name="T47" fmla="*/ 123 h 1335"/>
                  <a:gd name="T48" fmla="*/ 255 w 726"/>
                  <a:gd name="T49" fmla="*/ 417 h 1335"/>
                  <a:gd name="T50" fmla="*/ 262 w 726"/>
                  <a:gd name="T51" fmla="*/ 418 h 1335"/>
                  <a:gd name="T52" fmla="*/ 272 w 726"/>
                  <a:gd name="T53" fmla="*/ 430 h 1335"/>
                  <a:gd name="T54" fmla="*/ 272 w 726"/>
                  <a:gd name="T55" fmla="*/ 1284 h 1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6" h="1335">
                    <a:moveTo>
                      <a:pt x="272" y="1284"/>
                    </a:moveTo>
                    <a:cubicBezTo>
                      <a:pt x="272" y="1312"/>
                      <a:pt x="293" y="1334"/>
                      <a:pt x="321" y="1334"/>
                    </a:cubicBezTo>
                    <a:cubicBezTo>
                      <a:pt x="348" y="1334"/>
                      <a:pt x="371" y="1312"/>
                      <a:pt x="371" y="1284"/>
                    </a:cubicBezTo>
                    <a:cubicBezTo>
                      <a:pt x="371" y="1144"/>
                      <a:pt x="371" y="1005"/>
                      <a:pt x="371" y="865"/>
                    </a:cubicBezTo>
                    <a:cubicBezTo>
                      <a:pt x="371" y="842"/>
                      <a:pt x="389" y="823"/>
                      <a:pt x="412" y="823"/>
                    </a:cubicBezTo>
                    <a:cubicBezTo>
                      <a:pt x="435" y="823"/>
                      <a:pt x="453" y="842"/>
                      <a:pt x="453" y="865"/>
                    </a:cubicBezTo>
                    <a:cubicBezTo>
                      <a:pt x="453" y="1005"/>
                      <a:pt x="453" y="1144"/>
                      <a:pt x="453" y="1284"/>
                    </a:cubicBezTo>
                    <a:cubicBezTo>
                      <a:pt x="453" y="1312"/>
                      <a:pt x="475" y="1334"/>
                      <a:pt x="503" y="1334"/>
                    </a:cubicBezTo>
                    <a:cubicBezTo>
                      <a:pt x="530" y="1334"/>
                      <a:pt x="552" y="1312"/>
                      <a:pt x="552" y="1284"/>
                    </a:cubicBezTo>
                    <a:cubicBezTo>
                      <a:pt x="552" y="1019"/>
                      <a:pt x="552" y="754"/>
                      <a:pt x="552" y="489"/>
                    </a:cubicBezTo>
                    <a:cubicBezTo>
                      <a:pt x="552" y="487"/>
                      <a:pt x="553" y="485"/>
                      <a:pt x="555" y="484"/>
                    </a:cubicBezTo>
                    <a:cubicBezTo>
                      <a:pt x="557" y="483"/>
                      <a:pt x="559" y="484"/>
                      <a:pt x="561" y="485"/>
                    </a:cubicBezTo>
                    <a:cubicBezTo>
                      <a:pt x="602" y="527"/>
                      <a:pt x="626" y="583"/>
                      <a:pt x="626" y="642"/>
                    </a:cubicBezTo>
                    <a:cubicBezTo>
                      <a:pt x="626" y="683"/>
                      <a:pt x="626" y="725"/>
                      <a:pt x="626" y="766"/>
                    </a:cubicBezTo>
                    <a:cubicBezTo>
                      <a:pt x="626" y="793"/>
                      <a:pt x="647" y="815"/>
                      <a:pt x="675" y="815"/>
                    </a:cubicBezTo>
                    <a:cubicBezTo>
                      <a:pt x="702" y="815"/>
                      <a:pt x="725" y="793"/>
                      <a:pt x="725" y="766"/>
                    </a:cubicBezTo>
                    <a:cubicBezTo>
                      <a:pt x="725" y="722"/>
                      <a:pt x="725" y="678"/>
                      <a:pt x="725" y="634"/>
                    </a:cubicBezTo>
                    <a:cubicBezTo>
                      <a:pt x="725" y="462"/>
                      <a:pt x="584" y="321"/>
                      <a:pt x="412" y="321"/>
                    </a:cubicBezTo>
                    <a:cubicBezTo>
                      <a:pt x="373" y="321"/>
                      <a:pt x="335" y="321"/>
                      <a:pt x="297" y="321"/>
                    </a:cubicBezTo>
                    <a:cubicBezTo>
                      <a:pt x="188" y="321"/>
                      <a:pt x="99" y="232"/>
                      <a:pt x="99" y="123"/>
                    </a:cubicBezTo>
                    <a:cubicBezTo>
                      <a:pt x="99" y="98"/>
                      <a:pt x="99" y="74"/>
                      <a:pt x="99" y="49"/>
                    </a:cubicBezTo>
                    <a:cubicBezTo>
                      <a:pt x="99" y="22"/>
                      <a:pt x="77" y="0"/>
                      <a:pt x="50" y="0"/>
                    </a:cubicBezTo>
                    <a:cubicBezTo>
                      <a:pt x="23" y="0"/>
                      <a:pt x="0" y="22"/>
                      <a:pt x="0" y="49"/>
                    </a:cubicBezTo>
                    <a:cubicBezTo>
                      <a:pt x="0" y="74"/>
                      <a:pt x="0" y="98"/>
                      <a:pt x="0" y="123"/>
                    </a:cubicBezTo>
                    <a:cubicBezTo>
                      <a:pt x="0" y="273"/>
                      <a:pt x="111" y="396"/>
                      <a:pt x="255" y="417"/>
                    </a:cubicBezTo>
                    <a:cubicBezTo>
                      <a:pt x="257" y="417"/>
                      <a:pt x="259" y="418"/>
                      <a:pt x="262" y="418"/>
                    </a:cubicBezTo>
                    <a:cubicBezTo>
                      <a:pt x="268" y="418"/>
                      <a:pt x="272" y="424"/>
                      <a:pt x="272" y="430"/>
                    </a:cubicBezTo>
                    <a:cubicBezTo>
                      <a:pt x="272" y="715"/>
                      <a:pt x="272" y="999"/>
                      <a:pt x="272" y="1284"/>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grpSp>
      <p:sp>
        <p:nvSpPr>
          <p:cNvPr id="11" name="TextBox 10">
            <a:extLst>
              <a:ext uri="{FF2B5EF4-FFF2-40B4-BE49-F238E27FC236}">
                <a16:creationId xmlns:a16="http://schemas.microsoft.com/office/drawing/2014/main" id="{5805FAAC-81F1-7222-094F-4ADAAFA029DF}"/>
              </a:ext>
            </a:extLst>
          </p:cNvPr>
          <p:cNvSpPr txBox="1"/>
          <p:nvPr/>
        </p:nvSpPr>
        <p:spPr>
          <a:xfrm>
            <a:off x="6884515" y="249311"/>
            <a:ext cx="3409908" cy="646331"/>
          </a:xfrm>
          <a:prstGeom prst="rect">
            <a:avLst/>
          </a:prstGeom>
          <a:noFill/>
        </p:spPr>
        <p:txBody>
          <a:bodyPr wrap="non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Customer wants to move to cloud </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and requires an assessment, customer’s cloud</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of choice is Microsoft Azure. </a:t>
            </a:r>
          </a:p>
        </p:txBody>
      </p:sp>
      <p:grpSp>
        <p:nvGrpSpPr>
          <p:cNvPr id="12" name="Group 11">
            <a:extLst>
              <a:ext uri="{FF2B5EF4-FFF2-40B4-BE49-F238E27FC236}">
                <a16:creationId xmlns:a16="http://schemas.microsoft.com/office/drawing/2014/main" id="{98C509CE-B711-B23B-494E-6D0D3A29FCDD}"/>
              </a:ext>
            </a:extLst>
          </p:cNvPr>
          <p:cNvGrpSpPr>
            <a:grpSpLocks noChangeAspect="1"/>
          </p:cNvGrpSpPr>
          <p:nvPr/>
        </p:nvGrpSpPr>
        <p:grpSpPr>
          <a:xfrm>
            <a:off x="3905201" y="1706379"/>
            <a:ext cx="582228" cy="582229"/>
            <a:chOff x="3903663" y="3124200"/>
            <a:chExt cx="630237" cy="630238"/>
          </a:xfrm>
        </p:grpSpPr>
        <p:sp>
          <p:nvSpPr>
            <p:cNvPr id="13" name="Freeform 473">
              <a:extLst>
                <a:ext uri="{FF2B5EF4-FFF2-40B4-BE49-F238E27FC236}">
                  <a16:creationId xmlns:a16="http://schemas.microsoft.com/office/drawing/2014/main" id="{171E3BB4-E7B2-CBEC-F23C-1B64903A0489}"/>
                </a:ext>
              </a:extLst>
            </p:cNvPr>
            <p:cNvSpPr>
              <a:spLocks noChangeArrowheads="1"/>
            </p:cNvSpPr>
            <p:nvPr/>
          </p:nvSpPr>
          <p:spPr bwMode="auto">
            <a:xfrm>
              <a:off x="3903663" y="3124200"/>
              <a:ext cx="630237" cy="630238"/>
            </a:xfrm>
            <a:custGeom>
              <a:avLst/>
              <a:gdLst>
                <a:gd name="T0" fmla="*/ 1467 w 1750"/>
                <a:gd name="T1" fmla="*/ 1748 h 1749"/>
                <a:gd name="T2" fmla="*/ 1749 w 1750"/>
                <a:gd name="T3" fmla="*/ 1466 h 1749"/>
                <a:gd name="T4" fmla="*/ 1749 w 1750"/>
                <a:gd name="T5" fmla="*/ 282 h 1749"/>
                <a:gd name="T6" fmla="*/ 1467 w 1750"/>
                <a:gd name="T7" fmla="*/ 0 h 1749"/>
                <a:gd name="T8" fmla="*/ 282 w 1750"/>
                <a:gd name="T9" fmla="*/ 0 h 1749"/>
                <a:gd name="T10" fmla="*/ 0 w 1750"/>
                <a:gd name="T11" fmla="*/ 282 h 1749"/>
                <a:gd name="T12" fmla="*/ 0 w 1750"/>
                <a:gd name="T13" fmla="*/ 1466 h 1749"/>
                <a:gd name="T14" fmla="*/ 282 w 1750"/>
                <a:gd name="T15" fmla="*/ 1748 h 1749"/>
                <a:gd name="T16" fmla="*/ 1467 w 1750"/>
                <a:gd name="T17" fmla="*/ 1748 h 1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0" h="1749">
                  <a:moveTo>
                    <a:pt x="1467" y="1748"/>
                  </a:moveTo>
                  <a:cubicBezTo>
                    <a:pt x="1622" y="1748"/>
                    <a:pt x="1749" y="1621"/>
                    <a:pt x="1749" y="1466"/>
                  </a:cubicBezTo>
                  <a:cubicBezTo>
                    <a:pt x="1749" y="1071"/>
                    <a:pt x="1749" y="677"/>
                    <a:pt x="1749" y="282"/>
                  </a:cubicBezTo>
                  <a:cubicBezTo>
                    <a:pt x="1749" y="127"/>
                    <a:pt x="1622" y="0"/>
                    <a:pt x="1467" y="0"/>
                  </a:cubicBezTo>
                  <a:cubicBezTo>
                    <a:pt x="1072" y="0"/>
                    <a:pt x="677" y="0"/>
                    <a:pt x="282" y="0"/>
                  </a:cubicBezTo>
                  <a:cubicBezTo>
                    <a:pt x="127" y="0"/>
                    <a:pt x="0" y="127"/>
                    <a:pt x="0" y="282"/>
                  </a:cubicBezTo>
                  <a:cubicBezTo>
                    <a:pt x="0" y="677"/>
                    <a:pt x="0" y="1071"/>
                    <a:pt x="0" y="1466"/>
                  </a:cubicBezTo>
                  <a:cubicBezTo>
                    <a:pt x="0" y="1621"/>
                    <a:pt x="127" y="1748"/>
                    <a:pt x="282" y="1748"/>
                  </a:cubicBezTo>
                  <a:cubicBezTo>
                    <a:pt x="677" y="1748"/>
                    <a:pt x="1072" y="1748"/>
                    <a:pt x="1467" y="1748"/>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nvGrpSpPr>
            <p:cNvPr id="14" name="Group 13">
              <a:extLst>
                <a:ext uri="{FF2B5EF4-FFF2-40B4-BE49-F238E27FC236}">
                  <a16:creationId xmlns:a16="http://schemas.microsoft.com/office/drawing/2014/main" id="{AD753128-F91B-6C5C-2664-B72E92A0446C}"/>
                </a:ext>
              </a:extLst>
            </p:cNvPr>
            <p:cNvGrpSpPr/>
            <p:nvPr/>
          </p:nvGrpSpPr>
          <p:grpSpPr>
            <a:xfrm>
              <a:off x="4075113" y="3235325"/>
              <a:ext cx="285750" cy="385763"/>
              <a:chOff x="4075113" y="3235325"/>
              <a:chExt cx="285750" cy="385763"/>
            </a:xfrm>
          </p:grpSpPr>
          <p:sp>
            <p:nvSpPr>
              <p:cNvPr id="15" name="Freeform 474">
                <a:extLst>
                  <a:ext uri="{FF2B5EF4-FFF2-40B4-BE49-F238E27FC236}">
                    <a16:creationId xmlns:a16="http://schemas.microsoft.com/office/drawing/2014/main" id="{68A4AA30-9ABC-D8C2-B4FD-A9842BC5C715}"/>
                  </a:ext>
                </a:extLst>
              </p:cNvPr>
              <p:cNvSpPr>
                <a:spLocks noChangeArrowheads="1"/>
              </p:cNvSpPr>
              <p:nvPr/>
            </p:nvSpPr>
            <p:spPr bwMode="auto">
              <a:xfrm>
                <a:off x="4076700" y="3235325"/>
                <a:ext cx="282575" cy="142875"/>
              </a:xfrm>
              <a:custGeom>
                <a:avLst/>
                <a:gdLst>
                  <a:gd name="T0" fmla="*/ 470 w 786"/>
                  <a:gd name="T1" fmla="*/ 395 h 396"/>
                  <a:gd name="T2" fmla="*/ 463 w 786"/>
                  <a:gd name="T3" fmla="*/ 389 h 396"/>
                  <a:gd name="T4" fmla="*/ 392 w 786"/>
                  <a:gd name="T5" fmla="*/ 325 h 396"/>
                  <a:gd name="T6" fmla="*/ 322 w 786"/>
                  <a:gd name="T7" fmla="*/ 389 h 396"/>
                  <a:gd name="T8" fmla="*/ 315 w 786"/>
                  <a:gd name="T9" fmla="*/ 395 h 396"/>
                  <a:gd name="T10" fmla="*/ 59 w 786"/>
                  <a:gd name="T11" fmla="*/ 395 h 396"/>
                  <a:gd name="T12" fmla="*/ 15 w 786"/>
                  <a:gd name="T13" fmla="*/ 375 h 396"/>
                  <a:gd name="T14" fmla="*/ 3 w 786"/>
                  <a:gd name="T15" fmla="*/ 329 h 396"/>
                  <a:gd name="T16" fmla="*/ 392 w 786"/>
                  <a:gd name="T17" fmla="*/ 0 h 396"/>
                  <a:gd name="T18" fmla="*/ 782 w 786"/>
                  <a:gd name="T19" fmla="*/ 329 h 396"/>
                  <a:gd name="T20" fmla="*/ 770 w 786"/>
                  <a:gd name="T21" fmla="*/ 375 h 396"/>
                  <a:gd name="T22" fmla="*/ 726 w 786"/>
                  <a:gd name="T23" fmla="*/ 395 h 396"/>
                  <a:gd name="T24" fmla="*/ 470 w 786"/>
                  <a:gd name="T25" fmla="*/ 395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6" h="396">
                    <a:moveTo>
                      <a:pt x="470" y="395"/>
                    </a:moveTo>
                    <a:cubicBezTo>
                      <a:pt x="466" y="395"/>
                      <a:pt x="463" y="392"/>
                      <a:pt x="463" y="389"/>
                    </a:cubicBezTo>
                    <a:cubicBezTo>
                      <a:pt x="460" y="353"/>
                      <a:pt x="429" y="325"/>
                      <a:pt x="392" y="325"/>
                    </a:cubicBezTo>
                    <a:cubicBezTo>
                      <a:pt x="356" y="324"/>
                      <a:pt x="325" y="353"/>
                      <a:pt x="322" y="389"/>
                    </a:cubicBezTo>
                    <a:cubicBezTo>
                      <a:pt x="322" y="392"/>
                      <a:pt x="319" y="395"/>
                      <a:pt x="315" y="395"/>
                    </a:cubicBezTo>
                    <a:cubicBezTo>
                      <a:pt x="229" y="395"/>
                      <a:pt x="144" y="395"/>
                      <a:pt x="59" y="395"/>
                    </a:cubicBezTo>
                    <a:cubicBezTo>
                      <a:pt x="42" y="395"/>
                      <a:pt x="26" y="388"/>
                      <a:pt x="15" y="375"/>
                    </a:cubicBezTo>
                    <a:cubicBezTo>
                      <a:pt x="5" y="362"/>
                      <a:pt x="0" y="346"/>
                      <a:pt x="3" y="329"/>
                    </a:cubicBezTo>
                    <a:cubicBezTo>
                      <a:pt x="34" y="143"/>
                      <a:pt x="197" y="0"/>
                      <a:pt x="392" y="0"/>
                    </a:cubicBezTo>
                    <a:cubicBezTo>
                      <a:pt x="588" y="0"/>
                      <a:pt x="751" y="143"/>
                      <a:pt x="782" y="329"/>
                    </a:cubicBezTo>
                    <a:cubicBezTo>
                      <a:pt x="785" y="346"/>
                      <a:pt x="780" y="362"/>
                      <a:pt x="770" y="375"/>
                    </a:cubicBezTo>
                    <a:cubicBezTo>
                      <a:pt x="759" y="388"/>
                      <a:pt x="743" y="395"/>
                      <a:pt x="726" y="395"/>
                    </a:cubicBezTo>
                    <a:cubicBezTo>
                      <a:pt x="640" y="395"/>
                      <a:pt x="555" y="395"/>
                      <a:pt x="470" y="395"/>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6" name="Freeform 475">
                <a:extLst>
                  <a:ext uri="{FF2B5EF4-FFF2-40B4-BE49-F238E27FC236}">
                    <a16:creationId xmlns:a16="http://schemas.microsoft.com/office/drawing/2014/main" id="{567E93D9-DC5F-0F6C-A89D-8B8E4F96C981}"/>
                  </a:ext>
                </a:extLst>
              </p:cNvPr>
              <p:cNvSpPr>
                <a:spLocks noChangeArrowheads="1"/>
              </p:cNvSpPr>
              <p:nvPr/>
            </p:nvSpPr>
            <p:spPr bwMode="auto">
              <a:xfrm>
                <a:off x="4235450" y="3305175"/>
                <a:ext cx="53975" cy="53975"/>
              </a:xfrm>
              <a:custGeom>
                <a:avLst/>
                <a:gdLst>
                  <a:gd name="T0" fmla="*/ 150 w 151"/>
                  <a:gd name="T1" fmla="*/ 0 h 150"/>
                  <a:gd name="T2" fmla="*/ 0 w 151"/>
                  <a:gd name="T3" fmla="*/ 149 h 150"/>
                </a:gdLst>
                <a:ahLst/>
                <a:cxnLst>
                  <a:cxn ang="0">
                    <a:pos x="T0" y="T1"/>
                  </a:cxn>
                  <a:cxn ang="0">
                    <a:pos x="T2" y="T3"/>
                  </a:cxn>
                </a:cxnLst>
                <a:rect l="0" t="0" r="r" b="b"/>
                <a:pathLst>
                  <a:path w="151" h="150">
                    <a:moveTo>
                      <a:pt x="150" y="0"/>
                    </a:moveTo>
                    <a:cubicBezTo>
                      <a:pt x="100" y="49"/>
                      <a:pt x="50" y="99"/>
                      <a:pt x="0" y="149"/>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7" name="Freeform 476">
                <a:extLst>
                  <a:ext uri="{FF2B5EF4-FFF2-40B4-BE49-F238E27FC236}">
                    <a16:creationId xmlns:a16="http://schemas.microsoft.com/office/drawing/2014/main" id="{ECF4D692-B24D-FEBB-88D3-1E57B6FDF4EA}"/>
                  </a:ext>
                </a:extLst>
              </p:cNvPr>
              <p:cNvSpPr>
                <a:spLocks noChangeArrowheads="1"/>
              </p:cNvSpPr>
              <p:nvPr/>
            </p:nvSpPr>
            <p:spPr bwMode="auto">
              <a:xfrm>
                <a:off x="4195763" y="3575050"/>
                <a:ext cx="63500" cy="1588"/>
              </a:xfrm>
              <a:custGeom>
                <a:avLst/>
                <a:gdLst>
                  <a:gd name="T0" fmla="*/ 176 w 177"/>
                  <a:gd name="T1" fmla="*/ 0 h 1"/>
                  <a:gd name="T2" fmla="*/ 0 w 177"/>
                  <a:gd name="T3" fmla="*/ 0 h 1"/>
                </a:gdLst>
                <a:ahLst/>
                <a:cxnLst>
                  <a:cxn ang="0">
                    <a:pos x="T0" y="T1"/>
                  </a:cxn>
                  <a:cxn ang="0">
                    <a:pos x="T2" y="T3"/>
                  </a:cxn>
                </a:cxnLst>
                <a:rect l="0" t="0" r="r" b="b"/>
                <a:pathLst>
                  <a:path w="177" h="1">
                    <a:moveTo>
                      <a:pt x="176" y="0"/>
                    </a:moveTo>
                    <a:cubicBezTo>
                      <a:pt x="117" y="0"/>
                      <a:pt x="58"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8" name="Freeform 477">
                <a:extLst>
                  <a:ext uri="{FF2B5EF4-FFF2-40B4-BE49-F238E27FC236}">
                    <a16:creationId xmlns:a16="http://schemas.microsoft.com/office/drawing/2014/main" id="{5A264013-0332-66B4-74F0-AAA0F8AF3B45}"/>
                  </a:ext>
                </a:extLst>
              </p:cNvPr>
              <p:cNvSpPr>
                <a:spLocks noChangeArrowheads="1"/>
              </p:cNvSpPr>
              <p:nvPr/>
            </p:nvSpPr>
            <p:spPr bwMode="auto">
              <a:xfrm>
                <a:off x="4297363" y="3575050"/>
                <a:ext cx="23812" cy="1588"/>
              </a:xfrm>
              <a:custGeom>
                <a:avLst/>
                <a:gdLst>
                  <a:gd name="T0" fmla="*/ 63 w 64"/>
                  <a:gd name="T1" fmla="*/ 0 h 1"/>
                  <a:gd name="T2" fmla="*/ 0 w 64"/>
                  <a:gd name="T3" fmla="*/ 0 h 1"/>
                </a:gdLst>
                <a:ahLst/>
                <a:cxnLst>
                  <a:cxn ang="0">
                    <a:pos x="T0" y="T1"/>
                  </a:cxn>
                  <a:cxn ang="0">
                    <a:pos x="T2" y="T3"/>
                  </a:cxn>
                </a:cxnLst>
                <a:rect l="0" t="0" r="r" b="b"/>
                <a:pathLst>
                  <a:path w="64" h="1">
                    <a:moveTo>
                      <a:pt x="63" y="0"/>
                    </a:moveTo>
                    <a:cubicBezTo>
                      <a:pt x="42" y="0"/>
                      <a:pt x="21"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9" name="Freeform 478">
                <a:extLst>
                  <a:ext uri="{FF2B5EF4-FFF2-40B4-BE49-F238E27FC236}">
                    <a16:creationId xmlns:a16="http://schemas.microsoft.com/office/drawing/2014/main" id="{8C36C983-8AD3-669F-46A2-16BBEB0EE291}"/>
                  </a:ext>
                </a:extLst>
              </p:cNvPr>
              <p:cNvSpPr>
                <a:spLocks noChangeArrowheads="1"/>
              </p:cNvSpPr>
              <p:nvPr/>
            </p:nvSpPr>
            <p:spPr bwMode="auto">
              <a:xfrm>
                <a:off x="4075113" y="3529013"/>
                <a:ext cx="285750" cy="92075"/>
              </a:xfrm>
              <a:custGeom>
                <a:avLst/>
                <a:gdLst>
                  <a:gd name="T0" fmla="*/ 0 w 792"/>
                  <a:gd name="T1" fmla="*/ 198 h 255"/>
                  <a:gd name="T2" fmla="*/ 57 w 792"/>
                  <a:gd name="T3" fmla="*/ 254 h 255"/>
                  <a:gd name="T4" fmla="*/ 734 w 792"/>
                  <a:gd name="T5" fmla="*/ 254 h 255"/>
                  <a:gd name="T6" fmla="*/ 791 w 792"/>
                  <a:gd name="T7" fmla="*/ 198 h 255"/>
                  <a:gd name="T8" fmla="*/ 791 w 792"/>
                  <a:gd name="T9" fmla="*/ 57 h 255"/>
                  <a:gd name="T10" fmla="*/ 734 w 792"/>
                  <a:gd name="T11" fmla="*/ 0 h 255"/>
                  <a:gd name="T12" fmla="*/ 57 w 792"/>
                  <a:gd name="T13" fmla="*/ 0 h 255"/>
                  <a:gd name="T14" fmla="*/ 0 w 792"/>
                  <a:gd name="T15" fmla="*/ 57 h 255"/>
                  <a:gd name="T16" fmla="*/ 0 w 792"/>
                  <a:gd name="T17" fmla="*/ 19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2" h="255">
                    <a:moveTo>
                      <a:pt x="0" y="198"/>
                    </a:moveTo>
                    <a:cubicBezTo>
                      <a:pt x="0" y="229"/>
                      <a:pt x="26" y="254"/>
                      <a:pt x="57" y="254"/>
                    </a:cubicBezTo>
                    <a:cubicBezTo>
                      <a:pt x="282" y="254"/>
                      <a:pt x="508" y="254"/>
                      <a:pt x="734" y="254"/>
                    </a:cubicBezTo>
                    <a:cubicBezTo>
                      <a:pt x="765" y="254"/>
                      <a:pt x="791" y="229"/>
                      <a:pt x="791" y="198"/>
                    </a:cubicBezTo>
                    <a:cubicBezTo>
                      <a:pt x="791" y="151"/>
                      <a:pt x="791" y="104"/>
                      <a:pt x="791" y="57"/>
                    </a:cubicBezTo>
                    <a:cubicBezTo>
                      <a:pt x="791" y="26"/>
                      <a:pt x="765" y="0"/>
                      <a:pt x="734" y="0"/>
                    </a:cubicBezTo>
                    <a:cubicBezTo>
                      <a:pt x="508" y="0"/>
                      <a:pt x="282" y="0"/>
                      <a:pt x="57" y="0"/>
                    </a:cubicBezTo>
                    <a:cubicBezTo>
                      <a:pt x="26" y="0"/>
                      <a:pt x="0" y="26"/>
                      <a:pt x="0" y="57"/>
                    </a:cubicBezTo>
                    <a:cubicBezTo>
                      <a:pt x="0" y="104"/>
                      <a:pt x="0" y="151"/>
                      <a:pt x="0" y="198"/>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0" name="Freeform 479">
                <a:extLst>
                  <a:ext uri="{FF2B5EF4-FFF2-40B4-BE49-F238E27FC236}">
                    <a16:creationId xmlns:a16="http://schemas.microsoft.com/office/drawing/2014/main" id="{F910FFCA-CC8D-A197-5EE5-E3A3BC16B86A}"/>
                  </a:ext>
                </a:extLst>
              </p:cNvPr>
              <p:cNvSpPr>
                <a:spLocks noChangeArrowheads="1"/>
              </p:cNvSpPr>
              <p:nvPr/>
            </p:nvSpPr>
            <p:spPr bwMode="auto">
              <a:xfrm>
                <a:off x="4195763" y="3454400"/>
                <a:ext cx="63500" cy="1588"/>
              </a:xfrm>
              <a:custGeom>
                <a:avLst/>
                <a:gdLst>
                  <a:gd name="T0" fmla="*/ 176 w 177"/>
                  <a:gd name="T1" fmla="*/ 0 h 1"/>
                  <a:gd name="T2" fmla="*/ 0 w 177"/>
                  <a:gd name="T3" fmla="*/ 0 h 1"/>
                </a:gdLst>
                <a:ahLst/>
                <a:cxnLst>
                  <a:cxn ang="0">
                    <a:pos x="T0" y="T1"/>
                  </a:cxn>
                  <a:cxn ang="0">
                    <a:pos x="T2" y="T3"/>
                  </a:cxn>
                </a:cxnLst>
                <a:rect l="0" t="0" r="r" b="b"/>
                <a:pathLst>
                  <a:path w="177" h="1">
                    <a:moveTo>
                      <a:pt x="176" y="0"/>
                    </a:moveTo>
                    <a:cubicBezTo>
                      <a:pt x="117" y="0"/>
                      <a:pt x="58"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1" name="Freeform 480">
                <a:extLst>
                  <a:ext uri="{FF2B5EF4-FFF2-40B4-BE49-F238E27FC236}">
                    <a16:creationId xmlns:a16="http://schemas.microsoft.com/office/drawing/2014/main" id="{2B468F04-9B87-5218-D4BA-69C0A7DCFE8A}"/>
                  </a:ext>
                </a:extLst>
              </p:cNvPr>
              <p:cNvSpPr>
                <a:spLocks noChangeArrowheads="1"/>
              </p:cNvSpPr>
              <p:nvPr/>
            </p:nvSpPr>
            <p:spPr bwMode="auto">
              <a:xfrm>
                <a:off x="4297363" y="3454400"/>
                <a:ext cx="23812" cy="1588"/>
              </a:xfrm>
              <a:custGeom>
                <a:avLst/>
                <a:gdLst>
                  <a:gd name="T0" fmla="*/ 63 w 64"/>
                  <a:gd name="T1" fmla="*/ 0 h 1"/>
                  <a:gd name="T2" fmla="*/ 0 w 64"/>
                  <a:gd name="T3" fmla="*/ 0 h 1"/>
                </a:gdLst>
                <a:ahLst/>
                <a:cxnLst>
                  <a:cxn ang="0">
                    <a:pos x="T0" y="T1"/>
                  </a:cxn>
                  <a:cxn ang="0">
                    <a:pos x="T2" y="T3"/>
                  </a:cxn>
                </a:cxnLst>
                <a:rect l="0" t="0" r="r" b="b"/>
                <a:pathLst>
                  <a:path w="64" h="1">
                    <a:moveTo>
                      <a:pt x="63" y="0"/>
                    </a:moveTo>
                    <a:cubicBezTo>
                      <a:pt x="42" y="0"/>
                      <a:pt x="21"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2" name="Freeform 481">
                <a:extLst>
                  <a:ext uri="{FF2B5EF4-FFF2-40B4-BE49-F238E27FC236}">
                    <a16:creationId xmlns:a16="http://schemas.microsoft.com/office/drawing/2014/main" id="{E10285AC-6E07-945C-9B89-C32C7433CB1E}"/>
                  </a:ext>
                </a:extLst>
              </p:cNvPr>
              <p:cNvSpPr>
                <a:spLocks noChangeArrowheads="1"/>
              </p:cNvSpPr>
              <p:nvPr/>
            </p:nvSpPr>
            <p:spPr bwMode="auto">
              <a:xfrm>
                <a:off x="4075113" y="3408363"/>
                <a:ext cx="285750" cy="92075"/>
              </a:xfrm>
              <a:custGeom>
                <a:avLst/>
                <a:gdLst>
                  <a:gd name="T0" fmla="*/ 0 w 792"/>
                  <a:gd name="T1" fmla="*/ 196 h 254"/>
                  <a:gd name="T2" fmla="*/ 57 w 792"/>
                  <a:gd name="T3" fmla="*/ 253 h 254"/>
                  <a:gd name="T4" fmla="*/ 734 w 792"/>
                  <a:gd name="T5" fmla="*/ 253 h 254"/>
                  <a:gd name="T6" fmla="*/ 791 w 792"/>
                  <a:gd name="T7" fmla="*/ 196 h 254"/>
                  <a:gd name="T8" fmla="*/ 791 w 792"/>
                  <a:gd name="T9" fmla="*/ 56 h 254"/>
                  <a:gd name="T10" fmla="*/ 734 w 792"/>
                  <a:gd name="T11" fmla="*/ 0 h 254"/>
                  <a:gd name="T12" fmla="*/ 57 w 792"/>
                  <a:gd name="T13" fmla="*/ 0 h 254"/>
                  <a:gd name="T14" fmla="*/ 0 w 792"/>
                  <a:gd name="T15" fmla="*/ 56 h 254"/>
                  <a:gd name="T16" fmla="*/ 0 w 792"/>
                  <a:gd name="T17" fmla="*/ 196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2" h="254">
                    <a:moveTo>
                      <a:pt x="0" y="196"/>
                    </a:moveTo>
                    <a:cubicBezTo>
                      <a:pt x="0" y="227"/>
                      <a:pt x="26" y="253"/>
                      <a:pt x="57" y="253"/>
                    </a:cubicBezTo>
                    <a:cubicBezTo>
                      <a:pt x="282" y="253"/>
                      <a:pt x="508" y="253"/>
                      <a:pt x="734" y="253"/>
                    </a:cubicBezTo>
                    <a:cubicBezTo>
                      <a:pt x="765" y="253"/>
                      <a:pt x="791" y="227"/>
                      <a:pt x="791" y="196"/>
                    </a:cubicBezTo>
                    <a:cubicBezTo>
                      <a:pt x="791" y="150"/>
                      <a:pt x="791" y="103"/>
                      <a:pt x="791" y="56"/>
                    </a:cubicBezTo>
                    <a:cubicBezTo>
                      <a:pt x="791" y="25"/>
                      <a:pt x="765" y="0"/>
                      <a:pt x="734" y="0"/>
                    </a:cubicBezTo>
                    <a:cubicBezTo>
                      <a:pt x="508" y="0"/>
                      <a:pt x="282" y="0"/>
                      <a:pt x="57" y="0"/>
                    </a:cubicBezTo>
                    <a:cubicBezTo>
                      <a:pt x="26" y="0"/>
                      <a:pt x="0" y="25"/>
                      <a:pt x="0" y="56"/>
                    </a:cubicBezTo>
                    <a:cubicBezTo>
                      <a:pt x="0" y="103"/>
                      <a:pt x="0" y="150"/>
                      <a:pt x="0" y="19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grpSp>
      <p:sp>
        <p:nvSpPr>
          <p:cNvPr id="23" name="TextBox 22">
            <a:extLst>
              <a:ext uri="{FF2B5EF4-FFF2-40B4-BE49-F238E27FC236}">
                <a16:creationId xmlns:a16="http://schemas.microsoft.com/office/drawing/2014/main" id="{30F73783-F96A-66B7-3796-EA5F7C59275A}"/>
              </a:ext>
            </a:extLst>
          </p:cNvPr>
          <p:cNvSpPr txBox="1"/>
          <p:nvPr/>
        </p:nvSpPr>
        <p:spPr>
          <a:xfrm>
            <a:off x="3312629" y="2288608"/>
            <a:ext cx="1767372" cy="2585323"/>
          </a:xfrm>
          <a:prstGeom prst="rect">
            <a:avLst/>
          </a:prstGeom>
          <a:noFill/>
        </p:spPr>
        <p:txBody>
          <a:bodyPr wrap="square" rtlCol="0">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Fira Sans" panose="020B0503050000020004" pitchFamily="34" charset="0"/>
                <a:ea typeface="+mn-ea"/>
                <a:cs typeface="+mn-cs"/>
              </a:rPr>
              <a:t>Rapid Assessment </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Mainly focusing on infrastructure, </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identify first movers / up to 5 apps complexity assessed, rough TCO, MRA.</a:t>
            </a:r>
          </a:p>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Tools used: </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 Azure Migrate only (depending on how rapid of an assessment is required)</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Or </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 Dr. Migrate (which requires Azure Migrate also deployed) </a:t>
            </a:r>
          </a:p>
        </p:txBody>
      </p:sp>
      <p:grpSp>
        <p:nvGrpSpPr>
          <p:cNvPr id="24" name="Group 23">
            <a:extLst>
              <a:ext uri="{FF2B5EF4-FFF2-40B4-BE49-F238E27FC236}">
                <a16:creationId xmlns:a16="http://schemas.microsoft.com/office/drawing/2014/main" id="{23C8D95F-30E3-A6C7-A394-4C38E159BE77}"/>
              </a:ext>
            </a:extLst>
          </p:cNvPr>
          <p:cNvGrpSpPr>
            <a:grpSpLocks noChangeAspect="1"/>
          </p:cNvGrpSpPr>
          <p:nvPr/>
        </p:nvGrpSpPr>
        <p:grpSpPr>
          <a:xfrm>
            <a:off x="6129467" y="1706379"/>
            <a:ext cx="582228" cy="582229"/>
            <a:chOff x="1015206" y="5351463"/>
            <a:chExt cx="747712" cy="747713"/>
          </a:xfrm>
        </p:grpSpPr>
        <p:sp>
          <p:nvSpPr>
            <p:cNvPr id="25" name="Freeform 236">
              <a:extLst>
                <a:ext uri="{FF2B5EF4-FFF2-40B4-BE49-F238E27FC236}">
                  <a16:creationId xmlns:a16="http://schemas.microsoft.com/office/drawing/2014/main" id="{BB749058-2F67-8B82-6C8B-482E82AE4FAF}"/>
                </a:ext>
              </a:extLst>
            </p:cNvPr>
            <p:cNvSpPr>
              <a:spLocks noChangeArrowheads="1"/>
            </p:cNvSpPr>
            <p:nvPr/>
          </p:nvSpPr>
          <p:spPr bwMode="auto">
            <a:xfrm>
              <a:off x="1015206" y="5351463"/>
              <a:ext cx="747712" cy="747713"/>
            </a:xfrm>
            <a:custGeom>
              <a:avLst/>
              <a:gdLst>
                <a:gd name="T0" fmla="*/ 1743 w 2079"/>
                <a:gd name="T1" fmla="*/ 2078 h 2079"/>
                <a:gd name="T2" fmla="*/ 2078 w 2079"/>
                <a:gd name="T3" fmla="*/ 1743 h 2079"/>
                <a:gd name="T4" fmla="*/ 2078 w 2079"/>
                <a:gd name="T5" fmla="*/ 335 h 2079"/>
                <a:gd name="T6" fmla="*/ 1743 w 2079"/>
                <a:gd name="T7" fmla="*/ 0 h 2079"/>
                <a:gd name="T8" fmla="*/ 335 w 2079"/>
                <a:gd name="T9" fmla="*/ 0 h 2079"/>
                <a:gd name="T10" fmla="*/ 0 w 2079"/>
                <a:gd name="T11" fmla="*/ 335 h 2079"/>
                <a:gd name="T12" fmla="*/ 0 w 2079"/>
                <a:gd name="T13" fmla="*/ 1743 h 2079"/>
                <a:gd name="T14" fmla="*/ 335 w 2079"/>
                <a:gd name="T15" fmla="*/ 2078 h 2079"/>
                <a:gd name="T16" fmla="*/ 1743 w 2079"/>
                <a:gd name="T17" fmla="*/ 2078 h 20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79" h="2079">
                  <a:moveTo>
                    <a:pt x="1743" y="2078"/>
                  </a:moveTo>
                  <a:cubicBezTo>
                    <a:pt x="1927" y="2078"/>
                    <a:pt x="2078" y="1928"/>
                    <a:pt x="2078" y="1743"/>
                  </a:cubicBezTo>
                  <a:cubicBezTo>
                    <a:pt x="2078" y="1274"/>
                    <a:pt x="2078" y="804"/>
                    <a:pt x="2078" y="335"/>
                  </a:cubicBezTo>
                  <a:cubicBezTo>
                    <a:pt x="2078" y="151"/>
                    <a:pt x="1927" y="0"/>
                    <a:pt x="1743" y="0"/>
                  </a:cubicBezTo>
                  <a:cubicBezTo>
                    <a:pt x="1274" y="0"/>
                    <a:pt x="804" y="0"/>
                    <a:pt x="335" y="0"/>
                  </a:cubicBezTo>
                  <a:cubicBezTo>
                    <a:pt x="151" y="0"/>
                    <a:pt x="0" y="151"/>
                    <a:pt x="0" y="335"/>
                  </a:cubicBezTo>
                  <a:cubicBezTo>
                    <a:pt x="0" y="804"/>
                    <a:pt x="0" y="1274"/>
                    <a:pt x="0" y="1743"/>
                  </a:cubicBezTo>
                  <a:cubicBezTo>
                    <a:pt x="0" y="1928"/>
                    <a:pt x="151" y="2078"/>
                    <a:pt x="335" y="2078"/>
                  </a:cubicBezTo>
                  <a:cubicBezTo>
                    <a:pt x="804" y="2078"/>
                    <a:pt x="1274" y="2078"/>
                    <a:pt x="1743" y="2078"/>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nvGrpSpPr>
            <p:cNvPr id="26" name="Group 25">
              <a:extLst>
                <a:ext uri="{FF2B5EF4-FFF2-40B4-BE49-F238E27FC236}">
                  <a16:creationId xmlns:a16="http://schemas.microsoft.com/office/drawing/2014/main" id="{5CF8A8DD-2B03-D6FD-C703-1792EFC73FCC}"/>
                </a:ext>
              </a:extLst>
            </p:cNvPr>
            <p:cNvGrpSpPr/>
            <p:nvPr/>
          </p:nvGrpSpPr>
          <p:grpSpPr>
            <a:xfrm>
              <a:off x="1124743" y="5461001"/>
              <a:ext cx="619125" cy="619125"/>
              <a:chOff x="1124743" y="5461001"/>
              <a:chExt cx="619125" cy="619125"/>
            </a:xfrm>
          </p:grpSpPr>
          <p:sp>
            <p:nvSpPr>
              <p:cNvPr id="27" name="Freeform 234">
                <a:extLst>
                  <a:ext uri="{FF2B5EF4-FFF2-40B4-BE49-F238E27FC236}">
                    <a16:creationId xmlns:a16="http://schemas.microsoft.com/office/drawing/2014/main" id="{DB1844FE-3F93-4E65-2352-16D429492700}"/>
                  </a:ext>
                </a:extLst>
              </p:cNvPr>
              <p:cNvSpPr>
                <a:spLocks noChangeArrowheads="1"/>
              </p:cNvSpPr>
              <p:nvPr/>
            </p:nvSpPr>
            <p:spPr bwMode="auto">
              <a:xfrm>
                <a:off x="1256506" y="5592763"/>
                <a:ext cx="266700" cy="266700"/>
              </a:xfrm>
              <a:custGeom>
                <a:avLst/>
                <a:gdLst>
                  <a:gd name="T0" fmla="*/ 273 w 739"/>
                  <a:gd name="T1" fmla="*/ 138 h 739"/>
                  <a:gd name="T2" fmla="*/ 310 w 739"/>
                  <a:gd name="T3" fmla="*/ 82 h 739"/>
                  <a:gd name="T4" fmla="*/ 310 w 739"/>
                  <a:gd name="T5" fmla="*/ 60 h 739"/>
                  <a:gd name="T6" fmla="*/ 369 w 739"/>
                  <a:gd name="T7" fmla="*/ 0 h 739"/>
                  <a:gd name="T8" fmla="*/ 428 w 739"/>
                  <a:gd name="T9" fmla="*/ 60 h 739"/>
                  <a:gd name="T10" fmla="*/ 428 w 739"/>
                  <a:gd name="T11" fmla="*/ 82 h 739"/>
                  <a:gd name="T12" fmla="*/ 465 w 739"/>
                  <a:gd name="T13" fmla="*/ 138 h 739"/>
                  <a:gd name="T14" fmla="*/ 530 w 739"/>
                  <a:gd name="T15" fmla="*/ 125 h 739"/>
                  <a:gd name="T16" fmla="*/ 546 w 739"/>
                  <a:gd name="T17" fmla="*/ 109 h 739"/>
                  <a:gd name="T18" fmla="*/ 630 w 739"/>
                  <a:gd name="T19" fmla="*/ 108 h 739"/>
                  <a:gd name="T20" fmla="*/ 630 w 739"/>
                  <a:gd name="T21" fmla="*/ 192 h 739"/>
                  <a:gd name="T22" fmla="*/ 614 w 739"/>
                  <a:gd name="T23" fmla="*/ 208 h 739"/>
                  <a:gd name="T24" fmla="*/ 601 w 739"/>
                  <a:gd name="T25" fmla="*/ 273 h 739"/>
                  <a:gd name="T26" fmla="*/ 656 w 739"/>
                  <a:gd name="T27" fmla="*/ 310 h 739"/>
                  <a:gd name="T28" fmla="*/ 679 w 739"/>
                  <a:gd name="T29" fmla="*/ 310 h 739"/>
                  <a:gd name="T30" fmla="*/ 738 w 739"/>
                  <a:gd name="T31" fmla="*/ 369 h 739"/>
                  <a:gd name="T32" fmla="*/ 679 w 739"/>
                  <a:gd name="T33" fmla="*/ 428 h 739"/>
                  <a:gd name="T34" fmla="*/ 656 w 739"/>
                  <a:gd name="T35" fmla="*/ 428 h 739"/>
                  <a:gd name="T36" fmla="*/ 601 w 739"/>
                  <a:gd name="T37" fmla="*/ 465 h 739"/>
                  <a:gd name="T38" fmla="*/ 614 w 739"/>
                  <a:gd name="T39" fmla="*/ 530 h 739"/>
                  <a:gd name="T40" fmla="*/ 630 w 739"/>
                  <a:gd name="T41" fmla="*/ 547 h 739"/>
                  <a:gd name="T42" fmla="*/ 630 w 739"/>
                  <a:gd name="T43" fmla="*/ 630 h 739"/>
                  <a:gd name="T44" fmla="*/ 546 w 739"/>
                  <a:gd name="T45" fmla="*/ 630 h 739"/>
                  <a:gd name="T46" fmla="*/ 530 w 739"/>
                  <a:gd name="T47" fmla="*/ 614 h 739"/>
                  <a:gd name="T48" fmla="*/ 465 w 739"/>
                  <a:gd name="T49" fmla="*/ 601 h 739"/>
                  <a:gd name="T50" fmla="*/ 428 w 739"/>
                  <a:gd name="T51" fmla="*/ 656 h 739"/>
                  <a:gd name="T52" fmla="*/ 428 w 739"/>
                  <a:gd name="T53" fmla="*/ 679 h 739"/>
                  <a:gd name="T54" fmla="*/ 369 w 739"/>
                  <a:gd name="T55" fmla="*/ 738 h 739"/>
                  <a:gd name="T56" fmla="*/ 310 w 739"/>
                  <a:gd name="T57" fmla="*/ 679 h 739"/>
                  <a:gd name="T58" fmla="*/ 310 w 739"/>
                  <a:gd name="T59" fmla="*/ 656 h 739"/>
                  <a:gd name="T60" fmla="*/ 273 w 739"/>
                  <a:gd name="T61" fmla="*/ 601 h 739"/>
                  <a:gd name="T62" fmla="*/ 208 w 739"/>
                  <a:gd name="T63" fmla="*/ 614 h 739"/>
                  <a:gd name="T64" fmla="*/ 192 w 739"/>
                  <a:gd name="T65" fmla="*/ 630 h 739"/>
                  <a:gd name="T66" fmla="*/ 108 w 739"/>
                  <a:gd name="T67" fmla="*/ 630 h 739"/>
                  <a:gd name="T68" fmla="*/ 108 w 739"/>
                  <a:gd name="T69" fmla="*/ 547 h 739"/>
                  <a:gd name="T70" fmla="*/ 124 w 739"/>
                  <a:gd name="T71" fmla="*/ 530 h 739"/>
                  <a:gd name="T72" fmla="*/ 137 w 739"/>
                  <a:gd name="T73" fmla="*/ 465 h 739"/>
                  <a:gd name="T74" fmla="*/ 82 w 739"/>
                  <a:gd name="T75" fmla="*/ 428 h 739"/>
                  <a:gd name="T76" fmla="*/ 59 w 739"/>
                  <a:gd name="T77" fmla="*/ 428 h 739"/>
                  <a:gd name="T78" fmla="*/ 0 w 739"/>
                  <a:gd name="T79" fmla="*/ 369 h 739"/>
                  <a:gd name="T80" fmla="*/ 59 w 739"/>
                  <a:gd name="T81" fmla="*/ 310 h 739"/>
                  <a:gd name="T82" fmla="*/ 82 w 739"/>
                  <a:gd name="T83" fmla="*/ 310 h 739"/>
                  <a:gd name="T84" fmla="*/ 137 w 739"/>
                  <a:gd name="T85" fmla="*/ 273 h 739"/>
                  <a:gd name="T86" fmla="*/ 124 w 739"/>
                  <a:gd name="T87" fmla="*/ 208 h 739"/>
                  <a:gd name="T88" fmla="*/ 108 w 739"/>
                  <a:gd name="T89" fmla="*/ 192 h 739"/>
                  <a:gd name="T90" fmla="*/ 108 w 739"/>
                  <a:gd name="T91" fmla="*/ 108 h 739"/>
                  <a:gd name="T92" fmla="*/ 192 w 739"/>
                  <a:gd name="T93" fmla="*/ 109 h 739"/>
                  <a:gd name="T94" fmla="*/ 208 w 739"/>
                  <a:gd name="T95" fmla="*/ 125 h 739"/>
                  <a:gd name="T96" fmla="*/ 273 w 739"/>
                  <a:gd name="T97" fmla="*/ 138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39" h="739">
                    <a:moveTo>
                      <a:pt x="273" y="138"/>
                    </a:moveTo>
                    <a:cubicBezTo>
                      <a:pt x="295" y="128"/>
                      <a:pt x="310" y="106"/>
                      <a:pt x="310" y="82"/>
                    </a:cubicBezTo>
                    <a:cubicBezTo>
                      <a:pt x="310" y="75"/>
                      <a:pt x="310" y="67"/>
                      <a:pt x="310" y="60"/>
                    </a:cubicBezTo>
                    <a:cubicBezTo>
                      <a:pt x="310" y="27"/>
                      <a:pt x="336" y="0"/>
                      <a:pt x="369" y="0"/>
                    </a:cubicBezTo>
                    <a:cubicBezTo>
                      <a:pt x="402" y="0"/>
                      <a:pt x="428" y="27"/>
                      <a:pt x="428" y="60"/>
                    </a:cubicBezTo>
                    <a:cubicBezTo>
                      <a:pt x="428" y="67"/>
                      <a:pt x="428" y="75"/>
                      <a:pt x="428" y="82"/>
                    </a:cubicBezTo>
                    <a:cubicBezTo>
                      <a:pt x="428" y="106"/>
                      <a:pt x="443" y="128"/>
                      <a:pt x="465" y="138"/>
                    </a:cubicBezTo>
                    <a:cubicBezTo>
                      <a:pt x="487" y="147"/>
                      <a:pt x="513" y="142"/>
                      <a:pt x="530" y="125"/>
                    </a:cubicBezTo>
                    <a:cubicBezTo>
                      <a:pt x="535" y="120"/>
                      <a:pt x="541" y="114"/>
                      <a:pt x="546" y="109"/>
                    </a:cubicBezTo>
                    <a:cubicBezTo>
                      <a:pt x="569" y="85"/>
                      <a:pt x="607" y="85"/>
                      <a:pt x="630" y="108"/>
                    </a:cubicBezTo>
                    <a:cubicBezTo>
                      <a:pt x="653" y="132"/>
                      <a:pt x="653" y="169"/>
                      <a:pt x="630" y="192"/>
                    </a:cubicBezTo>
                    <a:cubicBezTo>
                      <a:pt x="625" y="197"/>
                      <a:pt x="619" y="203"/>
                      <a:pt x="614" y="208"/>
                    </a:cubicBezTo>
                    <a:cubicBezTo>
                      <a:pt x="596" y="225"/>
                      <a:pt x="591" y="251"/>
                      <a:pt x="601" y="273"/>
                    </a:cubicBezTo>
                    <a:cubicBezTo>
                      <a:pt x="610" y="296"/>
                      <a:pt x="632" y="310"/>
                      <a:pt x="656" y="310"/>
                    </a:cubicBezTo>
                    <a:cubicBezTo>
                      <a:pt x="664" y="310"/>
                      <a:pt x="671" y="310"/>
                      <a:pt x="679" y="310"/>
                    </a:cubicBezTo>
                    <a:cubicBezTo>
                      <a:pt x="711" y="310"/>
                      <a:pt x="738" y="337"/>
                      <a:pt x="738" y="369"/>
                    </a:cubicBezTo>
                    <a:cubicBezTo>
                      <a:pt x="738" y="402"/>
                      <a:pt x="711" y="428"/>
                      <a:pt x="679" y="428"/>
                    </a:cubicBezTo>
                    <a:cubicBezTo>
                      <a:pt x="671" y="428"/>
                      <a:pt x="664" y="428"/>
                      <a:pt x="656" y="428"/>
                    </a:cubicBezTo>
                    <a:cubicBezTo>
                      <a:pt x="632" y="428"/>
                      <a:pt x="610" y="443"/>
                      <a:pt x="601" y="465"/>
                    </a:cubicBezTo>
                    <a:cubicBezTo>
                      <a:pt x="591" y="488"/>
                      <a:pt x="596" y="513"/>
                      <a:pt x="614" y="530"/>
                    </a:cubicBezTo>
                    <a:cubicBezTo>
                      <a:pt x="619" y="536"/>
                      <a:pt x="625" y="541"/>
                      <a:pt x="630" y="547"/>
                    </a:cubicBezTo>
                    <a:cubicBezTo>
                      <a:pt x="653" y="570"/>
                      <a:pt x="653" y="607"/>
                      <a:pt x="630" y="630"/>
                    </a:cubicBezTo>
                    <a:cubicBezTo>
                      <a:pt x="607" y="653"/>
                      <a:pt x="569" y="653"/>
                      <a:pt x="546" y="630"/>
                    </a:cubicBezTo>
                    <a:cubicBezTo>
                      <a:pt x="541" y="625"/>
                      <a:pt x="535" y="619"/>
                      <a:pt x="530" y="614"/>
                    </a:cubicBezTo>
                    <a:cubicBezTo>
                      <a:pt x="513" y="597"/>
                      <a:pt x="487" y="592"/>
                      <a:pt x="465" y="601"/>
                    </a:cubicBezTo>
                    <a:cubicBezTo>
                      <a:pt x="443" y="610"/>
                      <a:pt x="428" y="632"/>
                      <a:pt x="428" y="656"/>
                    </a:cubicBezTo>
                    <a:cubicBezTo>
                      <a:pt x="428" y="664"/>
                      <a:pt x="428" y="671"/>
                      <a:pt x="428" y="679"/>
                    </a:cubicBezTo>
                    <a:cubicBezTo>
                      <a:pt x="428" y="712"/>
                      <a:pt x="402" y="738"/>
                      <a:pt x="369" y="738"/>
                    </a:cubicBezTo>
                    <a:cubicBezTo>
                      <a:pt x="336" y="738"/>
                      <a:pt x="310" y="712"/>
                      <a:pt x="310" y="679"/>
                    </a:cubicBezTo>
                    <a:cubicBezTo>
                      <a:pt x="310" y="671"/>
                      <a:pt x="310" y="664"/>
                      <a:pt x="310" y="656"/>
                    </a:cubicBezTo>
                    <a:cubicBezTo>
                      <a:pt x="310" y="632"/>
                      <a:pt x="295" y="610"/>
                      <a:pt x="273" y="601"/>
                    </a:cubicBezTo>
                    <a:cubicBezTo>
                      <a:pt x="251" y="592"/>
                      <a:pt x="225" y="597"/>
                      <a:pt x="208" y="614"/>
                    </a:cubicBezTo>
                    <a:cubicBezTo>
                      <a:pt x="203" y="619"/>
                      <a:pt x="197" y="625"/>
                      <a:pt x="192" y="630"/>
                    </a:cubicBezTo>
                    <a:cubicBezTo>
                      <a:pt x="169" y="653"/>
                      <a:pt x="131" y="653"/>
                      <a:pt x="108" y="630"/>
                    </a:cubicBezTo>
                    <a:cubicBezTo>
                      <a:pt x="85" y="607"/>
                      <a:pt x="85" y="570"/>
                      <a:pt x="108" y="547"/>
                    </a:cubicBezTo>
                    <a:cubicBezTo>
                      <a:pt x="113" y="541"/>
                      <a:pt x="119" y="536"/>
                      <a:pt x="124" y="530"/>
                    </a:cubicBezTo>
                    <a:cubicBezTo>
                      <a:pt x="142" y="513"/>
                      <a:pt x="147" y="488"/>
                      <a:pt x="137" y="465"/>
                    </a:cubicBezTo>
                    <a:cubicBezTo>
                      <a:pt x="128" y="443"/>
                      <a:pt x="106" y="428"/>
                      <a:pt x="82" y="428"/>
                    </a:cubicBezTo>
                    <a:cubicBezTo>
                      <a:pt x="74" y="428"/>
                      <a:pt x="67" y="428"/>
                      <a:pt x="59" y="428"/>
                    </a:cubicBezTo>
                    <a:cubicBezTo>
                      <a:pt x="27" y="428"/>
                      <a:pt x="0" y="402"/>
                      <a:pt x="0" y="369"/>
                    </a:cubicBezTo>
                    <a:cubicBezTo>
                      <a:pt x="0" y="337"/>
                      <a:pt x="27" y="310"/>
                      <a:pt x="59" y="310"/>
                    </a:cubicBezTo>
                    <a:cubicBezTo>
                      <a:pt x="67" y="310"/>
                      <a:pt x="74" y="310"/>
                      <a:pt x="82" y="310"/>
                    </a:cubicBezTo>
                    <a:cubicBezTo>
                      <a:pt x="106" y="310"/>
                      <a:pt x="128" y="296"/>
                      <a:pt x="137" y="273"/>
                    </a:cubicBezTo>
                    <a:cubicBezTo>
                      <a:pt x="147" y="251"/>
                      <a:pt x="142" y="225"/>
                      <a:pt x="124" y="208"/>
                    </a:cubicBezTo>
                    <a:cubicBezTo>
                      <a:pt x="119" y="203"/>
                      <a:pt x="113" y="197"/>
                      <a:pt x="108" y="192"/>
                    </a:cubicBezTo>
                    <a:cubicBezTo>
                      <a:pt x="85" y="169"/>
                      <a:pt x="85" y="132"/>
                      <a:pt x="108" y="108"/>
                    </a:cubicBezTo>
                    <a:cubicBezTo>
                      <a:pt x="131" y="85"/>
                      <a:pt x="169" y="85"/>
                      <a:pt x="192" y="109"/>
                    </a:cubicBezTo>
                    <a:cubicBezTo>
                      <a:pt x="197" y="114"/>
                      <a:pt x="203" y="120"/>
                      <a:pt x="208" y="125"/>
                    </a:cubicBezTo>
                    <a:cubicBezTo>
                      <a:pt x="225" y="142"/>
                      <a:pt x="251" y="147"/>
                      <a:pt x="273" y="138"/>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8" name="Freeform 235">
                <a:extLst>
                  <a:ext uri="{FF2B5EF4-FFF2-40B4-BE49-F238E27FC236}">
                    <a16:creationId xmlns:a16="http://schemas.microsoft.com/office/drawing/2014/main" id="{0D8C4F39-D08A-AF4B-0BBE-D1425A460F01}"/>
                  </a:ext>
                </a:extLst>
              </p:cNvPr>
              <p:cNvSpPr>
                <a:spLocks noChangeArrowheads="1"/>
              </p:cNvSpPr>
              <p:nvPr/>
            </p:nvSpPr>
            <p:spPr bwMode="auto">
              <a:xfrm>
                <a:off x="1353343" y="5689601"/>
                <a:ext cx="73025" cy="73025"/>
              </a:xfrm>
              <a:custGeom>
                <a:avLst/>
                <a:gdLst>
                  <a:gd name="T0" fmla="*/ 202 w 203"/>
                  <a:gd name="T1" fmla="*/ 100 h 202"/>
                  <a:gd name="T2" fmla="*/ 188 w 203"/>
                  <a:gd name="T3" fmla="*/ 151 h 202"/>
                  <a:gd name="T4" fmla="*/ 151 w 203"/>
                  <a:gd name="T5" fmla="*/ 187 h 202"/>
                  <a:gd name="T6" fmla="*/ 101 w 203"/>
                  <a:gd name="T7" fmla="*/ 201 h 202"/>
                  <a:gd name="T8" fmla="*/ 51 w 203"/>
                  <a:gd name="T9" fmla="*/ 187 h 202"/>
                  <a:gd name="T10" fmla="*/ 14 w 203"/>
                  <a:gd name="T11" fmla="*/ 151 h 202"/>
                  <a:gd name="T12" fmla="*/ 0 w 203"/>
                  <a:gd name="T13" fmla="*/ 100 h 202"/>
                  <a:gd name="T14" fmla="*/ 14 w 203"/>
                  <a:gd name="T15" fmla="*/ 50 h 202"/>
                  <a:gd name="T16" fmla="*/ 51 w 203"/>
                  <a:gd name="T17" fmla="*/ 13 h 202"/>
                  <a:gd name="T18" fmla="*/ 101 w 203"/>
                  <a:gd name="T19" fmla="*/ 0 h 202"/>
                  <a:gd name="T20" fmla="*/ 151 w 203"/>
                  <a:gd name="T21" fmla="*/ 13 h 202"/>
                  <a:gd name="T22" fmla="*/ 188 w 203"/>
                  <a:gd name="T23" fmla="*/ 50 h 202"/>
                  <a:gd name="T24" fmla="*/ 202 w 203"/>
                  <a:gd name="T25" fmla="*/ 10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3" h="202">
                    <a:moveTo>
                      <a:pt x="202" y="100"/>
                    </a:moveTo>
                    <a:cubicBezTo>
                      <a:pt x="202" y="119"/>
                      <a:pt x="197" y="135"/>
                      <a:pt x="188" y="151"/>
                    </a:cubicBezTo>
                    <a:cubicBezTo>
                      <a:pt x="179" y="168"/>
                      <a:pt x="167" y="178"/>
                      <a:pt x="151" y="187"/>
                    </a:cubicBezTo>
                    <a:cubicBezTo>
                      <a:pt x="135" y="197"/>
                      <a:pt x="119" y="201"/>
                      <a:pt x="101" y="201"/>
                    </a:cubicBezTo>
                    <a:cubicBezTo>
                      <a:pt x="82" y="201"/>
                      <a:pt x="67" y="197"/>
                      <a:pt x="51" y="187"/>
                    </a:cubicBezTo>
                    <a:cubicBezTo>
                      <a:pt x="35" y="178"/>
                      <a:pt x="23" y="168"/>
                      <a:pt x="14" y="151"/>
                    </a:cubicBezTo>
                    <a:cubicBezTo>
                      <a:pt x="5" y="135"/>
                      <a:pt x="0" y="119"/>
                      <a:pt x="0" y="100"/>
                    </a:cubicBezTo>
                    <a:cubicBezTo>
                      <a:pt x="0" y="82"/>
                      <a:pt x="5" y="66"/>
                      <a:pt x="14" y="50"/>
                    </a:cubicBezTo>
                    <a:cubicBezTo>
                      <a:pt x="23" y="34"/>
                      <a:pt x="35" y="22"/>
                      <a:pt x="51" y="13"/>
                    </a:cubicBezTo>
                    <a:cubicBezTo>
                      <a:pt x="67" y="4"/>
                      <a:pt x="83" y="0"/>
                      <a:pt x="101" y="0"/>
                    </a:cubicBezTo>
                    <a:cubicBezTo>
                      <a:pt x="120" y="0"/>
                      <a:pt x="135" y="4"/>
                      <a:pt x="151" y="13"/>
                    </a:cubicBezTo>
                    <a:cubicBezTo>
                      <a:pt x="167" y="22"/>
                      <a:pt x="179" y="34"/>
                      <a:pt x="188" y="50"/>
                    </a:cubicBezTo>
                    <a:cubicBezTo>
                      <a:pt x="197" y="66"/>
                      <a:pt x="202" y="82"/>
                      <a:pt x="202" y="100"/>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9" name="Freeform 237">
                <a:extLst>
                  <a:ext uri="{FF2B5EF4-FFF2-40B4-BE49-F238E27FC236}">
                    <a16:creationId xmlns:a16="http://schemas.microsoft.com/office/drawing/2014/main" id="{AB953D53-7A0E-D7BD-ABC0-E439120642F6}"/>
                  </a:ext>
                </a:extLst>
              </p:cNvPr>
              <p:cNvSpPr>
                <a:spLocks noChangeArrowheads="1"/>
              </p:cNvSpPr>
              <p:nvPr/>
            </p:nvSpPr>
            <p:spPr bwMode="auto">
              <a:xfrm>
                <a:off x="1189831" y="5526088"/>
                <a:ext cx="398462" cy="398463"/>
              </a:xfrm>
              <a:custGeom>
                <a:avLst/>
                <a:gdLst>
                  <a:gd name="T0" fmla="*/ 1106 w 1107"/>
                  <a:gd name="T1" fmla="*/ 553 h 1107"/>
                  <a:gd name="T2" fmla="*/ 1032 w 1107"/>
                  <a:gd name="T3" fmla="*/ 830 h 1107"/>
                  <a:gd name="T4" fmla="*/ 830 w 1107"/>
                  <a:gd name="T5" fmla="*/ 1032 h 1107"/>
                  <a:gd name="T6" fmla="*/ 553 w 1107"/>
                  <a:gd name="T7" fmla="*/ 1106 h 1107"/>
                  <a:gd name="T8" fmla="*/ 277 w 1107"/>
                  <a:gd name="T9" fmla="*/ 1032 h 1107"/>
                  <a:gd name="T10" fmla="*/ 74 w 1107"/>
                  <a:gd name="T11" fmla="*/ 830 h 1107"/>
                  <a:gd name="T12" fmla="*/ 0 w 1107"/>
                  <a:gd name="T13" fmla="*/ 553 h 1107"/>
                  <a:gd name="T14" fmla="*/ 74 w 1107"/>
                  <a:gd name="T15" fmla="*/ 277 h 1107"/>
                  <a:gd name="T16" fmla="*/ 277 w 1107"/>
                  <a:gd name="T17" fmla="*/ 74 h 1107"/>
                  <a:gd name="T18" fmla="*/ 553 w 1107"/>
                  <a:gd name="T19" fmla="*/ 0 h 1107"/>
                  <a:gd name="T20" fmla="*/ 830 w 1107"/>
                  <a:gd name="T21" fmla="*/ 74 h 1107"/>
                  <a:gd name="T22" fmla="*/ 1032 w 1107"/>
                  <a:gd name="T23" fmla="*/ 277 h 1107"/>
                  <a:gd name="T24" fmla="*/ 1106 w 1107"/>
                  <a:gd name="T25" fmla="*/ 553 h 1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7" h="1107">
                    <a:moveTo>
                      <a:pt x="1106" y="553"/>
                    </a:moveTo>
                    <a:cubicBezTo>
                      <a:pt x="1106" y="655"/>
                      <a:pt x="1083" y="742"/>
                      <a:pt x="1032" y="830"/>
                    </a:cubicBezTo>
                    <a:cubicBezTo>
                      <a:pt x="981" y="918"/>
                      <a:pt x="918" y="981"/>
                      <a:pt x="830" y="1032"/>
                    </a:cubicBezTo>
                    <a:cubicBezTo>
                      <a:pt x="741" y="1083"/>
                      <a:pt x="655" y="1106"/>
                      <a:pt x="553" y="1106"/>
                    </a:cubicBezTo>
                    <a:cubicBezTo>
                      <a:pt x="451" y="1106"/>
                      <a:pt x="365" y="1083"/>
                      <a:pt x="277" y="1032"/>
                    </a:cubicBezTo>
                    <a:cubicBezTo>
                      <a:pt x="188" y="981"/>
                      <a:pt x="125" y="918"/>
                      <a:pt x="74" y="830"/>
                    </a:cubicBezTo>
                    <a:cubicBezTo>
                      <a:pt x="23" y="742"/>
                      <a:pt x="0" y="655"/>
                      <a:pt x="0" y="553"/>
                    </a:cubicBezTo>
                    <a:cubicBezTo>
                      <a:pt x="0" y="451"/>
                      <a:pt x="23" y="366"/>
                      <a:pt x="74" y="277"/>
                    </a:cubicBezTo>
                    <a:cubicBezTo>
                      <a:pt x="125" y="189"/>
                      <a:pt x="188" y="125"/>
                      <a:pt x="277" y="74"/>
                    </a:cubicBezTo>
                    <a:cubicBezTo>
                      <a:pt x="365" y="23"/>
                      <a:pt x="451" y="0"/>
                      <a:pt x="553" y="0"/>
                    </a:cubicBezTo>
                    <a:cubicBezTo>
                      <a:pt x="655" y="0"/>
                      <a:pt x="741" y="23"/>
                      <a:pt x="830" y="74"/>
                    </a:cubicBezTo>
                    <a:cubicBezTo>
                      <a:pt x="918" y="125"/>
                      <a:pt x="981" y="189"/>
                      <a:pt x="1032" y="277"/>
                    </a:cubicBezTo>
                    <a:cubicBezTo>
                      <a:pt x="1083" y="366"/>
                      <a:pt x="1106" y="451"/>
                      <a:pt x="1106" y="553"/>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0" name="Freeform 238">
                <a:extLst>
                  <a:ext uri="{FF2B5EF4-FFF2-40B4-BE49-F238E27FC236}">
                    <a16:creationId xmlns:a16="http://schemas.microsoft.com/office/drawing/2014/main" id="{885BA5C4-338E-260B-22AD-42BD07ABFE20}"/>
                  </a:ext>
                </a:extLst>
              </p:cNvPr>
              <p:cNvSpPr>
                <a:spLocks noChangeArrowheads="1"/>
              </p:cNvSpPr>
              <p:nvPr/>
            </p:nvSpPr>
            <p:spPr bwMode="auto">
              <a:xfrm>
                <a:off x="1124743" y="5461001"/>
                <a:ext cx="619125" cy="619125"/>
              </a:xfrm>
              <a:custGeom>
                <a:avLst/>
                <a:gdLst>
                  <a:gd name="T0" fmla="*/ 1718 w 1719"/>
                  <a:gd name="T1" fmla="*/ 1624 h 1720"/>
                  <a:gd name="T2" fmla="*/ 1275 w 1719"/>
                  <a:gd name="T3" fmla="*/ 1181 h 1720"/>
                  <a:gd name="T4" fmla="*/ 1272 w 1719"/>
                  <a:gd name="T5" fmla="*/ 1137 h 1720"/>
                  <a:gd name="T6" fmla="*/ 1209 w 1719"/>
                  <a:gd name="T7" fmla="*/ 261 h 1720"/>
                  <a:gd name="T8" fmla="*/ 261 w 1719"/>
                  <a:gd name="T9" fmla="*/ 261 h 1720"/>
                  <a:gd name="T10" fmla="*/ 261 w 1719"/>
                  <a:gd name="T11" fmla="*/ 1209 h 1720"/>
                  <a:gd name="T12" fmla="*/ 1136 w 1719"/>
                  <a:gd name="T13" fmla="*/ 1272 h 1720"/>
                  <a:gd name="T14" fmla="*/ 1180 w 1719"/>
                  <a:gd name="T15" fmla="*/ 1275 h 1720"/>
                  <a:gd name="T16" fmla="*/ 1623 w 1719"/>
                  <a:gd name="T17" fmla="*/ 1719 h 1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19" h="1720">
                    <a:moveTo>
                      <a:pt x="1718" y="1624"/>
                    </a:moveTo>
                    <a:cubicBezTo>
                      <a:pt x="1570" y="1476"/>
                      <a:pt x="1423" y="1329"/>
                      <a:pt x="1275" y="1181"/>
                    </a:cubicBezTo>
                    <a:cubicBezTo>
                      <a:pt x="1263" y="1169"/>
                      <a:pt x="1262" y="1150"/>
                      <a:pt x="1272" y="1137"/>
                    </a:cubicBezTo>
                    <a:cubicBezTo>
                      <a:pt x="1468" y="874"/>
                      <a:pt x="1447" y="500"/>
                      <a:pt x="1209" y="261"/>
                    </a:cubicBezTo>
                    <a:cubicBezTo>
                      <a:pt x="948" y="0"/>
                      <a:pt x="522" y="0"/>
                      <a:pt x="261" y="261"/>
                    </a:cubicBezTo>
                    <a:cubicBezTo>
                      <a:pt x="0" y="523"/>
                      <a:pt x="0" y="948"/>
                      <a:pt x="261" y="1209"/>
                    </a:cubicBezTo>
                    <a:cubicBezTo>
                      <a:pt x="499" y="1448"/>
                      <a:pt x="874" y="1469"/>
                      <a:pt x="1136" y="1272"/>
                    </a:cubicBezTo>
                    <a:cubicBezTo>
                      <a:pt x="1150" y="1262"/>
                      <a:pt x="1168" y="1264"/>
                      <a:pt x="1180" y="1275"/>
                    </a:cubicBezTo>
                    <a:cubicBezTo>
                      <a:pt x="1328" y="1423"/>
                      <a:pt x="1475" y="1571"/>
                      <a:pt x="1623" y="1719"/>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grpSp>
      <p:sp>
        <p:nvSpPr>
          <p:cNvPr id="31" name="TextBox 30">
            <a:extLst>
              <a:ext uri="{FF2B5EF4-FFF2-40B4-BE49-F238E27FC236}">
                <a16:creationId xmlns:a16="http://schemas.microsoft.com/office/drawing/2014/main" id="{3F49045A-843A-9D15-94F4-117E16E9BB35}"/>
              </a:ext>
            </a:extLst>
          </p:cNvPr>
          <p:cNvSpPr txBox="1"/>
          <p:nvPr/>
        </p:nvSpPr>
        <p:spPr>
          <a:xfrm>
            <a:off x="5536895" y="2288608"/>
            <a:ext cx="1767372" cy="1969770"/>
          </a:xfrm>
          <a:prstGeom prst="rect">
            <a:avLst/>
          </a:prstGeom>
          <a:noFill/>
        </p:spPr>
        <p:txBody>
          <a:bodyPr wrap="square" rtlCol="0">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Fira Sans" panose="020B0503050000020004" pitchFamily="34" charset="0"/>
                <a:ea typeface="+mn-ea"/>
                <a:cs typeface="+mn-cs"/>
              </a:rPr>
              <a:t>Advanced Assessment </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All apps complexity assessed, up to 5 apps fully profiled, release plan, first movers, refined TCO, MRA. </a:t>
            </a:r>
          </a:p>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Tool used:</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 Dr. Migrate with validation exercises afterwards to ensure the customers' needs are met. </a:t>
            </a:r>
          </a:p>
        </p:txBody>
      </p:sp>
      <p:grpSp>
        <p:nvGrpSpPr>
          <p:cNvPr id="32" name="Group 31">
            <a:extLst>
              <a:ext uri="{FF2B5EF4-FFF2-40B4-BE49-F238E27FC236}">
                <a16:creationId xmlns:a16="http://schemas.microsoft.com/office/drawing/2014/main" id="{5370F3FF-608A-19CC-C7D3-7E8104C4DE54}"/>
              </a:ext>
            </a:extLst>
          </p:cNvPr>
          <p:cNvGrpSpPr>
            <a:grpSpLocks noChangeAspect="1"/>
          </p:cNvGrpSpPr>
          <p:nvPr/>
        </p:nvGrpSpPr>
        <p:grpSpPr>
          <a:xfrm>
            <a:off x="8353733" y="1706378"/>
            <a:ext cx="582231" cy="582230"/>
            <a:chOff x="7775575" y="2201863"/>
            <a:chExt cx="630238" cy="630237"/>
          </a:xfrm>
        </p:grpSpPr>
        <p:sp>
          <p:nvSpPr>
            <p:cNvPr id="33" name="Freeform 200">
              <a:extLst>
                <a:ext uri="{FF2B5EF4-FFF2-40B4-BE49-F238E27FC236}">
                  <a16:creationId xmlns:a16="http://schemas.microsoft.com/office/drawing/2014/main" id="{16931E0A-6C23-9208-59E3-F86B0AD65AE4}"/>
                </a:ext>
              </a:extLst>
            </p:cNvPr>
            <p:cNvSpPr>
              <a:spLocks noChangeArrowheads="1"/>
            </p:cNvSpPr>
            <p:nvPr/>
          </p:nvSpPr>
          <p:spPr bwMode="auto">
            <a:xfrm>
              <a:off x="7775575" y="2201863"/>
              <a:ext cx="630238" cy="630237"/>
            </a:xfrm>
            <a:custGeom>
              <a:avLst/>
              <a:gdLst>
                <a:gd name="T0" fmla="*/ 1468 w 1751"/>
                <a:gd name="T1" fmla="*/ 1749 h 1750"/>
                <a:gd name="T2" fmla="*/ 1750 w 1751"/>
                <a:gd name="T3" fmla="*/ 1467 h 1750"/>
                <a:gd name="T4" fmla="*/ 1750 w 1751"/>
                <a:gd name="T5" fmla="*/ 282 h 1750"/>
                <a:gd name="T6" fmla="*/ 1468 w 1751"/>
                <a:gd name="T7" fmla="*/ 0 h 1750"/>
                <a:gd name="T8" fmla="*/ 282 w 1751"/>
                <a:gd name="T9" fmla="*/ 0 h 1750"/>
                <a:gd name="T10" fmla="*/ 0 w 1751"/>
                <a:gd name="T11" fmla="*/ 282 h 1750"/>
                <a:gd name="T12" fmla="*/ 0 w 1751"/>
                <a:gd name="T13" fmla="*/ 1467 h 1750"/>
                <a:gd name="T14" fmla="*/ 282 w 1751"/>
                <a:gd name="T15" fmla="*/ 1749 h 1750"/>
                <a:gd name="T16" fmla="*/ 1468 w 1751"/>
                <a:gd name="T17" fmla="*/ 1749 h 1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0">
                  <a:moveTo>
                    <a:pt x="1468" y="1749"/>
                  </a:moveTo>
                  <a:cubicBezTo>
                    <a:pt x="1623" y="1749"/>
                    <a:pt x="1750" y="1623"/>
                    <a:pt x="1750" y="1467"/>
                  </a:cubicBezTo>
                  <a:cubicBezTo>
                    <a:pt x="1750" y="1072"/>
                    <a:pt x="1750" y="677"/>
                    <a:pt x="1750" y="282"/>
                  </a:cubicBezTo>
                  <a:cubicBezTo>
                    <a:pt x="1750" y="127"/>
                    <a:pt x="1623" y="0"/>
                    <a:pt x="1468" y="0"/>
                  </a:cubicBezTo>
                  <a:cubicBezTo>
                    <a:pt x="1073" y="0"/>
                    <a:pt x="678" y="0"/>
                    <a:pt x="282" y="0"/>
                  </a:cubicBezTo>
                  <a:cubicBezTo>
                    <a:pt x="127" y="0"/>
                    <a:pt x="0" y="127"/>
                    <a:pt x="0" y="282"/>
                  </a:cubicBezTo>
                  <a:cubicBezTo>
                    <a:pt x="0" y="677"/>
                    <a:pt x="0" y="1072"/>
                    <a:pt x="0" y="1467"/>
                  </a:cubicBezTo>
                  <a:cubicBezTo>
                    <a:pt x="0" y="1623"/>
                    <a:pt x="127" y="1749"/>
                    <a:pt x="282" y="1749"/>
                  </a:cubicBezTo>
                  <a:cubicBezTo>
                    <a:pt x="678" y="1749"/>
                    <a:pt x="1073" y="1749"/>
                    <a:pt x="1468" y="1749"/>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nvGrpSpPr>
            <p:cNvPr id="34" name="Group 33">
              <a:extLst>
                <a:ext uri="{FF2B5EF4-FFF2-40B4-BE49-F238E27FC236}">
                  <a16:creationId xmlns:a16="http://schemas.microsoft.com/office/drawing/2014/main" id="{D1925DF3-7058-7597-C66B-F79E055285AD}"/>
                </a:ext>
              </a:extLst>
            </p:cNvPr>
            <p:cNvGrpSpPr/>
            <p:nvPr/>
          </p:nvGrpSpPr>
          <p:grpSpPr>
            <a:xfrm>
              <a:off x="7947025" y="2292350"/>
              <a:ext cx="284162" cy="407987"/>
              <a:chOff x="7947025" y="2292350"/>
              <a:chExt cx="284162" cy="407987"/>
            </a:xfrm>
          </p:grpSpPr>
          <p:sp>
            <p:nvSpPr>
              <p:cNvPr id="35" name="Freeform 201">
                <a:extLst>
                  <a:ext uri="{FF2B5EF4-FFF2-40B4-BE49-F238E27FC236}">
                    <a16:creationId xmlns:a16="http://schemas.microsoft.com/office/drawing/2014/main" id="{E9EA7882-2535-0F0D-4696-909AA904B720}"/>
                  </a:ext>
                </a:extLst>
              </p:cNvPr>
              <p:cNvSpPr>
                <a:spLocks noChangeArrowheads="1"/>
              </p:cNvSpPr>
              <p:nvPr/>
            </p:nvSpPr>
            <p:spPr bwMode="auto">
              <a:xfrm>
                <a:off x="7947025" y="2333624"/>
                <a:ext cx="284162" cy="366713"/>
              </a:xfrm>
              <a:custGeom>
                <a:avLst/>
                <a:gdLst>
                  <a:gd name="T0" fmla="*/ 564 w 791"/>
                  <a:gd name="T1" fmla="*/ 0 h 1017"/>
                  <a:gd name="T2" fmla="*/ 734 w 791"/>
                  <a:gd name="T3" fmla="*/ 0 h 1017"/>
                  <a:gd name="T4" fmla="*/ 790 w 791"/>
                  <a:gd name="T5" fmla="*/ 56 h 1017"/>
                  <a:gd name="T6" fmla="*/ 790 w 791"/>
                  <a:gd name="T7" fmla="*/ 959 h 1017"/>
                  <a:gd name="T8" fmla="*/ 734 w 791"/>
                  <a:gd name="T9" fmla="*/ 1016 h 1017"/>
                  <a:gd name="T10" fmla="*/ 56 w 791"/>
                  <a:gd name="T11" fmla="*/ 1016 h 1017"/>
                  <a:gd name="T12" fmla="*/ 0 w 791"/>
                  <a:gd name="T13" fmla="*/ 959 h 1017"/>
                  <a:gd name="T14" fmla="*/ 0 w 791"/>
                  <a:gd name="T15" fmla="*/ 56 h 1017"/>
                  <a:gd name="T16" fmla="*/ 56 w 791"/>
                  <a:gd name="T17" fmla="*/ 0 h 1017"/>
                  <a:gd name="T18" fmla="*/ 226 w 791"/>
                  <a:gd name="T19" fmla="*/ 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1" h="1017">
                    <a:moveTo>
                      <a:pt x="564" y="0"/>
                    </a:moveTo>
                    <a:cubicBezTo>
                      <a:pt x="621" y="0"/>
                      <a:pt x="678" y="0"/>
                      <a:pt x="734" y="0"/>
                    </a:cubicBezTo>
                    <a:cubicBezTo>
                      <a:pt x="765" y="0"/>
                      <a:pt x="790" y="25"/>
                      <a:pt x="790" y="56"/>
                    </a:cubicBezTo>
                    <a:cubicBezTo>
                      <a:pt x="790" y="357"/>
                      <a:pt x="790" y="658"/>
                      <a:pt x="790" y="959"/>
                    </a:cubicBezTo>
                    <a:cubicBezTo>
                      <a:pt x="790" y="990"/>
                      <a:pt x="765" y="1016"/>
                      <a:pt x="734" y="1016"/>
                    </a:cubicBezTo>
                    <a:cubicBezTo>
                      <a:pt x="508" y="1016"/>
                      <a:pt x="282" y="1016"/>
                      <a:pt x="56" y="1016"/>
                    </a:cubicBezTo>
                    <a:cubicBezTo>
                      <a:pt x="25" y="1016"/>
                      <a:pt x="0" y="990"/>
                      <a:pt x="0" y="959"/>
                    </a:cubicBezTo>
                    <a:cubicBezTo>
                      <a:pt x="0" y="658"/>
                      <a:pt x="0" y="357"/>
                      <a:pt x="0" y="56"/>
                    </a:cubicBezTo>
                    <a:cubicBezTo>
                      <a:pt x="0" y="25"/>
                      <a:pt x="25" y="0"/>
                      <a:pt x="56" y="0"/>
                    </a:cubicBezTo>
                    <a:cubicBezTo>
                      <a:pt x="113" y="0"/>
                      <a:pt x="170" y="0"/>
                      <a:pt x="226" y="0"/>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6" name="Freeform 202">
                <a:extLst>
                  <a:ext uri="{FF2B5EF4-FFF2-40B4-BE49-F238E27FC236}">
                    <a16:creationId xmlns:a16="http://schemas.microsoft.com/office/drawing/2014/main" id="{E7750913-6CE9-E71F-40A5-A6D583C9E8AB}"/>
                  </a:ext>
                </a:extLst>
              </p:cNvPr>
              <p:cNvSpPr>
                <a:spLocks noChangeArrowheads="1"/>
              </p:cNvSpPr>
              <p:nvPr/>
            </p:nvSpPr>
            <p:spPr bwMode="auto">
              <a:xfrm>
                <a:off x="7997825" y="2292350"/>
                <a:ext cx="182563" cy="92075"/>
              </a:xfrm>
              <a:custGeom>
                <a:avLst/>
                <a:gdLst>
                  <a:gd name="T0" fmla="*/ 508 w 509"/>
                  <a:gd name="T1" fmla="*/ 197 h 255"/>
                  <a:gd name="T2" fmla="*/ 423 w 509"/>
                  <a:gd name="T3" fmla="*/ 113 h 255"/>
                  <a:gd name="T4" fmla="*/ 380 w 509"/>
                  <a:gd name="T5" fmla="*/ 113 h 255"/>
                  <a:gd name="T6" fmla="*/ 366 w 509"/>
                  <a:gd name="T7" fmla="*/ 100 h 255"/>
                  <a:gd name="T8" fmla="*/ 254 w 509"/>
                  <a:gd name="T9" fmla="*/ 0 h 255"/>
                  <a:gd name="T10" fmla="*/ 142 w 509"/>
                  <a:gd name="T11" fmla="*/ 100 h 255"/>
                  <a:gd name="T12" fmla="*/ 128 w 509"/>
                  <a:gd name="T13" fmla="*/ 113 h 255"/>
                  <a:gd name="T14" fmla="*/ 85 w 509"/>
                  <a:gd name="T15" fmla="*/ 113 h 255"/>
                  <a:gd name="T16" fmla="*/ 0 w 509"/>
                  <a:gd name="T17" fmla="*/ 197 h 255"/>
                  <a:gd name="T18" fmla="*/ 0 w 509"/>
                  <a:gd name="T19" fmla="*/ 226 h 255"/>
                  <a:gd name="T20" fmla="*/ 28 w 509"/>
                  <a:gd name="T21" fmla="*/ 254 h 255"/>
                  <a:gd name="T22" fmla="*/ 480 w 509"/>
                  <a:gd name="T23" fmla="*/ 254 h 255"/>
                  <a:gd name="T24" fmla="*/ 508 w 509"/>
                  <a:gd name="T25" fmla="*/ 226 h 255"/>
                  <a:gd name="T26" fmla="*/ 508 w 509"/>
                  <a:gd name="T27" fmla="*/ 19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9" h="255">
                    <a:moveTo>
                      <a:pt x="508" y="197"/>
                    </a:moveTo>
                    <a:cubicBezTo>
                      <a:pt x="508" y="151"/>
                      <a:pt x="470" y="113"/>
                      <a:pt x="423" y="113"/>
                    </a:cubicBezTo>
                    <a:cubicBezTo>
                      <a:pt x="409" y="113"/>
                      <a:pt x="395" y="113"/>
                      <a:pt x="380" y="113"/>
                    </a:cubicBezTo>
                    <a:cubicBezTo>
                      <a:pt x="373" y="113"/>
                      <a:pt x="367" y="107"/>
                      <a:pt x="366" y="100"/>
                    </a:cubicBezTo>
                    <a:cubicBezTo>
                      <a:pt x="359" y="44"/>
                      <a:pt x="308" y="0"/>
                      <a:pt x="254" y="0"/>
                    </a:cubicBezTo>
                    <a:cubicBezTo>
                      <a:pt x="200" y="0"/>
                      <a:pt x="149" y="44"/>
                      <a:pt x="142" y="100"/>
                    </a:cubicBezTo>
                    <a:cubicBezTo>
                      <a:pt x="141" y="107"/>
                      <a:pt x="135" y="113"/>
                      <a:pt x="128" y="113"/>
                    </a:cubicBezTo>
                    <a:cubicBezTo>
                      <a:pt x="114" y="113"/>
                      <a:pt x="100" y="113"/>
                      <a:pt x="85" y="113"/>
                    </a:cubicBezTo>
                    <a:cubicBezTo>
                      <a:pt x="38" y="113"/>
                      <a:pt x="0" y="151"/>
                      <a:pt x="0" y="197"/>
                    </a:cubicBezTo>
                    <a:cubicBezTo>
                      <a:pt x="0" y="206"/>
                      <a:pt x="0" y="216"/>
                      <a:pt x="0" y="226"/>
                    </a:cubicBezTo>
                    <a:cubicBezTo>
                      <a:pt x="0" y="241"/>
                      <a:pt x="13" y="254"/>
                      <a:pt x="28" y="254"/>
                    </a:cubicBezTo>
                    <a:cubicBezTo>
                      <a:pt x="179" y="254"/>
                      <a:pt x="330" y="254"/>
                      <a:pt x="480" y="254"/>
                    </a:cubicBezTo>
                    <a:cubicBezTo>
                      <a:pt x="495" y="254"/>
                      <a:pt x="508" y="241"/>
                      <a:pt x="508" y="226"/>
                    </a:cubicBezTo>
                    <a:cubicBezTo>
                      <a:pt x="508" y="216"/>
                      <a:pt x="508" y="206"/>
                      <a:pt x="508" y="197"/>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7" name="Freeform 203">
                <a:extLst>
                  <a:ext uri="{FF2B5EF4-FFF2-40B4-BE49-F238E27FC236}">
                    <a16:creationId xmlns:a16="http://schemas.microsoft.com/office/drawing/2014/main" id="{989717E8-98DF-3625-88D7-E09FDF02F164}"/>
                  </a:ext>
                </a:extLst>
              </p:cNvPr>
              <p:cNvSpPr>
                <a:spLocks noChangeArrowheads="1"/>
              </p:cNvSpPr>
              <p:nvPr/>
            </p:nvSpPr>
            <p:spPr bwMode="auto">
              <a:xfrm>
                <a:off x="8080375" y="2444750"/>
                <a:ext cx="92075" cy="1588"/>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8" name="Freeform 204">
                <a:extLst>
                  <a:ext uri="{FF2B5EF4-FFF2-40B4-BE49-F238E27FC236}">
                    <a16:creationId xmlns:a16="http://schemas.microsoft.com/office/drawing/2014/main" id="{D1AB6FBF-2981-4954-BF57-AA8D5CB87405}"/>
                  </a:ext>
                </a:extLst>
              </p:cNvPr>
              <p:cNvSpPr>
                <a:spLocks noChangeArrowheads="1"/>
              </p:cNvSpPr>
              <p:nvPr/>
            </p:nvSpPr>
            <p:spPr bwMode="auto">
              <a:xfrm>
                <a:off x="8080375" y="2322513"/>
                <a:ext cx="20638" cy="20637"/>
              </a:xfrm>
              <a:custGeom>
                <a:avLst/>
                <a:gdLst>
                  <a:gd name="T0" fmla="*/ 56 w 57"/>
                  <a:gd name="T1" fmla="*/ 29 h 58"/>
                  <a:gd name="T2" fmla="*/ 28 w 57"/>
                  <a:gd name="T3" fmla="*/ 57 h 58"/>
                  <a:gd name="T4" fmla="*/ 0 w 57"/>
                  <a:gd name="T5" fmla="*/ 29 h 58"/>
                  <a:gd name="T6" fmla="*/ 28 w 57"/>
                  <a:gd name="T7" fmla="*/ 0 h 58"/>
                  <a:gd name="T8" fmla="*/ 56 w 57"/>
                  <a:gd name="T9" fmla="*/ 29 h 58"/>
                </a:gdLst>
                <a:ahLst/>
                <a:cxnLst>
                  <a:cxn ang="0">
                    <a:pos x="T0" y="T1"/>
                  </a:cxn>
                  <a:cxn ang="0">
                    <a:pos x="T2" y="T3"/>
                  </a:cxn>
                  <a:cxn ang="0">
                    <a:pos x="T4" y="T5"/>
                  </a:cxn>
                  <a:cxn ang="0">
                    <a:pos x="T6" y="T7"/>
                  </a:cxn>
                  <a:cxn ang="0">
                    <a:pos x="T8" y="T9"/>
                  </a:cxn>
                </a:cxnLst>
                <a:rect l="0" t="0" r="r" b="b"/>
                <a:pathLst>
                  <a:path w="57" h="58">
                    <a:moveTo>
                      <a:pt x="56" y="29"/>
                    </a:moveTo>
                    <a:cubicBezTo>
                      <a:pt x="56" y="44"/>
                      <a:pt x="44" y="57"/>
                      <a:pt x="28" y="57"/>
                    </a:cubicBezTo>
                    <a:cubicBezTo>
                      <a:pt x="12" y="57"/>
                      <a:pt x="0" y="44"/>
                      <a:pt x="0" y="29"/>
                    </a:cubicBezTo>
                    <a:cubicBezTo>
                      <a:pt x="0" y="13"/>
                      <a:pt x="12" y="0"/>
                      <a:pt x="28" y="0"/>
                    </a:cubicBezTo>
                    <a:cubicBezTo>
                      <a:pt x="44" y="0"/>
                      <a:pt x="56" y="13"/>
                      <a:pt x="56" y="29"/>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9" name="Freeform 205">
                <a:extLst>
                  <a:ext uri="{FF2B5EF4-FFF2-40B4-BE49-F238E27FC236}">
                    <a16:creationId xmlns:a16="http://schemas.microsoft.com/office/drawing/2014/main" id="{CA32E0B1-981D-C88D-0D45-BFA61584B261}"/>
                  </a:ext>
                </a:extLst>
              </p:cNvPr>
              <p:cNvSpPr>
                <a:spLocks noChangeArrowheads="1"/>
              </p:cNvSpPr>
              <p:nvPr/>
            </p:nvSpPr>
            <p:spPr bwMode="auto">
              <a:xfrm>
                <a:off x="8008938" y="2430463"/>
                <a:ext cx="31750" cy="30162"/>
              </a:xfrm>
              <a:custGeom>
                <a:avLst/>
                <a:gdLst>
                  <a:gd name="T0" fmla="*/ 85 w 86"/>
                  <a:gd name="T1" fmla="*/ 42 h 85"/>
                  <a:gd name="T2" fmla="*/ 43 w 86"/>
                  <a:gd name="T3" fmla="*/ 84 h 85"/>
                  <a:gd name="T4" fmla="*/ 0 w 86"/>
                  <a:gd name="T5" fmla="*/ 42 h 85"/>
                  <a:gd name="T6" fmla="*/ 43 w 86"/>
                  <a:gd name="T7" fmla="*/ 0 h 85"/>
                  <a:gd name="T8" fmla="*/ 85 w 86"/>
                  <a:gd name="T9" fmla="*/ 42 h 85"/>
                </a:gdLst>
                <a:ahLst/>
                <a:cxnLst>
                  <a:cxn ang="0">
                    <a:pos x="T0" y="T1"/>
                  </a:cxn>
                  <a:cxn ang="0">
                    <a:pos x="T2" y="T3"/>
                  </a:cxn>
                  <a:cxn ang="0">
                    <a:pos x="T4" y="T5"/>
                  </a:cxn>
                  <a:cxn ang="0">
                    <a:pos x="T6" y="T7"/>
                  </a:cxn>
                  <a:cxn ang="0">
                    <a:pos x="T8" y="T9"/>
                  </a:cxn>
                </a:cxnLst>
                <a:rect l="0" t="0" r="r" b="b"/>
                <a:pathLst>
                  <a:path w="86" h="85">
                    <a:moveTo>
                      <a:pt x="85" y="42"/>
                    </a:moveTo>
                    <a:cubicBezTo>
                      <a:pt x="85" y="66"/>
                      <a:pt x="66" y="84"/>
                      <a:pt x="43" y="84"/>
                    </a:cubicBezTo>
                    <a:cubicBezTo>
                      <a:pt x="19" y="84"/>
                      <a:pt x="0" y="66"/>
                      <a:pt x="0" y="42"/>
                    </a:cubicBezTo>
                    <a:cubicBezTo>
                      <a:pt x="0" y="19"/>
                      <a:pt x="19" y="0"/>
                      <a:pt x="43" y="0"/>
                    </a:cubicBezTo>
                    <a:cubicBezTo>
                      <a:pt x="66" y="0"/>
                      <a:pt x="85" y="19"/>
                      <a:pt x="85" y="42"/>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0" name="Freeform 206">
                <a:extLst>
                  <a:ext uri="{FF2B5EF4-FFF2-40B4-BE49-F238E27FC236}">
                    <a16:creationId xmlns:a16="http://schemas.microsoft.com/office/drawing/2014/main" id="{171B87C3-C453-D23D-F7F4-411B3A4A4E03}"/>
                  </a:ext>
                </a:extLst>
              </p:cNvPr>
              <p:cNvSpPr>
                <a:spLocks noChangeArrowheads="1"/>
              </p:cNvSpPr>
              <p:nvPr/>
            </p:nvSpPr>
            <p:spPr bwMode="auto">
              <a:xfrm>
                <a:off x="8008938" y="2490788"/>
                <a:ext cx="31750" cy="31750"/>
              </a:xfrm>
              <a:custGeom>
                <a:avLst/>
                <a:gdLst>
                  <a:gd name="T0" fmla="*/ 85 w 86"/>
                  <a:gd name="T1" fmla="*/ 42 h 86"/>
                  <a:gd name="T2" fmla="*/ 43 w 86"/>
                  <a:gd name="T3" fmla="*/ 85 h 86"/>
                  <a:gd name="T4" fmla="*/ 0 w 86"/>
                  <a:gd name="T5" fmla="*/ 42 h 86"/>
                  <a:gd name="T6" fmla="*/ 43 w 86"/>
                  <a:gd name="T7" fmla="*/ 0 h 86"/>
                  <a:gd name="T8" fmla="*/ 85 w 86"/>
                  <a:gd name="T9" fmla="*/ 42 h 86"/>
                </a:gdLst>
                <a:ahLst/>
                <a:cxnLst>
                  <a:cxn ang="0">
                    <a:pos x="T0" y="T1"/>
                  </a:cxn>
                  <a:cxn ang="0">
                    <a:pos x="T2" y="T3"/>
                  </a:cxn>
                  <a:cxn ang="0">
                    <a:pos x="T4" y="T5"/>
                  </a:cxn>
                  <a:cxn ang="0">
                    <a:pos x="T6" y="T7"/>
                  </a:cxn>
                  <a:cxn ang="0">
                    <a:pos x="T8" y="T9"/>
                  </a:cxn>
                </a:cxnLst>
                <a:rect l="0" t="0" r="r" b="b"/>
                <a:pathLst>
                  <a:path w="86" h="86">
                    <a:moveTo>
                      <a:pt x="85" y="42"/>
                    </a:moveTo>
                    <a:cubicBezTo>
                      <a:pt x="85" y="66"/>
                      <a:pt x="66" y="85"/>
                      <a:pt x="43" y="85"/>
                    </a:cubicBezTo>
                    <a:cubicBezTo>
                      <a:pt x="19" y="85"/>
                      <a:pt x="0" y="66"/>
                      <a:pt x="0" y="42"/>
                    </a:cubicBezTo>
                    <a:cubicBezTo>
                      <a:pt x="0" y="19"/>
                      <a:pt x="19" y="0"/>
                      <a:pt x="43" y="0"/>
                    </a:cubicBezTo>
                    <a:cubicBezTo>
                      <a:pt x="66" y="0"/>
                      <a:pt x="85" y="19"/>
                      <a:pt x="85" y="42"/>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1" name="Freeform 207">
                <a:extLst>
                  <a:ext uri="{FF2B5EF4-FFF2-40B4-BE49-F238E27FC236}">
                    <a16:creationId xmlns:a16="http://schemas.microsoft.com/office/drawing/2014/main" id="{18FC1E4A-70F0-A95D-24A6-3DA862000FFC}"/>
                  </a:ext>
                </a:extLst>
              </p:cNvPr>
              <p:cNvSpPr>
                <a:spLocks noChangeArrowheads="1"/>
              </p:cNvSpPr>
              <p:nvPr/>
            </p:nvSpPr>
            <p:spPr bwMode="auto">
              <a:xfrm>
                <a:off x="8008938" y="2551113"/>
                <a:ext cx="31750" cy="31750"/>
              </a:xfrm>
              <a:custGeom>
                <a:avLst/>
                <a:gdLst>
                  <a:gd name="T0" fmla="*/ 85 w 86"/>
                  <a:gd name="T1" fmla="*/ 43 h 86"/>
                  <a:gd name="T2" fmla="*/ 43 w 86"/>
                  <a:gd name="T3" fmla="*/ 85 h 86"/>
                  <a:gd name="T4" fmla="*/ 0 w 86"/>
                  <a:gd name="T5" fmla="*/ 43 h 86"/>
                  <a:gd name="T6" fmla="*/ 43 w 86"/>
                  <a:gd name="T7" fmla="*/ 0 h 86"/>
                  <a:gd name="T8" fmla="*/ 85 w 86"/>
                  <a:gd name="T9" fmla="*/ 43 h 86"/>
                </a:gdLst>
                <a:ahLst/>
                <a:cxnLst>
                  <a:cxn ang="0">
                    <a:pos x="T0" y="T1"/>
                  </a:cxn>
                  <a:cxn ang="0">
                    <a:pos x="T2" y="T3"/>
                  </a:cxn>
                  <a:cxn ang="0">
                    <a:pos x="T4" y="T5"/>
                  </a:cxn>
                  <a:cxn ang="0">
                    <a:pos x="T6" y="T7"/>
                  </a:cxn>
                  <a:cxn ang="0">
                    <a:pos x="T8" y="T9"/>
                  </a:cxn>
                </a:cxnLst>
                <a:rect l="0" t="0" r="r" b="b"/>
                <a:pathLst>
                  <a:path w="86" h="86">
                    <a:moveTo>
                      <a:pt x="85" y="43"/>
                    </a:moveTo>
                    <a:cubicBezTo>
                      <a:pt x="85" y="66"/>
                      <a:pt x="66" y="85"/>
                      <a:pt x="43" y="85"/>
                    </a:cubicBezTo>
                    <a:cubicBezTo>
                      <a:pt x="19" y="85"/>
                      <a:pt x="0" y="66"/>
                      <a:pt x="0" y="43"/>
                    </a:cubicBezTo>
                    <a:cubicBezTo>
                      <a:pt x="0" y="19"/>
                      <a:pt x="19" y="0"/>
                      <a:pt x="43" y="0"/>
                    </a:cubicBezTo>
                    <a:cubicBezTo>
                      <a:pt x="66" y="0"/>
                      <a:pt x="85" y="19"/>
                      <a:pt x="85" y="43"/>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2" name="Freeform 208">
                <a:extLst>
                  <a:ext uri="{FF2B5EF4-FFF2-40B4-BE49-F238E27FC236}">
                    <a16:creationId xmlns:a16="http://schemas.microsoft.com/office/drawing/2014/main" id="{210E0E0D-D72A-8491-7E70-CBC08DE56236}"/>
                  </a:ext>
                </a:extLst>
              </p:cNvPr>
              <p:cNvSpPr>
                <a:spLocks noChangeArrowheads="1"/>
              </p:cNvSpPr>
              <p:nvPr/>
            </p:nvSpPr>
            <p:spPr bwMode="auto">
              <a:xfrm>
                <a:off x="8008938" y="2613025"/>
                <a:ext cx="31750" cy="30163"/>
              </a:xfrm>
              <a:custGeom>
                <a:avLst/>
                <a:gdLst>
                  <a:gd name="T0" fmla="*/ 85 w 86"/>
                  <a:gd name="T1" fmla="*/ 42 h 85"/>
                  <a:gd name="T2" fmla="*/ 43 w 86"/>
                  <a:gd name="T3" fmla="*/ 84 h 85"/>
                  <a:gd name="T4" fmla="*/ 0 w 86"/>
                  <a:gd name="T5" fmla="*/ 42 h 85"/>
                  <a:gd name="T6" fmla="*/ 43 w 86"/>
                  <a:gd name="T7" fmla="*/ 0 h 85"/>
                  <a:gd name="T8" fmla="*/ 85 w 86"/>
                  <a:gd name="T9" fmla="*/ 42 h 85"/>
                </a:gdLst>
                <a:ahLst/>
                <a:cxnLst>
                  <a:cxn ang="0">
                    <a:pos x="T0" y="T1"/>
                  </a:cxn>
                  <a:cxn ang="0">
                    <a:pos x="T2" y="T3"/>
                  </a:cxn>
                  <a:cxn ang="0">
                    <a:pos x="T4" y="T5"/>
                  </a:cxn>
                  <a:cxn ang="0">
                    <a:pos x="T6" y="T7"/>
                  </a:cxn>
                  <a:cxn ang="0">
                    <a:pos x="T8" y="T9"/>
                  </a:cxn>
                </a:cxnLst>
                <a:rect l="0" t="0" r="r" b="b"/>
                <a:pathLst>
                  <a:path w="86" h="85">
                    <a:moveTo>
                      <a:pt x="85" y="42"/>
                    </a:moveTo>
                    <a:cubicBezTo>
                      <a:pt x="85" y="65"/>
                      <a:pt x="66" y="84"/>
                      <a:pt x="43" y="84"/>
                    </a:cubicBezTo>
                    <a:cubicBezTo>
                      <a:pt x="19" y="84"/>
                      <a:pt x="0" y="65"/>
                      <a:pt x="0" y="42"/>
                    </a:cubicBezTo>
                    <a:cubicBezTo>
                      <a:pt x="0" y="19"/>
                      <a:pt x="19" y="0"/>
                      <a:pt x="43" y="0"/>
                    </a:cubicBezTo>
                    <a:cubicBezTo>
                      <a:pt x="66" y="0"/>
                      <a:pt x="85" y="19"/>
                      <a:pt x="85" y="42"/>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3" name="Freeform 209">
                <a:extLst>
                  <a:ext uri="{FF2B5EF4-FFF2-40B4-BE49-F238E27FC236}">
                    <a16:creationId xmlns:a16="http://schemas.microsoft.com/office/drawing/2014/main" id="{9836484A-BF7B-1ED7-7FC1-2388D9467073}"/>
                  </a:ext>
                </a:extLst>
              </p:cNvPr>
              <p:cNvSpPr>
                <a:spLocks noChangeArrowheads="1"/>
              </p:cNvSpPr>
              <p:nvPr/>
            </p:nvSpPr>
            <p:spPr bwMode="auto">
              <a:xfrm>
                <a:off x="8080375" y="2506663"/>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4" name="Freeform 210">
                <a:extLst>
                  <a:ext uri="{FF2B5EF4-FFF2-40B4-BE49-F238E27FC236}">
                    <a16:creationId xmlns:a16="http://schemas.microsoft.com/office/drawing/2014/main" id="{3364B791-EA6B-7A08-822E-858319C8F010}"/>
                  </a:ext>
                </a:extLst>
              </p:cNvPr>
              <p:cNvSpPr>
                <a:spLocks noChangeArrowheads="1"/>
              </p:cNvSpPr>
              <p:nvPr/>
            </p:nvSpPr>
            <p:spPr bwMode="auto">
              <a:xfrm>
                <a:off x="8080375" y="2566988"/>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5" name="Freeform 211">
                <a:extLst>
                  <a:ext uri="{FF2B5EF4-FFF2-40B4-BE49-F238E27FC236}">
                    <a16:creationId xmlns:a16="http://schemas.microsoft.com/office/drawing/2014/main" id="{1981EEC0-E395-35B2-ACC7-9342D7B1D6AC}"/>
                  </a:ext>
                </a:extLst>
              </p:cNvPr>
              <p:cNvSpPr>
                <a:spLocks noChangeArrowheads="1"/>
              </p:cNvSpPr>
              <p:nvPr/>
            </p:nvSpPr>
            <p:spPr bwMode="auto">
              <a:xfrm>
                <a:off x="8080375" y="2627313"/>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grpSp>
      <p:sp>
        <p:nvSpPr>
          <p:cNvPr id="46" name="TextBox 45">
            <a:extLst>
              <a:ext uri="{FF2B5EF4-FFF2-40B4-BE49-F238E27FC236}">
                <a16:creationId xmlns:a16="http://schemas.microsoft.com/office/drawing/2014/main" id="{FF629590-BAAF-7A53-6AB7-F5764550BF35}"/>
              </a:ext>
            </a:extLst>
          </p:cNvPr>
          <p:cNvSpPr txBox="1"/>
          <p:nvPr/>
        </p:nvSpPr>
        <p:spPr>
          <a:xfrm>
            <a:off x="7751630" y="2273774"/>
            <a:ext cx="1767372" cy="2616101"/>
          </a:xfrm>
          <a:prstGeom prst="rect">
            <a:avLst/>
          </a:prstGeom>
          <a:noFill/>
        </p:spPr>
        <p:txBody>
          <a:bodyPr wrap="square" rtlCol="0">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Fira Sans" panose="020B0503050000020004" pitchFamily="34" charset="0"/>
                <a:ea typeface="+mn-ea"/>
                <a:cs typeface="+mn-cs"/>
              </a:rPr>
              <a:t>Cloud Readiness Assessment </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Full Scoping and Profiling of applications, release plan, first movers, refined TCO, full CRA.</a:t>
            </a:r>
          </a:p>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Tool used:</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 Dr. Migrate with validation exercises afterwards to ensure the customers' needs are met. Deeper dive into applications that require refactoring or modernising. </a:t>
            </a:r>
          </a:p>
        </p:txBody>
      </p:sp>
      <p:grpSp>
        <p:nvGrpSpPr>
          <p:cNvPr id="50" name="Group 49">
            <a:extLst>
              <a:ext uri="{FF2B5EF4-FFF2-40B4-BE49-F238E27FC236}">
                <a16:creationId xmlns:a16="http://schemas.microsoft.com/office/drawing/2014/main" id="{1D05CF8B-65DC-F740-DA90-F03C2FDA1810}"/>
              </a:ext>
            </a:extLst>
          </p:cNvPr>
          <p:cNvGrpSpPr/>
          <p:nvPr/>
        </p:nvGrpSpPr>
        <p:grpSpPr>
          <a:xfrm>
            <a:off x="10663068" y="1706378"/>
            <a:ext cx="582231" cy="582230"/>
            <a:chOff x="10838756" y="2324452"/>
            <a:chExt cx="582231" cy="582230"/>
          </a:xfrm>
        </p:grpSpPr>
        <p:pic>
          <p:nvPicPr>
            <p:cNvPr id="47" name="Picture 46">
              <a:extLst>
                <a:ext uri="{FF2B5EF4-FFF2-40B4-BE49-F238E27FC236}">
                  <a16:creationId xmlns:a16="http://schemas.microsoft.com/office/drawing/2014/main" id="{DCA6EA4D-7B17-E38A-06D2-29C503AA5627}"/>
                </a:ext>
              </a:extLst>
            </p:cNvPr>
            <p:cNvPicPr>
              <a:picLocks noChangeAspect="1"/>
            </p:cNvPicPr>
            <p:nvPr/>
          </p:nvPicPr>
          <p:blipFill>
            <a:blip r:embed="rId2"/>
            <a:stretch>
              <a:fillRect/>
            </a:stretch>
          </p:blipFill>
          <p:spPr>
            <a:xfrm>
              <a:off x="10910180" y="2392678"/>
              <a:ext cx="439385" cy="439385"/>
            </a:xfrm>
            <a:prstGeom prst="rect">
              <a:avLst/>
            </a:prstGeom>
          </p:spPr>
        </p:pic>
        <p:sp>
          <p:nvSpPr>
            <p:cNvPr id="49" name="Freeform 200">
              <a:extLst>
                <a:ext uri="{FF2B5EF4-FFF2-40B4-BE49-F238E27FC236}">
                  <a16:creationId xmlns:a16="http://schemas.microsoft.com/office/drawing/2014/main" id="{3C5E3907-0460-F4D0-80E5-553B48A7D717}"/>
                </a:ext>
              </a:extLst>
            </p:cNvPr>
            <p:cNvSpPr>
              <a:spLocks noChangeArrowheads="1"/>
            </p:cNvSpPr>
            <p:nvPr/>
          </p:nvSpPr>
          <p:spPr bwMode="auto">
            <a:xfrm>
              <a:off x="10838756" y="2324452"/>
              <a:ext cx="582231" cy="582230"/>
            </a:xfrm>
            <a:custGeom>
              <a:avLst/>
              <a:gdLst>
                <a:gd name="T0" fmla="*/ 1468 w 1751"/>
                <a:gd name="T1" fmla="*/ 1749 h 1750"/>
                <a:gd name="T2" fmla="*/ 1750 w 1751"/>
                <a:gd name="T3" fmla="*/ 1467 h 1750"/>
                <a:gd name="T4" fmla="*/ 1750 w 1751"/>
                <a:gd name="T5" fmla="*/ 282 h 1750"/>
                <a:gd name="T6" fmla="*/ 1468 w 1751"/>
                <a:gd name="T7" fmla="*/ 0 h 1750"/>
                <a:gd name="T8" fmla="*/ 282 w 1751"/>
                <a:gd name="T9" fmla="*/ 0 h 1750"/>
                <a:gd name="T10" fmla="*/ 0 w 1751"/>
                <a:gd name="T11" fmla="*/ 282 h 1750"/>
                <a:gd name="T12" fmla="*/ 0 w 1751"/>
                <a:gd name="T13" fmla="*/ 1467 h 1750"/>
                <a:gd name="T14" fmla="*/ 282 w 1751"/>
                <a:gd name="T15" fmla="*/ 1749 h 1750"/>
                <a:gd name="T16" fmla="*/ 1468 w 1751"/>
                <a:gd name="T17" fmla="*/ 1749 h 1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0">
                  <a:moveTo>
                    <a:pt x="1468" y="1749"/>
                  </a:moveTo>
                  <a:cubicBezTo>
                    <a:pt x="1623" y="1749"/>
                    <a:pt x="1750" y="1623"/>
                    <a:pt x="1750" y="1467"/>
                  </a:cubicBezTo>
                  <a:cubicBezTo>
                    <a:pt x="1750" y="1072"/>
                    <a:pt x="1750" y="677"/>
                    <a:pt x="1750" y="282"/>
                  </a:cubicBezTo>
                  <a:cubicBezTo>
                    <a:pt x="1750" y="127"/>
                    <a:pt x="1623" y="0"/>
                    <a:pt x="1468" y="0"/>
                  </a:cubicBezTo>
                  <a:cubicBezTo>
                    <a:pt x="1073" y="0"/>
                    <a:pt x="678" y="0"/>
                    <a:pt x="282" y="0"/>
                  </a:cubicBezTo>
                  <a:cubicBezTo>
                    <a:pt x="127" y="0"/>
                    <a:pt x="0" y="127"/>
                    <a:pt x="0" y="282"/>
                  </a:cubicBezTo>
                  <a:cubicBezTo>
                    <a:pt x="0" y="677"/>
                    <a:pt x="0" y="1072"/>
                    <a:pt x="0" y="1467"/>
                  </a:cubicBezTo>
                  <a:cubicBezTo>
                    <a:pt x="0" y="1623"/>
                    <a:pt x="127" y="1749"/>
                    <a:pt x="282" y="1749"/>
                  </a:cubicBezTo>
                  <a:cubicBezTo>
                    <a:pt x="678" y="1749"/>
                    <a:pt x="1073" y="1749"/>
                    <a:pt x="1468" y="1749"/>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sp>
        <p:nvSpPr>
          <p:cNvPr id="51" name="TextBox 50">
            <a:extLst>
              <a:ext uri="{FF2B5EF4-FFF2-40B4-BE49-F238E27FC236}">
                <a16:creationId xmlns:a16="http://schemas.microsoft.com/office/drawing/2014/main" id="{8954D2CE-3808-912E-0C19-568DE44181CC}"/>
              </a:ext>
            </a:extLst>
          </p:cNvPr>
          <p:cNvSpPr txBox="1"/>
          <p:nvPr/>
        </p:nvSpPr>
        <p:spPr>
          <a:xfrm>
            <a:off x="10022385" y="2288608"/>
            <a:ext cx="1767372" cy="3847207"/>
          </a:xfrm>
          <a:prstGeom prst="rect">
            <a:avLst/>
          </a:prstGeom>
          <a:noFill/>
        </p:spPr>
        <p:txBody>
          <a:bodyPr wrap="square" rtlCol="0">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Fira Sans" panose="020B0503050000020004" pitchFamily="34" charset="0"/>
                <a:ea typeface="+mn-ea"/>
                <a:cs typeface="+mn-cs"/>
              </a:rPr>
              <a:t>Microsoft Solution Assessment </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Microsoft have their own versions of assessments (main focus is similar to Rapid and Advanced Assessments)</a:t>
            </a:r>
          </a:p>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We will nominate customers for this programme and Microsoft will carry out the assessment and work with us to tell the correct story to the customer on next steps and final deliverables. </a:t>
            </a:r>
          </a:p>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Rackspace is pushing to utilise this initiative but may not live forever, so we have the other assessments in place as a failsafe. </a:t>
            </a:r>
          </a:p>
        </p:txBody>
      </p:sp>
      <p:cxnSp>
        <p:nvCxnSpPr>
          <p:cNvPr id="54" name="Straight Connector 53">
            <a:extLst>
              <a:ext uri="{FF2B5EF4-FFF2-40B4-BE49-F238E27FC236}">
                <a16:creationId xmlns:a16="http://schemas.microsoft.com/office/drawing/2014/main" id="{5BACC080-9749-8F40-A3D4-CC9887350F23}"/>
              </a:ext>
            </a:extLst>
          </p:cNvPr>
          <p:cNvCxnSpPr>
            <a:cxnSpLocks/>
            <a:stCxn id="57" idx="0"/>
          </p:cNvCxnSpPr>
          <p:nvPr/>
        </p:nvCxnSpPr>
        <p:spPr>
          <a:xfrm rot="16200000" flipV="1">
            <a:off x="7201613" y="1051739"/>
            <a:ext cx="481054" cy="1"/>
          </a:xfrm>
          <a:prstGeom prst="bentConnector3">
            <a:avLst>
              <a:gd name="adj1" fmla="val 50000"/>
            </a:avLst>
          </a:prstGeom>
          <a:ln w="63500">
            <a:solidFill>
              <a:schemeClr val="accent4">
                <a:lumMod val="75000"/>
                <a:alpha val="80000"/>
              </a:schemeClr>
            </a:solidFill>
            <a:round/>
            <a:headEnd type="triangle" w="sm" len="sm"/>
            <a:tailEnd type="none" w="med" len="med"/>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C84ACDA0-2333-0B05-5020-8BF3DB47F1A1}"/>
              </a:ext>
            </a:extLst>
          </p:cNvPr>
          <p:cNvSpPr/>
          <p:nvPr/>
        </p:nvSpPr>
        <p:spPr>
          <a:xfrm>
            <a:off x="7322373" y="1292267"/>
            <a:ext cx="239533" cy="239533"/>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cxnSp>
        <p:nvCxnSpPr>
          <p:cNvPr id="62" name="Straight Connector 53">
            <a:extLst>
              <a:ext uri="{FF2B5EF4-FFF2-40B4-BE49-F238E27FC236}">
                <a16:creationId xmlns:a16="http://schemas.microsoft.com/office/drawing/2014/main" id="{442DDF22-7CD7-E995-E5AD-DE63525FAA16}"/>
              </a:ext>
            </a:extLst>
          </p:cNvPr>
          <p:cNvCxnSpPr>
            <a:cxnSpLocks/>
            <a:endCxn id="57" idx="2"/>
          </p:cNvCxnSpPr>
          <p:nvPr/>
        </p:nvCxnSpPr>
        <p:spPr>
          <a:xfrm flipV="1">
            <a:off x="4195582" y="1412034"/>
            <a:ext cx="3126791" cy="309002"/>
          </a:xfrm>
          <a:prstGeom prst="bentConnector3">
            <a:avLst>
              <a:gd name="adj1" fmla="val -91"/>
            </a:avLst>
          </a:prstGeom>
          <a:ln w="63500">
            <a:solidFill>
              <a:schemeClr val="accent4">
                <a:lumMod val="75000"/>
                <a:alpha val="80000"/>
              </a:schemeClr>
            </a:solidFill>
            <a:round/>
            <a:headEnd type="triangl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3" name="Straight Connector 53">
            <a:extLst>
              <a:ext uri="{FF2B5EF4-FFF2-40B4-BE49-F238E27FC236}">
                <a16:creationId xmlns:a16="http://schemas.microsoft.com/office/drawing/2014/main" id="{BBEE41C0-4E81-6F51-F255-DE12C2DD9B4C}"/>
              </a:ext>
            </a:extLst>
          </p:cNvPr>
          <p:cNvCxnSpPr>
            <a:cxnSpLocks/>
            <a:endCxn id="57" idx="6"/>
          </p:cNvCxnSpPr>
          <p:nvPr/>
        </p:nvCxnSpPr>
        <p:spPr>
          <a:xfrm rot="10800000">
            <a:off x="7561907" y="1412034"/>
            <a:ext cx="3392277" cy="289242"/>
          </a:xfrm>
          <a:prstGeom prst="bentConnector3">
            <a:avLst>
              <a:gd name="adj1" fmla="val 93"/>
            </a:avLst>
          </a:prstGeom>
          <a:ln w="63500">
            <a:solidFill>
              <a:schemeClr val="accent4">
                <a:lumMod val="75000"/>
                <a:alpha val="80000"/>
              </a:schemeClr>
            </a:solidFill>
            <a:round/>
            <a:headEnd type="triangl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53">
            <a:extLst>
              <a:ext uri="{FF2B5EF4-FFF2-40B4-BE49-F238E27FC236}">
                <a16:creationId xmlns:a16="http://schemas.microsoft.com/office/drawing/2014/main" id="{46269F32-5A1D-FB60-F50C-FA4AA064BA51}"/>
              </a:ext>
            </a:extLst>
          </p:cNvPr>
          <p:cNvCxnSpPr>
            <a:cxnSpLocks/>
          </p:cNvCxnSpPr>
          <p:nvPr/>
        </p:nvCxnSpPr>
        <p:spPr>
          <a:xfrm rot="16200000" flipV="1">
            <a:off x="8522287" y="1576547"/>
            <a:ext cx="264194" cy="1"/>
          </a:xfrm>
          <a:prstGeom prst="bentConnector3">
            <a:avLst>
              <a:gd name="adj1" fmla="val 12304"/>
            </a:avLst>
          </a:prstGeom>
          <a:ln w="63500">
            <a:solidFill>
              <a:schemeClr val="accent4">
                <a:lumMod val="75000"/>
                <a:alpha val="80000"/>
              </a:schemeClr>
            </a:solidFill>
            <a:round/>
            <a:headEnd type="triangl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Connector 53">
            <a:extLst>
              <a:ext uri="{FF2B5EF4-FFF2-40B4-BE49-F238E27FC236}">
                <a16:creationId xmlns:a16="http://schemas.microsoft.com/office/drawing/2014/main" id="{5C12BFBD-3F86-9BD9-FBF1-F12AE6B1EB79}"/>
              </a:ext>
            </a:extLst>
          </p:cNvPr>
          <p:cNvCxnSpPr>
            <a:cxnSpLocks/>
          </p:cNvCxnSpPr>
          <p:nvPr/>
        </p:nvCxnSpPr>
        <p:spPr>
          <a:xfrm rot="16200000" flipV="1">
            <a:off x="6286081" y="1576547"/>
            <a:ext cx="264194" cy="1"/>
          </a:xfrm>
          <a:prstGeom prst="bentConnector3">
            <a:avLst>
              <a:gd name="adj1" fmla="val 12304"/>
            </a:avLst>
          </a:prstGeom>
          <a:ln w="63500">
            <a:solidFill>
              <a:schemeClr val="accent4">
                <a:lumMod val="75000"/>
                <a:alpha val="80000"/>
              </a:schemeClr>
            </a:solidFill>
            <a:round/>
            <a:headEnd type="triangle" w="sm" len="sm"/>
            <a:tailEnd type="none" w="med" len="med"/>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E0984D6F-A8EC-34AA-051D-5446FCAE2BE9}"/>
              </a:ext>
            </a:extLst>
          </p:cNvPr>
          <p:cNvSpPr/>
          <p:nvPr/>
        </p:nvSpPr>
        <p:spPr>
          <a:xfrm>
            <a:off x="3548958" y="6337426"/>
            <a:ext cx="8166226" cy="298324"/>
          </a:xfrm>
          <a:prstGeom prst="rect">
            <a:avLst/>
          </a:prstGeom>
          <a:solidFill>
            <a:schemeClr val="accent4">
              <a:lumMod val="75000"/>
              <a:alpha val="73000"/>
            </a:schemeClr>
          </a:solidFill>
          <a:ln w="666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91" name="TextBox 90">
            <a:extLst>
              <a:ext uri="{FF2B5EF4-FFF2-40B4-BE49-F238E27FC236}">
                <a16:creationId xmlns:a16="http://schemas.microsoft.com/office/drawing/2014/main" id="{2E7763B2-FEF9-5800-1CD7-1DD5C9581DBF}"/>
              </a:ext>
            </a:extLst>
          </p:cNvPr>
          <p:cNvSpPr txBox="1"/>
          <p:nvPr/>
        </p:nvSpPr>
        <p:spPr>
          <a:xfrm>
            <a:off x="6148235" y="6301922"/>
            <a:ext cx="2967672" cy="369332"/>
          </a:xfrm>
          <a:prstGeom prst="rect">
            <a:avLst/>
          </a:prstGeom>
          <a:noFill/>
        </p:spPr>
        <p:txBody>
          <a:bodyPr wrap="non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
                <a:ea typeface="+mn-ea"/>
                <a:cs typeface="+mn-cs"/>
              </a:rPr>
              <a:t>M O B I L I Z E   P H A S E</a:t>
            </a:r>
          </a:p>
        </p:txBody>
      </p:sp>
      <p:cxnSp>
        <p:nvCxnSpPr>
          <p:cNvPr id="92" name="Straight Connector 53">
            <a:extLst>
              <a:ext uri="{FF2B5EF4-FFF2-40B4-BE49-F238E27FC236}">
                <a16:creationId xmlns:a16="http://schemas.microsoft.com/office/drawing/2014/main" id="{F70A34B6-5218-82E4-8F41-806656DE9106}"/>
              </a:ext>
            </a:extLst>
          </p:cNvPr>
          <p:cNvCxnSpPr>
            <a:cxnSpLocks/>
          </p:cNvCxnSpPr>
          <p:nvPr/>
        </p:nvCxnSpPr>
        <p:spPr>
          <a:xfrm rot="16200000" flipV="1">
            <a:off x="10773973" y="6185569"/>
            <a:ext cx="264194" cy="1"/>
          </a:xfrm>
          <a:prstGeom prst="bentConnector3">
            <a:avLst>
              <a:gd name="adj1" fmla="val 12304"/>
            </a:avLst>
          </a:prstGeom>
          <a:ln w="63500">
            <a:solidFill>
              <a:schemeClr val="accent4">
                <a:lumMod val="75000"/>
                <a:alpha val="80000"/>
              </a:schemeClr>
            </a:solidFill>
            <a:round/>
            <a:headEnd type="triangl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Connector 53">
            <a:extLst>
              <a:ext uri="{FF2B5EF4-FFF2-40B4-BE49-F238E27FC236}">
                <a16:creationId xmlns:a16="http://schemas.microsoft.com/office/drawing/2014/main" id="{40056F3B-ACF0-9959-CD5D-55BC8339A260}"/>
              </a:ext>
            </a:extLst>
          </p:cNvPr>
          <p:cNvCxnSpPr>
            <a:cxnSpLocks/>
            <a:endCxn id="46" idx="2"/>
          </p:cNvCxnSpPr>
          <p:nvPr/>
        </p:nvCxnSpPr>
        <p:spPr>
          <a:xfrm rot="16200000" flipV="1">
            <a:off x="7929294" y="5595898"/>
            <a:ext cx="1412047" cy="1"/>
          </a:xfrm>
          <a:prstGeom prst="bentConnector3">
            <a:avLst>
              <a:gd name="adj1" fmla="val 50000"/>
            </a:avLst>
          </a:prstGeom>
          <a:ln w="63500">
            <a:solidFill>
              <a:schemeClr val="accent4">
                <a:lumMod val="75000"/>
                <a:alpha val="80000"/>
              </a:schemeClr>
            </a:solidFill>
            <a:round/>
            <a:headEnd type="triangl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Connector 53">
            <a:extLst>
              <a:ext uri="{FF2B5EF4-FFF2-40B4-BE49-F238E27FC236}">
                <a16:creationId xmlns:a16="http://schemas.microsoft.com/office/drawing/2014/main" id="{D10B1E3A-B333-EAB0-5A9F-BBAB9E2CD2F2}"/>
              </a:ext>
            </a:extLst>
          </p:cNvPr>
          <p:cNvCxnSpPr>
            <a:cxnSpLocks/>
            <a:endCxn id="31" idx="2"/>
          </p:cNvCxnSpPr>
          <p:nvPr/>
        </p:nvCxnSpPr>
        <p:spPr>
          <a:xfrm rot="16200000" flipV="1">
            <a:off x="5399120" y="5279839"/>
            <a:ext cx="2043542" cy="620"/>
          </a:xfrm>
          <a:prstGeom prst="bentConnector3">
            <a:avLst>
              <a:gd name="adj1" fmla="val 50000"/>
            </a:avLst>
          </a:prstGeom>
          <a:ln w="63500">
            <a:solidFill>
              <a:schemeClr val="accent4">
                <a:lumMod val="75000"/>
                <a:alpha val="80000"/>
              </a:schemeClr>
            </a:solidFill>
            <a:round/>
            <a:headEnd type="triangl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00" name="Straight Connector 53">
            <a:extLst>
              <a:ext uri="{FF2B5EF4-FFF2-40B4-BE49-F238E27FC236}">
                <a16:creationId xmlns:a16="http://schemas.microsoft.com/office/drawing/2014/main" id="{15300555-E10B-A2E8-0C33-3666F43BB4BB}"/>
              </a:ext>
            </a:extLst>
          </p:cNvPr>
          <p:cNvCxnSpPr>
            <a:cxnSpLocks/>
          </p:cNvCxnSpPr>
          <p:nvPr/>
        </p:nvCxnSpPr>
        <p:spPr>
          <a:xfrm rot="16200000" flipV="1">
            <a:off x="3502150" y="5595898"/>
            <a:ext cx="1412047" cy="1"/>
          </a:xfrm>
          <a:prstGeom prst="bentConnector3">
            <a:avLst>
              <a:gd name="adj1" fmla="val 50000"/>
            </a:avLst>
          </a:prstGeom>
          <a:ln w="63500">
            <a:solidFill>
              <a:schemeClr val="accent4">
                <a:lumMod val="75000"/>
                <a:alpha val="80000"/>
              </a:schemeClr>
            </a:solidFill>
            <a:round/>
            <a:headEnd type="triangle" w="sm" len="sm"/>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5741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501"/>
        <p:cNvGrpSpPr/>
        <p:nvPr/>
      </p:nvGrpSpPr>
      <p:grpSpPr>
        <a:xfrm>
          <a:off x="0" y="0"/>
          <a:ext cx="0" cy="0"/>
          <a:chOff x="0" y="0"/>
          <a:chExt cx="0" cy="0"/>
        </a:xfrm>
      </p:grpSpPr>
      <p:sp>
        <p:nvSpPr>
          <p:cNvPr id="502" name="Google Shape;502;p59"/>
          <p:cNvSpPr txBox="1">
            <a:spLocks noGrp="1"/>
          </p:cNvSpPr>
          <p:nvPr>
            <p:ph type="title"/>
          </p:nvPr>
        </p:nvSpPr>
        <p:spPr>
          <a:xfrm>
            <a:off x="334496" y="165467"/>
            <a:ext cx="11495554" cy="607712"/>
          </a:xfrm>
        </p:spPr>
        <p:txBody>
          <a:bodyPr spcFirstLastPara="1" wrap="square" lIns="91425" tIns="45700" rIns="91425" bIns="45700" anchor="t" anchorCtr="0">
            <a:noAutofit/>
          </a:bodyPr>
          <a:lstStyle/>
          <a:p>
            <a:pPr lvl="0"/>
            <a:r>
              <a:rPr lang="en-US"/>
              <a:t>Migration method at-a-glance</a:t>
            </a:r>
          </a:p>
        </p:txBody>
      </p:sp>
      <p:sp>
        <p:nvSpPr>
          <p:cNvPr id="589" name="Slide Number Placeholder 3">
            <a:extLst>
              <a:ext uri="{FF2B5EF4-FFF2-40B4-BE49-F238E27FC236}">
                <a16:creationId xmlns:a16="http://schemas.microsoft.com/office/drawing/2014/main" id="{E76C2A29-43BD-5640-9A32-E39A6C8F131A}"/>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7</a:t>
            </a:fld>
            <a:endParaRPr kumimoji="0" lang="en-US" sz="700" b="0" i="0" u="none" strike="noStrike" kern="1200" cap="none" spc="0" normalizeH="0" baseline="0" noProof="0">
              <a:ln>
                <a:noFill/>
              </a:ln>
              <a:solidFill>
                <a:prstClr val="black"/>
              </a:solidFill>
              <a:effectLst/>
              <a:uLnTx/>
              <a:uFillTx/>
              <a:latin typeface="Arial"/>
              <a:ea typeface="+mn-ea"/>
              <a:cs typeface="+mn-cs"/>
            </a:endParaRPr>
          </a:p>
        </p:txBody>
      </p:sp>
      <p:grpSp>
        <p:nvGrpSpPr>
          <p:cNvPr id="2" name="Group 1">
            <a:extLst>
              <a:ext uri="{FF2B5EF4-FFF2-40B4-BE49-F238E27FC236}">
                <a16:creationId xmlns:a16="http://schemas.microsoft.com/office/drawing/2014/main" id="{3CB19565-2BA2-1FF5-E29E-2CA614E1C219}"/>
              </a:ext>
            </a:extLst>
          </p:cNvPr>
          <p:cNvGrpSpPr/>
          <p:nvPr/>
        </p:nvGrpSpPr>
        <p:grpSpPr>
          <a:xfrm>
            <a:off x="277100" y="6254117"/>
            <a:ext cx="4374064" cy="479418"/>
            <a:chOff x="302152" y="6229065"/>
            <a:chExt cx="3876266" cy="424857"/>
          </a:xfrm>
        </p:grpSpPr>
        <p:pic>
          <p:nvPicPr>
            <p:cNvPr id="4" name="Graphic 3">
              <a:extLst>
                <a:ext uri="{FF2B5EF4-FFF2-40B4-BE49-F238E27FC236}">
                  <a16:creationId xmlns:a16="http://schemas.microsoft.com/office/drawing/2014/main" id="{4815712E-0017-AFC7-BC0D-733B33E1E6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152" y="6229065"/>
              <a:ext cx="1378424" cy="424857"/>
            </a:xfrm>
            <a:prstGeom prst="rect">
              <a:avLst/>
            </a:prstGeom>
          </p:spPr>
        </p:pic>
        <p:sp>
          <p:nvSpPr>
            <p:cNvPr id="32" name="TextBox 31">
              <a:extLst>
                <a:ext uri="{FF2B5EF4-FFF2-40B4-BE49-F238E27FC236}">
                  <a16:creationId xmlns:a16="http://schemas.microsoft.com/office/drawing/2014/main" id="{B85F23F4-4EA1-8AF1-5B09-56BB8A170CC4}"/>
                </a:ext>
              </a:extLst>
            </p:cNvPr>
            <p:cNvSpPr txBox="1"/>
            <p:nvPr/>
          </p:nvSpPr>
          <p:spPr>
            <a:xfrm>
              <a:off x="1884033" y="6318745"/>
              <a:ext cx="229438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Fira Sans Hair" panose="020B0203050000020004" pitchFamily="34" charset="0"/>
                  <a:ea typeface="+mn-ea"/>
                  <a:cs typeface="+mn-cs"/>
                </a:rPr>
                <a:t>Migration Services</a:t>
              </a:r>
            </a:p>
          </p:txBody>
        </p:sp>
        <p:cxnSp>
          <p:nvCxnSpPr>
            <p:cNvPr id="33" name="Straight Connector 32">
              <a:extLst>
                <a:ext uri="{FF2B5EF4-FFF2-40B4-BE49-F238E27FC236}">
                  <a16:creationId xmlns:a16="http://schemas.microsoft.com/office/drawing/2014/main" id="{8DDF0C5A-AF3A-BB8B-C758-8BA6A8591E37}"/>
                </a:ext>
              </a:extLst>
            </p:cNvPr>
            <p:cNvCxnSpPr>
              <a:cxnSpLocks/>
            </p:cNvCxnSpPr>
            <p:nvPr/>
          </p:nvCxnSpPr>
          <p:spPr>
            <a:xfrm>
              <a:off x="1748847" y="6232000"/>
              <a:ext cx="0" cy="4219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144EF335-AE3C-0F69-88AE-FD704D560586}"/>
                </a:ext>
              </a:extLst>
            </p:cNvPr>
            <p:cNvGrpSpPr>
              <a:grpSpLocks noChangeAspect="1"/>
            </p:cNvGrpSpPr>
            <p:nvPr/>
          </p:nvGrpSpPr>
          <p:grpSpPr>
            <a:xfrm>
              <a:off x="1842997" y="6294759"/>
              <a:ext cx="456928" cy="268640"/>
              <a:chOff x="6781800" y="5716588"/>
              <a:chExt cx="604838" cy="355600"/>
            </a:xfrm>
          </p:grpSpPr>
          <p:sp>
            <p:nvSpPr>
              <p:cNvPr id="449" name="Freeform 258">
                <a:extLst>
                  <a:ext uri="{FF2B5EF4-FFF2-40B4-BE49-F238E27FC236}">
                    <a16:creationId xmlns:a16="http://schemas.microsoft.com/office/drawing/2014/main" id="{3D7959D2-88DD-24AF-473C-C5A2436F64EA}"/>
                  </a:ext>
                </a:extLst>
              </p:cNvPr>
              <p:cNvSpPr>
                <a:spLocks noChangeArrowheads="1"/>
              </p:cNvSpPr>
              <p:nvPr/>
            </p:nvSpPr>
            <p:spPr bwMode="auto">
              <a:xfrm>
                <a:off x="7205663" y="5718175"/>
                <a:ext cx="9525" cy="1588"/>
              </a:xfrm>
              <a:custGeom>
                <a:avLst/>
                <a:gdLst>
                  <a:gd name="T0" fmla="*/ 24 w 25"/>
                  <a:gd name="T1" fmla="*/ 0 h 1"/>
                  <a:gd name="T2" fmla="*/ 0 w 25"/>
                  <a:gd name="T3" fmla="*/ 0 h 1"/>
                </a:gdLst>
                <a:ahLst/>
                <a:cxnLst>
                  <a:cxn ang="0">
                    <a:pos x="T0" y="T1"/>
                  </a:cxn>
                  <a:cxn ang="0">
                    <a:pos x="T2" y="T3"/>
                  </a:cxn>
                </a:cxnLst>
                <a:rect l="0" t="0" r="r" b="b"/>
                <a:pathLst>
                  <a:path w="25" h="1">
                    <a:moveTo>
                      <a:pt x="24" y="0"/>
                    </a:moveTo>
                    <a:cubicBezTo>
                      <a:pt x="16" y="0"/>
                      <a:pt x="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3" name="Freeform 259">
                <a:extLst>
                  <a:ext uri="{FF2B5EF4-FFF2-40B4-BE49-F238E27FC236}">
                    <a16:creationId xmlns:a16="http://schemas.microsoft.com/office/drawing/2014/main" id="{EA4FC8C2-A63F-5DDE-EB9D-1620BCA0B5C5}"/>
                  </a:ext>
                </a:extLst>
              </p:cNvPr>
              <p:cNvSpPr>
                <a:spLocks noChangeArrowheads="1"/>
              </p:cNvSpPr>
              <p:nvPr/>
            </p:nvSpPr>
            <p:spPr bwMode="auto">
              <a:xfrm>
                <a:off x="7205663" y="6070600"/>
                <a:ext cx="9525" cy="1588"/>
              </a:xfrm>
              <a:custGeom>
                <a:avLst/>
                <a:gdLst>
                  <a:gd name="T0" fmla="*/ 24 w 25"/>
                  <a:gd name="T1" fmla="*/ 0 h 1"/>
                  <a:gd name="T2" fmla="*/ 0 w 25"/>
                  <a:gd name="T3" fmla="*/ 0 h 1"/>
                </a:gdLst>
                <a:ahLst/>
                <a:cxnLst>
                  <a:cxn ang="0">
                    <a:pos x="T0" y="T1"/>
                  </a:cxn>
                  <a:cxn ang="0">
                    <a:pos x="T2" y="T3"/>
                  </a:cxn>
                </a:cxnLst>
                <a:rect l="0" t="0" r="r" b="b"/>
                <a:pathLst>
                  <a:path w="25" h="1">
                    <a:moveTo>
                      <a:pt x="24" y="0"/>
                    </a:moveTo>
                    <a:cubicBezTo>
                      <a:pt x="16" y="0"/>
                      <a:pt x="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5" name="Freeform 260">
                <a:extLst>
                  <a:ext uri="{FF2B5EF4-FFF2-40B4-BE49-F238E27FC236}">
                    <a16:creationId xmlns:a16="http://schemas.microsoft.com/office/drawing/2014/main" id="{96C087CE-8971-1FD1-17EB-2A3F180FF891}"/>
                  </a:ext>
                </a:extLst>
              </p:cNvPr>
              <p:cNvSpPr>
                <a:spLocks noChangeArrowheads="1"/>
              </p:cNvSpPr>
              <p:nvPr/>
            </p:nvSpPr>
            <p:spPr bwMode="auto">
              <a:xfrm>
                <a:off x="7385050" y="5889625"/>
                <a:ext cx="1588" cy="11113"/>
              </a:xfrm>
              <a:custGeom>
                <a:avLst/>
                <a:gdLst>
                  <a:gd name="T0" fmla="*/ 0 w 1"/>
                  <a:gd name="T1" fmla="*/ 28 h 29"/>
                  <a:gd name="T2" fmla="*/ 0 w 1"/>
                  <a:gd name="T3" fmla="*/ 0 h 29"/>
                </a:gdLst>
                <a:ahLst/>
                <a:cxnLst>
                  <a:cxn ang="0">
                    <a:pos x="T0" y="T1"/>
                  </a:cxn>
                  <a:cxn ang="0">
                    <a:pos x="T2" y="T3"/>
                  </a:cxn>
                </a:cxnLst>
                <a:rect l="0" t="0" r="r" b="b"/>
                <a:pathLst>
                  <a:path w="1" h="29">
                    <a:moveTo>
                      <a:pt x="0" y="28"/>
                    </a:moveTo>
                    <a:cubicBezTo>
                      <a:pt x="0" y="19"/>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6" name="Freeform 261">
                <a:extLst>
                  <a:ext uri="{FF2B5EF4-FFF2-40B4-BE49-F238E27FC236}">
                    <a16:creationId xmlns:a16="http://schemas.microsoft.com/office/drawing/2014/main" id="{CFC2ADB8-64D2-21E1-832B-E6A1E7B3CCB7}"/>
                  </a:ext>
                </a:extLst>
              </p:cNvPr>
              <p:cNvSpPr>
                <a:spLocks noChangeArrowheads="1"/>
              </p:cNvSpPr>
              <p:nvPr/>
            </p:nvSpPr>
            <p:spPr bwMode="auto">
              <a:xfrm>
                <a:off x="7159625" y="5722938"/>
                <a:ext cx="9525" cy="3175"/>
              </a:xfrm>
              <a:custGeom>
                <a:avLst/>
                <a:gdLst>
                  <a:gd name="T0" fmla="*/ 24 w 25"/>
                  <a:gd name="T1" fmla="*/ 0 h 9"/>
                  <a:gd name="T2" fmla="*/ 0 w 25"/>
                  <a:gd name="T3" fmla="*/ 8 h 9"/>
                </a:gdLst>
                <a:ahLst/>
                <a:cxnLst>
                  <a:cxn ang="0">
                    <a:pos x="T0" y="T1"/>
                  </a:cxn>
                  <a:cxn ang="0">
                    <a:pos x="T2" y="T3"/>
                  </a:cxn>
                </a:cxnLst>
                <a:rect l="0" t="0" r="r" b="b"/>
                <a:pathLst>
                  <a:path w="25" h="9">
                    <a:moveTo>
                      <a:pt x="24" y="0"/>
                    </a:moveTo>
                    <a:cubicBezTo>
                      <a:pt x="16" y="3"/>
                      <a:pt x="8" y="5"/>
                      <a:pt x="0" y="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8" name="Freeform 262">
                <a:extLst>
                  <a:ext uri="{FF2B5EF4-FFF2-40B4-BE49-F238E27FC236}">
                    <a16:creationId xmlns:a16="http://schemas.microsoft.com/office/drawing/2014/main" id="{16CB15F3-633C-E01C-040D-332275489C2F}"/>
                  </a:ext>
                </a:extLst>
              </p:cNvPr>
              <p:cNvSpPr>
                <a:spLocks noChangeArrowheads="1"/>
              </p:cNvSpPr>
              <p:nvPr/>
            </p:nvSpPr>
            <p:spPr bwMode="auto">
              <a:xfrm>
                <a:off x="7250113" y="6062663"/>
                <a:ext cx="9525" cy="3175"/>
              </a:xfrm>
              <a:custGeom>
                <a:avLst/>
                <a:gdLst>
                  <a:gd name="T0" fmla="*/ 25 w 26"/>
                  <a:gd name="T1" fmla="*/ 0 h 8"/>
                  <a:gd name="T2" fmla="*/ 0 w 26"/>
                  <a:gd name="T3" fmla="*/ 7 h 8"/>
                </a:gdLst>
                <a:ahLst/>
                <a:cxnLst>
                  <a:cxn ang="0">
                    <a:pos x="T0" y="T1"/>
                  </a:cxn>
                  <a:cxn ang="0">
                    <a:pos x="T2" y="T3"/>
                  </a:cxn>
                </a:cxnLst>
                <a:rect l="0" t="0" r="r" b="b"/>
                <a:pathLst>
                  <a:path w="26" h="8">
                    <a:moveTo>
                      <a:pt x="25" y="0"/>
                    </a:moveTo>
                    <a:cubicBezTo>
                      <a:pt x="17" y="2"/>
                      <a:pt x="9" y="5"/>
                      <a:pt x="0" y="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9" name="Freeform 263">
                <a:extLst>
                  <a:ext uri="{FF2B5EF4-FFF2-40B4-BE49-F238E27FC236}">
                    <a16:creationId xmlns:a16="http://schemas.microsoft.com/office/drawing/2014/main" id="{DFA281D3-5713-B1BB-98AA-02CB68E0C3CD}"/>
                  </a:ext>
                </a:extLst>
              </p:cNvPr>
              <p:cNvSpPr>
                <a:spLocks noChangeArrowheads="1"/>
              </p:cNvSpPr>
              <p:nvPr/>
            </p:nvSpPr>
            <p:spPr bwMode="auto">
              <a:xfrm>
                <a:off x="7378700" y="5843588"/>
                <a:ext cx="3175" cy="11112"/>
              </a:xfrm>
              <a:custGeom>
                <a:avLst/>
                <a:gdLst>
                  <a:gd name="T0" fmla="*/ 7 w 8"/>
                  <a:gd name="T1" fmla="*/ 28 h 29"/>
                  <a:gd name="T2" fmla="*/ 0 w 8"/>
                  <a:gd name="T3" fmla="*/ 0 h 29"/>
                </a:gdLst>
                <a:ahLst/>
                <a:cxnLst>
                  <a:cxn ang="0">
                    <a:pos x="T0" y="T1"/>
                  </a:cxn>
                  <a:cxn ang="0">
                    <a:pos x="T2" y="T3"/>
                  </a:cxn>
                </a:cxnLst>
                <a:rect l="0" t="0" r="r" b="b"/>
                <a:pathLst>
                  <a:path w="8" h="29">
                    <a:moveTo>
                      <a:pt x="7" y="28"/>
                    </a:moveTo>
                    <a:cubicBezTo>
                      <a:pt x="5" y="19"/>
                      <a:pt x="3"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0" name="Freeform 264">
                <a:extLst>
                  <a:ext uri="{FF2B5EF4-FFF2-40B4-BE49-F238E27FC236}">
                    <a16:creationId xmlns:a16="http://schemas.microsoft.com/office/drawing/2014/main" id="{F7A0B238-2435-4E8A-A1D7-B64D7A8298DA}"/>
                  </a:ext>
                </a:extLst>
              </p:cNvPr>
              <p:cNvSpPr>
                <a:spLocks noChangeArrowheads="1"/>
              </p:cNvSpPr>
              <p:nvPr/>
            </p:nvSpPr>
            <p:spPr bwMode="auto">
              <a:xfrm>
                <a:off x="7038975" y="5935663"/>
                <a:ext cx="1588" cy="11112"/>
              </a:xfrm>
              <a:custGeom>
                <a:avLst/>
                <a:gdLst>
                  <a:gd name="T0" fmla="*/ 4 w 5"/>
                  <a:gd name="T1" fmla="*/ 28 h 29"/>
                  <a:gd name="T2" fmla="*/ 0 w 5"/>
                  <a:gd name="T3" fmla="*/ 0 h 29"/>
                </a:gdLst>
                <a:ahLst/>
                <a:cxnLst>
                  <a:cxn ang="0">
                    <a:pos x="T0" y="T1"/>
                  </a:cxn>
                  <a:cxn ang="0">
                    <a:pos x="T2" y="T3"/>
                  </a:cxn>
                </a:cxnLst>
                <a:rect l="0" t="0" r="r" b="b"/>
                <a:pathLst>
                  <a:path w="5" h="29">
                    <a:moveTo>
                      <a:pt x="4" y="28"/>
                    </a:moveTo>
                    <a:cubicBezTo>
                      <a:pt x="3" y="19"/>
                      <a:pt x="2"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2" name="Freeform 265">
                <a:extLst>
                  <a:ext uri="{FF2B5EF4-FFF2-40B4-BE49-F238E27FC236}">
                    <a16:creationId xmlns:a16="http://schemas.microsoft.com/office/drawing/2014/main" id="{AB025E00-B57B-7401-7863-B6A15C98557E}"/>
                  </a:ext>
                </a:extLst>
              </p:cNvPr>
              <p:cNvSpPr>
                <a:spLocks noChangeArrowheads="1"/>
              </p:cNvSpPr>
              <p:nvPr/>
            </p:nvSpPr>
            <p:spPr bwMode="auto">
              <a:xfrm>
                <a:off x="7118350" y="5738813"/>
                <a:ext cx="7938" cy="4762"/>
              </a:xfrm>
              <a:custGeom>
                <a:avLst/>
                <a:gdLst>
                  <a:gd name="T0" fmla="*/ 21 w 22"/>
                  <a:gd name="T1" fmla="*/ 0 h 15"/>
                  <a:gd name="T2" fmla="*/ 0 w 22"/>
                  <a:gd name="T3" fmla="*/ 14 h 15"/>
                </a:gdLst>
                <a:ahLst/>
                <a:cxnLst>
                  <a:cxn ang="0">
                    <a:pos x="T0" y="T1"/>
                  </a:cxn>
                  <a:cxn ang="0">
                    <a:pos x="T2" y="T3"/>
                  </a:cxn>
                </a:cxnLst>
                <a:rect l="0" t="0" r="r" b="b"/>
                <a:pathLst>
                  <a:path w="22" h="15">
                    <a:moveTo>
                      <a:pt x="21" y="0"/>
                    </a:moveTo>
                    <a:cubicBezTo>
                      <a:pt x="14" y="5"/>
                      <a:pt x="7" y="9"/>
                      <a:pt x="0" y="1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3" name="Freeform 266">
                <a:extLst>
                  <a:ext uri="{FF2B5EF4-FFF2-40B4-BE49-F238E27FC236}">
                    <a16:creationId xmlns:a16="http://schemas.microsoft.com/office/drawing/2014/main" id="{81DFCCFD-8CE4-65A4-3388-AB5091394580}"/>
                  </a:ext>
                </a:extLst>
              </p:cNvPr>
              <p:cNvSpPr>
                <a:spLocks noChangeArrowheads="1"/>
              </p:cNvSpPr>
              <p:nvPr/>
            </p:nvSpPr>
            <p:spPr bwMode="auto">
              <a:xfrm>
                <a:off x="7292975" y="6043613"/>
                <a:ext cx="7938" cy="4762"/>
              </a:xfrm>
              <a:custGeom>
                <a:avLst/>
                <a:gdLst>
                  <a:gd name="T0" fmla="*/ 21 w 22"/>
                  <a:gd name="T1" fmla="*/ 0 h 15"/>
                  <a:gd name="T2" fmla="*/ 0 w 22"/>
                  <a:gd name="T3" fmla="*/ 14 h 15"/>
                </a:gdLst>
                <a:ahLst/>
                <a:cxnLst>
                  <a:cxn ang="0">
                    <a:pos x="T0" y="T1"/>
                  </a:cxn>
                  <a:cxn ang="0">
                    <a:pos x="T2" y="T3"/>
                  </a:cxn>
                </a:cxnLst>
                <a:rect l="0" t="0" r="r" b="b"/>
                <a:pathLst>
                  <a:path w="22" h="15">
                    <a:moveTo>
                      <a:pt x="21" y="0"/>
                    </a:moveTo>
                    <a:cubicBezTo>
                      <a:pt x="14" y="5"/>
                      <a:pt x="7" y="9"/>
                      <a:pt x="0" y="1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6" name="Freeform 267">
                <a:extLst>
                  <a:ext uri="{FF2B5EF4-FFF2-40B4-BE49-F238E27FC236}">
                    <a16:creationId xmlns:a16="http://schemas.microsoft.com/office/drawing/2014/main" id="{191C1787-CA0A-8C50-76AA-ED23FAD94294}"/>
                  </a:ext>
                </a:extLst>
              </p:cNvPr>
              <p:cNvSpPr>
                <a:spLocks noChangeArrowheads="1"/>
              </p:cNvSpPr>
              <p:nvPr/>
            </p:nvSpPr>
            <p:spPr bwMode="auto">
              <a:xfrm>
                <a:off x="7359650" y="5802313"/>
                <a:ext cx="4763" cy="9525"/>
              </a:xfrm>
              <a:custGeom>
                <a:avLst/>
                <a:gdLst>
                  <a:gd name="T0" fmla="*/ 14 w 15"/>
                  <a:gd name="T1" fmla="*/ 24 h 25"/>
                  <a:gd name="T2" fmla="*/ 0 w 15"/>
                  <a:gd name="T3" fmla="*/ 0 h 25"/>
                </a:gdLst>
                <a:ahLst/>
                <a:cxnLst>
                  <a:cxn ang="0">
                    <a:pos x="T0" y="T1"/>
                  </a:cxn>
                  <a:cxn ang="0">
                    <a:pos x="T2" y="T3"/>
                  </a:cxn>
                </a:cxnLst>
                <a:rect l="0" t="0" r="r" b="b"/>
                <a:pathLst>
                  <a:path w="15" h="25">
                    <a:moveTo>
                      <a:pt x="14" y="24"/>
                    </a:moveTo>
                    <a:cubicBezTo>
                      <a:pt x="10" y="16"/>
                      <a:pt x="5"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7" name="Freeform 268">
                <a:extLst>
                  <a:ext uri="{FF2B5EF4-FFF2-40B4-BE49-F238E27FC236}">
                    <a16:creationId xmlns:a16="http://schemas.microsoft.com/office/drawing/2014/main" id="{65651D1B-A9C5-D56C-F3A6-F1B9C2AABC6F}"/>
                  </a:ext>
                </a:extLst>
              </p:cNvPr>
              <p:cNvSpPr>
                <a:spLocks noChangeArrowheads="1"/>
              </p:cNvSpPr>
              <p:nvPr/>
            </p:nvSpPr>
            <p:spPr bwMode="auto">
              <a:xfrm>
                <a:off x="7054850" y="5978525"/>
                <a:ext cx="4763" cy="9525"/>
              </a:xfrm>
              <a:custGeom>
                <a:avLst/>
                <a:gdLst>
                  <a:gd name="T0" fmla="*/ 11 w 12"/>
                  <a:gd name="T1" fmla="*/ 25 h 26"/>
                  <a:gd name="T2" fmla="*/ 0 w 12"/>
                  <a:gd name="T3" fmla="*/ 0 h 26"/>
                </a:gdLst>
                <a:ahLst/>
                <a:cxnLst>
                  <a:cxn ang="0">
                    <a:pos x="T0" y="T1"/>
                  </a:cxn>
                  <a:cxn ang="0">
                    <a:pos x="T2" y="T3"/>
                  </a:cxn>
                </a:cxnLst>
                <a:rect l="0" t="0" r="r" b="b"/>
                <a:pathLst>
                  <a:path w="12" h="26">
                    <a:moveTo>
                      <a:pt x="11" y="25"/>
                    </a:moveTo>
                    <a:cubicBezTo>
                      <a:pt x="8" y="17"/>
                      <a:pt x="4"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9" name="Freeform 269">
                <a:extLst>
                  <a:ext uri="{FF2B5EF4-FFF2-40B4-BE49-F238E27FC236}">
                    <a16:creationId xmlns:a16="http://schemas.microsoft.com/office/drawing/2014/main" id="{C151E597-8676-EDCF-790F-A4BF9CDCD37D}"/>
                  </a:ext>
                </a:extLst>
              </p:cNvPr>
              <p:cNvSpPr>
                <a:spLocks noChangeArrowheads="1"/>
              </p:cNvSpPr>
              <p:nvPr/>
            </p:nvSpPr>
            <p:spPr bwMode="auto">
              <a:xfrm>
                <a:off x="7331075" y="6015038"/>
                <a:ext cx="6350" cy="7937"/>
              </a:xfrm>
              <a:custGeom>
                <a:avLst/>
                <a:gdLst>
                  <a:gd name="T0" fmla="*/ 18 w 19"/>
                  <a:gd name="T1" fmla="*/ 0 h 22"/>
                  <a:gd name="T2" fmla="*/ 0 w 19"/>
                  <a:gd name="T3" fmla="*/ 21 h 22"/>
                </a:gdLst>
                <a:ahLst/>
                <a:cxnLst>
                  <a:cxn ang="0">
                    <a:pos x="T0" y="T1"/>
                  </a:cxn>
                  <a:cxn ang="0">
                    <a:pos x="T2" y="T3"/>
                  </a:cxn>
                </a:cxnLst>
                <a:rect l="0" t="0" r="r" b="b"/>
                <a:pathLst>
                  <a:path w="19" h="22">
                    <a:moveTo>
                      <a:pt x="18" y="0"/>
                    </a:moveTo>
                    <a:cubicBezTo>
                      <a:pt x="12" y="7"/>
                      <a:pt x="6" y="14"/>
                      <a:pt x="0" y="2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0" name="Freeform 270">
                <a:extLst>
                  <a:ext uri="{FF2B5EF4-FFF2-40B4-BE49-F238E27FC236}">
                    <a16:creationId xmlns:a16="http://schemas.microsoft.com/office/drawing/2014/main" id="{18E3C6F0-E80B-3D4B-AED1-6CB00C3FA5E2}"/>
                  </a:ext>
                </a:extLst>
              </p:cNvPr>
              <p:cNvSpPr>
                <a:spLocks noChangeArrowheads="1"/>
              </p:cNvSpPr>
              <p:nvPr/>
            </p:nvSpPr>
            <p:spPr bwMode="auto">
              <a:xfrm>
                <a:off x="7331075" y="5765800"/>
                <a:ext cx="6350" cy="7938"/>
              </a:xfrm>
              <a:custGeom>
                <a:avLst/>
                <a:gdLst>
                  <a:gd name="T0" fmla="*/ 18 w 19"/>
                  <a:gd name="T1" fmla="*/ 21 h 22"/>
                  <a:gd name="T2" fmla="*/ 0 w 19"/>
                  <a:gd name="T3" fmla="*/ 0 h 22"/>
                </a:gdLst>
                <a:ahLst/>
                <a:cxnLst>
                  <a:cxn ang="0">
                    <a:pos x="T0" y="T1"/>
                  </a:cxn>
                  <a:cxn ang="0">
                    <a:pos x="T2" y="T3"/>
                  </a:cxn>
                </a:cxnLst>
                <a:rect l="0" t="0" r="r" b="b"/>
                <a:pathLst>
                  <a:path w="19" h="22">
                    <a:moveTo>
                      <a:pt x="18" y="21"/>
                    </a:moveTo>
                    <a:cubicBezTo>
                      <a:pt x="12" y="14"/>
                      <a:pt x="6" y="7"/>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1" name="Freeform 271">
                <a:extLst>
                  <a:ext uri="{FF2B5EF4-FFF2-40B4-BE49-F238E27FC236}">
                    <a16:creationId xmlns:a16="http://schemas.microsoft.com/office/drawing/2014/main" id="{1BDAC3BE-2098-88A0-FE71-97E340D56AC1}"/>
                  </a:ext>
                </a:extLst>
              </p:cNvPr>
              <p:cNvSpPr>
                <a:spLocks noChangeArrowheads="1"/>
              </p:cNvSpPr>
              <p:nvPr/>
            </p:nvSpPr>
            <p:spPr bwMode="auto">
              <a:xfrm>
                <a:off x="7054850" y="5802313"/>
                <a:ext cx="4763" cy="9525"/>
              </a:xfrm>
              <a:custGeom>
                <a:avLst/>
                <a:gdLst>
                  <a:gd name="T0" fmla="*/ 11 w 12"/>
                  <a:gd name="T1" fmla="*/ 0 h 25"/>
                  <a:gd name="T2" fmla="*/ 0 w 12"/>
                  <a:gd name="T3" fmla="*/ 24 h 25"/>
                </a:gdLst>
                <a:ahLst/>
                <a:cxnLst>
                  <a:cxn ang="0">
                    <a:pos x="T0" y="T1"/>
                  </a:cxn>
                  <a:cxn ang="0">
                    <a:pos x="T2" y="T3"/>
                  </a:cxn>
                </a:cxnLst>
                <a:rect l="0" t="0" r="r" b="b"/>
                <a:pathLst>
                  <a:path w="12" h="25">
                    <a:moveTo>
                      <a:pt x="11" y="0"/>
                    </a:moveTo>
                    <a:cubicBezTo>
                      <a:pt x="8" y="8"/>
                      <a:pt x="4" y="16"/>
                      <a:pt x="0" y="2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4" name="Freeform 272">
                <a:extLst>
                  <a:ext uri="{FF2B5EF4-FFF2-40B4-BE49-F238E27FC236}">
                    <a16:creationId xmlns:a16="http://schemas.microsoft.com/office/drawing/2014/main" id="{CE62439E-61D3-2205-B19C-A17E66113D67}"/>
                  </a:ext>
                </a:extLst>
              </p:cNvPr>
              <p:cNvSpPr>
                <a:spLocks noChangeArrowheads="1"/>
              </p:cNvSpPr>
              <p:nvPr/>
            </p:nvSpPr>
            <p:spPr bwMode="auto">
              <a:xfrm>
                <a:off x="7359650" y="5978525"/>
                <a:ext cx="4763" cy="952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10" y="8"/>
                      <a:pt x="5" y="17"/>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5" name="Freeform 273">
                <a:extLst>
                  <a:ext uri="{FF2B5EF4-FFF2-40B4-BE49-F238E27FC236}">
                    <a16:creationId xmlns:a16="http://schemas.microsoft.com/office/drawing/2014/main" id="{4F536097-68A4-58BF-9EE3-4837BCAD7F58}"/>
                  </a:ext>
                </a:extLst>
              </p:cNvPr>
              <p:cNvSpPr>
                <a:spLocks noChangeArrowheads="1"/>
              </p:cNvSpPr>
              <p:nvPr/>
            </p:nvSpPr>
            <p:spPr bwMode="auto">
              <a:xfrm>
                <a:off x="7292975" y="5738813"/>
                <a:ext cx="7938" cy="4762"/>
              </a:xfrm>
              <a:custGeom>
                <a:avLst/>
                <a:gdLst>
                  <a:gd name="T0" fmla="*/ 21 w 22"/>
                  <a:gd name="T1" fmla="*/ 14 h 15"/>
                  <a:gd name="T2" fmla="*/ 0 w 22"/>
                  <a:gd name="T3" fmla="*/ 0 h 15"/>
                </a:gdLst>
                <a:ahLst/>
                <a:cxnLst>
                  <a:cxn ang="0">
                    <a:pos x="T0" y="T1"/>
                  </a:cxn>
                  <a:cxn ang="0">
                    <a:pos x="T2" y="T3"/>
                  </a:cxn>
                </a:cxnLst>
                <a:rect l="0" t="0" r="r" b="b"/>
                <a:pathLst>
                  <a:path w="22" h="15">
                    <a:moveTo>
                      <a:pt x="21" y="14"/>
                    </a:moveTo>
                    <a:cubicBezTo>
                      <a:pt x="14" y="9"/>
                      <a:pt x="7"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7" name="Freeform 274">
                <a:extLst>
                  <a:ext uri="{FF2B5EF4-FFF2-40B4-BE49-F238E27FC236}">
                    <a16:creationId xmlns:a16="http://schemas.microsoft.com/office/drawing/2014/main" id="{4BC8B605-6C9B-4C4C-9750-7ED7521F3C72}"/>
                  </a:ext>
                </a:extLst>
              </p:cNvPr>
              <p:cNvSpPr>
                <a:spLocks noChangeArrowheads="1"/>
              </p:cNvSpPr>
              <p:nvPr/>
            </p:nvSpPr>
            <p:spPr bwMode="auto">
              <a:xfrm>
                <a:off x="7118350" y="6043613"/>
                <a:ext cx="7938" cy="4762"/>
              </a:xfrm>
              <a:custGeom>
                <a:avLst/>
                <a:gdLst>
                  <a:gd name="T0" fmla="*/ 21 w 22"/>
                  <a:gd name="T1" fmla="*/ 14 h 15"/>
                  <a:gd name="T2" fmla="*/ 0 w 22"/>
                  <a:gd name="T3" fmla="*/ 0 h 15"/>
                </a:gdLst>
                <a:ahLst/>
                <a:cxnLst>
                  <a:cxn ang="0">
                    <a:pos x="T0" y="T1"/>
                  </a:cxn>
                  <a:cxn ang="0">
                    <a:pos x="T2" y="T3"/>
                  </a:cxn>
                </a:cxnLst>
                <a:rect l="0" t="0" r="r" b="b"/>
                <a:pathLst>
                  <a:path w="22" h="15">
                    <a:moveTo>
                      <a:pt x="21" y="14"/>
                    </a:moveTo>
                    <a:cubicBezTo>
                      <a:pt x="14" y="9"/>
                      <a:pt x="7"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8" name="Freeform 275">
                <a:extLst>
                  <a:ext uri="{FF2B5EF4-FFF2-40B4-BE49-F238E27FC236}">
                    <a16:creationId xmlns:a16="http://schemas.microsoft.com/office/drawing/2014/main" id="{C8608A34-49FB-49E5-49E5-9FAC4FB89067}"/>
                  </a:ext>
                </a:extLst>
              </p:cNvPr>
              <p:cNvSpPr>
                <a:spLocks noChangeArrowheads="1"/>
              </p:cNvSpPr>
              <p:nvPr/>
            </p:nvSpPr>
            <p:spPr bwMode="auto">
              <a:xfrm>
                <a:off x="7038975" y="5843588"/>
                <a:ext cx="1588" cy="11112"/>
              </a:xfrm>
              <a:custGeom>
                <a:avLst/>
                <a:gdLst>
                  <a:gd name="T0" fmla="*/ 4 w 5"/>
                  <a:gd name="T1" fmla="*/ 0 h 29"/>
                  <a:gd name="T2" fmla="*/ 0 w 5"/>
                  <a:gd name="T3" fmla="*/ 28 h 29"/>
                </a:gdLst>
                <a:ahLst/>
                <a:cxnLst>
                  <a:cxn ang="0">
                    <a:pos x="T0" y="T1"/>
                  </a:cxn>
                  <a:cxn ang="0">
                    <a:pos x="T2" y="T3"/>
                  </a:cxn>
                </a:cxnLst>
                <a:rect l="0" t="0" r="r" b="b"/>
                <a:pathLst>
                  <a:path w="5" h="29">
                    <a:moveTo>
                      <a:pt x="4" y="0"/>
                    </a:moveTo>
                    <a:cubicBezTo>
                      <a:pt x="3" y="9"/>
                      <a:pt x="2" y="19"/>
                      <a:pt x="0" y="2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9" name="Freeform 276">
                <a:extLst>
                  <a:ext uri="{FF2B5EF4-FFF2-40B4-BE49-F238E27FC236}">
                    <a16:creationId xmlns:a16="http://schemas.microsoft.com/office/drawing/2014/main" id="{128D72CC-C8CA-9885-6507-E6727772A399}"/>
                  </a:ext>
                </a:extLst>
              </p:cNvPr>
              <p:cNvSpPr>
                <a:spLocks noChangeArrowheads="1"/>
              </p:cNvSpPr>
              <p:nvPr/>
            </p:nvSpPr>
            <p:spPr bwMode="auto">
              <a:xfrm>
                <a:off x="7378700" y="5935663"/>
                <a:ext cx="3175" cy="11112"/>
              </a:xfrm>
              <a:custGeom>
                <a:avLst/>
                <a:gdLst>
                  <a:gd name="T0" fmla="*/ 7 w 8"/>
                  <a:gd name="T1" fmla="*/ 0 h 29"/>
                  <a:gd name="T2" fmla="*/ 0 w 8"/>
                  <a:gd name="T3" fmla="*/ 28 h 29"/>
                </a:gdLst>
                <a:ahLst/>
                <a:cxnLst>
                  <a:cxn ang="0">
                    <a:pos x="T0" y="T1"/>
                  </a:cxn>
                  <a:cxn ang="0">
                    <a:pos x="T2" y="T3"/>
                  </a:cxn>
                </a:cxnLst>
                <a:rect l="0" t="0" r="r" b="b"/>
                <a:pathLst>
                  <a:path w="8" h="29">
                    <a:moveTo>
                      <a:pt x="7" y="0"/>
                    </a:moveTo>
                    <a:cubicBezTo>
                      <a:pt x="5" y="9"/>
                      <a:pt x="3" y="19"/>
                      <a:pt x="0" y="2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0" name="Freeform 277">
                <a:extLst>
                  <a:ext uri="{FF2B5EF4-FFF2-40B4-BE49-F238E27FC236}">
                    <a16:creationId xmlns:a16="http://schemas.microsoft.com/office/drawing/2014/main" id="{EAC1942D-399B-76DD-A1AC-AADFF273C369}"/>
                  </a:ext>
                </a:extLst>
              </p:cNvPr>
              <p:cNvSpPr>
                <a:spLocks noChangeArrowheads="1"/>
              </p:cNvSpPr>
              <p:nvPr/>
            </p:nvSpPr>
            <p:spPr bwMode="auto">
              <a:xfrm>
                <a:off x="7250113" y="5722938"/>
                <a:ext cx="9525" cy="3175"/>
              </a:xfrm>
              <a:custGeom>
                <a:avLst/>
                <a:gdLst>
                  <a:gd name="T0" fmla="*/ 25 w 26"/>
                  <a:gd name="T1" fmla="*/ 8 h 9"/>
                  <a:gd name="T2" fmla="*/ 0 w 26"/>
                  <a:gd name="T3" fmla="*/ 0 h 9"/>
                </a:gdLst>
                <a:ahLst/>
                <a:cxnLst>
                  <a:cxn ang="0">
                    <a:pos x="T0" y="T1"/>
                  </a:cxn>
                  <a:cxn ang="0">
                    <a:pos x="T2" y="T3"/>
                  </a:cxn>
                </a:cxnLst>
                <a:rect l="0" t="0" r="r" b="b"/>
                <a:pathLst>
                  <a:path w="26" h="9">
                    <a:moveTo>
                      <a:pt x="25" y="8"/>
                    </a:moveTo>
                    <a:cubicBezTo>
                      <a:pt x="17" y="5"/>
                      <a:pt x="9"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1" name="Freeform 278">
                <a:extLst>
                  <a:ext uri="{FF2B5EF4-FFF2-40B4-BE49-F238E27FC236}">
                    <a16:creationId xmlns:a16="http://schemas.microsoft.com/office/drawing/2014/main" id="{DCD8B095-89D2-1B13-83EC-118710C297BE}"/>
                  </a:ext>
                </a:extLst>
              </p:cNvPr>
              <p:cNvSpPr>
                <a:spLocks noChangeArrowheads="1"/>
              </p:cNvSpPr>
              <p:nvPr/>
            </p:nvSpPr>
            <p:spPr bwMode="auto">
              <a:xfrm>
                <a:off x="7159625" y="6062663"/>
                <a:ext cx="9525" cy="3175"/>
              </a:xfrm>
              <a:custGeom>
                <a:avLst/>
                <a:gdLst>
                  <a:gd name="T0" fmla="*/ 24 w 25"/>
                  <a:gd name="T1" fmla="*/ 7 h 8"/>
                  <a:gd name="T2" fmla="*/ 0 w 25"/>
                  <a:gd name="T3" fmla="*/ 0 h 8"/>
                </a:gdLst>
                <a:ahLst/>
                <a:cxnLst>
                  <a:cxn ang="0">
                    <a:pos x="T0" y="T1"/>
                  </a:cxn>
                  <a:cxn ang="0">
                    <a:pos x="T2" y="T3"/>
                  </a:cxn>
                </a:cxnLst>
                <a:rect l="0" t="0" r="r" b="b"/>
                <a:pathLst>
                  <a:path w="25" h="8">
                    <a:moveTo>
                      <a:pt x="24" y="7"/>
                    </a:moveTo>
                    <a:cubicBezTo>
                      <a:pt x="16" y="5"/>
                      <a:pt x="8" y="2"/>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2" name="Freeform 279">
                <a:extLst>
                  <a:ext uri="{FF2B5EF4-FFF2-40B4-BE49-F238E27FC236}">
                    <a16:creationId xmlns:a16="http://schemas.microsoft.com/office/drawing/2014/main" id="{E9D42648-5D75-977F-535E-C0C69BC086F0}"/>
                  </a:ext>
                </a:extLst>
              </p:cNvPr>
              <p:cNvSpPr>
                <a:spLocks noChangeArrowheads="1"/>
              </p:cNvSpPr>
              <p:nvPr/>
            </p:nvSpPr>
            <p:spPr bwMode="auto">
              <a:xfrm>
                <a:off x="6959600" y="5894388"/>
                <a:ext cx="298450" cy="1587"/>
              </a:xfrm>
              <a:custGeom>
                <a:avLst/>
                <a:gdLst>
                  <a:gd name="T0" fmla="*/ 827 w 828"/>
                  <a:gd name="T1" fmla="*/ 0 h 1"/>
                  <a:gd name="T2" fmla="*/ 0 w 828"/>
                  <a:gd name="T3" fmla="*/ 0 h 1"/>
                </a:gdLst>
                <a:ahLst/>
                <a:cxnLst>
                  <a:cxn ang="0">
                    <a:pos x="T0" y="T1"/>
                  </a:cxn>
                  <a:cxn ang="0">
                    <a:pos x="T2" y="T3"/>
                  </a:cxn>
                </a:cxnLst>
                <a:rect l="0" t="0" r="r" b="b"/>
                <a:pathLst>
                  <a:path w="828" h="1">
                    <a:moveTo>
                      <a:pt x="827" y="0"/>
                    </a:moveTo>
                    <a:cubicBezTo>
                      <a:pt x="552" y="0"/>
                      <a:pt x="276"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3" name="Freeform 280">
                <a:extLst>
                  <a:ext uri="{FF2B5EF4-FFF2-40B4-BE49-F238E27FC236}">
                    <a16:creationId xmlns:a16="http://schemas.microsoft.com/office/drawing/2014/main" id="{10A4D4E2-38E0-C860-AB62-7E7516C70391}"/>
                  </a:ext>
                </a:extLst>
              </p:cNvPr>
              <p:cNvSpPr>
                <a:spLocks noChangeArrowheads="1"/>
              </p:cNvSpPr>
              <p:nvPr/>
            </p:nvSpPr>
            <p:spPr bwMode="auto">
              <a:xfrm>
                <a:off x="7207250" y="5843588"/>
                <a:ext cx="49213" cy="101600"/>
              </a:xfrm>
              <a:custGeom>
                <a:avLst/>
                <a:gdLst>
                  <a:gd name="T0" fmla="*/ 0 w 138"/>
                  <a:gd name="T1" fmla="*/ 282 h 283"/>
                  <a:gd name="T2" fmla="*/ 133 w 138"/>
                  <a:gd name="T3" fmla="*/ 148 h 283"/>
                  <a:gd name="T4" fmla="*/ 133 w 138"/>
                  <a:gd name="T5" fmla="*/ 134 h 283"/>
                  <a:gd name="T6" fmla="*/ 0 w 138"/>
                  <a:gd name="T7" fmla="*/ 0 h 283"/>
                </a:gdLst>
                <a:ahLst/>
                <a:cxnLst>
                  <a:cxn ang="0">
                    <a:pos x="T0" y="T1"/>
                  </a:cxn>
                  <a:cxn ang="0">
                    <a:pos x="T2" y="T3"/>
                  </a:cxn>
                  <a:cxn ang="0">
                    <a:pos x="T4" y="T5"/>
                  </a:cxn>
                  <a:cxn ang="0">
                    <a:pos x="T6" y="T7"/>
                  </a:cxn>
                </a:cxnLst>
                <a:rect l="0" t="0" r="r" b="b"/>
                <a:pathLst>
                  <a:path w="138" h="283">
                    <a:moveTo>
                      <a:pt x="0" y="282"/>
                    </a:moveTo>
                    <a:cubicBezTo>
                      <a:pt x="45" y="237"/>
                      <a:pt x="89" y="193"/>
                      <a:pt x="133" y="148"/>
                    </a:cubicBezTo>
                    <a:cubicBezTo>
                      <a:pt x="137" y="144"/>
                      <a:pt x="137" y="137"/>
                      <a:pt x="133" y="134"/>
                    </a:cubicBezTo>
                    <a:cubicBezTo>
                      <a:pt x="89" y="89"/>
                      <a:pt x="45" y="4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4" name="Freeform 281">
                <a:extLst>
                  <a:ext uri="{FF2B5EF4-FFF2-40B4-BE49-F238E27FC236}">
                    <a16:creationId xmlns:a16="http://schemas.microsoft.com/office/drawing/2014/main" id="{717DBC46-A8C8-AEC7-C999-F197FD3EC631}"/>
                  </a:ext>
                </a:extLst>
              </p:cNvPr>
              <p:cNvSpPr>
                <a:spLocks noChangeArrowheads="1"/>
              </p:cNvSpPr>
              <p:nvPr/>
            </p:nvSpPr>
            <p:spPr bwMode="auto">
              <a:xfrm>
                <a:off x="6781800" y="5716588"/>
                <a:ext cx="355600" cy="355600"/>
              </a:xfrm>
              <a:custGeom>
                <a:avLst/>
                <a:gdLst>
                  <a:gd name="T0" fmla="*/ 493 w 986"/>
                  <a:gd name="T1" fmla="*/ 986 h 987"/>
                  <a:gd name="T2" fmla="*/ 0 w 986"/>
                  <a:gd name="T3" fmla="*/ 493 h 987"/>
                  <a:gd name="T4" fmla="*/ 493 w 986"/>
                  <a:gd name="T5" fmla="*/ 0 h 987"/>
                  <a:gd name="T6" fmla="*/ 985 w 986"/>
                  <a:gd name="T7" fmla="*/ 493 h 987"/>
                  <a:gd name="T8" fmla="*/ 493 w 986"/>
                  <a:gd name="T9" fmla="*/ 986 h 987"/>
                </a:gdLst>
                <a:ahLst/>
                <a:cxnLst>
                  <a:cxn ang="0">
                    <a:pos x="T0" y="T1"/>
                  </a:cxn>
                  <a:cxn ang="0">
                    <a:pos x="T2" y="T3"/>
                  </a:cxn>
                  <a:cxn ang="0">
                    <a:pos x="T4" y="T5"/>
                  </a:cxn>
                  <a:cxn ang="0">
                    <a:pos x="T6" y="T7"/>
                  </a:cxn>
                  <a:cxn ang="0">
                    <a:pos x="T8" y="T9"/>
                  </a:cxn>
                </a:cxnLst>
                <a:rect l="0" t="0" r="r" b="b"/>
                <a:pathLst>
                  <a:path w="986" h="987">
                    <a:moveTo>
                      <a:pt x="493" y="986"/>
                    </a:moveTo>
                    <a:cubicBezTo>
                      <a:pt x="221" y="986"/>
                      <a:pt x="0" y="764"/>
                      <a:pt x="0" y="493"/>
                    </a:cubicBezTo>
                    <a:cubicBezTo>
                      <a:pt x="0" y="222"/>
                      <a:pt x="222" y="0"/>
                      <a:pt x="493" y="0"/>
                    </a:cubicBezTo>
                    <a:cubicBezTo>
                      <a:pt x="765" y="0"/>
                      <a:pt x="985" y="222"/>
                      <a:pt x="985" y="493"/>
                    </a:cubicBezTo>
                    <a:cubicBezTo>
                      <a:pt x="985" y="764"/>
                      <a:pt x="764" y="986"/>
                      <a:pt x="493" y="98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582" name="TextBox 581">
            <a:extLst>
              <a:ext uri="{FF2B5EF4-FFF2-40B4-BE49-F238E27FC236}">
                <a16:creationId xmlns:a16="http://schemas.microsoft.com/office/drawing/2014/main" id="{7A92F55D-CA8A-F474-123F-F038DD1FB6AD}"/>
              </a:ext>
            </a:extLst>
          </p:cNvPr>
          <p:cNvSpPr txBox="1"/>
          <p:nvPr/>
        </p:nvSpPr>
        <p:spPr>
          <a:xfrm>
            <a:off x="8113306" y="2522240"/>
            <a:ext cx="1018220" cy="369332"/>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First mover PoC</a:t>
            </a:r>
          </a:p>
        </p:txBody>
      </p:sp>
      <p:sp>
        <p:nvSpPr>
          <p:cNvPr id="583" name="TextBox 582">
            <a:extLst>
              <a:ext uri="{FF2B5EF4-FFF2-40B4-BE49-F238E27FC236}">
                <a16:creationId xmlns:a16="http://schemas.microsoft.com/office/drawing/2014/main" id="{72F769F1-B87D-A74B-0BAA-7C2E00B4F760}"/>
              </a:ext>
            </a:extLst>
          </p:cNvPr>
          <p:cNvSpPr txBox="1"/>
          <p:nvPr/>
        </p:nvSpPr>
        <p:spPr>
          <a:xfrm>
            <a:off x="1944325" y="1095682"/>
            <a:ext cx="93326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Assess </a:t>
            </a:r>
          </a:p>
        </p:txBody>
      </p:sp>
      <p:sp>
        <p:nvSpPr>
          <p:cNvPr id="584" name="Rounded Rectangle 583">
            <a:extLst>
              <a:ext uri="{FF2B5EF4-FFF2-40B4-BE49-F238E27FC236}">
                <a16:creationId xmlns:a16="http://schemas.microsoft.com/office/drawing/2014/main" id="{8C519C2B-BE8C-2A7E-8D30-B3D53BCF0897}"/>
              </a:ext>
            </a:extLst>
          </p:cNvPr>
          <p:cNvSpPr/>
          <p:nvPr/>
        </p:nvSpPr>
        <p:spPr>
          <a:xfrm>
            <a:off x="1249496" y="1518988"/>
            <a:ext cx="2327687" cy="973157"/>
          </a:xfrm>
          <a:prstGeom prst="roundRect">
            <a:avLst/>
          </a:prstGeom>
          <a:noFill/>
          <a:ln w="34925" cap="rnd" cmpd="dbl">
            <a:solidFill>
              <a:schemeClr val="accent5">
                <a:lumMod val="50000"/>
              </a:schemeClr>
            </a:solidFill>
            <a:prstDash val="lgDashDotDot"/>
            <a:extLst>
              <a:ext uri="{C807C97D-BFC1-408E-A445-0C87EB9F89A2}">
                <ask:lineSketchStyleProps xmlns:ask="http://schemas.microsoft.com/office/drawing/2018/sketchyshapes" sd="981765707">
                  <a:custGeom>
                    <a:avLst/>
                    <a:gdLst>
                      <a:gd name="connsiteX0" fmla="*/ 0 w 3891201"/>
                      <a:gd name="connsiteY0" fmla="*/ 211840 h 1271016"/>
                      <a:gd name="connsiteX1" fmla="*/ 211840 w 3891201"/>
                      <a:gd name="connsiteY1" fmla="*/ 0 h 1271016"/>
                      <a:gd name="connsiteX2" fmla="*/ 789760 w 3891201"/>
                      <a:gd name="connsiteY2" fmla="*/ 0 h 1271016"/>
                      <a:gd name="connsiteX3" fmla="*/ 1437031 w 3891201"/>
                      <a:gd name="connsiteY3" fmla="*/ 0 h 1271016"/>
                      <a:gd name="connsiteX4" fmla="*/ 2084301 w 3891201"/>
                      <a:gd name="connsiteY4" fmla="*/ 0 h 1271016"/>
                      <a:gd name="connsiteX5" fmla="*/ 2592871 w 3891201"/>
                      <a:gd name="connsiteY5" fmla="*/ 0 h 1271016"/>
                      <a:gd name="connsiteX6" fmla="*/ 3066766 w 3891201"/>
                      <a:gd name="connsiteY6" fmla="*/ 0 h 1271016"/>
                      <a:gd name="connsiteX7" fmla="*/ 3679361 w 3891201"/>
                      <a:gd name="connsiteY7" fmla="*/ 0 h 1271016"/>
                      <a:gd name="connsiteX8" fmla="*/ 3891201 w 3891201"/>
                      <a:gd name="connsiteY8" fmla="*/ 211840 h 1271016"/>
                      <a:gd name="connsiteX9" fmla="*/ 3891201 w 3891201"/>
                      <a:gd name="connsiteY9" fmla="*/ 627035 h 1271016"/>
                      <a:gd name="connsiteX10" fmla="*/ 3891201 w 3891201"/>
                      <a:gd name="connsiteY10" fmla="*/ 1059176 h 1271016"/>
                      <a:gd name="connsiteX11" fmla="*/ 3679361 w 3891201"/>
                      <a:gd name="connsiteY11" fmla="*/ 1271016 h 1271016"/>
                      <a:gd name="connsiteX12" fmla="*/ 3066766 w 3891201"/>
                      <a:gd name="connsiteY12" fmla="*/ 1271016 h 1271016"/>
                      <a:gd name="connsiteX13" fmla="*/ 2523521 w 3891201"/>
                      <a:gd name="connsiteY13" fmla="*/ 1271016 h 1271016"/>
                      <a:gd name="connsiteX14" fmla="*/ 1910925 w 3891201"/>
                      <a:gd name="connsiteY14" fmla="*/ 1271016 h 1271016"/>
                      <a:gd name="connsiteX15" fmla="*/ 1263655 w 3891201"/>
                      <a:gd name="connsiteY15" fmla="*/ 1271016 h 1271016"/>
                      <a:gd name="connsiteX16" fmla="*/ 211840 w 3891201"/>
                      <a:gd name="connsiteY16" fmla="*/ 1271016 h 1271016"/>
                      <a:gd name="connsiteX17" fmla="*/ 0 w 3891201"/>
                      <a:gd name="connsiteY17" fmla="*/ 1059176 h 1271016"/>
                      <a:gd name="connsiteX18" fmla="*/ 0 w 3891201"/>
                      <a:gd name="connsiteY18" fmla="*/ 652455 h 1271016"/>
                      <a:gd name="connsiteX19" fmla="*/ 0 w 3891201"/>
                      <a:gd name="connsiteY19" fmla="*/ 211840 h 127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91201" h="1271016" extrusionOk="0">
                        <a:moveTo>
                          <a:pt x="0" y="211840"/>
                        </a:moveTo>
                        <a:cubicBezTo>
                          <a:pt x="-1724" y="97869"/>
                          <a:pt x="85073" y="-4035"/>
                          <a:pt x="211840" y="0"/>
                        </a:cubicBezTo>
                        <a:cubicBezTo>
                          <a:pt x="352813" y="-66347"/>
                          <a:pt x="644289" y="64141"/>
                          <a:pt x="789760" y="0"/>
                        </a:cubicBezTo>
                        <a:cubicBezTo>
                          <a:pt x="935231" y="-64141"/>
                          <a:pt x="1135764" y="36819"/>
                          <a:pt x="1437031" y="0"/>
                        </a:cubicBezTo>
                        <a:cubicBezTo>
                          <a:pt x="1738298" y="-36819"/>
                          <a:pt x="1919312" y="25"/>
                          <a:pt x="2084301" y="0"/>
                        </a:cubicBezTo>
                        <a:cubicBezTo>
                          <a:pt x="2249290" y="-25"/>
                          <a:pt x="2412211" y="24788"/>
                          <a:pt x="2592871" y="0"/>
                        </a:cubicBezTo>
                        <a:cubicBezTo>
                          <a:pt x="2773531" y="-24788"/>
                          <a:pt x="2963621" y="44805"/>
                          <a:pt x="3066766" y="0"/>
                        </a:cubicBezTo>
                        <a:cubicBezTo>
                          <a:pt x="3169912" y="-44805"/>
                          <a:pt x="3497062" y="44876"/>
                          <a:pt x="3679361" y="0"/>
                        </a:cubicBezTo>
                        <a:cubicBezTo>
                          <a:pt x="3821363" y="3626"/>
                          <a:pt x="3878954" y="89255"/>
                          <a:pt x="3891201" y="211840"/>
                        </a:cubicBezTo>
                        <a:cubicBezTo>
                          <a:pt x="3920093" y="301511"/>
                          <a:pt x="3842349" y="475407"/>
                          <a:pt x="3891201" y="627035"/>
                        </a:cubicBezTo>
                        <a:cubicBezTo>
                          <a:pt x="3940053" y="778664"/>
                          <a:pt x="3863357" y="934958"/>
                          <a:pt x="3891201" y="1059176"/>
                        </a:cubicBezTo>
                        <a:cubicBezTo>
                          <a:pt x="3868850" y="1182099"/>
                          <a:pt x="3789568" y="1249049"/>
                          <a:pt x="3679361" y="1271016"/>
                        </a:cubicBezTo>
                        <a:cubicBezTo>
                          <a:pt x="3519371" y="1276183"/>
                          <a:pt x="3229389" y="1233492"/>
                          <a:pt x="3066766" y="1271016"/>
                        </a:cubicBezTo>
                        <a:cubicBezTo>
                          <a:pt x="2904143" y="1308540"/>
                          <a:pt x="2785129" y="1263928"/>
                          <a:pt x="2523521" y="1271016"/>
                        </a:cubicBezTo>
                        <a:cubicBezTo>
                          <a:pt x="2261914" y="1278104"/>
                          <a:pt x="2153174" y="1239646"/>
                          <a:pt x="1910925" y="1271016"/>
                        </a:cubicBezTo>
                        <a:cubicBezTo>
                          <a:pt x="1668676" y="1302386"/>
                          <a:pt x="1513616" y="1267310"/>
                          <a:pt x="1263655" y="1271016"/>
                        </a:cubicBezTo>
                        <a:cubicBezTo>
                          <a:pt x="1013694" y="1274722"/>
                          <a:pt x="608536" y="1219037"/>
                          <a:pt x="211840" y="1271016"/>
                        </a:cubicBezTo>
                        <a:cubicBezTo>
                          <a:pt x="77910" y="1284644"/>
                          <a:pt x="25439" y="1186323"/>
                          <a:pt x="0" y="1059176"/>
                        </a:cubicBezTo>
                        <a:cubicBezTo>
                          <a:pt x="-36452" y="957017"/>
                          <a:pt x="48746" y="797152"/>
                          <a:pt x="0" y="652455"/>
                        </a:cubicBezTo>
                        <a:cubicBezTo>
                          <a:pt x="-48746" y="507758"/>
                          <a:pt x="1772" y="362414"/>
                          <a:pt x="0" y="21184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p:txBody>
      </p:sp>
      <p:sp>
        <p:nvSpPr>
          <p:cNvPr id="585" name="TextBox 584">
            <a:extLst>
              <a:ext uri="{FF2B5EF4-FFF2-40B4-BE49-F238E27FC236}">
                <a16:creationId xmlns:a16="http://schemas.microsoft.com/office/drawing/2014/main" id="{9456261C-24F2-F4A2-DD8D-2162828439DE}"/>
              </a:ext>
            </a:extLst>
          </p:cNvPr>
          <p:cNvSpPr txBox="1"/>
          <p:nvPr/>
        </p:nvSpPr>
        <p:spPr>
          <a:xfrm>
            <a:off x="1276046" y="2530973"/>
            <a:ext cx="2620271" cy="1061829"/>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Cloud Readiness assessment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Portfolio assessment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Business Case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Infrastructure capture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Complexity Assessment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Release Plan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Client workshops and education</a:t>
            </a:r>
          </a:p>
        </p:txBody>
      </p:sp>
      <p:sp>
        <p:nvSpPr>
          <p:cNvPr id="586" name="TextBox 585">
            <a:extLst>
              <a:ext uri="{FF2B5EF4-FFF2-40B4-BE49-F238E27FC236}">
                <a16:creationId xmlns:a16="http://schemas.microsoft.com/office/drawing/2014/main" id="{C5B446F8-760E-6854-E1E4-760BB9B25A1B}"/>
              </a:ext>
            </a:extLst>
          </p:cNvPr>
          <p:cNvSpPr txBox="1"/>
          <p:nvPr/>
        </p:nvSpPr>
        <p:spPr>
          <a:xfrm>
            <a:off x="7592726" y="1107086"/>
            <a:ext cx="106792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Mobilise</a:t>
            </a:r>
          </a:p>
        </p:txBody>
      </p:sp>
      <p:sp>
        <p:nvSpPr>
          <p:cNvPr id="587" name="Rounded Rectangle 586">
            <a:extLst>
              <a:ext uri="{FF2B5EF4-FFF2-40B4-BE49-F238E27FC236}">
                <a16:creationId xmlns:a16="http://schemas.microsoft.com/office/drawing/2014/main" id="{E08835DD-605F-DC30-8F10-BFD8AAA57FB9}"/>
              </a:ext>
            </a:extLst>
          </p:cNvPr>
          <p:cNvSpPr/>
          <p:nvPr/>
        </p:nvSpPr>
        <p:spPr>
          <a:xfrm>
            <a:off x="5081886" y="1508102"/>
            <a:ext cx="6119514" cy="973157"/>
          </a:xfrm>
          <a:prstGeom prst="roundRect">
            <a:avLst/>
          </a:prstGeom>
          <a:noFill/>
          <a:ln w="34925" cap="rnd" cmpd="dbl">
            <a:solidFill>
              <a:srgbClr val="950189"/>
            </a:solidFill>
            <a:prstDash val="lgDashDotDot"/>
            <a:extLst>
              <a:ext uri="{C807C97D-BFC1-408E-A445-0C87EB9F89A2}">
                <ask:lineSketchStyleProps xmlns:ask="http://schemas.microsoft.com/office/drawing/2018/sketchyshapes" sd="981765707">
                  <a:custGeom>
                    <a:avLst/>
                    <a:gdLst>
                      <a:gd name="connsiteX0" fmla="*/ 0 w 3891201"/>
                      <a:gd name="connsiteY0" fmla="*/ 211840 h 1271016"/>
                      <a:gd name="connsiteX1" fmla="*/ 211840 w 3891201"/>
                      <a:gd name="connsiteY1" fmla="*/ 0 h 1271016"/>
                      <a:gd name="connsiteX2" fmla="*/ 789760 w 3891201"/>
                      <a:gd name="connsiteY2" fmla="*/ 0 h 1271016"/>
                      <a:gd name="connsiteX3" fmla="*/ 1437031 w 3891201"/>
                      <a:gd name="connsiteY3" fmla="*/ 0 h 1271016"/>
                      <a:gd name="connsiteX4" fmla="*/ 2084301 w 3891201"/>
                      <a:gd name="connsiteY4" fmla="*/ 0 h 1271016"/>
                      <a:gd name="connsiteX5" fmla="*/ 2592871 w 3891201"/>
                      <a:gd name="connsiteY5" fmla="*/ 0 h 1271016"/>
                      <a:gd name="connsiteX6" fmla="*/ 3066766 w 3891201"/>
                      <a:gd name="connsiteY6" fmla="*/ 0 h 1271016"/>
                      <a:gd name="connsiteX7" fmla="*/ 3679361 w 3891201"/>
                      <a:gd name="connsiteY7" fmla="*/ 0 h 1271016"/>
                      <a:gd name="connsiteX8" fmla="*/ 3891201 w 3891201"/>
                      <a:gd name="connsiteY8" fmla="*/ 211840 h 1271016"/>
                      <a:gd name="connsiteX9" fmla="*/ 3891201 w 3891201"/>
                      <a:gd name="connsiteY9" fmla="*/ 627035 h 1271016"/>
                      <a:gd name="connsiteX10" fmla="*/ 3891201 w 3891201"/>
                      <a:gd name="connsiteY10" fmla="*/ 1059176 h 1271016"/>
                      <a:gd name="connsiteX11" fmla="*/ 3679361 w 3891201"/>
                      <a:gd name="connsiteY11" fmla="*/ 1271016 h 1271016"/>
                      <a:gd name="connsiteX12" fmla="*/ 3066766 w 3891201"/>
                      <a:gd name="connsiteY12" fmla="*/ 1271016 h 1271016"/>
                      <a:gd name="connsiteX13" fmla="*/ 2523521 w 3891201"/>
                      <a:gd name="connsiteY13" fmla="*/ 1271016 h 1271016"/>
                      <a:gd name="connsiteX14" fmla="*/ 1910925 w 3891201"/>
                      <a:gd name="connsiteY14" fmla="*/ 1271016 h 1271016"/>
                      <a:gd name="connsiteX15" fmla="*/ 1263655 w 3891201"/>
                      <a:gd name="connsiteY15" fmla="*/ 1271016 h 1271016"/>
                      <a:gd name="connsiteX16" fmla="*/ 211840 w 3891201"/>
                      <a:gd name="connsiteY16" fmla="*/ 1271016 h 1271016"/>
                      <a:gd name="connsiteX17" fmla="*/ 0 w 3891201"/>
                      <a:gd name="connsiteY17" fmla="*/ 1059176 h 1271016"/>
                      <a:gd name="connsiteX18" fmla="*/ 0 w 3891201"/>
                      <a:gd name="connsiteY18" fmla="*/ 652455 h 1271016"/>
                      <a:gd name="connsiteX19" fmla="*/ 0 w 3891201"/>
                      <a:gd name="connsiteY19" fmla="*/ 211840 h 127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91201" h="1271016" extrusionOk="0">
                        <a:moveTo>
                          <a:pt x="0" y="211840"/>
                        </a:moveTo>
                        <a:cubicBezTo>
                          <a:pt x="-1724" y="97869"/>
                          <a:pt x="85073" y="-4035"/>
                          <a:pt x="211840" y="0"/>
                        </a:cubicBezTo>
                        <a:cubicBezTo>
                          <a:pt x="352813" y="-66347"/>
                          <a:pt x="644289" y="64141"/>
                          <a:pt x="789760" y="0"/>
                        </a:cubicBezTo>
                        <a:cubicBezTo>
                          <a:pt x="935231" y="-64141"/>
                          <a:pt x="1135764" y="36819"/>
                          <a:pt x="1437031" y="0"/>
                        </a:cubicBezTo>
                        <a:cubicBezTo>
                          <a:pt x="1738298" y="-36819"/>
                          <a:pt x="1919312" y="25"/>
                          <a:pt x="2084301" y="0"/>
                        </a:cubicBezTo>
                        <a:cubicBezTo>
                          <a:pt x="2249290" y="-25"/>
                          <a:pt x="2412211" y="24788"/>
                          <a:pt x="2592871" y="0"/>
                        </a:cubicBezTo>
                        <a:cubicBezTo>
                          <a:pt x="2773531" y="-24788"/>
                          <a:pt x="2963621" y="44805"/>
                          <a:pt x="3066766" y="0"/>
                        </a:cubicBezTo>
                        <a:cubicBezTo>
                          <a:pt x="3169912" y="-44805"/>
                          <a:pt x="3497062" y="44876"/>
                          <a:pt x="3679361" y="0"/>
                        </a:cubicBezTo>
                        <a:cubicBezTo>
                          <a:pt x="3821363" y="3626"/>
                          <a:pt x="3878954" y="89255"/>
                          <a:pt x="3891201" y="211840"/>
                        </a:cubicBezTo>
                        <a:cubicBezTo>
                          <a:pt x="3920093" y="301511"/>
                          <a:pt x="3842349" y="475407"/>
                          <a:pt x="3891201" y="627035"/>
                        </a:cubicBezTo>
                        <a:cubicBezTo>
                          <a:pt x="3940053" y="778664"/>
                          <a:pt x="3863357" y="934958"/>
                          <a:pt x="3891201" y="1059176"/>
                        </a:cubicBezTo>
                        <a:cubicBezTo>
                          <a:pt x="3868850" y="1182099"/>
                          <a:pt x="3789568" y="1249049"/>
                          <a:pt x="3679361" y="1271016"/>
                        </a:cubicBezTo>
                        <a:cubicBezTo>
                          <a:pt x="3519371" y="1276183"/>
                          <a:pt x="3229389" y="1233492"/>
                          <a:pt x="3066766" y="1271016"/>
                        </a:cubicBezTo>
                        <a:cubicBezTo>
                          <a:pt x="2904143" y="1308540"/>
                          <a:pt x="2785129" y="1263928"/>
                          <a:pt x="2523521" y="1271016"/>
                        </a:cubicBezTo>
                        <a:cubicBezTo>
                          <a:pt x="2261914" y="1278104"/>
                          <a:pt x="2153174" y="1239646"/>
                          <a:pt x="1910925" y="1271016"/>
                        </a:cubicBezTo>
                        <a:cubicBezTo>
                          <a:pt x="1668676" y="1302386"/>
                          <a:pt x="1513616" y="1267310"/>
                          <a:pt x="1263655" y="1271016"/>
                        </a:cubicBezTo>
                        <a:cubicBezTo>
                          <a:pt x="1013694" y="1274722"/>
                          <a:pt x="608536" y="1219037"/>
                          <a:pt x="211840" y="1271016"/>
                        </a:cubicBezTo>
                        <a:cubicBezTo>
                          <a:pt x="77910" y="1284644"/>
                          <a:pt x="25439" y="1186323"/>
                          <a:pt x="0" y="1059176"/>
                        </a:cubicBezTo>
                        <a:cubicBezTo>
                          <a:pt x="-36452" y="957017"/>
                          <a:pt x="48746" y="797152"/>
                          <a:pt x="0" y="652455"/>
                        </a:cubicBezTo>
                        <a:cubicBezTo>
                          <a:pt x="-48746" y="507758"/>
                          <a:pt x="1772" y="362414"/>
                          <a:pt x="0" y="21184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950189"/>
              </a:solidFill>
              <a:effectLst/>
              <a:uLnTx/>
              <a:uFillTx/>
              <a:latin typeface="Fira Sans" panose="020B0503050000020004" pitchFamily="34" charset="0"/>
              <a:ea typeface="+mn-ea"/>
              <a:cs typeface="+mn-cs"/>
            </a:endParaRPr>
          </a:p>
        </p:txBody>
      </p:sp>
      <p:sp>
        <p:nvSpPr>
          <p:cNvPr id="588" name="Rounded Rectangle 587">
            <a:extLst>
              <a:ext uri="{FF2B5EF4-FFF2-40B4-BE49-F238E27FC236}">
                <a16:creationId xmlns:a16="http://schemas.microsoft.com/office/drawing/2014/main" id="{CCEA686A-8D42-2FB9-29E0-8F8C346CC1B2}"/>
              </a:ext>
            </a:extLst>
          </p:cNvPr>
          <p:cNvSpPr/>
          <p:nvPr/>
        </p:nvSpPr>
        <p:spPr>
          <a:xfrm>
            <a:off x="3250067" y="4014953"/>
            <a:ext cx="5768364" cy="973157"/>
          </a:xfrm>
          <a:prstGeom prst="roundRect">
            <a:avLst/>
          </a:prstGeom>
          <a:noFill/>
          <a:ln w="34925" cap="rnd" cmpd="dbl">
            <a:solidFill>
              <a:schemeClr val="bg2"/>
            </a:solidFill>
            <a:prstDash val="lgDashDotDot"/>
            <a:extLst>
              <a:ext uri="{C807C97D-BFC1-408E-A445-0C87EB9F89A2}">
                <ask:lineSketchStyleProps xmlns:ask="http://schemas.microsoft.com/office/drawing/2018/sketchyshapes" sd="981765707">
                  <a:custGeom>
                    <a:avLst/>
                    <a:gdLst>
                      <a:gd name="connsiteX0" fmla="*/ 0 w 3891201"/>
                      <a:gd name="connsiteY0" fmla="*/ 211840 h 1271016"/>
                      <a:gd name="connsiteX1" fmla="*/ 211840 w 3891201"/>
                      <a:gd name="connsiteY1" fmla="*/ 0 h 1271016"/>
                      <a:gd name="connsiteX2" fmla="*/ 789760 w 3891201"/>
                      <a:gd name="connsiteY2" fmla="*/ 0 h 1271016"/>
                      <a:gd name="connsiteX3" fmla="*/ 1437031 w 3891201"/>
                      <a:gd name="connsiteY3" fmla="*/ 0 h 1271016"/>
                      <a:gd name="connsiteX4" fmla="*/ 2084301 w 3891201"/>
                      <a:gd name="connsiteY4" fmla="*/ 0 h 1271016"/>
                      <a:gd name="connsiteX5" fmla="*/ 2592871 w 3891201"/>
                      <a:gd name="connsiteY5" fmla="*/ 0 h 1271016"/>
                      <a:gd name="connsiteX6" fmla="*/ 3066766 w 3891201"/>
                      <a:gd name="connsiteY6" fmla="*/ 0 h 1271016"/>
                      <a:gd name="connsiteX7" fmla="*/ 3679361 w 3891201"/>
                      <a:gd name="connsiteY7" fmla="*/ 0 h 1271016"/>
                      <a:gd name="connsiteX8" fmla="*/ 3891201 w 3891201"/>
                      <a:gd name="connsiteY8" fmla="*/ 211840 h 1271016"/>
                      <a:gd name="connsiteX9" fmla="*/ 3891201 w 3891201"/>
                      <a:gd name="connsiteY9" fmla="*/ 627035 h 1271016"/>
                      <a:gd name="connsiteX10" fmla="*/ 3891201 w 3891201"/>
                      <a:gd name="connsiteY10" fmla="*/ 1059176 h 1271016"/>
                      <a:gd name="connsiteX11" fmla="*/ 3679361 w 3891201"/>
                      <a:gd name="connsiteY11" fmla="*/ 1271016 h 1271016"/>
                      <a:gd name="connsiteX12" fmla="*/ 3066766 w 3891201"/>
                      <a:gd name="connsiteY12" fmla="*/ 1271016 h 1271016"/>
                      <a:gd name="connsiteX13" fmla="*/ 2523521 w 3891201"/>
                      <a:gd name="connsiteY13" fmla="*/ 1271016 h 1271016"/>
                      <a:gd name="connsiteX14" fmla="*/ 1910925 w 3891201"/>
                      <a:gd name="connsiteY14" fmla="*/ 1271016 h 1271016"/>
                      <a:gd name="connsiteX15" fmla="*/ 1263655 w 3891201"/>
                      <a:gd name="connsiteY15" fmla="*/ 1271016 h 1271016"/>
                      <a:gd name="connsiteX16" fmla="*/ 211840 w 3891201"/>
                      <a:gd name="connsiteY16" fmla="*/ 1271016 h 1271016"/>
                      <a:gd name="connsiteX17" fmla="*/ 0 w 3891201"/>
                      <a:gd name="connsiteY17" fmla="*/ 1059176 h 1271016"/>
                      <a:gd name="connsiteX18" fmla="*/ 0 w 3891201"/>
                      <a:gd name="connsiteY18" fmla="*/ 652455 h 1271016"/>
                      <a:gd name="connsiteX19" fmla="*/ 0 w 3891201"/>
                      <a:gd name="connsiteY19" fmla="*/ 211840 h 127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91201" h="1271016" extrusionOk="0">
                        <a:moveTo>
                          <a:pt x="0" y="211840"/>
                        </a:moveTo>
                        <a:cubicBezTo>
                          <a:pt x="-1724" y="97869"/>
                          <a:pt x="85073" y="-4035"/>
                          <a:pt x="211840" y="0"/>
                        </a:cubicBezTo>
                        <a:cubicBezTo>
                          <a:pt x="352813" y="-66347"/>
                          <a:pt x="644289" y="64141"/>
                          <a:pt x="789760" y="0"/>
                        </a:cubicBezTo>
                        <a:cubicBezTo>
                          <a:pt x="935231" y="-64141"/>
                          <a:pt x="1135764" y="36819"/>
                          <a:pt x="1437031" y="0"/>
                        </a:cubicBezTo>
                        <a:cubicBezTo>
                          <a:pt x="1738298" y="-36819"/>
                          <a:pt x="1919312" y="25"/>
                          <a:pt x="2084301" y="0"/>
                        </a:cubicBezTo>
                        <a:cubicBezTo>
                          <a:pt x="2249290" y="-25"/>
                          <a:pt x="2412211" y="24788"/>
                          <a:pt x="2592871" y="0"/>
                        </a:cubicBezTo>
                        <a:cubicBezTo>
                          <a:pt x="2773531" y="-24788"/>
                          <a:pt x="2963621" y="44805"/>
                          <a:pt x="3066766" y="0"/>
                        </a:cubicBezTo>
                        <a:cubicBezTo>
                          <a:pt x="3169912" y="-44805"/>
                          <a:pt x="3497062" y="44876"/>
                          <a:pt x="3679361" y="0"/>
                        </a:cubicBezTo>
                        <a:cubicBezTo>
                          <a:pt x="3821363" y="3626"/>
                          <a:pt x="3878954" y="89255"/>
                          <a:pt x="3891201" y="211840"/>
                        </a:cubicBezTo>
                        <a:cubicBezTo>
                          <a:pt x="3920093" y="301511"/>
                          <a:pt x="3842349" y="475407"/>
                          <a:pt x="3891201" y="627035"/>
                        </a:cubicBezTo>
                        <a:cubicBezTo>
                          <a:pt x="3940053" y="778664"/>
                          <a:pt x="3863357" y="934958"/>
                          <a:pt x="3891201" y="1059176"/>
                        </a:cubicBezTo>
                        <a:cubicBezTo>
                          <a:pt x="3868850" y="1182099"/>
                          <a:pt x="3789568" y="1249049"/>
                          <a:pt x="3679361" y="1271016"/>
                        </a:cubicBezTo>
                        <a:cubicBezTo>
                          <a:pt x="3519371" y="1276183"/>
                          <a:pt x="3229389" y="1233492"/>
                          <a:pt x="3066766" y="1271016"/>
                        </a:cubicBezTo>
                        <a:cubicBezTo>
                          <a:pt x="2904143" y="1308540"/>
                          <a:pt x="2785129" y="1263928"/>
                          <a:pt x="2523521" y="1271016"/>
                        </a:cubicBezTo>
                        <a:cubicBezTo>
                          <a:pt x="2261914" y="1278104"/>
                          <a:pt x="2153174" y="1239646"/>
                          <a:pt x="1910925" y="1271016"/>
                        </a:cubicBezTo>
                        <a:cubicBezTo>
                          <a:pt x="1668676" y="1302386"/>
                          <a:pt x="1513616" y="1267310"/>
                          <a:pt x="1263655" y="1271016"/>
                        </a:cubicBezTo>
                        <a:cubicBezTo>
                          <a:pt x="1013694" y="1274722"/>
                          <a:pt x="608536" y="1219037"/>
                          <a:pt x="211840" y="1271016"/>
                        </a:cubicBezTo>
                        <a:cubicBezTo>
                          <a:pt x="77910" y="1284644"/>
                          <a:pt x="25439" y="1186323"/>
                          <a:pt x="0" y="1059176"/>
                        </a:cubicBezTo>
                        <a:cubicBezTo>
                          <a:pt x="-36452" y="957017"/>
                          <a:pt x="48746" y="797152"/>
                          <a:pt x="0" y="652455"/>
                        </a:cubicBezTo>
                        <a:cubicBezTo>
                          <a:pt x="-48746" y="507758"/>
                          <a:pt x="1772" y="362414"/>
                          <a:pt x="0" y="21184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EB0000"/>
              </a:solidFill>
              <a:effectLst/>
              <a:uLnTx/>
              <a:uFillTx/>
              <a:latin typeface="Fira Sans" panose="020B0503050000020004" pitchFamily="34" charset="0"/>
              <a:ea typeface="+mn-ea"/>
              <a:cs typeface="+mn-cs"/>
            </a:endParaRPr>
          </a:p>
        </p:txBody>
      </p:sp>
      <p:sp>
        <p:nvSpPr>
          <p:cNvPr id="590" name="TextBox 589">
            <a:extLst>
              <a:ext uri="{FF2B5EF4-FFF2-40B4-BE49-F238E27FC236}">
                <a16:creationId xmlns:a16="http://schemas.microsoft.com/office/drawing/2014/main" id="{E90E016B-35C9-47BA-2BAF-B050D92AAFC1}"/>
              </a:ext>
            </a:extLst>
          </p:cNvPr>
          <p:cNvSpPr txBox="1"/>
          <p:nvPr/>
        </p:nvSpPr>
        <p:spPr>
          <a:xfrm>
            <a:off x="4791145" y="3598313"/>
            <a:ext cx="259237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Migrate and Modernise</a:t>
            </a:r>
          </a:p>
        </p:txBody>
      </p:sp>
      <p:cxnSp>
        <p:nvCxnSpPr>
          <p:cNvPr id="604" name="Elbow Connector 163">
            <a:extLst>
              <a:ext uri="{FF2B5EF4-FFF2-40B4-BE49-F238E27FC236}">
                <a16:creationId xmlns:a16="http://schemas.microsoft.com/office/drawing/2014/main" id="{94418215-FB81-332B-C464-89B193631297}"/>
              </a:ext>
            </a:extLst>
          </p:cNvPr>
          <p:cNvCxnSpPr>
            <a:cxnSpLocks/>
          </p:cNvCxnSpPr>
          <p:nvPr/>
        </p:nvCxnSpPr>
        <p:spPr>
          <a:xfrm>
            <a:off x="4399544" y="4489643"/>
            <a:ext cx="639647" cy="0"/>
          </a:xfrm>
          <a:prstGeom prst="straightConnector1">
            <a:avLst/>
          </a:prstGeom>
          <a:ln w="63500">
            <a:solidFill>
              <a:schemeClr val="tx2">
                <a:alpha val="68000"/>
              </a:schemeClr>
            </a:solidFill>
            <a:round/>
            <a:tailEnd type="none" w="sm" len="med"/>
          </a:ln>
        </p:spPr>
        <p:style>
          <a:lnRef idx="1">
            <a:schemeClr val="accent1"/>
          </a:lnRef>
          <a:fillRef idx="0">
            <a:schemeClr val="accent1"/>
          </a:fillRef>
          <a:effectRef idx="0">
            <a:schemeClr val="accent1"/>
          </a:effectRef>
          <a:fontRef idx="minor">
            <a:schemeClr val="tx1"/>
          </a:fontRef>
        </p:style>
      </p:cxnSp>
      <p:cxnSp>
        <p:nvCxnSpPr>
          <p:cNvPr id="605" name="Elbow Connector 163">
            <a:extLst>
              <a:ext uri="{FF2B5EF4-FFF2-40B4-BE49-F238E27FC236}">
                <a16:creationId xmlns:a16="http://schemas.microsoft.com/office/drawing/2014/main" id="{293BD228-A722-5FE3-A897-FB56689F391B}"/>
              </a:ext>
            </a:extLst>
          </p:cNvPr>
          <p:cNvCxnSpPr>
            <a:cxnSpLocks/>
            <a:endCxn id="584" idx="1"/>
          </p:cNvCxnSpPr>
          <p:nvPr/>
        </p:nvCxnSpPr>
        <p:spPr>
          <a:xfrm>
            <a:off x="0" y="2005567"/>
            <a:ext cx="1249496" cy="0"/>
          </a:xfrm>
          <a:prstGeom prst="straightConnector1">
            <a:avLst/>
          </a:prstGeom>
          <a:ln w="63500">
            <a:solidFill>
              <a:schemeClr val="accent1">
                <a:lumMod val="75000"/>
                <a:alpha val="68000"/>
              </a:schemeClr>
            </a:solidFill>
            <a:round/>
            <a:tailEnd type="triangle" w="sm" len="med"/>
          </a:ln>
        </p:spPr>
        <p:style>
          <a:lnRef idx="1">
            <a:schemeClr val="accent1"/>
          </a:lnRef>
          <a:fillRef idx="0">
            <a:schemeClr val="accent1"/>
          </a:fillRef>
          <a:effectRef idx="0">
            <a:schemeClr val="accent1"/>
          </a:effectRef>
          <a:fontRef idx="minor">
            <a:schemeClr val="tx1"/>
          </a:fontRef>
        </p:style>
      </p:cxnSp>
      <p:grpSp>
        <p:nvGrpSpPr>
          <p:cNvPr id="179" name="Group 178">
            <a:extLst>
              <a:ext uri="{FF2B5EF4-FFF2-40B4-BE49-F238E27FC236}">
                <a16:creationId xmlns:a16="http://schemas.microsoft.com/office/drawing/2014/main" id="{2667DD7E-22A9-E8A1-2DEF-00C55AA87209}"/>
              </a:ext>
            </a:extLst>
          </p:cNvPr>
          <p:cNvGrpSpPr/>
          <p:nvPr/>
        </p:nvGrpSpPr>
        <p:grpSpPr>
          <a:xfrm>
            <a:off x="1374021" y="1652530"/>
            <a:ext cx="826272" cy="779682"/>
            <a:chOff x="545949" y="2862308"/>
            <a:chExt cx="1177226" cy="1110846"/>
          </a:xfrm>
        </p:grpSpPr>
        <p:grpSp>
          <p:nvGrpSpPr>
            <p:cNvPr id="180" name="Group 179">
              <a:extLst>
                <a:ext uri="{FF2B5EF4-FFF2-40B4-BE49-F238E27FC236}">
                  <a16:creationId xmlns:a16="http://schemas.microsoft.com/office/drawing/2014/main" id="{F106744D-4F72-F649-3D98-ECC619F5C7D2}"/>
                </a:ext>
              </a:extLst>
            </p:cNvPr>
            <p:cNvGrpSpPr/>
            <p:nvPr/>
          </p:nvGrpSpPr>
          <p:grpSpPr>
            <a:xfrm>
              <a:off x="706061" y="2862308"/>
              <a:ext cx="607967" cy="607967"/>
              <a:chOff x="1426823" y="2776246"/>
              <a:chExt cx="607967" cy="607967"/>
            </a:xfrm>
          </p:grpSpPr>
          <p:grpSp>
            <p:nvGrpSpPr>
              <p:cNvPr id="182" name="Group 181">
                <a:extLst>
                  <a:ext uri="{FF2B5EF4-FFF2-40B4-BE49-F238E27FC236}">
                    <a16:creationId xmlns:a16="http://schemas.microsoft.com/office/drawing/2014/main" id="{D95F32DF-D9E4-10BB-76BF-11EA8F2B7C6A}"/>
                  </a:ext>
                </a:extLst>
              </p:cNvPr>
              <p:cNvGrpSpPr/>
              <p:nvPr/>
            </p:nvGrpSpPr>
            <p:grpSpPr>
              <a:xfrm flipH="1">
                <a:off x="1426823" y="2776246"/>
                <a:ext cx="607967" cy="607967"/>
                <a:chOff x="3037681" y="2362201"/>
                <a:chExt cx="468312" cy="468312"/>
              </a:xfrm>
            </p:grpSpPr>
            <p:sp>
              <p:nvSpPr>
                <p:cNvPr id="184" name="Freeform 240">
                  <a:extLst>
                    <a:ext uri="{FF2B5EF4-FFF2-40B4-BE49-F238E27FC236}">
                      <a16:creationId xmlns:a16="http://schemas.microsoft.com/office/drawing/2014/main" id="{B2EB6D2F-73AD-18D5-166A-5EA78E06A9E5}"/>
                    </a:ext>
                  </a:extLst>
                </p:cNvPr>
                <p:cNvSpPr>
                  <a:spLocks noChangeArrowheads="1"/>
                </p:cNvSpPr>
                <p:nvPr/>
              </p:nvSpPr>
              <p:spPr bwMode="auto">
                <a:xfrm>
                  <a:off x="3086893" y="2411413"/>
                  <a:ext cx="241300" cy="241300"/>
                </a:xfrm>
                <a:custGeom>
                  <a:avLst/>
                  <a:gdLst>
                    <a:gd name="T0" fmla="*/ 671 w 672"/>
                    <a:gd name="T1" fmla="*/ 336 h 672"/>
                    <a:gd name="T2" fmla="*/ 626 w 672"/>
                    <a:gd name="T3" fmla="*/ 503 h 672"/>
                    <a:gd name="T4" fmla="*/ 503 w 672"/>
                    <a:gd name="T5" fmla="*/ 626 h 672"/>
                    <a:gd name="T6" fmla="*/ 335 w 672"/>
                    <a:gd name="T7" fmla="*/ 671 h 672"/>
                    <a:gd name="T8" fmla="*/ 168 w 672"/>
                    <a:gd name="T9" fmla="*/ 626 h 672"/>
                    <a:gd name="T10" fmla="*/ 45 w 672"/>
                    <a:gd name="T11" fmla="*/ 503 h 672"/>
                    <a:gd name="T12" fmla="*/ 0 w 672"/>
                    <a:gd name="T13" fmla="*/ 336 h 672"/>
                    <a:gd name="T14" fmla="*/ 45 w 672"/>
                    <a:gd name="T15" fmla="*/ 168 h 672"/>
                    <a:gd name="T16" fmla="*/ 168 w 672"/>
                    <a:gd name="T17" fmla="*/ 45 h 672"/>
                    <a:gd name="T18" fmla="*/ 335 w 672"/>
                    <a:gd name="T19" fmla="*/ 0 h 672"/>
                    <a:gd name="T20" fmla="*/ 503 w 672"/>
                    <a:gd name="T21" fmla="*/ 45 h 672"/>
                    <a:gd name="T22" fmla="*/ 626 w 672"/>
                    <a:gd name="T23" fmla="*/ 168 h 672"/>
                    <a:gd name="T24" fmla="*/ 671 w 672"/>
                    <a:gd name="T25" fmla="*/ 336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2" h="672">
                      <a:moveTo>
                        <a:pt x="671" y="336"/>
                      </a:moveTo>
                      <a:cubicBezTo>
                        <a:pt x="671" y="397"/>
                        <a:pt x="656" y="449"/>
                        <a:pt x="626" y="503"/>
                      </a:cubicBezTo>
                      <a:cubicBezTo>
                        <a:pt x="595" y="556"/>
                        <a:pt x="556" y="595"/>
                        <a:pt x="503" y="626"/>
                      </a:cubicBezTo>
                      <a:cubicBezTo>
                        <a:pt x="449" y="657"/>
                        <a:pt x="396" y="671"/>
                        <a:pt x="335" y="671"/>
                      </a:cubicBezTo>
                      <a:cubicBezTo>
                        <a:pt x="273" y="671"/>
                        <a:pt x="221" y="657"/>
                        <a:pt x="168" y="626"/>
                      </a:cubicBezTo>
                      <a:cubicBezTo>
                        <a:pt x="114" y="595"/>
                        <a:pt x="76" y="556"/>
                        <a:pt x="45" y="503"/>
                      </a:cubicBezTo>
                      <a:cubicBezTo>
                        <a:pt x="14" y="449"/>
                        <a:pt x="0" y="397"/>
                        <a:pt x="0" y="336"/>
                      </a:cubicBezTo>
                      <a:cubicBezTo>
                        <a:pt x="0" y="274"/>
                        <a:pt x="14" y="221"/>
                        <a:pt x="45" y="168"/>
                      </a:cubicBezTo>
                      <a:cubicBezTo>
                        <a:pt x="76" y="114"/>
                        <a:pt x="114" y="76"/>
                        <a:pt x="168" y="45"/>
                      </a:cubicBezTo>
                      <a:cubicBezTo>
                        <a:pt x="221" y="14"/>
                        <a:pt x="274" y="0"/>
                        <a:pt x="335" y="0"/>
                      </a:cubicBezTo>
                      <a:cubicBezTo>
                        <a:pt x="397" y="0"/>
                        <a:pt x="449" y="14"/>
                        <a:pt x="503" y="45"/>
                      </a:cubicBezTo>
                      <a:cubicBezTo>
                        <a:pt x="556" y="76"/>
                        <a:pt x="595" y="114"/>
                        <a:pt x="626" y="168"/>
                      </a:cubicBezTo>
                      <a:cubicBezTo>
                        <a:pt x="656" y="221"/>
                        <a:pt x="671" y="274"/>
                        <a:pt x="671" y="336"/>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Fira Sans" panose="020B0503050000020004" pitchFamily="34" charset="0"/>
                    <a:ea typeface="+mn-ea"/>
                    <a:cs typeface="+mn-cs"/>
                  </a:endParaRPr>
                </a:p>
              </p:txBody>
            </p:sp>
            <p:sp>
              <p:nvSpPr>
                <p:cNvPr id="185" name="Freeform 241">
                  <a:extLst>
                    <a:ext uri="{FF2B5EF4-FFF2-40B4-BE49-F238E27FC236}">
                      <a16:creationId xmlns:a16="http://schemas.microsoft.com/office/drawing/2014/main" id="{B726D0D1-9B11-E021-E73B-CC95328CF61C}"/>
                    </a:ext>
                  </a:extLst>
                </p:cNvPr>
                <p:cNvSpPr>
                  <a:spLocks noChangeArrowheads="1"/>
                </p:cNvSpPr>
                <p:nvPr/>
              </p:nvSpPr>
              <p:spPr bwMode="auto">
                <a:xfrm>
                  <a:off x="3037681" y="2362201"/>
                  <a:ext cx="468312" cy="468312"/>
                </a:xfrm>
                <a:custGeom>
                  <a:avLst/>
                  <a:gdLst>
                    <a:gd name="T0" fmla="*/ 1275 w 1302"/>
                    <a:gd name="T1" fmla="*/ 1276 h 1303"/>
                    <a:gd name="T2" fmla="*/ 1275 w 1302"/>
                    <a:gd name="T3" fmla="*/ 1181 h 1303"/>
                    <a:gd name="T4" fmla="*/ 865 w 1302"/>
                    <a:gd name="T5" fmla="*/ 771 h 1303"/>
                    <a:gd name="T6" fmla="*/ 861 w 1302"/>
                    <a:gd name="T7" fmla="*/ 728 h 1303"/>
                    <a:gd name="T8" fmla="*/ 939 w 1302"/>
                    <a:gd name="T9" fmla="*/ 470 h 1303"/>
                    <a:gd name="T10" fmla="*/ 469 w 1302"/>
                    <a:gd name="T11" fmla="*/ 0 h 1303"/>
                    <a:gd name="T12" fmla="*/ 0 w 1302"/>
                    <a:gd name="T13" fmla="*/ 470 h 1303"/>
                    <a:gd name="T14" fmla="*/ 469 w 1302"/>
                    <a:gd name="T15" fmla="*/ 939 h 1303"/>
                    <a:gd name="T16" fmla="*/ 728 w 1302"/>
                    <a:gd name="T17" fmla="*/ 861 h 1303"/>
                    <a:gd name="T18" fmla="*/ 770 w 1302"/>
                    <a:gd name="T19" fmla="*/ 865 h 1303"/>
                    <a:gd name="T20" fmla="*/ 1180 w 1302"/>
                    <a:gd name="T21" fmla="*/ 1276 h 1303"/>
                    <a:gd name="T22" fmla="*/ 1275 w 1302"/>
                    <a:gd name="T23" fmla="*/ 1276 h 1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02" h="1303">
                      <a:moveTo>
                        <a:pt x="1275" y="1276"/>
                      </a:moveTo>
                      <a:cubicBezTo>
                        <a:pt x="1301" y="1249"/>
                        <a:pt x="1301" y="1207"/>
                        <a:pt x="1275" y="1181"/>
                      </a:cubicBezTo>
                      <a:cubicBezTo>
                        <a:pt x="1138" y="1044"/>
                        <a:pt x="1001" y="907"/>
                        <a:pt x="865" y="771"/>
                      </a:cubicBezTo>
                      <a:cubicBezTo>
                        <a:pt x="854" y="759"/>
                        <a:pt x="852" y="742"/>
                        <a:pt x="861" y="728"/>
                      </a:cubicBezTo>
                      <a:cubicBezTo>
                        <a:pt x="910" y="654"/>
                        <a:pt x="939" y="565"/>
                        <a:pt x="939" y="470"/>
                      </a:cubicBezTo>
                      <a:cubicBezTo>
                        <a:pt x="939" y="211"/>
                        <a:pt x="728" y="0"/>
                        <a:pt x="469" y="0"/>
                      </a:cubicBezTo>
                      <a:cubicBezTo>
                        <a:pt x="210" y="0"/>
                        <a:pt x="0" y="211"/>
                        <a:pt x="0" y="470"/>
                      </a:cubicBezTo>
                      <a:cubicBezTo>
                        <a:pt x="0" y="728"/>
                        <a:pt x="210" y="939"/>
                        <a:pt x="469" y="939"/>
                      </a:cubicBezTo>
                      <a:cubicBezTo>
                        <a:pt x="565" y="939"/>
                        <a:pt x="654" y="910"/>
                        <a:pt x="728" y="861"/>
                      </a:cubicBezTo>
                      <a:cubicBezTo>
                        <a:pt x="741" y="852"/>
                        <a:pt x="759" y="854"/>
                        <a:pt x="770" y="865"/>
                      </a:cubicBezTo>
                      <a:cubicBezTo>
                        <a:pt x="906" y="1002"/>
                        <a:pt x="1043" y="1139"/>
                        <a:pt x="1180" y="1276"/>
                      </a:cubicBezTo>
                      <a:cubicBezTo>
                        <a:pt x="1206" y="1302"/>
                        <a:pt x="1249" y="1302"/>
                        <a:pt x="1275" y="1276"/>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Fira Sans" panose="020B0503050000020004" pitchFamily="34" charset="0"/>
                    <a:ea typeface="+mn-ea"/>
                    <a:cs typeface="+mn-cs"/>
                  </a:endParaRPr>
                </a:p>
              </p:txBody>
            </p:sp>
          </p:grpSp>
          <p:sp>
            <p:nvSpPr>
              <p:cNvPr id="183" name="Freeform 80">
                <a:extLst>
                  <a:ext uri="{FF2B5EF4-FFF2-40B4-BE49-F238E27FC236}">
                    <a16:creationId xmlns:a16="http://schemas.microsoft.com/office/drawing/2014/main" id="{5A812995-2B83-4DCA-ADF1-7712C81A31F6}"/>
                  </a:ext>
                </a:extLst>
              </p:cNvPr>
              <p:cNvSpPr>
                <a:spLocks noChangeArrowheads="1"/>
              </p:cNvSpPr>
              <p:nvPr/>
            </p:nvSpPr>
            <p:spPr bwMode="auto">
              <a:xfrm rot="688227">
                <a:off x="1784351" y="2851149"/>
                <a:ext cx="107950" cy="241301"/>
              </a:xfrm>
              <a:custGeom>
                <a:avLst/>
                <a:gdLst>
                  <a:gd name="T0" fmla="*/ 423 w 722"/>
                  <a:gd name="T1" fmla="*/ 0 h 1117"/>
                  <a:gd name="T2" fmla="*/ 401 w 722"/>
                  <a:gd name="T3" fmla="*/ 12 h 1117"/>
                  <a:gd name="T4" fmla="*/ 141 w 722"/>
                  <a:gd name="T5" fmla="*/ 428 h 1117"/>
                  <a:gd name="T6" fmla="*/ 154 w 722"/>
                  <a:gd name="T7" fmla="*/ 452 h 1117"/>
                  <a:gd name="T8" fmla="*/ 262 w 722"/>
                  <a:gd name="T9" fmla="*/ 452 h 1117"/>
                  <a:gd name="T10" fmla="*/ 269 w 722"/>
                  <a:gd name="T11" fmla="*/ 464 h 1117"/>
                  <a:gd name="T12" fmla="*/ 76 w 722"/>
                  <a:gd name="T13" fmla="*/ 773 h 1117"/>
                  <a:gd name="T14" fmla="*/ 89 w 722"/>
                  <a:gd name="T15" fmla="*/ 797 h 1117"/>
                  <a:gd name="T16" fmla="*/ 198 w 722"/>
                  <a:gd name="T17" fmla="*/ 797 h 1117"/>
                  <a:gd name="T18" fmla="*/ 204 w 722"/>
                  <a:gd name="T19" fmla="*/ 809 h 1117"/>
                  <a:gd name="T20" fmla="*/ 4 w 722"/>
                  <a:gd name="T21" fmla="*/ 1108 h 1117"/>
                  <a:gd name="T22" fmla="*/ 7 w 722"/>
                  <a:gd name="T23" fmla="*/ 1111 h 1117"/>
                  <a:gd name="T24" fmla="*/ 492 w 722"/>
                  <a:gd name="T25" fmla="*/ 707 h 1117"/>
                  <a:gd name="T26" fmla="*/ 485 w 722"/>
                  <a:gd name="T27" fmla="*/ 689 h 1117"/>
                  <a:gd name="T28" fmla="*/ 355 w 722"/>
                  <a:gd name="T29" fmla="*/ 689 h 1117"/>
                  <a:gd name="T30" fmla="*/ 351 w 722"/>
                  <a:gd name="T31" fmla="*/ 679 h 1117"/>
                  <a:gd name="T32" fmla="*/ 624 w 722"/>
                  <a:gd name="T33" fmla="*/ 366 h 1117"/>
                  <a:gd name="T34" fmla="*/ 615 w 722"/>
                  <a:gd name="T35" fmla="*/ 344 h 1117"/>
                  <a:gd name="T36" fmla="*/ 442 w 722"/>
                  <a:gd name="T37" fmla="*/ 344 h 1117"/>
                  <a:gd name="T38" fmla="*/ 437 w 722"/>
                  <a:gd name="T39" fmla="*/ 334 h 1117"/>
                  <a:gd name="T40" fmla="*/ 711 w 722"/>
                  <a:gd name="T41" fmla="*/ 21 h 1117"/>
                  <a:gd name="T42" fmla="*/ 701 w 722"/>
                  <a:gd name="T43" fmla="*/ 0 h 1117"/>
                  <a:gd name="T44" fmla="*/ 423 w 722"/>
                  <a:gd name="T45" fmla="*/ 0 h 1117"/>
                  <a:gd name="connsiteX0" fmla="*/ 5837 w 9864"/>
                  <a:gd name="connsiteY0" fmla="*/ 0 h 9974"/>
                  <a:gd name="connsiteX1" fmla="*/ 5532 w 9864"/>
                  <a:gd name="connsiteY1" fmla="*/ 107 h 9974"/>
                  <a:gd name="connsiteX2" fmla="*/ 1931 w 9864"/>
                  <a:gd name="connsiteY2" fmla="*/ 3832 h 9974"/>
                  <a:gd name="connsiteX3" fmla="*/ 2111 w 9864"/>
                  <a:gd name="connsiteY3" fmla="*/ 4047 h 9974"/>
                  <a:gd name="connsiteX4" fmla="*/ 3607 w 9864"/>
                  <a:gd name="connsiteY4" fmla="*/ 4047 h 9974"/>
                  <a:gd name="connsiteX5" fmla="*/ 3704 w 9864"/>
                  <a:gd name="connsiteY5" fmla="*/ 4154 h 9974"/>
                  <a:gd name="connsiteX6" fmla="*/ 1031 w 9864"/>
                  <a:gd name="connsiteY6" fmla="*/ 6920 h 9974"/>
                  <a:gd name="connsiteX7" fmla="*/ 1211 w 9864"/>
                  <a:gd name="connsiteY7" fmla="*/ 7135 h 9974"/>
                  <a:gd name="connsiteX8" fmla="*/ 2720 w 9864"/>
                  <a:gd name="connsiteY8" fmla="*/ 7135 h 9974"/>
                  <a:gd name="connsiteX9" fmla="*/ 2803 w 9864"/>
                  <a:gd name="connsiteY9" fmla="*/ 7243 h 9974"/>
                  <a:gd name="connsiteX10" fmla="*/ 33 w 9864"/>
                  <a:gd name="connsiteY10" fmla="*/ 9919 h 9974"/>
                  <a:gd name="connsiteX11" fmla="*/ 75 w 9864"/>
                  <a:gd name="connsiteY11" fmla="*/ 9946 h 9974"/>
                  <a:gd name="connsiteX12" fmla="*/ 6792 w 9864"/>
                  <a:gd name="connsiteY12" fmla="*/ 6329 h 9974"/>
                  <a:gd name="connsiteX13" fmla="*/ 6695 w 9864"/>
                  <a:gd name="connsiteY13" fmla="*/ 6168 h 9974"/>
                  <a:gd name="connsiteX14" fmla="*/ 4895 w 9864"/>
                  <a:gd name="connsiteY14" fmla="*/ 6168 h 9974"/>
                  <a:gd name="connsiteX15" fmla="*/ 4839 w 9864"/>
                  <a:gd name="connsiteY15" fmla="*/ 6079 h 9974"/>
                  <a:gd name="connsiteX16" fmla="*/ 8621 w 9864"/>
                  <a:gd name="connsiteY16" fmla="*/ 3277 h 9974"/>
                  <a:gd name="connsiteX17" fmla="*/ 8496 w 9864"/>
                  <a:gd name="connsiteY17" fmla="*/ 3080 h 9974"/>
                  <a:gd name="connsiteX18" fmla="*/ 6100 w 9864"/>
                  <a:gd name="connsiteY18" fmla="*/ 3080 h 9974"/>
                  <a:gd name="connsiteX19" fmla="*/ 6031 w 9864"/>
                  <a:gd name="connsiteY19" fmla="*/ 2990 h 9974"/>
                  <a:gd name="connsiteX20" fmla="*/ 9826 w 9864"/>
                  <a:gd name="connsiteY20" fmla="*/ 188 h 9974"/>
                  <a:gd name="connsiteX21" fmla="*/ 9490 w 9864"/>
                  <a:gd name="connsiteY21" fmla="*/ 398 h 9974"/>
                  <a:gd name="connsiteX22" fmla="*/ 5837 w 9864"/>
                  <a:gd name="connsiteY22" fmla="*/ 0 h 9974"/>
                  <a:gd name="connsiteX0" fmla="*/ 5917 w 9999"/>
                  <a:gd name="connsiteY0" fmla="*/ 0 h 10000"/>
                  <a:gd name="connsiteX1" fmla="*/ 5608 w 9999"/>
                  <a:gd name="connsiteY1" fmla="*/ 107 h 10000"/>
                  <a:gd name="connsiteX2" fmla="*/ 1958 w 9999"/>
                  <a:gd name="connsiteY2" fmla="*/ 3842 h 10000"/>
                  <a:gd name="connsiteX3" fmla="*/ 2140 w 9999"/>
                  <a:gd name="connsiteY3" fmla="*/ 4058 h 10000"/>
                  <a:gd name="connsiteX4" fmla="*/ 3657 w 9999"/>
                  <a:gd name="connsiteY4" fmla="*/ 4058 h 10000"/>
                  <a:gd name="connsiteX5" fmla="*/ 3755 w 9999"/>
                  <a:gd name="connsiteY5" fmla="*/ 4165 h 10000"/>
                  <a:gd name="connsiteX6" fmla="*/ 1045 w 9999"/>
                  <a:gd name="connsiteY6" fmla="*/ 6938 h 10000"/>
                  <a:gd name="connsiteX7" fmla="*/ 1228 w 9999"/>
                  <a:gd name="connsiteY7" fmla="*/ 7154 h 10000"/>
                  <a:gd name="connsiteX8" fmla="*/ 2758 w 9999"/>
                  <a:gd name="connsiteY8" fmla="*/ 7154 h 10000"/>
                  <a:gd name="connsiteX9" fmla="*/ 2842 w 9999"/>
                  <a:gd name="connsiteY9" fmla="*/ 7262 h 10000"/>
                  <a:gd name="connsiteX10" fmla="*/ 33 w 9999"/>
                  <a:gd name="connsiteY10" fmla="*/ 9945 h 10000"/>
                  <a:gd name="connsiteX11" fmla="*/ 76 w 9999"/>
                  <a:gd name="connsiteY11" fmla="*/ 9972 h 10000"/>
                  <a:gd name="connsiteX12" fmla="*/ 6886 w 9999"/>
                  <a:gd name="connsiteY12" fmla="*/ 6345 h 10000"/>
                  <a:gd name="connsiteX13" fmla="*/ 6787 w 9999"/>
                  <a:gd name="connsiteY13" fmla="*/ 6184 h 10000"/>
                  <a:gd name="connsiteX14" fmla="*/ 4962 w 9999"/>
                  <a:gd name="connsiteY14" fmla="*/ 6184 h 10000"/>
                  <a:gd name="connsiteX15" fmla="*/ 4906 w 9999"/>
                  <a:gd name="connsiteY15" fmla="*/ 6095 h 10000"/>
                  <a:gd name="connsiteX16" fmla="*/ 8740 w 9999"/>
                  <a:gd name="connsiteY16" fmla="*/ 3286 h 10000"/>
                  <a:gd name="connsiteX17" fmla="*/ 8613 w 9999"/>
                  <a:gd name="connsiteY17" fmla="*/ 3088 h 10000"/>
                  <a:gd name="connsiteX18" fmla="*/ 6184 w 9999"/>
                  <a:gd name="connsiteY18" fmla="*/ 3088 h 10000"/>
                  <a:gd name="connsiteX19" fmla="*/ 6114 w 9999"/>
                  <a:gd name="connsiteY19" fmla="*/ 2998 h 10000"/>
                  <a:gd name="connsiteX20" fmla="*/ 9961 w 9999"/>
                  <a:gd name="connsiteY20" fmla="*/ 188 h 10000"/>
                  <a:gd name="connsiteX21" fmla="*/ 9621 w 9999"/>
                  <a:gd name="connsiteY21" fmla="*/ 399 h 10000"/>
                  <a:gd name="connsiteX22" fmla="*/ 5917 w 9999"/>
                  <a:gd name="connsiteY22" fmla="*/ 0 h 10000"/>
                  <a:gd name="connsiteX0" fmla="*/ 5918 w 9707"/>
                  <a:gd name="connsiteY0" fmla="*/ 0 h 10000"/>
                  <a:gd name="connsiteX1" fmla="*/ 5609 w 9707"/>
                  <a:gd name="connsiteY1" fmla="*/ 107 h 10000"/>
                  <a:gd name="connsiteX2" fmla="*/ 1958 w 9707"/>
                  <a:gd name="connsiteY2" fmla="*/ 3842 h 10000"/>
                  <a:gd name="connsiteX3" fmla="*/ 2140 w 9707"/>
                  <a:gd name="connsiteY3" fmla="*/ 4058 h 10000"/>
                  <a:gd name="connsiteX4" fmla="*/ 3657 w 9707"/>
                  <a:gd name="connsiteY4" fmla="*/ 4058 h 10000"/>
                  <a:gd name="connsiteX5" fmla="*/ 3755 w 9707"/>
                  <a:gd name="connsiteY5" fmla="*/ 4165 h 10000"/>
                  <a:gd name="connsiteX6" fmla="*/ 1045 w 9707"/>
                  <a:gd name="connsiteY6" fmla="*/ 6938 h 10000"/>
                  <a:gd name="connsiteX7" fmla="*/ 1228 w 9707"/>
                  <a:gd name="connsiteY7" fmla="*/ 7154 h 10000"/>
                  <a:gd name="connsiteX8" fmla="*/ 2758 w 9707"/>
                  <a:gd name="connsiteY8" fmla="*/ 7154 h 10000"/>
                  <a:gd name="connsiteX9" fmla="*/ 2842 w 9707"/>
                  <a:gd name="connsiteY9" fmla="*/ 7262 h 10000"/>
                  <a:gd name="connsiteX10" fmla="*/ 33 w 9707"/>
                  <a:gd name="connsiteY10" fmla="*/ 9945 h 10000"/>
                  <a:gd name="connsiteX11" fmla="*/ 76 w 9707"/>
                  <a:gd name="connsiteY11" fmla="*/ 9972 h 10000"/>
                  <a:gd name="connsiteX12" fmla="*/ 6887 w 9707"/>
                  <a:gd name="connsiteY12" fmla="*/ 6345 h 10000"/>
                  <a:gd name="connsiteX13" fmla="*/ 6788 w 9707"/>
                  <a:gd name="connsiteY13" fmla="*/ 6184 h 10000"/>
                  <a:gd name="connsiteX14" fmla="*/ 4962 w 9707"/>
                  <a:gd name="connsiteY14" fmla="*/ 6184 h 10000"/>
                  <a:gd name="connsiteX15" fmla="*/ 4906 w 9707"/>
                  <a:gd name="connsiteY15" fmla="*/ 6095 h 10000"/>
                  <a:gd name="connsiteX16" fmla="*/ 8741 w 9707"/>
                  <a:gd name="connsiteY16" fmla="*/ 3286 h 10000"/>
                  <a:gd name="connsiteX17" fmla="*/ 8614 w 9707"/>
                  <a:gd name="connsiteY17" fmla="*/ 3088 h 10000"/>
                  <a:gd name="connsiteX18" fmla="*/ 6185 w 9707"/>
                  <a:gd name="connsiteY18" fmla="*/ 3088 h 10000"/>
                  <a:gd name="connsiteX19" fmla="*/ 6115 w 9707"/>
                  <a:gd name="connsiteY19" fmla="*/ 2998 h 10000"/>
                  <a:gd name="connsiteX20" fmla="*/ 9463 w 9707"/>
                  <a:gd name="connsiteY20" fmla="*/ 537 h 10000"/>
                  <a:gd name="connsiteX21" fmla="*/ 9622 w 9707"/>
                  <a:gd name="connsiteY21" fmla="*/ 399 h 10000"/>
                  <a:gd name="connsiteX22" fmla="*/ 5918 w 9707"/>
                  <a:gd name="connsiteY22" fmla="*/ 0 h 10000"/>
                  <a:gd name="connsiteX0" fmla="*/ 6097 w 10000"/>
                  <a:gd name="connsiteY0" fmla="*/ 0 h 10000"/>
                  <a:gd name="connsiteX1" fmla="*/ 5778 w 10000"/>
                  <a:gd name="connsiteY1" fmla="*/ 107 h 10000"/>
                  <a:gd name="connsiteX2" fmla="*/ 2017 w 10000"/>
                  <a:gd name="connsiteY2" fmla="*/ 3842 h 10000"/>
                  <a:gd name="connsiteX3" fmla="*/ 2205 w 10000"/>
                  <a:gd name="connsiteY3" fmla="*/ 4058 h 10000"/>
                  <a:gd name="connsiteX4" fmla="*/ 3767 w 10000"/>
                  <a:gd name="connsiteY4" fmla="*/ 4058 h 10000"/>
                  <a:gd name="connsiteX5" fmla="*/ 3868 w 10000"/>
                  <a:gd name="connsiteY5" fmla="*/ 4165 h 10000"/>
                  <a:gd name="connsiteX6" fmla="*/ 1077 w 10000"/>
                  <a:gd name="connsiteY6" fmla="*/ 6938 h 10000"/>
                  <a:gd name="connsiteX7" fmla="*/ 1265 w 10000"/>
                  <a:gd name="connsiteY7" fmla="*/ 7154 h 10000"/>
                  <a:gd name="connsiteX8" fmla="*/ 2841 w 10000"/>
                  <a:gd name="connsiteY8" fmla="*/ 7154 h 10000"/>
                  <a:gd name="connsiteX9" fmla="*/ 2928 w 10000"/>
                  <a:gd name="connsiteY9" fmla="*/ 7262 h 10000"/>
                  <a:gd name="connsiteX10" fmla="*/ 34 w 10000"/>
                  <a:gd name="connsiteY10" fmla="*/ 9945 h 10000"/>
                  <a:gd name="connsiteX11" fmla="*/ 78 w 10000"/>
                  <a:gd name="connsiteY11" fmla="*/ 9972 h 10000"/>
                  <a:gd name="connsiteX12" fmla="*/ 7095 w 10000"/>
                  <a:gd name="connsiteY12" fmla="*/ 6345 h 10000"/>
                  <a:gd name="connsiteX13" fmla="*/ 6993 w 10000"/>
                  <a:gd name="connsiteY13" fmla="*/ 6184 h 10000"/>
                  <a:gd name="connsiteX14" fmla="*/ 5112 w 10000"/>
                  <a:gd name="connsiteY14" fmla="*/ 6184 h 10000"/>
                  <a:gd name="connsiteX15" fmla="*/ 5054 w 10000"/>
                  <a:gd name="connsiteY15" fmla="*/ 6095 h 10000"/>
                  <a:gd name="connsiteX16" fmla="*/ 9005 w 10000"/>
                  <a:gd name="connsiteY16" fmla="*/ 3286 h 10000"/>
                  <a:gd name="connsiteX17" fmla="*/ 8874 w 10000"/>
                  <a:gd name="connsiteY17" fmla="*/ 3088 h 10000"/>
                  <a:gd name="connsiteX18" fmla="*/ 6372 w 10000"/>
                  <a:gd name="connsiteY18" fmla="*/ 3088 h 10000"/>
                  <a:gd name="connsiteX19" fmla="*/ 6814 w 10000"/>
                  <a:gd name="connsiteY19" fmla="*/ 2749 h 10000"/>
                  <a:gd name="connsiteX20" fmla="*/ 9749 w 10000"/>
                  <a:gd name="connsiteY20" fmla="*/ 537 h 10000"/>
                  <a:gd name="connsiteX21" fmla="*/ 9912 w 10000"/>
                  <a:gd name="connsiteY21" fmla="*/ 399 h 10000"/>
                  <a:gd name="connsiteX22" fmla="*/ 6097 w 10000"/>
                  <a:gd name="connsiteY22"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00" h="10000">
                    <a:moveTo>
                      <a:pt x="6097" y="0"/>
                    </a:moveTo>
                    <a:cubicBezTo>
                      <a:pt x="5981" y="0"/>
                      <a:pt x="5836" y="45"/>
                      <a:pt x="5778" y="107"/>
                    </a:cubicBezTo>
                    <a:lnTo>
                      <a:pt x="2017" y="3842"/>
                    </a:lnTo>
                    <a:cubicBezTo>
                      <a:pt x="1886" y="3958"/>
                      <a:pt x="1973" y="4058"/>
                      <a:pt x="2205" y="4058"/>
                    </a:cubicBezTo>
                    <a:lnTo>
                      <a:pt x="3767" y="4058"/>
                    </a:lnTo>
                    <a:cubicBezTo>
                      <a:pt x="3883" y="4058"/>
                      <a:pt x="3926" y="4111"/>
                      <a:pt x="3868" y="4165"/>
                    </a:cubicBezTo>
                    <a:lnTo>
                      <a:pt x="1077" y="6938"/>
                    </a:lnTo>
                    <a:cubicBezTo>
                      <a:pt x="961" y="7055"/>
                      <a:pt x="1048" y="7154"/>
                      <a:pt x="1265" y="7154"/>
                    </a:cubicBezTo>
                    <a:lnTo>
                      <a:pt x="2841" y="7154"/>
                    </a:lnTo>
                    <a:cubicBezTo>
                      <a:pt x="2957" y="7154"/>
                      <a:pt x="2985" y="7199"/>
                      <a:pt x="2928" y="7262"/>
                    </a:cubicBezTo>
                    <a:lnTo>
                      <a:pt x="34" y="9945"/>
                    </a:lnTo>
                    <a:cubicBezTo>
                      <a:pt x="-23" y="10008"/>
                      <a:pt x="-8" y="10017"/>
                      <a:pt x="78" y="9972"/>
                    </a:cubicBezTo>
                    <a:lnTo>
                      <a:pt x="7095" y="6345"/>
                    </a:lnTo>
                    <a:cubicBezTo>
                      <a:pt x="7269" y="6256"/>
                      <a:pt x="7225" y="6184"/>
                      <a:pt x="6993" y="6184"/>
                    </a:cubicBezTo>
                    <a:lnTo>
                      <a:pt x="5112" y="6184"/>
                    </a:lnTo>
                    <a:cubicBezTo>
                      <a:pt x="5011" y="6184"/>
                      <a:pt x="4968" y="6140"/>
                      <a:pt x="5054" y="6095"/>
                    </a:cubicBezTo>
                    <a:lnTo>
                      <a:pt x="9005" y="3286"/>
                    </a:lnTo>
                    <a:cubicBezTo>
                      <a:pt x="9163" y="3177"/>
                      <a:pt x="9091" y="3088"/>
                      <a:pt x="8874" y="3088"/>
                    </a:cubicBezTo>
                    <a:cubicBezTo>
                      <a:pt x="8040" y="3088"/>
                      <a:pt x="6715" y="3144"/>
                      <a:pt x="6372" y="3088"/>
                    </a:cubicBezTo>
                    <a:cubicBezTo>
                      <a:pt x="6029" y="3032"/>
                      <a:pt x="6251" y="3174"/>
                      <a:pt x="6814" y="2749"/>
                    </a:cubicBezTo>
                    <a:cubicBezTo>
                      <a:pt x="7376" y="2324"/>
                      <a:pt x="8599" y="1357"/>
                      <a:pt x="9749" y="537"/>
                    </a:cubicBezTo>
                    <a:cubicBezTo>
                      <a:pt x="9893" y="430"/>
                      <a:pt x="10130" y="399"/>
                      <a:pt x="9912" y="399"/>
                    </a:cubicBezTo>
                    <a:cubicBezTo>
                      <a:pt x="9287" y="100"/>
                      <a:pt x="7442" y="0"/>
                      <a:pt x="6097" y="0"/>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Fira Sans" panose="020B0503050000020004" pitchFamily="34" charset="0"/>
                  <a:ea typeface="+mn-ea"/>
                  <a:cs typeface="+mn-cs"/>
                </a:endParaRPr>
              </a:p>
            </p:txBody>
          </p:sp>
        </p:grpSp>
        <p:sp>
          <p:nvSpPr>
            <p:cNvPr id="181" name="Rectangle 180">
              <a:extLst>
                <a:ext uri="{FF2B5EF4-FFF2-40B4-BE49-F238E27FC236}">
                  <a16:creationId xmlns:a16="http://schemas.microsoft.com/office/drawing/2014/main" id="{220C015B-2228-1872-8339-53C453DA5FBE}"/>
                </a:ext>
              </a:extLst>
            </p:cNvPr>
            <p:cNvSpPr/>
            <p:nvPr/>
          </p:nvSpPr>
          <p:spPr>
            <a:xfrm>
              <a:off x="545949" y="3407485"/>
              <a:ext cx="1177226" cy="565669"/>
            </a:xfrm>
            <a:prstGeom prst="rect">
              <a:avLst/>
            </a:prstGeom>
            <a:ln>
              <a:noFill/>
            </a:ln>
          </p:spPr>
          <p:txBody>
            <a:bodyPr wrap="square">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Rapid discovery</a:t>
              </a:r>
            </a:p>
          </p:txBody>
        </p:sp>
      </p:grpSp>
      <p:grpSp>
        <p:nvGrpSpPr>
          <p:cNvPr id="186" name="Group 185">
            <a:extLst>
              <a:ext uri="{FF2B5EF4-FFF2-40B4-BE49-F238E27FC236}">
                <a16:creationId xmlns:a16="http://schemas.microsoft.com/office/drawing/2014/main" id="{0929F1F5-C599-F6C1-0179-0233B0F2F485}"/>
              </a:ext>
            </a:extLst>
          </p:cNvPr>
          <p:cNvGrpSpPr/>
          <p:nvPr/>
        </p:nvGrpSpPr>
        <p:grpSpPr>
          <a:xfrm>
            <a:off x="2441716" y="1640563"/>
            <a:ext cx="990254" cy="766638"/>
            <a:chOff x="1971627" y="2862173"/>
            <a:chExt cx="1410859" cy="1092263"/>
          </a:xfrm>
        </p:grpSpPr>
        <p:grpSp>
          <p:nvGrpSpPr>
            <p:cNvPr id="200" name="Group 199">
              <a:extLst>
                <a:ext uri="{FF2B5EF4-FFF2-40B4-BE49-F238E27FC236}">
                  <a16:creationId xmlns:a16="http://schemas.microsoft.com/office/drawing/2014/main" id="{D85F1BB5-35A5-9E19-7810-BD6F04E3FE67}"/>
                </a:ext>
              </a:extLst>
            </p:cNvPr>
            <p:cNvGrpSpPr/>
            <p:nvPr/>
          </p:nvGrpSpPr>
          <p:grpSpPr>
            <a:xfrm>
              <a:off x="2530866" y="2862173"/>
              <a:ext cx="354567" cy="509071"/>
              <a:chOff x="7947025" y="2292350"/>
              <a:chExt cx="284163" cy="407988"/>
            </a:xfrm>
          </p:grpSpPr>
          <p:sp>
            <p:nvSpPr>
              <p:cNvPr id="205" name="Freeform 201">
                <a:extLst>
                  <a:ext uri="{FF2B5EF4-FFF2-40B4-BE49-F238E27FC236}">
                    <a16:creationId xmlns:a16="http://schemas.microsoft.com/office/drawing/2014/main" id="{C6F5AD28-2CD6-DEC1-FFA6-43B760FB4920}"/>
                  </a:ext>
                </a:extLst>
              </p:cNvPr>
              <p:cNvSpPr>
                <a:spLocks noChangeArrowheads="1"/>
              </p:cNvSpPr>
              <p:nvPr/>
            </p:nvSpPr>
            <p:spPr bwMode="auto">
              <a:xfrm>
                <a:off x="7947025" y="2333625"/>
                <a:ext cx="284163" cy="366713"/>
              </a:xfrm>
              <a:custGeom>
                <a:avLst/>
                <a:gdLst>
                  <a:gd name="T0" fmla="*/ 564 w 791"/>
                  <a:gd name="T1" fmla="*/ 0 h 1017"/>
                  <a:gd name="T2" fmla="*/ 734 w 791"/>
                  <a:gd name="T3" fmla="*/ 0 h 1017"/>
                  <a:gd name="T4" fmla="*/ 790 w 791"/>
                  <a:gd name="T5" fmla="*/ 56 h 1017"/>
                  <a:gd name="T6" fmla="*/ 790 w 791"/>
                  <a:gd name="T7" fmla="*/ 959 h 1017"/>
                  <a:gd name="T8" fmla="*/ 734 w 791"/>
                  <a:gd name="T9" fmla="*/ 1016 h 1017"/>
                  <a:gd name="T10" fmla="*/ 56 w 791"/>
                  <a:gd name="T11" fmla="*/ 1016 h 1017"/>
                  <a:gd name="T12" fmla="*/ 0 w 791"/>
                  <a:gd name="T13" fmla="*/ 959 h 1017"/>
                  <a:gd name="T14" fmla="*/ 0 w 791"/>
                  <a:gd name="T15" fmla="*/ 56 h 1017"/>
                  <a:gd name="T16" fmla="*/ 56 w 791"/>
                  <a:gd name="T17" fmla="*/ 0 h 1017"/>
                  <a:gd name="T18" fmla="*/ 226 w 791"/>
                  <a:gd name="T19" fmla="*/ 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1" h="1017">
                    <a:moveTo>
                      <a:pt x="564" y="0"/>
                    </a:moveTo>
                    <a:cubicBezTo>
                      <a:pt x="621" y="0"/>
                      <a:pt x="678" y="0"/>
                      <a:pt x="734" y="0"/>
                    </a:cubicBezTo>
                    <a:cubicBezTo>
                      <a:pt x="765" y="0"/>
                      <a:pt x="790" y="25"/>
                      <a:pt x="790" y="56"/>
                    </a:cubicBezTo>
                    <a:cubicBezTo>
                      <a:pt x="790" y="357"/>
                      <a:pt x="790" y="658"/>
                      <a:pt x="790" y="959"/>
                    </a:cubicBezTo>
                    <a:cubicBezTo>
                      <a:pt x="790" y="990"/>
                      <a:pt x="765" y="1016"/>
                      <a:pt x="734" y="1016"/>
                    </a:cubicBezTo>
                    <a:cubicBezTo>
                      <a:pt x="508" y="1016"/>
                      <a:pt x="282" y="1016"/>
                      <a:pt x="56" y="1016"/>
                    </a:cubicBezTo>
                    <a:cubicBezTo>
                      <a:pt x="25" y="1016"/>
                      <a:pt x="0" y="990"/>
                      <a:pt x="0" y="959"/>
                    </a:cubicBezTo>
                    <a:cubicBezTo>
                      <a:pt x="0" y="658"/>
                      <a:pt x="0" y="357"/>
                      <a:pt x="0" y="56"/>
                    </a:cubicBezTo>
                    <a:cubicBezTo>
                      <a:pt x="0" y="25"/>
                      <a:pt x="25" y="0"/>
                      <a:pt x="56" y="0"/>
                    </a:cubicBezTo>
                    <a:cubicBezTo>
                      <a:pt x="113" y="0"/>
                      <a:pt x="170" y="0"/>
                      <a:pt x="226" y="0"/>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Fira Sans" panose="020B0503050000020004" pitchFamily="34" charset="0"/>
                  <a:ea typeface="+mn-ea"/>
                  <a:cs typeface="+mn-cs"/>
                </a:endParaRPr>
              </a:p>
            </p:txBody>
          </p:sp>
          <p:sp>
            <p:nvSpPr>
              <p:cNvPr id="206" name="Freeform 202">
                <a:extLst>
                  <a:ext uri="{FF2B5EF4-FFF2-40B4-BE49-F238E27FC236}">
                    <a16:creationId xmlns:a16="http://schemas.microsoft.com/office/drawing/2014/main" id="{F8F0F1C8-C071-8841-2232-9A649B3A5F9C}"/>
                  </a:ext>
                </a:extLst>
              </p:cNvPr>
              <p:cNvSpPr>
                <a:spLocks noChangeArrowheads="1"/>
              </p:cNvSpPr>
              <p:nvPr/>
            </p:nvSpPr>
            <p:spPr bwMode="auto">
              <a:xfrm>
                <a:off x="7997825" y="2292350"/>
                <a:ext cx="182563" cy="92075"/>
              </a:xfrm>
              <a:custGeom>
                <a:avLst/>
                <a:gdLst>
                  <a:gd name="T0" fmla="*/ 508 w 509"/>
                  <a:gd name="T1" fmla="*/ 197 h 255"/>
                  <a:gd name="T2" fmla="*/ 423 w 509"/>
                  <a:gd name="T3" fmla="*/ 113 h 255"/>
                  <a:gd name="T4" fmla="*/ 380 w 509"/>
                  <a:gd name="T5" fmla="*/ 113 h 255"/>
                  <a:gd name="T6" fmla="*/ 366 w 509"/>
                  <a:gd name="T7" fmla="*/ 100 h 255"/>
                  <a:gd name="T8" fmla="*/ 254 w 509"/>
                  <a:gd name="T9" fmla="*/ 0 h 255"/>
                  <a:gd name="T10" fmla="*/ 142 w 509"/>
                  <a:gd name="T11" fmla="*/ 100 h 255"/>
                  <a:gd name="T12" fmla="*/ 128 w 509"/>
                  <a:gd name="T13" fmla="*/ 113 h 255"/>
                  <a:gd name="T14" fmla="*/ 85 w 509"/>
                  <a:gd name="T15" fmla="*/ 113 h 255"/>
                  <a:gd name="T16" fmla="*/ 0 w 509"/>
                  <a:gd name="T17" fmla="*/ 197 h 255"/>
                  <a:gd name="T18" fmla="*/ 0 w 509"/>
                  <a:gd name="T19" fmla="*/ 226 h 255"/>
                  <a:gd name="T20" fmla="*/ 28 w 509"/>
                  <a:gd name="T21" fmla="*/ 254 h 255"/>
                  <a:gd name="T22" fmla="*/ 480 w 509"/>
                  <a:gd name="T23" fmla="*/ 254 h 255"/>
                  <a:gd name="T24" fmla="*/ 508 w 509"/>
                  <a:gd name="T25" fmla="*/ 226 h 255"/>
                  <a:gd name="T26" fmla="*/ 508 w 509"/>
                  <a:gd name="T27" fmla="*/ 19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9" h="255">
                    <a:moveTo>
                      <a:pt x="508" y="197"/>
                    </a:moveTo>
                    <a:cubicBezTo>
                      <a:pt x="508" y="151"/>
                      <a:pt x="470" y="113"/>
                      <a:pt x="423" y="113"/>
                    </a:cubicBezTo>
                    <a:cubicBezTo>
                      <a:pt x="409" y="113"/>
                      <a:pt x="395" y="113"/>
                      <a:pt x="380" y="113"/>
                    </a:cubicBezTo>
                    <a:cubicBezTo>
                      <a:pt x="373" y="113"/>
                      <a:pt x="367" y="107"/>
                      <a:pt x="366" y="100"/>
                    </a:cubicBezTo>
                    <a:cubicBezTo>
                      <a:pt x="359" y="44"/>
                      <a:pt x="308" y="0"/>
                      <a:pt x="254" y="0"/>
                    </a:cubicBezTo>
                    <a:cubicBezTo>
                      <a:pt x="200" y="0"/>
                      <a:pt x="149" y="44"/>
                      <a:pt x="142" y="100"/>
                    </a:cubicBezTo>
                    <a:cubicBezTo>
                      <a:pt x="141" y="107"/>
                      <a:pt x="135" y="113"/>
                      <a:pt x="128" y="113"/>
                    </a:cubicBezTo>
                    <a:cubicBezTo>
                      <a:pt x="114" y="113"/>
                      <a:pt x="100" y="113"/>
                      <a:pt x="85" y="113"/>
                    </a:cubicBezTo>
                    <a:cubicBezTo>
                      <a:pt x="38" y="113"/>
                      <a:pt x="0" y="151"/>
                      <a:pt x="0" y="197"/>
                    </a:cubicBezTo>
                    <a:cubicBezTo>
                      <a:pt x="0" y="206"/>
                      <a:pt x="0" y="216"/>
                      <a:pt x="0" y="226"/>
                    </a:cubicBezTo>
                    <a:cubicBezTo>
                      <a:pt x="0" y="241"/>
                      <a:pt x="13" y="254"/>
                      <a:pt x="28" y="254"/>
                    </a:cubicBezTo>
                    <a:cubicBezTo>
                      <a:pt x="179" y="254"/>
                      <a:pt x="330" y="254"/>
                      <a:pt x="480" y="254"/>
                    </a:cubicBezTo>
                    <a:cubicBezTo>
                      <a:pt x="495" y="254"/>
                      <a:pt x="508" y="241"/>
                      <a:pt x="508" y="226"/>
                    </a:cubicBezTo>
                    <a:cubicBezTo>
                      <a:pt x="508" y="216"/>
                      <a:pt x="508" y="206"/>
                      <a:pt x="508" y="197"/>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Fira Sans" panose="020B0503050000020004" pitchFamily="34" charset="0"/>
                  <a:ea typeface="+mn-ea"/>
                  <a:cs typeface="+mn-cs"/>
                </a:endParaRPr>
              </a:p>
            </p:txBody>
          </p:sp>
          <p:sp>
            <p:nvSpPr>
              <p:cNvPr id="207" name="Freeform 203">
                <a:extLst>
                  <a:ext uri="{FF2B5EF4-FFF2-40B4-BE49-F238E27FC236}">
                    <a16:creationId xmlns:a16="http://schemas.microsoft.com/office/drawing/2014/main" id="{726AF10F-9887-2A32-4601-5A715CB5A6B9}"/>
                  </a:ext>
                </a:extLst>
              </p:cNvPr>
              <p:cNvSpPr>
                <a:spLocks noChangeArrowheads="1"/>
              </p:cNvSpPr>
              <p:nvPr/>
            </p:nvSpPr>
            <p:spPr bwMode="auto">
              <a:xfrm>
                <a:off x="8080375" y="2444750"/>
                <a:ext cx="92075" cy="1588"/>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Fira Sans" panose="020B0503050000020004" pitchFamily="34" charset="0"/>
                  <a:ea typeface="+mn-ea"/>
                  <a:cs typeface="+mn-cs"/>
                </a:endParaRPr>
              </a:p>
            </p:txBody>
          </p:sp>
          <p:sp>
            <p:nvSpPr>
              <p:cNvPr id="208" name="Freeform 204">
                <a:extLst>
                  <a:ext uri="{FF2B5EF4-FFF2-40B4-BE49-F238E27FC236}">
                    <a16:creationId xmlns:a16="http://schemas.microsoft.com/office/drawing/2014/main" id="{372E63A0-0EB1-2C72-595D-B9969F627C29}"/>
                  </a:ext>
                </a:extLst>
              </p:cNvPr>
              <p:cNvSpPr>
                <a:spLocks noChangeArrowheads="1"/>
              </p:cNvSpPr>
              <p:nvPr/>
            </p:nvSpPr>
            <p:spPr bwMode="auto">
              <a:xfrm>
                <a:off x="8080375" y="2322513"/>
                <a:ext cx="20638" cy="20637"/>
              </a:xfrm>
              <a:custGeom>
                <a:avLst/>
                <a:gdLst>
                  <a:gd name="T0" fmla="*/ 56 w 57"/>
                  <a:gd name="T1" fmla="*/ 29 h 58"/>
                  <a:gd name="T2" fmla="*/ 28 w 57"/>
                  <a:gd name="T3" fmla="*/ 57 h 58"/>
                  <a:gd name="T4" fmla="*/ 0 w 57"/>
                  <a:gd name="T5" fmla="*/ 29 h 58"/>
                  <a:gd name="T6" fmla="*/ 28 w 57"/>
                  <a:gd name="T7" fmla="*/ 0 h 58"/>
                  <a:gd name="T8" fmla="*/ 56 w 57"/>
                  <a:gd name="T9" fmla="*/ 29 h 58"/>
                </a:gdLst>
                <a:ahLst/>
                <a:cxnLst>
                  <a:cxn ang="0">
                    <a:pos x="T0" y="T1"/>
                  </a:cxn>
                  <a:cxn ang="0">
                    <a:pos x="T2" y="T3"/>
                  </a:cxn>
                  <a:cxn ang="0">
                    <a:pos x="T4" y="T5"/>
                  </a:cxn>
                  <a:cxn ang="0">
                    <a:pos x="T6" y="T7"/>
                  </a:cxn>
                  <a:cxn ang="0">
                    <a:pos x="T8" y="T9"/>
                  </a:cxn>
                </a:cxnLst>
                <a:rect l="0" t="0" r="r" b="b"/>
                <a:pathLst>
                  <a:path w="57" h="58">
                    <a:moveTo>
                      <a:pt x="56" y="29"/>
                    </a:moveTo>
                    <a:cubicBezTo>
                      <a:pt x="56" y="44"/>
                      <a:pt x="44" y="57"/>
                      <a:pt x="28" y="57"/>
                    </a:cubicBezTo>
                    <a:cubicBezTo>
                      <a:pt x="12" y="57"/>
                      <a:pt x="0" y="44"/>
                      <a:pt x="0" y="29"/>
                    </a:cubicBezTo>
                    <a:cubicBezTo>
                      <a:pt x="0" y="13"/>
                      <a:pt x="12" y="0"/>
                      <a:pt x="28" y="0"/>
                    </a:cubicBezTo>
                    <a:cubicBezTo>
                      <a:pt x="44" y="0"/>
                      <a:pt x="56" y="13"/>
                      <a:pt x="56" y="29"/>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Fira Sans" panose="020B0503050000020004" pitchFamily="34" charset="0"/>
                  <a:ea typeface="+mn-ea"/>
                  <a:cs typeface="+mn-cs"/>
                </a:endParaRPr>
              </a:p>
            </p:txBody>
          </p:sp>
          <p:sp>
            <p:nvSpPr>
              <p:cNvPr id="209" name="Freeform 205">
                <a:extLst>
                  <a:ext uri="{FF2B5EF4-FFF2-40B4-BE49-F238E27FC236}">
                    <a16:creationId xmlns:a16="http://schemas.microsoft.com/office/drawing/2014/main" id="{3E1A1369-6AE5-41B5-B300-A34B9781FA2B}"/>
                  </a:ext>
                </a:extLst>
              </p:cNvPr>
              <p:cNvSpPr>
                <a:spLocks noChangeArrowheads="1"/>
              </p:cNvSpPr>
              <p:nvPr/>
            </p:nvSpPr>
            <p:spPr bwMode="auto">
              <a:xfrm>
                <a:off x="8008938" y="2430463"/>
                <a:ext cx="31750" cy="30162"/>
              </a:xfrm>
              <a:custGeom>
                <a:avLst/>
                <a:gdLst>
                  <a:gd name="T0" fmla="*/ 85 w 86"/>
                  <a:gd name="T1" fmla="*/ 42 h 85"/>
                  <a:gd name="T2" fmla="*/ 43 w 86"/>
                  <a:gd name="T3" fmla="*/ 84 h 85"/>
                  <a:gd name="T4" fmla="*/ 0 w 86"/>
                  <a:gd name="T5" fmla="*/ 42 h 85"/>
                  <a:gd name="T6" fmla="*/ 43 w 86"/>
                  <a:gd name="T7" fmla="*/ 0 h 85"/>
                  <a:gd name="T8" fmla="*/ 85 w 86"/>
                  <a:gd name="T9" fmla="*/ 42 h 85"/>
                </a:gdLst>
                <a:ahLst/>
                <a:cxnLst>
                  <a:cxn ang="0">
                    <a:pos x="T0" y="T1"/>
                  </a:cxn>
                  <a:cxn ang="0">
                    <a:pos x="T2" y="T3"/>
                  </a:cxn>
                  <a:cxn ang="0">
                    <a:pos x="T4" y="T5"/>
                  </a:cxn>
                  <a:cxn ang="0">
                    <a:pos x="T6" y="T7"/>
                  </a:cxn>
                  <a:cxn ang="0">
                    <a:pos x="T8" y="T9"/>
                  </a:cxn>
                </a:cxnLst>
                <a:rect l="0" t="0" r="r" b="b"/>
                <a:pathLst>
                  <a:path w="86" h="85">
                    <a:moveTo>
                      <a:pt x="85" y="42"/>
                    </a:moveTo>
                    <a:cubicBezTo>
                      <a:pt x="85" y="66"/>
                      <a:pt x="66" y="84"/>
                      <a:pt x="43" y="84"/>
                    </a:cubicBezTo>
                    <a:cubicBezTo>
                      <a:pt x="19" y="84"/>
                      <a:pt x="0" y="66"/>
                      <a:pt x="0" y="42"/>
                    </a:cubicBezTo>
                    <a:cubicBezTo>
                      <a:pt x="0" y="19"/>
                      <a:pt x="19" y="0"/>
                      <a:pt x="43" y="0"/>
                    </a:cubicBezTo>
                    <a:cubicBezTo>
                      <a:pt x="66" y="0"/>
                      <a:pt x="85" y="19"/>
                      <a:pt x="85" y="42"/>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Fira Sans" panose="020B0503050000020004" pitchFamily="34" charset="0"/>
                  <a:ea typeface="+mn-ea"/>
                  <a:cs typeface="+mn-cs"/>
                </a:endParaRPr>
              </a:p>
            </p:txBody>
          </p:sp>
          <p:sp>
            <p:nvSpPr>
              <p:cNvPr id="210" name="Freeform 206">
                <a:extLst>
                  <a:ext uri="{FF2B5EF4-FFF2-40B4-BE49-F238E27FC236}">
                    <a16:creationId xmlns:a16="http://schemas.microsoft.com/office/drawing/2014/main" id="{23AF222E-B8A5-49B6-D5B6-4B4808F673A6}"/>
                  </a:ext>
                </a:extLst>
              </p:cNvPr>
              <p:cNvSpPr>
                <a:spLocks noChangeArrowheads="1"/>
              </p:cNvSpPr>
              <p:nvPr/>
            </p:nvSpPr>
            <p:spPr bwMode="auto">
              <a:xfrm>
                <a:off x="8008938" y="2490788"/>
                <a:ext cx="31750" cy="31750"/>
              </a:xfrm>
              <a:custGeom>
                <a:avLst/>
                <a:gdLst>
                  <a:gd name="T0" fmla="*/ 85 w 86"/>
                  <a:gd name="T1" fmla="*/ 42 h 86"/>
                  <a:gd name="T2" fmla="*/ 43 w 86"/>
                  <a:gd name="T3" fmla="*/ 85 h 86"/>
                  <a:gd name="T4" fmla="*/ 0 w 86"/>
                  <a:gd name="T5" fmla="*/ 42 h 86"/>
                  <a:gd name="T6" fmla="*/ 43 w 86"/>
                  <a:gd name="T7" fmla="*/ 0 h 86"/>
                  <a:gd name="T8" fmla="*/ 85 w 86"/>
                  <a:gd name="T9" fmla="*/ 42 h 86"/>
                </a:gdLst>
                <a:ahLst/>
                <a:cxnLst>
                  <a:cxn ang="0">
                    <a:pos x="T0" y="T1"/>
                  </a:cxn>
                  <a:cxn ang="0">
                    <a:pos x="T2" y="T3"/>
                  </a:cxn>
                  <a:cxn ang="0">
                    <a:pos x="T4" y="T5"/>
                  </a:cxn>
                  <a:cxn ang="0">
                    <a:pos x="T6" y="T7"/>
                  </a:cxn>
                  <a:cxn ang="0">
                    <a:pos x="T8" y="T9"/>
                  </a:cxn>
                </a:cxnLst>
                <a:rect l="0" t="0" r="r" b="b"/>
                <a:pathLst>
                  <a:path w="86" h="86">
                    <a:moveTo>
                      <a:pt x="85" y="42"/>
                    </a:moveTo>
                    <a:cubicBezTo>
                      <a:pt x="85" y="66"/>
                      <a:pt x="66" y="85"/>
                      <a:pt x="43" y="85"/>
                    </a:cubicBezTo>
                    <a:cubicBezTo>
                      <a:pt x="19" y="85"/>
                      <a:pt x="0" y="66"/>
                      <a:pt x="0" y="42"/>
                    </a:cubicBezTo>
                    <a:cubicBezTo>
                      <a:pt x="0" y="19"/>
                      <a:pt x="19" y="0"/>
                      <a:pt x="43" y="0"/>
                    </a:cubicBezTo>
                    <a:cubicBezTo>
                      <a:pt x="66" y="0"/>
                      <a:pt x="85" y="19"/>
                      <a:pt x="85" y="42"/>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Fira Sans" panose="020B0503050000020004" pitchFamily="34" charset="0"/>
                  <a:ea typeface="+mn-ea"/>
                  <a:cs typeface="+mn-cs"/>
                </a:endParaRPr>
              </a:p>
            </p:txBody>
          </p:sp>
          <p:sp>
            <p:nvSpPr>
              <p:cNvPr id="211" name="Freeform 207">
                <a:extLst>
                  <a:ext uri="{FF2B5EF4-FFF2-40B4-BE49-F238E27FC236}">
                    <a16:creationId xmlns:a16="http://schemas.microsoft.com/office/drawing/2014/main" id="{4D1867A0-C57E-AA89-A43E-B73D5E5992AF}"/>
                  </a:ext>
                </a:extLst>
              </p:cNvPr>
              <p:cNvSpPr>
                <a:spLocks noChangeArrowheads="1"/>
              </p:cNvSpPr>
              <p:nvPr/>
            </p:nvSpPr>
            <p:spPr bwMode="auto">
              <a:xfrm>
                <a:off x="8008938" y="2551113"/>
                <a:ext cx="31750" cy="31750"/>
              </a:xfrm>
              <a:custGeom>
                <a:avLst/>
                <a:gdLst>
                  <a:gd name="T0" fmla="*/ 85 w 86"/>
                  <a:gd name="T1" fmla="*/ 43 h 86"/>
                  <a:gd name="T2" fmla="*/ 43 w 86"/>
                  <a:gd name="T3" fmla="*/ 85 h 86"/>
                  <a:gd name="T4" fmla="*/ 0 w 86"/>
                  <a:gd name="T5" fmla="*/ 43 h 86"/>
                  <a:gd name="T6" fmla="*/ 43 w 86"/>
                  <a:gd name="T7" fmla="*/ 0 h 86"/>
                  <a:gd name="T8" fmla="*/ 85 w 86"/>
                  <a:gd name="T9" fmla="*/ 43 h 86"/>
                </a:gdLst>
                <a:ahLst/>
                <a:cxnLst>
                  <a:cxn ang="0">
                    <a:pos x="T0" y="T1"/>
                  </a:cxn>
                  <a:cxn ang="0">
                    <a:pos x="T2" y="T3"/>
                  </a:cxn>
                  <a:cxn ang="0">
                    <a:pos x="T4" y="T5"/>
                  </a:cxn>
                  <a:cxn ang="0">
                    <a:pos x="T6" y="T7"/>
                  </a:cxn>
                  <a:cxn ang="0">
                    <a:pos x="T8" y="T9"/>
                  </a:cxn>
                </a:cxnLst>
                <a:rect l="0" t="0" r="r" b="b"/>
                <a:pathLst>
                  <a:path w="86" h="86">
                    <a:moveTo>
                      <a:pt x="85" y="43"/>
                    </a:moveTo>
                    <a:cubicBezTo>
                      <a:pt x="85" y="66"/>
                      <a:pt x="66" y="85"/>
                      <a:pt x="43" y="85"/>
                    </a:cubicBezTo>
                    <a:cubicBezTo>
                      <a:pt x="19" y="85"/>
                      <a:pt x="0" y="66"/>
                      <a:pt x="0" y="43"/>
                    </a:cubicBezTo>
                    <a:cubicBezTo>
                      <a:pt x="0" y="19"/>
                      <a:pt x="19" y="0"/>
                      <a:pt x="43" y="0"/>
                    </a:cubicBezTo>
                    <a:cubicBezTo>
                      <a:pt x="66" y="0"/>
                      <a:pt x="85" y="19"/>
                      <a:pt x="85" y="43"/>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Fira Sans" panose="020B0503050000020004" pitchFamily="34" charset="0"/>
                  <a:ea typeface="+mn-ea"/>
                  <a:cs typeface="+mn-cs"/>
                </a:endParaRPr>
              </a:p>
            </p:txBody>
          </p:sp>
          <p:sp>
            <p:nvSpPr>
              <p:cNvPr id="212" name="Freeform 208">
                <a:extLst>
                  <a:ext uri="{FF2B5EF4-FFF2-40B4-BE49-F238E27FC236}">
                    <a16:creationId xmlns:a16="http://schemas.microsoft.com/office/drawing/2014/main" id="{CDF373E4-BF69-0F6E-2A5E-96DB66A87585}"/>
                  </a:ext>
                </a:extLst>
              </p:cNvPr>
              <p:cNvSpPr>
                <a:spLocks noChangeArrowheads="1"/>
              </p:cNvSpPr>
              <p:nvPr/>
            </p:nvSpPr>
            <p:spPr bwMode="auto">
              <a:xfrm>
                <a:off x="8008938" y="2613025"/>
                <a:ext cx="31750" cy="30163"/>
              </a:xfrm>
              <a:custGeom>
                <a:avLst/>
                <a:gdLst>
                  <a:gd name="T0" fmla="*/ 85 w 86"/>
                  <a:gd name="T1" fmla="*/ 42 h 85"/>
                  <a:gd name="T2" fmla="*/ 43 w 86"/>
                  <a:gd name="T3" fmla="*/ 84 h 85"/>
                  <a:gd name="T4" fmla="*/ 0 w 86"/>
                  <a:gd name="T5" fmla="*/ 42 h 85"/>
                  <a:gd name="T6" fmla="*/ 43 w 86"/>
                  <a:gd name="T7" fmla="*/ 0 h 85"/>
                  <a:gd name="T8" fmla="*/ 85 w 86"/>
                  <a:gd name="T9" fmla="*/ 42 h 85"/>
                </a:gdLst>
                <a:ahLst/>
                <a:cxnLst>
                  <a:cxn ang="0">
                    <a:pos x="T0" y="T1"/>
                  </a:cxn>
                  <a:cxn ang="0">
                    <a:pos x="T2" y="T3"/>
                  </a:cxn>
                  <a:cxn ang="0">
                    <a:pos x="T4" y="T5"/>
                  </a:cxn>
                  <a:cxn ang="0">
                    <a:pos x="T6" y="T7"/>
                  </a:cxn>
                  <a:cxn ang="0">
                    <a:pos x="T8" y="T9"/>
                  </a:cxn>
                </a:cxnLst>
                <a:rect l="0" t="0" r="r" b="b"/>
                <a:pathLst>
                  <a:path w="86" h="85">
                    <a:moveTo>
                      <a:pt x="85" y="42"/>
                    </a:moveTo>
                    <a:cubicBezTo>
                      <a:pt x="85" y="65"/>
                      <a:pt x="66" y="84"/>
                      <a:pt x="43" y="84"/>
                    </a:cubicBezTo>
                    <a:cubicBezTo>
                      <a:pt x="19" y="84"/>
                      <a:pt x="0" y="65"/>
                      <a:pt x="0" y="42"/>
                    </a:cubicBezTo>
                    <a:cubicBezTo>
                      <a:pt x="0" y="19"/>
                      <a:pt x="19" y="0"/>
                      <a:pt x="43" y="0"/>
                    </a:cubicBezTo>
                    <a:cubicBezTo>
                      <a:pt x="66" y="0"/>
                      <a:pt x="85" y="19"/>
                      <a:pt x="85" y="42"/>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Fira Sans" panose="020B0503050000020004" pitchFamily="34" charset="0"/>
                  <a:ea typeface="+mn-ea"/>
                  <a:cs typeface="+mn-cs"/>
                </a:endParaRPr>
              </a:p>
            </p:txBody>
          </p:sp>
          <p:sp>
            <p:nvSpPr>
              <p:cNvPr id="213" name="Freeform 209">
                <a:extLst>
                  <a:ext uri="{FF2B5EF4-FFF2-40B4-BE49-F238E27FC236}">
                    <a16:creationId xmlns:a16="http://schemas.microsoft.com/office/drawing/2014/main" id="{74AB08FC-030C-0866-A6C4-FF279004FD8B}"/>
                  </a:ext>
                </a:extLst>
              </p:cNvPr>
              <p:cNvSpPr>
                <a:spLocks noChangeArrowheads="1"/>
              </p:cNvSpPr>
              <p:nvPr/>
            </p:nvSpPr>
            <p:spPr bwMode="auto">
              <a:xfrm>
                <a:off x="8080375" y="2506663"/>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Fira Sans" panose="020B0503050000020004" pitchFamily="34" charset="0"/>
                  <a:ea typeface="+mn-ea"/>
                  <a:cs typeface="+mn-cs"/>
                </a:endParaRPr>
              </a:p>
            </p:txBody>
          </p:sp>
          <p:sp>
            <p:nvSpPr>
              <p:cNvPr id="214" name="Freeform 210">
                <a:extLst>
                  <a:ext uri="{FF2B5EF4-FFF2-40B4-BE49-F238E27FC236}">
                    <a16:creationId xmlns:a16="http://schemas.microsoft.com/office/drawing/2014/main" id="{F482A812-D971-E3BA-FB80-EFA16B8D9566}"/>
                  </a:ext>
                </a:extLst>
              </p:cNvPr>
              <p:cNvSpPr>
                <a:spLocks noChangeArrowheads="1"/>
              </p:cNvSpPr>
              <p:nvPr/>
            </p:nvSpPr>
            <p:spPr bwMode="auto">
              <a:xfrm>
                <a:off x="8080375" y="2566988"/>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Fira Sans" panose="020B0503050000020004" pitchFamily="34" charset="0"/>
                  <a:ea typeface="+mn-ea"/>
                  <a:cs typeface="+mn-cs"/>
                </a:endParaRPr>
              </a:p>
            </p:txBody>
          </p:sp>
          <p:sp>
            <p:nvSpPr>
              <p:cNvPr id="215" name="Freeform 211">
                <a:extLst>
                  <a:ext uri="{FF2B5EF4-FFF2-40B4-BE49-F238E27FC236}">
                    <a16:creationId xmlns:a16="http://schemas.microsoft.com/office/drawing/2014/main" id="{05400A0D-4BAD-59B9-2045-B00EF94820A9}"/>
                  </a:ext>
                </a:extLst>
              </p:cNvPr>
              <p:cNvSpPr>
                <a:spLocks noChangeArrowheads="1"/>
              </p:cNvSpPr>
              <p:nvPr/>
            </p:nvSpPr>
            <p:spPr bwMode="auto">
              <a:xfrm>
                <a:off x="8080375" y="2627313"/>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Fira Sans" panose="020B0503050000020004" pitchFamily="34" charset="0"/>
                  <a:ea typeface="+mn-ea"/>
                  <a:cs typeface="+mn-cs"/>
                </a:endParaRPr>
              </a:p>
            </p:txBody>
          </p:sp>
        </p:grpSp>
        <p:sp>
          <p:nvSpPr>
            <p:cNvPr id="201" name="Rectangle 200">
              <a:extLst>
                <a:ext uri="{FF2B5EF4-FFF2-40B4-BE49-F238E27FC236}">
                  <a16:creationId xmlns:a16="http://schemas.microsoft.com/office/drawing/2014/main" id="{5D85D9C5-6724-F3DE-8770-DBBC07DE50E2}"/>
                </a:ext>
              </a:extLst>
            </p:cNvPr>
            <p:cNvSpPr/>
            <p:nvPr/>
          </p:nvSpPr>
          <p:spPr>
            <a:xfrm>
              <a:off x="1971627" y="3388767"/>
              <a:ext cx="1410859" cy="565669"/>
            </a:xfrm>
            <a:prstGeom prst="rect">
              <a:avLst/>
            </a:prstGeom>
            <a:ln>
              <a:noFill/>
            </a:ln>
          </p:spPr>
          <p:txBody>
            <a:bodyPr wrap="square" lIns="91440" tIns="45720" rIns="91440" bIns="45720" anchor="t">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Financial Assessment</a:t>
              </a:r>
            </a:p>
          </p:txBody>
        </p:sp>
      </p:grpSp>
      <p:sp>
        <p:nvSpPr>
          <p:cNvPr id="216" name="Rectangle 215">
            <a:extLst>
              <a:ext uri="{FF2B5EF4-FFF2-40B4-BE49-F238E27FC236}">
                <a16:creationId xmlns:a16="http://schemas.microsoft.com/office/drawing/2014/main" id="{9E012BB5-562B-E758-0DD8-CC33D6DB9D6C}"/>
              </a:ext>
            </a:extLst>
          </p:cNvPr>
          <p:cNvSpPr/>
          <p:nvPr/>
        </p:nvSpPr>
        <p:spPr>
          <a:xfrm>
            <a:off x="1374022" y="1397520"/>
            <a:ext cx="2080808" cy="244682"/>
          </a:xfrm>
          <a:prstGeom prst="rect">
            <a:avLst/>
          </a:prstGeom>
          <a:ln>
            <a:noFill/>
          </a:ln>
        </p:spPr>
        <p:txBody>
          <a:bodyPr wrap="square">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US" sz="1100" b="0" i="0" u="none" strike="noStrike" kern="1200" cap="none" spc="0" normalizeH="0" baseline="0" noProof="0">
                <a:ln>
                  <a:noFill/>
                </a:ln>
                <a:solidFill>
                  <a:srgbClr val="000000"/>
                </a:solidFill>
                <a:effectLst/>
                <a:highlight>
                  <a:srgbClr val="000000"/>
                </a:highlight>
                <a:uLnTx/>
                <a:uFillTx/>
                <a:latin typeface="Fira Sans" panose="020B0503050000020004" pitchFamily="34" charset="0"/>
                <a:ea typeface="+mn-ea"/>
                <a:cs typeface="+mn-cs"/>
              </a:rPr>
              <a:t>.</a:t>
            </a:r>
            <a:r>
              <a:rPr kumimoji="0" lang="en-US" sz="1100" b="0" i="0" u="none" strike="noStrike" kern="1200" cap="none" spc="0" normalizeH="0" baseline="0" noProof="0">
                <a:ln>
                  <a:noFill/>
                </a:ln>
                <a:solidFill>
                  <a:srgbClr val="0059C8">
                    <a:lumMod val="60000"/>
                    <a:lumOff val="40000"/>
                  </a:srgbClr>
                </a:solidFill>
                <a:effectLst/>
                <a:highlight>
                  <a:srgbClr val="000000"/>
                </a:highlight>
                <a:uLnTx/>
                <a:uFillTx/>
                <a:latin typeface="Fira Sans" panose="020B0503050000020004" pitchFamily="34" charset="0"/>
                <a:ea typeface="+mn-ea"/>
                <a:cs typeface="+mn-cs"/>
              </a:rPr>
              <a:t> Creates a case for change  </a:t>
            </a:r>
            <a:r>
              <a:rPr kumimoji="0" lang="en-US" sz="1100" b="0" i="0" u="none" strike="noStrike" kern="1200" cap="none" spc="0" normalizeH="0" baseline="0" noProof="0">
                <a:ln>
                  <a:noFill/>
                </a:ln>
                <a:solidFill>
                  <a:srgbClr val="000000"/>
                </a:solidFill>
                <a:effectLst/>
                <a:highlight>
                  <a:srgbClr val="000000"/>
                </a:highlight>
                <a:uLnTx/>
                <a:uFillTx/>
                <a:latin typeface="Fira Sans" panose="020B0503050000020004" pitchFamily="34" charset="0"/>
                <a:ea typeface="+mn-ea"/>
                <a:cs typeface="+mn-cs"/>
              </a:rPr>
              <a:t>.</a:t>
            </a:r>
          </a:p>
        </p:txBody>
      </p:sp>
      <p:grpSp>
        <p:nvGrpSpPr>
          <p:cNvPr id="222" name="Group 221">
            <a:extLst>
              <a:ext uri="{FF2B5EF4-FFF2-40B4-BE49-F238E27FC236}">
                <a16:creationId xmlns:a16="http://schemas.microsoft.com/office/drawing/2014/main" id="{84B87C37-BAAC-D5FA-7A70-C42C0E7B58A4}"/>
              </a:ext>
            </a:extLst>
          </p:cNvPr>
          <p:cNvGrpSpPr/>
          <p:nvPr/>
        </p:nvGrpSpPr>
        <p:grpSpPr>
          <a:xfrm>
            <a:off x="5374069" y="1590988"/>
            <a:ext cx="459158" cy="459158"/>
            <a:chOff x="1124743" y="5461001"/>
            <a:chExt cx="619125" cy="619125"/>
          </a:xfrm>
        </p:grpSpPr>
        <p:sp>
          <p:nvSpPr>
            <p:cNvPr id="224" name="Freeform 234">
              <a:extLst>
                <a:ext uri="{FF2B5EF4-FFF2-40B4-BE49-F238E27FC236}">
                  <a16:creationId xmlns:a16="http://schemas.microsoft.com/office/drawing/2014/main" id="{B696A982-AB15-6C64-6683-6025554F35D8}"/>
                </a:ext>
              </a:extLst>
            </p:cNvPr>
            <p:cNvSpPr>
              <a:spLocks noChangeArrowheads="1"/>
            </p:cNvSpPr>
            <p:nvPr/>
          </p:nvSpPr>
          <p:spPr bwMode="auto">
            <a:xfrm>
              <a:off x="1256506" y="5592763"/>
              <a:ext cx="266700" cy="266700"/>
            </a:xfrm>
            <a:custGeom>
              <a:avLst/>
              <a:gdLst>
                <a:gd name="T0" fmla="*/ 273 w 739"/>
                <a:gd name="T1" fmla="*/ 138 h 739"/>
                <a:gd name="T2" fmla="*/ 310 w 739"/>
                <a:gd name="T3" fmla="*/ 82 h 739"/>
                <a:gd name="T4" fmla="*/ 310 w 739"/>
                <a:gd name="T5" fmla="*/ 60 h 739"/>
                <a:gd name="T6" fmla="*/ 369 w 739"/>
                <a:gd name="T7" fmla="*/ 0 h 739"/>
                <a:gd name="T8" fmla="*/ 428 w 739"/>
                <a:gd name="T9" fmla="*/ 60 h 739"/>
                <a:gd name="T10" fmla="*/ 428 w 739"/>
                <a:gd name="T11" fmla="*/ 82 h 739"/>
                <a:gd name="T12" fmla="*/ 465 w 739"/>
                <a:gd name="T13" fmla="*/ 138 h 739"/>
                <a:gd name="T14" fmla="*/ 530 w 739"/>
                <a:gd name="T15" fmla="*/ 125 h 739"/>
                <a:gd name="T16" fmla="*/ 546 w 739"/>
                <a:gd name="T17" fmla="*/ 109 h 739"/>
                <a:gd name="T18" fmla="*/ 630 w 739"/>
                <a:gd name="T19" fmla="*/ 108 h 739"/>
                <a:gd name="T20" fmla="*/ 630 w 739"/>
                <a:gd name="T21" fmla="*/ 192 h 739"/>
                <a:gd name="T22" fmla="*/ 614 w 739"/>
                <a:gd name="T23" fmla="*/ 208 h 739"/>
                <a:gd name="T24" fmla="*/ 601 w 739"/>
                <a:gd name="T25" fmla="*/ 273 h 739"/>
                <a:gd name="T26" fmla="*/ 656 w 739"/>
                <a:gd name="T27" fmla="*/ 310 h 739"/>
                <a:gd name="T28" fmla="*/ 679 w 739"/>
                <a:gd name="T29" fmla="*/ 310 h 739"/>
                <a:gd name="T30" fmla="*/ 738 w 739"/>
                <a:gd name="T31" fmla="*/ 369 h 739"/>
                <a:gd name="T32" fmla="*/ 679 w 739"/>
                <a:gd name="T33" fmla="*/ 428 h 739"/>
                <a:gd name="T34" fmla="*/ 656 w 739"/>
                <a:gd name="T35" fmla="*/ 428 h 739"/>
                <a:gd name="T36" fmla="*/ 601 w 739"/>
                <a:gd name="T37" fmla="*/ 465 h 739"/>
                <a:gd name="T38" fmla="*/ 614 w 739"/>
                <a:gd name="T39" fmla="*/ 530 h 739"/>
                <a:gd name="T40" fmla="*/ 630 w 739"/>
                <a:gd name="T41" fmla="*/ 547 h 739"/>
                <a:gd name="T42" fmla="*/ 630 w 739"/>
                <a:gd name="T43" fmla="*/ 630 h 739"/>
                <a:gd name="T44" fmla="*/ 546 w 739"/>
                <a:gd name="T45" fmla="*/ 630 h 739"/>
                <a:gd name="T46" fmla="*/ 530 w 739"/>
                <a:gd name="T47" fmla="*/ 614 h 739"/>
                <a:gd name="T48" fmla="*/ 465 w 739"/>
                <a:gd name="T49" fmla="*/ 601 h 739"/>
                <a:gd name="T50" fmla="*/ 428 w 739"/>
                <a:gd name="T51" fmla="*/ 656 h 739"/>
                <a:gd name="T52" fmla="*/ 428 w 739"/>
                <a:gd name="T53" fmla="*/ 679 h 739"/>
                <a:gd name="T54" fmla="*/ 369 w 739"/>
                <a:gd name="T55" fmla="*/ 738 h 739"/>
                <a:gd name="T56" fmla="*/ 310 w 739"/>
                <a:gd name="T57" fmla="*/ 679 h 739"/>
                <a:gd name="T58" fmla="*/ 310 w 739"/>
                <a:gd name="T59" fmla="*/ 656 h 739"/>
                <a:gd name="T60" fmla="*/ 273 w 739"/>
                <a:gd name="T61" fmla="*/ 601 h 739"/>
                <a:gd name="T62" fmla="*/ 208 w 739"/>
                <a:gd name="T63" fmla="*/ 614 h 739"/>
                <a:gd name="T64" fmla="*/ 192 w 739"/>
                <a:gd name="T65" fmla="*/ 630 h 739"/>
                <a:gd name="T66" fmla="*/ 108 w 739"/>
                <a:gd name="T67" fmla="*/ 630 h 739"/>
                <a:gd name="T68" fmla="*/ 108 w 739"/>
                <a:gd name="T69" fmla="*/ 547 h 739"/>
                <a:gd name="T70" fmla="*/ 124 w 739"/>
                <a:gd name="T71" fmla="*/ 530 h 739"/>
                <a:gd name="T72" fmla="*/ 137 w 739"/>
                <a:gd name="T73" fmla="*/ 465 h 739"/>
                <a:gd name="T74" fmla="*/ 82 w 739"/>
                <a:gd name="T75" fmla="*/ 428 h 739"/>
                <a:gd name="T76" fmla="*/ 59 w 739"/>
                <a:gd name="T77" fmla="*/ 428 h 739"/>
                <a:gd name="T78" fmla="*/ 0 w 739"/>
                <a:gd name="T79" fmla="*/ 369 h 739"/>
                <a:gd name="T80" fmla="*/ 59 w 739"/>
                <a:gd name="T81" fmla="*/ 310 h 739"/>
                <a:gd name="T82" fmla="*/ 82 w 739"/>
                <a:gd name="T83" fmla="*/ 310 h 739"/>
                <a:gd name="T84" fmla="*/ 137 w 739"/>
                <a:gd name="T85" fmla="*/ 273 h 739"/>
                <a:gd name="T86" fmla="*/ 124 w 739"/>
                <a:gd name="T87" fmla="*/ 208 h 739"/>
                <a:gd name="T88" fmla="*/ 108 w 739"/>
                <a:gd name="T89" fmla="*/ 192 h 739"/>
                <a:gd name="T90" fmla="*/ 108 w 739"/>
                <a:gd name="T91" fmla="*/ 108 h 739"/>
                <a:gd name="T92" fmla="*/ 192 w 739"/>
                <a:gd name="T93" fmla="*/ 109 h 739"/>
                <a:gd name="T94" fmla="*/ 208 w 739"/>
                <a:gd name="T95" fmla="*/ 125 h 739"/>
                <a:gd name="T96" fmla="*/ 273 w 739"/>
                <a:gd name="T97" fmla="*/ 138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39" h="739">
                  <a:moveTo>
                    <a:pt x="273" y="138"/>
                  </a:moveTo>
                  <a:cubicBezTo>
                    <a:pt x="295" y="128"/>
                    <a:pt x="310" y="106"/>
                    <a:pt x="310" y="82"/>
                  </a:cubicBezTo>
                  <a:cubicBezTo>
                    <a:pt x="310" y="75"/>
                    <a:pt x="310" y="67"/>
                    <a:pt x="310" y="60"/>
                  </a:cubicBezTo>
                  <a:cubicBezTo>
                    <a:pt x="310" y="27"/>
                    <a:pt x="336" y="0"/>
                    <a:pt x="369" y="0"/>
                  </a:cubicBezTo>
                  <a:cubicBezTo>
                    <a:pt x="402" y="0"/>
                    <a:pt x="428" y="27"/>
                    <a:pt x="428" y="60"/>
                  </a:cubicBezTo>
                  <a:cubicBezTo>
                    <a:pt x="428" y="67"/>
                    <a:pt x="428" y="75"/>
                    <a:pt x="428" y="82"/>
                  </a:cubicBezTo>
                  <a:cubicBezTo>
                    <a:pt x="428" y="106"/>
                    <a:pt x="443" y="128"/>
                    <a:pt x="465" y="138"/>
                  </a:cubicBezTo>
                  <a:cubicBezTo>
                    <a:pt x="487" y="147"/>
                    <a:pt x="513" y="142"/>
                    <a:pt x="530" y="125"/>
                  </a:cubicBezTo>
                  <a:cubicBezTo>
                    <a:pt x="535" y="120"/>
                    <a:pt x="541" y="114"/>
                    <a:pt x="546" y="109"/>
                  </a:cubicBezTo>
                  <a:cubicBezTo>
                    <a:pt x="569" y="85"/>
                    <a:pt x="607" y="85"/>
                    <a:pt x="630" y="108"/>
                  </a:cubicBezTo>
                  <a:cubicBezTo>
                    <a:pt x="653" y="132"/>
                    <a:pt x="653" y="169"/>
                    <a:pt x="630" y="192"/>
                  </a:cubicBezTo>
                  <a:cubicBezTo>
                    <a:pt x="625" y="197"/>
                    <a:pt x="619" y="203"/>
                    <a:pt x="614" y="208"/>
                  </a:cubicBezTo>
                  <a:cubicBezTo>
                    <a:pt x="596" y="225"/>
                    <a:pt x="591" y="251"/>
                    <a:pt x="601" y="273"/>
                  </a:cubicBezTo>
                  <a:cubicBezTo>
                    <a:pt x="610" y="296"/>
                    <a:pt x="632" y="310"/>
                    <a:pt x="656" y="310"/>
                  </a:cubicBezTo>
                  <a:cubicBezTo>
                    <a:pt x="664" y="310"/>
                    <a:pt x="671" y="310"/>
                    <a:pt x="679" y="310"/>
                  </a:cubicBezTo>
                  <a:cubicBezTo>
                    <a:pt x="711" y="310"/>
                    <a:pt x="738" y="337"/>
                    <a:pt x="738" y="369"/>
                  </a:cubicBezTo>
                  <a:cubicBezTo>
                    <a:pt x="738" y="402"/>
                    <a:pt x="711" y="428"/>
                    <a:pt x="679" y="428"/>
                  </a:cubicBezTo>
                  <a:cubicBezTo>
                    <a:pt x="671" y="428"/>
                    <a:pt x="664" y="428"/>
                    <a:pt x="656" y="428"/>
                  </a:cubicBezTo>
                  <a:cubicBezTo>
                    <a:pt x="632" y="428"/>
                    <a:pt x="610" y="443"/>
                    <a:pt x="601" y="465"/>
                  </a:cubicBezTo>
                  <a:cubicBezTo>
                    <a:pt x="591" y="488"/>
                    <a:pt x="596" y="513"/>
                    <a:pt x="614" y="530"/>
                  </a:cubicBezTo>
                  <a:cubicBezTo>
                    <a:pt x="619" y="536"/>
                    <a:pt x="625" y="541"/>
                    <a:pt x="630" y="547"/>
                  </a:cubicBezTo>
                  <a:cubicBezTo>
                    <a:pt x="653" y="570"/>
                    <a:pt x="653" y="607"/>
                    <a:pt x="630" y="630"/>
                  </a:cubicBezTo>
                  <a:cubicBezTo>
                    <a:pt x="607" y="653"/>
                    <a:pt x="569" y="653"/>
                    <a:pt x="546" y="630"/>
                  </a:cubicBezTo>
                  <a:cubicBezTo>
                    <a:pt x="541" y="625"/>
                    <a:pt x="535" y="619"/>
                    <a:pt x="530" y="614"/>
                  </a:cubicBezTo>
                  <a:cubicBezTo>
                    <a:pt x="513" y="597"/>
                    <a:pt x="487" y="592"/>
                    <a:pt x="465" y="601"/>
                  </a:cubicBezTo>
                  <a:cubicBezTo>
                    <a:pt x="443" y="610"/>
                    <a:pt x="428" y="632"/>
                    <a:pt x="428" y="656"/>
                  </a:cubicBezTo>
                  <a:cubicBezTo>
                    <a:pt x="428" y="664"/>
                    <a:pt x="428" y="671"/>
                    <a:pt x="428" y="679"/>
                  </a:cubicBezTo>
                  <a:cubicBezTo>
                    <a:pt x="428" y="712"/>
                    <a:pt x="402" y="738"/>
                    <a:pt x="369" y="738"/>
                  </a:cubicBezTo>
                  <a:cubicBezTo>
                    <a:pt x="336" y="738"/>
                    <a:pt x="310" y="712"/>
                    <a:pt x="310" y="679"/>
                  </a:cubicBezTo>
                  <a:cubicBezTo>
                    <a:pt x="310" y="671"/>
                    <a:pt x="310" y="664"/>
                    <a:pt x="310" y="656"/>
                  </a:cubicBezTo>
                  <a:cubicBezTo>
                    <a:pt x="310" y="632"/>
                    <a:pt x="295" y="610"/>
                    <a:pt x="273" y="601"/>
                  </a:cubicBezTo>
                  <a:cubicBezTo>
                    <a:pt x="251" y="592"/>
                    <a:pt x="225" y="597"/>
                    <a:pt x="208" y="614"/>
                  </a:cubicBezTo>
                  <a:cubicBezTo>
                    <a:pt x="203" y="619"/>
                    <a:pt x="197" y="625"/>
                    <a:pt x="192" y="630"/>
                  </a:cubicBezTo>
                  <a:cubicBezTo>
                    <a:pt x="169" y="653"/>
                    <a:pt x="131" y="653"/>
                    <a:pt x="108" y="630"/>
                  </a:cubicBezTo>
                  <a:cubicBezTo>
                    <a:pt x="85" y="607"/>
                    <a:pt x="85" y="570"/>
                    <a:pt x="108" y="547"/>
                  </a:cubicBezTo>
                  <a:cubicBezTo>
                    <a:pt x="113" y="541"/>
                    <a:pt x="119" y="536"/>
                    <a:pt x="124" y="530"/>
                  </a:cubicBezTo>
                  <a:cubicBezTo>
                    <a:pt x="142" y="513"/>
                    <a:pt x="147" y="488"/>
                    <a:pt x="137" y="465"/>
                  </a:cubicBezTo>
                  <a:cubicBezTo>
                    <a:pt x="128" y="443"/>
                    <a:pt x="106" y="428"/>
                    <a:pt x="82" y="428"/>
                  </a:cubicBezTo>
                  <a:cubicBezTo>
                    <a:pt x="74" y="428"/>
                    <a:pt x="67" y="428"/>
                    <a:pt x="59" y="428"/>
                  </a:cubicBezTo>
                  <a:cubicBezTo>
                    <a:pt x="27" y="428"/>
                    <a:pt x="0" y="402"/>
                    <a:pt x="0" y="369"/>
                  </a:cubicBezTo>
                  <a:cubicBezTo>
                    <a:pt x="0" y="337"/>
                    <a:pt x="27" y="310"/>
                    <a:pt x="59" y="310"/>
                  </a:cubicBezTo>
                  <a:cubicBezTo>
                    <a:pt x="67" y="310"/>
                    <a:pt x="74" y="310"/>
                    <a:pt x="82" y="310"/>
                  </a:cubicBezTo>
                  <a:cubicBezTo>
                    <a:pt x="106" y="310"/>
                    <a:pt x="128" y="296"/>
                    <a:pt x="137" y="273"/>
                  </a:cubicBezTo>
                  <a:cubicBezTo>
                    <a:pt x="147" y="251"/>
                    <a:pt x="142" y="225"/>
                    <a:pt x="124" y="208"/>
                  </a:cubicBezTo>
                  <a:cubicBezTo>
                    <a:pt x="119" y="203"/>
                    <a:pt x="113" y="197"/>
                    <a:pt x="108" y="192"/>
                  </a:cubicBezTo>
                  <a:cubicBezTo>
                    <a:pt x="85" y="169"/>
                    <a:pt x="85" y="132"/>
                    <a:pt x="108" y="108"/>
                  </a:cubicBezTo>
                  <a:cubicBezTo>
                    <a:pt x="131" y="85"/>
                    <a:pt x="169" y="85"/>
                    <a:pt x="192" y="109"/>
                  </a:cubicBezTo>
                  <a:cubicBezTo>
                    <a:pt x="197" y="114"/>
                    <a:pt x="203" y="120"/>
                    <a:pt x="208" y="125"/>
                  </a:cubicBezTo>
                  <a:cubicBezTo>
                    <a:pt x="225" y="142"/>
                    <a:pt x="251" y="147"/>
                    <a:pt x="273" y="138"/>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25" name="Freeform 235">
              <a:extLst>
                <a:ext uri="{FF2B5EF4-FFF2-40B4-BE49-F238E27FC236}">
                  <a16:creationId xmlns:a16="http://schemas.microsoft.com/office/drawing/2014/main" id="{05618972-D153-FE42-367A-00BF505DE436}"/>
                </a:ext>
              </a:extLst>
            </p:cNvPr>
            <p:cNvSpPr>
              <a:spLocks noChangeArrowheads="1"/>
            </p:cNvSpPr>
            <p:nvPr/>
          </p:nvSpPr>
          <p:spPr bwMode="auto">
            <a:xfrm>
              <a:off x="1353343" y="5689601"/>
              <a:ext cx="73025" cy="73025"/>
            </a:xfrm>
            <a:custGeom>
              <a:avLst/>
              <a:gdLst>
                <a:gd name="T0" fmla="*/ 202 w 203"/>
                <a:gd name="T1" fmla="*/ 100 h 202"/>
                <a:gd name="T2" fmla="*/ 188 w 203"/>
                <a:gd name="T3" fmla="*/ 151 h 202"/>
                <a:gd name="T4" fmla="*/ 151 w 203"/>
                <a:gd name="T5" fmla="*/ 187 h 202"/>
                <a:gd name="T6" fmla="*/ 101 w 203"/>
                <a:gd name="T7" fmla="*/ 201 h 202"/>
                <a:gd name="T8" fmla="*/ 51 w 203"/>
                <a:gd name="T9" fmla="*/ 187 h 202"/>
                <a:gd name="T10" fmla="*/ 14 w 203"/>
                <a:gd name="T11" fmla="*/ 151 h 202"/>
                <a:gd name="T12" fmla="*/ 0 w 203"/>
                <a:gd name="T13" fmla="*/ 100 h 202"/>
                <a:gd name="T14" fmla="*/ 14 w 203"/>
                <a:gd name="T15" fmla="*/ 50 h 202"/>
                <a:gd name="T16" fmla="*/ 51 w 203"/>
                <a:gd name="T17" fmla="*/ 13 h 202"/>
                <a:gd name="T18" fmla="*/ 101 w 203"/>
                <a:gd name="T19" fmla="*/ 0 h 202"/>
                <a:gd name="T20" fmla="*/ 151 w 203"/>
                <a:gd name="T21" fmla="*/ 13 h 202"/>
                <a:gd name="T22" fmla="*/ 188 w 203"/>
                <a:gd name="T23" fmla="*/ 50 h 202"/>
                <a:gd name="T24" fmla="*/ 202 w 203"/>
                <a:gd name="T25" fmla="*/ 10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3" h="202">
                  <a:moveTo>
                    <a:pt x="202" y="100"/>
                  </a:moveTo>
                  <a:cubicBezTo>
                    <a:pt x="202" y="119"/>
                    <a:pt x="197" y="135"/>
                    <a:pt x="188" y="151"/>
                  </a:cubicBezTo>
                  <a:cubicBezTo>
                    <a:pt x="179" y="168"/>
                    <a:pt x="167" y="178"/>
                    <a:pt x="151" y="187"/>
                  </a:cubicBezTo>
                  <a:cubicBezTo>
                    <a:pt x="135" y="197"/>
                    <a:pt x="119" y="201"/>
                    <a:pt x="101" y="201"/>
                  </a:cubicBezTo>
                  <a:cubicBezTo>
                    <a:pt x="82" y="201"/>
                    <a:pt x="67" y="197"/>
                    <a:pt x="51" y="187"/>
                  </a:cubicBezTo>
                  <a:cubicBezTo>
                    <a:pt x="35" y="178"/>
                    <a:pt x="23" y="168"/>
                    <a:pt x="14" y="151"/>
                  </a:cubicBezTo>
                  <a:cubicBezTo>
                    <a:pt x="5" y="135"/>
                    <a:pt x="0" y="119"/>
                    <a:pt x="0" y="100"/>
                  </a:cubicBezTo>
                  <a:cubicBezTo>
                    <a:pt x="0" y="82"/>
                    <a:pt x="5" y="66"/>
                    <a:pt x="14" y="50"/>
                  </a:cubicBezTo>
                  <a:cubicBezTo>
                    <a:pt x="23" y="34"/>
                    <a:pt x="35" y="22"/>
                    <a:pt x="51" y="13"/>
                  </a:cubicBezTo>
                  <a:cubicBezTo>
                    <a:pt x="67" y="4"/>
                    <a:pt x="83" y="0"/>
                    <a:pt x="101" y="0"/>
                  </a:cubicBezTo>
                  <a:cubicBezTo>
                    <a:pt x="120" y="0"/>
                    <a:pt x="135" y="4"/>
                    <a:pt x="151" y="13"/>
                  </a:cubicBezTo>
                  <a:cubicBezTo>
                    <a:pt x="167" y="22"/>
                    <a:pt x="179" y="34"/>
                    <a:pt x="188" y="50"/>
                  </a:cubicBezTo>
                  <a:cubicBezTo>
                    <a:pt x="197" y="66"/>
                    <a:pt x="202" y="82"/>
                    <a:pt x="202" y="100"/>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26" name="Freeform 237">
              <a:extLst>
                <a:ext uri="{FF2B5EF4-FFF2-40B4-BE49-F238E27FC236}">
                  <a16:creationId xmlns:a16="http://schemas.microsoft.com/office/drawing/2014/main" id="{3246B86F-BC08-5608-060C-3AC1BE74114F}"/>
                </a:ext>
              </a:extLst>
            </p:cNvPr>
            <p:cNvSpPr>
              <a:spLocks noChangeArrowheads="1"/>
            </p:cNvSpPr>
            <p:nvPr/>
          </p:nvSpPr>
          <p:spPr bwMode="auto">
            <a:xfrm>
              <a:off x="1189831" y="5526088"/>
              <a:ext cx="398462" cy="398463"/>
            </a:xfrm>
            <a:custGeom>
              <a:avLst/>
              <a:gdLst>
                <a:gd name="T0" fmla="*/ 1106 w 1107"/>
                <a:gd name="T1" fmla="*/ 553 h 1107"/>
                <a:gd name="T2" fmla="*/ 1032 w 1107"/>
                <a:gd name="T3" fmla="*/ 830 h 1107"/>
                <a:gd name="T4" fmla="*/ 830 w 1107"/>
                <a:gd name="T5" fmla="*/ 1032 h 1107"/>
                <a:gd name="T6" fmla="*/ 553 w 1107"/>
                <a:gd name="T7" fmla="*/ 1106 h 1107"/>
                <a:gd name="T8" fmla="*/ 277 w 1107"/>
                <a:gd name="T9" fmla="*/ 1032 h 1107"/>
                <a:gd name="T10" fmla="*/ 74 w 1107"/>
                <a:gd name="T11" fmla="*/ 830 h 1107"/>
                <a:gd name="T12" fmla="*/ 0 w 1107"/>
                <a:gd name="T13" fmla="*/ 553 h 1107"/>
                <a:gd name="T14" fmla="*/ 74 w 1107"/>
                <a:gd name="T15" fmla="*/ 277 h 1107"/>
                <a:gd name="T16" fmla="*/ 277 w 1107"/>
                <a:gd name="T17" fmla="*/ 74 h 1107"/>
                <a:gd name="T18" fmla="*/ 553 w 1107"/>
                <a:gd name="T19" fmla="*/ 0 h 1107"/>
                <a:gd name="T20" fmla="*/ 830 w 1107"/>
                <a:gd name="T21" fmla="*/ 74 h 1107"/>
                <a:gd name="T22" fmla="*/ 1032 w 1107"/>
                <a:gd name="T23" fmla="*/ 277 h 1107"/>
                <a:gd name="T24" fmla="*/ 1106 w 1107"/>
                <a:gd name="T25" fmla="*/ 553 h 1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7" h="1107">
                  <a:moveTo>
                    <a:pt x="1106" y="553"/>
                  </a:moveTo>
                  <a:cubicBezTo>
                    <a:pt x="1106" y="655"/>
                    <a:pt x="1083" y="742"/>
                    <a:pt x="1032" y="830"/>
                  </a:cubicBezTo>
                  <a:cubicBezTo>
                    <a:pt x="981" y="918"/>
                    <a:pt x="918" y="981"/>
                    <a:pt x="830" y="1032"/>
                  </a:cubicBezTo>
                  <a:cubicBezTo>
                    <a:pt x="741" y="1083"/>
                    <a:pt x="655" y="1106"/>
                    <a:pt x="553" y="1106"/>
                  </a:cubicBezTo>
                  <a:cubicBezTo>
                    <a:pt x="451" y="1106"/>
                    <a:pt x="365" y="1083"/>
                    <a:pt x="277" y="1032"/>
                  </a:cubicBezTo>
                  <a:cubicBezTo>
                    <a:pt x="188" y="981"/>
                    <a:pt x="125" y="918"/>
                    <a:pt x="74" y="830"/>
                  </a:cubicBezTo>
                  <a:cubicBezTo>
                    <a:pt x="23" y="742"/>
                    <a:pt x="0" y="655"/>
                    <a:pt x="0" y="553"/>
                  </a:cubicBezTo>
                  <a:cubicBezTo>
                    <a:pt x="0" y="451"/>
                    <a:pt x="23" y="366"/>
                    <a:pt x="74" y="277"/>
                  </a:cubicBezTo>
                  <a:cubicBezTo>
                    <a:pt x="125" y="189"/>
                    <a:pt x="188" y="125"/>
                    <a:pt x="277" y="74"/>
                  </a:cubicBezTo>
                  <a:cubicBezTo>
                    <a:pt x="365" y="23"/>
                    <a:pt x="451" y="0"/>
                    <a:pt x="553" y="0"/>
                  </a:cubicBezTo>
                  <a:cubicBezTo>
                    <a:pt x="655" y="0"/>
                    <a:pt x="741" y="23"/>
                    <a:pt x="830" y="74"/>
                  </a:cubicBezTo>
                  <a:cubicBezTo>
                    <a:pt x="918" y="125"/>
                    <a:pt x="981" y="189"/>
                    <a:pt x="1032" y="277"/>
                  </a:cubicBezTo>
                  <a:cubicBezTo>
                    <a:pt x="1083" y="366"/>
                    <a:pt x="1106" y="451"/>
                    <a:pt x="1106" y="553"/>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27" name="Freeform 238">
              <a:extLst>
                <a:ext uri="{FF2B5EF4-FFF2-40B4-BE49-F238E27FC236}">
                  <a16:creationId xmlns:a16="http://schemas.microsoft.com/office/drawing/2014/main" id="{CBC812C7-5CBF-8E52-9B98-DE5C093EECD0}"/>
                </a:ext>
              </a:extLst>
            </p:cNvPr>
            <p:cNvSpPr>
              <a:spLocks noChangeArrowheads="1"/>
            </p:cNvSpPr>
            <p:nvPr/>
          </p:nvSpPr>
          <p:spPr bwMode="auto">
            <a:xfrm>
              <a:off x="1124743" y="5461001"/>
              <a:ext cx="619125" cy="619125"/>
            </a:xfrm>
            <a:custGeom>
              <a:avLst/>
              <a:gdLst>
                <a:gd name="T0" fmla="*/ 1718 w 1719"/>
                <a:gd name="T1" fmla="*/ 1624 h 1720"/>
                <a:gd name="T2" fmla="*/ 1275 w 1719"/>
                <a:gd name="T3" fmla="*/ 1181 h 1720"/>
                <a:gd name="T4" fmla="*/ 1272 w 1719"/>
                <a:gd name="T5" fmla="*/ 1137 h 1720"/>
                <a:gd name="T6" fmla="*/ 1209 w 1719"/>
                <a:gd name="T7" fmla="*/ 261 h 1720"/>
                <a:gd name="T8" fmla="*/ 261 w 1719"/>
                <a:gd name="T9" fmla="*/ 261 h 1720"/>
                <a:gd name="T10" fmla="*/ 261 w 1719"/>
                <a:gd name="T11" fmla="*/ 1209 h 1720"/>
                <a:gd name="T12" fmla="*/ 1136 w 1719"/>
                <a:gd name="T13" fmla="*/ 1272 h 1720"/>
                <a:gd name="T14" fmla="*/ 1180 w 1719"/>
                <a:gd name="T15" fmla="*/ 1275 h 1720"/>
                <a:gd name="T16" fmla="*/ 1623 w 1719"/>
                <a:gd name="T17" fmla="*/ 1719 h 1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19" h="1720">
                  <a:moveTo>
                    <a:pt x="1718" y="1624"/>
                  </a:moveTo>
                  <a:cubicBezTo>
                    <a:pt x="1570" y="1476"/>
                    <a:pt x="1423" y="1329"/>
                    <a:pt x="1275" y="1181"/>
                  </a:cubicBezTo>
                  <a:cubicBezTo>
                    <a:pt x="1263" y="1169"/>
                    <a:pt x="1262" y="1150"/>
                    <a:pt x="1272" y="1137"/>
                  </a:cubicBezTo>
                  <a:cubicBezTo>
                    <a:pt x="1468" y="874"/>
                    <a:pt x="1447" y="500"/>
                    <a:pt x="1209" y="261"/>
                  </a:cubicBezTo>
                  <a:cubicBezTo>
                    <a:pt x="948" y="0"/>
                    <a:pt x="522" y="0"/>
                    <a:pt x="261" y="261"/>
                  </a:cubicBezTo>
                  <a:cubicBezTo>
                    <a:pt x="0" y="523"/>
                    <a:pt x="0" y="948"/>
                    <a:pt x="261" y="1209"/>
                  </a:cubicBezTo>
                  <a:cubicBezTo>
                    <a:pt x="499" y="1448"/>
                    <a:pt x="874" y="1469"/>
                    <a:pt x="1136" y="1272"/>
                  </a:cubicBezTo>
                  <a:cubicBezTo>
                    <a:pt x="1150" y="1262"/>
                    <a:pt x="1168" y="1264"/>
                    <a:pt x="1180" y="1275"/>
                  </a:cubicBezTo>
                  <a:cubicBezTo>
                    <a:pt x="1328" y="1423"/>
                    <a:pt x="1475" y="1571"/>
                    <a:pt x="1623" y="1719"/>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grpSp>
      <p:grpSp>
        <p:nvGrpSpPr>
          <p:cNvPr id="231" name="Group 230">
            <a:extLst>
              <a:ext uri="{FF2B5EF4-FFF2-40B4-BE49-F238E27FC236}">
                <a16:creationId xmlns:a16="http://schemas.microsoft.com/office/drawing/2014/main" id="{7112B9E1-3161-1317-6638-6FCD715F0F50}"/>
              </a:ext>
            </a:extLst>
          </p:cNvPr>
          <p:cNvGrpSpPr/>
          <p:nvPr/>
        </p:nvGrpSpPr>
        <p:grpSpPr>
          <a:xfrm>
            <a:off x="8447969" y="1662176"/>
            <a:ext cx="451891" cy="271796"/>
            <a:chOff x="9382125" y="3295650"/>
            <a:chExt cx="485775" cy="285750"/>
          </a:xfrm>
        </p:grpSpPr>
        <p:sp>
          <p:nvSpPr>
            <p:cNvPr id="242" name="Freeform 152">
              <a:extLst>
                <a:ext uri="{FF2B5EF4-FFF2-40B4-BE49-F238E27FC236}">
                  <a16:creationId xmlns:a16="http://schemas.microsoft.com/office/drawing/2014/main" id="{F7B939DD-8156-8E97-79E3-1C0C681B3651}"/>
                </a:ext>
              </a:extLst>
            </p:cNvPr>
            <p:cNvSpPr>
              <a:spLocks noChangeArrowheads="1"/>
            </p:cNvSpPr>
            <p:nvPr/>
          </p:nvSpPr>
          <p:spPr bwMode="auto">
            <a:xfrm>
              <a:off x="9721850" y="3297238"/>
              <a:ext cx="7938" cy="1587"/>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43" name="Freeform 153">
              <a:extLst>
                <a:ext uri="{FF2B5EF4-FFF2-40B4-BE49-F238E27FC236}">
                  <a16:creationId xmlns:a16="http://schemas.microsoft.com/office/drawing/2014/main" id="{24D6693D-A10D-A0E2-E5F2-7A42DB2C33A3}"/>
                </a:ext>
              </a:extLst>
            </p:cNvPr>
            <p:cNvSpPr>
              <a:spLocks noChangeArrowheads="1"/>
            </p:cNvSpPr>
            <p:nvPr/>
          </p:nvSpPr>
          <p:spPr bwMode="auto">
            <a:xfrm>
              <a:off x="9721850" y="3579813"/>
              <a:ext cx="7938" cy="1587"/>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44" name="Freeform 154">
              <a:extLst>
                <a:ext uri="{FF2B5EF4-FFF2-40B4-BE49-F238E27FC236}">
                  <a16:creationId xmlns:a16="http://schemas.microsoft.com/office/drawing/2014/main" id="{BF855A3A-032C-A99F-66AE-75EC689300D0}"/>
                </a:ext>
              </a:extLst>
            </p:cNvPr>
            <p:cNvSpPr>
              <a:spLocks noChangeArrowheads="1"/>
            </p:cNvSpPr>
            <p:nvPr/>
          </p:nvSpPr>
          <p:spPr bwMode="auto">
            <a:xfrm>
              <a:off x="9866313" y="3435350"/>
              <a:ext cx="1587" cy="7938"/>
            </a:xfrm>
            <a:custGeom>
              <a:avLst/>
              <a:gdLst>
                <a:gd name="T0" fmla="*/ 0 w 1"/>
                <a:gd name="T1" fmla="*/ 21 h 22"/>
                <a:gd name="T2" fmla="*/ 0 w 1"/>
                <a:gd name="T3" fmla="*/ 0 h 22"/>
              </a:gdLst>
              <a:ahLst/>
              <a:cxnLst>
                <a:cxn ang="0">
                  <a:pos x="T0" y="T1"/>
                </a:cxn>
                <a:cxn ang="0">
                  <a:pos x="T2" y="T3"/>
                </a:cxn>
              </a:cxnLst>
              <a:rect l="0" t="0" r="r" b="b"/>
              <a:pathLst>
                <a:path w="1" h="22">
                  <a:moveTo>
                    <a:pt x="0" y="21"/>
                  </a:moveTo>
                  <a:cubicBezTo>
                    <a:pt x="0" y="14"/>
                    <a:pt x="0" y="7"/>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54" name="Freeform 155">
              <a:extLst>
                <a:ext uri="{FF2B5EF4-FFF2-40B4-BE49-F238E27FC236}">
                  <a16:creationId xmlns:a16="http://schemas.microsoft.com/office/drawing/2014/main" id="{4A97928F-7FD6-D184-732E-BCC906E96191}"/>
                </a:ext>
              </a:extLst>
            </p:cNvPr>
            <p:cNvSpPr>
              <a:spLocks noChangeArrowheads="1"/>
            </p:cNvSpPr>
            <p:nvPr/>
          </p:nvSpPr>
          <p:spPr bwMode="auto">
            <a:xfrm>
              <a:off x="9685338" y="3300413"/>
              <a:ext cx="7937" cy="3175"/>
            </a:xfrm>
            <a:custGeom>
              <a:avLst/>
              <a:gdLst>
                <a:gd name="T0" fmla="*/ 21 w 22"/>
                <a:gd name="T1" fmla="*/ 0 h 7"/>
                <a:gd name="T2" fmla="*/ 0 w 22"/>
                <a:gd name="T3" fmla="*/ 6 h 7"/>
              </a:gdLst>
              <a:ahLst/>
              <a:cxnLst>
                <a:cxn ang="0">
                  <a:pos x="T0" y="T1"/>
                </a:cxn>
                <a:cxn ang="0">
                  <a:pos x="T2" y="T3"/>
                </a:cxn>
              </a:cxnLst>
              <a:rect l="0" t="0" r="r" b="b"/>
              <a:pathLst>
                <a:path w="22" h="7">
                  <a:moveTo>
                    <a:pt x="21" y="0"/>
                  </a:moveTo>
                  <a:cubicBezTo>
                    <a:pt x="14" y="2"/>
                    <a:pt x="7" y="4"/>
                    <a:pt x="0" y="6"/>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55" name="Freeform 156">
              <a:extLst>
                <a:ext uri="{FF2B5EF4-FFF2-40B4-BE49-F238E27FC236}">
                  <a16:creationId xmlns:a16="http://schemas.microsoft.com/office/drawing/2014/main" id="{7E577764-C094-0794-3332-F72259C67614}"/>
                </a:ext>
              </a:extLst>
            </p:cNvPr>
            <p:cNvSpPr>
              <a:spLocks noChangeArrowheads="1"/>
            </p:cNvSpPr>
            <p:nvPr/>
          </p:nvSpPr>
          <p:spPr bwMode="auto">
            <a:xfrm>
              <a:off x="9758363" y="3573463"/>
              <a:ext cx="7937" cy="1587"/>
            </a:xfrm>
            <a:custGeom>
              <a:avLst/>
              <a:gdLst>
                <a:gd name="T0" fmla="*/ 20 w 21"/>
                <a:gd name="T1" fmla="*/ 0 h 6"/>
                <a:gd name="T2" fmla="*/ 0 w 21"/>
                <a:gd name="T3" fmla="*/ 5 h 6"/>
              </a:gdLst>
              <a:ahLst/>
              <a:cxnLst>
                <a:cxn ang="0">
                  <a:pos x="T0" y="T1"/>
                </a:cxn>
                <a:cxn ang="0">
                  <a:pos x="T2" y="T3"/>
                </a:cxn>
              </a:cxnLst>
              <a:rect l="0" t="0" r="r" b="b"/>
              <a:pathLst>
                <a:path w="21" h="6">
                  <a:moveTo>
                    <a:pt x="20" y="0"/>
                  </a:moveTo>
                  <a:cubicBezTo>
                    <a:pt x="13" y="2"/>
                    <a:pt x="7" y="4"/>
                    <a:pt x="0" y="5"/>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56" name="Freeform 157">
              <a:extLst>
                <a:ext uri="{FF2B5EF4-FFF2-40B4-BE49-F238E27FC236}">
                  <a16:creationId xmlns:a16="http://schemas.microsoft.com/office/drawing/2014/main" id="{EC94E310-BD97-3AF5-4AF4-AD97D5389BB3}"/>
                </a:ext>
              </a:extLst>
            </p:cNvPr>
            <p:cNvSpPr>
              <a:spLocks noChangeArrowheads="1"/>
            </p:cNvSpPr>
            <p:nvPr/>
          </p:nvSpPr>
          <p:spPr bwMode="auto">
            <a:xfrm>
              <a:off x="9861550" y="3398838"/>
              <a:ext cx="3175" cy="7937"/>
            </a:xfrm>
            <a:custGeom>
              <a:avLst/>
              <a:gdLst>
                <a:gd name="T0" fmla="*/ 6 w 7"/>
                <a:gd name="T1" fmla="*/ 20 h 21"/>
                <a:gd name="T2" fmla="*/ 0 w 7"/>
                <a:gd name="T3" fmla="*/ 0 h 21"/>
              </a:gdLst>
              <a:ahLst/>
              <a:cxnLst>
                <a:cxn ang="0">
                  <a:pos x="T0" y="T1"/>
                </a:cxn>
                <a:cxn ang="0">
                  <a:pos x="T2" y="T3"/>
                </a:cxn>
              </a:cxnLst>
              <a:rect l="0" t="0" r="r" b="b"/>
              <a:pathLst>
                <a:path w="7" h="21">
                  <a:moveTo>
                    <a:pt x="6" y="20"/>
                  </a:moveTo>
                  <a:cubicBezTo>
                    <a:pt x="4" y="13"/>
                    <a:pt x="2" y="6"/>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66" name="Freeform 158">
              <a:extLst>
                <a:ext uri="{FF2B5EF4-FFF2-40B4-BE49-F238E27FC236}">
                  <a16:creationId xmlns:a16="http://schemas.microsoft.com/office/drawing/2014/main" id="{9EC9DFE8-BCD3-14C7-EB9E-793646EC35E3}"/>
                </a:ext>
              </a:extLst>
            </p:cNvPr>
            <p:cNvSpPr>
              <a:spLocks noChangeArrowheads="1"/>
            </p:cNvSpPr>
            <p:nvPr/>
          </p:nvSpPr>
          <p:spPr bwMode="auto">
            <a:xfrm>
              <a:off x="9588500" y="3470275"/>
              <a:ext cx="1588" cy="7938"/>
            </a:xfrm>
            <a:custGeom>
              <a:avLst/>
              <a:gdLst>
                <a:gd name="T0" fmla="*/ 5 w 6"/>
                <a:gd name="T1" fmla="*/ 21 h 22"/>
                <a:gd name="T2" fmla="*/ 0 w 6"/>
                <a:gd name="T3" fmla="*/ 0 h 22"/>
              </a:gdLst>
              <a:ahLst/>
              <a:cxnLst>
                <a:cxn ang="0">
                  <a:pos x="T0" y="T1"/>
                </a:cxn>
                <a:cxn ang="0">
                  <a:pos x="T2" y="T3"/>
                </a:cxn>
              </a:cxnLst>
              <a:rect l="0" t="0" r="r" b="b"/>
              <a:pathLst>
                <a:path w="6" h="22">
                  <a:moveTo>
                    <a:pt x="5" y="21"/>
                  </a:moveTo>
                  <a:cubicBezTo>
                    <a:pt x="3" y="14"/>
                    <a:pt x="2" y="7"/>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67" name="Freeform 159">
              <a:extLst>
                <a:ext uri="{FF2B5EF4-FFF2-40B4-BE49-F238E27FC236}">
                  <a16:creationId xmlns:a16="http://schemas.microsoft.com/office/drawing/2014/main" id="{F0ED0DD4-1153-CF59-C849-8E1CD7CE3FBE}"/>
                </a:ext>
              </a:extLst>
            </p:cNvPr>
            <p:cNvSpPr>
              <a:spLocks noChangeArrowheads="1"/>
            </p:cNvSpPr>
            <p:nvPr/>
          </p:nvSpPr>
          <p:spPr bwMode="auto">
            <a:xfrm>
              <a:off x="9652000" y="3314700"/>
              <a:ext cx="6350" cy="4763"/>
            </a:xfrm>
            <a:custGeom>
              <a:avLst/>
              <a:gdLst>
                <a:gd name="T0" fmla="*/ 18 w 19"/>
                <a:gd name="T1" fmla="*/ 0 h 12"/>
                <a:gd name="T2" fmla="*/ 0 w 19"/>
                <a:gd name="T3" fmla="*/ 11 h 12"/>
              </a:gdLst>
              <a:ahLst/>
              <a:cxnLst>
                <a:cxn ang="0">
                  <a:pos x="T0" y="T1"/>
                </a:cxn>
                <a:cxn ang="0">
                  <a:pos x="T2" y="T3"/>
                </a:cxn>
              </a:cxnLst>
              <a:rect l="0" t="0" r="r" b="b"/>
              <a:pathLst>
                <a:path w="19" h="12">
                  <a:moveTo>
                    <a:pt x="18" y="0"/>
                  </a:moveTo>
                  <a:cubicBezTo>
                    <a:pt x="12" y="3"/>
                    <a:pt x="6" y="7"/>
                    <a:pt x="0" y="11"/>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68" name="Freeform 160">
              <a:extLst>
                <a:ext uri="{FF2B5EF4-FFF2-40B4-BE49-F238E27FC236}">
                  <a16:creationId xmlns:a16="http://schemas.microsoft.com/office/drawing/2014/main" id="{E7854383-F57F-1190-7855-C81C5CBA0107}"/>
                </a:ext>
              </a:extLst>
            </p:cNvPr>
            <p:cNvSpPr>
              <a:spLocks noChangeArrowheads="1"/>
            </p:cNvSpPr>
            <p:nvPr/>
          </p:nvSpPr>
          <p:spPr bwMode="auto">
            <a:xfrm>
              <a:off x="9793288" y="3557588"/>
              <a:ext cx="6350" cy="4762"/>
            </a:xfrm>
            <a:custGeom>
              <a:avLst/>
              <a:gdLst>
                <a:gd name="T0" fmla="*/ 18 w 19"/>
                <a:gd name="T1" fmla="*/ 0 h 12"/>
                <a:gd name="T2" fmla="*/ 0 w 19"/>
                <a:gd name="T3" fmla="*/ 11 h 12"/>
              </a:gdLst>
              <a:ahLst/>
              <a:cxnLst>
                <a:cxn ang="0">
                  <a:pos x="T0" y="T1"/>
                </a:cxn>
                <a:cxn ang="0">
                  <a:pos x="T2" y="T3"/>
                </a:cxn>
              </a:cxnLst>
              <a:rect l="0" t="0" r="r" b="b"/>
              <a:pathLst>
                <a:path w="19" h="12">
                  <a:moveTo>
                    <a:pt x="18" y="0"/>
                  </a:moveTo>
                  <a:cubicBezTo>
                    <a:pt x="12" y="4"/>
                    <a:pt x="6" y="8"/>
                    <a:pt x="0" y="11"/>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69" name="Freeform 161">
              <a:extLst>
                <a:ext uri="{FF2B5EF4-FFF2-40B4-BE49-F238E27FC236}">
                  <a16:creationId xmlns:a16="http://schemas.microsoft.com/office/drawing/2014/main" id="{FEBE753C-4D7E-C81D-88C6-BF6E59A8D97C}"/>
                </a:ext>
              </a:extLst>
            </p:cNvPr>
            <p:cNvSpPr>
              <a:spLocks noChangeArrowheads="1"/>
            </p:cNvSpPr>
            <p:nvPr/>
          </p:nvSpPr>
          <p:spPr bwMode="auto">
            <a:xfrm>
              <a:off x="9845675" y="3363913"/>
              <a:ext cx="3175" cy="7937"/>
            </a:xfrm>
            <a:custGeom>
              <a:avLst/>
              <a:gdLst>
                <a:gd name="T0" fmla="*/ 10 w 11"/>
                <a:gd name="T1" fmla="*/ 19 h 20"/>
                <a:gd name="T2" fmla="*/ 0 w 11"/>
                <a:gd name="T3" fmla="*/ 0 h 20"/>
              </a:gdLst>
              <a:ahLst/>
              <a:cxnLst>
                <a:cxn ang="0">
                  <a:pos x="T0" y="T1"/>
                </a:cxn>
                <a:cxn ang="0">
                  <a:pos x="T2" y="T3"/>
                </a:cxn>
              </a:cxnLst>
              <a:rect l="0" t="0" r="r" b="b"/>
              <a:pathLst>
                <a:path w="11" h="20">
                  <a:moveTo>
                    <a:pt x="10" y="19"/>
                  </a:moveTo>
                  <a:cubicBezTo>
                    <a:pt x="7" y="12"/>
                    <a:pt x="3" y="6"/>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70" name="Freeform 162">
              <a:extLst>
                <a:ext uri="{FF2B5EF4-FFF2-40B4-BE49-F238E27FC236}">
                  <a16:creationId xmlns:a16="http://schemas.microsoft.com/office/drawing/2014/main" id="{24DD7DB9-9CC8-664D-1383-7FA227435078}"/>
                </a:ext>
              </a:extLst>
            </p:cNvPr>
            <p:cNvSpPr>
              <a:spLocks noChangeArrowheads="1"/>
            </p:cNvSpPr>
            <p:nvPr/>
          </p:nvSpPr>
          <p:spPr bwMode="auto">
            <a:xfrm>
              <a:off x="9601200" y="3505200"/>
              <a:ext cx="3175" cy="6350"/>
            </a:xfrm>
            <a:custGeom>
              <a:avLst/>
              <a:gdLst>
                <a:gd name="T0" fmla="*/ 10 w 11"/>
                <a:gd name="T1" fmla="*/ 18 h 19"/>
                <a:gd name="T2" fmla="*/ 0 w 11"/>
                <a:gd name="T3" fmla="*/ 0 h 19"/>
              </a:gdLst>
              <a:ahLst/>
              <a:cxnLst>
                <a:cxn ang="0">
                  <a:pos x="T0" y="T1"/>
                </a:cxn>
                <a:cxn ang="0">
                  <a:pos x="T2" y="T3"/>
                </a:cxn>
              </a:cxnLst>
              <a:rect l="0" t="0" r="r" b="b"/>
              <a:pathLst>
                <a:path w="11" h="19">
                  <a:moveTo>
                    <a:pt x="10" y="18"/>
                  </a:moveTo>
                  <a:cubicBezTo>
                    <a:pt x="7" y="12"/>
                    <a:pt x="3" y="6"/>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71" name="Freeform 163">
              <a:extLst>
                <a:ext uri="{FF2B5EF4-FFF2-40B4-BE49-F238E27FC236}">
                  <a16:creationId xmlns:a16="http://schemas.microsoft.com/office/drawing/2014/main" id="{BDE7855B-3837-2E7A-6C83-2CB171DC1EF1}"/>
                </a:ext>
              </a:extLst>
            </p:cNvPr>
            <p:cNvSpPr>
              <a:spLocks noChangeArrowheads="1"/>
            </p:cNvSpPr>
            <p:nvPr/>
          </p:nvSpPr>
          <p:spPr bwMode="auto">
            <a:xfrm>
              <a:off x="9821863" y="3535363"/>
              <a:ext cx="6350" cy="6350"/>
            </a:xfrm>
            <a:custGeom>
              <a:avLst/>
              <a:gdLst>
                <a:gd name="T0" fmla="*/ 15 w 16"/>
                <a:gd name="T1" fmla="*/ 0 h 16"/>
                <a:gd name="T2" fmla="*/ 0 w 16"/>
                <a:gd name="T3" fmla="*/ 15 h 16"/>
              </a:gdLst>
              <a:ahLst/>
              <a:cxnLst>
                <a:cxn ang="0">
                  <a:pos x="T0" y="T1"/>
                </a:cxn>
                <a:cxn ang="0">
                  <a:pos x="T2" y="T3"/>
                </a:cxn>
              </a:cxnLst>
              <a:rect l="0" t="0" r="r" b="b"/>
              <a:pathLst>
                <a:path w="16" h="16">
                  <a:moveTo>
                    <a:pt x="15" y="0"/>
                  </a:moveTo>
                  <a:cubicBezTo>
                    <a:pt x="10" y="5"/>
                    <a:pt x="5" y="10"/>
                    <a:pt x="0" y="15"/>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72" name="Freeform 164">
              <a:extLst>
                <a:ext uri="{FF2B5EF4-FFF2-40B4-BE49-F238E27FC236}">
                  <a16:creationId xmlns:a16="http://schemas.microsoft.com/office/drawing/2014/main" id="{39DF6357-A9CD-B795-D41C-A4994F76F178}"/>
                </a:ext>
              </a:extLst>
            </p:cNvPr>
            <p:cNvSpPr>
              <a:spLocks noChangeArrowheads="1"/>
            </p:cNvSpPr>
            <p:nvPr/>
          </p:nvSpPr>
          <p:spPr bwMode="auto">
            <a:xfrm>
              <a:off x="9821863" y="3335338"/>
              <a:ext cx="6350" cy="6350"/>
            </a:xfrm>
            <a:custGeom>
              <a:avLst/>
              <a:gdLst>
                <a:gd name="T0" fmla="*/ 15 w 16"/>
                <a:gd name="T1" fmla="*/ 15 h 16"/>
                <a:gd name="T2" fmla="*/ 0 w 16"/>
                <a:gd name="T3" fmla="*/ 0 h 16"/>
              </a:gdLst>
              <a:ahLst/>
              <a:cxnLst>
                <a:cxn ang="0">
                  <a:pos x="T0" y="T1"/>
                </a:cxn>
                <a:cxn ang="0">
                  <a:pos x="T2" y="T3"/>
                </a:cxn>
              </a:cxnLst>
              <a:rect l="0" t="0" r="r" b="b"/>
              <a:pathLst>
                <a:path w="16" h="16">
                  <a:moveTo>
                    <a:pt x="15" y="15"/>
                  </a:moveTo>
                  <a:cubicBezTo>
                    <a:pt x="10" y="10"/>
                    <a:pt x="5" y="5"/>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73" name="Freeform 165">
              <a:extLst>
                <a:ext uri="{FF2B5EF4-FFF2-40B4-BE49-F238E27FC236}">
                  <a16:creationId xmlns:a16="http://schemas.microsoft.com/office/drawing/2014/main" id="{57E668EE-1A18-3CA2-2845-95393DCB8F8C}"/>
                </a:ext>
              </a:extLst>
            </p:cNvPr>
            <p:cNvSpPr>
              <a:spLocks noChangeArrowheads="1"/>
            </p:cNvSpPr>
            <p:nvPr/>
          </p:nvSpPr>
          <p:spPr bwMode="auto">
            <a:xfrm>
              <a:off x="9601200" y="3363913"/>
              <a:ext cx="3175" cy="7937"/>
            </a:xfrm>
            <a:custGeom>
              <a:avLst/>
              <a:gdLst>
                <a:gd name="T0" fmla="*/ 10 w 11"/>
                <a:gd name="T1" fmla="*/ 0 h 20"/>
                <a:gd name="T2" fmla="*/ 0 w 11"/>
                <a:gd name="T3" fmla="*/ 19 h 20"/>
              </a:gdLst>
              <a:ahLst/>
              <a:cxnLst>
                <a:cxn ang="0">
                  <a:pos x="T0" y="T1"/>
                </a:cxn>
                <a:cxn ang="0">
                  <a:pos x="T2" y="T3"/>
                </a:cxn>
              </a:cxnLst>
              <a:rect l="0" t="0" r="r" b="b"/>
              <a:pathLst>
                <a:path w="11" h="20">
                  <a:moveTo>
                    <a:pt x="10" y="0"/>
                  </a:moveTo>
                  <a:cubicBezTo>
                    <a:pt x="7" y="6"/>
                    <a:pt x="3" y="12"/>
                    <a:pt x="0" y="19"/>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74" name="Freeform 166">
              <a:extLst>
                <a:ext uri="{FF2B5EF4-FFF2-40B4-BE49-F238E27FC236}">
                  <a16:creationId xmlns:a16="http://schemas.microsoft.com/office/drawing/2014/main" id="{CA18BA91-A11B-728F-43E8-4BA78EDAE50B}"/>
                </a:ext>
              </a:extLst>
            </p:cNvPr>
            <p:cNvSpPr>
              <a:spLocks noChangeArrowheads="1"/>
            </p:cNvSpPr>
            <p:nvPr/>
          </p:nvSpPr>
          <p:spPr bwMode="auto">
            <a:xfrm>
              <a:off x="9845675" y="3505200"/>
              <a:ext cx="3175" cy="6350"/>
            </a:xfrm>
            <a:custGeom>
              <a:avLst/>
              <a:gdLst>
                <a:gd name="T0" fmla="*/ 10 w 11"/>
                <a:gd name="T1" fmla="*/ 0 h 19"/>
                <a:gd name="T2" fmla="*/ 0 w 11"/>
                <a:gd name="T3" fmla="*/ 18 h 19"/>
              </a:gdLst>
              <a:ahLst/>
              <a:cxnLst>
                <a:cxn ang="0">
                  <a:pos x="T0" y="T1"/>
                </a:cxn>
                <a:cxn ang="0">
                  <a:pos x="T2" y="T3"/>
                </a:cxn>
              </a:cxnLst>
              <a:rect l="0" t="0" r="r" b="b"/>
              <a:pathLst>
                <a:path w="11" h="19">
                  <a:moveTo>
                    <a:pt x="10" y="0"/>
                  </a:moveTo>
                  <a:cubicBezTo>
                    <a:pt x="7" y="6"/>
                    <a:pt x="3" y="12"/>
                    <a:pt x="0" y="18"/>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75" name="Freeform 167">
              <a:extLst>
                <a:ext uri="{FF2B5EF4-FFF2-40B4-BE49-F238E27FC236}">
                  <a16:creationId xmlns:a16="http://schemas.microsoft.com/office/drawing/2014/main" id="{0BC06FEE-1191-90DA-DCD1-026E6F814816}"/>
                </a:ext>
              </a:extLst>
            </p:cNvPr>
            <p:cNvSpPr>
              <a:spLocks noChangeArrowheads="1"/>
            </p:cNvSpPr>
            <p:nvPr/>
          </p:nvSpPr>
          <p:spPr bwMode="auto">
            <a:xfrm>
              <a:off x="9793288" y="3314700"/>
              <a:ext cx="6350" cy="4763"/>
            </a:xfrm>
            <a:custGeom>
              <a:avLst/>
              <a:gdLst>
                <a:gd name="T0" fmla="*/ 18 w 19"/>
                <a:gd name="T1" fmla="*/ 11 h 12"/>
                <a:gd name="T2" fmla="*/ 0 w 19"/>
                <a:gd name="T3" fmla="*/ 0 h 12"/>
              </a:gdLst>
              <a:ahLst/>
              <a:cxnLst>
                <a:cxn ang="0">
                  <a:pos x="T0" y="T1"/>
                </a:cxn>
                <a:cxn ang="0">
                  <a:pos x="T2" y="T3"/>
                </a:cxn>
              </a:cxnLst>
              <a:rect l="0" t="0" r="r" b="b"/>
              <a:pathLst>
                <a:path w="19" h="12">
                  <a:moveTo>
                    <a:pt x="18" y="11"/>
                  </a:moveTo>
                  <a:cubicBezTo>
                    <a:pt x="12" y="7"/>
                    <a:pt x="6" y="3"/>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76" name="Freeform 168">
              <a:extLst>
                <a:ext uri="{FF2B5EF4-FFF2-40B4-BE49-F238E27FC236}">
                  <a16:creationId xmlns:a16="http://schemas.microsoft.com/office/drawing/2014/main" id="{D97066BF-37A1-863D-5E70-397FD39C1D17}"/>
                </a:ext>
              </a:extLst>
            </p:cNvPr>
            <p:cNvSpPr>
              <a:spLocks noChangeArrowheads="1"/>
            </p:cNvSpPr>
            <p:nvPr/>
          </p:nvSpPr>
          <p:spPr bwMode="auto">
            <a:xfrm>
              <a:off x="9652000" y="3557588"/>
              <a:ext cx="6350" cy="4762"/>
            </a:xfrm>
            <a:custGeom>
              <a:avLst/>
              <a:gdLst>
                <a:gd name="T0" fmla="*/ 18 w 19"/>
                <a:gd name="T1" fmla="*/ 11 h 12"/>
                <a:gd name="T2" fmla="*/ 0 w 19"/>
                <a:gd name="T3" fmla="*/ 0 h 12"/>
              </a:gdLst>
              <a:ahLst/>
              <a:cxnLst>
                <a:cxn ang="0">
                  <a:pos x="T0" y="T1"/>
                </a:cxn>
                <a:cxn ang="0">
                  <a:pos x="T2" y="T3"/>
                </a:cxn>
              </a:cxnLst>
              <a:rect l="0" t="0" r="r" b="b"/>
              <a:pathLst>
                <a:path w="19" h="12">
                  <a:moveTo>
                    <a:pt x="18" y="11"/>
                  </a:moveTo>
                  <a:cubicBezTo>
                    <a:pt x="12" y="8"/>
                    <a:pt x="6" y="4"/>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98" name="Freeform 169">
              <a:extLst>
                <a:ext uri="{FF2B5EF4-FFF2-40B4-BE49-F238E27FC236}">
                  <a16:creationId xmlns:a16="http://schemas.microsoft.com/office/drawing/2014/main" id="{8E3C11AF-DE03-35BA-26E8-9347772D7F87}"/>
                </a:ext>
              </a:extLst>
            </p:cNvPr>
            <p:cNvSpPr>
              <a:spLocks noChangeArrowheads="1"/>
            </p:cNvSpPr>
            <p:nvPr/>
          </p:nvSpPr>
          <p:spPr bwMode="auto">
            <a:xfrm>
              <a:off x="9588500" y="3398838"/>
              <a:ext cx="1588" cy="7937"/>
            </a:xfrm>
            <a:custGeom>
              <a:avLst/>
              <a:gdLst>
                <a:gd name="T0" fmla="*/ 5 w 6"/>
                <a:gd name="T1" fmla="*/ 0 h 21"/>
                <a:gd name="T2" fmla="*/ 0 w 6"/>
                <a:gd name="T3" fmla="*/ 20 h 21"/>
              </a:gdLst>
              <a:ahLst/>
              <a:cxnLst>
                <a:cxn ang="0">
                  <a:pos x="T0" y="T1"/>
                </a:cxn>
                <a:cxn ang="0">
                  <a:pos x="T2" y="T3"/>
                </a:cxn>
              </a:cxnLst>
              <a:rect l="0" t="0" r="r" b="b"/>
              <a:pathLst>
                <a:path w="6" h="21">
                  <a:moveTo>
                    <a:pt x="5" y="0"/>
                  </a:moveTo>
                  <a:cubicBezTo>
                    <a:pt x="3" y="6"/>
                    <a:pt x="2" y="13"/>
                    <a:pt x="0" y="2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99" name="Freeform 170">
              <a:extLst>
                <a:ext uri="{FF2B5EF4-FFF2-40B4-BE49-F238E27FC236}">
                  <a16:creationId xmlns:a16="http://schemas.microsoft.com/office/drawing/2014/main" id="{9BEBAC0D-1681-897A-D7E5-547CB60C392F}"/>
                </a:ext>
              </a:extLst>
            </p:cNvPr>
            <p:cNvSpPr>
              <a:spLocks noChangeArrowheads="1"/>
            </p:cNvSpPr>
            <p:nvPr/>
          </p:nvSpPr>
          <p:spPr bwMode="auto">
            <a:xfrm>
              <a:off x="9861550" y="3470275"/>
              <a:ext cx="3175" cy="7938"/>
            </a:xfrm>
            <a:custGeom>
              <a:avLst/>
              <a:gdLst>
                <a:gd name="T0" fmla="*/ 6 w 7"/>
                <a:gd name="T1" fmla="*/ 0 h 22"/>
                <a:gd name="T2" fmla="*/ 0 w 7"/>
                <a:gd name="T3" fmla="*/ 21 h 22"/>
              </a:gdLst>
              <a:ahLst/>
              <a:cxnLst>
                <a:cxn ang="0">
                  <a:pos x="T0" y="T1"/>
                </a:cxn>
                <a:cxn ang="0">
                  <a:pos x="T2" y="T3"/>
                </a:cxn>
              </a:cxnLst>
              <a:rect l="0" t="0" r="r" b="b"/>
              <a:pathLst>
                <a:path w="7" h="22">
                  <a:moveTo>
                    <a:pt x="6" y="0"/>
                  </a:moveTo>
                  <a:cubicBezTo>
                    <a:pt x="4" y="7"/>
                    <a:pt x="2" y="14"/>
                    <a:pt x="0" y="21"/>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00" name="Freeform 171">
              <a:extLst>
                <a:ext uri="{FF2B5EF4-FFF2-40B4-BE49-F238E27FC236}">
                  <a16:creationId xmlns:a16="http://schemas.microsoft.com/office/drawing/2014/main" id="{6C58648A-669F-8FB9-32CE-D5E075BDD96F}"/>
                </a:ext>
              </a:extLst>
            </p:cNvPr>
            <p:cNvSpPr>
              <a:spLocks noChangeArrowheads="1"/>
            </p:cNvSpPr>
            <p:nvPr/>
          </p:nvSpPr>
          <p:spPr bwMode="auto">
            <a:xfrm>
              <a:off x="9758363" y="3300413"/>
              <a:ext cx="7937" cy="3175"/>
            </a:xfrm>
            <a:custGeom>
              <a:avLst/>
              <a:gdLst>
                <a:gd name="T0" fmla="*/ 20 w 21"/>
                <a:gd name="T1" fmla="*/ 6 h 7"/>
                <a:gd name="T2" fmla="*/ 0 w 21"/>
                <a:gd name="T3" fmla="*/ 0 h 7"/>
              </a:gdLst>
              <a:ahLst/>
              <a:cxnLst>
                <a:cxn ang="0">
                  <a:pos x="T0" y="T1"/>
                </a:cxn>
                <a:cxn ang="0">
                  <a:pos x="T2" y="T3"/>
                </a:cxn>
              </a:cxnLst>
              <a:rect l="0" t="0" r="r" b="b"/>
              <a:pathLst>
                <a:path w="21" h="7">
                  <a:moveTo>
                    <a:pt x="20" y="6"/>
                  </a:moveTo>
                  <a:cubicBezTo>
                    <a:pt x="13" y="4"/>
                    <a:pt x="7" y="2"/>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01" name="Freeform 172">
              <a:extLst>
                <a:ext uri="{FF2B5EF4-FFF2-40B4-BE49-F238E27FC236}">
                  <a16:creationId xmlns:a16="http://schemas.microsoft.com/office/drawing/2014/main" id="{46F3014A-CF39-5BFB-E068-E14555B54671}"/>
                </a:ext>
              </a:extLst>
            </p:cNvPr>
            <p:cNvSpPr>
              <a:spLocks noChangeArrowheads="1"/>
            </p:cNvSpPr>
            <p:nvPr/>
          </p:nvSpPr>
          <p:spPr bwMode="auto">
            <a:xfrm>
              <a:off x="9685338" y="3573463"/>
              <a:ext cx="7937" cy="1587"/>
            </a:xfrm>
            <a:custGeom>
              <a:avLst/>
              <a:gdLst>
                <a:gd name="T0" fmla="*/ 21 w 22"/>
                <a:gd name="T1" fmla="*/ 5 h 6"/>
                <a:gd name="T2" fmla="*/ 0 w 22"/>
                <a:gd name="T3" fmla="*/ 0 h 6"/>
              </a:gdLst>
              <a:ahLst/>
              <a:cxnLst>
                <a:cxn ang="0">
                  <a:pos x="T0" y="T1"/>
                </a:cxn>
                <a:cxn ang="0">
                  <a:pos x="T2" y="T3"/>
                </a:cxn>
              </a:cxnLst>
              <a:rect l="0" t="0" r="r" b="b"/>
              <a:pathLst>
                <a:path w="22" h="6">
                  <a:moveTo>
                    <a:pt x="21" y="5"/>
                  </a:moveTo>
                  <a:cubicBezTo>
                    <a:pt x="14" y="4"/>
                    <a:pt x="7" y="2"/>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02" name="Freeform 173">
              <a:extLst>
                <a:ext uri="{FF2B5EF4-FFF2-40B4-BE49-F238E27FC236}">
                  <a16:creationId xmlns:a16="http://schemas.microsoft.com/office/drawing/2014/main" id="{3EB3300E-3F58-F203-BD14-E4A948EE16ED}"/>
                </a:ext>
              </a:extLst>
            </p:cNvPr>
            <p:cNvSpPr>
              <a:spLocks noChangeArrowheads="1"/>
            </p:cNvSpPr>
            <p:nvPr/>
          </p:nvSpPr>
          <p:spPr bwMode="auto">
            <a:xfrm>
              <a:off x="9525000" y="3438525"/>
              <a:ext cx="239713" cy="1588"/>
            </a:xfrm>
            <a:custGeom>
              <a:avLst/>
              <a:gdLst>
                <a:gd name="T0" fmla="*/ 664 w 665"/>
                <a:gd name="T1" fmla="*/ 0 h 1"/>
                <a:gd name="T2" fmla="*/ 0 w 665"/>
                <a:gd name="T3" fmla="*/ 0 h 1"/>
              </a:gdLst>
              <a:ahLst/>
              <a:cxnLst>
                <a:cxn ang="0">
                  <a:pos x="T0" y="T1"/>
                </a:cxn>
                <a:cxn ang="0">
                  <a:pos x="T2" y="T3"/>
                </a:cxn>
              </a:cxnLst>
              <a:rect l="0" t="0" r="r" b="b"/>
              <a:pathLst>
                <a:path w="665" h="1">
                  <a:moveTo>
                    <a:pt x="664" y="0"/>
                  </a:moveTo>
                  <a:cubicBezTo>
                    <a:pt x="443" y="0"/>
                    <a:pt x="221" y="0"/>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28" name="Freeform 174">
              <a:extLst>
                <a:ext uri="{FF2B5EF4-FFF2-40B4-BE49-F238E27FC236}">
                  <a16:creationId xmlns:a16="http://schemas.microsoft.com/office/drawing/2014/main" id="{0A50A54A-919B-1AFB-58B9-B7AD74BA0BB7}"/>
                </a:ext>
              </a:extLst>
            </p:cNvPr>
            <p:cNvSpPr>
              <a:spLocks noChangeArrowheads="1"/>
            </p:cNvSpPr>
            <p:nvPr/>
          </p:nvSpPr>
          <p:spPr bwMode="auto">
            <a:xfrm>
              <a:off x="9725025" y="3397250"/>
              <a:ext cx="39688" cy="80963"/>
            </a:xfrm>
            <a:custGeom>
              <a:avLst/>
              <a:gdLst>
                <a:gd name="T0" fmla="*/ 0 w 112"/>
                <a:gd name="T1" fmla="*/ 225 h 226"/>
                <a:gd name="T2" fmla="*/ 108 w 112"/>
                <a:gd name="T3" fmla="*/ 118 h 226"/>
                <a:gd name="T4" fmla="*/ 108 w 112"/>
                <a:gd name="T5" fmla="*/ 108 h 226"/>
                <a:gd name="T6" fmla="*/ 0 w 112"/>
                <a:gd name="T7" fmla="*/ 0 h 226"/>
              </a:gdLst>
              <a:ahLst/>
              <a:cxnLst>
                <a:cxn ang="0">
                  <a:pos x="T0" y="T1"/>
                </a:cxn>
                <a:cxn ang="0">
                  <a:pos x="T2" y="T3"/>
                </a:cxn>
                <a:cxn ang="0">
                  <a:pos x="T4" y="T5"/>
                </a:cxn>
                <a:cxn ang="0">
                  <a:pos x="T6" y="T7"/>
                </a:cxn>
              </a:cxnLst>
              <a:rect l="0" t="0" r="r" b="b"/>
              <a:pathLst>
                <a:path w="112" h="226">
                  <a:moveTo>
                    <a:pt x="0" y="225"/>
                  </a:moveTo>
                  <a:cubicBezTo>
                    <a:pt x="36" y="189"/>
                    <a:pt x="72" y="154"/>
                    <a:pt x="108" y="118"/>
                  </a:cubicBezTo>
                  <a:cubicBezTo>
                    <a:pt x="111" y="116"/>
                    <a:pt x="111" y="111"/>
                    <a:pt x="108" y="108"/>
                  </a:cubicBezTo>
                  <a:cubicBezTo>
                    <a:pt x="72" y="72"/>
                    <a:pt x="36" y="36"/>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32" name="Freeform 175">
              <a:extLst>
                <a:ext uri="{FF2B5EF4-FFF2-40B4-BE49-F238E27FC236}">
                  <a16:creationId xmlns:a16="http://schemas.microsoft.com/office/drawing/2014/main" id="{5915B551-0A68-D5E5-97E8-3F04E826B75D}"/>
                </a:ext>
              </a:extLst>
            </p:cNvPr>
            <p:cNvSpPr>
              <a:spLocks noChangeArrowheads="1"/>
            </p:cNvSpPr>
            <p:nvPr/>
          </p:nvSpPr>
          <p:spPr bwMode="auto">
            <a:xfrm>
              <a:off x="9382125" y="3295650"/>
              <a:ext cx="284163" cy="284163"/>
            </a:xfrm>
            <a:custGeom>
              <a:avLst/>
              <a:gdLst>
                <a:gd name="T0" fmla="*/ 395 w 791"/>
                <a:gd name="T1" fmla="*/ 789 h 790"/>
                <a:gd name="T2" fmla="*/ 0 w 791"/>
                <a:gd name="T3" fmla="*/ 395 h 790"/>
                <a:gd name="T4" fmla="*/ 395 w 791"/>
                <a:gd name="T5" fmla="*/ 0 h 790"/>
                <a:gd name="T6" fmla="*/ 790 w 791"/>
                <a:gd name="T7" fmla="*/ 395 h 790"/>
                <a:gd name="T8" fmla="*/ 395 w 791"/>
                <a:gd name="T9" fmla="*/ 789 h 790"/>
              </a:gdLst>
              <a:ahLst/>
              <a:cxnLst>
                <a:cxn ang="0">
                  <a:pos x="T0" y="T1"/>
                </a:cxn>
                <a:cxn ang="0">
                  <a:pos x="T2" y="T3"/>
                </a:cxn>
                <a:cxn ang="0">
                  <a:pos x="T4" y="T5"/>
                </a:cxn>
                <a:cxn ang="0">
                  <a:pos x="T6" y="T7"/>
                </a:cxn>
                <a:cxn ang="0">
                  <a:pos x="T8" y="T9"/>
                </a:cxn>
              </a:cxnLst>
              <a:rect l="0" t="0" r="r" b="b"/>
              <a:pathLst>
                <a:path w="791" h="790">
                  <a:moveTo>
                    <a:pt x="395" y="789"/>
                  </a:moveTo>
                  <a:cubicBezTo>
                    <a:pt x="177" y="789"/>
                    <a:pt x="0" y="612"/>
                    <a:pt x="0" y="395"/>
                  </a:cubicBezTo>
                  <a:cubicBezTo>
                    <a:pt x="0" y="178"/>
                    <a:pt x="178" y="0"/>
                    <a:pt x="395" y="0"/>
                  </a:cubicBezTo>
                  <a:cubicBezTo>
                    <a:pt x="613" y="0"/>
                    <a:pt x="790" y="178"/>
                    <a:pt x="790" y="395"/>
                  </a:cubicBezTo>
                  <a:cubicBezTo>
                    <a:pt x="790" y="612"/>
                    <a:pt x="612" y="789"/>
                    <a:pt x="395" y="789"/>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grpSp>
      <p:grpSp>
        <p:nvGrpSpPr>
          <p:cNvPr id="349" name="Group 348">
            <a:extLst>
              <a:ext uri="{FF2B5EF4-FFF2-40B4-BE49-F238E27FC236}">
                <a16:creationId xmlns:a16="http://schemas.microsoft.com/office/drawing/2014/main" id="{CC3EA4A0-C7D9-CFC8-0101-01372ED536DF}"/>
              </a:ext>
            </a:extLst>
          </p:cNvPr>
          <p:cNvGrpSpPr/>
          <p:nvPr/>
        </p:nvGrpSpPr>
        <p:grpSpPr>
          <a:xfrm>
            <a:off x="6378028" y="1651371"/>
            <a:ext cx="329401" cy="343933"/>
            <a:chOff x="2538413" y="3074988"/>
            <a:chExt cx="431800" cy="450850"/>
          </a:xfrm>
        </p:grpSpPr>
        <p:sp>
          <p:nvSpPr>
            <p:cNvPr id="350" name="Freeform 12">
              <a:extLst>
                <a:ext uri="{FF2B5EF4-FFF2-40B4-BE49-F238E27FC236}">
                  <a16:creationId xmlns:a16="http://schemas.microsoft.com/office/drawing/2014/main" id="{93241A50-7A59-11DD-8292-CDC3B438A69C}"/>
                </a:ext>
              </a:extLst>
            </p:cNvPr>
            <p:cNvSpPr>
              <a:spLocks noChangeArrowheads="1"/>
            </p:cNvSpPr>
            <p:nvPr/>
          </p:nvSpPr>
          <p:spPr bwMode="auto">
            <a:xfrm>
              <a:off x="2792413" y="3076575"/>
              <a:ext cx="101600" cy="50800"/>
            </a:xfrm>
            <a:custGeom>
              <a:avLst/>
              <a:gdLst>
                <a:gd name="T0" fmla="*/ 282 w 283"/>
                <a:gd name="T1" fmla="*/ 138 h 139"/>
                <a:gd name="T2" fmla="*/ 148 w 283"/>
                <a:gd name="T3" fmla="*/ 4 h 139"/>
                <a:gd name="T4" fmla="*/ 134 w 283"/>
                <a:gd name="T5" fmla="*/ 4 h 139"/>
                <a:gd name="T6" fmla="*/ 0 w 283"/>
                <a:gd name="T7" fmla="*/ 138 h 139"/>
              </a:gdLst>
              <a:ahLst/>
              <a:cxnLst>
                <a:cxn ang="0">
                  <a:pos x="T0" y="T1"/>
                </a:cxn>
                <a:cxn ang="0">
                  <a:pos x="T2" y="T3"/>
                </a:cxn>
                <a:cxn ang="0">
                  <a:pos x="T4" y="T5"/>
                </a:cxn>
                <a:cxn ang="0">
                  <a:pos x="T6" y="T7"/>
                </a:cxn>
              </a:cxnLst>
              <a:rect l="0" t="0" r="r" b="b"/>
              <a:pathLst>
                <a:path w="283" h="139">
                  <a:moveTo>
                    <a:pt x="282" y="138"/>
                  </a:moveTo>
                  <a:cubicBezTo>
                    <a:pt x="237" y="93"/>
                    <a:pt x="193" y="48"/>
                    <a:pt x="148" y="4"/>
                  </a:cubicBezTo>
                  <a:cubicBezTo>
                    <a:pt x="145" y="0"/>
                    <a:pt x="138" y="0"/>
                    <a:pt x="134" y="4"/>
                  </a:cubicBezTo>
                  <a:cubicBezTo>
                    <a:pt x="89" y="48"/>
                    <a:pt x="45" y="93"/>
                    <a:pt x="0" y="138"/>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51" name="Freeform 13">
              <a:extLst>
                <a:ext uri="{FF2B5EF4-FFF2-40B4-BE49-F238E27FC236}">
                  <a16:creationId xmlns:a16="http://schemas.microsoft.com/office/drawing/2014/main" id="{2CF4BAC0-7BFB-C943-97E6-218595EC440D}"/>
                </a:ext>
              </a:extLst>
            </p:cNvPr>
            <p:cNvSpPr>
              <a:spLocks noChangeArrowheads="1"/>
            </p:cNvSpPr>
            <p:nvPr/>
          </p:nvSpPr>
          <p:spPr bwMode="auto">
            <a:xfrm>
              <a:off x="2627313" y="3449638"/>
              <a:ext cx="76200" cy="76200"/>
            </a:xfrm>
            <a:custGeom>
              <a:avLst/>
              <a:gdLst>
                <a:gd name="T0" fmla="*/ 211 w 212"/>
                <a:gd name="T1" fmla="*/ 105 h 212"/>
                <a:gd name="T2" fmla="*/ 197 w 212"/>
                <a:gd name="T3" fmla="*/ 158 h 212"/>
                <a:gd name="T4" fmla="*/ 158 w 212"/>
                <a:gd name="T5" fmla="*/ 197 h 212"/>
                <a:gd name="T6" fmla="*/ 105 w 212"/>
                <a:gd name="T7" fmla="*/ 211 h 212"/>
                <a:gd name="T8" fmla="*/ 52 w 212"/>
                <a:gd name="T9" fmla="*/ 197 h 212"/>
                <a:gd name="T10" fmla="*/ 14 w 212"/>
                <a:gd name="T11" fmla="*/ 158 h 212"/>
                <a:gd name="T12" fmla="*/ 0 w 212"/>
                <a:gd name="T13" fmla="*/ 105 h 212"/>
                <a:gd name="T14" fmla="*/ 14 w 212"/>
                <a:gd name="T15" fmla="*/ 53 h 212"/>
                <a:gd name="T16" fmla="*/ 52 w 212"/>
                <a:gd name="T17" fmla="*/ 14 h 212"/>
                <a:gd name="T18" fmla="*/ 105 w 212"/>
                <a:gd name="T19" fmla="*/ 0 h 212"/>
                <a:gd name="T20" fmla="*/ 158 w 212"/>
                <a:gd name="T21" fmla="*/ 14 h 212"/>
                <a:gd name="T22" fmla="*/ 197 w 212"/>
                <a:gd name="T23" fmla="*/ 53 h 212"/>
                <a:gd name="T24" fmla="*/ 211 w 212"/>
                <a:gd name="T25" fmla="*/ 10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2" h="212">
                  <a:moveTo>
                    <a:pt x="211" y="105"/>
                  </a:moveTo>
                  <a:cubicBezTo>
                    <a:pt x="211" y="125"/>
                    <a:pt x="206" y="141"/>
                    <a:pt x="197" y="158"/>
                  </a:cubicBezTo>
                  <a:cubicBezTo>
                    <a:pt x="187" y="175"/>
                    <a:pt x="175" y="187"/>
                    <a:pt x="158" y="197"/>
                  </a:cubicBezTo>
                  <a:cubicBezTo>
                    <a:pt x="141" y="207"/>
                    <a:pt x="124" y="211"/>
                    <a:pt x="105" y="211"/>
                  </a:cubicBezTo>
                  <a:cubicBezTo>
                    <a:pt x="85" y="211"/>
                    <a:pt x="68" y="207"/>
                    <a:pt x="52" y="197"/>
                  </a:cubicBezTo>
                  <a:cubicBezTo>
                    <a:pt x="35" y="187"/>
                    <a:pt x="23" y="175"/>
                    <a:pt x="14" y="158"/>
                  </a:cubicBezTo>
                  <a:cubicBezTo>
                    <a:pt x="4" y="141"/>
                    <a:pt x="0" y="124"/>
                    <a:pt x="0" y="105"/>
                  </a:cubicBezTo>
                  <a:cubicBezTo>
                    <a:pt x="0" y="85"/>
                    <a:pt x="4" y="69"/>
                    <a:pt x="14" y="53"/>
                  </a:cubicBezTo>
                  <a:cubicBezTo>
                    <a:pt x="23" y="36"/>
                    <a:pt x="35" y="24"/>
                    <a:pt x="52" y="14"/>
                  </a:cubicBezTo>
                  <a:cubicBezTo>
                    <a:pt x="68" y="4"/>
                    <a:pt x="86" y="0"/>
                    <a:pt x="105" y="0"/>
                  </a:cubicBezTo>
                  <a:cubicBezTo>
                    <a:pt x="125" y="0"/>
                    <a:pt x="141" y="4"/>
                    <a:pt x="158" y="14"/>
                  </a:cubicBezTo>
                  <a:cubicBezTo>
                    <a:pt x="175" y="24"/>
                    <a:pt x="187" y="36"/>
                    <a:pt x="197" y="53"/>
                  </a:cubicBezTo>
                  <a:cubicBezTo>
                    <a:pt x="206" y="69"/>
                    <a:pt x="211" y="86"/>
                    <a:pt x="211" y="105"/>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52" name="Freeform 14">
              <a:extLst>
                <a:ext uri="{FF2B5EF4-FFF2-40B4-BE49-F238E27FC236}">
                  <a16:creationId xmlns:a16="http://schemas.microsoft.com/office/drawing/2014/main" id="{AA1FD038-7896-9D4F-9C56-D0A22D0B3039}"/>
                </a:ext>
              </a:extLst>
            </p:cNvPr>
            <p:cNvSpPr>
              <a:spLocks noChangeArrowheads="1"/>
            </p:cNvSpPr>
            <p:nvPr/>
          </p:nvSpPr>
          <p:spPr bwMode="auto">
            <a:xfrm>
              <a:off x="2541588" y="3192463"/>
              <a:ext cx="69850" cy="69850"/>
            </a:xfrm>
            <a:custGeom>
              <a:avLst/>
              <a:gdLst>
                <a:gd name="T0" fmla="*/ 0 w 195"/>
                <a:gd name="T1" fmla="*/ 0 h 195"/>
                <a:gd name="T2" fmla="*/ 194 w 195"/>
                <a:gd name="T3" fmla="*/ 194 h 195"/>
              </a:gdLst>
              <a:ahLst/>
              <a:cxnLst>
                <a:cxn ang="0">
                  <a:pos x="T0" y="T1"/>
                </a:cxn>
                <a:cxn ang="0">
                  <a:pos x="T2" y="T3"/>
                </a:cxn>
              </a:cxnLst>
              <a:rect l="0" t="0" r="r" b="b"/>
              <a:pathLst>
                <a:path w="195" h="195">
                  <a:moveTo>
                    <a:pt x="0" y="0"/>
                  </a:moveTo>
                  <a:cubicBezTo>
                    <a:pt x="65" y="64"/>
                    <a:pt x="129" y="129"/>
                    <a:pt x="194" y="194"/>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55" name="Freeform 15">
              <a:extLst>
                <a:ext uri="{FF2B5EF4-FFF2-40B4-BE49-F238E27FC236}">
                  <a16:creationId xmlns:a16="http://schemas.microsoft.com/office/drawing/2014/main" id="{3A943FF6-F485-BB0D-4A60-09A61EF009F2}"/>
                </a:ext>
              </a:extLst>
            </p:cNvPr>
            <p:cNvSpPr>
              <a:spLocks noChangeArrowheads="1"/>
            </p:cNvSpPr>
            <p:nvPr/>
          </p:nvSpPr>
          <p:spPr bwMode="auto">
            <a:xfrm>
              <a:off x="2541588" y="3192463"/>
              <a:ext cx="69850" cy="69850"/>
            </a:xfrm>
            <a:custGeom>
              <a:avLst/>
              <a:gdLst>
                <a:gd name="T0" fmla="*/ 194 w 195"/>
                <a:gd name="T1" fmla="*/ 0 h 195"/>
                <a:gd name="T2" fmla="*/ 0 w 195"/>
                <a:gd name="T3" fmla="*/ 194 h 195"/>
              </a:gdLst>
              <a:ahLst/>
              <a:cxnLst>
                <a:cxn ang="0">
                  <a:pos x="T0" y="T1"/>
                </a:cxn>
                <a:cxn ang="0">
                  <a:pos x="T2" y="T3"/>
                </a:cxn>
              </a:cxnLst>
              <a:rect l="0" t="0" r="r" b="b"/>
              <a:pathLst>
                <a:path w="195" h="195">
                  <a:moveTo>
                    <a:pt x="194" y="0"/>
                  </a:moveTo>
                  <a:cubicBezTo>
                    <a:pt x="129" y="64"/>
                    <a:pt x="65" y="129"/>
                    <a:pt x="0" y="194"/>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56" name="Freeform 16">
              <a:extLst>
                <a:ext uri="{FF2B5EF4-FFF2-40B4-BE49-F238E27FC236}">
                  <a16:creationId xmlns:a16="http://schemas.microsoft.com/office/drawing/2014/main" id="{D2127A62-3357-E8FC-A823-AFA58D0D74C4}"/>
                </a:ext>
              </a:extLst>
            </p:cNvPr>
            <p:cNvSpPr>
              <a:spLocks noChangeArrowheads="1"/>
            </p:cNvSpPr>
            <p:nvPr/>
          </p:nvSpPr>
          <p:spPr bwMode="auto">
            <a:xfrm>
              <a:off x="2719388" y="3192463"/>
              <a:ext cx="69850" cy="69850"/>
            </a:xfrm>
            <a:custGeom>
              <a:avLst/>
              <a:gdLst>
                <a:gd name="T0" fmla="*/ 0 w 195"/>
                <a:gd name="T1" fmla="*/ 0 h 195"/>
                <a:gd name="T2" fmla="*/ 194 w 195"/>
                <a:gd name="T3" fmla="*/ 194 h 195"/>
              </a:gdLst>
              <a:ahLst/>
              <a:cxnLst>
                <a:cxn ang="0">
                  <a:pos x="T0" y="T1"/>
                </a:cxn>
                <a:cxn ang="0">
                  <a:pos x="T2" y="T3"/>
                </a:cxn>
              </a:cxnLst>
              <a:rect l="0" t="0" r="r" b="b"/>
              <a:pathLst>
                <a:path w="195" h="195">
                  <a:moveTo>
                    <a:pt x="0" y="0"/>
                  </a:moveTo>
                  <a:cubicBezTo>
                    <a:pt x="65" y="64"/>
                    <a:pt x="129" y="129"/>
                    <a:pt x="194" y="194"/>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57" name="Freeform 17">
              <a:extLst>
                <a:ext uri="{FF2B5EF4-FFF2-40B4-BE49-F238E27FC236}">
                  <a16:creationId xmlns:a16="http://schemas.microsoft.com/office/drawing/2014/main" id="{A807537B-673C-7AF2-3189-85E4B5F3A70B}"/>
                </a:ext>
              </a:extLst>
            </p:cNvPr>
            <p:cNvSpPr>
              <a:spLocks noChangeArrowheads="1"/>
            </p:cNvSpPr>
            <p:nvPr/>
          </p:nvSpPr>
          <p:spPr bwMode="auto">
            <a:xfrm>
              <a:off x="2719388" y="3192463"/>
              <a:ext cx="69850" cy="69850"/>
            </a:xfrm>
            <a:custGeom>
              <a:avLst/>
              <a:gdLst>
                <a:gd name="T0" fmla="*/ 194 w 195"/>
                <a:gd name="T1" fmla="*/ 0 h 195"/>
                <a:gd name="T2" fmla="*/ 0 w 195"/>
                <a:gd name="T3" fmla="*/ 194 h 195"/>
              </a:gdLst>
              <a:ahLst/>
              <a:cxnLst>
                <a:cxn ang="0">
                  <a:pos x="T0" y="T1"/>
                </a:cxn>
                <a:cxn ang="0">
                  <a:pos x="T2" y="T3"/>
                </a:cxn>
              </a:cxnLst>
              <a:rect l="0" t="0" r="r" b="b"/>
              <a:pathLst>
                <a:path w="195" h="195">
                  <a:moveTo>
                    <a:pt x="194" y="0"/>
                  </a:moveTo>
                  <a:cubicBezTo>
                    <a:pt x="129" y="64"/>
                    <a:pt x="65" y="129"/>
                    <a:pt x="0" y="194"/>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58" name="Freeform 18">
              <a:extLst>
                <a:ext uri="{FF2B5EF4-FFF2-40B4-BE49-F238E27FC236}">
                  <a16:creationId xmlns:a16="http://schemas.microsoft.com/office/drawing/2014/main" id="{B0FD38A4-EC9F-C67B-0AA7-2BDF04D681F0}"/>
                </a:ext>
              </a:extLst>
            </p:cNvPr>
            <p:cNvSpPr>
              <a:spLocks noChangeArrowheads="1"/>
            </p:cNvSpPr>
            <p:nvPr/>
          </p:nvSpPr>
          <p:spPr bwMode="auto">
            <a:xfrm>
              <a:off x="2897188" y="3192463"/>
              <a:ext cx="69850" cy="69850"/>
            </a:xfrm>
            <a:custGeom>
              <a:avLst/>
              <a:gdLst>
                <a:gd name="T0" fmla="*/ 0 w 195"/>
                <a:gd name="T1" fmla="*/ 0 h 195"/>
                <a:gd name="T2" fmla="*/ 194 w 195"/>
                <a:gd name="T3" fmla="*/ 194 h 195"/>
              </a:gdLst>
              <a:ahLst/>
              <a:cxnLst>
                <a:cxn ang="0">
                  <a:pos x="T0" y="T1"/>
                </a:cxn>
                <a:cxn ang="0">
                  <a:pos x="T2" y="T3"/>
                </a:cxn>
              </a:cxnLst>
              <a:rect l="0" t="0" r="r" b="b"/>
              <a:pathLst>
                <a:path w="195" h="195">
                  <a:moveTo>
                    <a:pt x="0" y="0"/>
                  </a:moveTo>
                  <a:cubicBezTo>
                    <a:pt x="65" y="64"/>
                    <a:pt x="129" y="129"/>
                    <a:pt x="194" y="194"/>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59" name="Freeform 19">
              <a:extLst>
                <a:ext uri="{FF2B5EF4-FFF2-40B4-BE49-F238E27FC236}">
                  <a16:creationId xmlns:a16="http://schemas.microsoft.com/office/drawing/2014/main" id="{94487698-EB42-D5D3-61FB-D32699F2BB73}"/>
                </a:ext>
              </a:extLst>
            </p:cNvPr>
            <p:cNvSpPr>
              <a:spLocks noChangeArrowheads="1"/>
            </p:cNvSpPr>
            <p:nvPr/>
          </p:nvSpPr>
          <p:spPr bwMode="auto">
            <a:xfrm>
              <a:off x="2897188" y="3192463"/>
              <a:ext cx="69850" cy="69850"/>
            </a:xfrm>
            <a:custGeom>
              <a:avLst/>
              <a:gdLst>
                <a:gd name="T0" fmla="*/ 194 w 195"/>
                <a:gd name="T1" fmla="*/ 0 h 195"/>
                <a:gd name="T2" fmla="*/ 0 w 195"/>
                <a:gd name="T3" fmla="*/ 194 h 195"/>
              </a:gdLst>
              <a:ahLst/>
              <a:cxnLst>
                <a:cxn ang="0">
                  <a:pos x="T0" y="T1"/>
                </a:cxn>
                <a:cxn ang="0">
                  <a:pos x="T2" y="T3"/>
                </a:cxn>
              </a:cxnLst>
              <a:rect l="0" t="0" r="r" b="b"/>
              <a:pathLst>
                <a:path w="195" h="195">
                  <a:moveTo>
                    <a:pt x="194" y="0"/>
                  </a:moveTo>
                  <a:cubicBezTo>
                    <a:pt x="129" y="64"/>
                    <a:pt x="65" y="129"/>
                    <a:pt x="0" y="194"/>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60" name="Freeform 20">
              <a:extLst>
                <a:ext uri="{FF2B5EF4-FFF2-40B4-BE49-F238E27FC236}">
                  <a16:creationId xmlns:a16="http://schemas.microsoft.com/office/drawing/2014/main" id="{019B7960-35A9-2300-4984-14D4AC486360}"/>
                </a:ext>
              </a:extLst>
            </p:cNvPr>
            <p:cNvSpPr>
              <a:spLocks noChangeArrowheads="1"/>
            </p:cNvSpPr>
            <p:nvPr/>
          </p:nvSpPr>
          <p:spPr bwMode="auto">
            <a:xfrm>
              <a:off x="2538413" y="3317875"/>
              <a:ext cx="76200" cy="76200"/>
            </a:xfrm>
            <a:custGeom>
              <a:avLst/>
              <a:gdLst>
                <a:gd name="T0" fmla="*/ 211 w 212"/>
                <a:gd name="T1" fmla="*/ 105 h 212"/>
                <a:gd name="T2" fmla="*/ 197 w 212"/>
                <a:gd name="T3" fmla="*/ 158 h 212"/>
                <a:gd name="T4" fmla="*/ 159 w 212"/>
                <a:gd name="T5" fmla="*/ 197 h 212"/>
                <a:gd name="T6" fmla="*/ 106 w 212"/>
                <a:gd name="T7" fmla="*/ 211 h 212"/>
                <a:gd name="T8" fmla="*/ 53 w 212"/>
                <a:gd name="T9" fmla="*/ 197 h 212"/>
                <a:gd name="T10" fmla="*/ 14 w 212"/>
                <a:gd name="T11" fmla="*/ 158 h 212"/>
                <a:gd name="T12" fmla="*/ 0 w 212"/>
                <a:gd name="T13" fmla="*/ 105 h 212"/>
                <a:gd name="T14" fmla="*/ 14 w 212"/>
                <a:gd name="T15" fmla="*/ 52 h 212"/>
                <a:gd name="T16" fmla="*/ 53 w 212"/>
                <a:gd name="T17" fmla="*/ 14 h 212"/>
                <a:gd name="T18" fmla="*/ 106 w 212"/>
                <a:gd name="T19" fmla="*/ 0 h 212"/>
                <a:gd name="T20" fmla="*/ 159 w 212"/>
                <a:gd name="T21" fmla="*/ 14 h 212"/>
                <a:gd name="T22" fmla="*/ 197 w 212"/>
                <a:gd name="T23" fmla="*/ 52 h 212"/>
                <a:gd name="T24" fmla="*/ 211 w 212"/>
                <a:gd name="T25" fmla="*/ 10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2" h="212">
                  <a:moveTo>
                    <a:pt x="211" y="105"/>
                  </a:moveTo>
                  <a:cubicBezTo>
                    <a:pt x="211" y="125"/>
                    <a:pt x="207" y="141"/>
                    <a:pt x="197" y="158"/>
                  </a:cubicBezTo>
                  <a:cubicBezTo>
                    <a:pt x="187" y="175"/>
                    <a:pt x="175" y="187"/>
                    <a:pt x="159" y="197"/>
                  </a:cubicBezTo>
                  <a:cubicBezTo>
                    <a:pt x="142" y="206"/>
                    <a:pt x="125" y="211"/>
                    <a:pt x="106" y="211"/>
                  </a:cubicBezTo>
                  <a:cubicBezTo>
                    <a:pt x="86" y="211"/>
                    <a:pt x="70" y="206"/>
                    <a:pt x="53" y="197"/>
                  </a:cubicBezTo>
                  <a:cubicBezTo>
                    <a:pt x="36" y="187"/>
                    <a:pt x="23" y="175"/>
                    <a:pt x="14" y="158"/>
                  </a:cubicBezTo>
                  <a:cubicBezTo>
                    <a:pt x="4" y="141"/>
                    <a:pt x="0" y="124"/>
                    <a:pt x="0" y="105"/>
                  </a:cubicBezTo>
                  <a:cubicBezTo>
                    <a:pt x="0" y="85"/>
                    <a:pt x="4" y="68"/>
                    <a:pt x="14" y="52"/>
                  </a:cubicBezTo>
                  <a:cubicBezTo>
                    <a:pt x="23" y="35"/>
                    <a:pt x="36" y="23"/>
                    <a:pt x="53" y="14"/>
                  </a:cubicBezTo>
                  <a:cubicBezTo>
                    <a:pt x="70" y="4"/>
                    <a:pt x="86" y="0"/>
                    <a:pt x="106" y="0"/>
                  </a:cubicBezTo>
                  <a:cubicBezTo>
                    <a:pt x="125" y="0"/>
                    <a:pt x="142" y="4"/>
                    <a:pt x="159" y="14"/>
                  </a:cubicBezTo>
                  <a:cubicBezTo>
                    <a:pt x="175" y="23"/>
                    <a:pt x="187" y="35"/>
                    <a:pt x="197" y="52"/>
                  </a:cubicBezTo>
                  <a:cubicBezTo>
                    <a:pt x="207" y="68"/>
                    <a:pt x="211" y="86"/>
                    <a:pt x="211" y="105"/>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61" name="Freeform 21">
              <a:extLst>
                <a:ext uri="{FF2B5EF4-FFF2-40B4-BE49-F238E27FC236}">
                  <a16:creationId xmlns:a16="http://schemas.microsoft.com/office/drawing/2014/main" id="{2A569974-7650-A260-DAC1-18887356F76B}"/>
                </a:ext>
              </a:extLst>
            </p:cNvPr>
            <p:cNvSpPr>
              <a:spLocks noChangeArrowheads="1"/>
            </p:cNvSpPr>
            <p:nvPr/>
          </p:nvSpPr>
          <p:spPr bwMode="auto">
            <a:xfrm>
              <a:off x="2716213" y="3317875"/>
              <a:ext cx="76200" cy="76200"/>
            </a:xfrm>
            <a:custGeom>
              <a:avLst/>
              <a:gdLst>
                <a:gd name="T0" fmla="*/ 211 w 212"/>
                <a:gd name="T1" fmla="*/ 105 h 212"/>
                <a:gd name="T2" fmla="*/ 197 w 212"/>
                <a:gd name="T3" fmla="*/ 158 h 212"/>
                <a:gd name="T4" fmla="*/ 158 w 212"/>
                <a:gd name="T5" fmla="*/ 197 h 212"/>
                <a:gd name="T6" fmla="*/ 106 w 212"/>
                <a:gd name="T7" fmla="*/ 211 h 212"/>
                <a:gd name="T8" fmla="*/ 53 w 212"/>
                <a:gd name="T9" fmla="*/ 197 h 212"/>
                <a:gd name="T10" fmla="*/ 14 w 212"/>
                <a:gd name="T11" fmla="*/ 158 h 212"/>
                <a:gd name="T12" fmla="*/ 0 w 212"/>
                <a:gd name="T13" fmla="*/ 105 h 212"/>
                <a:gd name="T14" fmla="*/ 14 w 212"/>
                <a:gd name="T15" fmla="*/ 52 h 212"/>
                <a:gd name="T16" fmla="*/ 53 w 212"/>
                <a:gd name="T17" fmla="*/ 14 h 212"/>
                <a:gd name="T18" fmla="*/ 106 w 212"/>
                <a:gd name="T19" fmla="*/ 0 h 212"/>
                <a:gd name="T20" fmla="*/ 158 w 212"/>
                <a:gd name="T21" fmla="*/ 14 h 212"/>
                <a:gd name="T22" fmla="*/ 197 w 212"/>
                <a:gd name="T23" fmla="*/ 52 h 212"/>
                <a:gd name="T24" fmla="*/ 211 w 212"/>
                <a:gd name="T25" fmla="*/ 10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2" h="212">
                  <a:moveTo>
                    <a:pt x="211" y="105"/>
                  </a:moveTo>
                  <a:cubicBezTo>
                    <a:pt x="211" y="125"/>
                    <a:pt x="207" y="141"/>
                    <a:pt x="197" y="158"/>
                  </a:cubicBezTo>
                  <a:cubicBezTo>
                    <a:pt x="187" y="175"/>
                    <a:pt x="174" y="187"/>
                    <a:pt x="158" y="197"/>
                  </a:cubicBezTo>
                  <a:cubicBezTo>
                    <a:pt x="141" y="206"/>
                    <a:pt x="125" y="211"/>
                    <a:pt x="106" y="211"/>
                  </a:cubicBezTo>
                  <a:cubicBezTo>
                    <a:pt x="86" y="211"/>
                    <a:pt x="70" y="206"/>
                    <a:pt x="53" y="197"/>
                  </a:cubicBezTo>
                  <a:cubicBezTo>
                    <a:pt x="36" y="187"/>
                    <a:pt x="24" y="175"/>
                    <a:pt x="14" y="158"/>
                  </a:cubicBezTo>
                  <a:cubicBezTo>
                    <a:pt x="4" y="141"/>
                    <a:pt x="0" y="124"/>
                    <a:pt x="0" y="105"/>
                  </a:cubicBezTo>
                  <a:cubicBezTo>
                    <a:pt x="0" y="85"/>
                    <a:pt x="4" y="68"/>
                    <a:pt x="14" y="52"/>
                  </a:cubicBezTo>
                  <a:cubicBezTo>
                    <a:pt x="24" y="35"/>
                    <a:pt x="36" y="23"/>
                    <a:pt x="53" y="14"/>
                  </a:cubicBezTo>
                  <a:cubicBezTo>
                    <a:pt x="70" y="4"/>
                    <a:pt x="86" y="0"/>
                    <a:pt x="106" y="0"/>
                  </a:cubicBezTo>
                  <a:cubicBezTo>
                    <a:pt x="125" y="0"/>
                    <a:pt x="141" y="4"/>
                    <a:pt x="158" y="14"/>
                  </a:cubicBezTo>
                  <a:cubicBezTo>
                    <a:pt x="174" y="23"/>
                    <a:pt x="187" y="35"/>
                    <a:pt x="197" y="52"/>
                  </a:cubicBezTo>
                  <a:cubicBezTo>
                    <a:pt x="207" y="68"/>
                    <a:pt x="211" y="86"/>
                    <a:pt x="211" y="105"/>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62" name="Freeform 22">
              <a:extLst>
                <a:ext uri="{FF2B5EF4-FFF2-40B4-BE49-F238E27FC236}">
                  <a16:creationId xmlns:a16="http://schemas.microsoft.com/office/drawing/2014/main" id="{4AAE9238-D316-D251-56F8-D82F8523780E}"/>
                </a:ext>
              </a:extLst>
            </p:cNvPr>
            <p:cNvSpPr>
              <a:spLocks noChangeArrowheads="1"/>
            </p:cNvSpPr>
            <p:nvPr/>
          </p:nvSpPr>
          <p:spPr bwMode="auto">
            <a:xfrm>
              <a:off x="2894013" y="3317875"/>
              <a:ext cx="76200" cy="76200"/>
            </a:xfrm>
            <a:custGeom>
              <a:avLst/>
              <a:gdLst>
                <a:gd name="T0" fmla="*/ 211 w 212"/>
                <a:gd name="T1" fmla="*/ 105 h 212"/>
                <a:gd name="T2" fmla="*/ 197 w 212"/>
                <a:gd name="T3" fmla="*/ 158 h 212"/>
                <a:gd name="T4" fmla="*/ 158 w 212"/>
                <a:gd name="T5" fmla="*/ 197 h 212"/>
                <a:gd name="T6" fmla="*/ 105 w 212"/>
                <a:gd name="T7" fmla="*/ 211 h 212"/>
                <a:gd name="T8" fmla="*/ 53 w 212"/>
                <a:gd name="T9" fmla="*/ 197 h 212"/>
                <a:gd name="T10" fmla="*/ 14 w 212"/>
                <a:gd name="T11" fmla="*/ 158 h 212"/>
                <a:gd name="T12" fmla="*/ 0 w 212"/>
                <a:gd name="T13" fmla="*/ 105 h 212"/>
                <a:gd name="T14" fmla="*/ 14 w 212"/>
                <a:gd name="T15" fmla="*/ 52 h 212"/>
                <a:gd name="T16" fmla="*/ 53 w 212"/>
                <a:gd name="T17" fmla="*/ 14 h 212"/>
                <a:gd name="T18" fmla="*/ 105 w 212"/>
                <a:gd name="T19" fmla="*/ 0 h 212"/>
                <a:gd name="T20" fmla="*/ 158 w 212"/>
                <a:gd name="T21" fmla="*/ 14 h 212"/>
                <a:gd name="T22" fmla="*/ 197 w 212"/>
                <a:gd name="T23" fmla="*/ 52 h 212"/>
                <a:gd name="T24" fmla="*/ 211 w 212"/>
                <a:gd name="T25" fmla="*/ 10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2" h="212">
                  <a:moveTo>
                    <a:pt x="211" y="105"/>
                  </a:moveTo>
                  <a:cubicBezTo>
                    <a:pt x="211" y="125"/>
                    <a:pt x="207" y="141"/>
                    <a:pt x="197" y="158"/>
                  </a:cubicBezTo>
                  <a:cubicBezTo>
                    <a:pt x="187" y="175"/>
                    <a:pt x="175" y="187"/>
                    <a:pt x="158" y="197"/>
                  </a:cubicBezTo>
                  <a:cubicBezTo>
                    <a:pt x="141" y="206"/>
                    <a:pt x="124" y="211"/>
                    <a:pt x="105" y="211"/>
                  </a:cubicBezTo>
                  <a:cubicBezTo>
                    <a:pt x="85" y="211"/>
                    <a:pt x="70" y="206"/>
                    <a:pt x="53" y="197"/>
                  </a:cubicBezTo>
                  <a:cubicBezTo>
                    <a:pt x="36" y="187"/>
                    <a:pt x="24" y="175"/>
                    <a:pt x="14" y="158"/>
                  </a:cubicBezTo>
                  <a:cubicBezTo>
                    <a:pt x="4" y="141"/>
                    <a:pt x="0" y="124"/>
                    <a:pt x="0" y="105"/>
                  </a:cubicBezTo>
                  <a:cubicBezTo>
                    <a:pt x="0" y="85"/>
                    <a:pt x="4" y="68"/>
                    <a:pt x="14" y="52"/>
                  </a:cubicBezTo>
                  <a:cubicBezTo>
                    <a:pt x="24" y="35"/>
                    <a:pt x="36" y="23"/>
                    <a:pt x="53" y="14"/>
                  </a:cubicBezTo>
                  <a:cubicBezTo>
                    <a:pt x="70" y="4"/>
                    <a:pt x="86" y="0"/>
                    <a:pt x="105" y="0"/>
                  </a:cubicBezTo>
                  <a:cubicBezTo>
                    <a:pt x="125" y="0"/>
                    <a:pt x="141" y="4"/>
                    <a:pt x="158" y="14"/>
                  </a:cubicBezTo>
                  <a:cubicBezTo>
                    <a:pt x="175" y="23"/>
                    <a:pt x="187" y="35"/>
                    <a:pt x="197" y="52"/>
                  </a:cubicBezTo>
                  <a:cubicBezTo>
                    <a:pt x="207" y="68"/>
                    <a:pt x="211" y="86"/>
                    <a:pt x="211" y="105"/>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63" name="Freeform 23">
              <a:extLst>
                <a:ext uri="{FF2B5EF4-FFF2-40B4-BE49-F238E27FC236}">
                  <a16:creationId xmlns:a16="http://schemas.microsoft.com/office/drawing/2014/main" id="{066D3FA4-C504-BE70-A093-23103DE346F1}"/>
                </a:ext>
              </a:extLst>
            </p:cNvPr>
            <p:cNvSpPr>
              <a:spLocks noChangeArrowheads="1"/>
            </p:cNvSpPr>
            <p:nvPr/>
          </p:nvSpPr>
          <p:spPr bwMode="auto">
            <a:xfrm>
              <a:off x="2700338" y="3074988"/>
              <a:ext cx="142875" cy="398462"/>
            </a:xfrm>
            <a:custGeom>
              <a:avLst/>
              <a:gdLst>
                <a:gd name="T0" fmla="*/ 0 w 396"/>
                <a:gd name="T1" fmla="*/ 1106 h 1107"/>
                <a:gd name="T2" fmla="*/ 243 w 396"/>
                <a:gd name="T3" fmla="*/ 1004 h 1107"/>
                <a:gd name="T4" fmla="*/ 395 w 396"/>
                <a:gd name="T5" fmla="*/ 775 h 1107"/>
                <a:gd name="T6" fmla="*/ 395 w 396"/>
                <a:gd name="T7" fmla="*/ 0 h 1107"/>
              </a:gdLst>
              <a:ahLst/>
              <a:cxnLst>
                <a:cxn ang="0">
                  <a:pos x="T0" y="T1"/>
                </a:cxn>
                <a:cxn ang="0">
                  <a:pos x="T2" y="T3"/>
                </a:cxn>
                <a:cxn ang="0">
                  <a:pos x="T4" y="T5"/>
                </a:cxn>
                <a:cxn ang="0">
                  <a:pos x="T6" y="T7"/>
                </a:cxn>
              </a:cxnLst>
              <a:rect l="0" t="0" r="r" b="b"/>
              <a:pathLst>
                <a:path w="396" h="1107">
                  <a:moveTo>
                    <a:pt x="0" y="1106"/>
                  </a:moveTo>
                  <a:cubicBezTo>
                    <a:pt x="81" y="1072"/>
                    <a:pt x="162" y="1038"/>
                    <a:pt x="243" y="1004"/>
                  </a:cubicBezTo>
                  <a:cubicBezTo>
                    <a:pt x="331" y="965"/>
                    <a:pt x="395" y="877"/>
                    <a:pt x="395" y="775"/>
                  </a:cubicBezTo>
                  <a:cubicBezTo>
                    <a:pt x="395" y="516"/>
                    <a:pt x="395" y="258"/>
                    <a:pt x="395" y="0"/>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grpSp>
      <p:sp>
        <p:nvSpPr>
          <p:cNvPr id="364" name="Rectangle 363">
            <a:extLst>
              <a:ext uri="{FF2B5EF4-FFF2-40B4-BE49-F238E27FC236}">
                <a16:creationId xmlns:a16="http://schemas.microsoft.com/office/drawing/2014/main" id="{D47181EF-E6A9-BC51-E9CE-A14423ACEEE6}"/>
              </a:ext>
            </a:extLst>
          </p:cNvPr>
          <p:cNvSpPr/>
          <p:nvPr/>
        </p:nvSpPr>
        <p:spPr>
          <a:xfrm>
            <a:off x="5133103" y="2044149"/>
            <a:ext cx="972811" cy="397032"/>
          </a:xfrm>
          <a:prstGeom prst="rect">
            <a:avLst/>
          </a:prstGeom>
        </p:spPr>
        <p:txBody>
          <a:bodyPr wrap="square">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Detailed assessment</a:t>
            </a:r>
          </a:p>
        </p:txBody>
      </p:sp>
      <p:sp>
        <p:nvSpPr>
          <p:cNvPr id="365" name="Rectangle 364">
            <a:extLst>
              <a:ext uri="{FF2B5EF4-FFF2-40B4-BE49-F238E27FC236}">
                <a16:creationId xmlns:a16="http://schemas.microsoft.com/office/drawing/2014/main" id="{8968D845-423F-77AC-A0E8-510C08ECA235}"/>
              </a:ext>
            </a:extLst>
          </p:cNvPr>
          <p:cNvSpPr/>
          <p:nvPr/>
        </p:nvSpPr>
        <p:spPr>
          <a:xfrm>
            <a:off x="8197445" y="2043837"/>
            <a:ext cx="972811" cy="397032"/>
          </a:xfrm>
          <a:prstGeom prst="rect">
            <a:avLst/>
          </a:prstGeom>
        </p:spPr>
        <p:txBody>
          <a:bodyPr wrap="square">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Migration first mover</a:t>
            </a:r>
          </a:p>
        </p:txBody>
      </p:sp>
      <p:sp>
        <p:nvSpPr>
          <p:cNvPr id="366" name="Rectangle 365">
            <a:extLst>
              <a:ext uri="{FF2B5EF4-FFF2-40B4-BE49-F238E27FC236}">
                <a16:creationId xmlns:a16="http://schemas.microsoft.com/office/drawing/2014/main" id="{28BF8F4E-F139-BC0D-D8C5-A8BB33127FCB}"/>
              </a:ext>
            </a:extLst>
          </p:cNvPr>
          <p:cNvSpPr/>
          <p:nvPr/>
        </p:nvSpPr>
        <p:spPr>
          <a:xfrm>
            <a:off x="6068284" y="2038062"/>
            <a:ext cx="972811" cy="397032"/>
          </a:xfrm>
          <a:prstGeom prst="rect">
            <a:avLst/>
          </a:prstGeom>
        </p:spPr>
        <p:txBody>
          <a:bodyPr wrap="square">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Migration planning</a:t>
            </a:r>
          </a:p>
        </p:txBody>
      </p:sp>
      <p:grpSp>
        <p:nvGrpSpPr>
          <p:cNvPr id="370" name="Group 369">
            <a:extLst>
              <a:ext uri="{FF2B5EF4-FFF2-40B4-BE49-F238E27FC236}">
                <a16:creationId xmlns:a16="http://schemas.microsoft.com/office/drawing/2014/main" id="{0D044744-F555-766B-9A8A-84F588EC38A4}"/>
              </a:ext>
            </a:extLst>
          </p:cNvPr>
          <p:cNvGrpSpPr/>
          <p:nvPr/>
        </p:nvGrpSpPr>
        <p:grpSpPr>
          <a:xfrm rot="18900000">
            <a:off x="7381281" y="1647880"/>
            <a:ext cx="376005" cy="376008"/>
            <a:chOff x="8817591" y="656865"/>
            <a:chExt cx="493250" cy="493253"/>
          </a:xfrm>
        </p:grpSpPr>
        <p:sp>
          <p:nvSpPr>
            <p:cNvPr id="371" name="Freeform 2">
              <a:extLst>
                <a:ext uri="{FF2B5EF4-FFF2-40B4-BE49-F238E27FC236}">
                  <a16:creationId xmlns:a16="http://schemas.microsoft.com/office/drawing/2014/main" id="{B7D21C87-7D03-5D14-1E21-ABC0A91AE0A1}"/>
                </a:ext>
              </a:extLst>
            </p:cNvPr>
            <p:cNvSpPr>
              <a:spLocks noChangeArrowheads="1"/>
            </p:cNvSpPr>
            <p:nvPr/>
          </p:nvSpPr>
          <p:spPr bwMode="auto">
            <a:xfrm>
              <a:off x="8978249" y="887989"/>
              <a:ext cx="101469" cy="101469"/>
            </a:xfrm>
            <a:custGeom>
              <a:avLst/>
              <a:gdLst>
                <a:gd name="T0" fmla="*/ 0 w 159"/>
                <a:gd name="T1" fmla="*/ 158 h 159"/>
                <a:gd name="T2" fmla="*/ 158 w 159"/>
                <a:gd name="T3" fmla="*/ 0 h 159"/>
              </a:gdLst>
              <a:ahLst/>
              <a:cxnLst>
                <a:cxn ang="0">
                  <a:pos x="T0" y="T1"/>
                </a:cxn>
                <a:cxn ang="0">
                  <a:pos x="T2" y="T3"/>
                </a:cxn>
              </a:cxnLst>
              <a:rect l="0" t="0" r="r" b="b"/>
              <a:pathLst>
                <a:path w="159" h="159">
                  <a:moveTo>
                    <a:pt x="0" y="158"/>
                  </a:moveTo>
                  <a:cubicBezTo>
                    <a:pt x="53" y="105"/>
                    <a:pt x="106" y="52"/>
                    <a:pt x="158"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72" name="Freeform 3">
              <a:extLst>
                <a:ext uri="{FF2B5EF4-FFF2-40B4-BE49-F238E27FC236}">
                  <a16:creationId xmlns:a16="http://schemas.microsoft.com/office/drawing/2014/main" id="{B8484FD1-7813-EA9B-2E5F-BDB9D71754A8}"/>
                </a:ext>
              </a:extLst>
            </p:cNvPr>
            <p:cNvSpPr>
              <a:spLocks noChangeArrowheads="1"/>
            </p:cNvSpPr>
            <p:nvPr/>
          </p:nvSpPr>
          <p:spPr bwMode="auto">
            <a:xfrm>
              <a:off x="8868326" y="992277"/>
              <a:ext cx="107106" cy="107106"/>
            </a:xfrm>
            <a:custGeom>
              <a:avLst/>
              <a:gdLst>
                <a:gd name="T0" fmla="*/ 82 w 166"/>
                <a:gd name="T1" fmla="*/ 0 h 166"/>
                <a:gd name="T2" fmla="*/ 21 w 166"/>
                <a:gd name="T3" fmla="*/ 20 h 166"/>
                <a:gd name="T4" fmla="*/ 12 w 166"/>
                <a:gd name="T5" fmla="*/ 58 h 166"/>
                <a:gd name="T6" fmla="*/ 107 w 166"/>
                <a:gd name="T7" fmla="*/ 153 h 166"/>
                <a:gd name="T8" fmla="*/ 145 w 166"/>
                <a:gd name="T9" fmla="*/ 144 h 166"/>
                <a:gd name="T10" fmla="*/ 165 w 166"/>
                <a:gd name="T11" fmla="*/ 83 h 166"/>
              </a:gdLst>
              <a:ahLst/>
              <a:cxnLst>
                <a:cxn ang="0">
                  <a:pos x="T0" y="T1"/>
                </a:cxn>
                <a:cxn ang="0">
                  <a:pos x="T2" y="T3"/>
                </a:cxn>
                <a:cxn ang="0">
                  <a:pos x="T4" y="T5"/>
                </a:cxn>
                <a:cxn ang="0">
                  <a:pos x="T6" y="T7"/>
                </a:cxn>
                <a:cxn ang="0">
                  <a:pos x="T8" y="T9"/>
                </a:cxn>
                <a:cxn ang="0">
                  <a:pos x="T10" y="T11"/>
                </a:cxn>
              </a:cxnLst>
              <a:rect l="0" t="0" r="r" b="b"/>
              <a:pathLst>
                <a:path w="166" h="166">
                  <a:moveTo>
                    <a:pt x="82" y="0"/>
                  </a:moveTo>
                  <a:cubicBezTo>
                    <a:pt x="61" y="7"/>
                    <a:pt x="41" y="14"/>
                    <a:pt x="21" y="20"/>
                  </a:cubicBezTo>
                  <a:cubicBezTo>
                    <a:pt x="5" y="26"/>
                    <a:pt x="0" y="46"/>
                    <a:pt x="12" y="58"/>
                  </a:cubicBezTo>
                  <a:cubicBezTo>
                    <a:pt x="43" y="90"/>
                    <a:pt x="75" y="122"/>
                    <a:pt x="107" y="153"/>
                  </a:cubicBezTo>
                  <a:cubicBezTo>
                    <a:pt x="119" y="165"/>
                    <a:pt x="139" y="160"/>
                    <a:pt x="145" y="144"/>
                  </a:cubicBezTo>
                  <a:cubicBezTo>
                    <a:pt x="151" y="124"/>
                    <a:pt x="158" y="104"/>
                    <a:pt x="165" y="83"/>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73" name="Freeform 4">
              <a:extLst>
                <a:ext uri="{FF2B5EF4-FFF2-40B4-BE49-F238E27FC236}">
                  <a16:creationId xmlns:a16="http://schemas.microsoft.com/office/drawing/2014/main" id="{1F7064DC-358A-20DF-8D9B-6FA41A912727}"/>
                </a:ext>
              </a:extLst>
            </p:cNvPr>
            <p:cNvSpPr>
              <a:spLocks noChangeArrowheads="1"/>
            </p:cNvSpPr>
            <p:nvPr/>
          </p:nvSpPr>
          <p:spPr bwMode="auto">
            <a:xfrm>
              <a:off x="8885237" y="656865"/>
              <a:ext cx="425604" cy="425606"/>
            </a:xfrm>
            <a:custGeom>
              <a:avLst/>
              <a:gdLst>
                <a:gd name="T0" fmla="*/ 338 w 665"/>
                <a:gd name="T1" fmla="*/ 104 h 665"/>
                <a:gd name="T2" fmla="*/ 611 w 665"/>
                <a:gd name="T3" fmla="*/ 16 h 665"/>
                <a:gd name="T4" fmla="*/ 648 w 665"/>
                <a:gd name="T5" fmla="*/ 53 h 665"/>
                <a:gd name="T6" fmla="*/ 560 w 665"/>
                <a:gd name="T7" fmla="*/ 326 h 665"/>
                <a:gd name="T8" fmla="*/ 240 w 665"/>
                <a:gd name="T9" fmla="*/ 646 h 665"/>
                <a:gd name="T10" fmla="*/ 177 w 665"/>
                <a:gd name="T11" fmla="*/ 646 h 665"/>
                <a:gd name="T12" fmla="*/ 18 w 665"/>
                <a:gd name="T13" fmla="*/ 487 h 665"/>
                <a:gd name="T14" fmla="*/ 18 w 665"/>
                <a:gd name="T15" fmla="*/ 424 h 665"/>
                <a:gd name="T16" fmla="*/ 338 w 665"/>
                <a:gd name="T17" fmla="*/ 104 h 6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5" h="665">
                  <a:moveTo>
                    <a:pt x="338" y="104"/>
                  </a:moveTo>
                  <a:cubicBezTo>
                    <a:pt x="412" y="29"/>
                    <a:pt x="515" y="0"/>
                    <a:pt x="611" y="16"/>
                  </a:cubicBezTo>
                  <a:cubicBezTo>
                    <a:pt x="630" y="19"/>
                    <a:pt x="645" y="34"/>
                    <a:pt x="648" y="53"/>
                  </a:cubicBezTo>
                  <a:cubicBezTo>
                    <a:pt x="664" y="149"/>
                    <a:pt x="635" y="252"/>
                    <a:pt x="560" y="326"/>
                  </a:cubicBezTo>
                  <a:cubicBezTo>
                    <a:pt x="453" y="432"/>
                    <a:pt x="346" y="539"/>
                    <a:pt x="240" y="646"/>
                  </a:cubicBezTo>
                  <a:cubicBezTo>
                    <a:pt x="223" y="664"/>
                    <a:pt x="194" y="664"/>
                    <a:pt x="177" y="646"/>
                  </a:cubicBezTo>
                  <a:cubicBezTo>
                    <a:pt x="124" y="593"/>
                    <a:pt x="71" y="540"/>
                    <a:pt x="18" y="487"/>
                  </a:cubicBezTo>
                  <a:cubicBezTo>
                    <a:pt x="0" y="470"/>
                    <a:pt x="0" y="441"/>
                    <a:pt x="18" y="424"/>
                  </a:cubicBezTo>
                  <a:cubicBezTo>
                    <a:pt x="125" y="318"/>
                    <a:pt x="232" y="211"/>
                    <a:pt x="338" y="104"/>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74" name="Freeform 7">
              <a:extLst>
                <a:ext uri="{FF2B5EF4-FFF2-40B4-BE49-F238E27FC236}">
                  <a16:creationId xmlns:a16="http://schemas.microsoft.com/office/drawing/2014/main" id="{721864F0-EBE2-0C09-1E2A-C99297BED9B2}"/>
                </a:ext>
              </a:extLst>
            </p:cNvPr>
            <p:cNvSpPr>
              <a:spLocks noChangeArrowheads="1"/>
            </p:cNvSpPr>
            <p:nvPr/>
          </p:nvSpPr>
          <p:spPr bwMode="auto">
            <a:xfrm>
              <a:off x="9057170" y="887989"/>
              <a:ext cx="163477" cy="262129"/>
            </a:xfrm>
            <a:custGeom>
              <a:avLst/>
              <a:gdLst>
                <a:gd name="T0" fmla="*/ 0 w 254"/>
                <a:gd name="T1" fmla="*/ 253 h 408"/>
                <a:gd name="T2" fmla="*/ 132 w 254"/>
                <a:gd name="T3" fmla="*/ 386 h 408"/>
                <a:gd name="T4" fmla="*/ 193 w 254"/>
                <a:gd name="T5" fmla="*/ 399 h 408"/>
                <a:gd name="T6" fmla="*/ 228 w 254"/>
                <a:gd name="T7" fmla="*/ 347 h 408"/>
                <a:gd name="T8" fmla="*/ 226 w 254"/>
                <a:gd name="T9" fmla="*/ 63 h 408"/>
                <a:gd name="T10" fmla="*/ 253 w 254"/>
                <a:gd name="T11" fmla="*/ 0 h 408"/>
              </a:gdLst>
              <a:ahLst/>
              <a:cxnLst>
                <a:cxn ang="0">
                  <a:pos x="T0" y="T1"/>
                </a:cxn>
                <a:cxn ang="0">
                  <a:pos x="T2" y="T3"/>
                </a:cxn>
                <a:cxn ang="0">
                  <a:pos x="T4" y="T5"/>
                </a:cxn>
                <a:cxn ang="0">
                  <a:pos x="T6" y="T7"/>
                </a:cxn>
                <a:cxn ang="0">
                  <a:pos x="T8" y="T9"/>
                </a:cxn>
                <a:cxn ang="0">
                  <a:pos x="T10" y="T11"/>
                </a:cxn>
              </a:cxnLst>
              <a:rect l="0" t="0" r="r" b="b"/>
              <a:pathLst>
                <a:path w="254" h="408">
                  <a:moveTo>
                    <a:pt x="0" y="253"/>
                  </a:moveTo>
                  <a:cubicBezTo>
                    <a:pt x="44" y="298"/>
                    <a:pt x="88" y="342"/>
                    <a:pt x="132" y="386"/>
                  </a:cubicBezTo>
                  <a:cubicBezTo>
                    <a:pt x="148" y="403"/>
                    <a:pt x="172" y="407"/>
                    <a:pt x="193" y="399"/>
                  </a:cubicBezTo>
                  <a:cubicBezTo>
                    <a:pt x="214" y="390"/>
                    <a:pt x="228" y="369"/>
                    <a:pt x="228" y="347"/>
                  </a:cubicBezTo>
                  <a:cubicBezTo>
                    <a:pt x="228" y="253"/>
                    <a:pt x="227" y="158"/>
                    <a:pt x="226" y="63"/>
                  </a:cubicBezTo>
                  <a:cubicBezTo>
                    <a:pt x="226" y="39"/>
                    <a:pt x="236" y="17"/>
                    <a:pt x="253" y="0"/>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75" name="Freeform 8">
              <a:extLst>
                <a:ext uri="{FF2B5EF4-FFF2-40B4-BE49-F238E27FC236}">
                  <a16:creationId xmlns:a16="http://schemas.microsoft.com/office/drawing/2014/main" id="{D4FF0881-FF1B-F234-F2C0-84CDB951A9CA}"/>
                </a:ext>
              </a:extLst>
            </p:cNvPr>
            <p:cNvSpPr>
              <a:spLocks noChangeArrowheads="1"/>
            </p:cNvSpPr>
            <p:nvPr/>
          </p:nvSpPr>
          <p:spPr bwMode="auto">
            <a:xfrm>
              <a:off x="8817591" y="747060"/>
              <a:ext cx="262127" cy="163477"/>
            </a:xfrm>
            <a:custGeom>
              <a:avLst/>
              <a:gdLst>
                <a:gd name="T0" fmla="*/ 154 w 408"/>
                <a:gd name="T1" fmla="*/ 254 h 255"/>
                <a:gd name="T2" fmla="*/ 21 w 408"/>
                <a:gd name="T3" fmla="*/ 121 h 255"/>
                <a:gd name="T4" fmla="*/ 8 w 408"/>
                <a:gd name="T5" fmla="*/ 60 h 255"/>
                <a:gd name="T6" fmla="*/ 60 w 408"/>
                <a:gd name="T7" fmla="*/ 25 h 255"/>
                <a:gd name="T8" fmla="*/ 344 w 408"/>
                <a:gd name="T9" fmla="*/ 26 h 255"/>
                <a:gd name="T10" fmla="*/ 407 w 408"/>
                <a:gd name="T11" fmla="*/ 0 h 255"/>
              </a:gdLst>
              <a:ahLst/>
              <a:cxnLst>
                <a:cxn ang="0">
                  <a:pos x="T0" y="T1"/>
                </a:cxn>
                <a:cxn ang="0">
                  <a:pos x="T2" y="T3"/>
                </a:cxn>
                <a:cxn ang="0">
                  <a:pos x="T4" y="T5"/>
                </a:cxn>
                <a:cxn ang="0">
                  <a:pos x="T6" y="T7"/>
                </a:cxn>
                <a:cxn ang="0">
                  <a:pos x="T8" y="T9"/>
                </a:cxn>
                <a:cxn ang="0">
                  <a:pos x="T10" y="T11"/>
                </a:cxn>
              </a:cxnLst>
              <a:rect l="0" t="0" r="r" b="b"/>
              <a:pathLst>
                <a:path w="408" h="255">
                  <a:moveTo>
                    <a:pt x="154" y="254"/>
                  </a:moveTo>
                  <a:cubicBezTo>
                    <a:pt x="109" y="209"/>
                    <a:pt x="65" y="165"/>
                    <a:pt x="21" y="121"/>
                  </a:cubicBezTo>
                  <a:cubicBezTo>
                    <a:pt x="4" y="105"/>
                    <a:pt x="0" y="81"/>
                    <a:pt x="8" y="60"/>
                  </a:cubicBezTo>
                  <a:cubicBezTo>
                    <a:pt x="17" y="39"/>
                    <a:pt x="38" y="25"/>
                    <a:pt x="60" y="25"/>
                  </a:cubicBezTo>
                  <a:cubicBezTo>
                    <a:pt x="154" y="25"/>
                    <a:pt x="249" y="25"/>
                    <a:pt x="344" y="26"/>
                  </a:cubicBezTo>
                  <a:cubicBezTo>
                    <a:pt x="368" y="27"/>
                    <a:pt x="391" y="17"/>
                    <a:pt x="407" y="0"/>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376" name="Freeform 9">
              <a:extLst>
                <a:ext uri="{FF2B5EF4-FFF2-40B4-BE49-F238E27FC236}">
                  <a16:creationId xmlns:a16="http://schemas.microsoft.com/office/drawing/2014/main" id="{9DF616E5-2E23-459A-8BA6-58BA4D9AD1C0}"/>
                </a:ext>
              </a:extLst>
            </p:cNvPr>
            <p:cNvSpPr>
              <a:spLocks noChangeArrowheads="1"/>
            </p:cNvSpPr>
            <p:nvPr/>
          </p:nvSpPr>
          <p:spPr bwMode="auto">
            <a:xfrm>
              <a:off x="9121998" y="735786"/>
              <a:ext cx="109924" cy="109925"/>
            </a:xfrm>
            <a:custGeom>
              <a:avLst/>
              <a:gdLst>
                <a:gd name="T0" fmla="*/ 131 w 173"/>
                <a:gd name="T1" fmla="*/ 168 h 173"/>
                <a:gd name="T2" fmla="*/ 139 w 173"/>
                <a:gd name="T3" fmla="*/ 33 h 173"/>
                <a:gd name="T4" fmla="*/ 4 w 173"/>
                <a:gd name="T5" fmla="*/ 41 h 173"/>
                <a:gd name="T6" fmla="*/ 4 w 173"/>
                <a:gd name="T7" fmla="*/ 57 h 173"/>
                <a:gd name="T8" fmla="*/ 115 w 173"/>
                <a:gd name="T9" fmla="*/ 168 h 173"/>
                <a:gd name="T10" fmla="*/ 131 w 173"/>
                <a:gd name="T11" fmla="*/ 168 h 173"/>
              </a:gdLst>
              <a:ahLst/>
              <a:cxnLst>
                <a:cxn ang="0">
                  <a:pos x="T0" y="T1"/>
                </a:cxn>
                <a:cxn ang="0">
                  <a:pos x="T2" y="T3"/>
                </a:cxn>
                <a:cxn ang="0">
                  <a:pos x="T4" y="T5"/>
                </a:cxn>
                <a:cxn ang="0">
                  <a:pos x="T6" y="T7"/>
                </a:cxn>
                <a:cxn ang="0">
                  <a:pos x="T8" y="T9"/>
                </a:cxn>
                <a:cxn ang="0">
                  <a:pos x="T10" y="T11"/>
                </a:cxn>
              </a:cxnLst>
              <a:rect l="0" t="0" r="r" b="b"/>
              <a:pathLst>
                <a:path w="173" h="173">
                  <a:moveTo>
                    <a:pt x="131" y="168"/>
                  </a:moveTo>
                  <a:cubicBezTo>
                    <a:pt x="167" y="125"/>
                    <a:pt x="172" y="66"/>
                    <a:pt x="139" y="33"/>
                  </a:cubicBezTo>
                  <a:cubicBezTo>
                    <a:pt x="106" y="0"/>
                    <a:pt x="47" y="5"/>
                    <a:pt x="4" y="41"/>
                  </a:cubicBezTo>
                  <a:cubicBezTo>
                    <a:pt x="0" y="45"/>
                    <a:pt x="0" y="53"/>
                    <a:pt x="4" y="57"/>
                  </a:cubicBezTo>
                  <a:cubicBezTo>
                    <a:pt x="41" y="94"/>
                    <a:pt x="78" y="131"/>
                    <a:pt x="115" y="168"/>
                  </a:cubicBezTo>
                  <a:cubicBezTo>
                    <a:pt x="119" y="172"/>
                    <a:pt x="126" y="172"/>
                    <a:pt x="131" y="168"/>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grpSp>
      <p:sp>
        <p:nvSpPr>
          <p:cNvPr id="377" name="Arc 376">
            <a:extLst>
              <a:ext uri="{FF2B5EF4-FFF2-40B4-BE49-F238E27FC236}">
                <a16:creationId xmlns:a16="http://schemas.microsoft.com/office/drawing/2014/main" id="{1C71499D-01DD-8C62-875E-E709876C01F2}"/>
              </a:ext>
            </a:extLst>
          </p:cNvPr>
          <p:cNvSpPr/>
          <p:nvPr/>
        </p:nvSpPr>
        <p:spPr>
          <a:xfrm>
            <a:off x="7411021" y="1953342"/>
            <a:ext cx="322221" cy="138095"/>
          </a:xfrm>
          <a:prstGeom prst="arc">
            <a:avLst>
              <a:gd name="adj1" fmla="val 20298633"/>
              <a:gd name="adj2" fmla="val 12222224"/>
            </a:avLst>
          </a:prstGeom>
          <a:ln w="127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01" name="Rectangle 400">
            <a:extLst>
              <a:ext uri="{FF2B5EF4-FFF2-40B4-BE49-F238E27FC236}">
                <a16:creationId xmlns:a16="http://schemas.microsoft.com/office/drawing/2014/main" id="{DB4DBDD7-1879-B393-5C5D-FF8EFB4A8D37}"/>
              </a:ext>
            </a:extLst>
          </p:cNvPr>
          <p:cNvSpPr/>
          <p:nvPr/>
        </p:nvSpPr>
        <p:spPr>
          <a:xfrm>
            <a:off x="6920280" y="2061635"/>
            <a:ext cx="1317204" cy="397032"/>
          </a:xfrm>
          <a:prstGeom prst="rect">
            <a:avLst/>
          </a:prstGeom>
        </p:spPr>
        <p:txBody>
          <a:bodyPr wrap="square">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Design and build landing zone </a:t>
            </a:r>
          </a:p>
        </p:txBody>
      </p:sp>
      <p:sp>
        <p:nvSpPr>
          <p:cNvPr id="406" name="Rectangle 405">
            <a:extLst>
              <a:ext uri="{FF2B5EF4-FFF2-40B4-BE49-F238E27FC236}">
                <a16:creationId xmlns:a16="http://schemas.microsoft.com/office/drawing/2014/main" id="{C2D039BF-B46E-866F-BF03-571D66A19604}"/>
              </a:ext>
            </a:extLst>
          </p:cNvPr>
          <p:cNvSpPr/>
          <p:nvPr/>
        </p:nvSpPr>
        <p:spPr>
          <a:xfrm>
            <a:off x="6801754" y="1381796"/>
            <a:ext cx="2577298" cy="244682"/>
          </a:xfrm>
          <a:prstGeom prst="rect">
            <a:avLst/>
          </a:prstGeom>
          <a:ln>
            <a:noFill/>
          </a:ln>
        </p:spPr>
        <p:txBody>
          <a:bodyPr wrap="square">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US" sz="1100" b="0" i="0" u="none" strike="noStrike" kern="1200" cap="none" spc="0" normalizeH="0" baseline="0" noProof="0">
                <a:ln>
                  <a:noFill/>
                </a:ln>
                <a:solidFill>
                  <a:srgbClr val="000000"/>
                </a:solidFill>
                <a:effectLst/>
                <a:highlight>
                  <a:srgbClr val="000000"/>
                </a:highlight>
                <a:uLnTx/>
                <a:uFillTx/>
                <a:latin typeface="Fira Sans" panose="020B0503050000020004" pitchFamily="34" charset="0"/>
                <a:ea typeface="+mn-ea"/>
                <a:cs typeface="+mn-cs"/>
              </a:rPr>
              <a:t>.</a:t>
            </a:r>
            <a:r>
              <a:rPr kumimoji="0" lang="en-US" sz="1100" b="0" i="0" u="none" strike="noStrike" kern="1200" cap="none" spc="0" normalizeH="0" baseline="0" noProof="0">
                <a:ln>
                  <a:noFill/>
                </a:ln>
                <a:solidFill>
                  <a:srgbClr val="95008A">
                    <a:lumMod val="60000"/>
                    <a:lumOff val="40000"/>
                  </a:srgbClr>
                </a:solidFill>
                <a:effectLst/>
                <a:highlight>
                  <a:srgbClr val="000000"/>
                </a:highlight>
                <a:uLnTx/>
                <a:uFillTx/>
                <a:latin typeface="Fira Sans" panose="020B0503050000020004" pitchFamily="34" charset="0"/>
                <a:ea typeface="+mn-ea"/>
                <a:cs typeface="+mn-cs"/>
              </a:rPr>
              <a:t> </a:t>
            </a:r>
            <a:r>
              <a:rPr kumimoji="0" lang="en-GB" sz="1100" b="0" i="0" u="none" strike="noStrike" kern="1200" cap="none" spc="0" normalizeH="0" baseline="0" noProof="0">
                <a:ln>
                  <a:noFill/>
                </a:ln>
                <a:solidFill>
                  <a:srgbClr val="95008A">
                    <a:lumMod val="60000"/>
                    <a:lumOff val="40000"/>
                  </a:srgbClr>
                </a:solidFill>
                <a:effectLst/>
                <a:highlight>
                  <a:srgbClr val="000000"/>
                </a:highlight>
                <a:uLnTx/>
                <a:uFillTx/>
                <a:latin typeface="Fira Sans" panose="020B0503050000020004" pitchFamily="34" charset="0"/>
                <a:ea typeface="+mn-ea"/>
                <a:cs typeface="+mn-cs"/>
              </a:rPr>
              <a:t>Mobilisation</a:t>
            </a:r>
            <a:r>
              <a:rPr kumimoji="0" lang="en-US" sz="1100" b="0" i="0" u="none" strike="noStrike" kern="1200" cap="none" spc="0" normalizeH="0" baseline="0" noProof="0">
                <a:ln>
                  <a:noFill/>
                </a:ln>
                <a:solidFill>
                  <a:srgbClr val="95008A">
                    <a:lumMod val="60000"/>
                    <a:lumOff val="40000"/>
                  </a:srgbClr>
                </a:solidFill>
                <a:effectLst/>
                <a:highlight>
                  <a:srgbClr val="000000"/>
                </a:highlight>
                <a:uLnTx/>
                <a:uFillTx/>
                <a:latin typeface="Fira Sans" panose="020B0503050000020004" pitchFamily="34" charset="0"/>
                <a:ea typeface="+mn-ea"/>
                <a:cs typeface="+mn-cs"/>
              </a:rPr>
              <a:t> through experiences </a:t>
            </a:r>
            <a:r>
              <a:rPr kumimoji="0" lang="en-US" sz="1100" b="0" i="0" u="none" strike="noStrike" kern="1200" cap="none" spc="0" normalizeH="0" baseline="0" noProof="0">
                <a:ln>
                  <a:noFill/>
                </a:ln>
                <a:solidFill>
                  <a:srgbClr val="000000"/>
                </a:solidFill>
                <a:effectLst/>
                <a:highlight>
                  <a:srgbClr val="000000"/>
                </a:highlight>
                <a:uLnTx/>
                <a:uFillTx/>
                <a:latin typeface="Fira Sans" panose="020B0503050000020004" pitchFamily="34" charset="0"/>
                <a:ea typeface="+mn-ea"/>
                <a:cs typeface="+mn-cs"/>
              </a:rPr>
              <a:t>.</a:t>
            </a:r>
          </a:p>
        </p:txBody>
      </p:sp>
      <p:sp>
        <p:nvSpPr>
          <p:cNvPr id="413" name="TextBox 412">
            <a:extLst>
              <a:ext uri="{FF2B5EF4-FFF2-40B4-BE49-F238E27FC236}">
                <a16:creationId xmlns:a16="http://schemas.microsoft.com/office/drawing/2014/main" id="{843C72A9-6024-EE6B-C3E5-3387477F8837}"/>
              </a:ext>
            </a:extLst>
          </p:cNvPr>
          <p:cNvSpPr txBox="1"/>
          <p:nvPr/>
        </p:nvSpPr>
        <p:spPr>
          <a:xfrm>
            <a:off x="6174702" y="2522307"/>
            <a:ext cx="1822978" cy="507831"/>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Arial" charset="0"/>
              </a:rPr>
              <a:t>Validated Release Plan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Build Landing zone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FFFFFF"/>
                </a:solidFill>
                <a:effectLst/>
                <a:uLnTx/>
                <a:uFillTx/>
                <a:latin typeface="Fira Sans" panose="020B0503050000020004" pitchFamily="34" charset="0"/>
                <a:ea typeface="+mn-ea"/>
                <a:cs typeface="Arial" charset="0"/>
              </a:rPr>
              <a:t>Migration Strategy &amp; Design</a:t>
            </a:r>
            <a:endParaRPr kumimoji="0" lang="en-US"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p:txBody>
      </p:sp>
      <p:sp>
        <p:nvSpPr>
          <p:cNvPr id="418" name="Rectangle 417">
            <a:extLst>
              <a:ext uri="{FF2B5EF4-FFF2-40B4-BE49-F238E27FC236}">
                <a16:creationId xmlns:a16="http://schemas.microsoft.com/office/drawing/2014/main" id="{4DBDE925-25A2-6971-EBAE-DA2D20086AB4}"/>
              </a:ext>
            </a:extLst>
          </p:cNvPr>
          <p:cNvSpPr/>
          <p:nvPr/>
        </p:nvSpPr>
        <p:spPr>
          <a:xfrm>
            <a:off x="4835811" y="3880002"/>
            <a:ext cx="2545604" cy="244682"/>
          </a:xfrm>
          <a:prstGeom prst="rect">
            <a:avLst/>
          </a:prstGeom>
          <a:ln>
            <a:noFill/>
          </a:ln>
        </p:spPr>
        <p:txBody>
          <a:bodyPr wrap="square">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US" sz="1100" b="0" i="0" u="none" strike="noStrike" kern="1200" cap="none" spc="0" normalizeH="0" baseline="0" noProof="0">
                <a:ln>
                  <a:noFill/>
                </a:ln>
                <a:solidFill>
                  <a:srgbClr val="000000"/>
                </a:solidFill>
                <a:effectLst/>
                <a:highlight>
                  <a:srgbClr val="000000"/>
                </a:highlight>
                <a:uLnTx/>
                <a:uFillTx/>
                <a:latin typeface="Fira Sans" panose="020B0503050000020004" pitchFamily="34" charset="0"/>
                <a:ea typeface="+mn-ea"/>
                <a:cs typeface="+mn-cs"/>
              </a:rPr>
              <a:t>.</a:t>
            </a:r>
            <a:r>
              <a:rPr kumimoji="0" lang="en-US" sz="1100" b="0" i="0" u="none" strike="noStrike" kern="1200" cap="none" spc="0" normalizeH="0" baseline="0" noProof="0">
                <a:ln>
                  <a:noFill/>
                </a:ln>
                <a:solidFill>
                  <a:srgbClr val="95008A">
                    <a:lumMod val="60000"/>
                    <a:lumOff val="40000"/>
                  </a:srgbClr>
                </a:solidFill>
                <a:effectLst/>
                <a:highlight>
                  <a:srgbClr val="000000"/>
                </a:highlight>
                <a:uLnTx/>
                <a:uFillTx/>
                <a:latin typeface="Fira Sans" panose="020B0503050000020004" pitchFamily="34" charset="0"/>
                <a:ea typeface="+mn-ea"/>
                <a:cs typeface="+mn-cs"/>
              </a:rPr>
              <a:t> </a:t>
            </a:r>
            <a:r>
              <a:rPr kumimoji="0" lang="en-US" sz="1100" b="0" i="0" u="none" strike="noStrike" kern="1200" cap="none" spc="0" normalizeH="0" baseline="0" noProof="0">
                <a:ln>
                  <a:noFill/>
                </a:ln>
                <a:solidFill>
                  <a:srgbClr val="EB0000">
                    <a:lumMod val="40000"/>
                    <a:lumOff val="60000"/>
                  </a:srgbClr>
                </a:solidFill>
                <a:effectLst/>
                <a:highlight>
                  <a:srgbClr val="000000"/>
                </a:highlight>
                <a:uLnTx/>
                <a:uFillTx/>
                <a:latin typeface="Fira Sans" panose="020B0503050000020004" pitchFamily="34" charset="0"/>
                <a:ea typeface="+mn-ea"/>
                <a:cs typeface="+mn-cs"/>
              </a:rPr>
              <a:t>Accelerate  Migration @ Scale</a:t>
            </a:r>
            <a:r>
              <a:rPr kumimoji="0" lang="en-US" sz="1100" b="0" i="0" u="none" strike="noStrike" kern="1200" cap="none" spc="0" normalizeH="0" baseline="0" noProof="0">
                <a:ln>
                  <a:noFill/>
                </a:ln>
                <a:solidFill>
                  <a:srgbClr val="EB0000"/>
                </a:solidFill>
                <a:effectLst/>
                <a:highlight>
                  <a:srgbClr val="000000"/>
                </a:highlight>
                <a:uLnTx/>
                <a:uFillTx/>
                <a:latin typeface="Fira Sans" panose="020B0503050000020004" pitchFamily="34" charset="0"/>
                <a:ea typeface="+mn-ea"/>
                <a:cs typeface="+mn-cs"/>
              </a:rPr>
              <a:t> </a:t>
            </a:r>
            <a:r>
              <a:rPr kumimoji="0" lang="en-US" sz="1100" b="0" i="0" u="none" strike="noStrike" kern="1200" cap="none" spc="0" normalizeH="0" baseline="0" noProof="0">
                <a:ln>
                  <a:noFill/>
                </a:ln>
                <a:solidFill>
                  <a:srgbClr val="000000"/>
                </a:solidFill>
                <a:effectLst/>
                <a:highlight>
                  <a:srgbClr val="000000"/>
                </a:highlight>
                <a:uLnTx/>
                <a:uFillTx/>
                <a:latin typeface="Fira Sans" panose="020B0503050000020004" pitchFamily="34" charset="0"/>
                <a:ea typeface="+mn-ea"/>
                <a:cs typeface="+mn-cs"/>
              </a:rPr>
              <a:t>.</a:t>
            </a:r>
          </a:p>
        </p:txBody>
      </p:sp>
      <p:grpSp>
        <p:nvGrpSpPr>
          <p:cNvPr id="422" name="Group 421">
            <a:extLst>
              <a:ext uri="{FF2B5EF4-FFF2-40B4-BE49-F238E27FC236}">
                <a16:creationId xmlns:a16="http://schemas.microsoft.com/office/drawing/2014/main" id="{992D2A4D-2369-430B-3EFE-26C4548163FA}"/>
              </a:ext>
            </a:extLst>
          </p:cNvPr>
          <p:cNvGrpSpPr/>
          <p:nvPr/>
        </p:nvGrpSpPr>
        <p:grpSpPr>
          <a:xfrm>
            <a:off x="8293843" y="4225474"/>
            <a:ext cx="503530" cy="302855"/>
            <a:chOff x="9382125" y="3295650"/>
            <a:chExt cx="485775" cy="285750"/>
          </a:xfrm>
        </p:grpSpPr>
        <p:sp>
          <p:nvSpPr>
            <p:cNvPr id="423" name="Freeform 152">
              <a:extLst>
                <a:ext uri="{FF2B5EF4-FFF2-40B4-BE49-F238E27FC236}">
                  <a16:creationId xmlns:a16="http://schemas.microsoft.com/office/drawing/2014/main" id="{5C285218-A21C-1C27-DF58-18B43FE02E7B}"/>
                </a:ext>
              </a:extLst>
            </p:cNvPr>
            <p:cNvSpPr>
              <a:spLocks noChangeArrowheads="1"/>
            </p:cNvSpPr>
            <p:nvPr/>
          </p:nvSpPr>
          <p:spPr bwMode="auto">
            <a:xfrm>
              <a:off x="9721850" y="3297238"/>
              <a:ext cx="7938" cy="1587"/>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24" name="Freeform 153">
              <a:extLst>
                <a:ext uri="{FF2B5EF4-FFF2-40B4-BE49-F238E27FC236}">
                  <a16:creationId xmlns:a16="http://schemas.microsoft.com/office/drawing/2014/main" id="{56ED8169-11A5-35A8-2D2F-9307E2703720}"/>
                </a:ext>
              </a:extLst>
            </p:cNvPr>
            <p:cNvSpPr>
              <a:spLocks noChangeArrowheads="1"/>
            </p:cNvSpPr>
            <p:nvPr/>
          </p:nvSpPr>
          <p:spPr bwMode="auto">
            <a:xfrm>
              <a:off x="9721850" y="3579813"/>
              <a:ext cx="7938" cy="1587"/>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25" name="Freeform 154">
              <a:extLst>
                <a:ext uri="{FF2B5EF4-FFF2-40B4-BE49-F238E27FC236}">
                  <a16:creationId xmlns:a16="http://schemas.microsoft.com/office/drawing/2014/main" id="{95CBA7DB-E635-D45D-92A4-C8CFDF52925A}"/>
                </a:ext>
              </a:extLst>
            </p:cNvPr>
            <p:cNvSpPr>
              <a:spLocks noChangeArrowheads="1"/>
            </p:cNvSpPr>
            <p:nvPr/>
          </p:nvSpPr>
          <p:spPr bwMode="auto">
            <a:xfrm>
              <a:off x="9866313" y="3435350"/>
              <a:ext cx="1587" cy="7938"/>
            </a:xfrm>
            <a:custGeom>
              <a:avLst/>
              <a:gdLst>
                <a:gd name="T0" fmla="*/ 0 w 1"/>
                <a:gd name="T1" fmla="*/ 21 h 22"/>
                <a:gd name="T2" fmla="*/ 0 w 1"/>
                <a:gd name="T3" fmla="*/ 0 h 22"/>
              </a:gdLst>
              <a:ahLst/>
              <a:cxnLst>
                <a:cxn ang="0">
                  <a:pos x="T0" y="T1"/>
                </a:cxn>
                <a:cxn ang="0">
                  <a:pos x="T2" y="T3"/>
                </a:cxn>
              </a:cxnLst>
              <a:rect l="0" t="0" r="r" b="b"/>
              <a:pathLst>
                <a:path w="1" h="22">
                  <a:moveTo>
                    <a:pt x="0" y="21"/>
                  </a:moveTo>
                  <a:cubicBezTo>
                    <a:pt x="0" y="14"/>
                    <a:pt x="0" y="7"/>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26" name="Freeform 155">
              <a:extLst>
                <a:ext uri="{FF2B5EF4-FFF2-40B4-BE49-F238E27FC236}">
                  <a16:creationId xmlns:a16="http://schemas.microsoft.com/office/drawing/2014/main" id="{442B575F-9751-EDC4-D12A-525A9B3D7105}"/>
                </a:ext>
              </a:extLst>
            </p:cNvPr>
            <p:cNvSpPr>
              <a:spLocks noChangeArrowheads="1"/>
            </p:cNvSpPr>
            <p:nvPr/>
          </p:nvSpPr>
          <p:spPr bwMode="auto">
            <a:xfrm>
              <a:off x="9685338" y="3300413"/>
              <a:ext cx="7937" cy="3175"/>
            </a:xfrm>
            <a:custGeom>
              <a:avLst/>
              <a:gdLst>
                <a:gd name="T0" fmla="*/ 21 w 22"/>
                <a:gd name="T1" fmla="*/ 0 h 7"/>
                <a:gd name="T2" fmla="*/ 0 w 22"/>
                <a:gd name="T3" fmla="*/ 6 h 7"/>
              </a:gdLst>
              <a:ahLst/>
              <a:cxnLst>
                <a:cxn ang="0">
                  <a:pos x="T0" y="T1"/>
                </a:cxn>
                <a:cxn ang="0">
                  <a:pos x="T2" y="T3"/>
                </a:cxn>
              </a:cxnLst>
              <a:rect l="0" t="0" r="r" b="b"/>
              <a:pathLst>
                <a:path w="22" h="7">
                  <a:moveTo>
                    <a:pt x="21" y="0"/>
                  </a:moveTo>
                  <a:cubicBezTo>
                    <a:pt x="14" y="2"/>
                    <a:pt x="7" y="4"/>
                    <a:pt x="0" y="6"/>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27" name="Freeform 156">
              <a:extLst>
                <a:ext uri="{FF2B5EF4-FFF2-40B4-BE49-F238E27FC236}">
                  <a16:creationId xmlns:a16="http://schemas.microsoft.com/office/drawing/2014/main" id="{BEC42459-ECD6-3FE4-02C6-2825C33A435D}"/>
                </a:ext>
              </a:extLst>
            </p:cNvPr>
            <p:cNvSpPr>
              <a:spLocks noChangeArrowheads="1"/>
            </p:cNvSpPr>
            <p:nvPr/>
          </p:nvSpPr>
          <p:spPr bwMode="auto">
            <a:xfrm>
              <a:off x="9758363" y="3573463"/>
              <a:ext cx="7937" cy="1587"/>
            </a:xfrm>
            <a:custGeom>
              <a:avLst/>
              <a:gdLst>
                <a:gd name="T0" fmla="*/ 20 w 21"/>
                <a:gd name="T1" fmla="*/ 0 h 6"/>
                <a:gd name="T2" fmla="*/ 0 w 21"/>
                <a:gd name="T3" fmla="*/ 5 h 6"/>
              </a:gdLst>
              <a:ahLst/>
              <a:cxnLst>
                <a:cxn ang="0">
                  <a:pos x="T0" y="T1"/>
                </a:cxn>
                <a:cxn ang="0">
                  <a:pos x="T2" y="T3"/>
                </a:cxn>
              </a:cxnLst>
              <a:rect l="0" t="0" r="r" b="b"/>
              <a:pathLst>
                <a:path w="21" h="6">
                  <a:moveTo>
                    <a:pt x="20" y="0"/>
                  </a:moveTo>
                  <a:cubicBezTo>
                    <a:pt x="13" y="2"/>
                    <a:pt x="7" y="4"/>
                    <a:pt x="0" y="5"/>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28" name="Freeform 157">
              <a:extLst>
                <a:ext uri="{FF2B5EF4-FFF2-40B4-BE49-F238E27FC236}">
                  <a16:creationId xmlns:a16="http://schemas.microsoft.com/office/drawing/2014/main" id="{C70BAB2B-26EF-7561-0FF8-F1DD9AF6B225}"/>
                </a:ext>
              </a:extLst>
            </p:cNvPr>
            <p:cNvSpPr>
              <a:spLocks noChangeArrowheads="1"/>
            </p:cNvSpPr>
            <p:nvPr/>
          </p:nvSpPr>
          <p:spPr bwMode="auto">
            <a:xfrm>
              <a:off x="9861550" y="3398838"/>
              <a:ext cx="3175" cy="7937"/>
            </a:xfrm>
            <a:custGeom>
              <a:avLst/>
              <a:gdLst>
                <a:gd name="T0" fmla="*/ 6 w 7"/>
                <a:gd name="T1" fmla="*/ 20 h 21"/>
                <a:gd name="T2" fmla="*/ 0 w 7"/>
                <a:gd name="T3" fmla="*/ 0 h 21"/>
              </a:gdLst>
              <a:ahLst/>
              <a:cxnLst>
                <a:cxn ang="0">
                  <a:pos x="T0" y="T1"/>
                </a:cxn>
                <a:cxn ang="0">
                  <a:pos x="T2" y="T3"/>
                </a:cxn>
              </a:cxnLst>
              <a:rect l="0" t="0" r="r" b="b"/>
              <a:pathLst>
                <a:path w="7" h="21">
                  <a:moveTo>
                    <a:pt x="6" y="20"/>
                  </a:moveTo>
                  <a:cubicBezTo>
                    <a:pt x="4" y="13"/>
                    <a:pt x="2" y="6"/>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29" name="Freeform 158">
              <a:extLst>
                <a:ext uri="{FF2B5EF4-FFF2-40B4-BE49-F238E27FC236}">
                  <a16:creationId xmlns:a16="http://schemas.microsoft.com/office/drawing/2014/main" id="{74E2A8E6-6E9A-5C6A-1DBD-8A297D645157}"/>
                </a:ext>
              </a:extLst>
            </p:cNvPr>
            <p:cNvSpPr>
              <a:spLocks noChangeArrowheads="1"/>
            </p:cNvSpPr>
            <p:nvPr/>
          </p:nvSpPr>
          <p:spPr bwMode="auto">
            <a:xfrm>
              <a:off x="9588500" y="3470275"/>
              <a:ext cx="1588" cy="7938"/>
            </a:xfrm>
            <a:custGeom>
              <a:avLst/>
              <a:gdLst>
                <a:gd name="T0" fmla="*/ 5 w 6"/>
                <a:gd name="T1" fmla="*/ 21 h 22"/>
                <a:gd name="T2" fmla="*/ 0 w 6"/>
                <a:gd name="T3" fmla="*/ 0 h 22"/>
              </a:gdLst>
              <a:ahLst/>
              <a:cxnLst>
                <a:cxn ang="0">
                  <a:pos x="T0" y="T1"/>
                </a:cxn>
                <a:cxn ang="0">
                  <a:pos x="T2" y="T3"/>
                </a:cxn>
              </a:cxnLst>
              <a:rect l="0" t="0" r="r" b="b"/>
              <a:pathLst>
                <a:path w="6" h="22">
                  <a:moveTo>
                    <a:pt x="5" y="21"/>
                  </a:moveTo>
                  <a:cubicBezTo>
                    <a:pt x="3" y="14"/>
                    <a:pt x="2" y="7"/>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30" name="Freeform 159">
              <a:extLst>
                <a:ext uri="{FF2B5EF4-FFF2-40B4-BE49-F238E27FC236}">
                  <a16:creationId xmlns:a16="http://schemas.microsoft.com/office/drawing/2014/main" id="{EBDC36CD-CC42-6733-107A-2F19762472C9}"/>
                </a:ext>
              </a:extLst>
            </p:cNvPr>
            <p:cNvSpPr>
              <a:spLocks noChangeArrowheads="1"/>
            </p:cNvSpPr>
            <p:nvPr/>
          </p:nvSpPr>
          <p:spPr bwMode="auto">
            <a:xfrm>
              <a:off x="9652000" y="3314700"/>
              <a:ext cx="6350" cy="4763"/>
            </a:xfrm>
            <a:custGeom>
              <a:avLst/>
              <a:gdLst>
                <a:gd name="T0" fmla="*/ 18 w 19"/>
                <a:gd name="T1" fmla="*/ 0 h 12"/>
                <a:gd name="T2" fmla="*/ 0 w 19"/>
                <a:gd name="T3" fmla="*/ 11 h 12"/>
              </a:gdLst>
              <a:ahLst/>
              <a:cxnLst>
                <a:cxn ang="0">
                  <a:pos x="T0" y="T1"/>
                </a:cxn>
                <a:cxn ang="0">
                  <a:pos x="T2" y="T3"/>
                </a:cxn>
              </a:cxnLst>
              <a:rect l="0" t="0" r="r" b="b"/>
              <a:pathLst>
                <a:path w="19" h="12">
                  <a:moveTo>
                    <a:pt x="18" y="0"/>
                  </a:moveTo>
                  <a:cubicBezTo>
                    <a:pt x="12" y="3"/>
                    <a:pt x="6" y="7"/>
                    <a:pt x="0" y="11"/>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31" name="Freeform 160">
              <a:extLst>
                <a:ext uri="{FF2B5EF4-FFF2-40B4-BE49-F238E27FC236}">
                  <a16:creationId xmlns:a16="http://schemas.microsoft.com/office/drawing/2014/main" id="{531A6873-0DE2-9616-6FAB-6BB09AA672C8}"/>
                </a:ext>
              </a:extLst>
            </p:cNvPr>
            <p:cNvSpPr>
              <a:spLocks noChangeArrowheads="1"/>
            </p:cNvSpPr>
            <p:nvPr/>
          </p:nvSpPr>
          <p:spPr bwMode="auto">
            <a:xfrm>
              <a:off x="9793288" y="3557588"/>
              <a:ext cx="6350" cy="4762"/>
            </a:xfrm>
            <a:custGeom>
              <a:avLst/>
              <a:gdLst>
                <a:gd name="T0" fmla="*/ 18 w 19"/>
                <a:gd name="T1" fmla="*/ 0 h 12"/>
                <a:gd name="T2" fmla="*/ 0 w 19"/>
                <a:gd name="T3" fmla="*/ 11 h 12"/>
              </a:gdLst>
              <a:ahLst/>
              <a:cxnLst>
                <a:cxn ang="0">
                  <a:pos x="T0" y="T1"/>
                </a:cxn>
                <a:cxn ang="0">
                  <a:pos x="T2" y="T3"/>
                </a:cxn>
              </a:cxnLst>
              <a:rect l="0" t="0" r="r" b="b"/>
              <a:pathLst>
                <a:path w="19" h="12">
                  <a:moveTo>
                    <a:pt x="18" y="0"/>
                  </a:moveTo>
                  <a:cubicBezTo>
                    <a:pt x="12" y="4"/>
                    <a:pt x="6" y="8"/>
                    <a:pt x="0" y="11"/>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32" name="Freeform 161">
              <a:extLst>
                <a:ext uri="{FF2B5EF4-FFF2-40B4-BE49-F238E27FC236}">
                  <a16:creationId xmlns:a16="http://schemas.microsoft.com/office/drawing/2014/main" id="{B65AF2ED-A072-DE2B-FC1A-786B7B15F55E}"/>
                </a:ext>
              </a:extLst>
            </p:cNvPr>
            <p:cNvSpPr>
              <a:spLocks noChangeArrowheads="1"/>
            </p:cNvSpPr>
            <p:nvPr/>
          </p:nvSpPr>
          <p:spPr bwMode="auto">
            <a:xfrm>
              <a:off x="9845675" y="3363913"/>
              <a:ext cx="3175" cy="7937"/>
            </a:xfrm>
            <a:custGeom>
              <a:avLst/>
              <a:gdLst>
                <a:gd name="T0" fmla="*/ 10 w 11"/>
                <a:gd name="T1" fmla="*/ 19 h 20"/>
                <a:gd name="T2" fmla="*/ 0 w 11"/>
                <a:gd name="T3" fmla="*/ 0 h 20"/>
              </a:gdLst>
              <a:ahLst/>
              <a:cxnLst>
                <a:cxn ang="0">
                  <a:pos x="T0" y="T1"/>
                </a:cxn>
                <a:cxn ang="0">
                  <a:pos x="T2" y="T3"/>
                </a:cxn>
              </a:cxnLst>
              <a:rect l="0" t="0" r="r" b="b"/>
              <a:pathLst>
                <a:path w="11" h="20">
                  <a:moveTo>
                    <a:pt x="10" y="19"/>
                  </a:moveTo>
                  <a:cubicBezTo>
                    <a:pt x="7" y="12"/>
                    <a:pt x="3" y="6"/>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33" name="Freeform 162">
              <a:extLst>
                <a:ext uri="{FF2B5EF4-FFF2-40B4-BE49-F238E27FC236}">
                  <a16:creationId xmlns:a16="http://schemas.microsoft.com/office/drawing/2014/main" id="{73DC4652-82D3-0B33-73AC-078287FE151C}"/>
                </a:ext>
              </a:extLst>
            </p:cNvPr>
            <p:cNvSpPr>
              <a:spLocks noChangeArrowheads="1"/>
            </p:cNvSpPr>
            <p:nvPr/>
          </p:nvSpPr>
          <p:spPr bwMode="auto">
            <a:xfrm>
              <a:off x="9601200" y="3505200"/>
              <a:ext cx="3175" cy="6350"/>
            </a:xfrm>
            <a:custGeom>
              <a:avLst/>
              <a:gdLst>
                <a:gd name="T0" fmla="*/ 10 w 11"/>
                <a:gd name="T1" fmla="*/ 18 h 19"/>
                <a:gd name="T2" fmla="*/ 0 w 11"/>
                <a:gd name="T3" fmla="*/ 0 h 19"/>
              </a:gdLst>
              <a:ahLst/>
              <a:cxnLst>
                <a:cxn ang="0">
                  <a:pos x="T0" y="T1"/>
                </a:cxn>
                <a:cxn ang="0">
                  <a:pos x="T2" y="T3"/>
                </a:cxn>
              </a:cxnLst>
              <a:rect l="0" t="0" r="r" b="b"/>
              <a:pathLst>
                <a:path w="11" h="19">
                  <a:moveTo>
                    <a:pt x="10" y="18"/>
                  </a:moveTo>
                  <a:cubicBezTo>
                    <a:pt x="7" y="12"/>
                    <a:pt x="3" y="6"/>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34" name="Freeform 163">
              <a:extLst>
                <a:ext uri="{FF2B5EF4-FFF2-40B4-BE49-F238E27FC236}">
                  <a16:creationId xmlns:a16="http://schemas.microsoft.com/office/drawing/2014/main" id="{2BF80FF3-1705-034C-01E0-F8D878ED6EAC}"/>
                </a:ext>
              </a:extLst>
            </p:cNvPr>
            <p:cNvSpPr>
              <a:spLocks noChangeArrowheads="1"/>
            </p:cNvSpPr>
            <p:nvPr/>
          </p:nvSpPr>
          <p:spPr bwMode="auto">
            <a:xfrm>
              <a:off x="9821863" y="3535363"/>
              <a:ext cx="6350" cy="6350"/>
            </a:xfrm>
            <a:custGeom>
              <a:avLst/>
              <a:gdLst>
                <a:gd name="T0" fmla="*/ 15 w 16"/>
                <a:gd name="T1" fmla="*/ 0 h 16"/>
                <a:gd name="T2" fmla="*/ 0 w 16"/>
                <a:gd name="T3" fmla="*/ 15 h 16"/>
              </a:gdLst>
              <a:ahLst/>
              <a:cxnLst>
                <a:cxn ang="0">
                  <a:pos x="T0" y="T1"/>
                </a:cxn>
                <a:cxn ang="0">
                  <a:pos x="T2" y="T3"/>
                </a:cxn>
              </a:cxnLst>
              <a:rect l="0" t="0" r="r" b="b"/>
              <a:pathLst>
                <a:path w="16" h="16">
                  <a:moveTo>
                    <a:pt x="15" y="0"/>
                  </a:moveTo>
                  <a:cubicBezTo>
                    <a:pt x="10" y="5"/>
                    <a:pt x="5" y="10"/>
                    <a:pt x="0" y="15"/>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35" name="Freeform 164">
              <a:extLst>
                <a:ext uri="{FF2B5EF4-FFF2-40B4-BE49-F238E27FC236}">
                  <a16:creationId xmlns:a16="http://schemas.microsoft.com/office/drawing/2014/main" id="{AF960E26-6ECA-F8BB-4B08-0238A0807CE5}"/>
                </a:ext>
              </a:extLst>
            </p:cNvPr>
            <p:cNvSpPr>
              <a:spLocks noChangeArrowheads="1"/>
            </p:cNvSpPr>
            <p:nvPr/>
          </p:nvSpPr>
          <p:spPr bwMode="auto">
            <a:xfrm>
              <a:off x="9821863" y="3335338"/>
              <a:ext cx="6350" cy="6350"/>
            </a:xfrm>
            <a:custGeom>
              <a:avLst/>
              <a:gdLst>
                <a:gd name="T0" fmla="*/ 15 w 16"/>
                <a:gd name="T1" fmla="*/ 15 h 16"/>
                <a:gd name="T2" fmla="*/ 0 w 16"/>
                <a:gd name="T3" fmla="*/ 0 h 16"/>
              </a:gdLst>
              <a:ahLst/>
              <a:cxnLst>
                <a:cxn ang="0">
                  <a:pos x="T0" y="T1"/>
                </a:cxn>
                <a:cxn ang="0">
                  <a:pos x="T2" y="T3"/>
                </a:cxn>
              </a:cxnLst>
              <a:rect l="0" t="0" r="r" b="b"/>
              <a:pathLst>
                <a:path w="16" h="16">
                  <a:moveTo>
                    <a:pt x="15" y="15"/>
                  </a:moveTo>
                  <a:cubicBezTo>
                    <a:pt x="10" y="10"/>
                    <a:pt x="5" y="5"/>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36" name="Freeform 165">
              <a:extLst>
                <a:ext uri="{FF2B5EF4-FFF2-40B4-BE49-F238E27FC236}">
                  <a16:creationId xmlns:a16="http://schemas.microsoft.com/office/drawing/2014/main" id="{9B2DD9D1-0979-573C-8848-0277E51AE398}"/>
                </a:ext>
              </a:extLst>
            </p:cNvPr>
            <p:cNvSpPr>
              <a:spLocks noChangeArrowheads="1"/>
            </p:cNvSpPr>
            <p:nvPr/>
          </p:nvSpPr>
          <p:spPr bwMode="auto">
            <a:xfrm>
              <a:off x="9601200" y="3363913"/>
              <a:ext cx="3175" cy="7937"/>
            </a:xfrm>
            <a:custGeom>
              <a:avLst/>
              <a:gdLst>
                <a:gd name="T0" fmla="*/ 10 w 11"/>
                <a:gd name="T1" fmla="*/ 0 h 20"/>
                <a:gd name="T2" fmla="*/ 0 w 11"/>
                <a:gd name="T3" fmla="*/ 19 h 20"/>
              </a:gdLst>
              <a:ahLst/>
              <a:cxnLst>
                <a:cxn ang="0">
                  <a:pos x="T0" y="T1"/>
                </a:cxn>
                <a:cxn ang="0">
                  <a:pos x="T2" y="T3"/>
                </a:cxn>
              </a:cxnLst>
              <a:rect l="0" t="0" r="r" b="b"/>
              <a:pathLst>
                <a:path w="11" h="20">
                  <a:moveTo>
                    <a:pt x="10" y="0"/>
                  </a:moveTo>
                  <a:cubicBezTo>
                    <a:pt x="7" y="6"/>
                    <a:pt x="3" y="12"/>
                    <a:pt x="0" y="19"/>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37" name="Freeform 166">
              <a:extLst>
                <a:ext uri="{FF2B5EF4-FFF2-40B4-BE49-F238E27FC236}">
                  <a16:creationId xmlns:a16="http://schemas.microsoft.com/office/drawing/2014/main" id="{F4FA9321-BCDB-29C8-201C-B868E01D3BC3}"/>
                </a:ext>
              </a:extLst>
            </p:cNvPr>
            <p:cNvSpPr>
              <a:spLocks noChangeArrowheads="1"/>
            </p:cNvSpPr>
            <p:nvPr/>
          </p:nvSpPr>
          <p:spPr bwMode="auto">
            <a:xfrm>
              <a:off x="9845675" y="3505200"/>
              <a:ext cx="3175" cy="6350"/>
            </a:xfrm>
            <a:custGeom>
              <a:avLst/>
              <a:gdLst>
                <a:gd name="T0" fmla="*/ 10 w 11"/>
                <a:gd name="T1" fmla="*/ 0 h 19"/>
                <a:gd name="T2" fmla="*/ 0 w 11"/>
                <a:gd name="T3" fmla="*/ 18 h 19"/>
              </a:gdLst>
              <a:ahLst/>
              <a:cxnLst>
                <a:cxn ang="0">
                  <a:pos x="T0" y="T1"/>
                </a:cxn>
                <a:cxn ang="0">
                  <a:pos x="T2" y="T3"/>
                </a:cxn>
              </a:cxnLst>
              <a:rect l="0" t="0" r="r" b="b"/>
              <a:pathLst>
                <a:path w="11" h="19">
                  <a:moveTo>
                    <a:pt x="10" y="0"/>
                  </a:moveTo>
                  <a:cubicBezTo>
                    <a:pt x="7" y="6"/>
                    <a:pt x="3" y="12"/>
                    <a:pt x="0" y="18"/>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38" name="Freeform 167">
              <a:extLst>
                <a:ext uri="{FF2B5EF4-FFF2-40B4-BE49-F238E27FC236}">
                  <a16:creationId xmlns:a16="http://schemas.microsoft.com/office/drawing/2014/main" id="{DD9ECCBE-B114-B82C-A7F1-DDD9128F9A5B}"/>
                </a:ext>
              </a:extLst>
            </p:cNvPr>
            <p:cNvSpPr>
              <a:spLocks noChangeArrowheads="1"/>
            </p:cNvSpPr>
            <p:nvPr/>
          </p:nvSpPr>
          <p:spPr bwMode="auto">
            <a:xfrm>
              <a:off x="9793288" y="3314700"/>
              <a:ext cx="6350" cy="4763"/>
            </a:xfrm>
            <a:custGeom>
              <a:avLst/>
              <a:gdLst>
                <a:gd name="T0" fmla="*/ 18 w 19"/>
                <a:gd name="T1" fmla="*/ 11 h 12"/>
                <a:gd name="T2" fmla="*/ 0 w 19"/>
                <a:gd name="T3" fmla="*/ 0 h 12"/>
              </a:gdLst>
              <a:ahLst/>
              <a:cxnLst>
                <a:cxn ang="0">
                  <a:pos x="T0" y="T1"/>
                </a:cxn>
                <a:cxn ang="0">
                  <a:pos x="T2" y="T3"/>
                </a:cxn>
              </a:cxnLst>
              <a:rect l="0" t="0" r="r" b="b"/>
              <a:pathLst>
                <a:path w="19" h="12">
                  <a:moveTo>
                    <a:pt x="18" y="11"/>
                  </a:moveTo>
                  <a:cubicBezTo>
                    <a:pt x="12" y="7"/>
                    <a:pt x="6" y="3"/>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39" name="Freeform 168">
              <a:extLst>
                <a:ext uri="{FF2B5EF4-FFF2-40B4-BE49-F238E27FC236}">
                  <a16:creationId xmlns:a16="http://schemas.microsoft.com/office/drawing/2014/main" id="{BCE4793A-A25D-0F9B-999B-DFBE1E0501AF}"/>
                </a:ext>
              </a:extLst>
            </p:cNvPr>
            <p:cNvSpPr>
              <a:spLocks noChangeArrowheads="1"/>
            </p:cNvSpPr>
            <p:nvPr/>
          </p:nvSpPr>
          <p:spPr bwMode="auto">
            <a:xfrm>
              <a:off x="9652000" y="3557588"/>
              <a:ext cx="6350" cy="4762"/>
            </a:xfrm>
            <a:custGeom>
              <a:avLst/>
              <a:gdLst>
                <a:gd name="T0" fmla="*/ 18 w 19"/>
                <a:gd name="T1" fmla="*/ 11 h 12"/>
                <a:gd name="T2" fmla="*/ 0 w 19"/>
                <a:gd name="T3" fmla="*/ 0 h 12"/>
              </a:gdLst>
              <a:ahLst/>
              <a:cxnLst>
                <a:cxn ang="0">
                  <a:pos x="T0" y="T1"/>
                </a:cxn>
                <a:cxn ang="0">
                  <a:pos x="T2" y="T3"/>
                </a:cxn>
              </a:cxnLst>
              <a:rect l="0" t="0" r="r" b="b"/>
              <a:pathLst>
                <a:path w="19" h="12">
                  <a:moveTo>
                    <a:pt x="18" y="11"/>
                  </a:moveTo>
                  <a:cubicBezTo>
                    <a:pt x="12" y="8"/>
                    <a:pt x="6" y="4"/>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40" name="Freeform 169">
              <a:extLst>
                <a:ext uri="{FF2B5EF4-FFF2-40B4-BE49-F238E27FC236}">
                  <a16:creationId xmlns:a16="http://schemas.microsoft.com/office/drawing/2014/main" id="{0B5D6165-B6D2-5905-13A6-1205A0E18D36}"/>
                </a:ext>
              </a:extLst>
            </p:cNvPr>
            <p:cNvSpPr>
              <a:spLocks noChangeArrowheads="1"/>
            </p:cNvSpPr>
            <p:nvPr/>
          </p:nvSpPr>
          <p:spPr bwMode="auto">
            <a:xfrm>
              <a:off x="9588500" y="3398838"/>
              <a:ext cx="1588" cy="7937"/>
            </a:xfrm>
            <a:custGeom>
              <a:avLst/>
              <a:gdLst>
                <a:gd name="T0" fmla="*/ 5 w 6"/>
                <a:gd name="T1" fmla="*/ 0 h 21"/>
                <a:gd name="T2" fmla="*/ 0 w 6"/>
                <a:gd name="T3" fmla="*/ 20 h 21"/>
              </a:gdLst>
              <a:ahLst/>
              <a:cxnLst>
                <a:cxn ang="0">
                  <a:pos x="T0" y="T1"/>
                </a:cxn>
                <a:cxn ang="0">
                  <a:pos x="T2" y="T3"/>
                </a:cxn>
              </a:cxnLst>
              <a:rect l="0" t="0" r="r" b="b"/>
              <a:pathLst>
                <a:path w="6" h="21">
                  <a:moveTo>
                    <a:pt x="5" y="0"/>
                  </a:moveTo>
                  <a:cubicBezTo>
                    <a:pt x="3" y="6"/>
                    <a:pt x="2" y="13"/>
                    <a:pt x="0" y="2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41" name="Freeform 170">
              <a:extLst>
                <a:ext uri="{FF2B5EF4-FFF2-40B4-BE49-F238E27FC236}">
                  <a16:creationId xmlns:a16="http://schemas.microsoft.com/office/drawing/2014/main" id="{CC73B7E0-FE8C-ED6C-E924-A1BA2D71B60F}"/>
                </a:ext>
              </a:extLst>
            </p:cNvPr>
            <p:cNvSpPr>
              <a:spLocks noChangeArrowheads="1"/>
            </p:cNvSpPr>
            <p:nvPr/>
          </p:nvSpPr>
          <p:spPr bwMode="auto">
            <a:xfrm>
              <a:off x="9861550" y="3470275"/>
              <a:ext cx="3175" cy="7938"/>
            </a:xfrm>
            <a:custGeom>
              <a:avLst/>
              <a:gdLst>
                <a:gd name="T0" fmla="*/ 6 w 7"/>
                <a:gd name="T1" fmla="*/ 0 h 22"/>
                <a:gd name="T2" fmla="*/ 0 w 7"/>
                <a:gd name="T3" fmla="*/ 21 h 22"/>
              </a:gdLst>
              <a:ahLst/>
              <a:cxnLst>
                <a:cxn ang="0">
                  <a:pos x="T0" y="T1"/>
                </a:cxn>
                <a:cxn ang="0">
                  <a:pos x="T2" y="T3"/>
                </a:cxn>
              </a:cxnLst>
              <a:rect l="0" t="0" r="r" b="b"/>
              <a:pathLst>
                <a:path w="7" h="22">
                  <a:moveTo>
                    <a:pt x="6" y="0"/>
                  </a:moveTo>
                  <a:cubicBezTo>
                    <a:pt x="4" y="7"/>
                    <a:pt x="2" y="14"/>
                    <a:pt x="0" y="21"/>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42" name="Freeform 171">
              <a:extLst>
                <a:ext uri="{FF2B5EF4-FFF2-40B4-BE49-F238E27FC236}">
                  <a16:creationId xmlns:a16="http://schemas.microsoft.com/office/drawing/2014/main" id="{3353DCB7-8175-D02A-61BB-BE69637A8ECA}"/>
                </a:ext>
              </a:extLst>
            </p:cNvPr>
            <p:cNvSpPr>
              <a:spLocks noChangeArrowheads="1"/>
            </p:cNvSpPr>
            <p:nvPr/>
          </p:nvSpPr>
          <p:spPr bwMode="auto">
            <a:xfrm>
              <a:off x="9758363" y="3300413"/>
              <a:ext cx="7937" cy="3175"/>
            </a:xfrm>
            <a:custGeom>
              <a:avLst/>
              <a:gdLst>
                <a:gd name="T0" fmla="*/ 20 w 21"/>
                <a:gd name="T1" fmla="*/ 6 h 7"/>
                <a:gd name="T2" fmla="*/ 0 w 21"/>
                <a:gd name="T3" fmla="*/ 0 h 7"/>
              </a:gdLst>
              <a:ahLst/>
              <a:cxnLst>
                <a:cxn ang="0">
                  <a:pos x="T0" y="T1"/>
                </a:cxn>
                <a:cxn ang="0">
                  <a:pos x="T2" y="T3"/>
                </a:cxn>
              </a:cxnLst>
              <a:rect l="0" t="0" r="r" b="b"/>
              <a:pathLst>
                <a:path w="21" h="7">
                  <a:moveTo>
                    <a:pt x="20" y="6"/>
                  </a:moveTo>
                  <a:cubicBezTo>
                    <a:pt x="13" y="4"/>
                    <a:pt x="7" y="2"/>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43" name="Freeform 172">
              <a:extLst>
                <a:ext uri="{FF2B5EF4-FFF2-40B4-BE49-F238E27FC236}">
                  <a16:creationId xmlns:a16="http://schemas.microsoft.com/office/drawing/2014/main" id="{90D0702F-E9A9-C13B-2B75-7A7BB66DC86A}"/>
                </a:ext>
              </a:extLst>
            </p:cNvPr>
            <p:cNvSpPr>
              <a:spLocks noChangeArrowheads="1"/>
            </p:cNvSpPr>
            <p:nvPr/>
          </p:nvSpPr>
          <p:spPr bwMode="auto">
            <a:xfrm>
              <a:off x="9685338" y="3573463"/>
              <a:ext cx="7937" cy="1587"/>
            </a:xfrm>
            <a:custGeom>
              <a:avLst/>
              <a:gdLst>
                <a:gd name="T0" fmla="*/ 21 w 22"/>
                <a:gd name="T1" fmla="*/ 5 h 6"/>
                <a:gd name="T2" fmla="*/ 0 w 22"/>
                <a:gd name="T3" fmla="*/ 0 h 6"/>
              </a:gdLst>
              <a:ahLst/>
              <a:cxnLst>
                <a:cxn ang="0">
                  <a:pos x="T0" y="T1"/>
                </a:cxn>
                <a:cxn ang="0">
                  <a:pos x="T2" y="T3"/>
                </a:cxn>
              </a:cxnLst>
              <a:rect l="0" t="0" r="r" b="b"/>
              <a:pathLst>
                <a:path w="22" h="6">
                  <a:moveTo>
                    <a:pt x="21" y="5"/>
                  </a:moveTo>
                  <a:cubicBezTo>
                    <a:pt x="14" y="4"/>
                    <a:pt x="7" y="2"/>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44" name="Freeform 173">
              <a:extLst>
                <a:ext uri="{FF2B5EF4-FFF2-40B4-BE49-F238E27FC236}">
                  <a16:creationId xmlns:a16="http://schemas.microsoft.com/office/drawing/2014/main" id="{3E7AAE92-040F-3564-5D11-7C1CC557F5F5}"/>
                </a:ext>
              </a:extLst>
            </p:cNvPr>
            <p:cNvSpPr>
              <a:spLocks noChangeArrowheads="1"/>
            </p:cNvSpPr>
            <p:nvPr/>
          </p:nvSpPr>
          <p:spPr bwMode="auto">
            <a:xfrm>
              <a:off x="9525000" y="3438525"/>
              <a:ext cx="239713" cy="1588"/>
            </a:xfrm>
            <a:custGeom>
              <a:avLst/>
              <a:gdLst>
                <a:gd name="T0" fmla="*/ 664 w 665"/>
                <a:gd name="T1" fmla="*/ 0 h 1"/>
                <a:gd name="T2" fmla="*/ 0 w 665"/>
                <a:gd name="T3" fmla="*/ 0 h 1"/>
              </a:gdLst>
              <a:ahLst/>
              <a:cxnLst>
                <a:cxn ang="0">
                  <a:pos x="T0" y="T1"/>
                </a:cxn>
                <a:cxn ang="0">
                  <a:pos x="T2" y="T3"/>
                </a:cxn>
              </a:cxnLst>
              <a:rect l="0" t="0" r="r" b="b"/>
              <a:pathLst>
                <a:path w="665" h="1">
                  <a:moveTo>
                    <a:pt x="664" y="0"/>
                  </a:moveTo>
                  <a:cubicBezTo>
                    <a:pt x="443" y="0"/>
                    <a:pt x="221" y="0"/>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45" name="Freeform 174">
              <a:extLst>
                <a:ext uri="{FF2B5EF4-FFF2-40B4-BE49-F238E27FC236}">
                  <a16:creationId xmlns:a16="http://schemas.microsoft.com/office/drawing/2014/main" id="{1ECCB244-713B-A8CC-DAE0-52699E53EFCB}"/>
                </a:ext>
              </a:extLst>
            </p:cNvPr>
            <p:cNvSpPr>
              <a:spLocks noChangeArrowheads="1"/>
            </p:cNvSpPr>
            <p:nvPr/>
          </p:nvSpPr>
          <p:spPr bwMode="auto">
            <a:xfrm>
              <a:off x="9725025" y="3397250"/>
              <a:ext cx="39688" cy="80963"/>
            </a:xfrm>
            <a:custGeom>
              <a:avLst/>
              <a:gdLst>
                <a:gd name="T0" fmla="*/ 0 w 112"/>
                <a:gd name="T1" fmla="*/ 225 h 226"/>
                <a:gd name="T2" fmla="*/ 108 w 112"/>
                <a:gd name="T3" fmla="*/ 118 h 226"/>
                <a:gd name="T4" fmla="*/ 108 w 112"/>
                <a:gd name="T5" fmla="*/ 108 h 226"/>
                <a:gd name="T6" fmla="*/ 0 w 112"/>
                <a:gd name="T7" fmla="*/ 0 h 226"/>
              </a:gdLst>
              <a:ahLst/>
              <a:cxnLst>
                <a:cxn ang="0">
                  <a:pos x="T0" y="T1"/>
                </a:cxn>
                <a:cxn ang="0">
                  <a:pos x="T2" y="T3"/>
                </a:cxn>
                <a:cxn ang="0">
                  <a:pos x="T4" y="T5"/>
                </a:cxn>
                <a:cxn ang="0">
                  <a:pos x="T6" y="T7"/>
                </a:cxn>
              </a:cxnLst>
              <a:rect l="0" t="0" r="r" b="b"/>
              <a:pathLst>
                <a:path w="112" h="226">
                  <a:moveTo>
                    <a:pt x="0" y="225"/>
                  </a:moveTo>
                  <a:cubicBezTo>
                    <a:pt x="36" y="189"/>
                    <a:pt x="72" y="154"/>
                    <a:pt x="108" y="118"/>
                  </a:cubicBezTo>
                  <a:cubicBezTo>
                    <a:pt x="111" y="116"/>
                    <a:pt x="111" y="111"/>
                    <a:pt x="108" y="108"/>
                  </a:cubicBezTo>
                  <a:cubicBezTo>
                    <a:pt x="72" y="72"/>
                    <a:pt x="36" y="36"/>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446" name="Freeform 175">
              <a:extLst>
                <a:ext uri="{FF2B5EF4-FFF2-40B4-BE49-F238E27FC236}">
                  <a16:creationId xmlns:a16="http://schemas.microsoft.com/office/drawing/2014/main" id="{23D08053-9196-3B5B-DFC2-E0324D26BC3D}"/>
                </a:ext>
              </a:extLst>
            </p:cNvPr>
            <p:cNvSpPr>
              <a:spLocks noChangeArrowheads="1"/>
            </p:cNvSpPr>
            <p:nvPr/>
          </p:nvSpPr>
          <p:spPr bwMode="auto">
            <a:xfrm>
              <a:off x="9382125" y="3295650"/>
              <a:ext cx="284163" cy="284163"/>
            </a:xfrm>
            <a:custGeom>
              <a:avLst/>
              <a:gdLst>
                <a:gd name="T0" fmla="*/ 395 w 791"/>
                <a:gd name="T1" fmla="*/ 789 h 790"/>
                <a:gd name="T2" fmla="*/ 0 w 791"/>
                <a:gd name="T3" fmla="*/ 395 h 790"/>
                <a:gd name="T4" fmla="*/ 395 w 791"/>
                <a:gd name="T5" fmla="*/ 0 h 790"/>
                <a:gd name="T6" fmla="*/ 790 w 791"/>
                <a:gd name="T7" fmla="*/ 395 h 790"/>
                <a:gd name="T8" fmla="*/ 395 w 791"/>
                <a:gd name="T9" fmla="*/ 789 h 790"/>
              </a:gdLst>
              <a:ahLst/>
              <a:cxnLst>
                <a:cxn ang="0">
                  <a:pos x="T0" y="T1"/>
                </a:cxn>
                <a:cxn ang="0">
                  <a:pos x="T2" y="T3"/>
                </a:cxn>
                <a:cxn ang="0">
                  <a:pos x="T4" y="T5"/>
                </a:cxn>
                <a:cxn ang="0">
                  <a:pos x="T6" y="T7"/>
                </a:cxn>
                <a:cxn ang="0">
                  <a:pos x="T8" y="T9"/>
                </a:cxn>
              </a:cxnLst>
              <a:rect l="0" t="0" r="r" b="b"/>
              <a:pathLst>
                <a:path w="791" h="790">
                  <a:moveTo>
                    <a:pt x="395" y="789"/>
                  </a:moveTo>
                  <a:cubicBezTo>
                    <a:pt x="177" y="789"/>
                    <a:pt x="0" y="612"/>
                    <a:pt x="0" y="395"/>
                  </a:cubicBezTo>
                  <a:cubicBezTo>
                    <a:pt x="0" y="178"/>
                    <a:pt x="178" y="0"/>
                    <a:pt x="395" y="0"/>
                  </a:cubicBezTo>
                  <a:cubicBezTo>
                    <a:pt x="613" y="0"/>
                    <a:pt x="790" y="178"/>
                    <a:pt x="790" y="395"/>
                  </a:cubicBezTo>
                  <a:cubicBezTo>
                    <a:pt x="790" y="612"/>
                    <a:pt x="612" y="789"/>
                    <a:pt x="395" y="789"/>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grpSp>
      <p:sp>
        <p:nvSpPr>
          <p:cNvPr id="447" name="Rectangle 446">
            <a:extLst>
              <a:ext uri="{FF2B5EF4-FFF2-40B4-BE49-F238E27FC236}">
                <a16:creationId xmlns:a16="http://schemas.microsoft.com/office/drawing/2014/main" id="{DAE793C4-E1DE-757B-403A-74F944091F2F}"/>
              </a:ext>
            </a:extLst>
          </p:cNvPr>
          <p:cNvSpPr/>
          <p:nvPr/>
        </p:nvSpPr>
        <p:spPr>
          <a:xfrm>
            <a:off x="8059814" y="4634985"/>
            <a:ext cx="972811" cy="244682"/>
          </a:xfrm>
          <a:prstGeom prst="rect">
            <a:avLst/>
          </a:prstGeom>
        </p:spPr>
        <p:txBody>
          <a:bodyPr wrap="square">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Move</a:t>
            </a:r>
          </a:p>
        </p:txBody>
      </p:sp>
      <p:grpSp>
        <p:nvGrpSpPr>
          <p:cNvPr id="643" name="Group 642">
            <a:extLst>
              <a:ext uri="{FF2B5EF4-FFF2-40B4-BE49-F238E27FC236}">
                <a16:creationId xmlns:a16="http://schemas.microsoft.com/office/drawing/2014/main" id="{FB3B2901-55DC-37A0-A359-D6A2296E9C92}"/>
              </a:ext>
            </a:extLst>
          </p:cNvPr>
          <p:cNvGrpSpPr/>
          <p:nvPr/>
        </p:nvGrpSpPr>
        <p:grpSpPr>
          <a:xfrm>
            <a:off x="6813209" y="4157463"/>
            <a:ext cx="370341" cy="361400"/>
            <a:chOff x="646370" y="2697029"/>
            <a:chExt cx="370341" cy="361400"/>
          </a:xfrm>
        </p:grpSpPr>
        <p:grpSp>
          <p:nvGrpSpPr>
            <p:cNvPr id="644" name="Group 643">
              <a:extLst>
                <a:ext uri="{FF2B5EF4-FFF2-40B4-BE49-F238E27FC236}">
                  <a16:creationId xmlns:a16="http://schemas.microsoft.com/office/drawing/2014/main" id="{C756ADFC-749E-A631-12BB-032E6F1266FD}"/>
                </a:ext>
              </a:extLst>
            </p:cNvPr>
            <p:cNvGrpSpPr/>
            <p:nvPr/>
          </p:nvGrpSpPr>
          <p:grpSpPr>
            <a:xfrm>
              <a:off x="646370" y="2816418"/>
              <a:ext cx="242010" cy="242011"/>
              <a:chOff x="2867701" y="2297516"/>
              <a:chExt cx="508174" cy="508175"/>
            </a:xfrm>
          </p:grpSpPr>
          <p:sp>
            <p:nvSpPr>
              <p:cNvPr id="651" name="Freeform 194">
                <a:extLst>
                  <a:ext uri="{FF2B5EF4-FFF2-40B4-BE49-F238E27FC236}">
                    <a16:creationId xmlns:a16="http://schemas.microsoft.com/office/drawing/2014/main" id="{C7322C0A-0637-DB3F-104F-D4A40B9FB321}"/>
                  </a:ext>
                </a:extLst>
              </p:cNvPr>
              <p:cNvSpPr>
                <a:spLocks noChangeArrowheads="1"/>
              </p:cNvSpPr>
              <p:nvPr/>
            </p:nvSpPr>
            <p:spPr bwMode="auto">
              <a:xfrm>
                <a:off x="3058266" y="2488082"/>
                <a:ext cx="127044" cy="127044"/>
              </a:xfrm>
              <a:custGeom>
                <a:avLst/>
                <a:gdLst>
                  <a:gd name="T0" fmla="*/ 282 w 283"/>
                  <a:gd name="T1" fmla="*/ 141 h 283"/>
                  <a:gd name="T2" fmla="*/ 141 w 283"/>
                  <a:gd name="T3" fmla="*/ 0 h 283"/>
                  <a:gd name="T4" fmla="*/ 0 w 283"/>
                  <a:gd name="T5" fmla="*/ 141 h 283"/>
                  <a:gd name="T6" fmla="*/ 141 w 283"/>
                  <a:gd name="T7" fmla="*/ 282 h 283"/>
                  <a:gd name="T8" fmla="*/ 282 w 283"/>
                  <a:gd name="T9" fmla="*/ 141 h 283"/>
                </a:gdLst>
                <a:ahLst/>
                <a:cxnLst>
                  <a:cxn ang="0">
                    <a:pos x="T0" y="T1"/>
                  </a:cxn>
                  <a:cxn ang="0">
                    <a:pos x="T2" y="T3"/>
                  </a:cxn>
                  <a:cxn ang="0">
                    <a:pos x="T4" y="T5"/>
                  </a:cxn>
                  <a:cxn ang="0">
                    <a:pos x="T6" y="T7"/>
                  </a:cxn>
                  <a:cxn ang="0">
                    <a:pos x="T8" y="T9"/>
                  </a:cxn>
                </a:cxnLst>
                <a:rect l="0" t="0" r="r" b="b"/>
                <a:pathLst>
                  <a:path w="283" h="283">
                    <a:moveTo>
                      <a:pt x="282" y="141"/>
                    </a:moveTo>
                    <a:cubicBezTo>
                      <a:pt x="282" y="63"/>
                      <a:pt x="218" y="0"/>
                      <a:pt x="141" y="0"/>
                    </a:cubicBezTo>
                    <a:cubicBezTo>
                      <a:pt x="63" y="0"/>
                      <a:pt x="0" y="63"/>
                      <a:pt x="0" y="141"/>
                    </a:cubicBezTo>
                    <a:cubicBezTo>
                      <a:pt x="0" y="219"/>
                      <a:pt x="63" y="282"/>
                      <a:pt x="141" y="282"/>
                    </a:cubicBezTo>
                    <a:cubicBezTo>
                      <a:pt x="218" y="282"/>
                      <a:pt x="282" y="219"/>
                      <a:pt x="282" y="141"/>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652" name="Freeform 195">
                <a:extLst>
                  <a:ext uri="{FF2B5EF4-FFF2-40B4-BE49-F238E27FC236}">
                    <a16:creationId xmlns:a16="http://schemas.microsoft.com/office/drawing/2014/main" id="{17AD99F9-0AB7-F3C8-7C58-B41B73CEB2FA}"/>
                  </a:ext>
                </a:extLst>
              </p:cNvPr>
              <p:cNvSpPr>
                <a:spLocks noChangeArrowheads="1"/>
              </p:cNvSpPr>
              <p:nvPr/>
            </p:nvSpPr>
            <p:spPr bwMode="auto">
              <a:xfrm>
                <a:off x="2867701" y="2297516"/>
                <a:ext cx="508174" cy="508175"/>
              </a:xfrm>
              <a:custGeom>
                <a:avLst/>
                <a:gdLst>
                  <a:gd name="T0" fmla="*/ 368 w 1130"/>
                  <a:gd name="T1" fmla="*/ 98 h 1129"/>
                  <a:gd name="T2" fmla="*/ 259 w 1130"/>
                  <a:gd name="T3" fmla="*/ 161 h 1129"/>
                  <a:gd name="T4" fmla="*/ 254 w 1130"/>
                  <a:gd name="T5" fmla="*/ 253 h 1129"/>
                  <a:gd name="T6" fmla="*/ 162 w 1130"/>
                  <a:gd name="T7" fmla="*/ 259 h 1129"/>
                  <a:gd name="T8" fmla="*/ 99 w 1130"/>
                  <a:gd name="T9" fmla="*/ 367 h 1129"/>
                  <a:gd name="T10" fmla="*/ 141 w 1130"/>
                  <a:gd name="T11" fmla="*/ 450 h 1129"/>
                  <a:gd name="T12" fmla="*/ 63 w 1130"/>
                  <a:gd name="T13" fmla="*/ 501 h 1129"/>
                  <a:gd name="T14" fmla="*/ 63 w 1130"/>
                  <a:gd name="T15" fmla="*/ 627 h 1129"/>
                  <a:gd name="T16" fmla="*/ 141 w 1130"/>
                  <a:gd name="T17" fmla="*/ 678 h 1129"/>
                  <a:gd name="T18" fmla="*/ 99 w 1130"/>
                  <a:gd name="T19" fmla="*/ 760 h 1129"/>
                  <a:gd name="T20" fmla="*/ 162 w 1130"/>
                  <a:gd name="T21" fmla="*/ 869 h 1129"/>
                  <a:gd name="T22" fmla="*/ 254 w 1130"/>
                  <a:gd name="T23" fmla="*/ 874 h 1129"/>
                  <a:gd name="T24" fmla="*/ 259 w 1130"/>
                  <a:gd name="T25" fmla="*/ 967 h 1129"/>
                  <a:gd name="T26" fmla="*/ 368 w 1130"/>
                  <a:gd name="T27" fmla="*/ 1030 h 1129"/>
                  <a:gd name="T28" fmla="*/ 451 w 1130"/>
                  <a:gd name="T29" fmla="*/ 988 h 1129"/>
                  <a:gd name="T30" fmla="*/ 502 w 1130"/>
                  <a:gd name="T31" fmla="*/ 1066 h 1129"/>
                  <a:gd name="T32" fmla="*/ 627 w 1130"/>
                  <a:gd name="T33" fmla="*/ 1066 h 1129"/>
                  <a:gd name="T34" fmla="*/ 678 w 1130"/>
                  <a:gd name="T35" fmla="*/ 988 h 1129"/>
                  <a:gd name="T36" fmla="*/ 761 w 1130"/>
                  <a:gd name="T37" fmla="*/ 1030 h 1129"/>
                  <a:gd name="T38" fmla="*/ 870 w 1130"/>
                  <a:gd name="T39" fmla="*/ 967 h 1129"/>
                  <a:gd name="T40" fmla="*/ 875 w 1130"/>
                  <a:gd name="T41" fmla="*/ 874 h 1129"/>
                  <a:gd name="T42" fmla="*/ 968 w 1130"/>
                  <a:gd name="T43" fmla="*/ 869 h 1129"/>
                  <a:gd name="T44" fmla="*/ 1030 w 1130"/>
                  <a:gd name="T45" fmla="*/ 760 h 1129"/>
                  <a:gd name="T46" fmla="*/ 989 w 1130"/>
                  <a:gd name="T47" fmla="*/ 678 h 1129"/>
                  <a:gd name="T48" fmla="*/ 1066 w 1130"/>
                  <a:gd name="T49" fmla="*/ 627 h 1129"/>
                  <a:gd name="T50" fmla="*/ 1066 w 1130"/>
                  <a:gd name="T51" fmla="*/ 501 h 1129"/>
                  <a:gd name="T52" fmla="*/ 989 w 1130"/>
                  <a:gd name="T53" fmla="*/ 450 h 1129"/>
                  <a:gd name="T54" fmla="*/ 1030 w 1130"/>
                  <a:gd name="T55" fmla="*/ 367 h 1129"/>
                  <a:gd name="T56" fmla="*/ 968 w 1130"/>
                  <a:gd name="T57" fmla="*/ 259 h 1129"/>
                  <a:gd name="T58" fmla="*/ 875 w 1130"/>
                  <a:gd name="T59" fmla="*/ 253 h 1129"/>
                  <a:gd name="T60" fmla="*/ 870 w 1130"/>
                  <a:gd name="T61" fmla="*/ 161 h 1129"/>
                  <a:gd name="T62" fmla="*/ 761 w 1130"/>
                  <a:gd name="T63" fmla="*/ 98 h 1129"/>
                  <a:gd name="T64" fmla="*/ 678 w 1130"/>
                  <a:gd name="T65" fmla="*/ 140 h 1129"/>
                  <a:gd name="T66" fmla="*/ 627 w 1130"/>
                  <a:gd name="T67" fmla="*/ 62 h 1129"/>
                  <a:gd name="T68" fmla="*/ 502 w 1130"/>
                  <a:gd name="T69" fmla="*/ 62 h 1129"/>
                  <a:gd name="T70" fmla="*/ 451 w 1130"/>
                  <a:gd name="T71" fmla="*/ 140 h 1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30" h="1129">
                    <a:moveTo>
                      <a:pt x="374" y="108"/>
                    </a:moveTo>
                    <a:cubicBezTo>
                      <a:pt x="372" y="104"/>
                      <a:pt x="370" y="102"/>
                      <a:pt x="368" y="98"/>
                    </a:cubicBezTo>
                    <a:cubicBezTo>
                      <a:pt x="351" y="68"/>
                      <a:pt x="312" y="58"/>
                      <a:pt x="282" y="75"/>
                    </a:cubicBezTo>
                    <a:cubicBezTo>
                      <a:pt x="252" y="92"/>
                      <a:pt x="242" y="131"/>
                      <a:pt x="259" y="161"/>
                    </a:cubicBezTo>
                    <a:cubicBezTo>
                      <a:pt x="261" y="164"/>
                      <a:pt x="263" y="167"/>
                      <a:pt x="265" y="171"/>
                    </a:cubicBezTo>
                    <a:cubicBezTo>
                      <a:pt x="280" y="197"/>
                      <a:pt x="277" y="231"/>
                      <a:pt x="254" y="253"/>
                    </a:cubicBezTo>
                    <a:cubicBezTo>
                      <a:pt x="232" y="276"/>
                      <a:pt x="198" y="280"/>
                      <a:pt x="171" y="264"/>
                    </a:cubicBezTo>
                    <a:cubicBezTo>
                      <a:pt x="168" y="262"/>
                      <a:pt x="165" y="261"/>
                      <a:pt x="162" y="259"/>
                    </a:cubicBezTo>
                    <a:cubicBezTo>
                      <a:pt x="132" y="241"/>
                      <a:pt x="93" y="252"/>
                      <a:pt x="76" y="282"/>
                    </a:cubicBezTo>
                    <a:cubicBezTo>
                      <a:pt x="59" y="312"/>
                      <a:pt x="69" y="350"/>
                      <a:pt x="99" y="367"/>
                    </a:cubicBezTo>
                    <a:cubicBezTo>
                      <a:pt x="102" y="369"/>
                      <a:pt x="105" y="371"/>
                      <a:pt x="109" y="373"/>
                    </a:cubicBezTo>
                    <a:cubicBezTo>
                      <a:pt x="135" y="388"/>
                      <a:pt x="149" y="420"/>
                      <a:pt x="141" y="450"/>
                    </a:cubicBezTo>
                    <a:cubicBezTo>
                      <a:pt x="132" y="481"/>
                      <a:pt x="105" y="501"/>
                      <a:pt x="74" y="501"/>
                    </a:cubicBezTo>
                    <a:cubicBezTo>
                      <a:pt x="70" y="501"/>
                      <a:pt x="67" y="501"/>
                      <a:pt x="63" y="501"/>
                    </a:cubicBezTo>
                    <a:cubicBezTo>
                      <a:pt x="28" y="501"/>
                      <a:pt x="0" y="529"/>
                      <a:pt x="0" y="564"/>
                    </a:cubicBezTo>
                    <a:cubicBezTo>
                      <a:pt x="0" y="598"/>
                      <a:pt x="28" y="627"/>
                      <a:pt x="63" y="627"/>
                    </a:cubicBezTo>
                    <a:cubicBezTo>
                      <a:pt x="67" y="627"/>
                      <a:pt x="70" y="627"/>
                      <a:pt x="74" y="627"/>
                    </a:cubicBezTo>
                    <a:cubicBezTo>
                      <a:pt x="105" y="627"/>
                      <a:pt x="132" y="647"/>
                      <a:pt x="141" y="678"/>
                    </a:cubicBezTo>
                    <a:cubicBezTo>
                      <a:pt x="149" y="708"/>
                      <a:pt x="135" y="740"/>
                      <a:pt x="109" y="755"/>
                    </a:cubicBezTo>
                    <a:cubicBezTo>
                      <a:pt x="105" y="757"/>
                      <a:pt x="102" y="758"/>
                      <a:pt x="99" y="760"/>
                    </a:cubicBezTo>
                    <a:cubicBezTo>
                      <a:pt x="69" y="778"/>
                      <a:pt x="59" y="816"/>
                      <a:pt x="76" y="846"/>
                    </a:cubicBezTo>
                    <a:cubicBezTo>
                      <a:pt x="93" y="876"/>
                      <a:pt x="132" y="886"/>
                      <a:pt x="162" y="869"/>
                    </a:cubicBezTo>
                    <a:cubicBezTo>
                      <a:pt x="165" y="867"/>
                      <a:pt x="168" y="865"/>
                      <a:pt x="171" y="863"/>
                    </a:cubicBezTo>
                    <a:cubicBezTo>
                      <a:pt x="198" y="848"/>
                      <a:pt x="232" y="852"/>
                      <a:pt x="254" y="874"/>
                    </a:cubicBezTo>
                    <a:cubicBezTo>
                      <a:pt x="277" y="897"/>
                      <a:pt x="280" y="931"/>
                      <a:pt x="265" y="957"/>
                    </a:cubicBezTo>
                    <a:cubicBezTo>
                      <a:pt x="263" y="961"/>
                      <a:pt x="261" y="964"/>
                      <a:pt x="259" y="967"/>
                    </a:cubicBezTo>
                    <a:cubicBezTo>
                      <a:pt x="242" y="997"/>
                      <a:pt x="252" y="1035"/>
                      <a:pt x="282" y="1053"/>
                    </a:cubicBezTo>
                    <a:cubicBezTo>
                      <a:pt x="312" y="1070"/>
                      <a:pt x="351" y="1060"/>
                      <a:pt x="368" y="1030"/>
                    </a:cubicBezTo>
                    <a:cubicBezTo>
                      <a:pt x="370" y="1026"/>
                      <a:pt x="372" y="1023"/>
                      <a:pt x="374" y="1020"/>
                    </a:cubicBezTo>
                    <a:cubicBezTo>
                      <a:pt x="389" y="994"/>
                      <a:pt x="420" y="980"/>
                      <a:pt x="451" y="988"/>
                    </a:cubicBezTo>
                    <a:cubicBezTo>
                      <a:pt x="482" y="996"/>
                      <a:pt x="502" y="1024"/>
                      <a:pt x="502" y="1054"/>
                    </a:cubicBezTo>
                    <a:cubicBezTo>
                      <a:pt x="502" y="1058"/>
                      <a:pt x="502" y="1062"/>
                      <a:pt x="502" y="1066"/>
                    </a:cubicBezTo>
                    <a:cubicBezTo>
                      <a:pt x="502" y="1100"/>
                      <a:pt x="530" y="1128"/>
                      <a:pt x="565" y="1128"/>
                    </a:cubicBezTo>
                    <a:cubicBezTo>
                      <a:pt x="599" y="1128"/>
                      <a:pt x="627" y="1100"/>
                      <a:pt x="627" y="1066"/>
                    </a:cubicBezTo>
                    <a:cubicBezTo>
                      <a:pt x="627" y="1062"/>
                      <a:pt x="627" y="1058"/>
                      <a:pt x="627" y="1054"/>
                    </a:cubicBezTo>
                    <a:cubicBezTo>
                      <a:pt x="627" y="1024"/>
                      <a:pt x="648" y="996"/>
                      <a:pt x="678" y="988"/>
                    </a:cubicBezTo>
                    <a:cubicBezTo>
                      <a:pt x="709" y="980"/>
                      <a:pt x="740" y="994"/>
                      <a:pt x="756" y="1020"/>
                    </a:cubicBezTo>
                    <a:cubicBezTo>
                      <a:pt x="757" y="1023"/>
                      <a:pt x="759" y="1026"/>
                      <a:pt x="761" y="1030"/>
                    </a:cubicBezTo>
                    <a:cubicBezTo>
                      <a:pt x="778" y="1060"/>
                      <a:pt x="817" y="1070"/>
                      <a:pt x="847" y="1053"/>
                    </a:cubicBezTo>
                    <a:cubicBezTo>
                      <a:pt x="877" y="1035"/>
                      <a:pt x="887" y="997"/>
                      <a:pt x="870" y="967"/>
                    </a:cubicBezTo>
                    <a:cubicBezTo>
                      <a:pt x="868" y="964"/>
                      <a:pt x="866" y="961"/>
                      <a:pt x="864" y="957"/>
                    </a:cubicBezTo>
                    <a:cubicBezTo>
                      <a:pt x="849" y="931"/>
                      <a:pt x="853" y="897"/>
                      <a:pt x="875" y="874"/>
                    </a:cubicBezTo>
                    <a:cubicBezTo>
                      <a:pt x="898" y="852"/>
                      <a:pt x="932" y="848"/>
                      <a:pt x="958" y="863"/>
                    </a:cubicBezTo>
                    <a:cubicBezTo>
                      <a:pt x="961" y="865"/>
                      <a:pt x="964" y="867"/>
                      <a:pt x="968" y="869"/>
                    </a:cubicBezTo>
                    <a:cubicBezTo>
                      <a:pt x="998" y="886"/>
                      <a:pt x="1036" y="876"/>
                      <a:pt x="1053" y="846"/>
                    </a:cubicBezTo>
                    <a:cubicBezTo>
                      <a:pt x="1071" y="816"/>
                      <a:pt x="1060" y="778"/>
                      <a:pt x="1030" y="760"/>
                    </a:cubicBezTo>
                    <a:cubicBezTo>
                      <a:pt x="1027" y="758"/>
                      <a:pt x="1024" y="757"/>
                      <a:pt x="1021" y="755"/>
                    </a:cubicBezTo>
                    <a:cubicBezTo>
                      <a:pt x="994" y="740"/>
                      <a:pt x="980" y="708"/>
                      <a:pt x="989" y="678"/>
                    </a:cubicBezTo>
                    <a:cubicBezTo>
                      <a:pt x="997" y="647"/>
                      <a:pt x="1025" y="627"/>
                      <a:pt x="1055" y="627"/>
                    </a:cubicBezTo>
                    <a:cubicBezTo>
                      <a:pt x="1059" y="627"/>
                      <a:pt x="1062" y="627"/>
                      <a:pt x="1066" y="627"/>
                    </a:cubicBezTo>
                    <a:cubicBezTo>
                      <a:pt x="1101" y="627"/>
                      <a:pt x="1129" y="598"/>
                      <a:pt x="1129" y="564"/>
                    </a:cubicBezTo>
                    <a:cubicBezTo>
                      <a:pt x="1129" y="529"/>
                      <a:pt x="1101" y="501"/>
                      <a:pt x="1066" y="501"/>
                    </a:cubicBezTo>
                    <a:cubicBezTo>
                      <a:pt x="1062" y="501"/>
                      <a:pt x="1059" y="501"/>
                      <a:pt x="1055" y="501"/>
                    </a:cubicBezTo>
                    <a:cubicBezTo>
                      <a:pt x="1025" y="501"/>
                      <a:pt x="997" y="481"/>
                      <a:pt x="989" y="450"/>
                    </a:cubicBezTo>
                    <a:cubicBezTo>
                      <a:pt x="980" y="420"/>
                      <a:pt x="994" y="388"/>
                      <a:pt x="1021" y="373"/>
                    </a:cubicBezTo>
                    <a:cubicBezTo>
                      <a:pt x="1024" y="371"/>
                      <a:pt x="1027" y="369"/>
                      <a:pt x="1030" y="367"/>
                    </a:cubicBezTo>
                    <a:cubicBezTo>
                      <a:pt x="1060" y="350"/>
                      <a:pt x="1070" y="312"/>
                      <a:pt x="1053" y="282"/>
                    </a:cubicBezTo>
                    <a:cubicBezTo>
                      <a:pt x="1035" y="252"/>
                      <a:pt x="998" y="241"/>
                      <a:pt x="968" y="259"/>
                    </a:cubicBezTo>
                    <a:cubicBezTo>
                      <a:pt x="964" y="261"/>
                      <a:pt x="961" y="262"/>
                      <a:pt x="958" y="264"/>
                    </a:cubicBezTo>
                    <a:cubicBezTo>
                      <a:pt x="932" y="280"/>
                      <a:pt x="898" y="276"/>
                      <a:pt x="875" y="253"/>
                    </a:cubicBezTo>
                    <a:cubicBezTo>
                      <a:pt x="853" y="231"/>
                      <a:pt x="849" y="197"/>
                      <a:pt x="864" y="171"/>
                    </a:cubicBezTo>
                    <a:cubicBezTo>
                      <a:pt x="866" y="167"/>
                      <a:pt x="868" y="164"/>
                      <a:pt x="870" y="161"/>
                    </a:cubicBezTo>
                    <a:cubicBezTo>
                      <a:pt x="887" y="131"/>
                      <a:pt x="877" y="92"/>
                      <a:pt x="847" y="75"/>
                    </a:cubicBezTo>
                    <a:cubicBezTo>
                      <a:pt x="817" y="58"/>
                      <a:pt x="778" y="68"/>
                      <a:pt x="761" y="98"/>
                    </a:cubicBezTo>
                    <a:cubicBezTo>
                      <a:pt x="759" y="102"/>
                      <a:pt x="757" y="104"/>
                      <a:pt x="756" y="108"/>
                    </a:cubicBezTo>
                    <a:cubicBezTo>
                      <a:pt x="740" y="134"/>
                      <a:pt x="709" y="148"/>
                      <a:pt x="678" y="140"/>
                    </a:cubicBezTo>
                    <a:cubicBezTo>
                      <a:pt x="648" y="132"/>
                      <a:pt x="627" y="104"/>
                      <a:pt x="627" y="74"/>
                    </a:cubicBezTo>
                    <a:cubicBezTo>
                      <a:pt x="627" y="70"/>
                      <a:pt x="627" y="66"/>
                      <a:pt x="627" y="62"/>
                    </a:cubicBezTo>
                    <a:cubicBezTo>
                      <a:pt x="627" y="28"/>
                      <a:pt x="599" y="0"/>
                      <a:pt x="565" y="0"/>
                    </a:cubicBezTo>
                    <a:cubicBezTo>
                      <a:pt x="530" y="0"/>
                      <a:pt x="502" y="28"/>
                      <a:pt x="502" y="62"/>
                    </a:cubicBezTo>
                    <a:cubicBezTo>
                      <a:pt x="502" y="66"/>
                      <a:pt x="502" y="70"/>
                      <a:pt x="502" y="74"/>
                    </a:cubicBezTo>
                    <a:cubicBezTo>
                      <a:pt x="502" y="104"/>
                      <a:pt x="482" y="132"/>
                      <a:pt x="451" y="140"/>
                    </a:cubicBezTo>
                    <a:cubicBezTo>
                      <a:pt x="420" y="148"/>
                      <a:pt x="389" y="134"/>
                      <a:pt x="374" y="108"/>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grpSp>
        <p:grpSp>
          <p:nvGrpSpPr>
            <p:cNvPr id="645" name="Group 644">
              <a:extLst>
                <a:ext uri="{FF2B5EF4-FFF2-40B4-BE49-F238E27FC236}">
                  <a16:creationId xmlns:a16="http://schemas.microsoft.com/office/drawing/2014/main" id="{A8CE8F37-3320-DC4E-CAA7-45B29674A7A2}"/>
                </a:ext>
              </a:extLst>
            </p:cNvPr>
            <p:cNvGrpSpPr/>
            <p:nvPr/>
          </p:nvGrpSpPr>
          <p:grpSpPr>
            <a:xfrm>
              <a:off x="832055" y="2697029"/>
              <a:ext cx="158033" cy="158034"/>
              <a:chOff x="2867701" y="2297516"/>
              <a:chExt cx="508174" cy="508175"/>
            </a:xfrm>
          </p:grpSpPr>
          <p:sp>
            <p:nvSpPr>
              <p:cNvPr id="649" name="Freeform 194">
                <a:extLst>
                  <a:ext uri="{FF2B5EF4-FFF2-40B4-BE49-F238E27FC236}">
                    <a16:creationId xmlns:a16="http://schemas.microsoft.com/office/drawing/2014/main" id="{9E7F365C-B0A0-FA94-816A-B6E2C636B677}"/>
                  </a:ext>
                </a:extLst>
              </p:cNvPr>
              <p:cNvSpPr>
                <a:spLocks noChangeArrowheads="1"/>
              </p:cNvSpPr>
              <p:nvPr/>
            </p:nvSpPr>
            <p:spPr bwMode="auto">
              <a:xfrm>
                <a:off x="3058266" y="2488082"/>
                <a:ext cx="127044" cy="127044"/>
              </a:xfrm>
              <a:custGeom>
                <a:avLst/>
                <a:gdLst>
                  <a:gd name="T0" fmla="*/ 282 w 283"/>
                  <a:gd name="T1" fmla="*/ 141 h 283"/>
                  <a:gd name="T2" fmla="*/ 141 w 283"/>
                  <a:gd name="T3" fmla="*/ 0 h 283"/>
                  <a:gd name="T4" fmla="*/ 0 w 283"/>
                  <a:gd name="T5" fmla="*/ 141 h 283"/>
                  <a:gd name="T6" fmla="*/ 141 w 283"/>
                  <a:gd name="T7" fmla="*/ 282 h 283"/>
                  <a:gd name="T8" fmla="*/ 282 w 283"/>
                  <a:gd name="T9" fmla="*/ 141 h 283"/>
                </a:gdLst>
                <a:ahLst/>
                <a:cxnLst>
                  <a:cxn ang="0">
                    <a:pos x="T0" y="T1"/>
                  </a:cxn>
                  <a:cxn ang="0">
                    <a:pos x="T2" y="T3"/>
                  </a:cxn>
                  <a:cxn ang="0">
                    <a:pos x="T4" y="T5"/>
                  </a:cxn>
                  <a:cxn ang="0">
                    <a:pos x="T6" y="T7"/>
                  </a:cxn>
                  <a:cxn ang="0">
                    <a:pos x="T8" y="T9"/>
                  </a:cxn>
                </a:cxnLst>
                <a:rect l="0" t="0" r="r" b="b"/>
                <a:pathLst>
                  <a:path w="283" h="283">
                    <a:moveTo>
                      <a:pt x="282" y="141"/>
                    </a:moveTo>
                    <a:cubicBezTo>
                      <a:pt x="282" y="63"/>
                      <a:pt x="218" y="0"/>
                      <a:pt x="141" y="0"/>
                    </a:cubicBezTo>
                    <a:cubicBezTo>
                      <a:pt x="63" y="0"/>
                      <a:pt x="0" y="63"/>
                      <a:pt x="0" y="141"/>
                    </a:cubicBezTo>
                    <a:cubicBezTo>
                      <a:pt x="0" y="219"/>
                      <a:pt x="63" y="282"/>
                      <a:pt x="141" y="282"/>
                    </a:cubicBezTo>
                    <a:cubicBezTo>
                      <a:pt x="218" y="282"/>
                      <a:pt x="282" y="219"/>
                      <a:pt x="282" y="141"/>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650" name="Freeform 195">
                <a:extLst>
                  <a:ext uri="{FF2B5EF4-FFF2-40B4-BE49-F238E27FC236}">
                    <a16:creationId xmlns:a16="http://schemas.microsoft.com/office/drawing/2014/main" id="{5EC98F5D-FA92-E765-0AA2-FB07D3CAEC65}"/>
                  </a:ext>
                </a:extLst>
              </p:cNvPr>
              <p:cNvSpPr>
                <a:spLocks noChangeArrowheads="1"/>
              </p:cNvSpPr>
              <p:nvPr/>
            </p:nvSpPr>
            <p:spPr bwMode="auto">
              <a:xfrm>
                <a:off x="2867701" y="2297516"/>
                <a:ext cx="508174" cy="508175"/>
              </a:xfrm>
              <a:custGeom>
                <a:avLst/>
                <a:gdLst>
                  <a:gd name="T0" fmla="*/ 368 w 1130"/>
                  <a:gd name="T1" fmla="*/ 98 h 1129"/>
                  <a:gd name="T2" fmla="*/ 259 w 1130"/>
                  <a:gd name="T3" fmla="*/ 161 h 1129"/>
                  <a:gd name="T4" fmla="*/ 254 w 1130"/>
                  <a:gd name="T5" fmla="*/ 253 h 1129"/>
                  <a:gd name="T6" fmla="*/ 162 w 1130"/>
                  <a:gd name="T7" fmla="*/ 259 h 1129"/>
                  <a:gd name="T8" fmla="*/ 99 w 1130"/>
                  <a:gd name="T9" fmla="*/ 367 h 1129"/>
                  <a:gd name="T10" fmla="*/ 141 w 1130"/>
                  <a:gd name="T11" fmla="*/ 450 h 1129"/>
                  <a:gd name="T12" fmla="*/ 63 w 1130"/>
                  <a:gd name="T13" fmla="*/ 501 h 1129"/>
                  <a:gd name="T14" fmla="*/ 63 w 1130"/>
                  <a:gd name="T15" fmla="*/ 627 h 1129"/>
                  <a:gd name="T16" fmla="*/ 141 w 1130"/>
                  <a:gd name="T17" fmla="*/ 678 h 1129"/>
                  <a:gd name="T18" fmla="*/ 99 w 1130"/>
                  <a:gd name="T19" fmla="*/ 760 h 1129"/>
                  <a:gd name="T20" fmla="*/ 162 w 1130"/>
                  <a:gd name="T21" fmla="*/ 869 h 1129"/>
                  <a:gd name="T22" fmla="*/ 254 w 1130"/>
                  <a:gd name="T23" fmla="*/ 874 h 1129"/>
                  <a:gd name="T24" fmla="*/ 259 w 1130"/>
                  <a:gd name="T25" fmla="*/ 967 h 1129"/>
                  <a:gd name="T26" fmla="*/ 368 w 1130"/>
                  <a:gd name="T27" fmla="*/ 1030 h 1129"/>
                  <a:gd name="T28" fmla="*/ 451 w 1130"/>
                  <a:gd name="T29" fmla="*/ 988 h 1129"/>
                  <a:gd name="T30" fmla="*/ 502 w 1130"/>
                  <a:gd name="T31" fmla="*/ 1066 h 1129"/>
                  <a:gd name="T32" fmla="*/ 627 w 1130"/>
                  <a:gd name="T33" fmla="*/ 1066 h 1129"/>
                  <a:gd name="T34" fmla="*/ 678 w 1130"/>
                  <a:gd name="T35" fmla="*/ 988 h 1129"/>
                  <a:gd name="T36" fmla="*/ 761 w 1130"/>
                  <a:gd name="T37" fmla="*/ 1030 h 1129"/>
                  <a:gd name="T38" fmla="*/ 870 w 1130"/>
                  <a:gd name="T39" fmla="*/ 967 h 1129"/>
                  <a:gd name="T40" fmla="*/ 875 w 1130"/>
                  <a:gd name="T41" fmla="*/ 874 h 1129"/>
                  <a:gd name="T42" fmla="*/ 968 w 1130"/>
                  <a:gd name="T43" fmla="*/ 869 h 1129"/>
                  <a:gd name="T44" fmla="*/ 1030 w 1130"/>
                  <a:gd name="T45" fmla="*/ 760 h 1129"/>
                  <a:gd name="T46" fmla="*/ 989 w 1130"/>
                  <a:gd name="T47" fmla="*/ 678 h 1129"/>
                  <a:gd name="T48" fmla="*/ 1066 w 1130"/>
                  <a:gd name="T49" fmla="*/ 627 h 1129"/>
                  <a:gd name="T50" fmla="*/ 1066 w 1130"/>
                  <a:gd name="T51" fmla="*/ 501 h 1129"/>
                  <a:gd name="T52" fmla="*/ 989 w 1130"/>
                  <a:gd name="T53" fmla="*/ 450 h 1129"/>
                  <a:gd name="T54" fmla="*/ 1030 w 1130"/>
                  <a:gd name="T55" fmla="*/ 367 h 1129"/>
                  <a:gd name="T56" fmla="*/ 968 w 1130"/>
                  <a:gd name="T57" fmla="*/ 259 h 1129"/>
                  <a:gd name="T58" fmla="*/ 875 w 1130"/>
                  <a:gd name="T59" fmla="*/ 253 h 1129"/>
                  <a:gd name="T60" fmla="*/ 870 w 1130"/>
                  <a:gd name="T61" fmla="*/ 161 h 1129"/>
                  <a:gd name="T62" fmla="*/ 761 w 1130"/>
                  <a:gd name="T63" fmla="*/ 98 h 1129"/>
                  <a:gd name="T64" fmla="*/ 678 w 1130"/>
                  <a:gd name="T65" fmla="*/ 140 h 1129"/>
                  <a:gd name="T66" fmla="*/ 627 w 1130"/>
                  <a:gd name="T67" fmla="*/ 62 h 1129"/>
                  <a:gd name="T68" fmla="*/ 502 w 1130"/>
                  <a:gd name="T69" fmla="*/ 62 h 1129"/>
                  <a:gd name="T70" fmla="*/ 451 w 1130"/>
                  <a:gd name="T71" fmla="*/ 140 h 1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30" h="1129">
                    <a:moveTo>
                      <a:pt x="374" y="108"/>
                    </a:moveTo>
                    <a:cubicBezTo>
                      <a:pt x="372" y="104"/>
                      <a:pt x="370" y="102"/>
                      <a:pt x="368" y="98"/>
                    </a:cubicBezTo>
                    <a:cubicBezTo>
                      <a:pt x="351" y="68"/>
                      <a:pt x="312" y="58"/>
                      <a:pt x="282" y="75"/>
                    </a:cubicBezTo>
                    <a:cubicBezTo>
                      <a:pt x="252" y="92"/>
                      <a:pt x="242" y="131"/>
                      <a:pt x="259" y="161"/>
                    </a:cubicBezTo>
                    <a:cubicBezTo>
                      <a:pt x="261" y="164"/>
                      <a:pt x="263" y="167"/>
                      <a:pt x="265" y="171"/>
                    </a:cubicBezTo>
                    <a:cubicBezTo>
                      <a:pt x="280" y="197"/>
                      <a:pt x="277" y="231"/>
                      <a:pt x="254" y="253"/>
                    </a:cubicBezTo>
                    <a:cubicBezTo>
                      <a:pt x="232" y="276"/>
                      <a:pt x="198" y="280"/>
                      <a:pt x="171" y="264"/>
                    </a:cubicBezTo>
                    <a:cubicBezTo>
                      <a:pt x="168" y="262"/>
                      <a:pt x="165" y="261"/>
                      <a:pt x="162" y="259"/>
                    </a:cubicBezTo>
                    <a:cubicBezTo>
                      <a:pt x="132" y="241"/>
                      <a:pt x="93" y="252"/>
                      <a:pt x="76" y="282"/>
                    </a:cubicBezTo>
                    <a:cubicBezTo>
                      <a:pt x="59" y="312"/>
                      <a:pt x="69" y="350"/>
                      <a:pt x="99" y="367"/>
                    </a:cubicBezTo>
                    <a:cubicBezTo>
                      <a:pt x="102" y="369"/>
                      <a:pt x="105" y="371"/>
                      <a:pt x="109" y="373"/>
                    </a:cubicBezTo>
                    <a:cubicBezTo>
                      <a:pt x="135" y="388"/>
                      <a:pt x="149" y="420"/>
                      <a:pt x="141" y="450"/>
                    </a:cubicBezTo>
                    <a:cubicBezTo>
                      <a:pt x="132" y="481"/>
                      <a:pt x="105" y="501"/>
                      <a:pt x="74" y="501"/>
                    </a:cubicBezTo>
                    <a:cubicBezTo>
                      <a:pt x="70" y="501"/>
                      <a:pt x="67" y="501"/>
                      <a:pt x="63" y="501"/>
                    </a:cubicBezTo>
                    <a:cubicBezTo>
                      <a:pt x="28" y="501"/>
                      <a:pt x="0" y="529"/>
                      <a:pt x="0" y="564"/>
                    </a:cubicBezTo>
                    <a:cubicBezTo>
                      <a:pt x="0" y="598"/>
                      <a:pt x="28" y="627"/>
                      <a:pt x="63" y="627"/>
                    </a:cubicBezTo>
                    <a:cubicBezTo>
                      <a:pt x="67" y="627"/>
                      <a:pt x="70" y="627"/>
                      <a:pt x="74" y="627"/>
                    </a:cubicBezTo>
                    <a:cubicBezTo>
                      <a:pt x="105" y="627"/>
                      <a:pt x="132" y="647"/>
                      <a:pt x="141" y="678"/>
                    </a:cubicBezTo>
                    <a:cubicBezTo>
                      <a:pt x="149" y="708"/>
                      <a:pt x="135" y="740"/>
                      <a:pt x="109" y="755"/>
                    </a:cubicBezTo>
                    <a:cubicBezTo>
                      <a:pt x="105" y="757"/>
                      <a:pt x="102" y="758"/>
                      <a:pt x="99" y="760"/>
                    </a:cubicBezTo>
                    <a:cubicBezTo>
                      <a:pt x="69" y="778"/>
                      <a:pt x="59" y="816"/>
                      <a:pt x="76" y="846"/>
                    </a:cubicBezTo>
                    <a:cubicBezTo>
                      <a:pt x="93" y="876"/>
                      <a:pt x="132" y="886"/>
                      <a:pt x="162" y="869"/>
                    </a:cubicBezTo>
                    <a:cubicBezTo>
                      <a:pt x="165" y="867"/>
                      <a:pt x="168" y="865"/>
                      <a:pt x="171" y="863"/>
                    </a:cubicBezTo>
                    <a:cubicBezTo>
                      <a:pt x="198" y="848"/>
                      <a:pt x="232" y="852"/>
                      <a:pt x="254" y="874"/>
                    </a:cubicBezTo>
                    <a:cubicBezTo>
                      <a:pt x="277" y="897"/>
                      <a:pt x="280" y="931"/>
                      <a:pt x="265" y="957"/>
                    </a:cubicBezTo>
                    <a:cubicBezTo>
                      <a:pt x="263" y="961"/>
                      <a:pt x="261" y="964"/>
                      <a:pt x="259" y="967"/>
                    </a:cubicBezTo>
                    <a:cubicBezTo>
                      <a:pt x="242" y="997"/>
                      <a:pt x="252" y="1035"/>
                      <a:pt x="282" y="1053"/>
                    </a:cubicBezTo>
                    <a:cubicBezTo>
                      <a:pt x="312" y="1070"/>
                      <a:pt x="351" y="1060"/>
                      <a:pt x="368" y="1030"/>
                    </a:cubicBezTo>
                    <a:cubicBezTo>
                      <a:pt x="370" y="1026"/>
                      <a:pt x="372" y="1023"/>
                      <a:pt x="374" y="1020"/>
                    </a:cubicBezTo>
                    <a:cubicBezTo>
                      <a:pt x="389" y="994"/>
                      <a:pt x="420" y="980"/>
                      <a:pt x="451" y="988"/>
                    </a:cubicBezTo>
                    <a:cubicBezTo>
                      <a:pt x="482" y="996"/>
                      <a:pt x="502" y="1024"/>
                      <a:pt x="502" y="1054"/>
                    </a:cubicBezTo>
                    <a:cubicBezTo>
                      <a:pt x="502" y="1058"/>
                      <a:pt x="502" y="1062"/>
                      <a:pt x="502" y="1066"/>
                    </a:cubicBezTo>
                    <a:cubicBezTo>
                      <a:pt x="502" y="1100"/>
                      <a:pt x="530" y="1128"/>
                      <a:pt x="565" y="1128"/>
                    </a:cubicBezTo>
                    <a:cubicBezTo>
                      <a:pt x="599" y="1128"/>
                      <a:pt x="627" y="1100"/>
                      <a:pt x="627" y="1066"/>
                    </a:cubicBezTo>
                    <a:cubicBezTo>
                      <a:pt x="627" y="1062"/>
                      <a:pt x="627" y="1058"/>
                      <a:pt x="627" y="1054"/>
                    </a:cubicBezTo>
                    <a:cubicBezTo>
                      <a:pt x="627" y="1024"/>
                      <a:pt x="648" y="996"/>
                      <a:pt x="678" y="988"/>
                    </a:cubicBezTo>
                    <a:cubicBezTo>
                      <a:pt x="709" y="980"/>
                      <a:pt x="740" y="994"/>
                      <a:pt x="756" y="1020"/>
                    </a:cubicBezTo>
                    <a:cubicBezTo>
                      <a:pt x="757" y="1023"/>
                      <a:pt x="759" y="1026"/>
                      <a:pt x="761" y="1030"/>
                    </a:cubicBezTo>
                    <a:cubicBezTo>
                      <a:pt x="778" y="1060"/>
                      <a:pt x="817" y="1070"/>
                      <a:pt x="847" y="1053"/>
                    </a:cubicBezTo>
                    <a:cubicBezTo>
                      <a:pt x="877" y="1035"/>
                      <a:pt x="887" y="997"/>
                      <a:pt x="870" y="967"/>
                    </a:cubicBezTo>
                    <a:cubicBezTo>
                      <a:pt x="868" y="964"/>
                      <a:pt x="866" y="961"/>
                      <a:pt x="864" y="957"/>
                    </a:cubicBezTo>
                    <a:cubicBezTo>
                      <a:pt x="849" y="931"/>
                      <a:pt x="853" y="897"/>
                      <a:pt x="875" y="874"/>
                    </a:cubicBezTo>
                    <a:cubicBezTo>
                      <a:pt x="898" y="852"/>
                      <a:pt x="932" y="848"/>
                      <a:pt x="958" y="863"/>
                    </a:cubicBezTo>
                    <a:cubicBezTo>
                      <a:pt x="961" y="865"/>
                      <a:pt x="964" y="867"/>
                      <a:pt x="968" y="869"/>
                    </a:cubicBezTo>
                    <a:cubicBezTo>
                      <a:pt x="998" y="886"/>
                      <a:pt x="1036" y="876"/>
                      <a:pt x="1053" y="846"/>
                    </a:cubicBezTo>
                    <a:cubicBezTo>
                      <a:pt x="1071" y="816"/>
                      <a:pt x="1060" y="778"/>
                      <a:pt x="1030" y="760"/>
                    </a:cubicBezTo>
                    <a:cubicBezTo>
                      <a:pt x="1027" y="758"/>
                      <a:pt x="1024" y="757"/>
                      <a:pt x="1021" y="755"/>
                    </a:cubicBezTo>
                    <a:cubicBezTo>
                      <a:pt x="994" y="740"/>
                      <a:pt x="980" y="708"/>
                      <a:pt x="989" y="678"/>
                    </a:cubicBezTo>
                    <a:cubicBezTo>
                      <a:pt x="997" y="647"/>
                      <a:pt x="1025" y="627"/>
                      <a:pt x="1055" y="627"/>
                    </a:cubicBezTo>
                    <a:cubicBezTo>
                      <a:pt x="1059" y="627"/>
                      <a:pt x="1062" y="627"/>
                      <a:pt x="1066" y="627"/>
                    </a:cubicBezTo>
                    <a:cubicBezTo>
                      <a:pt x="1101" y="627"/>
                      <a:pt x="1129" y="598"/>
                      <a:pt x="1129" y="564"/>
                    </a:cubicBezTo>
                    <a:cubicBezTo>
                      <a:pt x="1129" y="529"/>
                      <a:pt x="1101" y="501"/>
                      <a:pt x="1066" y="501"/>
                    </a:cubicBezTo>
                    <a:cubicBezTo>
                      <a:pt x="1062" y="501"/>
                      <a:pt x="1059" y="501"/>
                      <a:pt x="1055" y="501"/>
                    </a:cubicBezTo>
                    <a:cubicBezTo>
                      <a:pt x="1025" y="501"/>
                      <a:pt x="997" y="481"/>
                      <a:pt x="989" y="450"/>
                    </a:cubicBezTo>
                    <a:cubicBezTo>
                      <a:pt x="980" y="420"/>
                      <a:pt x="994" y="388"/>
                      <a:pt x="1021" y="373"/>
                    </a:cubicBezTo>
                    <a:cubicBezTo>
                      <a:pt x="1024" y="371"/>
                      <a:pt x="1027" y="369"/>
                      <a:pt x="1030" y="367"/>
                    </a:cubicBezTo>
                    <a:cubicBezTo>
                      <a:pt x="1060" y="350"/>
                      <a:pt x="1070" y="312"/>
                      <a:pt x="1053" y="282"/>
                    </a:cubicBezTo>
                    <a:cubicBezTo>
                      <a:pt x="1035" y="252"/>
                      <a:pt x="998" y="241"/>
                      <a:pt x="968" y="259"/>
                    </a:cubicBezTo>
                    <a:cubicBezTo>
                      <a:pt x="964" y="261"/>
                      <a:pt x="961" y="262"/>
                      <a:pt x="958" y="264"/>
                    </a:cubicBezTo>
                    <a:cubicBezTo>
                      <a:pt x="932" y="280"/>
                      <a:pt x="898" y="276"/>
                      <a:pt x="875" y="253"/>
                    </a:cubicBezTo>
                    <a:cubicBezTo>
                      <a:pt x="853" y="231"/>
                      <a:pt x="849" y="197"/>
                      <a:pt x="864" y="171"/>
                    </a:cubicBezTo>
                    <a:cubicBezTo>
                      <a:pt x="866" y="167"/>
                      <a:pt x="868" y="164"/>
                      <a:pt x="870" y="161"/>
                    </a:cubicBezTo>
                    <a:cubicBezTo>
                      <a:pt x="887" y="131"/>
                      <a:pt x="877" y="92"/>
                      <a:pt x="847" y="75"/>
                    </a:cubicBezTo>
                    <a:cubicBezTo>
                      <a:pt x="817" y="58"/>
                      <a:pt x="778" y="68"/>
                      <a:pt x="761" y="98"/>
                    </a:cubicBezTo>
                    <a:cubicBezTo>
                      <a:pt x="759" y="102"/>
                      <a:pt x="757" y="104"/>
                      <a:pt x="756" y="108"/>
                    </a:cubicBezTo>
                    <a:cubicBezTo>
                      <a:pt x="740" y="134"/>
                      <a:pt x="709" y="148"/>
                      <a:pt x="678" y="140"/>
                    </a:cubicBezTo>
                    <a:cubicBezTo>
                      <a:pt x="648" y="132"/>
                      <a:pt x="627" y="104"/>
                      <a:pt x="627" y="74"/>
                    </a:cubicBezTo>
                    <a:cubicBezTo>
                      <a:pt x="627" y="70"/>
                      <a:pt x="627" y="66"/>
                      <a:pt x="627" y="62"/>
                    </a:cubicBezTo>
                    <a:cubicBezTo>
                      <a:pt x="627" y="28"/>
                      <a:pt x="599" y="0"/>
                      <a:pt x="565" y="0"/>
                    </a:cubicBezTo>
                    <a:cubicBezTo>
                      <a:pt x="530" y="0"/>
                      <a:pt x="502" y="28"/>
                      <a:pt x="502" y="62"/>
                    </a:cubicBezTo>
                    <a:cubicBezTo>
                      <a:pt x="502" y="66"/>
                      <a:pt x="502" y="70"/>
                      <a:pt x="502" y="74"/>
                    </a:cubicBezTo>
                    <a:cubicBezTo>
                      <a:pt x="502" y="104"/>
                      <a:pt x="482" y="132"/>
                      <a:pt x="451" y="140"/>
                    </a:cubicBezTo>
                    <a:cubicBezTo>
                      <a:pt x="420" y="148"/>
                      <a:pt x="389" y="134"/>
                      <a:pt x="374" y="108"/>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grpSp>
        <p:grpSp>
          <p:nvGrpSpPr>
            <p:cNvPr id="646" name="Group 645">
              <a:extLst>
                <a:ext uri="{FF2B5EF4-FFF2-40B4-BE49-F238E27FC236}">
                  <a16:creationId xmlns:a16="http://schemas.microsoft.com/office/drawing/2014/main" id="{387DDC87-7438-5B76-30CC-A8D401B85BCA}"/>
                </a:ext>
              </a:extLst>
            </p:cNvPr>
            <p:cNvGrpSpPr/>
            <p:nvPr/>
          </p:nvGrpSpPr>
          <p:grpSpPr>
            <a:xfrm>
              <a:off x="903162" y="2857673"/>
              <a:ext cx="113549" cy="113550"/>
              <a:chOff x="2867701" y="2297516"/>
              <a:chExt cx="508174" cy="508175"/>
            </a:xfrm>
          </p:grpSpPr>
          <p:sp>
            <p:nvSpPr>
              <p:cNvPr id="647" name="Freeform 194">
                <a:extLst>
                  <a:ext uri="{FF2B5EF4-FFF2-40B4-BE49-F238E27FC236}">
                    <a16:creationId xmlns:a16="http://schemas.microsoft.com/office/drawing/2014/main" id="{97025F46-4971-FCA5-4B70-9D836E93DFF5}"/>
                  </a:ext>
                </a:extLst>
              </p:cNvPr>
              <p:cNvSpPr>
                <a:spLocks noChangeArrowheads="1"/>
              </p:cNvSpPr>
              <p:nvPr/>
            </p:nvSpPr>
            <p:spPr bwMode="auto">
              <a:xfrm>
                <a:off x="3058266" y="2488082"/>
                <a:ext cx="127044" cy="127044"/>
              </a:xfrm>
              <a:custGeom>
                <a:avLst/>
                <a:gdLst>
                  <a:gd name="T0" fmla="*/ 282 w 283"/>
                  <a:gd name="T1" fmla="*/ 141 h 283"/>
                  <a:gd name="T2" fmla="*/ 141 w 283"/>
                  <a:gd name="T3" fmla="*/ 0 h 283"/>
                  <a:gd name="T4" fmla="*/ 0 w 283"/>
                  <a:gd name="T5" fmla="*/ 141 h 283"/>
                  <a:gd name="T6" fmla="*/ 141 w 283"/>
                  <a:gd name="T7" fmla="*/ 282 h 283"/>
                  <a:gd name="T8" fmla="*/ 282 w 283"/>
                  <a:gd name="T9" fmla="*/ 141 h 283"/>
                </a:gdLst>
                <a:ahLst/>
                <a:cxnLst>
                  <a:cxn ang="0">
                    <a:pos x="T0" y="T1"/>
                  </a:cxn>
                  <a:cxn ang="0">
                    <a:pos x="T2" y="T3"/>
                  </a:cxn>
                  <a:cxn ang="0">
                    <a:pos x="T4" y="T5"/>
                  </a:cxn>
                  <a:cxn ang="0">
                    <a:pos x="T6" y="T7"/>
                  </a:cxn>
                  <a:cxn ang="0">
                    <a:pos x="T8" y="T9"/>
                  </a:cxn>
                </a:cxnLst>
                <a:rect l="0" t="0" r="r" b="b"/>
                <a:pathLst>
                  <a:path w="283" h="283">
                    <a:moveTo>
                      <a:pt x="282" y="141"/>
                    </a:moveTo>
                    <a:cubicBezTo>
                      <a:pt x="282" y="63"/>
                      <a:pt x="218" y="0"/>
                      <a:pt x="141" y="0"/>
                    </a:cubicBezTo>
                    <a:cubicBezTo>
                      <a:pt x="63" y="0"/>
                      <a:pt x="0" y="63"/>
                      <a:pt x="0" y="141"/>
                    </a:cubicBezTo>
                    <a:cubicBezTo>
                      <a:pt x="0" y="219"/>
                      <a:pt x="63" y="282"/>
                      <a:pt x="141" y="282"/>
                    </a:cubicBezTo>
                    <a:cubicBezTo>
                      <a:pt x="218" y="282"/>
                      <a:pt x="282" y="219"/>
                      <a:pt x="282" y="141"/>
                    </a:cubicBezTo>
                  </a:path>
                </a:pathLst>
              </a:custGeom>
              <a:noFill/>
              <a:ln w="952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648" name="Freeform 195">
                <a:extLst>
                  <a:ext uri="{FF2B5EF4-FFF2-40B4-BE49-F238E27FC236}">
                    <a16:creationId xmlns:a16="http://schemas.microsoft.com/office/drawing/2014/main" id="{7A8AA121-E7C7-3AAD-84D0-9594448ED18F}"/>
                  </a:ext>
                </a:extLst>
              </p:cNvPr>
              <p:cNvSpPr>
                <a:spLocks noChangeArrowheads="1"/>
              </p:cNvSpPr>
              <p:nvPr/>
            </p:nvSpPr>
            <p:spPr bwMode="auto">
              <a:xfrm>
                <a:off x="2867701" y="2297516"/>
                <a:ext cx="508174" cy="508175"/>
              </a:xfrm>
              <a:custGeom>
                <a:avLst/>
                <a:gdLst>
                  <a:gd name="T0" fmla="*/ 368 w 1130"/>
                  <a:gd name="T1" fmla="*/ 98 h 1129"/>
                  <a:gd name="T2" fmla="*/ 259 w 1130"/>
                  <a:gd name="T3" fmla="*/ 161 h 1129"/>
                  <a:gd name="T4" fmla="*/ 254 w 1130"/>
                  <a:gd name="T5" fmla="*/ 253 h 1129"/>
                  <a:gd name="T6" fmla="*/ 162 w 1130"/>
                  <a:gd name="T7" fmla="*/ 259 h 1129"/>
                  <a:gd name="T8" fmla="*/ 99 w 1130"/>
                  <a:gd name="T9" fmla="*/ 367 h 1129"/>
                  <a:gd name="T10" fmla="*/ 141 w 1130"/>
                  <a:gd name="T11" fmla="*/ 450 h 1129"/>
                  <a:gd name="T12" fmla="*/ 63 w 1130"/>
                  <a:gd name="T13" fmla="*/ 501 h 1129"/>
                  <a:gd name="T14" fmla="*/ 63 w 1130"/>
                  <a:gd name="T15" fmla="*/ 627 h 1129"/>
                  <a:gd name="T16" fmla="*/ 141 w 1130"/>
                  <a:gd name="T17" fmla="*/ 678 h 1129"/>
                  <a:gd name="T18" fmla="*/ 99 w 1130"/>
                  <a:gd name="T19" fmla="*/ 760 h 1129"/>
                  <a:gd name="T20" fmla="*/ 162 w 1130"/>
                  <a:gd name="T21" fmla="*/ 869 h 1129"/>
                  <a:gd name="T22" fmla="*/ 254 w 1130"/>
                  <a:gd name="T23" fmla="*/ 874 h 1129"/>
                  <a:gd name="T24" fmla="*/ 259 w 1130"/>
                  <a:gd name="T25" fmla="*/ 967 h 1129"/>
                  <a:gd name="T26" fmla="*/ 368 w 1130"/>
                  <a:gd name="T27" fmla="*/ 1030 h 1129"/>
                  <a:gd name="T28" fmla="*/ 451 w 1130"/>
                  <a:gd name="T29" fmla="*/ 988 h 1129"/>
                  <a:gd name="T30" fmla="*/ 502 w 1130"/>
                  <a:gd name="T31" fmla="*/ 1066 h 1129"/>
                  <a:gd name="T32" fmla="*/ 627 w 1130"/>
                  <a:gd name="T33" fmla="*/ 1066 h 1129"/>
                  <a:gd name="T34" fmla="*/ 678 w 1130"/>
                  <a:gd name="T35" fmla="*/ 988 h 1129"/>
                  <a:gd name="T36" fmla="*/ 761 w 1130"/>
                  <a:gd name="T37" fmla="*/ 1030 h 1129"/>
                  <a:gd name="T38" fmla="*/ 870 w 1130"/>
                  <a:gd name="T39" fmla="*/ 967 h 1129"/>
                  <a:gd name="T40" fmla="*/ 875 w 1130"/>
                  <a:gd name="T41" fmla="*/ 874 h 1129"/>
                  <a:gd name="T42" fmla="*/ 968 w 1130"/>
                  <a:gd name="T43" fmla="*/ 869 h 1129"/>
                  <a:gd name="T44" fmla="*/ 1030 w 1130"/>
                  <a:gd name="T45" fmla="*/ 760 h 1129"/>
                  <a:gd name="T46" fmla="*/ 989 w 1130"/>
                  <a:gd name="T47" fmla="*/ 678 h 1129"/>
                  <a:gd name="T48" fmla="*/ 1066 w 1130"/>
                  <a:gd name="T49" fmla="*/ 627 h 1129"/>
                  <a:gd name="T50" fmla="*/ 1066 w 1130"/>
                  <a:gd name="T51" fmla="*/ 501 h 1129"/>
                  <a:gd name="T52" fmla="*/ 989 w 1130"/>
                  <a:gd name="T53" fmla="*/ 450 h 1129"/>
                  <a:gd name="T54" fmla="*/ 1030 w 1130"/>
                  <a:gd name="T55" fmla="*/ 367 h 1129"/>
                  <a:gd name="T56" fmla="*/ 968 w 1130"/>
                  <a:gd name="T57" fmla="*/ 259 h 1129"/>
                  <a:gd name="T58" fmla="*/ 875 w 1130"/>
                  <a:gd name="T59" fmla="*/ 253 h 1129"/>
                  <a:gd name="T60" fmla="*/ 870 w 1130"/>
                  <a:gd name="T61" fmla="*/ 161 h 1129"/>
                  <a:gd name="T62" fmla="*/ 761 w 1130"/>
                  <a:gd name="T63" fmla="*/ 98 h 1129"/>
                  <a:gd name="T64" fmla="*/ 678 w 1130"/>
                  <a:gd name="T65" fmla="*/ 140 h 1129"/>
                  <a:gd name="T66" fmla="*/ 627 w 1130"/>
                  <a:gd name="T67" fmla="*/ 62 h 1129"/>
                  <a:gd name="T68" fmla="*/ 502 w 1130"/>
                  <a:gd name="T69" fmla="*/ 62 h 1129"/>
                  <a:gd name="T70" fmla="*/ 451 w 1130"/>
                  <a:gd name="T71" fmla="*/ 140 h 1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30" h="1129">
                    <a:moveTo>
                      <a:pt x="374" y="108"/>
                    </a:moveTo>
                    <a:cubicBezTo>
                      <a:pt x="372" y="104"/>
                      <a:pt x="370" y="102"/>
                      <a:pt x="368" y="98"/>
                    </a:cubicBezTo>
                    <a:cubicBezTo>
                      <a:pt x="351" y="68"/>
                      <a:pt x="312" y="58"/>
                      <a:pt x="282" y="75"/>
                    </a:cubicBezTo>
                    <a:cubicBezTo>
                      <a:pt x="252" y="92"/>
                      <a:pt x="242" y="131"/>
                      <a:pt x="259" y="161"/>
                    </a:cubicBezTo>
                    <a:cubicBezTo>
                      <a:pt x="261" y="164"/>
                      <a:pt x="263" y="167"/>
                      <a:pt x="265" y="171"/>
                    </a:cubicBezTo>
                    <a:cubicBezTo>
                      <a:pt x="280" y="197"/>
                      <a:pt x="277" y="231"/>
                      <a:pt x="254" y="253"/>
                    </a:cubicBezTo>
                    <a:cubicBezTo>
                      <a:pt x="232" y="276"/>
                      <a:pt x="198" y="280"/>
                      <a:pt x="171" y="264"/>
                    </a:cubicBezTo>
                    <a:cubicBezTo>
                      <a:pt x="168" y="262"/>
                      <a:pt x="165" y="261"/>
                      <a:pt x="162" y="259"/>
                    </a:cubicBezTo>
                    <a:cubicBezTo>
                      <a:pt x="132" y="241"/>
                      <a:pt x="93" y="252"/>
                      <a:pt x="76" y="282"/>
                    </a:cubicBezTo>
                    <a:cubicBezTo>
                      <a:pt x="59" y="312"/>
                      <a:pt x="69" y="350"/>
                      <a:pt x="99" y="367"/>
                    </a:cubicBezTo>
                    <a:cubicBezTo>
                      <a:pt x="102" y="369"/>
                      <a:pt x="105" y="371"/>
                      <a:pt x="109" y="373"/>
                    </a:cubicBezTo>
                    <a:cubicBezTo>
                      <a:pt x="135" y="388"/>
                      <a:pt x="149" y="420"/>
                      <a:pt x="141" y="450"/>
                    </a:cubicBezTo>
                    <a:cubicBezTo>
                      <a:pt x="132" y="481"/>
                      <a:pt x="105" y="501"/>
                      <a:pt x="74" y="501"/>
                    </a:cubicBezTo>
                    <a:cubicBezTo>
                      <a:pt x="70" y="501"/>
                      <a:pt x="67" y="501"/>
                      <a:pt x="63" y="501"/>
                    </a:cubicBezTo>
                    <a:cubicBezTo>
                      <a:pt x="28" y="501"/>
                      <a:pt x="0" y="529"/>
                      <a:pt x="0" y="564"/>
                    </a:cubicBezTo>
                    <a:cubicBezTo>
                      <a:pt x="0" y="598"/>
                      <a:pt x="28" y="627"/>
                      <a:pt x="63" y="627"/>
                    </a:cubicBezTo>
                    <a:cubicBezTo>
                      <a:pt x="67" y="627"/>
                      <a:pt x="70" y="627"/>
                      <a:pt x="74" y="627"/>
                    </a:cubicBezTo>
                    <a:cubicBezTo>
                      <a:pt x="105" y="627"/>
                      <a:pt x="132" y="647"/>
                      <a:pt x="141" y="678"/>
                    </a:cubicBezTo>
                    <a:cubicBezTo>
                      <a:pt x="149" y="708"/>
                      <a:pt x="135" y="740"/>
                      <a:pt x="109" y="755"/>
                    </a:cubicBezTo>
                    <a:cubicBezTo>
                      <a:pt x="105" y="757"/>
                      <a:pt x="102" y="758"/>
                      <a:pt x="99" y="760"/>
                    </a:cubicBezTo>
                    <a:cubicBezTo>
                      <a:pt x="69" y="778"/>
                      <a:pt x="59" y="816"/>
                      <a:pt x="76" y="846"/>
                    </a:cubicBezTo>
                    <a:cubicBezTo>
                      <a:pt x="93" y="876"/>
                      <a:pt x="132" y="886"/>
                      <a:pt x="162" y="869"/>
                    </a:cubicBezTo>
                    <a:cubicBezTo>
                      <a:pt x="165" y="867"/>
                      <a:pt x="168" y="865"/>
                      <a:pt x="171" y="863"/>
                    </a:cubicBezTo>
                    <a:cubicBezTo>
                      <a:pt x="198" y="848"/>
                      <a:pt x="232" y="852"/>
                      <a:pt x="254" y="874"/>
                    </a:cubicBezTo>
                    <a:cubicBezTo>
                      <a:pt x="277" y="897"/>
                      <a:pt x="280" y="931"/>
                      <a:pt x="265" y="957"/>
                    </a:cubicBezTo>
                    <a:cubicBezTo>
                      <a:pt x="263" y="961"/>
                      <a:pt x="261" y="964"/>
                      <a:pt x="259" y="967"/>
                    </a:cubicBezTo>
                    <a:cubicBezTo>
                      <a:pt x="242" y="997"/>
                      <a:pt x="252" y="1035"/>
                      <a:pt x="282" y="1053"/>
                    </a:cubicBezTo>
                    <a:cubicBezTo>
                      <a:pt x="312" y="1070"/>
                      <a:pt x="351" y="1060"/>
                      <a:pt x="368" y="1030"/>
                    </a:cubicBezTo>
                    <a:cubicBezTo>
                      <a:pt x="370" y="1026"/>
                      <a:pt x="372" y="1023"/>
                      <a:pt x="374" y="1020"/>
                    </a:cubicBezTo>
                    <a:cubicBezTo>
                      <a:pt x="389" y="994"/>
                      <a:pt x="420" y="980"/>
                      <a:pt x="451" y="988"/>
                    </a:cubicBezTo>
                    <a:cubicBezTo>
                      <a:pt x="482" y="996"/>
                      <a:pt x="502" y="1024"/>
                      <a:pt x="502" y="1054"/>
                    </a:cubicBezTo>
                    <a:cubicBezTo>
                      <a:pt x="502" y="1058"/>
                      <a:pt x="502" y="1062"/>
                      <a:pt x="502" y="1066"/>
                    </a:cubicBezTo>
                    <a:cubicBezTo>
                      <a:pt x="502" y="1100"/>
                      <a:pt x="530" y="1128"/>
                      <a:pt x="565" y="1128"/>
                    </a:cubicBezTo>
                    <a:cubicBezTo>
                      <a:pt x="599" y="1128"/>
                      <a:pt x="627" y="1100"/>
                      <a:pt x="627" y="1066"/>
                    </a:cubicBezTo>
                    <a:cubicBezTo>
                      <a:pt x="627" y="1062"/>
                      <a:pt x="627" y="1058"/>
                      <a:pt x="627" y="1054"/>
                    </a:cubicBezTo>
                    <a:cubicBezTo>
                      <a:pt x="627" y="1024"/>
                      <a:pt x="648" y="996"/>
                      <a:pt x="678" y="988"/>
                    </a:cubicBezTo>
                    <a:cubicBezTo>
                      <a:pt x="709" y="980"/>
                      <a:pt x="740" y="994"/>
                      <a:pt x="756" y="1020"/>
                    </a:cubicBezTo>
                    <a:cubicBezTo>
                      <a:pt x="757" y="1023"/>
                      <a:pt x="759" y="1026"/>
                      <a:pt x="761" y="1030"/>
                    </a:cubicBezTo>
                    <a:cubicBezTo>
                      <a:pt x="778" y="1060"/>
                      <a:pt x="817" y="1070"/>
                      <a:pt x="847" y="1053"/>
                    </a:cubicBezTo>
                    <a:cubicBezTo>
                      <a:pt x="877" y="1035"/>
                      <a:pt x="887" y="997"/>
                      <a:pt x="870" y="967"/>
                    </a:cubicBezTo>
                    <a:cubicBezTo>
                      <a:pt x="868" y="964"/>
                      <a:pt x="866" y="961"/>
                      <a:pt x="864" y="957"/>
                    </a:cubicBezTo>
                    <a:cubicBezTo>
                      <a:pt x="849" y="931"/>
                      <a:pt x="853" y="897"/>
                      <a:pt x="875" y="874"/>
                    </a:cubicBezTo>
                    <a:cubicBezTo>
                      <a:pt x="898" y="852"/>
                      <a:pt x="932" y="848"/>
                      <a:pt x="958" y="863"/>
                    </a:cubicBezTo>
                    <a:cubicBezTo>
                      <a:pt x="961" y="865"/>
                      <a:pt x="964" y="867"/>
                      <a:pt x="968" y="869"/>
                    </a:cubicBezTo>
                    <a:cubicBezTo>
                      <a:pt x="998" y="886"/>
                      <a:pt x="1036" y="876"/>
                      <a:pt x="1053" y="846"/>
                    </a:cubicBezTo>
                    <a:cubicBezTo>
                      <a:pt x="1071" y="816"/>
                      <a:pt x="1060" y="778"/>
                      <a:pt x="1030" y="760"/>
                    </a:cubicBezTo>
                    <a:cubicBezTo>
                      <a:pt x="1027" y="758"/>
                      <a:pt x="1024" y="757"/>
                      <a:pt x="1021" y="755"/>
                    </a:cubicBezTo>
                    <a:cubicBezTo>
                      <a:pt x="994" y="740"/>
                      <a:pt x="980" y="708"/>
                      <a:pt x="989" y="678"/>
                    </a:cubicBezTo>
                    <a:cubicBezTo>
                      <a:pt x="997" y="647"/>
                      <a:pt x="1025" y="627"/>
                      <a:pt x="1055" y="627"/>
                    </a:cubicBezTo>
                    <a:cubicBezTo>
                      <a:pt x="1059" y="627"/>
                      <a:pt x="1062" y="627"/>
                      <a:pt x="1066" y="627"/>
                    </a:cubicBezTo>
                    <a:cubicBezTo>
                      <a:pt x="1101" y="627"/>
                      <a:pt x="1129" y="598"/>
                      <a:pt x="1129" y="564"/>
                    </a:cubicBezTo>
                    <a:cubicBezTo>
                      <a:pt x="1129" y="529"/>
                      <a:pt x="1101" y="501"/>
                      <a:pt x="1066" y="501"/>
                    </a:cubicBezTo>
                    <a:cubicBezTo>
                      <a:pt x="1062" y="501"/>
                      <a:pt x="1059" y="501"/>
                      <a:pt x="1055" y="501"/>
                    </a:cubicBezTo>
                    <a:cubicBezTo>
                      <a:pt x="1025" y="501"/>
                      <a:pt x="997" y="481"/>
                      <a:pt x="989" y="450"/>
                    </a:cubicBezTo>
                    <a:cubicBezTo>
                      <a:pt x="980" y="420"/>
                      <a:pt x="994" y="388"/>
                      <a:pt x="1021" y="373"/>
                    </a:cubicBezTo>
                    <a:cubicBezTo>
                      <a:pt x="1024" y="371"/>
                      <a:pt x="1027" y="369"/>
                      <a:pt x="1030" y="367"/>
                    </a:cubicBezTo>
                    <a:cubicBezTo>
                      <a:pt x="1060" y="350"/>
                      <a:pt x="1070" y="312"/>
                      <a:pt x="1053" y="282"/>
                    </a:cubicBezTo>
                    <a:cubicBezTo>
                      <a:pt x="1035" y="252"/>
                      <a:pt x="998" y="241"/>
                      <a:pt x="968" y="259"/>
                    </a:cubicBezTo>
                    <a:cubicBezTo>
                      <a:pt x="964" y="261"/>
                      <a:pt x="961" y="262"/>
                      <a:pt x="958" y="264"/>
                    </a:cubicBezTo>
                    <a:cubicBezTo>
                      <a:pt x="932" y="280"/>
                      <a:pt x="898" y="276"/>
                      <a:pt x="875" y="253"/>
                    </a:cubicBezTo>
                    <a:cubicBezTo>
                      <a:pt x="853" y="231"/>
                      <a:pt x="849" y="197"/>
                      <a:pt x="864" y="171"/>
                    </a:cubicBezTo>
                    <a:cubicBezTo>
                      <a:pt x="866" y="167"/>
                      <a:pt x="868" y="164"/>
                      <a:pt x="870" y="161"/>
                    </a:cubicBezTo>
                    <a:cubicBezTo>
                      <a:pt x="887" y="131"/>
                      <a:pt x="877" y="92"/>
                      <a:pt x="847" y="75"/>
                    </a:cubicBezTo>
                    <a:cubicBezTo>
                      <a:pt x="817" y="58"/>
                      <a:pt x="778" y="68"/>
                      <a:pt x="761" y="98"/>
                    </a:cubicBezTo>
                    <a:cubicBezTo>
                      <a:pt x="759" y="102"/>
                      <a:pt x="757" y="104"/>
                      <a:pt x="756" y="108"/>
                    </a:cubicBezTo>
                    <a:cubicBezTo>
                      <a:pt x="740" y="134"/>
                      <a:pt x="709" y="148"/>
                      <a:pt x="678" y="140"/>
                    </a:cubicBezTo>
                    <a:cubicBezTo>
                      <a:pt x="648" y="132"/>
                      <a:pt x="627" y="104"/>
                      <a:pt x="627" y="74"/>
                    </a:cubicBezTo>
                    <a:cubicBezTo>
                      <a:pt x="627" y="70"/>
                      <a:pt x="627" y="66"/>
                      <a:pt x="627" y="62"/>
                    </a:cubicBezTo>
                    <a:cubicBezTo>
                      <a:pt x="627" y="28"/>
                      <a:pt x="599" y="0"/>
                      <a:pt x="565" y="0"/>
                    </a:cubicBezTo>
                    <a:cubicBezTo>
                      <a:pt x="530" y="0"/>
                      <a:pt x="502" y="28"/>
                      <a:pt x="502" y="62"/>
                    </a:cubicBezTo>
                    <a:cubicBezTo>
                      <a:pt x="502" y="66"/>
                      <a:pt x="502" y="70"/>
                      <a:pt x="502" y="74"/>
                    </a:cubicBezTo>
                    <a:cubicBezTo>
                      <a:pt x="502" y="104"/>
                      <a:pt x="482" y="132"/>
                      <a:pt x="451" y="140"/>
                    </a:cubicBezTo>
                    <a:cubicBezTo>
                      <a:pt x="420" y="148"/>
                      <a:pt x="389" y="134"/>
                      <a:pt x="374" y="108"/>
                    </a:cubicBezTo>
                  </a:path>
                </a:pathLst>
              </a:custGeom>
              <a:noFill/>
              <a:ln w="952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grpSp>
      </p:grpSp>
      <p:sp>
        <p:nvSpPr>
          <p:cNvPr id="653" name="Rectangle 652">
            <a:extLst>
              <a:ext uri="{FF2B5EF4-FFF2-40B4-BE49-F238E27FC236}">
                <a16:creationId xmlns:a16="http://schemas.microsoft.com/office/drawing/2014/main" id="{51B617C2-2E9F-7908-C836-9231C3464593}"/>
              </a:ext>
            </a:extLst>
          </p:cNvPr>
          <p:cNvSpPr/>
          <p:nvPr/>
        </p:nvSpPr>
        <p:spPr>
          <a:xfrm>
            <a:off x="6451528" y="4528555"/>
            <a:ext cx="1129205" cy="397032"/>
          </a:xfrm>
          <a:prstGeom prst="rect">
            <a:avLst/>
          </a:prstGeom>
        </p:spPr>
        <p:txBody>
          <a:bodyPr wrap="square">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Platform </a:t>
            </a:r>
            <a:r>
              <a:rPr kumimoji="0" lang="en-GB" sz="11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Modernisation</a:t>
            </a:r>
          </a:p>
        </p:txBody>
      </p:sp>
      <p:grpSp>
        <p:nvGrpSpPr>
          <p:cNvPr id="658" name="Group 657">
            <a:extLst>
              <a:ext uri="{FF2B5EF4-FFF2-40B4-BE49-F238E27FC236}">
                <a16:creationId xmlns:a16="http://schemas.microsoft.com/office/drawing/2014/main" id="{E437C831-E5E3-5FFC-9FA5-C7387F6AEEF6}"/>
              </a:ext>
            </a:extLst>
          </p:cNvPr>
          <p:cNvGrpSpPr/>
          <p:nvPr/>
        </p:nvGrpSpPr>
        <p:grpSpPr>
          <a:xfrm>
            <a:off x="5235559" y="4174499"/>
            <a:ext cx="379131" cy="338566"/>
            <a:chOff x="1927541" y="3516994"/>
            <a:chExt cx="241067" cy="215274"/>
          </a:xfrm>
        </p:grpSpPr>
        <p:grpSp>
          <p:nvGrpSpPr>
            <p:cNvPr id="659" name="Group 658">
              <a:extLst>
                <a:ext uri="{FF2B5EF4-FFF2-40B4-BE49-F238E27FC236}">
                  <a16:creationId xmlns:a16="http://schemas.microsoft.com/office/drawing/2014/main" id="{BA177437-AAC4-F9AC-4B81-79BBB3AFE658}"/>
                </a:ext>
              </a:extLst>
            </p:cNvPr>
            <p:cNvGrpSpPr/>
            <p:nvPr/>
          </p:nvGrpSpPr>
          <p:grpSpPr>
            <a:xfrm>
              <a:off x="1927541" y="3516994"/>
              <a:ext cx="225194" cy="215274"/>
              <a:chOff x="1927541" y="3516994"/>
              <a:chExt cx="225194" cy="215274"/>
            </a:xfrm>
          </p:grpSpPr>
          <p:sp>
            <p:nvSpPr>
              <p:cNvPr id="661" name="Freeform 56">
                <a:extLst>
                  <a:ext uri="{FF2B5EF4-FFF2-40B4-BE49-F238E27FC236}">
                    <a16:creationId xmlns:a16="http://schemas.microsoft.com/office/drawing/2014/main" id="{11A0E99C-8F7D-2367-1E8B-D68AB822A637}"/>
                  </a:ext>
                </a:extLst>
              </p:cNvPr>
              <p:cNvSpPr>
                <a:spLocks noChangeArrowheads="1"/>
              </p:cNvSpPr>
              <p:nvPr/>
            </p:nvSpPr>
            <p:spPr bwMode="auto">
              <a:xfrm>
                <a:off x="1927541" y="3516994"/>
                <a:ext cx="225194" cy="215274"/>
              </a:xfrm>
              <a:custGeom>
                <a:avLst/>
                <a:gdLst>
                  <a:gd name="T0" fmla="*/ 404 w 1002"/>
                  <a:gd name="T1" fmla="*/ 87 h 958"/>
                  <a:gd name="T2" fmla="*/ 559 w 1002"/>
                  <a:gd name="T3" fmla="*/ 71 h 958"/>
                  <a:gd name="T4" fmla="*/ 412 w 1002"/>
                  <a:gd name="T5" fmla="*/ 0 h 958"/>
                  <a:gd name="T6" fmla="*/ 281 w 1002"/>
                  <a:gd name="T7" fmla="*/ 54 h 958"/>
                  <a:gd name="T8" fmla="*/ 157 w 1002"/>
                  <a:gd name="T9" fmla="*/ 178 h 958"/>
                  <a:gd name="T10" fmla="*/ 145 w 1002"/>
                  <a:gd name="T11" fmla="*/ 215 h 958"/>
                  <a:gd name="T12" fmla="*/ 146 w 1002"/>
                  <a:gd name="T13" fmla="*/ 217 h 958"/>
                  <a:gd name="T14" fmla="*/ 60 w 1002"/>
                  <a:gd name="T15" fmla="*/ 302 h 958"/>
                  <a:gd name="T16" fmla="*/ 59 w 1002"/>
                  <a:gd name="T17" fmla="*/ 302 h 958"/>
                  <a:gd name="T18" fmla="*/ 22 w 1002"/>
                  <a:gd name="T19" fmla="*/ 314 h 958"/>
                  <a:gd name="T20" fmla="*/ 8 w 1002"/>
                  <a:gd name="T21" fmla="*/ 327 h 958"/>
                  <a:gd name="T22" fmla="*/ 8 w 1002"/>
                  <a:gd name="T23" fmla="*/ 357 h 958"/>
                  <a:gd name="T24" fmla="*/ 125 w 1002"/>
                  <a:gd name="T25" fmla="*/ 474 h 958"/>
                  <a:gd name="T26" fmla="*/ 156 w 1002"/>
                  <a:gd name="T27" fmla="*/ 474 h 958"/>
                  <a:gd name="T28" fmla="*/ 169 w 1002"/>
                  <a:gd name="T29" fmla="*/ 461 h 958"/>
                  <a:gd name="T30" fmla="*/ 181 w 1002"/>
                  <a:gd name="T31" fmla="*/ 423 h 958"/>
                  <a:gd name="T32" fmla="*/ 307 w 1002"/>
                  <a:gd name="T33" fmla="*/ 359 h 958"/>
                  <a:gd name="T34" fmla="*/ 800 w 1002"/>
                  <a:gd name="T35" fmla="*/ 901 h 958"/>
                  <a:gd name="T36" fmla="*/ 957 w 1002"/>
                  <a:gd name="T37" fmla="*/ 911 h 958"/>
                  <a:gd name="T38" fmla="*/ 947 w 1002"/>
                  <a:gd name="T39" fmla="*/ 754 h 958"/>
                  <a:gd name="T40" fmla="*/ 404 w 1002"/>
                  <a:gd name="T41" fmla="*/ 260 h 958"/>
                  <a:gd name="T42" fmla="*/ 404 w 1002"/>
                  <a:gd name="T43" fmla="*/ 87 h 9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02" h="958">
                    <a:moveTo>
                      <a:pt x="404" y="87"/>
                    </a:moveTo>
                    <a:cubicBezTo>
                      <a:pt x="447" y="44"/>
                      <a:pt x="522" y="29"/>
                      <a:pt x="559" y="71"/>
                    </a:cubicBezTo>
                    <a:cubicBezTo>
                      <a:pt x="552" y="63"/>
                      <a:pt x="505" y="0"/>
                      <a:pt x="412" y="0"/>
                    </a:cubicBezTo>
                    <a:cubicBezTo>
                      <a:pt x="362" y="0"/>
                      <a:pt x="316" y="19"/>
                      <a:pt x="281" y="54"/>
                    </a:cubicBezTo>
                    <a:cubicBezTo>
                      <a:pt x="239" y="95"/>
                      <a:pt x="198" y="136"/>
                      <a:pt x="157" y="178"/>
                    </a:cubicBezTo>
                    <a:cubicBezTo>
                      <a:pt x="147" y="188"/>
                      <a:pt x="143" y="202"/>
                      <a:pt x="145" y="215"/>
                    </a:cubicBezTo>
                    <a:cubicBezTo>
                      <a:pt x="145" y="215"/>
                      <a:pt x="145" y="216"/>
                      <a:pt x="146" y="217"/>
                    </a:cubicBezTo>
                    <a:cubicBezTo>
                      <a:pt x="153" y="264"/>
                      <a:pt x="108" y="310"/>
                      <a:pt x="60" y="302"/>
                    </a:cubicBezTo>
                    <a:cubicBezTo>
                      <a:pt x="59" y="302"/>
                      <a:pt x="59" y="302"/>
                      <a:pt x="59" y="302"/>
                    </a:cubicBezTo>
                    <a:cubicBezTo>
                      <a:pt x="45" y="300"/>
                      <a:pt x="31" y="304"/>
                      <a:pt x="22" y="314"/>
                    </a:cubicBezTo>
                    <a:cubicBezTo>
                      <a:pt x="17" y="318"/>
                      <a:pt x="12" y="322"/>
                      <a:pt x="8" y="327"/>
                    </a:cubicBezTo>
                    <a:cubicBezTo>
                      <a:pt x="0" y="335"/>
                      <a:pt x="0" y="349"/>
                      <a:pt x="8" y="357"/>
                    </a:cubicBezTo>
                    <a:cubicBezTo>
                      <a:pt x="47" y="396"/>
                      <a:pt x="86" y="435"/>
                      <a:pt x="125" y="474"/>
                    </a:cubicBezTo>
                    <a:cubicBezTo>
                      <a:pt x="134" y="483"/>
                      <a:pt x="147" y="483"/>
                      <a:pt x="156" y="474"/>
                    </a:cubicBezTo>
                    <a:cubicBezTo>
                      <a:pt x="160" y="470"/>
                      <a:pt x="165" y="465"/>
                      <a:pt x="169" y="461"/>
                    </a:cubicBezTo>
                    <a:cubicBezTo>
                      <a:pt x="179" y="451"/>
                      <a:pt x="183" y="437"/>
                      <a:pt x="181" y="423"/>
                    </a:cubicBezTo>
                    <a:cubicBezTo>
                      <a:pt x="169" y="361"/>
                      <a:pt x="251" y="303"/>
                      <a:pt x="307" y="359"/>
                    </a:cubicBezTo>
                    <a:cubicBezTo>
                      <a:pt x="471" y="539"/>
                      <a:pt x="635" y="720"/>
                      <a:pt x="800" y="901"/>
                    </a:cubicBezTo>
                    <a:cubicBezTo>
                      <a:pt x="843" y="949"/>
                      <a:pt x="911" y="957"/>
                      <a:pt x="957" y="911"/>
                    </a:cubicBezTo>
                    <a:cubicBezTo>
                      <a:pt x="1001" y="867"/>
                      <a:pt x="998" y="800"/>
                      <a:pt x="947" y="754"/>
                    </a:cubicBezTo>
                    <a:cubicBezTo>
                      <a:pt x="766" y="589"/>
                      <a:pt x="585" y="424"/>
                      <a:pt x="404" y="260"/>
                    </a:cubicBezTo>
                    <a:cubicBezTo>
                      <a:pt x="357" y="212"/>
                      <a:pt x="357" y="135"/>
                      <a:pt x="404" y="87"/>
                    </a:cubicBezTo>
                  </a:path>
                </a:pathLst>
              </a:custGeom>
              <a:noFill/>
              <a:ln w="12700" cap="flat">
                <a:solidFill>
                  <a:schemeClr val="bg1"/>
                </a:solidFill>
                <a:bevel/>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662" name="Freeform 57">
                <a:extLst>
                  <a:ext uri="{FF2B5EF4-FFF2-40B4-BE49-F238E27FC236}">
                    <a16:creationId xmlns:a16="http://schemas.microsoft.com/office/drawing/2014/main" id="{5685FA94-3F09-F201-3E4C-0A79BA372BDF}"/>
                  </a:ext>
                </a:extLst>
              </p:cNvPr>
              <p:cNvSpPr>
                <a:spLocks noChangeArrowheads="1"/>
              </p:cNvSpPr>
              <p:nvPr/>
            </p:nvSpPr>
            <p:spPr bwMode="auto">
              <a:xfrm>
                <a:off x="1959287" y="3634056"/>
                <a:ext cx="97221" cy="98212"/>
              </a:xfrm>
              <a:custGeom>
                <a:avLst/>
                <a:gdLst>
                  <a:gd name="T0" fmla="*/ 311 w 432"/>
                  <a:gd name="T1" fmla="*/ 0 h 437"/>
                  <a:gd name="T2" fmla="*/ 53 w 432"/>
                  <a:gd name="T3" fmla="*/ 235 h 437"/>
                  <a:gd name="T4" fmla="*/ 43 w 432"/>
                  <a:gd name="T5" fmla="*/ 393 h 437"/>
                  <a:gd name="T6" fmla="*/ 202 w 432"/>
                  <a:gd name="T7" fmla="*/ 383 h 437"/>
                  <a:gd name="T8" fmla="*/ 431 w 432"/>
                  <a:gd name="T9" fmla="*/ 131 h 437"/>
                </a:gdLst>
                <a:ahLst/>
                <a:cxnLst>
                  <a:cxn ang="0">
                    <a:pos x="T0" y="T1"/>
                  </a:cxn>
                  <a:cxn ang="0">
                    <a:pos x="T2" y="T3"/>
                  </a:cxn>
                  <a:cxn ang="0">
                    <a:pos x="T4" y="T5"/>
                  </a:cxn>
                  <a:cxn ang="0">
                    <a:pos x="T6" y="T7"/>
                  </a:cxn>
                  <a:cxn ang="0">
                    <a:pos x="T8" y="T9"/>
                  </a:cxn>
                </a:cxnLst>
                <a:rect l="0" t="0" r="r" b="b"/>
                <a:pathLst>
                  <a:path w="432" h="437">
                    <a:moveTo>
                      <a:pt x="311" y="0"/>
                    </a:moveTo>
                    <a:cubicBezTo>
                      <a:pt x="225" y="78"/>
                      <a:pt x="139" y="156"/>
                      <a:pt x="53" y="235"/>
                    </a:cubicBezTo>
                    <a:cubicBezTo>
                      <a:pt x="2" y="281"/>
                      <a:pt x="0" y="349"/>
                      <a:pt x="43" y="393"/>
                    </a:cubicBezTo>
                    <a:cubicBezTo>
                      <a:pt x="87" y="436"/>
                      <a:pt x="155" y="434"/>
                      <a:pt x="202" y="383"/>
                    </a:cubicBezTo>
                    <a:cubicBezTo>
                      <a:pt x="278" y="299"/>
                      <a:pt x="354" y="215"/>
                      <a:pt x="431" y="131"/>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grpSp>
        <p:sp>
          <p:nvSpPr>
            <p:cNvPr id="660" name="Freeform 58">
              <a:extLst>
                <a:ext uri="{FF2B5EF4-FFF2-40B4-BE49-F238E27FC236}">
                  <a16:creationId xmlns:a16="http://schemas.microsoft.com/office/drawing/2014/main" id="{F96777A5-D359-12B9-06BF-7130F7041906}"/>
                </a:ext>
              </a:extLst>
            </p:cNvPr>
            <p:cNvSpPr>
              <a:spLocks noChangeArrowheads="1"/>
            </p:cNvSpPr>
            <p:nvPr/>
          </p:nvSpPr>
          <p:spPr bwMode="auto">
            <a:xfrm>
              <a:off x="2056507" y="3522947"/>
              <a:ext cx="112101" cy="111109"/>
            </a:xfrm>
            <a:custGeom>
              <a:avLst/>
              <a:gdLst>
                <a:gd name="T0" fmla="*/ 119 w 500"/>
                <a:gd name="T1" fmla="*/ 495 h 496"/>
                <a:gd name="T2" fmla="*/ 180 w 500"/>
                <a:gd name="T3" fmla="*/ 428 h 496"/>
                <a:gd name="T4" fmla="*/ 224 w 500"/>
                <a:gd name="T5" fmla="*/ 416 h 496"/>
                <a:gd name="T6" fmla="*/ 430 w 500"/>
                <a:gd name="T7" fmla="*/ 364 h 496"/>
                <a:gd name="T8" fmla="*/ 485 w 500"/>
                <a:gd name="T9" fmla="*/ 179 h 496"/>
                <a:gd name="T10" fmla="*/ 466 w 500"/>
                <a:gd name="T11" fmla="*/ 157 h 496"/>
                <a:gd name="T12" fmla="*/ 438 w 500"/>
                <a:gd name="T13" fmla="*/ 164 h 496"/>
                <a:gd name="T14" fmla="*/ 351 w 500"/>
                <a:gd name="T15" fmla="*/ 251 h 496"/>
                <a:gd name="T16" fmla="*/ 247 w 500"/>
                <a:gd name="T17" fmla="*/ 251 h 496"/>
                <a:gd name="T18" fmla="*/ 247 w 500"/>
                <a:gd name="T19" fmla="*/ 147 h 496"/>
                <a:gd name="T20" fmla="*/ 334 w 500"/>
                <a:gd name="T21" fmla="*/ 60 h 496"/>
                <a:gd name="T22" fmla="*/ 341 w 500"/>
                <a:gd name="T23" fmla="*/ 32 h 496"/>
                <a:gd name="T24" fmla="*/ 319 w 500"/>
                <a:gd name="T25" fmla="*/ 13 h 496"/>
                <a:gd name="T26" fmla="*/ 134 w 500"/>
                <a:gd name="T27" fmla="*/ 68 h 496"/>
                <a:gd name="T28" fmla="*/ 83 w 500"/>
                <a:gd name="T29" fmla="*/ 277 h 496"/>
                <a:gd name="T30" fmla="*/ 71 w 500"/>
                <a:gd name="T31" fmla="*/ 321 h 496"/>
                <a:gd name="T32" fmla="*/ 0 w 500"/>
                <a:gd name="T33" fmla="*/ 38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0" h="496">
                  <a:moveTo>
                    <a:pt x="119" y="495"/>
                  </a:moveTo>
                  <a:cubicBezTo>
                    <a:pt x="139" y="472"/>
                    <a:pt x="159" y="450"/>
                    <a:pt x="180" y="428"/>
                  </a:cubicBezTo>
                  <a:cubicBezTo>
                    <a:pt x="191" y="416"/>
                    <a:pt x="208" y="411"/>
                    <a:pt x="224" y="416"/>
                  </a:cubicBezTo>
                  <a:cubicBezTo>
                    <a:pt x="294" y="437"/>
                    <a:pt x="374" y="420"/>
                    <a:pt x="430" y="364"/>
                  </a:cubicBezTo>
                  <a:cubicBezTo>
                    <a:pt x="480" y="313"/>
                    <a:pt x="499" y="243"/>
                    <a:pt x="485" y="179"/>
                  </a:cubicBezTo>
                  <a:cubicBezTo>
                    <a:pt x="483" y="169"/>
                    <a:pt x="476" y="160"/>
                    <a:pt x="466" y="157"/>
                  </a:cubicBezTo>
                  <a:cubicBezTo>
                    <a:pt x="456" y="154"/>
                    <a:pt x="445" y="157"/>
                    <a:pt x="438" y="164"/>
                  </a:cubicBezTo>
                  <a:cubicBezTo>
                    <a:pt x="420" y="183"/>
                    <a:pt x="392" y="210"/>
                    <a:pt x="351" y="251"/>
                  </a:cubicBezTo>
                  <a:cubicBezTo>
                    <a:pt x="323" y="280"/>
                    <a:pt x="276" y="280"/>
                    <a:pt x="247" y="251"/>
                  </a:cubicBezTo>
                  <a:cubicBezTo>
                    <a:pt x="219" y="222"/>
                    <a:pt x="219" y="175"/>
                    <a:pt x="247" y="147"/>
                  </a:cubicBezTo>
                  <a:cubicBezTo>
                    <a:pt x="276" y="118"/>
                    <a:pt x="305" y="89"/>
                    <a:pt x="334" y="60"/>
                  </a:cubicBezTo>
                  <a:cubicBezTo>
                    <a:pt x="341" y="53"/>
                    <a:pt x="344" y="42"/>
                    <a:pt x="341" y="32"/>
                  </a:cubicBezTo>
                  <a:cubicBezTo>
                    <a:pt x="338" y="22"/>
                    <a:pt x="329" y="15"/>
                    <a:pt x="319" y="13"/>
                  </a:cubicBezTo>
                  <a:cubicBezTo>
                    <a:pt x="255" y="0"/>
                    <a:pt x="185" y="18"/>
                    <a:pt x="134" y="68"/>
                  </a:cubicBezTo>
                  <a:cubicBezTo>
                    <a:pt x="78" y="125"/>
                    <a:pt x="61" y="206"/>
                    <a:pt x="83" y="277"/>
                  </a:cubicBezTo>
                  <a:cubicBezTo>
                    <a:pt x="88" y="293"/>
                    <a:pt x="83" y="310"/>
                    <a:pt x="71" y="321"/>
                  </a:cubicBezTo>
                  <a:cubicBezTo>
                    <a:pt x="57" y="334"/>
                    <a:pt x="35" y="354"/>
                    <a:pt x="0" y="386"/>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grpSp>
      <p:sp>
        <p:nvSpPr>
          <p:cNvPr id="663" name="Rectangle 662">
            <a:extLst>
              <a:ext uri="{FF2B5EF4-FFF2-40B4-BE49-F238E27FC236}">
                <a16:creationId xmlns:a16="http://schemas.microsoft.com/office/drawing/2014/main" id="{CAA6B062-1E9C-8132-4C74-751DB5E7AA93}"/>
              </a:ext>
            </a:extLst>
          </p:cNvPr>
          <p:cNvSpPr/>
          <p:nvPr/>
        </p:nvSpPr>
        <p:spPr>
          <a:xfrm>
            <a:off x="4873783" y="4558810"/>
            <a:ext cx="1129205" cy="397032"/>
          </a:xfrm>
          <a:prstGeom prst="rect">
            <a:avLst/>
          </a:prstGeom>
        </p:spPr>
        <p:txBody>
          <a:bodyPr wrap="square">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Application </a:t>
            </a:r>
            <a:r>
              <a:rPr kumimoji="0" lang="en-GB" sz="11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Modernisation</a:t>
            </a:r>
          </a:p>
        </p:txBody>
      </p:sp>
      <p:grpSp>
        <p:nvGrpSpPr>
          <p:cNvPr id="664" name="Group 663">
            <a:extLst>
              <a:ext uri="{FF2B5EF4-FFF2-40B4-BE49-F238E27FC236}">
                <a16:creationId xmlns:a16="http://schemas.microsoft.com/office/drawing/2014/main" id="{CB5F85E1-319C-99AF-3002-36A9EF8E394E}"/>
              </a:ext>
            </a:extLst>
          </p:cNvPr>
          <p:cNvGrpSpPr/>
          <p:nvPr/>
        </p:nvGrpSpPr>
        <p:grpSpPr>
          <a:xfrm>
            <a:off x="3621571" y="4243595"/>
            <a:ext cx="611398" cy="305699"/>
            <a:chOff x="8775231" y="4054293"/>
            <a:chExt cx="611398" cy="305699"/>
          </a:xfrm>
        </p:grpSpPr>
        <p:sp>
          <p:nvSpPr>
            <p:cNvPr id="665" name="Freeform 252">
              <a:extLst>
                <a:ext uri="{FF2B5EF4-FFF2-40B4-BE49-F238E27FC236}">
                  <a16:creationId xmlns:a16="http://schemas.microsoft.com/office/drawing/2014/main" id="{67B3CF73-E495-7816-27B0-C495FB042484}"/>
                </a:ext>
              </a:extLst>
            </p:cNvPr>
            <p:cNvSpPr>
              <a:spLocks noChangeArrowheads="1"/>
            </p:cNvSpPr>
            <p:nvPr/>
          </p:nvSpPr>
          <p:spPr bwMode="auto">
            <a:xfrm>
              <a:off x="8775231" y="4078114"/>
              <a:ext cx="254087" cy="254087"/>
            </a:xfrm>
            <a:custGeom>
              <a:avLst/>
              <a:gdLst>
                <a:gd name="T0" fmla="*/ 551 w 566"/>
                <a:gd name="T1" fmla="*/ 38 h 565"/>
                <a:gd name="T2" fmla="*/ 480 w 566"/>
                <a:gd name="T3" fmla="*/ 0 h 565"/>
                <a:gd name="T4" fmla="*/ 85 w 566"/>
                <a:gd name="T5" fmla="*/ 0 h 565"/>
                <a:gd name="T6" fmla="*/ 0 w 566"/>
                <a:gd name="T7" fmla="*/ 85 h 565"/>
                <a:gd name="T8" fmla="*/ 0 w 566"/>
                <a:gd name="T9" fmla="*/ 480 h 565"/>
                <a:gd name="T10" fmla="*/ 85 w 566"/>
                <a:gd name="T11" fmla="*/ 564 h 565"/>
                <a:gd name="T12" fmla="*/ 480 w 566"/>
                <a:gd name="T13" fmla="*/ 564 h 565"/>
                <a:gd name="T14" fmla="*/ 565 w 566"/>
                <a:gd name="T15" fmla="*/ 480 h 565"/>
                <a:gd name="T16" fmla="*/ 565 w 566"/>
                <a:gd name="T17" fmla="*/ 237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6" h="565">
                  <a:moveTo>
                    <a:pt x="551" y="38"/>
                  </a:moveTo>
                  <a:cubicBezTo>
                    <a:pt x="536" y="15"/>
                    <a:pt x="510" y="0"/>
                    <a:pt x="480" y="0"/>
                  </a:cubicBezTo>
                  <a:cubicBezTo>
                    <a:pt x="349" y="0"/>
                    <a:pt x="217" y="0"/>
                    <a:pt x="85" y="0"/>
                  </a:cubicBezTo>
                  <a:cubicBezTo>
                    <a:pt x="38" y="0"/>
                    <a:pt x="0" y="38"/>
                    <a:pt x="0" y="85"/>
                  </a:cubicBezTo>
                  <a:cubicBezTo>
                    <a:pt x="0" y="217"/>
                    <a:pt x="0" y="349"/>
                    <a:pt x="0" y="480"/>
                  </a:cubicBezTo>
                  <a:cubicBezTo>
                    <a:pt x="0" y="526"/>
                    <a:pt x="38" y="564"/>
                    <a:pt x="85" y="564"/>
                  </a:cubicBezTo>
                  <a:cubicBezTo>
                    <a:pt x="217" y="564"/>
                    <a:pt x="349" y="564"/>
                    <a:pt x="480" y="564"/>
                  </a:cubicBezTo>
                  <a:cubicBezTo>
                    <a:pt x="527" y="564"/>
                    <a:pt x="565" y="526"/>
                    <a:pt x="565" y="480"/>
                  </a:cubicBezTo>
                  <a:cubicBezTo>
                    <a:pt x="565" y="399"/>
                    <a:pt x="565" y="318"/>
                    <a:pt x="565" y="23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666" name="Freeform 253">
              <a:extLst>
                <a:ext uri="{FF2B5EF4-FFF2-40B4-BE49-F238E27FC236}">
                  <a16:creationId xmlns:a16="http://schemas.microsoft.com/office/drawing/2014/main" id="{BAFF2084-3E99-B9D9-F4AA-59994F908E9D}"/>
                </a:ext>
              </a:extLst>
            </p:cNvPr>
            <p:cNvSpPr>
              <a:spLocks noChangeArrowheads="1"/>
            </p:cNvSpPr>
            <p:nvPr/>
          </p:nvSpPr>
          <p:spPr bwMode="auto">
            <a:xfrm>
              <a:off x="9080930" y="4054293"/>
              <a:ext cx="305699" cy="305699"/>
            </a:xfrm>
            <a:custGeom>
              <a:avLst/>
              <a:gdLst>
                <a:gd name="T0" fmla="*/ 99 w 678"/>
                <a:gd name="T1" fmla="*/ 100 h 679"/>
                <a:gd name="T2" fmla="*/ 225 w 678"/>
                <a:gd name="T3" fmla="*/ 77 h 679"/>
                <a:gd name="T4" fmla="*/ 230 w 678"/>
                <a:gd name="T5" fmla="*/ 77 h 679"/>
                <a:gd name="T6" fmla="*/ 233 w 678"/>
                <a:gd name="T7" fmla="*/ 74 h 679"/>
                <a:gd name="T8" fmla="*/ 338 w 678"/>
                <a:gd name="T9" fmla="*/ 0 h 679"/>
                <a:gd name="T10" fmla="*/ 444 w 678"/>
                <a:gd name="T11" fmla="*/ 74 h 679"/>
                <a:gd name="T12" fmla="*/ 447 w 678"/>
                <a:gd name="T13" fmla="*/ 77 h 679"/>
                <a:gd name="T14" fmla="*/ 451 w 678"/>
                <a:gd name="T15" fmla="*/ 77 h 679"/>
                <a:gd name="T16" fmla="*/ 578 w 678"/>
                <a:gd name="T17" fmla="*/ 100 h 679"/>
                <a:gd name="T18" fmla="*/ 601 w 678"/>
                <a:gd name="T19" fmla="*/ 226 h 679"/>
                <a:gd name="T20" fmla="*/ 601 w 678"/>
                <a:gd name="T21" fmla="*/ 230 h 679"/>
                <a:gd name="T22" fmla="*/ 604 w 678"/>
                <a:gd name="T23" fmla="*/ 233 h 679"/>
                <a:gd name="T24" fmla="*/ 677 w 678"/>
                <a:gd name="T25" fmla="*/ 339 h 679"/>
                <a:gd name="T26" fmla="*/ 604 w 678"/>
                <a:gd name="T27" fmla="*/ 445 h 679"/>
                <a:gd name="T28" fmla="*/ 601 w 678"/>
                <a:gd name="T29" fmla="*/ 448 h 679"/>
                <a:gd name="T30" fmla="*/ 601 w 678"/>
                <a:gd name="T31" fmla="*/ 452 h 679"/>
                <a:gd name="T32" fmla="*/ 578 w 678"/>
                <a:gd name="T33" fmla="*/ 579 h 679"/>
                <a:gd name="T34" fmla="*/ 451 w 678"/>
                <a:gd name="T35" fmla="*/ 601 h 679"/>
                <a:gd name="T36" fmla="*/ 447 w 678"/>
                <a:gd name="T37" fmla="*/ 601 h 679"/>
                <a:gd name="T38" fmla="*/ 444 w 678"/>
                <a:gd name="T39" fmla="*/ 604 h 679"/>
                <a:gd name="T40" fmla="*/ 338 w 678"/>
                <a:gd name="T41" fmla="*/ 678 h 679"/>
                <a:gd name="T42" fmla="*/ 233 w 678"/>
                <a:gd name="T43" fmla="*/ 604 h 679"/>
                <a:gd name="T44" fmla="*/ 230 w 678"/>
                <a:gd name="T45" fmla="*/ 601 h 679"/>
                <a:gd name="T46" fmla="*/ 225 w 678"/>
                <a:gd name="T47" fmla="*/ 601 h 679"/>
                <a:gd name="T48" fmla="*/ 99 w 678"/>
                <a:gd name="T49" fmla="*/ 579 h 679"/>
                <a:gd name="T50" fmla="*/ 76 w 678"/>
                <a:gd name="T51" fmla="*/ 452 h 679"/>
                <a:gd name="T52" fmla="*/ 76 w 678"/>
                <a:gd name="T53" fmla="*/ 448 h 679"/>
                <a:gd name="T54" fmla="*/ 73 w 678"/>
                <a:gd name="T55" fmla="*/ 445 h 679"/>
                <a:gd name="T56" fmla="*/ 0 w 678"/>
                <a:gd name="T57" fmla="*/ 339 h 679"/>
                <a:gd name="T58" fmla="*/ 12 w 678"/>
                <a:gd name="T59" fmla="*/ 287 h 6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78" h="679">
                  <a:moveTo>
                    <a:pt x="99" y="100"/>
                  </a:moveTo>
                  <a:cubicBezTo>
                    <a:pt x="133" y="65"/>
                    <a:pt x="184" y="58"/>
                    <a:pt x="225" y="77"/>
                  </a:cubicBezTo>
                  <a:cubicBezTo>
                    <a:pt x="227" y="77"/>
                    <a:pt x="229" y="78"/>
                    <a:pt x="230" y="77"/>
                  </a:cubicBezTo>
                  <a:cubicBezTo>
                    <a:pt x="232" y="77"/>
                    <a:pt x="232" y="75"/>
                    <a:pt x="233" y="74"/>
                  </a:cubicBezTo>
                  <a:cubicBezTo>
                    <a:pt x="249" y="31"/>
                    <a:pt x="290" y="0"/>
                    <a:pt x="338" y="0"/>
                  </a:cubicBezTo>
                  <a:cubicBezTo>
                    <a:pt x="387" y="0"/>
                    <a:pt x="428" y="31"/>
                    <a:pt x="444" y="74"/>
                  </a:cubicBezTo>
                  <a:cubicBezTo>
                    <a:pt x="444" y="75"/>
                    <a:pt x="446" y="77"/>
                    <a:pt x="447" y="77"/>
                  </a:cubicBezTo>
                  <a:cubicBezTo>
                    <a:pt x="448" y="78"/>
                    <a:pt x="450" y="77"/>
                    <a:pt x="451" y="77"/>
                  </a:cubicBezTo>
                  <a:cubicBezTo>
                    <a:pt x="493" y="58"/>
                    <a:pt x="544" y="65"/>
                    <a:pt x="578" y="100"/>
                  </a:cubicBezTo>
                  <a:cubicBezTo>
                    <a:pt x="612" y="134"/>
                    <a:pt x="620" y="185"/>
                    <a:pt x="601" y="226"/>
                  </a:cubicBezTo>
                  <a:cubicBezTo>
                    <a:pt x="600" y="228"/>
                    <a:pt x="600" y="229"/>
                    <a:pt x="601" y="230"/>
                  </a:cubicBezTo>
                  <a:cubicBezTo>
                    <a:pt x="601" y="232"/>
                    <a:pt x="602" y="233"/>
                    <a:pt x="604" y="233"/>
                  </a:cubicBezTo>
                  <a:cubicBezTo>
                    <a:pt x="646" y="249"/>
                    <a:pt x="677" y="291"/>
                    <a:pt x="677" y="339"/>
                  </a:cubicBezTo>
                  <a:cubicBezTo>
                    <a:pt x="677" y="387"/>
                    <a:pt x="646" y="429"/>
                    <a:pt x="604" y="445"/>
                  </a:cubicBezTo>
                  <a:cubicBezTo>
                    <a:pt x="602" y="445"/>
                    <a:pt x="601" y="446"/>
                    <a:pt x="601" y="448"/>
                  </a:cubicBezTo>
                  <a:cubicBezTo>
                    <a:pt x="600" y="449"/>
                    <a:pt x="600" y="451"/>
                    <a:pt x="601" y="452"/>
                  </a:cubicBezTo>
                  <a:cubicBezTo>
                    <a:pt x="620" y="494"/>
                    <a:pt x="612" y="544"/>
                    <a:pt x="578" y="579"/>
                  </a:cubicBezTo>
                  <a:cubicBezTo>
                    <a:pt x="544" y="613"/>
                    <a:pt x="493" y="620"/>
                    <a:pt x="451" y="601"/>
                  </a:cubicBezTo>
                  <a:cubicBezTo>
                    <a:pt x="450" y="601"/>
                    <a:pt x="448" y="601"/>
                    <a:pt x="447" y="601"/>
                  </a:cubicBezTo>
                  <a:cubicBezTo>
                    <a:pt x="446" y="602"/>
                    <a:pt x="444" y="603"/>
                    <a:pt x="444" y="604"/>
                  </a:cubicBezTo>
                  <a:cubicBezTo>
                    <a:pt x="428" y="647"/>
                    <a:pt x="387" y="678"/>
                    <a:pt x="338" y="678"/>
                  </a:cubicBezTo>
                  <a:cubicBezTo>
                    <a:pt x="290" y="678"/>
                    <a:pt x="249" y="647"/>
                    <a:pt x="233" y="604"/>
                  </a:cubicBezTo>
                  <a:cubicBezTo>
                    <a:pt x="232" y="603"/>
                    <a:pt x="231" y="602"/>
                    <a:pt x="230" y="601"/>
                  </a:cubicBezTo>
                  <a:cubicBezTo>
                    <a:pt x="228" y="601"/>
                    <a:pt x="227" y="601"/>
                    <a:pt x="225" y="601"/>
                  </a:cubicBezTo>
                  <a:cubicBezTo>
                    <a:pt x="184" y="620"/>
                    <a:pt x="133" y="613"/>
                    <a:pt x="99" y="579"/>
                  </a:cubicBezTo>
                  <a:cubicBezTo>
                    <a:pt x="65" y="544"/>
                    <a:pt x="57" y="494"/>
                    <a:pt x="76" y="452"/>
                  </a:cubicBezTo>
                  <a:cubicBezTo>
                    <a:pt x="76" y="451"/>
                    <a:pt x="76" y="449"/>
                    <a:pt x="76" y="448"/>
                  </a:cubicBezTo>
                  <a:cubicBezTo>
                    <a:pt x="75" y="446"/>
                    <a:pt x="74" y="445"/>
                    <a:pt x="73" y="445"/>
                  </a:cubicBezTo>
                  <a:cubicBezTo>
                    <a:pt x="30" y="429"/>
                    <a:pt x="0" y="387"/>
                    <a:pt x="0" y="339"/>
                  </a:cubicBezTo>
                  <a:cubicBezTo>
                    <a:pt x="0" y="320"/>
                    <a:pt x="4" y="303"/>
                    <a:pt x="12" y="28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667" name="Freeform 254">
              <a:extLst>
                <a:ext uri="{FF2B5EF4-FFF2-40B4-BE49-F238E27FC236}">
                  <a16:creationId xmlns:a16="http://schemas.microsoft.com/office/drawing/2014/main" id="{7036D3C8-DED7-F4EF-68FC-4E79CC68DFC1}"/>
                </a:ext>
              </a:extLst>
            </p:cNvPr>
            <p:cNvSpPr>
              <a:spLocks noChangeArrowheads="1"/>
            </p:cNvSpPr>
            <p:nvPr/>
          </p:nvSpPr>
          <p:spPr bwMode="auto">
            <a:xfrm>
              <a:off x="9168273" y="4141635"/>
              <a:ext cx="77418" cy="77417"/>
            </a:xfrm>
            <a:custGeom>
              <a:avLst/>
              <a:gdLst>
                <a:gd name="T0" fmla="*/ 169 w 170"/>
                <a:gd name="T1" fmla="*/ 0 h 170"/>
                <a:gd name="T2" fmla="*/ 169 w 170"/>
                <a:gd name="T3" fmla="*/ 162 h 170"/>
                <a:gd name="T4" fmla="*/ 162 w 170"/>
                <a:gd name="T5" fmla="*/ 169 h 170"/>
                <a:gd name="T6" fmla="*/ 0 w 170"/>
                <a:gd name="T7" fmla="*/ 169 h 170"/>
              </a:gdLst>
              <a:ahLst/>
              <a:cxnLst>
                <a:cxn ang="0">
                  <a:pos x="T0" y="T1"/>
                </a:cxn>
                <a:cxn ang="0">
                  <a:pos x="T2" y="T3"/>
                </a:cxn>
                <a:cxn ang="0">
                  <a:pos x="T4" y="T5"/>
                </a:cxn>
                <a:cxn ang="0">
                  <a:pos x="T6" y="T7"/>
                </a:cxn>
              </a:cxnLst>
              <a:rect l="0" t="0" r="r" b="b"/>
              <a:pathLst>
                <a:path w="170" h="170">
                  <a:moveTo>
                    <a:pt x="169" y="0"/>
                  </a:moveTo>
                  <a:cubicBezTo>
                    <a:pt x="169" y="54"/>
                    <a:pt x="169" y="108"/>
                    <a:pt x="169" y="162"/>
                  </a:cubicBezTo>
                  <a:cubicBezTo>
                    <a:pt x="169" y="166"/>
                    <a:pt x="166" y="169"/>
                    <a:pt x="162" y="169"/>
                  </a:cubicBezTo>
                  <a:cubicBezTo>
                    <a:pt x="108" y="169"/>
                    <a:pt x="54" y="169"/>
                    <a:pt x="0" y="16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668" name="Freeform 255">
              <a:extLst>
                <a:ext uri="{FF2B5EF4-FFF2-40B4-BE49-F238E27FC236}">
                  <a16:creationId xmlns:a16="http://schemas.microsoft.com/office/drawing/2014/main" id="{50758969-6EA0-2DD3-2C9E-D2A4C72A68D3}"/>
                </a:ext>
              </a:extLst>
            </p:cNvPr>
            <p:cNvSpPr>
              <a:spLocks noChangeArrowheads="1"/>
            </p:cNvSpPr>
            <p:nvPr/>
          </p:nvSpPr>
          <p:spPr bwMode="auto">
            <a:xfrm>
              <a:off x="8902275" y="4137665"/>
              <a:ext cx="343416" cy="81387"/>
            </a:xfrm>
            <a:custGeom>
              <a:avLst/>
              <a:gdLst>
                <a:gd name="T0" fmla="*/ 0 w 762"/>
                <a:gd name="T1" fmla="*/ 152 h 179"/>
                <a:gd name="T2" fmla="*/ 368 w 762"/>
                <a:gd name="T3" fmla="*/ 0 h 179"/>
                <a:gd name="T4" fmla="*/ 761 w 762"/>
                <a:gd name="T5" fmla="*/ 178 h 179"/>
              </a:gdLst>
              <a:ahLst/>
              <a:cxnLst>
                <a:cxn ang="0">
                  <a:pos x="T0" y="T1"/>
                </a:cxn>
                <a:cxn ang="0">
                  <a:pos x="T2" y="T3"/>
                </a:cxn>
                <a:cxn ang="0">
                  <a:pos x="T4" y="T5"/>
                </a:cxn>
              </a:cxnLst>
              <a:rect l="0" t="0" r="r" b="b"/>
              <a:pathLst>
                <a:path w="762" h="179">
                  <a:moveTo>
                    <a:pt x="0" y="152"/>
                  </a:moveTo>
                  <a:cubicBezTo>
                    <a:pt x="94" y="58"/>
                    <a:pt x="225" y="0"/>
                    <a:pt x="368" y="0"/>
                  </a:cubicBezTo>
                  <a:cubicBezTo>
                    <a:pt x="525" y="0"/>
                    <a:pt x="666" y="69"/>
                    <a:pt x="761" y="17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grpSp>
      <p:sp>
        <p:nvSpPr>
          <p:cNvPr id="669" name="Rectangle 668">
            <a:extLst>
              <a:ext uri="{FF2B5EF4-FFF2-40B4-BE49-F238E27FC236}">
                <a16:creationId xmlns:a16="http://schemas.microsoft.com/office/drawing/2014/main" id="{31C3A528-783D-7D40-B8C0-F74647532D92}"/>
              </a:ext>
            </a:extLst>
          </p:cNvPr>
          <p:cNvSpPr/>
          <p:nvPr/>
        </p:nvSpPr>
        <p:spPr>
          <a:xfrm>
            <a:off x="3338657" y="4606822"/>
            <a:ext cx="1129205" cy="244682"/>
          </a:xfrm>
          <a:prstGeom prst="rect">
            <a:avLst/>
          </a:prstGeom>
        </p:spPr>
        <p:txBody>
          <a:bodyPr wrap="square">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Cloud Native</a:t>
            </a:r>
          </a:p>
        </p:txBody>
      </p:sp>
      <p:sp>
        <p:nvSpPr>
          <p:cNvPr id="670" name="TextBox 669">
            <a:extLst>
              <a:ext uri="{FF2B5EF4-FFF2-40B4-BE49-F238E27FC236}">
                <a16:creationId xmlns:a16="http://schemas.microsoft.com/office/drawing/2014/main" id="{9C66A1D8-2892-11DB-7202-FC5E98E122DC}"/>
              </a:ext>
            </a:extLst>
          </p:cNvPr>
          <p:cNvSpPr txBox="1"/>
          <p:nvPr/>
        </p:nvSpPr>
        <p:spPr>
          <a:xfrm>
            <a:off x="7824454" y="5044710"/>
            <a:ext cx="1435268" cy="938719"/>
          </a:xfrm>
          <a:prstGeom prst="rect">
            <a:avLst/>
          </a:prstGeom>
          <a:noFill/>
        </p:spPr>
        <p:txBody>
          <a:bodyPr wrap="square" rtlCol="0">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Like-for-like migration to cloud, with little to no architecture changes</a:t>
            </a:r>
          </a:p>
        </p:txBody>
      </p:sp>
      <p:sp>
        <p:nvSpPr>
          <p:cNvPr id="671" name="TextBox 670">
            <a:extLst>
              <a:ext uri="{FF2B5EF4-FFF2-40B4-BE49-F238E27FC236}">
                <a16:creationId xmlns:a16="http://schemas.microsoft.com/office/drawing/2014/main" id="{21C25173-E488-F4B5-8176-4C228EF5B0C5}"/>
              </a:ext>
            </a:extLst>
          </p:cNvPr>
          <p:cNvSpPr txBox="1"/>
          <p:nvPr/>
        </p:nvSpPr>
        <p:spPr>
          <a:xfrm>
            <a:off x="6278375" y="5026074"/>
            <a:ext cx="1501475" cy="769441"/>
          </a:xfrm>
          <a:prstGeom prst="rect">
            <a:avLst/>
          </a:prstGeom>
          <a:noFill/>
        </p:spPr>
        <p:txBody>
          <a:bodyPr wrap="square" rtlCol="0">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Application remains unchanged, but Supporting Services are modernised</a:t>
            </a:r>
          </a:p>
        </p:txBody>
      </p:sp>
      <p:sp>
        <p:nvSpPr>
          <p:cNvPr id="672" name="TextBox 671">
            <a:extLst>
              <a:ext uri="{FF2B5EF4-FFF2-40B4-BE49-F238E27FC236}">
                <a16:creationId xmlns:a16="http://schemas.microsoft.com/office/drawing/2014/main" id="{208678EF-1BFD-30F1-2001-0775B5EA83A1}"/>
              </a:ext>
            </a:extLst>
          </p:cNvPr>
          <p:cNvSpPr txBox="1"/>
          <p:nvPr/>
        </p:nvSpPr>
        <p:spPr>
          <a:xfrm>
            <a:off x="4700789" y="5029584"/>
            <a:ext cx="1423705" cy="938719"/>
          </a:xfrm>
          <a:prstGeom prst="rect">
            <a:avLst/>
          </a:prstGeom>
          <a:noFill/>
        </p:spPr>
        <p:txBody>
          <a:bodyPr wrap="square" rtlCol="0">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Refactor Application to benefit from automation and cloud services</a:t>
            </a:r>
          </a:p>
        </p:txBody>
      </p:sp>
      <p:sp>
        <p:nvSpPr>
          <p:cNvPr id="673" name="TextBox 672">
            <a:extLst>
              <a:ext uri="{FF2B5EF4-FFF2-40B4-BE49-F238E27FC236}">
                <a16:creationId xmlns:a16="http://schemas.microsoft.com/office/drawing/2014/main" id="{0933AEBA-B084-12FA-A88A-73EDDDE1EA9F}"/>
              </a:ext>
            </a:extLst>
          </p:cNvPr>
          <p:cNvSpPr txBox="1"/>
          <p:nvPr/>
        </p:nvSpPr>
        <p:spPr>
          <a:xfrm>
            <a:off x="3174633" y="5057128"/>
            <a:ext cx="1342361" cy="600164"/>
          </a:xfrm>
          <a:prstGeom prst="rect">
            <a:avLst/>
          </a:prstGeom>
          <a:noFill/>
        </p:spPr>
        <p:txBody>
          <a:bodyPr wrap="square" rtlCol="0">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Rewrite Application to be Cloud Native</a:t>
            </a:r>
          </a:p>
        </p:txBody>
      </p:sp>
      <p:cxnSp>
        <p:nvCxnSpPr>
          <p:cNvPr id="676" name="Elbow Connector 163">
            <a:extLst>
              <a:ext uri="{FF2B5EF4-FFF2-40B4-BE49-F238E27FC236}">
                <a16:creationId xmlns:a16="http://schemas.microsoft.com/office/drawing/2014/main" id="{94F21975-9DFE-EF21-B329-03DE38A68049}"/>
              </a:ext>
            </a:extLst>
          </p:cNvPr>
          <p:cNvCxnSpPr>
            <a:cxnSpLocks/>
          </p:cNvCxnSpPr>
          <p:nvPr/>
        </p:nvCxnSpPr>
        <p:spPr>
          <a:xfrm>
            <a:off x="5876214" y="4490958"/>
            <a:ext cx="639647" cy="0"/>
          </a:xfrm>
          <a:prstGeom prst="straightConnector1">
            <a:avLst/>
          </a:prstGeom>
          <a:ln w="63500">
            <a:solidFill>
              <a:schemeClr val="tx2">
                <a:alpha val="68000"/>
              </a:schemeClr>
            </a:solidFill>
            <a:round/>
            <a:tailEnd type="none" w="sm" len="med"/>
          </a:ln>
        </p:spPr>
        <p:style>
          <a:lnRef idx="1">
            <a:schemeClr val="accent1"/>
          </a:lnRef>
          <a:fillRef idx="0">
            <a:schemeClr val="accent1"/>
          </a:fillRef>
          <a:effectRef idx="0">
            <a:schemeClr val="accent1"/>
          </a:effectRef>
          <a:fontRef idx="minor">
            <a:schemeClr val="tx1"/>
          </a:fontRef>
        </p:style>
      </p:cxnSp>
      <p:cxnSp>
        <p:nvCxnSpPr>
          <p:cNvPr id="677" name="Elbow Connector 163">
            <a:extLst>
              <a:ext uri="{FF2B5EF4-FFF2-40B4-BE49-F238E27FC236}">
                <a16:creationId xmlns:a16="http://schemas.microsoft.com/office/drawing/2014/main" id="{DED15D7C-5E9D-0FA1-8616-98EEAEF8ADFE}"/>
              </a:ext>
            </a:extLst>
          </p:cNvPr>
          <p:cNvCxnSpPr>
            <a:cxnSpLocks/>
          </p:cNvCxnSpPr>
          <p:nvPr/>
        </p:nvCxnSpPr>
        <p:spPr>
          <a:xfrm>
            <a:off x="7445240" y="4490958"/>
            <a:ext cx="639647" cy="0"/>
          </a:xfrm>
          <a:prstGeom prst="straightConnector1">
            <a:avLst/>
          </a:prstGeom>
          <a:ln w="63500">
            <a:solidFill>
              <a:schemeClr val="tx2">
                <a:alpha val="68000"/>
              </a:schemeClr>
            </a:solidFill>
            <a:round/>
            <a:tailEnd type="none" w="sm" len="med"/>
          </a:ln>
        </p:spPr>
        <p:style>
          <a:lnRef idx="1">
            <a:schemeClr val="accent1"/>
          </a:lnRef>
          <a:fillRef idx="0">
            <a:schemeClr val="accent1"/>
          </a:fillRef>
          <a:effectRef idx="0">
            <a:schemeClr val="accent1"/>
          </a:effectRef>
          <a:fontRef idx="minor">
            <a:schemeClr val="tx1"/>
          </a:fontRef>
        </p:style>
      </p:cxnSp>
      <p:cxnSp>
        <p:nvCxnSpPr>
          <p:cNvPr id="678" name="Elbow Connector 163">
            <a:extLst>
              <a:ext uri="{FF2B5EF4-FFF2-40B4-BE49-F238E27FC236}">
                <a16:creationId xmlns:a16="http://schemas.microsoft.com/office/drawing/2014/main" id="{CD049F9F-25A2-81BE-4F5B-E57BBEBE9890}"/>
              </a:ext>
            </a:extLst>
          </p:cNvPr>
          <p:cNvCxnSpPr>
            <a:cxnSpLocks/>
            <a:endCxn id="587" idx="1"/>
          </p:cNvCxnSpPr>
          <p:nvPr/>
        </p:nvCxnSpPr>
        <p:spPr>
          <a:xfrm flipV="1">
            <a:off x="3607663" y="1994681"/>
            <a:ext cx="1474223" cy="10886"/>
          </a:xfrm>
          <a:prstGeom prst="straightConnector1">
            <a:avLst/>
          </a:prstGeom>
          <a:ln w="63500">
            <a:solidFill>
              <a:schemeClr val="accent1">
                <a:lumMod val="75000"/>
                <a:alpha val="68000"/>
              </a:schemeClr>
            </a:solidFill>
            <a:round/>
            <a:tailEnd type="triangle" w="sm" len="med"/>
          </a:ln>
        </p:spPr>
        <p:style>
          <a:lnRef idx="1">
            <a:schemeClr val="accent1"/>
          </a:lnRef>
          <a:fillRef idx="0">
            <a:schemeClr val="accent1"/>
          </a:fillRef>
          <a:effectRef idx="0">
            <a:schemeClr val="accent1"/>
          </a:effectRef>
          <a:fontRef idx="minor">
            <a:schemeClr val="tx1"/>
          </a:fontRef>
        </p:style>
      </p:cxnSp>
      <p:cxnSp>
        <p:nvCxnSpPr>
          <p:cNvPr id="681" name="Elbow Connector 163">
            <a:extLst>
              <a:ext uri="{FF2B5EF4-FFF2-40B4-BE49-F238E27FC236}">
                <a16:creationId xmlns:a16="http://schemas.microsoft.com/office/drawing/2014/main" id="{A30EA0BA-942A-D76B-6DF3-E8447128ADBD}"/>
              </a:ext>
            </a:extLst>
          </p:cNvPr>
          <p:cNvCxnSpPr>
            <a:cxnSpLocks/>
            <a:stCxn id="587" idx="3"/>
            <a:endCxn id="588" idx="3"/>
          </p:cNvCxnSpPr>
          <p:nvPr/>
        </p:nvCxnSpPr>
        <p:spPr>
          <a:xfrm flipH="1">
            <a:off x="9018431" y="1994681"/>
            <a:ext cx="2182969" cy="2506851"/>
          </a:xfrm>
          <a:prstGeom prst="bentConnector3">
            <a:avLst>
              <a:gd name="adj1" fmla="val -34992"/>
            </a:avLst>
          </a:prstGeom>
          <a:ln w="63500">
            <a:solidFill>
              <a:schemeClr val="accent1">
                <a:lumMod val="75000"/>
                <a:alpha val="68000"/>
              </a:schemeClr>
            </a:solidFill>
            <a:round/>
            <a:tailEnd type="triangle" w="sm" len="med"/>
          </a:ln>
        </p:spPr>
        <p:style>
          <a:lnRef idx="1">
            <a:schemeClr val="accent1"/>
          </a:lnRef>
          <a:fillRef idx="0">
            <a:schemeClr val="accent1"/>
          </a:fillRef>
          <a:effectRef idx="0">
            <a:schemeClr val="accent1"/>
          </a:effectRef>
          <a:fontRef idx="minor">
            <a:schemeClr val="tx1"/>
          </a:fontRef>
        </p:style>
      </p:cxnSp>
      <p:cxnSp>
        <p:nvCxnSpPr>
          <p:cNvPr id="686" name="Elbow Connector 163">
            <a:extLst>
              <a:ext uri="{FF2B5EF4-FFF2-40B4-BE49-F238E27FC236}">
                <a16:creationId xmlns:a16="http://schemas.microsoft.com/office/drawing/2014/main" id="{5AD41250-63B5-67CE-047A-60A208AFC04D}"/>
              </a:ext>
            </a:extLst>
          </p:cNvPr>
          <p:cNvCxnSpPr>
            <a:cxnSpLocks/>
            <a:endCxn id="588" idx="1"/>
          </p:cNvCxnSpPr>
          <p:nvPr/>
        </p:nvCxnSpPr>
        <p:spPr>
          <a:xfrm flipV="1">
            <a:off x="1909583" y="4501532"/>
            <a:ext cx="1340484" cy="11068"/>
          </a:xfrm>
          <a:prstGeom prst="straightConnector1">
            <a:avLst/>
          </a:prstGeom>
          <a:ln w="63500">
            <a:solidFill>
              <a:schemeClr val="accent1">
                <a:lumMod val="75000"/>
                <a:alpha val="68000"/>
              </a:schemeClr>
            </a:solidFill>
            <a:round/>
            <a:headEnd type="triangle" w="sm" len="med"/>
            <a:tailEnd type="none" w="sm" len="med"/>
          </a:ln>
        </p:spPr>
        <p:style>
          <a:lnRef idx="1">
            <a:schemeClr val="accent1"/>
          </a:lnRef>
          <a:fillRef idx="0">
            <a:schemeClr val="accent1"/>
          </a:fillRef>
          <a:effectRef idx="0">
            <a:schemeClr val="accent1"/>
          </a:effectRef>
          <a:fontRef idx="minor">
            <a:schemeClr val="tx1"/>
          </a:fontRef>
        </p:style>
      </p:cxnSp>
      <p:grpSp>
        <p:nvGrpSpPr>
          <p:cNvPr id="691" name="Group 690">
            <a:extLst>
              <a:ext uri="{FF2B5EF4-FFF2-40B4-BE49-F238E27FC236}">
                <a16:creationId xmlns:a16="http://schemas.microsoft.com/office/drawing/2014/main" id="{2FDEAE8D-8D48-34F8-B41B-37AAAFB28EA7}"/>
              </a:ext>
            </a:extLst>
          </p:cNvPr>
          <p:cNvGrpSpPr/>
          <p:nvPr/>
        </p:nvGrpSpPr>
        <p:grpSpPr>
          <a:xfrm>
            <a:off x="825229" y="3949132"/>
            <a:ext cx="1107996" cy="1107996"/>
            <a:chOff x="11448458" y="1422710"/>
            <a:chExt cx="533329" cy="533329"/>
          </a:xfrm>
          <a:solidFill>
            <a:schemeClr val="tx1">
              <a:lumMod val="75000"/>
              <a:lumOff val="25000"/>
            </a:schemeClr>
          </a:solidFill>
        </p:grpSpPr>
        <p:sp>
          <p:nvSpPr>
            <p:cNvPr id="692" name="Google Shape;610;p61">
              <a:extLst>
                <a:ext uri="{FF2B5EF4-FFF2-40B4-BE49-F238E27FC236}">
                  <a16:creationId xmlns:a16="http://schemas.microsoft.com/office/drawing/2014/main" id="{5469527B-08C3-03C0-81C9-37DB65E0A013}"/>
                </a:ext>
              </a:extLst>
            </p:cNvPr>
            <p:cNvSpPr/>
            <p:nvPr/>
          </p:nvSpPr>
          <p:spPr>
            <a:xfrm>
              <a:off x="11448458" y="1422710"/>
              <a:ext cx="533329" cy="533329"/>
            </a:xfrm>
            <a:prstGeom prst="ellipse">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2286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black"/>
                </a:solidFill>
                <a:effectLst/>
                <a:uLnTx/>
                <a:uFillTx/>
                <a:latin typeface="Fira Sans" panose="020B0503050000020004" pitchFamily="34" charset="0"/>
                <a:cs typeface="Arial"/>
                <a:sym typeface="Arial"/>
              </a:endParaRPr>
            </a:p>
          </p:txBody>
        </p:sp>
        <p:sp>
          <p:nvSpPr>
            <p:cNvPr id="693" name="Freeform 190">
              <a:extLst>
                <a:ext uri="{FF2B5EF4-FFF2-40B4-BE49-F238E27FC236}">
                  <a16:creationId xmlns:a16="http://schemas.microsoft.com/office/drawing/2014/main" id="{D25BA427-73E7-8AB9-3C78-2627CA834D0B}"/>
                </a:ext>
              </a:extLst>
            </p:cNvPr>
            <p:cNvSpPr>
              <a:spLocks noChangeArrowheads="1"/>
            </p:cNvSpPr>
            <p:nvPr/>
          </p:nvSpPr>
          <p:spPr bwMode="auto">
            <a:xfrm>
              <a:off x="11544471" y="1516207"/>
              <a:ext cx="342407" cy="342407"/>
            </a:xfrm>
            <a:custGeom>
              <a:avLst/>
              <a:gdLst>
                <a:gd name="T0" fmla="*/ 370 w 2529"/>
                <a:gd name="T1" fmla="*/ 2159 h 2529"/>
                <a:gd name="T2" fmla="*/ 845 w 2529"/>
                <a:gd name="T3" fmla="*/ 2261 h 2529"/>
                <a:gd name="T4" fmla="*/ 856 w 2529"/>
                <a:gd name="T5" fmla="*/ 2264 h 2529"/>
                <a:gd name="T6" fmla="*/ 1264 w 2529"/>
                <a:gd name="T7" fmla="*/ 2528 h 2529"/>
                <a:gd name="T8" fmla="*/ 1672 w 2529"/>
                <a:gd name="T9" fmla="*/ 2264 h 2529"/>
                <a:gd name="T10" fmla="*/ 1683 w 2529"/>
                <a:gd name="T11" fmla="*/ 2261 h 2529"/>
                <a:gd name="T12" fmla="*/ 2158 w 2529"/>
                <a:gd name="T13" fmla="*/ 2159 h 2529"/>
                <a:gd name="T14" fmla="*/ 2260 w 2529"/>
                <a:gd name="T15" fmla="*/ 1683 h 2529"/>
                <a:gd name="T16" fmla="*/ 2264 w 2529"/>
                <a:gd name="T17" fmla="*/ 1673 h 2529"/>
                <a:gd name="T18" fmla="*/ 2528 w 2529"/>
                <a:gd name="T19" fmla="*/ 1264 h 2529"/>
                <a:gd name="T20" fmla="*/ 2264 w 2529"/>
                <a:gd name="T21" fmla="*/ 856 h 2529"/>
                <a:gd name="T22" fmla="*/ 2260 w 2529"/>
                <a:gd name="T23" fmla="*/ 845 h 2529"/>
                <a:gd name="T24" fmla="*/ 2158 w 2529"/>
                <a:gd name="T25" fmla="*/ 370 h 2529"/>
                <a:gd name="T26" fmla="*/ 1683 w 2529"/>
                <a:gd name="T27" fmla="*/ 268 h 2529"/>
                <a:gd name="T28" fmla="*/ 1672 w 2529"/>
                <a:gd name="T29" fmla="*/ 264 h 2529"/>
                <a:gd name="T30" fmla="*/ 1264 w 2529"/>
                <a:gd name="T31" fmla="*/ 0 h 2529"/>
                <a:gd name="T32" fmla="*/ 856 w 2529"/>
                <a:gd name="T33" fmla="*/ 264 h 2529"/>
                <a:gd name="T34" fmla="*/ 845 w 2529"/>
                <a:gd name="T35" fmla="*/ 268 h 2529"/>
                <a:gd name="T36" fmla="*/ 370 w 2529"/>
                <a:gd name="T37" fmla="*/ 370 h 2529"/>
                <a:gd name="T38" fmla="*/ 268 w 2529"/>
                <a:gd name="T39" fmla="*/ 845 h 2529"/>
                <a:gd name="T40" fmla="*/ 264 w 2529"/>
                <a:gd name="T41" fmla="*/ 856 h 2529"/>
                <a:gd name="T42" fmla="*/ 0 w 2529"/>
                <a:gd name="T43" fmla="*/ 1264 h 2529"/>
                <a:gd name="T44" fmla="*/ 264 w 2529"/>
                <a:gd name="T45" fmla="*/ 1673 h 2529"/>
                <a:gd name="T46" fmla="*/ 268 w 2529"/>
                <a:gd name="T47" fmla="*/ 1683 h 2529"/>
                <a:gd name="T48" fmla="*/ 370 w 2529"/>
                <a:gd name="T49" fmla="*/ 2159 h 2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529" h="2529">
                  <a:moveTo>
                    <a:pt x="370" y="2159"/>
                  </a:moveTo>
                  <a:cubicBezTo>
                    <a:pt x="500" y="2289"/>
                    <a:pt x="687" y="2321"/>
                    <a:pt x="845" y="2261"/>
                  </a:cubicBezTo>
                  <a:cubicBezTo>
                    <a:pt x="848" y="2261"/>
                    <a:pt x="856" y="2261"/>
                    <a:pt x="856" y="2264"/>
                  </a:cubicBezTo>
                  <a:cubicBezTo>
                    <a:pt x="926" y="2419"/>
                    <a:pt x="1084" y="2528"/>
                    <a:pt x="1264" y="2528"/>
                  </a:cubicBezTo>
                  <a:cubicBezTo>
                    <a:pt x="1443" y="2528"/>
                    <a:pt x="1602" y="2419"/>
                    <a:pt x="1672" y="2264"/>
                  </a:cubicBezTo>
                  <a:cubicBezTo>
                    <a:pt x="1676" y="2261"/>
                    <a:pt x="1679" y="2257"/>
                    <a:pt x="1683" y="2261"/>
                  </a:cubicBezTo>
                  <a:cubicBezTo>
                    <a:pt x="1841" y="2321"/>
                    <a:pt x="2031" y="2285"/>
                    <a:pt x="2158" y="2159"/>
                  </a:cubicBezTo>
                  <a:cubicBezTo>
                    <a:pt x="2288" y="2028"/>
                    <a:pt x="2320" y="1842"/>
                    <a:pt x="2260" y="1683"/>
                  </a:cubicBezTo>
                  <a:cubicBezTo>
                    <a:pt x="2260" y="1680"/>
                    <a:pt x="2260" y="1673"/>
                    <a:pt x="2264" y="1673"/>
                  </a:cubicBezTo>
                  <a:cubicBezTo>
                    <a:pt x="2419" y="1602"/>
                    <a:pt x="2528" y="1443"/>
                    <a:pt x="2528" y="1264"/>
                  </a:cubicBezTo>
                  <a:cubicBezTo>
                    <a:pt x="2528" y="1084"/>
                    <a:pt x="2419" y="926"/>
                    <a:pt x="2264" y="856"/>
                  </a:cubicBezTo>
                  <a:cubicBezTo>
                    <a:pt x="2260" y="852"/>
                    <a:pt x="2257" y="849"/>
                    <a:pt x="2260" y="845"/>
                  </a:cubicBezTo>
                  <a:cubicBezTo>
                    <a:pt x="2320" y="687"/>
                    <a:pt x="2285" y="497"/>
                    <a:pt x="2158" y="370"/>
                  </a:cubicBezTo>
                  <a:cubicBezTo>
                    <a:pt x="2028" y="240"/>
                    <a:pt x="1841" y="208"/>
                    <a:pt x="1683" y="268"/>
                  </a:cubicBezTo>
                  <a:cubicBezTo>
                    <a:pt x="1679" y="268"/>
                    <a:pt x="1672" y="268"/>
                    <a:pt x="1672" y="264"/>
                  </a:cubicBezTo>
                  <a:cubicBezTo>
                    <a:pt x="1602" y="109"/>
                    <a:pt x="1443" y="0"/>
                    <a:pt x="1264" y="0"/>
                  </a:cubicBezTo>
                  <a:cubicBezTo>
                    <a:pt x="1084" y="0"/>
                    <a:pt x="926" y="109"/>
                    <a:pt x="856" y="264"/>
                  </a:cubicBezTo>
                  <a:cubicBezTo>
                    <a:pt x="852" y="268"/>
                    <a:pt x="848" y="271"/>
                    <a:pt x="845" y="268"/>
                  </a:cubicBezTo>
                  <a:cubicBezTo>
                    <a:pt x="687" y="208"/>
                    <a:pt x="496" y="243"/>
                    <a:pt x="370" y="370"/>
                  </a:cubicBezTo>
                  <a:cubicBezTo>
                    <a:pt x="239" y="500"/>
                    <a:pt x="208" y="687"/>
                    <a:pt x="268" y="845"/>
                  </a:cubicBezTo>
                  <a:cubicBezTo>
                    <a:pt x="268" y="849"/>
                    <a:pt x="268" y="856"/>
                    <a:pt x="264" y="856"/>
                  </a:cubicBezTo>
                  <a:cubicBezTo>
                    <a:pt x="109" y="926"/>
                    <a:pt x="0" y="1084"/>
                    <a:pt x="0" y="1264"/>
                  </a:cubicBezTo>
                  <a:cubicBezTo>
                    <a:pt x="0" y="1443"/>
                    <a:pt x="109" y="1602"/>
                    <a:pt x="264" y="1673"/>
                  </a:cubicBezTo>
                  <a:cubicBezTo>
                    <a:pt x="268" y="1676"/>
                    <a:pt x="271" y="1680"/>
                    <a:pt x="268" y="1683"/>
                  </a:cubicBezTo>
                  <a:cubicBezTo>
                    <a:pt x="208" y="1845"/>
                    <a:pt x="243" y="2032"/>
                    <a:pt x="370" y="2159"/>
                  </a:cubicBezTo>
                </a:path>
              </a:pathLst>
            </a:custGeom>
            <a:grpFill/>
            <a:ln w="15875" cap="flat">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grpSp>
      <p:sp>
        <p:nvSpPr>
          <p:cNvPr id="694" name="TextBox 693">
            <a:extLst>
              <a:ext uri="{FF2B5EF4-FFF2-40B4-BE49-F238E27FC236}">
                <a16:creationId xmlns:a16="http://schemas.microsoft.com/office/drawing/2014/main" id="{CF9D8642-906D-29B3-2175-6ECD789F3126}"/>
              </a:ext>
            </a:extLst>
          </p:cNvPr>
          <p:cNvSpPr txBox="1"/>
          <p:nvPr/>
        </p:nvSpPr>
        <p:spPr>
          <a:xfrm>
            <a:off x="702840" y="5084194"/>
            <a:ext cx="1342361" cy="261610"/>
          </a:xfrm>
          <a:prstGeom prst="rect">
            <a:avLst/>
          </a:prstGeom>
          <a:noFill/>
        </p:spPr>
        <p:txBody>
          <a:bodyPr wrap="square" rtlCol="0">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FFFFFF"/>
                </a:solidFill>
                <a:effectLst/>
                <a:uLnTx/>
                <a:uFillTx/>
                <a:latin typeface="Fira Sans" panose="020B0503050000020004" pitchFamily="34" charset="0"/>
                <a:ea typeface="+mn-ea"/>
                <a:cs typeface="+mn-cs"/>
              </a:rPr>
              <a:t>Cloud Ops</a:t>
            </a:r>
          </a:p>
        </p:txBody>
      </p:sp>
      <p:grpSp>
        <p:nvGrpSpPr>
          <p:cNvPr id="702" name="Group 701">
            <a:extLst>
              <a:ext uri="{FF2B5EF4-FFF2-40B4-BE49-F238E27FC236}">
                <a16:creationId xmlns:a16="http://schemas.microsoft.com/office/drawing/2014/main" id="{D53F1AF6-3B3C-E6E0-3D3D-C86CD8459332}"/>
              </a:ext>
            </a:extLst>
          </p:cNvPr>
          <p:cNvGrpSpPr>
            <a:grpSpLocks noChangeAspect="1"/>
          </p:cNvGrpSpPr>
          <p:nvPr/>
        </p:nvGrpSpPr>
        <p:grpSpPr>
          <a:xfrm>
            <a:off x="9409842" y="1581159"/>
            <a:ext cx="418083" cy="473830"/>
            <a:chOff x="10644188" y="519113"/>
            <a:chExt cx="785812" cy="890587"/>
          </a:xfrm>
        </p:grpSpPr>
        <p:sp>
          <p:nvSpPr>
            <p:cNvPr id="703" name="Freeform 14">
              <a:extLst>
                <a:ext uri="{FF2B5EF4-FFF2-40B4-BE49-F238E27FC236}">
                  <a16:creationId xmlns:a16="http://schemas.microsoft.com/office/drawing/2014/main" id="{1FAEE7F1-3255-05AE-6AFD-815FCB2B611D}"/>
                </a:ext>
              </a:extLst>
            </p:cNvPr>
            <p:cNvSpPr>
              <a:spLocks noChangeArrowheads="1"/>
            </p:cNvSpPr>
            <p:nvPr/>
          </p:nvSpPr>
          <p:spPr bwMode="auto">
            <a:xfrm>
              <a:off x="10644188" y="519113"/>
              <a:ext cx="785812" cy="890587"/>
            </a:xfrm>
            <a:custGeom>
              <a:avLst/>
              <a:gdLst>
                <a:gd name="T0" fmla="*/ 0 w 2181"/>
                <a:gd name="T1" fmla="*/ 1402 h 2473"/>
                <a:gd name="T2" fmla="*/ 0 w 2181"/>
                <a:gd name="T3" fmla="*/ 380 h 2473"/>
                <a:gd name="T4" fmla="*/ 134 w 2181"/>
                <a:gd name="T5" fmla="*/ 240 h 2473"/>
                <a:gd name="T6" fmla="*/ 1032 w 2181"/>
                <a:gd name="T7" fmla="*/ 18 h 2473"/>
                <a:gd name="T8" fmla="*/ 1148 w 2181"/>
                <a:gd name="T9" fmla="*/ 18 h 2473"/>
                <a:gd name="T10" fmla="*/ 2046 w 2181"/>
                <a:gd name="T11" fmla="*/ 240 h 2473"/>
                <a:gd name="T12" fmla="*/ 2180 w 2181"/>
                <a:gd name="T13" fmla="*/ 380 h 2473"/>
                <a:gd name="T14" fmla="*/ 2180 w 2181"/>
                <a:gd name="T15" fmla="*/ 1402 h 2473"/>
                <a:gd name="T16" fmla="*/ 1162 w 2181"/>
                <a:gd name="T17" fmla="*/ 2462 h 2473"/>
                <a:gd name="T18" fmla="*/ 1014 w 2181"/>
                <a:gd name="T19" fmla="*/ 2462 h 2473"/>
                <a:gd name="T20" fmla="*/ 0 w 2181"/>
                <a:gd name="T21" fmla="*/ 1402 h 2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81" h="2473">
                  <a:moveTo>
                    <a:pt x="0" y="1402"/>
                  </a:moveTo>
                  <a:cubicBezTo>
                    <a:pt x="0" y="1061"/>
                    <a:pt x="0" y="721"/>
                    <a:pt x="0" y="380"/>
                  </a:cubicBezTo>
                  <a:cubicBezTo>
                    <a:pt x="0" y="307"/>
                    <a:pt x="60" y="243"/>
                    <a:pt x="134" y="240"/>
                  </a:cubicBezTo>
                  <a:cubicBezTo>
                    <a:pt x="455" y="222"/>
                    <a:pt x="757" y="145"/>
                    <a:pt x="1032" y="18"/>
                  </a:cubicBezTo>
                  <a:cubicBezTo>
                    <a:pt x="1071" y="0"/>
                    <a:pt x="1113" y="0"/>
                    <a:pt x="1148" y="18"/>
                  </a:cubicBezTo>
                  <a:cubicBezTo>
                    <a:pt x="1426" y="145"/>
                    <a:pt x="1729" y="222"/>
                    <a:pt x="2046" y="240"/>
                  </a:cubicBezTo>
                  <a:cubicBezTo>
                    <a:pt x="2120" y="243"/>
                    <a:pt x="2180" y="307"/>
                    <a:pt x="2180" y="380"/>
                  </a:cubicBezTo>
                  <a:cubicBezTo>
                    <a:pt x="2180" y="683"/>
                    <a:pt x="2180" y="1061"/>
                    <a:pt x="2180" y="1402"/>
                  </a:cubicBezTo>
                  <a:cubicBezTo>
                    <a:pt x="2180" y="1764"/>
                    <a:pt x="1866" y="2310"/>
                    <a:pt x="1162" y="2462"/>
                  </a:cubicBezTo>
                  <a:cubicBezTo>
                    <a:pt x="1113" y="2472"/>
                    <a:pt x="1064" y="2472"/>
                    <a:pt x="1014" y="2462"/>
                  </a:cubicBezTo>
                  <a:cubicBezTo>
                    <a:pt x="317" y="2310"/>
                    <a:pt x="0" y="1764"/>
                    <a:pt x="0" y="1402"/>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grpSp>
          <p:nvGrpSpPr>
            <p:cNvPr id="704" name="Group 703">
              <a:extLst>
                <a:ext uri="{FF2B5EF4-FFF2-40B4-BE49-F238E27FC236}">
                  <a16:creationId xmlns:a16="http://schemas.microsoft.com/office/drawing/2014/main" id="{EBFCAAD2-571F-F400-93F9-40188395E8B5}"/>
                </a:ext>
              </a:extLst>
            </p:cNvPr>
            <p:cNvGrpSpPr/>
            <p:nvPr/>
          </p:nvGrpSpPr>
          <p:grpSpPr>
            <a:xfrm>
              <a:off x="10782300" y="708025"/>
              <a:ext cx="509588" cy="509588"/>
              <a:chOff x="10782300" y="708025"/>
              <a:chExt cx="509588" cy="509588"/>
            </a:xfrm>
          </p:grpSpPr>
          <p:sp>
            <p:nvSpPr>
              <p:cNvPr id="705" name="Freeform 15">
                <a:extLst>
                  <a:ext uri="{FF2B5EF4-FFF2-40B4-BE49-F238E27FC236}">
                    <a16:creationId xmlns:a16="http://schemas.microsoft.com/office/drawing/2014/main" id="{CEF840C2-85F6-8671-3CBC-7AF3C5980AF1}"/>
                  </a:ext>
                </a:extLst>
              </p:cNvPr>
              <p:cNvSpPr>
                <a:spLocks noChangeArrowheads="1"/>
              </p:cNvSpPr>
              <p:nvPr/>
            </p:nvSpPr>
            <p:spPr bwMode="auto">
              <a:xfrm>
                <a:off x="10872788" y="798513"/>
                <a:ext cx="330200" cy="330200"/>
              </a:xfrm>
              <a:custGeom>
                <a:avLst/>
                <a:gdLst>
                  <a:gd name="T0" fmla="*/ 916 w 917"/>
                  <a:gd name="T1" fmla="*/ 458 h 917"/>
                  <a:gd name="T2" fmla="*/ 854 w 917"/>
                  <a:gd name="T3" fmla="*/ 687 h 917"/>
                  <a:gd name="T4" fmla="*/ 687 w 917"/>
                  <a:gd name="T5" fmla="*/ 855 h 917"/>
                  <a:gd name="T6" fmla="*/ 458 w 917"/>
                  <a:gd name="T7" fmla="*/ 916 h 917"/>
                  <a:gd name="T8" fmla="*/ 229 w 917"/>
                  <a:gd name="T9" fmla="*/ 855 h 917"/>
                  <a:gd name="T10" fmla="*/ 61 w 917"/>
                  <a:gd name="T11" fmla="*/ 687 h 917"/>
                  <a:gd name="T12" fmla="*/ 0 w 917"/>
                  <a:gd name="T13" fmla="*/ 458 h 917"/>
                  <a:gd name="T14" fmla="*/ 61 w 917"/>
                  <a:gd name="T15" fmla="*/ 229 h 917"/>
                  <a:gd name="T16" fmla="*/ 229 w 917"/>
                  <a:gd name="T17" fmla="*/ 62 h 917"/>
                  <a:gd name="T18" fmla="*/ 458 w 917"/>
                  <a:gd name="T19" fmla="*/ 0 h 917"/>
                  <a:gd name="T20" fmla="*/ 687 w 917"/>
                  <a:gd name="T21" fmla="*/ 62 h 917"/>
                  <a:gd name="T22" fmla="*/ 854 w 917"/>
                  <a:gd name="T23" fmla="*/ 229 h 917"/>
                  <a:gd name="T24" fmla="*/ 916 w 917"/>
                  <a:gd name="T25" fmla="*/ 458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7" h="917">
                    <a:moveTo>
                      <a:pt x="916" y="458"/>
                    </a:moveTo>
                    <a:cubicBezTo>
                      <a:pt x="916" y="542"/>
                      <a:pt x="896" y="614"/>
                      <a:pt x="854" y="687"/>
                    </a:cubicBezTo>
                    <a:cubicBezTo>
                      <a:pt x="812" y="760"/>
                      <a:pt x="760" y="812"/>
                      <a:pt x="687" y="855"/>
                    </a:cubicBezTo>
                    <a:cubicBezTo>
                      <a:pt x="614" y="897"/>
                      <a:pt x="542" y="916"/>
                      <a:pt x="458" y="916"/>
                    </a:cubicBezTo>
                    <a:cubicBezTo>
                      <a:pt x="374" y="916"/>
                      <a:pt x="302" y="897"/>
                      <a:pt x="229" y="855"/>
                    </a:cubicBezTo>
                    <a:cubicBezTo>
                      <a:pt x="156" y="812"/>
                      <a:pt x="104" y="760"/>
                      <a:pt x="61" y="687"/>
                    </a:cubicBezTo>
                    <a:cubicBezTo>
                      <a:pt x="19" y="614"/>
                      <a:pt x="0" y="542"/>
                      <a:pt x="0" y="458"/>
                    </a:cubicBezTo>
                    <a:cubicBezTo>
                      <a:pt x="0" y="374"/>
                      <a:pt x="19" y="302"/>
                      <a:pt x="61" y="229"/>
                    </a:cubicBezTo>
                    <a:cubicBezTo>
                      <a:pt x="104" y="156"/>
                      <a:pt x="156" y="104"/>
                      <a:pt x="229" y="62"/>
                    </a:cubicBezTo>
                    <a:cubicBezTo>
                      <a:pt x="302" y="20"/>
                      <a:pt x="374" y="0"/>
                      <a:pt x="458" y="0"/>
                    </a:cubicBezTo>
                    <a:cubicBezTo>
                      <a:pt x="542" y="0"/>
                      <a:pt x="614" y="20"/>
                      <a:pt x="687" y="62"/>
                    </a:cubicBezTo>
                    <a:cubicBezTo>
                      <a:pt x="760" y="104"/>
                      <a:pt x="812" y="156"/>
                      <a:pt x="854" y="229"/>
                    </a:cubicBezTo>
                    <a:cubicBezTo>
                      <a:pt x="896" y="302"/>
                      <a:pt x="916" y="374"/>
                      <a:pt x="916" y="458"/>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706" name="Freeform 16">
                <a:extLst>
                  <a:ext uri="{FF2B5EF4-FFF2-40B4-BE49-F238E27FC236}">
                    <a16:creationId xmlns:a16="http://schemas.microsoft.com/office/drawing/2014/main" id="{C291B291-112D-9632-3572-FCF90B6405A2}"/>
                  </a:ext>
                </a:extLst>
              </p:cNvPr>
              <p:cNvSpPr>
                <a:spLocks noChangeArrowheads="1"/>
              </p:cNvSpPr>
              <p:nvPr/>
            </p:nvSpPr>
            <p:spPr bwMode="auto">
              <a:xfrm>
                <a:off x="10966450" y="900113"/>
                <a:ext cx="136525" cy="127000"/>
              </a:xfrm>
              <a:custGeom>
                <a:avLst/>
                <a:gdLst>
                  <a:gd name="T0" fmla="*/ 380 w 381"/>
                  <a:gd name="T1" fmla="*/ 0 h 353"/>
                  <a:gd name="T2" fmla="*/ 126 w 381"/>
                  <a:gd name="T3" fmla="*/ 349 h 353"/>
                  <a:gd name="T4" fmla="*/ 119 w 381"/>
                  <a:gd name="T5" fmla="*/ 352 h 353"/>
                  <a:gd name="T6" fmla="*/ 112 w 381"/>
                  <a:gd name="T7" fmla="*/ 349 h 353"/>
                  <a:gd name="T8" fmla="*/ 0 w 381"/>
                  <a:gd name="T9" fmla="*/ 208 h 353"/>
                </a:gdLst>
                <a:ahLst/>
                <a:cxnLst>
                  <a:cxn ang="0">
                    <a:pos x="T0" y="T1"/>
                  </a:cxn>
                  <a:cxn ang="0">
                    <a:pos x="T2" y="T3"/>
                  </a:cxn>
                  <a:cxn ang="0">
                    <a:pos x="T4" y="T5"/>
                  </a:cxn>
                  <a:cxn ang="0">
                    <a:pos x="T6" y="T7"/>
                  </a:cxn>
                  <a:cxn ang="0">
                    <a:pos x="T8" y="T9"/>
                  </a:cxn>
                </a:cxnLst>
                <a:rect l="0" t="0" r="r" b="b"/>
                <a:pathLst>
                  <a:path w="381" h="353">
                    <a:moveTo>
                      <a:pt x="380" y="0"/>
                    </a:moveTo>
                    <a:cubicBezTo>
                      <a:pt x="295" y="116"/>
                      <a:pt x="211" y="233"/>
                      <a:pt x="126" y="349"/>
                    </a:cubicBezTo>
                    <a:cubicBezTo>
                      <a:pt x="123" y="352"/>
                      <a:pt x="123" y="352"/>
                      <a:pt x="119" y="352"/>
                    </a:cubicBezTo>
                    <a:cubicBezTo>
                      <a:pt x="116" y="352"/>
                      <a:pt x="112" y="352"/>
                      <a:pt x="112" y="349"/>
                    </a:cubicBezTo>
                    <a:cubicBezTo>
                      <a:pt x="75" y="302"/>
                      <a:pt x="37" y="255"/>
                      <a:pt x="0" y="208"/>
                    </a:cubicBezTo>
                  </a:path>
                </a:pathLst>
              </a:custGeom>
              <a:noFill/>
              <a:ln w="12700" cap="rnd">
                <a:solidFill>
                  <a:schemeClr val="bg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707" name="Freeform 17">
                <a:extLst>
                  <a:ext uri="{FF2B5EF4-FFF2-40B4-BE49-F238E27FC236}">
                    <a16:creationId xmlns:a16="http://schemas.microsoft.com/office/drawing/2014/main" id="{B6E3659C-882B-BA20-DDFA-89A24516E50F}"/>
                  </a:ext>
                </a:extLst>
              </p:cNvPr>
              <p:cNvSpPr>
                <a:spLocks noChangeArrowheads="1"/>
              </p:cNvSpPr>
              <p:nvPr/>
            </p:nvSpPr>
            <p:spPr bwMode="auto">
              <a:xfrm>
                <a:off x="10782300" y="708025"/>
                <a:ext cx="509588" cy="509588"/>
              </a:xfrm>
              <a:custGeom>
                <a:avLst/>
                <a:gdLst>
                  <a:gd name="T0" fmla="*/ 1338 w 1416"/>
                  <a:gd name="T1" fmla="*/ 599 h 1417"/>
                  <a:gd name="T2" fmla="*/ 1330 w 1416"/>
                  <a:gd name="T3" fmla="*/ 567 h 1417"/>
                  <a:gd name="T4" fmla="*/ 1246 w 1416"/>
                  <a:gd name="T5" fmla="*/ 363 h 1417"/>
                  <a:gd name="T6" fmla="*/ 1232 w 1416"/>
                  <a:gd name="T7" fmla="*/ 338 h 1417"/>
                  <a:gd name="T8" fmla="*/ 1077 w 1416"/>
                  <a:gd name="T9" fmla="*/ 183 h 1417"/>
                  <a:gd name="T10" fmla="*/ 1052 w 1416"/>
                  <a:gd name="T11" fmla="*/ 169 h 1417"/>
                  <a:gd name="T12" fmla="*/ 848 w 1416"/>
                  <a:gd name="T13" fmla="*/ 85 h 1417"/>
                  <a:gd name="T14" fmla="*/ 816 w 1416"/>
                  <a:gd name="T15" fmla="*/ 78 h 1417"/>
                  <a:gd name="T16" fmla="*/ 598 w 1416"/>
                  <a:gd name="T17" fmla="*/ 78 h 1417"/>
                  <a:gd name="T18" fmla="*/ 567 w 1416"/>
                  <a:gd name="T19" fmla="*/ 85 h 1417"/>
                  <a:gd name="T20" fmla="*/ 362 w 1416"/>
                  <a:gd name="T21" fmla="*/ 169 h 1417"/>
                  <a:gd name="T22" fmla="*/ 338 w 1416"/>
                  <a:gd name="T23" fmla="*/ 183 h 1417"/>
                  <a:gd name="T24" fmla="*/ 183 w 1416"/>
                  <a:gd name="T25" fmla="*/ 338 h 1417"/>
                  <a:gd name="T26" fmla="*/ 169 w 1416"/>
                  <a:gd name="T27" fmla="*/ 363 h 1417"/>
                  <a:gd name="T28" fmla="*/ 84 w 1416"/>
                  <a:gd name="T29" fmla="*/ 567 h 1417"/>
                  <a:gd name="T30" fmla="*/ 77 w 1416"/>
                  <a:gd name="T31" fmla="*/ 599 h 1417"/>
                  <a:gd name="T32" fmla="*/ 77 w 1416"/>
                  <a:gd name="T33" fmla="*/ 817 h 1417"/>
                  <a:gd name="T34" fmla="*/ 84 w 1416"/>
                  <a:gd name="T35" fmla="*/ 849 h 1417"/>
                  <a:gd name="T36" fmla="*/ 169 w 1416"/>
                  <a:gd name="T37" fmla="*/ 1053 h 1417"/>
                  <a:gd name="T38" fmla="*/ 183 w 1416"/>
                  <a:gd name="T39" fmla="*/ 1078 h 1417"/>
                  <a:gd name="T40" fmla="*/ 338 w 1416"/>
                  <a:gd name="T41" fmla="*/ 1233 h 1417"/>
                  <a:gd name="T42" fmla="*/ 362 w 1416"/>
                  <a:gd name="T43" fmla="*/ 1247 h 1417"/>
                  <a:gd name="T44" fmla="*/ 567 w 1416"/>
                  <a:gd name="T45" fmla="*/ 1331 h 1417"/>
                  <a:gd name="T46" fmla="*/ 598 w 1416"/>
                  <a:gd name="T47" fmla="*/ 1338 h 1417"/>
                  <a:gd name="T48" fmla="*/ 816 w 1416"/>
                  <a:gd name="T49" fmla="*/ 1338 h 1417"/>
                  <a:gd name="T50" fmla="*/ 848 w 1416"/>
                  <a:gd name="T51" fmla="*/ 1331 h 1417"/>
                  <a:gd name="T52" fmla="*/ 1052 w 1416"/>
                  <a:gd name="T53" fmla="*/ 1247 h 1417"/>
                  <a:gd name="T54" fmla="*/ 1077 w 1416"/>
                  <a:gd name="T55" fmla="*/ 1233 h 1417"/>
                  <a:gd name="T56" fmla="*/ 1232 w 1416"/>
                  <a:gd name="T57" fmla="*/ 1078 h 1417"/>
                  <a:gd name="T58" fmla="*/ 1246 w 1416"/>
                  <a:gd name="T59" fmla="*/ 1053 h 1417"/>
                  <a:gd name="T60" fmla="*/ 1330 w 1416"/>
                  <a:gd name="T61" fmla="*/ 849 h 1417"/>
                  <a:gd name="T62" fmla="*/ 1338 w 1416"/>
                  <a:gd name="T63" fmla="*/ 817 h 1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16" h="1417">
                    <a:moveTo>
                      <a:pt x="1415" y="708"/>
                    </a:moveTo>
                    <a:cubicBezTo>
                      <a:pt x="1415" y="659"/>
                      <a:pt x="1383" y="617"/>
                      <a:pt x="1338" y="599"/>
                    </a:cubicBezTo>
                    <a:cubicBezTo>
                      <a:pt x="1330" y="595"/>
                      <a:pt x="1327" y="592"/>
                      <a:pt x="1327" y="585"/>
                    </a:cubicBezTo>
                    <a:cubicBezTo>
                      <a:pt x="1327" y="578"/>
                      <a:pt x="1327" y="574"/>
                      <a:pt x="1330" y="567"/>
                    </a:cubicBezTo>
                    <a:cubicBezTo>
                      <a:pt x="1366" y="536"/>
                      <a:pt x="1380" y="483"/>
                      <a:pt x="1359" y="437"/>
                    </a:cubicBezTo>
                    <a:cubicBezTo>
                      <a:pt x="1341" y="391"/>
                      <a:pt x="1295" y="363"/>
                      <a:pt x="1246" y="363"/>
                    </a:cubicBezTo>
                    <a:cubicBezTo>
                      <a:pt x="1239" y="363"/>
                      <a:pt x="1235" y="360"/>
                      <a:pt x="1232" y="356"/>
                    </a:cubicBezTo>
                    <a:cubicBezTo>
                      <a:pt x="1228" y="353"/>
                      <a:pt x="1228" y="345"/>
                      <a:pt x="1232" y="338"/>
                    </a:cubicBezTo>
                    <a:cubicBezTo>
                      <a:pt x="1253" y="296"/>
                      <a:pt x="1242" y="243"/>
                      <a:pt x="1207" y="208"/>
                    </a:cubicBezTo>
                    <a:cubicBezTo>
                      <a:pt x="1172" y="173"/>
                      <a:pt x="1119" y="166"/>
                      <a:pt x="1077" y="183"/>
                    </a:cubicBezTo>
                    <a:cubicBezTo>
                      <a:pt x="1070" y="187"/>
                      <a:pt x="1066" y="186"/>
                      <a:pt x="1059" y="183"/>
                    </a:cubicBezTo>
                    <a:cubicBezTo>
                      <a:pt x="1052" y="179"/>
                      <a:pt x="1052" y="173"/>
                      <a:pt x="1052" y="169"/>
                    </a:cubicBezTo>
                    <a:cubicBezTo>
                      <a:pt x="1052" y="124"/>
                      <a:pt x="1028" y="78"/>
                      <a:pt x="978" y="57"/>
                    </a:cubicBezTo>
                    <a:cubicBezTo>
                      <a:pt x="933" y="39"/>
                      <a:pt x="880" y="50"/>
                      <a:pt x="848" y="85"/>
                    </a:cubicBezTo>
                    <a:cubicBezTo>
                      <a:pt x="845" y="88"/>
                      <a:pt x="838" y="92"/>
                      <a:pt x="831" y="88"/>
                    </a:cubicBezTo>
                    <a:cubicBezTo>
                      <a:pt x="824" y="88"/>
                      <a:pt x="820" y="81"/>
                      <a:pt x="816" y="78"/>
                    </a:cubicBezTo>
                    <a:cubicBezTo>
                      <a:pt x="799" y="32"/>
                      <a:pt x="757" y="0"/>
                      <a:pt x="707" y="0"/>
                    </a:cubicBezTo>
                    <a:cubicBezTo>
                      <a:pt x="658" y="0"/>
                      <a:pt x="616" y="32"/>
                      <a:pt x="598" y="78"/>
                    </a:cubicBezTo>
                    <a:cubicBezTo>
                      <a:pt x="595" y="85"/>
                      <a:pt x="591" y="88"/>
                      <a:pt x="584" y="88"/>
                    </a:cubicBezTo>
                    <a:cubicBezTo>
                      <a:pt x="577" y="88"/>
                      <a:pt x="574" y="88"/>
                      <a:pt x="567" y="85"/>
                    </a:cubicBezTo>
                    <a:cubicBezTo>
                      <a:pt x="535" y="50"/>
                      <a:pt x="482" y="36"/>
                      <a:pt x="436" y="57"/>
                    </a:cubicBezTo>
                    <a:cubicBezTo>
                      <a:pt x="390" y="74"/>
                      <a:pt x="362" y="120"/>
                      <a:pt x="362" y="169"/>
                    </a:cubicBezTo>
                    <a:cubicBezTo>
                      <a:pt x="362" y="176"/>
                      <a:pt x="359" y="179"/>
                      <a:pt x="355" y="183"/>
                    </a:cubicBezTo>
                    <a:cubicBezTo>
                      <a:pt x="352" y="186"/>
                      <a:pt x="345" y="187"/>
                      <a:pt x="338" y="183"/>
                    </a:cubicBezTo>
                    <a:cubicBezTo>
                      <a:pt x="295" y="162"/>
                      <a:pt x="243" y="173"/>
                      <a:pt x="207" y="208"/>
                    </a:cubicBezTo>
                    <a:cubicBezTo>
                      <a:pt x="172" y="243"/>
                      <a:pt x="165" y="296"/>
                      <a:pt x="183" y="338"/>
                    </a:cubicBezTo>
                    <a:cubicBezTo>
                      <a:pt x="186" y="345"/>
                      <a:pt x="186" y="349"/>
                      <a:pt x="183" y="356"/>
                    </a:cubicBezTo>
                    <a:cubicBezTo>
                      <a:pt x="179" y="360"/>
                      <a:pt x="172" y="363"/>
                      <a:pt x="169" y="363"/>
                    </a:cubicBezTo>
                    <a:cubicBezTo>
                      <a:pt x="123" y="363"/>
                      <a:pt x="77" y="388"/>
                      <a:pt x="56" y="437"/>
                    </a:cubicBezTo>
                    <a:cubicBezTo>
                      <a:pt x="38" y="483"/>
                      <a:pt x="49" y="536"/>
                      <a:pt x="84" y="567"/>
                    </a:cubicBezTo>
                    <a:cubicBezTo>
                      <a:pt x="88" y="571"/>
                      <a:pt x="92" y="578"/>
                      <a:pt x="88" y="585"/>
                    </a:cubicBezTo>
                    <a:cubicBezTo>
                      <a:pt x="85" y="592"/>
                      <a:pt x="81" y="595"/>
                      <a:pt x="77" y="599"/>
                    </a:cubicBezTo>
                    <a:cubicBezTo>
                      <a:pt x="31" y="617"/>
                      <a:pt x="0" y="659"/>
                      <a:pt x="0" y="708"/>
                    </a:cubicBezTo>
                    <a:cubicBezTo>
                      <a:pt x="0" y="757"/>
                      <a:pt x="31" y="800"/>
                      <a:pt x="77" y="817"/>
                    </a:cubicBezTo>
                    <a:cubicBezTo>
                      <a:pt x="84" y="821"/>
                      <a:pt x="88" y="824"/>
                      <a:pt x="88" y="831"/>
                    </a:cubicBezTo>
                    <a:cubicBezTo>
                      <a:pt x="88" y="838"/>
                      <a:pt x="88" y="842"/>
                      <a:pt x="84" y="849"/>
                    </a:cubicBezTo>
                    <a:cubicBezTo>
                      <a:pt x="49" y="881"/>
                      <a:pt x="35" y="934"/>
                      <a:pt x="56" y="979"/>
                    </a:cubicBezTo>
                    <a:cubicBezTo>
                      <a:pt x="74" y="1025"/>
                      <a:pt x="119" y="1053"/>
                      <a:pt x="169" y="1053"/>
                    </a:cubicBezTo>
                    <a:cubicBezTo>
                      <a:pt x="176" y="1053"/>
                      <a:pt x="179" y="1057"/>
                      <a:pt x="183" y="1060"/>
                    </a:cubicBezTo>
                    <a:cubicBezTo>
                      <a:pt x="186" y="1064"/>
                      <a:pt x="186" y="1071"/>
                      <a:pt x="183" y="1078"/>
                    </a:cubicBezTo>
                    <a:cubicBezTo>
                      <a:pt x="162" y="1120"/>
                      <a:pt x="172" y="1173"/>
                      <a:pt x="207" y="1208"/>
                    </a:cubicBezTo>
                    <a:cubicBezTo>
                      <a:pt x="243" y="1243"/>
                      <a:pt x="295" y="1250"/>
                      <a:pt x="338" y="1233"/>
                    </a:cubicBezTo>
                    <a:cubicBezTo>
                      <a:pt x="345" y="1229"/>
                      <a:pt x="348" y="1229"/>
                      <a:pt x="355" y="1233"/>
                    </a:cubicBezTo>
                    <a:cubicBezTo>
                      <a:pt x="362" y="1236"/>
                      <a:pt x="362" y="1243"/>
                      <a:pt x="362" y="1247"/>
                    </a:cubicBezTo>
                    <a:cubicBezTo>
                      <a:pt x="362" y="1293"/>
                      <a:pt x="387" y="1338"/>
                      <a:pt x="436" y="1360"/>
                    </a:cubicBezTo>
                    <a:cubicBezTo>
                      <a:pt x="482" y="1377"/>
                      <a:pt x="535" y="1367"/>
                      <a:pt x="567" y="1331"/>
                    </a:cubicBezTo>
                    <a:cubicBezTo>
                      <a:pt x="570" y="1328"/>
                      <a:pt x="577" y="1324"/>
                      <a:pt x="584" y="1328"/>
                    </a:cubicBezTo>
                    <a:cubicBezTo>
                      <a:pt x="591" y="1331"/>
                      <a:pt x="595" y="1335"/>
                      <a:pt x="598" y="1338"/>
                    </a:cubicBezTo>
                    <a:cubicBezTo>
                      <a:pt x="616" y="1384"/>
                      <a:pt x="658" y="1416"/>
                      <a:pt x="707" y="1416"/>
                    </a:cubicBezTo>
                    <a:cubicBezTo>
                      <a:pt x="757" y="1416"/>
                      <a:pt x="799" y="1384"/>
                      <a:pt x="816" y="1338"/>
                    </a:cubicBezTo>
                    <a:cubicBezTo>
                      <a:pt x="820" y="1331"/>
                      <a:pt x="824" y="1328"/>
                      <a:pt x="831" y="1328"/>
                    </a:cubicBezTo>
                    <a:cubicBezTo>
                      <a:pt x="838" y="1328"/>
                      <a:pt x="841" y="1328"/>
                      <a:pt x="848" y="1331"/>
                    </a:cubicBezTo>
                    <a:cubicBezTo>
                      <a:pt x="880" y="1367"/>
                      <a:pt x="933" y="1381"/>
                      <a:pt x="978" y="1360"/>
                    </a:cubicBezTo>
                    <a:cubicBezTo>
                      <a:pt x="1024" y="1342"/>
                      <a:pt x="1052" y="1296"/>
                      <a:pt x="1052" y="1247"/>
                    </a:cubicBezTo>
                    <a:cubicBezTo>
                      <a:pt x="1052" y="1240"/>
                      <a:pt x="1056" y="1236"/>
                      <a:pt x="1059" y="1233"/>
                    </a:cubicBezTo>
                    <a:cubicBezTo>
                      <a:pt x="1063" y="1229"/>
                      <a:pt x="1070" y="1229"/>
                      <a:pt x="1077" y="1233"/>
                    </a:cubicBezTo>
                    <a:cubicBezTo>
                      <a:pt x="1119" y="1254"/>
                      <a:pt x="1172" y="1243"/>
                      <a:pt x="1207" y="1208"/>
                    </a:cubicBezTo>
                    <a:cubicBezTo>
                      <a:pt x="1242" y="1173"/>
                      <a:pt x="1250" y="1120"/>
                      <a:pt x="1232" y="1078"/>
                    </a:cubicBezTo>
                    <a:cubicBezTo>
                      <a:pt x="1228" y="1071"/>
                      <a:pt x="1228" y="1067"/>
                      <a:pt x="1232" y="1060"/>
                    </a:cubicBezTo>
                    <a:cubicBezTo>
                      <a:pt x="1235" y="1057"/>
                      <a:pt x="1242" y="1053"/>
                      <a:pt x="1246" y="1053"/>
                    </a:cubicBezTo>
                    <a:cubicBezTo>
                      <a:pt x="1292" y="1053"/>
                      <a:pt x="1338" y="1029"/>
                      <a:pt x="1359" y="979"/>
                    </a:cubicBezTo>
                    <a:cubicBezTo>
                      <a:pt x="1376" y="934"/>
                      <a:pt x="1366" y="881"/>
                      <a:pt x="1330" y="849"/>
                    </a:cubicBezTo>
                    <a:cubicBezTo>
                      <a:pt x="1327" y="845"/>
                      <a:pt x="1324" y="838"/>
                      <a:pt x="1327" y="831"/>
                    </a:cubicBezTo>
                    <a:cubicBezTo>
                      <a:pt x="1331" y="824"/>
                      <a:pt x="1334" y="821"/>
                      <a:pt x="1338" y="817"/>
                    </a:cubicBezTo>
                    <a:cubicBezTo>
                      <a:pt x="1383" y="800"/>
                      <a:pt x="1415" y="757"/>
                      <a:pt x="1415" y="708"/>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grpSp>
      </p:grpSp>
      <p:sp>
        <p:nvSpPr>
          <p:cNvPr id="708" name="Rectangle 707">
            <a:extLst>
              <a:ext uri="{FF2B5EF4-FFF2-40B4-BE49-F238E27FC236}">
                <a16:creationId xmlns:a16="http://schemas.microsoft.com/office/drawing/2014/main" id="{7247D8F0-91DD-8D72-1276-17E9BFF6EE52}"/>
              </a:ext>
            </a:extLst>
          </p:cNvPr>
          <p:cNvSpPr/>
          <p:nvPr/>
        </p:nvSpPr>
        <p:spPr>
          <a:xfrm>
            <a:off x="9077577" y="2056866"/>
            <a:ext cx="1141024" cy="369332"/>
          </a:xfrm>
          <a:prstGeom prst="rect">
            <a:avLst/>
          </a:prstGeom>
        </p:spPr>
        <p:txBody>
          <a:bodyPr wrap="square">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Security and compliance</a:t>
            </a:r>
          </a:p>
        </p:txBody>
      </p:sp>
      <p:grpSp>
        <p:nvGrpSpPr>
          <p:cNvPr id="709" name="Group 708">
            <a:extLst>
              <a:ext uri="{FF2B5EF4-FFF2-40B4-BE49-F238E27FC236}">
                <a16:creationId xmlns:a16="http://schemas.microsoft.com/office/drawing/2014/main" id="{40C49770-F3C0-566B-B9DA-FF8E2A117DC9}"/>
              </a:ext>
            </a:extLst>
          </p:cNvPr>
          <p:cNvGrpSpPr/>
          <p:nvPr/>
        </p:nvGrpSpPr>
        <p:grpSpPr>
          <a:xfrm>
            <a:off x="10381223" y="1557535"/>
            <a:ext cx="430888" cy="430888"/>
            <a:chOff x="6540500" y="3308350"/>
            <a:chExt cx="304800" cy="304800"/>
          </a:xfrm>
        </p:grpSpPr>
        <p:sp>
          <p:nvSpPr>
            <p:cNvPr id="710" name="Freeform 10">
              <a:extLst>
                <a:ext uri="{FF2B5EF4-FFF2-40B4-BE49-F238E27FC236}">
                  <a16:creationId xmlns:a16="http://schemas.microsoft.com/office/drawing/2014/main" id="{68116B1B-BB84-E9D2-E329-E270110B3158}"/>
                </a:ext>
              </a:extLst>
            </p:cNvPr>
            <p:cNvSpPr>
              <a:spLocks noChangeArrowheads="1"/>
            </p:cNvSpPr>
            <p:nvPr/>
          </p:nvSpPr>
          <p:spPr bwMode="auto">
            <a:xfrm>
              <a:off x="6745288" y="3508375"/>
              <a:ext cx="50800" cy="50800"/>
            </a:xfrm>
            <a:custGeom>
              <a:avLst/>
              <a:gdLst>
                <a:gd name="T0" fmla="*/ 140 w 141"/>
                <a:gd name="T1" fmla="*/ 0 h 141"/>
                <a:gd name="T2" fmla="*/ 0 w 141"/>
                <a:gd name="T3" fmla="*/ 140 h 141"/>
              </a:gdLst>
              <a:ahLst/>
              <a:cxnLst>
                <a:cxn ang="0">
                  <a:pos x="T0" y="T1"/>
                </a:cxn>
                <a:cxn ang="0">
                  <a:pos x="T2" y="T3"/>
                </a:cxn>
              </a:cxnLst>
              <a:rect l="0" t="0" r="r" b="b"/>
              <a:pathLst>
                <a:path w="141" h="141">
                  <a:moveTo>
                    <a:pt x="140" y="0"/>
                  </a:moveTo>
                  <a:cubicBezTo>
                    <a:pt x="94" y="47"/>
                    <a:pt x="47" y="94"/>
                    <a:pt x="0" y="14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711" name="Freeform 11">
              <a:extLst>
                <a:ext uri="{FF2B5EF4-FFF2-40B4-BE49-F238E27FC236}">
                  <a16:creationId xmlns:a16="http://schemas.microsoft.com/office/drawing/2014/main" id="{4496D91D-F906-8F96-77F1-ED5B9EBBD73B}"/>
                </a:ext>
              </a:extLst>
            </p:cNvPr>
            <p:cNvSpPr>
              <a:spLocks noChangeArrowheads="1"/>
            </p:cNvSpPr>
            <p:nvPr/>
          </p:nvSpPr>
          <p:spPr bwMode="auto">
            <a:xfrm>
              <a:off x="6726238" y="3487738"/>
              <a:ext cx="20637" cy="20637"/>
            </a:xfrm>
            <a:custGeom>
              <a:avLst/>
              <a:gdLst>
                <a:gd name="T0" fmla="*/ 56 w 57"/>
                <a:gd name="T1" fmla="*/ 56 h 57"/>
                <a:gd name="T2" fmla="*/ 0 w 57"/>
                <a:gd name="T3" fmla="*/ 0 h 57"/>
              </a:gdLst>
              <a:ahLst/>
              <a:cxnLst>
                <a:cxn ang="0">
                  <a:pos x="T0" y="T1"/>
                </a:cxn>
                <a:cxn ang="0">
                  <a:pos x="T2" y="T3"/>
                </a:cxn>
              </a:cxnLst>
              <a:rect l="0" t="0" r="r" b="b"/>
              <a:pathLst>
                <a:path w="57" h="57">
                  <a:moveTo>
                    <a:pt x="56" y="56"/>
                  </a:moveTo>
                  <a:cubicBezTo>
                    <a:pt x="38" y="38"/>
                    <a:pt x="19" y="19"/>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712" name="Freeform 12">
              <a:extLst>
                <a:ext uri="{FF2B5EF4-FFF2-40B4-BE49-F238E27FC236}">
                  <a16:creationId xmlns:a16="http://schemas.microsoft.com/office/drawing/2014/main" id="{8D3FCD5B-6C76-FC3A-86F3-B0ED2DEF2327}"/>
                </a:ext>
              </a:extLst>
            </p:cNvPr>
            <p:cNvSpPr>
              <a:spLocks noChangeArrowheads="1"/>
            </p:cNvSpPr>
            <p:nvPr/>
          </p:nvSpPr>
          <p:spPr bwMode="auto">
            <a:xfrm>
              <a:off x="6777038" y="3362325"/>
              <a:ext cx="15875" cy="15875"/>
            </a:xfrm>
            <a:custGeom>
              <a:avLst/>
              <a:gdLst>
                <a:gd name="T0" fmla="*/ 0 w 43"/>
                <a:gd name="T1" fmla="*/ 42 h 43"/>
                <a:gd name="T2" fmla="*/ 42 w 43"/>
                <a:gd name="T3" fmla="*/ 0 h 43"/>
              </a:gdLst>
              <a:ahLst/>
              <a:cxnLst>
                <a:cxn ang="0">
                  <a:pos x="T0" y="T1"/>
                </a:cxn>
                <a:cxn ang="0">
                  <a:pos x="T2" y="T3"/>
                </a:cxn>
              </a:cxnLst>
              <a:rect l="0" t="0" r="r" b="b"/>
              <a:pathLst>
                <a:path w="43" h="43">
                  <a:moveTo>
                    <a:pt x="0" y="42"/>
                  </a:moveTo>
                  <a:cubicBezTo>
                    <a:pt x="14" y="28"/>
                    <a:pt x="28" y="14"/>
                    <a:pt x="42"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713" name="Freeform 13">
              <a:extLst>
                <a:ext uri="{FF2B5EF4-FFF2-40B4-BE49-F238E27FC236}">
                  <a16:creationId xmlns:a16="http://schemas.microsoft.com/office/drawing/2014/main" id="{8B4FE464-07E0-381C-309A-B2580BF88850}"/>
                </a:ext>
              </a:extLst>
            </p:cNvPr>
            <p:cNvSpPr>
              <a:spLocks noChangeArrowheads="1"/>
            </p:cNvSpPr>
            <p:nvPr/>
          </p:nvSpPr>
          <p:spPr bwMode="auto">
            <a:xfrm>
              <a:off x="6770688" y="3533775"/>
              <a:ext cx="50800" cy="50800"/>
            </a:xfrm>
            <a:custGeom>
              <a:avLst/>
              <a:gdLst>
                <a:gd name="T0" fmla="*/ 140 w 141"/>
                <a:gd name="T1" fmla="*/ 0 h 141"/>
                <a:gd name="T2" fmla="*/ 0 w 141"/>
                <a:gd name="T3" fmla="*/ 140 h 141"/>
              </a:gdLst>
              <a:ahLst/>
              <a:cxnLst>
                <a:cxn ang="0">
                  <a:pos x="T0" y="T1"/>
                </a:cxn>
                <a:cxn ang="0">
                  <a:pos x="T2" y="T3"/>
                </a:cxn>
              </a:cxnLst>
              <a:rect l="0" t="0" r="r" b="b"/>
              <a:pathLst>
                <a:path w="141" h="141">
                  <a:moveTo>
                    <a:pt x="140" y="0"/>
                  </a:moveTo>
                  <a:cubicBezTo>
                    <a:pt x="94" y="47"/>
                    <a:pt x="47" y="94"/>
                    <a:pt x="0" y="14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714" name="Freeform 14">
              <a:extLst>
                <a:ext uri="{FF2B5EF4-FFF2-40B4-BE49-F238E27FC236}">
                  <a16:creationId xmlns:a16="http://schemas.microsoft.com/office/drawing/2014/main" id="{C0AC14A2-0D9D-3513-42D8-B1F508A6AA35}"/>
                </a:ext>
              </a:extLst>
            </p:cNvPr>
            <p:cNvSpPr>
              <a:spLocks noChangeArrowheads="1"/>
            </p:cNvSpPr>
            <p:nvPr/>
          </p:nvSpPr>
          <p:spPr bwMode="auto">
            <a:xfrm>
              <a:off x="6623050" y="3386138"/>
              <a:ext cx="144463" cy="144462"/>
            </a:xfrm>
            <a:custGeom>
              <a:avLst/>
              <a:gdLst>
                <a:gd name="T0" fmla="*/ 215 w 402"/>
                <a:gd name="T1" fmla="*/ 354 h 401"/>
                <a:gd name="T2" fmla="*/ 47 w 402"/>
                <a:gd name="T3" fmla="*/ 354 h 401"/>
                <a:gd name="T4" fmla="*/ 47 w 402"/>
                <a:gd name="T5" fmla="*/ 187 h 401"/>
                <a:gd name="T6" fmla="*/ 187 w 402"/>
                <a:gd name="T7" fmla="*/ 46 h 401"/>
                <a:gd name="T8" fmla="*/ 355 w 402"/>
                <a:gd name="T9" fmla="*/ 46 h 401"/>
                <a:gd name="T10" fmla="*/ 355 w 402"/>
                <a:gd name="T11" fmla="*/ 214 h 401"/>
                <a:gd name="T12" fmla="*/ 215 w 402"/>
                <a:gd name="T13" fmla="*/ 354 h 401"/>
              </a:gdLst>
              <a:ahLst/>
              <a:cxnLst>
                <a:cxn ang="0">
                  <a:pos x="T0" y="T1"/>
                </a:cxn>
                <a:cxn ang="0">
                  <a:pos x="T2" y="T3"/>
                </a:cxn>
                <a:cxn ang="0">
                  <a:pos x="T4" y="T5"/>
                </a:cxn>
                <a:cxn ang="0">
                  <a:pos x="T6" y="T7"/>
                </a:cxn>
                <a:cxn ang="0">
                  <a:pos x="T8" y="T9"/>
                </a:cxn>
                <a:cxn ang="0">
                  <a:pos x="T10" y="T11"/>
                </a:cxn>
                <a:cxn ang="0">
                  <a:pos x="T12" y="T13"/>
                </a:cxn>
              </a:cxnLst>
              <a:rect l="0" t="0" r="r" b="b"/>
              <a:pathLst>
                <a:path w="402" h="401">
                  <a:moveTo>
                    <a:pt x="215" y="354"/>
                  </a:moveTo>
                  <a:cubicBezTo>
                    <a:pt x="168" y="400"/>
                    <a:pt x="93" y="400"/>
                    <a:pt x="47" y="354"/>
                  </a:cubicBezTo>
                  <a:cubicBezTo>
                    <a:pt x="0" y="307"/>
                    <a:pt x="0" y="232"/>
                    <a:pt x="47" y="187"/>
                  </a:cubicBezTo>
                  <a:cubicBezTo>
                    <a:pt x="94" y="140"/>
                    <a:pt x="141" y="93"/>
                    <a:pt x="187" y="46"/>
                  </a:cubicBezTo>
                  <a:cubicBezTo>
                    <a:pt x="233" y="0"/>
                    <a:pt x="309" y="0"/>
                    <a:pt x="355" y="46"/>
                  </a:cubicBezTo>
                  <a:cubicBezTo>
                    <a:pt x="401" y="93"/>
                    <a:pt x="401" y="168"/>
                    <a:pt x="355" y="214"/>
                  </a:cubicBezTo>
                  <a:cubicBezTo>
                    <a:pt x="309" y="261"/>
                    <a:pt x="262" y="308"/>
                    <a:pt x="215" y="35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715" name="Freeform 15">
              <a:extLst>
                <a:ext uri="{FF2B5EF4-FFF2-40B4-BE49-F238E27FC236}">
                  <a16:creationId xmlns:a16="http://schemas.microsoft.com/office/drawing/2014/main" id="{43761A7A-FF82-B85A-5485-F807121C3781}"/>
                </a:ext>
              </a:extLst>
            </p:cNvPr>
            <p:cNvSpPr>
              <a:spLocks noChangeArrowheads="1"/>
            </p:cNvSpPr>
            <p:nvPr/>
          </p:nvSpPr>
          <p:spPr bwMode="auto">
            <a:xfrm>
              <a:off x="6721475" y="3484563"/>
              <a:ext cx="123825" cy="123825"/>
            </a:xfrm>
            <a:custGeom>
              <a:avLst/>
              <a:gdLst>
                <a:gd name="T0" fmla="*/ 144 w 345"/>
                <a:gd name="T1" fmla="*/ 4 h 345"/>
                <a:gd name="T2" fmla="*/ 130 w 345"/>
                <a:gd name="T3" fmla="*/ 4 h 345"/>
                <a:gd name="T4" fmla="*/ 4 w 345"/>
                <a:gd name="T5" fmla="*/ 130 h 345"/>
                <a:gd name="T6" fmla="*/ 4 w 345"/>
                <a:gd name="T7" fmla="*/ 144 h 345"/>
                <a:gd name="T8" fmla="*/ 200 w 345"/>
                <a:gd name="T9" fmla="*/ 340 h 345"/>
                <a:gd name="T10" fmla="*/ 214 w 345"/>
                <a:gd name="T11" fmla="*/ 340 h 345"/>
                <a:gd name="T12" fmla="*/ 340 w 345"/>
                <a:gd name="T13" fmla="*/ 214 h 345"/>
                <a:gd name="T14" fmla="*/ 340 w 345"/>
                <a:gd name="T15" fmla="*/ 200 h 345"/>
                <a:gd name="T16" fmla="*/ 144 w 345"/>
                <a:gd name="T17" fmla="*/ 4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5" h="345">
                  <a:moveTo>
                    <a:pt x="144" y="4"/>
                  </a:moveTo>
                  <a:cubicBezTo>
                    <a:pt x="140" y="0"/>
                    <a:pt x="134" y="0"/>
                    <a:pt x="130" y="4"/>
                  </a:cubicBezTo>
                  <a:cubicBezTo>
                    <a:pt x="88" y="46"/>
                    <a:pt x="46" y="88"/>
                    <a:pt x="4" y="130"/>
                  </a:cubicBezTo>
                  <a:cubicBezTo>
                    <a:pt x="0" y="134"/>
                    <a:pt x="0" y="140"/>
                    <a:pt x="4" y="144"/>
                  </a:cubicBezTo>
                  <a:cubicBezTo>
                    <a:pt x="70" y="210"/>
                    <a:pt x="135" y="275"/>
                    <a:pt x="200" y="340"/>
                  </a:cubicBezTo>
                  <a:cubicBezTo>
                    <a:pt x="204" y="344"/>
                    <a:pt x="210" y="344"/>
                    <a:pt x="214" y="340"/>
                  </a:cubicBezTo>
                  <a:cubicBezTo>
                    <a:pt x="256" y="298"/>
                    <a:pt x="298" y="256"/>
                    <a:pt x="340" y="214"/>
                  </a:cubicBezTo>
                  <a:cubicBezTo>
                    <a:pt x="344" y="210"/>
                    <a:pt x="344" y="204"/>
                    <a:pt x="340" y="200"/>
                  </a:cubicBezTo>
                  <a:cubicBezTo>
                    <a:pt x="275" y="135"/>
                    <a:pt x="210" y="70"/>
                    <a:pt x="144" y="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716" name="Freeform 16">
              <a:extLst>
                <a:ext uri="{FF2B5EF4-FFF2-40B4-BE49-F238E27FC236}">
                  <a16:creationId xmlns:a16="http://schemas.microsoft.com/office/drawing/2014/main" id="{95FFAFE7-41DD-B7D3-3A3B-FD71935F36C0}"/>
                </a:ext>
              </a:extLst>
            </p:cNvPr>
            <p:cNvSpPr>
              <a:spLocks noChangeArrowheads="1"/>
            </p:cNvSpPr>
            <p:nvPr/>
          </p:nvSpPr>
          <p:spPr bwMode="auto">
            <a:xfrm>
              <a:off x="6594475" y="3357563"/>
              <a:ext cx="50800" cy="50800"/>
            </a:xfrm>
            <a:custGeom>
              <a:avLst/>
              <a:gdLst>
                <a:gd name="T0" fmla="*/ 141 w 142"/>
                <a:gd name="T1" fmla="*/ 0 h 141"/>
                <a:gd name="T2" fmla="*/ 0 w 142"/>
                <a:gd name="T3" fmla="*/ 140 h 141"/>
              </a:gdLst>
              <a:ahLst/>
              <a:cxnLst>
                <a:cxn ang="0">
                  <a:pos x="T0" y="T1"/>
                </a:cxn>
                <a:cxn ang="0">
                  <a:pos x="T2" y="T3"/>
                </a:cxn>
              </a:cxnLst>
              <a:rect l="0" t="0" r="r" b="b"/>
              <a:pathLst>
                <a:path w="142" h="141">
                  <a:moveTo>
                    <a:pt x="141" y="0"/>
                  </a:moveTo>
                  <a:cubicBezTo>
                    <a:pt x="94" y="46"/>
                    <a:pt x="47" y="93"/>
                    <a:pt x="0" y="14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717" name="Freeform 17">
              <a:extLst>
                <a:ext uri="{FF2B5EF4-FFF2-40B4-BE49-F238E27FC236}">
                  <a16:creationId xmlns:a16="http://schemas.microsoft.com/office/drawing/2014/main" id="{0AB6A022-49C6-1BA9-035E-AB0C5B0AD766}"/>
                </a:ext>
              </a:extLst>
            </p:cNvPr>
            <p:cNvSpPr>
              <a:spLocks noChangeArrowheads="1"/>
            </p:cNvSpPr>
            <p:nvPr/>
          </p:nvSpPr>
          <p:spPr bwMode="auto">
            <a:xfrm>
              <a:off x="6645275" y="3408363"/>
              <a:ext cx="20638" cy="20637"/>
            </a:xfrm>
            <a:custGeom>
              <a:avLst/>
              <a:gdLst>
                <a:gd name="T0" fmla="*/ 0 w 57"/>
                <a:gd name="T1" fmla="*/ 0 h 57"/>
                <a:gd name="T2" fmla="*/ 56 w 57"/>
                <a:gd name="T3" fmla="*/ 56 h 57"/>
              </a:gdLst>
              <a:ahLst/>
              <a:cxnLst>
                <a:cxn ang="0">
                  <a:pos x="T0" y="T1"/>
                </a:cxn>
                <a:cxn ang="0">
                  <a:pos x="T2" y="T3"/>
                </a:cxn>
              </a:cxnLst>
              <a:rect l="0" t="0" r="r" b="b"/>
              <a:pathLst>
                <a:path w="57" h="57">
                  <a:moveTo>
                    <a:pt x="0" y="0"/>
                  </a:moveTo>
                  <a:cubicBezTo>
                    <a:pt x="19" y="18"/>
                    <a:pt x="38" y="37"/>
                    <a:pt x="56" y="5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718" name="Freeform 18">
              <a:extLst>
                <a:ext uri="{FF2B5EF4-FFF2-40B4-BE49-F238E27FC236}">
                  <a16:creationId xmlns:a16="http://schemas.microsoft.com/office/drawing/2014/main" id="{7A3A0F3E-E6CC-DE55-D535-9E7A6D651F37}"/>
                </a:ext>
              </a:extLst>
            </p:cNvPr>
            <p:cNvSpPr>
              <a:spLocks noChangeArrowheads="1"/>
            </p:cNvSpPr>
            <p:nvPr/>
          </p:nvSpPr>
          <p:spPr bwMode="auto">
            <a:xfrm>
              <a:off x="6569075" y="3332163"/>
              <a:ext cx="50800" cy="50800"/>
            </a:xfrm>
            <a:custGeom>
              <a:avLst/>
              <a:gdLst>
                <a:gd name="T0" fmla="*/ 141 w 142"/>
                <a:gd name="T1" fmla="*/ 0 h 141"/>
                <a:gd name="T2" fmla="*/ 0 w 142"/>
                <a:gd name="T3" fmla="*/ 140 h 141"/>
              </a:gdLst>
              <a:ahLst/>
              <a:cxnLst>
                <a:cxn ang="0">
                  <a:pos x="T0" y="T1"/>
                </a:cxn>
                <a:cxn ang="0">
                  <a:pos x="T2" y="T3"/>
                </a:cxn>
              </a:cxnLst>
              <a:rect l="0" t="0" r="r" b="b"/>
              <a:pathLst>
                <a:path w="142" h="141">
                  <a:moveTo>
                    <a:pt x="141" y="0"/>
                  </a:moveTo>
                  <a:cubicBezTo>
                    <a:pt x="94" y="46"/>
                    <a:pt x="47" y="93"/>
                    <a:pt x="0" y="14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719" name="Freeform 19">
              <a:extLst>
                <a:ext uri="{FF2B5EF4-FFF2-40B4-BE49-F238E27FC236}">
                  <a16:creationId xmlns:a16="http://schemas.microsoft.com/office/drawing/2014/main" id="{22B1807C-4E95-E4EB-9CAA-B4EC0BC00400}"/>
                </a:ext>
              </a:extLst>
            </p:cNvPr>
            <p:cNvSpPr>
              <a:spLocks noChangeArrowheads="1"/>
            </p:cNvSpPr>
            <p:nvPr/>
          </p:nvSpPr>
          <p:spPr bwMode="auto">
            <a:xfrm>
              <a:off x="6545263" y="3308350"/>
              <a:ext cx="123825" cy="123825"/>
            </a:xfrm>
            <a:custGeom>
              <a:avLst/>
              <a:gdLst>
                <a:gd name="T0" fmla="*/ 341 w 346"/>
                <a:gd name="T1" fmla="*/ 200 h 345"/>
                <a:gd name="T2" fmla="*/ 341 w 346"/>
                <a:gd name="T3" fmla="*/ 214 h 345"/>
                <a:gd name="T4" fmla="*/ 215 w 346"/>
                <a:gd name="T5" fmla="*/ 341 h 345"/>
                <a:gd name="T6" fmla="*/ 201 w 346"/>
                <a:gd name="T7" fmla="*/ 341 h 345"/>
                <a:gd name="T8" fmla="*/ 4 w 346"/>
                <a:gd name="T9" fmla="*/ 144 h 345"/>
                <a:gd name="T10" fmla="*/ 4 w 346"/>
                <a:gd name="T11" fmla="*/ 130 h 345"/>
                <a:gd name="T12" fmla="*/ 130 w 346"/>
                <a:gd name="T13" fmla="*/ 4 h 345"/>
                <a:gd name="T14" fmla="*/ 144 w 346"/>
                <a:gd name="T15" fmla="*/ 4 h 345"/>
                <a:gd name="T16" fmla="*/ 341 w 346"/>
                <a:gd name="T17" fmla="*/ 200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6" h="345">
                  <a:moveTo>
                    <a:pt x="341" y="200"/>
                  </a:moveTo>
                  <a:cubicBezTo>
                    <a:pt x="345" y="204"/>
                    <a:pt x="345" y="210"/>
                    <a:pt x="341" y="214"/>
                  </a:cubicBezTo>
                  <a:cubicBezTo>
                    <a:pt x="299" y="256"/>
                    <a:pt x="257" y="298"/>
                    <a:pt x="215" y="341"/>
                  </a:cubicBezTo>
                  <a:cubicBezTo>
                    <a:pt x="211" y="344"/>
                    <a:pt x="204" y="344"/>
                    <a:pt x="201" y="341"/>
                  </a:cubicBezTo>
                  <a:cubicBezTo>
                    <a:pt x="136" y="275"/>
                    <a:pt x="70" y="209"/>
                    <a:pt x="4" y="144"/>
                  </a:cubicBezTo>
                  <a:cubicBezTo>
                    <a:pt x="0" y="140"/>
                    <a:pt x="0" y="134"/>
                    <a:pt x="4" y="130"/>
                  </a:cubicBezTo>
                  <a:cubicBezTo>
                    <a:pt x="46" y="88"/>
                    <a:pt x="88" y="46"/>
                    <a:pt x="130" y="4"/>
                  </a:cubicBezTo>
                  <a:cubicBezTo>
                    <a:pt x="134" y="0"/>
                    <a:pt x="141" y="0"/>
                    <a:pt x="144" y="4"/>
                  </a:cubicBezTo>
                  <a:cubicBezTo>
                    <a:pt x="210" y="69"/>
                    <a:pt x="276" y="134"/>
                    <a:pt x="341" y="20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720" name="Freeform 20">
              <a:extLst>
                <a:ext uri="{FF2B5EF4-FFF2-40B4-BE49-F238E27FC236}">
                  <a16:creationId xmlns:a16="http://schemas.microsoft.com/office/drawing/2014/main" id="{A9B1CAFF-2346-0473-D1B9-AFAE32A4B5C1}"/>
                </a:ext>
              </a:extLst>
            </p:cNvPr>
            <p:cNvSpPr>
              <a:spLocks noChangeArrowheads="1"/>
            </p:cNvSpPr>
            <p:nvPr/>
          </p:nvSpPr>
          <p:spPr bwMode="auto">
            <a:xfrm>
              <a:off x="6691313" y="3402013"/>
              <a:ext cx="60325" cy="60325"/>
            </a:xfrm>
            <a:custGeom>
              <a:avLst/>
              <a:gdLst>
                <a:gd name="T0" fmla="*/ 168 w 169"/>
                <a:gd name="T1" fmla="*/ 168 h 169"/>
                <a:gd name="T2" fmla="*/ 0 w 169"/>
                <a:gd name="T3" fmla="*/ 0 h 169"/>
              </a:gdLst>
              <a:ahLst/>
              <a:cxnLst>
                <a:cxn ang="0">
                  <a:pos x="T0" y="T1"/>
                </a:cxn>
                <a:cxn ang="0">
                  <a:pos x="T2" y="T3"/>
                </a:cxn>
              </a:cxnLst>
              <a:rect l="0" t="0" r="r" b="b"/>
              <a:pathLst>
                <a:path w="169" h="169">
                  <a:moveTo>
                    <a:pt x="168" y="168"/>
                  </a:moveTo>
                  <a:cubicBezTo>
                    <a:pt x="112" y="112"/>
                    <a:pt x="56" y="56"/>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721" name="Freeform 21">
              <a:extLst>
                <a:ext uri="{FF2B5EF4-FFF2-40B4-BE49-F238E27FC236}">
                  <a16:creationId xmlns:a16="http://schemas.microsoft.com/office/drawing/2014/main" id="{D031A80F-5CCB-A873-9131-EFC9DF9C005C}"/>
                </a:ext>
              </a:extLst>
            </p:cNvPr>
            <p:cNvSpPr>
              <a:spLocks noChangeArrowheads="1"/>
            </p:cNvSpPr>
            <p:nvPr/>
          </p:nvSpPr>
          <p:spPr bwMode="auto">
            <a:xfrm>
              <a:off x="6734175" y="3348038"/>
              <a:ext cx="73025" cy="73025"/>
            </a:xfrm>
            <a:custGeom>
              <a:avLst/>
              <a:gdLst>
                <a:gd name="T0" fmla="*/ 36 w 201"/>
                <a:gd name="T1" fmla="*/ 2 h 202"/>
                <a:gd name="T2" fmla="*/ 31 w 201"/>
                <a:gd name="T3" fmla="*/ 0 h 202"/>
                <a:gd name="T4" fmla="*/ 28 w 201"/>
                <a:gd name="T5" fmla="*/ 3 h 202"/>
                <a:gd name="T6" fmla="*/ 47 w 201"/>
                <a:gd name="T7" fmla="*/ 153 h 202"/>
                <a:gd name="T8" fmla="*/ 198 w 201"/>
                <a:gd name="T9" fmla="*/ 173 h 202"/>
                <a:gd name="T10" fmla="*/ 200 w 201"/>
                <a:gd name="T11" fmla="*/ 169 h 202"/>
                <a:gd name="T12" fmla="*/ 198 w 201"/>
                <a:gd name="T13" fmla="*/ 165 h 202"/>
                <a:gd name="T14" fmla="*/ 36 w 201"/>
                <a:gd name="T15" fmla="*/ 2 h 2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1" h="202">
                  <a:moveTo>
                    <a:pt x="36" y="2"/>
                  </a:moveTo>
                  <a:cubicBezTo>
                    <a:pt x="35" y="1"/>
                    <a:pt x="33" y="0"/>
                    <a:pt x="31" y="0"/>
                  </a:cubicBezTo>
                  <a:cubicBezTo>
                    <a:pt x="30" y="1"/>
                    <a:pt x="29" y="2"/>
                    <a:pt x="28" y="3"/>
                  </a:cubicBezTo>
                  <a:cubicBezTo>
                    <a:pt x="0" y="50"/>
                    <a:pt x="6" y="113"/>
                    <a:pt x="47" y="153"/>
                  </a:cubicBezTo>
                  <a:cubicBezTo>
                    <a:pt x="88" y="194"/>
                    <a:pt x="150" y="201"/>
                    <a:pt x="198" y="173"/>
                  </a:cubicBezTo>
                  <a:cubicBezTo>
                    <a:pt x="199" y="172"/>
                    <a:pt x="200" y="170"/>
                    <a:pt x="200" y="169"/>
                  </a:cubicBezTo>
                  <a:cubicBezTo>
                    <a:pt x="200" y="167"/>
                    <a:pt x="200" y="166"/>
                    <a:pt x="198" y="165"/>
                  </a:cubicBezTo>
                  <a:cubicBezTo>
                    <a:pt x="144" y="110"/>
                    <a:pt x="90" y="56"/>
                    <a:pt x="36" y="2"/>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722" name="Freeform 22">
              <a:extLst>
                <a:ext uri="{FF2B5EF4-FFF2-40B4-BE49-F238E27FC236}">
                  <a16:creationId xmlns:a16="http://schemas.microsoft.com/office/drawing/2014/main" id="{A488884B-AAAE-5BDB-356B-AE683A98D74A}"/>
                </a:ext>
              </a:extLst>
            </p:cNvPr>
            <p:cNvSpPr>
              <a:spLocks noChangeArrowheads="1"/>
            </p:cNvSpPr>
            <p:nvPr/>
          </p:nvSpPr>
          <p:spPr bwMode="auto">
            <a:xfrm>
              <a:off x="6594475" y="3543300"/>
              <a:ext cx="15875" cy="15875"/>
            </a:xfrm>
            <a:custGeom>
              <a:avLst/>
              <a:gdLst>
                <a:gd name="T0" fmla="*/ 43 w 44"/>
                <a:gd name="T1" fmla="*/ 0 h 43"/>
                <a:gd name="T2" fmla="*/ 0 w 44"/>
                <a:gd name="T3" fmla="*/ 42 h 43"/>
              </a:gdLst>
              <a:ahLst/>
              <a:cxnLst>
                <a:cxn ang="0">
                  <a:pos x="T0" y="T1"/>
                </a:cxn>
                <a:cxn ang="0">
                  <a:pos x="T2" y="T3"/>
                </a:cxn>
              </a:cxnLst>
              <a:rect l="0" t="0" r="r" b="b"/>
              <a:pathLst>
                <a:path w="44" h="43">
                  <a:moveTo>
                    <a:pt x="43" y="0"/>
                  </a:moveTo>
                  <a:cubicBezTo>
                    <a:pt x="29" y="14"/>
                    <a:pt x="15" y="28"/>
                    <a:pt x="0" y="42"/>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723" name="Freeform 23">
              <a:extLst>
                <a:ext uri="{FF2B5EF4-FFF2-40B4-BE49-F238E27FC236}">
                  <a16:creationId xmlns:a16="http://schemas.microsoft.com/office/drawing/2014/main" id="{9747468D-EBA4-5D63-87C7-004A8EF06930}"/>
                </a:ext>
              </a:extLst>
            </p:cNvPr>
            <p:cNvSpPr>
              <a:spLocks noChangeArrowheads="1"/>
            </p:cNvSpPr>
            <p:nvPr/>
          </p:nvSpPr>
          <p:spPr bwMode="auto">
            <a:xfrm>
              <a:off x="6569075" y="3557588"/>
              <a:ext cx="26988" cy="26987"/>
            </a:xfrm>
            <a:custGeom>
              <a:avLst/>
              <a:gdLst>
                <a:gd name="T0" fmla="*/ 0 w 73"/>
                <a:gd name="T1" fmla="*/ 0 h 73"/>
                <a:gd name="T2" fmla="*/ 20 w 73"/>
                <a:gd name="T3" fmla="*/ 51 h 73"/>
                <a:gd name="T4" fmla="*/ 72 w 73"/>
                <a:gd name="T5" fmla="*/ 71 h 73"/>
              </a:gdLst>
              <a:ahLst/>
              <a:cxnLst>
                <a:cxn ang="0">
                  <a:pos x="T0" y="T1"/>
                </a:cxn>
                <a:cxn ang="0">
                  <a:pos x="T2" y="T3"/>
                </a:cxn>
                <a:cxn ang="0">
                  <a:pos x="T4" y="T5"/>
                </a:cxn>
              </a:cxnLst>
              <a:rect l="0" t="0" r="r" b="b"/>
              <a:pathLst>
                <a:path w="73" h="73">
                  <a:moveTo>
                    <a:pt x="0" y="0"/>
                  </a:moveTo>
                  <a:cubicBezTo>
                    <a:pt x="0" y="18"/>
                    <a:pt x="6" y="37"/>
                    <a:pt x="20" y="51"/>
                  </a:cubicBezTo>
                  <a:cubicBezTo>
                    <a:pt x="34" y="65"/>
                    <a:pt x="53" y="72"/>
                    <a:pt x="72" y="7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724" name="Freeform 24">
              <a:extLst>
                <a:ext uri="{FF2B5EF4-FFF2-40B4-BE49-F238E27FC236}">
                  <a16:creationId xmlns:a16="http://schemas.microsoft.com/office/drawing/2014/main" id="{FBC56BAE-21D4-0436-76A2-4859EE4FD4EB}"/>
                </a:ext>
              </a:extLst>
            </p:cNvPr>
            <p:cNvSpPr>
              <a:spLocks noChangeArrowheads="1"/>
            </p:cNvSpPr>
            <p:nvPr/>
          </p:nvSpPr>
          <p:spPr bwMode="auto">
            <a:xfrm>
              <a:off x="6540500" y="3557588"/>
              <a:ext cx="55563" cy="55562"/>
            </a:xfrm>
            <a:custGeom>
              <a:avLst/>
              <a:gdLst>
                <a:gd name="T0" fmla="*/ 154 w 155"/>
                <a:gd name="T1" fmla="*/ 153 h 156"/>
                <a:gd name="T2" fmla="*/ 44 w 155"/>
                <a:gd name="T3" fmla="*/ 110 h 156"/>
                <a:gd name="T4" fmla="*/ 1 w 155"/>
                <a:gd name="T5" fmla="*/ 0 h 156"/>
              </a:gdLst>
              <a:ahLst/>
              <a:cxnLst>
                <a:cxn ang="0">
                  <a:pos x="T0" y="T1"/>
                </a:cxn>
                <a:cxn ang="0">
                  <a:pos x="T2" y="T3"/>
                </a:cxn>
                <a:cxn ang="0">
                  <a:pos x="T4" y="T5"/>
                </a:cxn>
              </a:cxnLst>
              <a:rect l="0" t="0" r="r" b="b"/>
              <a:pathLst>
                <a:path w="155" h="156">
                  <a:moveTo>
                    <a:pt x="154" y="153"/>
                  </a:moveTo>
                  <a:cubicBezTo>
                    <a:pt x="114" y="155"/>
                    <a:pt x="74" y="140"/>
                    <a:pt x="44" y="110"/>
                  </a:cubicBezTo>
                  <a:cubicBezTo>
                    <a:pt x="14" y="80"/>
                    <a:pt x="0" y="40"/>
                    <a:pt x="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725" name="Freeform 25">
              <a:extLst>
                <a:ext uri="{FF2B5EF4-FFF2-40B4-BE49-F238E27FC236}">
                  <a16:creationId xmlns:a16="http://schemas.microsoft.com/office/drawing/2014/main" id="{49FC3B04-77C6-9434-98DD-EF7103FB0796}"/>
                </a:ext>
              </a:extLst>
            </p:cNvPr>
            <p:cNvSpPr>
              <a:spLocks noChangeArrowheads="1"/>
            </p:cNvSpPr>
            <p:nvPr/>
          </p:nvSpPr>
          <p:spPr bwMode="auto">
            <a:xfrm>
              <a:off x="6573838" y="3492500"/>
              <a:ext cx="87312" cy="87313"/>
            </a:xfrm>
            <a:custGeom>
              <a:avLst/>
              <a:gdLst>
                <a:gd name="T0" fmla="*/ 199 w 242"/>
                <a:gd name="T1" fmla="*/ 239 h 242"/>
                <a:gd name="T2" fmla="*/ 203 w 242"/>
                <a:gd name="T3" fmla="*/ 241 h 242"/>
                <a:gd name="T4" fmla="*/ 207 w 242"/>
                <a:gd name="T5" fmla="*/ 239 h 242"/>
                <a:gd name="T6" fmla="*/ 185 w 242"/>
                <a:gd name="T7" fmla="*/ 57 h 242"/>
                <a:gd name="T8" fmla="*/ 3 w 242"/>
                <a:gd name="T9" fmla="*/ 34 h 242"/>
                <a:gd name="T10" fmla="*/ 0 w 242"/>
                <a:gd name="T11" fmla="*/ 38 h 242"/>
                <a:gd name="T12" fmla="*/ 2 w 242"/>
                <a:gd name="T13" fmla="*/ 42 h 242"/>
                <a:gd name="T14" fmla="*/ 199 w 242"/>
                <a:gd name="T15" fmla="*/ 239 h 2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2" h="242">
                  <a:moveTo>
                    <a:pt x="199" y="239"/>
                  </a:moveTo>
                  <a:cubicBezTo>
                    <a:pt x="200" y="241"/>
                    <a:pt x="202" y="241"/>
                    <a:pt x="203" y="241"/>
                  </a:cubicBezTo>
                  <a:cubicBezTo>
                    <a:pt x="205" y="241"/>
                    <a:pt x="206" y="240"/>
                    <a:pt x="207" y="239"/>
                  </a:cubicBezTo>
                  <a:cubicBezTo>
                    <a:pt x="241" y="181"/>
                    <a:pt x="234" y="106"/>
                    <a:pt x="185" y="57"/>
                  </a:cubicBezTo>
                  <a:cubicBezTo>
                    <a:pt x="135" y="8"/>
                    <a:pt x="60" y="0"/>
                    <a:pt x="3" y="34"/>
                  </a:cubicBezTo>
                  <a:cubicBezTo>
                    <a:pt x="2" y="35"/>
                    <a:pt x="1" y="37"/>
                    <a:pt x="0" y="38"/>
                  </a:cubicBezTo>
                  <a:cubicBezTo>
                    <a:pt x="0" y="40"/>
                    <a:pt x="1" y="41"/>
                    <a:pt x="2" y="42"/>
                  </a:cubicBezTo>
                  <a:cubicBezTo>
                    <a:pt x="68" y="108"/>
                    <a:pt x="134" y="174"/>
                    <a:pt x="199" y="23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726" name="Freeform 26">
              <a:extLst>
                <a:ext uri="{FF2B5EF4-FFF2-40B4-BE49-F238E27FC236}">
                  <a16:creationId xmlns:a16="http://schemas.microsoft.com/office/drawing/2014/main" id="{866AF17C-4D6E-CDD2-D110-6498CDA2AC5D}"/>
                </a:ext>
              </a:extLst>
            </p:cNvPr>
            <p:cNvSpPr>
              <a:spLocks noChangeArrowheads="1"/>
            </p:cNvSpPr>
            <p:nvPr/>
          </p:nvSpPr>
          <p:spPr bwMode="auto">
            <a:xfrm>
              <a:off x="6640513" y="3452813"/>
              <a:ext cx="60325" cy="60325"/>
            </a:xfrm>
            <a:custGeom>
              <a:avLst/>
              <a:gdLst>
                <a:gd name="T0" fmla="*/ 168 w 169"/>
                <a:gd name="T1" fmla="*/ 167 h 168"/>
                <a:gd name="T2" fmla="*/ 0 w 169"/>
                <a:gd name="T3" fmla="*/ 0 h 168"/>
              </a:gdLst>
              <a:ahLst/>
              <a:cxnLst>
                <a:cxn ang="0">
                  <a:pos x="T0" y="T1"/>
                </a:cxn>
                <a:cxn ang="0">
                  <a:pos x="T2" y="T3"/>
                </a:cxn>
              </a:cxnLst>
              <a:rect l="0" t="0" r="r" b="b"/>
              <a:pathLst>
                <a:path w="169" h="168">
                  <a:moveTo>
                    <a:pt x="168" y="167"/>
                  </a:moveTo>
                  <a:cubicBezTo>
                    <a:pt x="112" y="111"/>
                    <a:pt x="56" y="55"/>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grpSp>
      <p:sp>
        <p:nvSpPr>
          <p:cNvPr id="727" name="TextBox 726">
            <a:extLst>
              <a:ext uri="{FF2B5EF4-FFF2-40B4-BE49-F238E27FC236}">
                <a16:creationId xmlns:a16="http://schemas.microsoft.com/office/drawing/2014/main" id="{60330C7C-6746-4E3F-EF12-6D6CAE74A1F9}"/>
              </a:ext>
            </a:extLst>
          </p:cNvPr>
          <p:cNvSpPr txBox="1"/>
          <p:nvPr/>
        </p:nvSpPr>
        <p:spPr>
          <a:xfrm>
            <a:off x="10078823" y="2016746"/>
            <a:ext cx="1070264" cy="430887"/>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Migration Governance </a:t>
            </a:r>
          </a:p>
        </p:txBody>
      </p:sp>
      <p:sp>
        <p:nvSpPr>
          <p:cNvPr id="729" name="TextBox 728">
            <a:extLst>
              <a:ext uri="{FF2B5EF4-FFF2-40B4-BE49-F238E27FC236}">
                <a16:creationId xmlns:a16="http://schemas.microsoft.com/office/drawing/2014/main" id="{3E96D2D4-8952-52D9-C1C8-BEE263E7BC67}"/>
              </a:ext>
            </a:extLst>
          </p:cNvPr>
          <p:cNvSpPr txBox="1"/>
          <p:nvPr/>
        </p:nvSpPr>
        <p:spPr>
          <a:xfrm>
            <a:off x="5039190" y="2542356"/>
            <a:ext cx="1300443" cy="784830"/>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Application charter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Arial" charset="0"/>
              </a:rPr>
              <a:t>Validated Business Case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p:txBody>
      </p:sp>
      <p:sp>
        <p:nvSpPr>
          <p:cNvPr id="731" name="TextBox 730">
            <a:extLst>
              <a:ext uri="{FF2B5EF4-FFF2-40B4-BE49-F238E27FC236}">
                <a16:creationId xmlns:a16="http://schemas.microsoft.com/office/drawing/2014/main" id="{56696D9F-ACC3-F813-FDD5-ED5B6E9420EF}"/>
              </a:ext>
            </a:extLst>
          </p:cNvPr>
          <p:cNvSpPr txBox="1"/>
          <p:nvPr/>
        </p:nvSpPr>
        <p:spPr>
          <a:xfrm>
            <a:off x="10152277" y="2494249"/>
            <a:ext cx="1666526" cy="1061829"/>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Arial" charset="0"/>
              </a:rPr>
              <a:t>Establish cloud centre of excellence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Migration &amp; Operating cost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Establish Operating model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Project planning</a:t>
            </a: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Arial" charset="0"/>
            </a:endParaRPr>
          </a:p>
        </p:txBody>
      </p:sp>
      <p:sp>
        <p:nvSpPr>
          <p:cNvPr id="3" name="TextBox 2">
            <a:extLst>
              <a:ext uri="{FF2B5EF4-FFF2-40B4-BE49-F238E27FC236}">
                <a16:creationId xmlns:a16="http://schemas.microsoft.com/office/drawing/2014/main" id="{505EAA6C-19EB-B80E-84AF-653CF7D7BDAF}"/>
              </a:ext>
            </a:extLst>
          </p:cNvPr>
          <p:cNvSpPr txBox="1"/>
          <p:nvPr/>
        </p:nvSpPr>
        <p:spPr>
          <a:xfrm>
            <a:off x="9148252" y="2527507"/>
            <a:ext cx="1070349" cy="507831"/>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Security and Compliance review</a:t>
            </a:r>
          </a:p>
        </p:txBody>
      </p:sp>
    </p:spTree>
    <p:extLst>
      <p:ext uri="{BB962C8B-B14F-4D97-AF65-F5344CB8AC3E}">
        <p14:creationId xmlns:p14="http://schemas.microsoft.com/office/powerpoint/2010/main" val="2248312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501"/>
        <p:cNvGrpSpPr/>
        <p:nvPr/>
      </p:nvGrpSpPr>
      <p:grpSpPr>
        <a:xfrm>
          <a:off x="0" y="0"/>
          <a:ext cx="0" cy="0"/>
          <a:chOff x="0" y="0"/>
          <a:chExt cx="0" cy="0"/>
        </a:xfrm>
      </p:grpSpPr>
      <p:sp>
        <p:nvSpPr>
          <p:cNvPr id="448" name="Rounded Rectangle 447">
            <a:extLst>
              <a:ext uri="{FF2B5EF4-FFF2-40B4-BE49-F238E27FC236}">
                <a16:creationId xmlns:a16="http://schemas.microsoft.com/office/drawing/2014/main" id="{BFEA37B4-8BBF-75B4-87EE-FF3521D44358}"/>
              </a:ext>
            </a:extLst>
          </p:cNvPr>
          <p:cNvSpPr/>
          <p:nvPr/>
        </p:nvSpPr>
        <p:spPr>
          <a:xfrm>
            <a:off x="4827652" y="1593997"/>
            <a:ext cx="3656895" cy="3834574"/>
          </a:xfrm>
          <a:prstGeom prst="roundRect">
            <a:avLst>
              <a:gd name="adj" fmla="val 14331"/>
            </a:avLst>
          </a:prstGeom>
          <a:noFill/>
          <a:ln w="34925" cap="rnd" cmpd="dbl">
            <a:solidFill>
              <a:schemeClr val="accent5">
                <a:lumMod val="50000"/>
              </a:schemeClr>
            </a:solidFill>
            <a:prstDash val="lgDashDotDot"/>
            <a:extLst>
              <a:ext uri="{C807C97D-BFC1-408E-A445-0C87EB9F89A2}">
                <ask:lineSketchStyleProps xmlns:ask="http://schemas.microsoft.com/office/drawing/2018/sketchyshapes" sd="981765707">
                  <a:custGeom>
                    <a:avLst/>
                    <a:gdLst>
                      <a:gd name="connsiteX0" fmla="*/ 0 w 3891201"/>
                      <a:gd name="connsiteY0" fmla="*/ 211840 h 1271016"/>
                      <a:gd name="connsiteX1" fmla="*/ 211840 w 3891201"/>
                      <a:gd name="connsiteY1" fmla="*/ 0 h 1271016"/>
                      <a:gd name="connsiteX2" fmla="*/ 789760 w 3891201"/>
                      <a:gd name="connsiteY2" fmla="*/ 0 h 1271016"/>
                      <a:gd name="connsiteX3" fmla="*/ 1437031 w 3891201"/>
                      <a:gd name="connsiteY3" fmla="*/ 0 h 1271016"/>
                      <a:gd name="connsiteX4" fmla="*/ 2084301 w 3891201"/>
                      <a:gd name="connsiteY4" fmla="*/ 0 h 1271016"/>
                      <a:gd name="connsiteX5" fmla="*/ 2592871 w 3891201"/>
                      <a:gd name="connsiteY5" fmla="*/ 0 h 1271016"/>
                      <a:gd name="connsiteX6" fmla="*/ 3066766 w 3891201"/>
                      <a:gd name="connsiteY6" fmla="*/ 0 h 1271016"/>
                      <a:gd name="connsiteX7" fmla="*/ 3679361 w 3891201"/>
                      <a:gd name="connsiteY7" fmla="*/ 0 h 1271016"/>
                      <a:gd name="connsiteX8" fmla="*/ 3891201 w 3891201"/>
                      <a:gd name="connsiteY8" fmla="*/ 211840 h 1271016"/>
                      <a:gd name="connsiteX9" fmla="*/ 3891201 w 3891201"/>
                      <a:gd name="connsiteY9" fmla="*/ 627035 h 1271016"/>
                      <a:gd name="connsiteX10" fmla="*/ 3891201 w 3891201"/>
                      <a:gd name="connsiteY10" fmla="*/ 1059176 h 1271016"/>
                      <a:gd name="connsiteX11" fmla="*/ 3679361 w 3891201"/>
                      <a:gd name="connsiteY11" fmla="*/ 1271016 h 1271016"/>
                      <a:gd name="connsiteX12" fmla="*/ 3066766 w 3891201"/>
                      <a:gd name="connsiteY12" fmla="*/ 1271016 h 1271016"/>
                      <a:gd name="connsiteX13" fmla="*/ 2523521 w 3891201"/>
                      <a:gd name="connsiteY13" fmla="*/ 1271016 h 1271016"/>
                      <a:gd name="connsiteX14" fmla="*/ 1910925 w 3891201"/>
                      <a:gd name="connsiteY14" fmla="*/ 1271016 h 1271016"/>
                      <a:gd name="connsiteX15" fmla="*/ 1263655 w 3891201"/>
                      <a:gd name="connsiteY15" fmla="*/ 1271016 h 1271016"/>
                      <a:gd name="connsiteX16" fmla="*/ 211840 w 3891201"/>
                      <a:gd name="connsiteY16" fmla="*/ 1271016 h 1271016"/>
                      <a:gd name="connsiteX17" fmla="*/ 0 w 3891201"/>
                      <a:gd name="connsiteY17" fmla="*/ 1059176 h 1271016"/>
                      <a:gd name="connsiteX18" fmla="*/ 0 w 3891201"/>
                      <a:gd name="connsiteY18" fmla="*/ 652455 h 1271016"/>
                      <a:gd name="connsiteX19" fmla="*/ 0 w 3891201"/>
                      <a:gd name="connsiteY19" fmla="*/ 211840 h 127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91201" h="1271016" extrusionOk="0">
                        <a:moveTo>
                          <a:pt x="0" y="211840"/>
                        </a:moveTo>
                        <a:cubicBezTo>
                          <a:pt x="-1724" y="97869"/>
                          <a:pt x="85073" y="-4035"/>
                          <a:pt x="211840" y="0"/>
                        </a:cubicBezTo>
                        <a:cubicBezTo>
                          <a:pt x="352813" y="-66347"/>
                          <a:pt x="644289" y="64141"/>
                          <a:pt x="789760" y="0"/>
                        </a:cubicBezTo>
                        <a:cubicBezTo>
                          <a:pt x="935231" y="-64141"/>
                          <a:pt x="1135764" y="36819"/>
                          <a:pt x="1437031" y="0"/>
                        </a:cubicBezTo>
                        <a:cubicBezTo>
                          <a:pt x="1738298" y="-36819"/>
                          <a:pt x="1919312" y="25"/>
                          <a:pt x="2084301" y="0"/>
                        </a:cubicBezTo>
                        <a:cubicBezTo>
                          <a:pt x="2249290" y="-25"/>
                          <a:pt x="2412211" y="24788"/>
                          <a:pt x="2592871" y="0"/>
                        </a:cubicBezTo>
                        <a:cubicBezTo>
                          <a:pt x="2773531" y="-24788"/>
                          <a:pt x="2963621" y="44805"/>
                          <a:pt x="3066766" y="0"/>
                        </a:cubicBezTo>
                        <a:cubicBezTo>
                          <a:pt x="3169912" y="-44805"/>
                          <a:pt x="3497062" y="44876"/>
                          <a:pt x="3679361" y="0"/>
                        </a:cubicBezTo>
                        <a:cubicBezTo>
                          <a:pt x="3821363" y="3626"/>
                          <a:pt x="3878954" y="89255"/>
                          <a:pt x="3891201" y="211840"/>
                        </a:cubicBezTo>
                        <a:cubicBezTo>
                          <a:pt x="3920093" y="301511"/>
                          <a:pt x="3842349" y="475407"/>
                          <a:pt x="3891201" y="627035"/>
                        </a:cubicBezTo>
                        <a:cubicBezTo>
                          <a:pt x="3940053" y="778664"/>
                          <a:pt x="3863357" y="934958"/>
                          <a:pt x="3891201" y="1059176"/>
                        </a:cubicBezTo>
                        <a:cubicBezTo>
                          <a:pt x="3868850" y="1182099"/>
                          <a:pt x="3789568" y="1249049"/>
                          <a:pt x="3679361" y="1271016"/>
                        </a:cubicBezTo>
                        <a:cubicBezTo>
                          <a:pt x="3519371" y="1276183"/>
                          <a:pt x="3229389" y="1233492"/>
                          <a:pt x="3066766" y="1271016"/>
                        </a:cubicBezTo>
                        <a:cubicBezTo>
                          <a:pt x="2904143" y="1308540"/>
                          <a:pt x="2785129" y="1263928"/>
                          <a:pt x="2523521" y="1271016"/>
                        </a:cubicBezTo>
                        <a:cubicBezTo>
                          <a:pt x="2261914" y="1278104"/>
                          <a:pt x="2153174" y="1239646"/>
                          <a:pt x="1910925" y="1271016"/>
                        </a:cubicBezTo>
                        <a:cubicBezTo>
                          <a:pt x="1668676" y="1302386"/>
                          <a:pt x="1513616" y="1267310"/>
                          <a:pt x="1263655" y="1271016"/>
                        </a:cubicBezTo>
                        <a:cubicBezTo>
                          <a:pt x="1013694" y="1274722"/>
                          <a:pt x="608536" y="1219037"/>
                          <a:pt x="211840" y="1271016"/>
                        </a:cubicBezTo>
                        <a:cubicBezTo>
                          <a:pt x="77910" y="1284644"/>
                          <a:pt x="25439" y="1186323"/>
                          <a:pt x="0" y="1059176"/>
                        </a:cubicBezTo>
                        <a:cubicBezTo>
                          <a:pt x="-36452" y="957017"/>
                          <a:pt x="48746" y="797152"/>
                          <a:pt x="0" y="652455"/>
                        </a:cubicBezTo>
                        <a:cubicBezTo>
                          <a:pt x="-48746" y="507758"/>
                          <a:pt x="1772" y="362414"/>
                          <a:pt x="0" y="21184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p:txBody>
      </p:sp>
      <p:sp>
        <p:nvSpPr>
          <p:cNvPr id="4" name="TextBox 3">
            <a:extLst>
              <a:ext uri="{FF2B5EF4-FFF2-40B4-BE49-F238E27FC236}">
                <a16:creationId xmlns:a16="http://schemas.microsoft.com/office/drawing/2014/main" id="{205C1FCF-8E46-4C1E-98B4-56822D7D9CBF}"/>
              </a:ext>
            </a:extLst>
          </p:cNvPr>
          <p:cNvSpPr txBox="1"/>
          <p:nvPr/>
        </p:nvSpPr>
        <p:spPr>
          <a:xfrm>
            <a:off x="401783" y="876301"/>
            <a:ext cx="11417019" cy="646331"/>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The Assess phase is designed to accelerate your project from inception to confidence, working with experts to build understanding of current state, future state, and route to change.</a:t>
            </a:r>
          </a:p>
        </p:txBody>
      </p:sp>
      <p:sp>
        <p:nvSpPr>
          <p:cNvPr id="502" name="Google Shape;502;p59"/>
          <p:cNvSpPr txBox="1">
            <a:spLocks noGrp="1"/>
          </p:cNvSpPr>
          <p:nvPr>
            <p:ph type="title"/>
          </p:nvPr>
        </p:nvSpPr>
        <p:spPr>
          <a:xfrm>
            <a:off x="334496" y="174429"/>
            <a:ext cx="11495554" cy="607712"/>
          </a:xfrm>
        </p:spPr>
        <p:txBody>
          <a:bodyPr spcFirstLastPara="1" wrap="square" lIns="91425" tIns="45700" rIns="91425" bIns="45700" anchor="t" anchorCtr="0">
            <a:noAutofit/>
          </a:bodyPr>
          <a:lstStyle/>
          <a:p>
            <a:r>
              <a:rPr lang="en-US"/>
              <a:t>Assess Phase</a:t>
            </a:r>
          </a:p>
        </p:txBody>
      </p:sp>
      <p:sp>
        <p:nvSpPr>
          <p:cNvPr id="335" name="Slide Number Placeholder 3">
            <a:extLst>
              <a:ext uri="{FF2B5EF4-FFF2-40B4-BE49-F238E27FC236}">
                <a16:creationId xmlns:a16="http://schemas.microsoft.com/office/drawing/2014/main" id="{26374749-F666-9E40-9A65-FE577826498B}"/>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8</a:t>
            </a:fld>
            <a:endParaRPr kumimoji="0" lang="en-US" sz="700" b="0" i="0" u="none" strike="noStrike" kern="1200" cap="none" spc="0" normalizeH="0" baseline="0" noProof="0">
              <a:ln>
                <a:noFill/>
              </a:ln>
              <a:solidFill>
                <a:srgbClr val="FFFFFF"/>
              </a:solidFill>
              <a:effectLst/>
              <a:uLnTx/>
              <a:uFillTx/>
              <a:latin typeface="Arial"/>
              <a:ea typeface="+mn-ea"/>
              <a:cs typeface="+mn-cs"/>
            </a:endParaRPr>
          </a:p>
        </p:txBody>
      </p:sp>
      <p:grpSp>
        <p:nvGrpSpPr>
          <p:cNvPr id="41" name="Group 40">
            <a:extLst>
              <a:ext uri="{FF2B5EF4-FFF2-40B4-BE49-F238E27FC236}">
                <a16:creationId xmlns:a16="http://schemas.microsoft.com/office/drawing/2014/main" id="{18952121-55A8-EF4F-8C95-21B63E9B2AB7}"/>
              </a:ext>
            </a:extLst>
          </p:cNvPr>
          <p:cNvGrpSpPr/>
          <p:nvPr/>
        </p:nvGrpSpPr>
        <p:grpSpPr>
          <a:xfrm>
            <a:off x="2173324" y="2201604"/>
            <a:ext cx="433531" cy="421446"/>
            <a:chOff x="755425" y="4633625"/>
            <a:chExt cx="483728" cy="470243"/>
          </a:xfrm>
        </p:grpSpPr>
        <p:grpSp>
          <p:nvGrpSpPr>
            <p:cNvPr id="43" name="Group 42">
              <a:extLst>
                <a:ext uri="{FF2B5EF4-FFF2-40B4-BE49-F238E27FC236}">
                  <a16:creationId xmlns:a16="http://schemas.microsoft.com/office/drawing/2014/main" id="{8B72EDB0-F0CE-0840-BD0B-452A1E7FDA0F}"/>
                </a:ext>
              </a:extLst>
            </p:cNvPr>
            <p:cNvGrpSpPr/>
            <p:nvPr/>
          </p:nvGrpSpPr>
          <p:grpSpPr>
            <a:xfrm>
              <a:off x="759135" y="4633625"/>
              <a:ext cx="363694" cy="237791"/>
              <a:chOff x="10912710" y="5801559"/>
              <a:chExt cx="363694" cy="237791"/>
            </a:xfrm>
          </p:grpSpPr>
          <p:sp>
            <p:nvSpPr>
              <p:cNvPr id="51" name="Freeform 295">
                <a:extLst>
                  <a:ext uri="{FF2B5EF4-FFF2-40B4-BE49-F238E27FC236}">
                    <a16:creationId xmlns:a16="http://schemas.microsoft.com/office/drawing/2014/main" id="{3E70DC7A-9B3F-AC4A-8F5E-B49A9CA38C03}"/>
                  </a:ext>
                </a:extLst>
              </p:cNvPr>
              <p:cNvSpPr>
                <a:spLocks noChangeArrowheads="1"/>
              </p:cNvSpPr>
              <p:nvPr/>
            </p:nvSpPr>
            <p:spPr bwMode="auto">
              <a:xfrm>
                <a:off x="11125539" y="5858709"/>
                <a:ext cx="101239" cy="101239"/>
              </a:xfrm>
              <a:custGeom>
                <a:avLst/>
                <a:gdLst>
                  <a:gd name="T0" fmla="*/ 226 w 227"/>
                  <a:gd name="T1" fmla="*/ 113 h 227"/>
                  <a:gd name="T2" fmla="*/ 211 w 227"/>
                  <a:gd name="T3" fmla="*/ 170 h 227"/>
                  <a:gd name="T4" fmla="*/ 170 w 227"/>
                  <a:gd name="T5" fmla="*/ 211 h 227"/>
                  <a:gd name="T6" fmla="*/ 113 w 227"/>
                  <a:gd name="T7" fmla="*/ 226 h 227"/>
                  <a:gd name="T8" fmla="*/ 57 w 227"/>
                  <a:gd name="T9" fmla="*/ 211 h 227"/>
                  <a:gd name="T10" fmla="*/ 15 w 227"/>
                  <a:gd name="T11" fmla="*/ 170 h 227"/>
                  <a:gd name="T12" fmla="*/ 0 w 227"/>
                  <a:gd name="T13" fmla="*/ 113 h 227"/>
                  <a:gd name="T14" fmla="*/ 15 w 227"/>
                  <a:gd name="T15" fmla="*/ 57 h 227"/>
                  <a:gd name="T16" fmla="*/ 57 w 227"/>
                  <a:gd name="T17" fmla="*/ 16 h 227"/>
                  <a:gd name="T18" fmla="*/ 113 w 227"/>
                  <a:gd name="T19" fmla="*/ 0 h 227"/>
                  <a:gd name="T20" fmla="*/ 170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1" y="170"/>
                    </a:cubicBezTo>
                    <a:cubicBezTo>
                      <a:pt x="201" y="188"/>
                      <a:pt x="188" y="201"/>
                      <a:pt x="170" y="211"/>
                    </a:cubicBezTo>
                    <a:cubicBezTo>
                      <a:pt x="152" y="221"/>
                      <a:pt x="134" y="226"/>
                      <a:pt x="113" y="226"/>
                    </a:cubicBezTo>
                    <a:cubicBezTo>
                      <a:pt x="92" y="226"/>
                      <a:pt x="75" y="221"/>
                      <a:pt x="57" y="211"/>
                    </a:cubicBezTo>
                    <a:cubicBezTo>
                      <a:pt x="39" y="201"/>
                      <a:pt x="26" y="188"/>
                      <a:pt x="15" y="170"/>
                    </a:cubicBezTo>
                    <a:cubicBezTo>
                      <a:pt x="5" y="152"/>
                      <a:pt x="0" y="134"/>
                      <a:pt x="0" y="113"/>
                    </a:cubicBezTo>
                    <a:cubicBezTo>
                      <a:pt x="0" y="92"/>
                      <a:pt x="5" y="75"/>
                      <a:pt x="15" y="57"/>
                    </a:cubicBezTo>
                    <a:cubicBezTo>
                      <a:pt x="26" y="39"/>
                      <a:pt x="39" y="27"/>
                      <a:pt x="57" y="16"/>
                    </a:cubicBezTo>
                    <a:cubicBezTo>
                      <a:pt x="75" y="6"/>
                      <a:pt x="92" y="0"/>
                      <a:pt x="113" y="0"/>
                    </a:cubicBezTo>
                    <a:cubicBezTo>
                      <a:pt x="134" y="0"/>
                      <a:pt x="152" y="6"/>
                      <a:pt x="170" y="16"/>
                    </a:cubicBezTo>
                    <a:cubicBezTo>
                      <a:pt x="188" y="27"/>
                      <a:pt x="201" y="39"/>
                      <a:pt x="211" y="57"/>
                    </a:cubicBezTo>
                    <a:cubicBezTo>
                      <a:pt x="221" y="75"/>
                      <a:pt x="226" y="92"/>
                      <a:pt x="226" y="113"/>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Arial"/>
                  <a:ea typeface="+mn-ea"/>
                  <a:cs typeface="+mn-cs"/>
                </a:endParaRPr>
              </a:p>
            </p:txBody>
          </p:sp>
          <p:sp>
            <p:nvSpPr>
              <p:cNvPr id="52" name="Freeform 296">
                <a:extLst>
                  <a:ext uri="{FF2B5EF4-FFF2-40B4-BE49-F238E27FC236}">
                    <a16:creationId xmlns:a16="http://schemas.microsoft.com/office/drawing/2014/main" id="{40CCB6D5-0A94-B74E-8717-6DAD6875BC86}"/>
                  </a:ext>
                </a:extLst>
              </p:cNvPr>
              <p:cNvSpPr>
                <a:spLocks noChangeArrowheads="1"/>
              </p:cNvSpPr>
              <p:nvPr/>
            </p:nvSpPr>
            <p:spPr bwMode="auto">
              <a:xfrm>
                <a:off x="11077898" y="5961932"/>
                <a:ext cx="198506" cy="77418"/>
              </a:xfrm>
              <a:custGeom>
                <a:avLst/>
                <a:gdLst>
                  <a:gd name="T0" fmla="*/ 438 w 439"/>
                  <a:gd name="T1" fmla="*/ 169 h 170"/>
                  <a:gd name="T2" fmla="*/ 219 w 439"/>
                  <a:gd name="T3" fmla="*/ 0 h 170"/>
                  <a:gd name="T4" fmla="*/ 0 w 439"/>
                  <a:gd name="T5" fmla="*/ 169 h 170"/>
                </a:gdLst>
                <a:ahLst/>
                <a:cxnLst>
                  <a:cxn ang="0">
                    <a:pos x="T0" y="T1"/>
                  </a:cxn>
                  <a:cxn ang="0">
                    <a:pos x="T2" y="T3"/>
                  </a:cxn>
                  <a:cxn ang="0">
                    <a:pos x="T4" y="T5"/>
                  </a:cxn>
                </a:cxnLst>
                <a:rect l="0" t="0" r="r" b="b"/>
                <a:pathLst>
                  <a:path w="439" h="170">
                    <a:moveTo>
                      <a:pt x="438" y="169"/>
                    </a:moveTo>
                    <a:cubicBezTo>
                      <a:pt x="413" y="72"/>
                      <a:pt x="324" y="0"/>
                      <a:pt x="219" y="0"/>
                    </a:cubicBezTo>
                    <a:cubicBezTo>
                      <a:pt x="114" y="0"/>
                      <a:pt x="26" y="72"/>
                      <a:pt x="0" y="169"/>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Arial"/>
                  <a:ea typeface="+mn-ea"/>
                  <a:cs typeface="+mn-cs"/>
                </a:endParaRPr>
              </a:p>
            </p:txBody>
          </p:sp>
          <p:sp>
            <p:nvSpPr>
              <p:cNvPr id="53" name="Freeform 297">
                <a:extLst>
                  <a:ext uri="{FF2B5EF4-FFF2-40B4-BE49-F238E27FC236}">
                    <a16:creationId xmlns:a16="http://schemas.microsoft.com/office/drawing/2014/main" id="{D1E8AF13-BF75-A046-B018-85CF4E784E50}"/>
                  </a:ext>
                </a:extLst>
              </p:cNvPr>
              <p:cNvSpPr>
                <a:spLocks noChangeArrowheads="1"/>
              </p:cNvSpPr>
              <p:nvPr/>
            </p:nvSpPr>
            <p:spPr bwMode="auto">
              <a:xfrm>
                <a:off x="10960352" y="5801559"/>
                <a:ext cx="101239" cy="101239"/>
              </a:xfrm>
              <a:custGeom>
                <a:avLst/>
                <a:gdLst>
                  <a:gd name="T0" fmla="*/ 226 w 227"/>
                  <a:gd name="T1" fmla="*/ 113 h 227"/>
                  <a:gd name="T2" fmla="*/ 210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0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0" y="170"/>
                    </a:cubicBezTo>
                    <a:cubicBezTo>
                      <a:pt x="200" y="188"/>
                      <a:pt x="187" y="201"/>
                      <a:pt x="169" y="211"/>
                    </a:cubicBezTo>
                    <a:cubicBezTo>
                      <a:pt x="151" y="221"/>
                      <a:pt x="134" y="226"/>
                      <a:pt x="113" y="226"/>
                    </a:cubicBezTo>
                    <a:cubicBezTo>
                      <a:pt x="92" y="226"/>
                      <a:pt x="74" y="221"/>
                      <a:pt x="56" y="211"/>
                    </a:cubicBezTo>
                    <a:cubicBezTo>
                      <a:pt x="38" y="201"/>
                      <a:pt x="25" y="188"/>
                      <a:pt x="15" y="170"/>
                    </a:cubicBezTo>
                    <a:cubicBezTo>
                      <a:pt x="5" y="152"/>
                      <a:pt x="0" y="134"/>
                      <a:pt x="0" y="113"/>
                    </a:cubicBezTo>
                    <a:cubicBezTo>
                      <a:pt x="0" y="92"/>
                      <a:pt x="5" y="75"/>
                      <a:pt x="15" y="57"/>
                    </a:cubicBezTo>
                    <a:cubicBezTo>
                      <a:pt x="25" y="39"/>
                      <a:pt x="38" y="27"/>
                      <a:pt x="56" y="16"/>
                    </a:cubicBezTo>
                    <a:cubicBezTo>
                      <a:pt x="74" y="6"/>
                      <a:pt x="92" y="0"/>
                      <a:pt x="113" y="0"/>
                    </a:cubicBezTo>
                    <a:cubicBezTo>
                      <a:pt x="134" y="0"/>
                      <a:pt x="151" y="6"/>
                      <a:pt x="169" y="16"/>
                    </a:cubicBezTo>
                    <a:cubicBezTo>
                      <a:pt x="187" y="27"/>
                      <a:pt x="200" y="39"/>
                      <a:pt x="210" y="57"/>
                    </a:cubicBezTo>
                    <a:cubicBezTo>
                      <a:pt x="221" y="75"/>
                      <a:pt x="226" y="92"/>
                      <a:pt x="226" y="113"/>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Arial"/>
                  <a:ea typeface="+mn-ea"/>
                  <a:cs typeface="+mn-cs"/>
                </a:endParaRPr>
              </a:p>
            </p:txBody>
          </p:sp>
          <p:sp>
            <p:nvSpPr>
              <p:cNvPr id="54" name="Freeform 298">
                <a:extLst>
                  <a:ext uri="{FF2B5EF4-FFF2-40B4-BE49-F238E27FC236}">
                    <a16:creationId xmlns:a16="http://schemas.microsoft.com/office/drawing/2014/main" id="{541CDFE1-629C-6A48-ABCE-F7C8CD25B1E8}"/>
                  </a:ext>
                </a:extLst>
              </p:cNvPr>
              <p:cNvSpPr>
                <a:spLocks noChangeArrowheads="1"/>
              </p:cNvSpPr>
              <p:nvPr/>
            </p:nvSpPr>
            <p:spPr bwMode="auto">
              <a:xfrm>
                <a:off x="10912710" y="5904782"/>
                <a:ext cx="196521" cy="77418"/>
              </a:xfrm>
              <a:custGeom>
                <a:avLst/>
                <a:gdLst>
                  <a:gd name="T0" fmla="*/ 437 w 438"/>
                  <a:gd name="T1" fmla="*/ 169 h 170"/>
                  <a:gd name="T2" fmla="*/ 219 w 438"/>
                  <a:gd name="T3" fmla="*/ 0 h 170"/>
                  <a:gd name="T4" fmla="*/ 0 w 438"/>
                  <a:gd name="T5" fmla="*/ 169 h 170"/>
                </a:gdLst>
                <a:ahLst/>
                <a:cxnLst>
                  <a:cxn ang="0">
                    <a:pos x="T0" y="T1"/>
                  </a:cxn>
                  <a:cxn ang="0">
                    <a:pos x="T2" y="T3"/>
                  </a:cxn>
                  <a:cxn ang="0">
                    <a:pos x="T4" y="T5"/>
                  </a:cxn>
                </a:cxnLst>
                <a:rect l="0" t="0" r="r" b="b"/>
                <a:pathLst>
                  <a:path w="438" h="170">
                    <a:moveTo>
                      <a:pt x="437" y="169"/>
                    </a:moveTo>
                    <a:cubicBezTo>
                      <a:pt x="412" y="72"/>
                      <a:pt x="324" y="0"/>
                      <a:pt x="219" y="0"/>
                    </a:cubicBezTo>
                    <a:cubicBezTo>
                      <a:pt x="114" y="0"/>
                      <a:pt x="25" y="72"/>
                      <a:pt x="0" y="169"/>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Arial"/>
                  <a:ea typeface="+mn-ea"/>
                  <a:cs typeface="+mn-cs"/>
                </a:endParaRPr>
              </a:p>
            </p:txBody>
          </p:sp>
        </p:grpSp>
        <p:sp>
          <p:nvSpPr>
            <p:cNvPr id="44" name="Freeform 293">
              <a:extLst>
                <a:ext uri="{FF2B5EF4-FFF2-40B4-BE49-F238E27FC236}">
                  <a16:creationId xmlns:a16="http://schemas.microsoft.com/office/drawing/2014/main" id="{5C72FCA2-FF36-694B-925C-45DB625452AC}"/>
                </a:ext>
              </a:extLst>
            </p:cNvPr>
            <p:cNvSpPr>
              <a:spLocks noChangeArrowheads="1"/>
            </p:cNvSpPr>
            <p:nvPr/>
          </p:nvSpPr>
          <p:spPr bwMode="auto">
            <a:xfrm>
              <a:off x="803065" y="4812176"/>
              <a:ext cx="101239" cy="101237"/>
            </a:xfrm>
            <a:custGeom>
              <a:avLst/>
              <a:gdLst>
                <a:gd name="T0" fmla="*/ 226 w 227"/>
                <a:gd name="T1" fmla="*/ 113 h 227"/>
                <a:gd name="T2" fmla="*/ 211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2" y="152"/>
                    <a:pt x="211" y="170"/>
                  </a:cubicBezTo>
                  <a:cubicBezTo>
                    <a:pt x="201" y="188"/>
                    <a:pt x="187" y="201"/>
                    <a:pt x="169" y="211"/>
                  </a:cubicBezTo>
                  <a:cubicBezTo>
                    <a:pt x="151" y="221"/>
                    <a:pt x="134" y="226"/>
                    <a:pt x="113" y="226"/>
                  </a:cubicBezTo>
                  <a:cubicBezTo>
                    <a:pt x="92" y="226"/>
                    <a:pt x="74" y="221"/>
                    <a:pt x="56" y="211"/>
                  </a:cubicBezTo>
                  <a:cubicBezTo>
                    <a:pt x="39" y="201"/>
                    <a:pt x="26" y="188"/>
                    <a:pt x="15" y="170"/>
                  </a:cubicBezTo>
                  <a:cubicBezTo>
                    <a:pt x="5" y="152"/>
                    <a:pt x="0" y="134"/>
                    <a:pt x="0" y="113"/>
                  </a:cubicBezTo>
                  <a:cubicBezTo>
                    <a:pt x="0" y="93"/>
                    <a:pt x="5" y="75"/>
                    <a:pt x="15" y="57"/>
                  </a:cubicBezTo>
                  <a:cubicBezTo>
                    <a:pt x="26" y="39"/>
                    <a:pt x="39" y="27"/>
                    <a:pt x="56" y="16"/>
                  </a:cubicBezTo>
                  <a:cubicBezTo>
                    <a:pt x="74" y="6"/>
                    <a:pt x="92" y="0"/>
                    <a:pt x="113" y="0"/>
                  </a:cubicBezTo>
                  <a:cubicBezTo>
                    <a:pt x="134" y="0"/>
                    <a:pt x="151" y="6"/>
                    <a:pt x="169" y="16"/>
                  </a:cubicBezTo>
                  <a:cubicBezTo>
                    <a:pt x="187" y="27"/>
                    <a:pt x="201" y="39"/>
                    <a:pt x="211" y="57"/>
                  </a:cubicBezTo>
                  <a:cubicBezTo>
                    <a:pt x="222" y="75"/>
                    <a:pt x="226" y="93"/>
                    <a:pt x="226" y="113"/>
                  </a:cubicBezTo>
                </a:path>
              </a:pathLst>
            </a:custGeom>
            <a:noFill/>
            <a:ln w="12700" cap="flat">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Arial"/>
                <a:ea typeface="+mn-ea"/>
                <a:cs typeface="+mn-cs"/>
              </a:endParaRPr>
            </a:p>
          </p:txBody>
        </p:sp>
        <p:sp>
          <p:nvSpPr>
            <p:cNvPr id="45" name="Freeform 294">
              <a:extLst>
                <a:ext uri="{FF2B5EF4-FFF2-40B4-BE49-F238E27FC236}">
                  <a16:creationId xmlns:a16="http://schemas.microsoft.com/office/drawing/2014/main" id="{046EB049-86D3-EF47-85E0-31975067659B}"/>
                </a:ext>
              </a:extLst>
            </p:cNvPr>
            <p:cNvSpPr>
              <a:spLocks noChangeArrowheads="1"/>
            </p:cNvSpPr>
            <p:nvPr/>
          </p:nvSpPr>
          <p:spPr bwMode="auto">
            <a:xfrm>
              <a:off x="755425" y="4913414"/>
              <a:ext cx="198506" cy="77418"/>
            </a:xfrm>
            <a:custGeom>
              <a:avLst/>
              <a:gdLst>
                <a:gd name="T0" fmla="*/ 438 w 439"/>
                <a:gd name="T1" fmla="*/ 170 h 171"/>
                <a:gd name="T2" fmla="*/ 219 w 439"/>
                <a:gd name="T3" fmla="*/ 0 h 171"/>
                <a:gd name="T4" fmla="*/ 0 w 439"/>
                <a:gd name="T5" fmla="*/ 170 h 171"/>
              </a:gdLst>
              <a:ahLst/>
              <a:cxnLst>
                <a:cxn ang="0">
                  <a:pos x="T0" y="T1"/>
                </a:cxn>
                <a:cxn ang="0">
                  <a:pos x="T2" y="T3"/>
                </a:cxn>
                <a:cxn ang="0">
                  <a:pos x="T4" y="T5"/>
                </a:cxn>
              </a:cxnLst>
              <a:rect l="0" t="0" r="r" b="b"/>
              <a:pathLst>
                <a:path w="439" h="171">
                  <a:moveTo>
                    <a:pt x="438" y="170"/>
                  </a:moveTo>
                  <a:cubicBezTo>
                    <a:pt x="413" y="72"/>
                    <a:pt x="324" y="0"/>
                    <a:pt x="219" y="0"/>
                  </a:cubicBezTo>
                  <a:cubicBezTo>
                    <a:pt x="114" y="0"/>
                    <a:pt x="25" y="72"/>
                    <a:pt x="0" y="17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Arial"/>
                <a:ea typeface="+mn-ea"/>
                <a:cs typeface="+mn-cs"/>
              </a:endParaRPr>
            </a:p>
          </p:txBody>
        </p:sp>
        <p:grpSp>
          <p:nvGrpSpPr>
            <p:cNvPr id="46" name="Graphic 1">
              <a:extLst>
                <a:ext uri="{FF2B5EF4-FFF2-40B4-BE49-F238E27FC236}">
                  <a16:creationId xmlns:a16="http://schemas.microsoft.com/office/drawing/2014/main" id="{60DD197F-B810-4A44-9CB5-19F96B382F32}"/>
                </a:ext>
              </a:extLst>
            </p:cNvPr>
            <p:cNvGrpSpPr>
              <a:grpSpLocks noChangeAspect="1"/>
            </p:cNvGrpSpPr>
            <p:nvPr/>
          </p:nvGrpSpPr>
          <p:grpSpPr>
            <a:xfrm>
              <a:off x="918774" y="4886151"/>
              <a:ext cx="320379" cy="217717"/>
              <a:chOff x="13292406" y="35387"/>
              <a:chExt cx="1010479" cy="686680"/>
            </a:xfrm>
          </p:grpSpPr>
          <p:sp>
            <p:nvSpPr>
              <p:cNvPr id="47" name="Freeform: Shape 4">
                <a:extLst>
                  <a:ext uri="{FF2B5EF4-FFF2-40B4-BE49-F238E27FC236}">
                    <a16:creationId xmlns:a16="http://schemas.microsoft.com/office/drawing/2014/main" id="{D4DEF6E3-9018-714E-BA36-A0693B492B05}"/>
                  </a:ext>
                </a:extLst>
              </p:cNvPr>
              <p:cNvSpPr/>
              <p:nvPr/>
            </p:nvSpPr>
            <p:spPr>
              <a:xfrm>
                <a:off x="13292406" y="547826"/>
                <a:ext cx="1010479" cy="174241"/>
              </a:xfrm>
              <a:custGeom>
                <a:avLst/>
                <a:gdLst>
                  <a:gd name="connsiteX0" fmla="*/ 998560 w 1010479"/>
                  <a:gd name="connsiteY0" fmla="*/ 174242 h 174241"/>
                  <a:gd name="connsiteX1" fmla="*/ 11906 w 1010479"/>
                  <a:gd name="connsiteY1" fmla="*/ 174242 h 174241"/>
                  <a:gd name="connsiteX2" fmla="*/ 2429 w 1010479"/>
                  <a:gd name="connsiteY2" fmla="*/ 155182 h 174241"/>
                  <a:gd name="connsiteX3" fmla="*/ 119686 w 1010479"/>
                  <a:gd name="connsiteY3" fmla="*/ 0 h 174241"/>
                  <a:gd name="connsiteX4" fmla="*/ 890816 w 1010479"/>
                  <a:gd name="connsiteY4" fmla="*/ 0 h 174241"/>
                  <a:gd name="connsiteX5" fmla="*/ 1008072 w 1010479"/>
                  <a:gd name="connsiteY5" fmla="*/ 155182 h 174241"/>
                  <a:gd name="connsiteX6" fmla="*/ 998560 w 1010479"/>
                  <a:gd name="connsiteY6" fmla="*/ 174242 h 174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10479" h="174241">
                    <a:moveTo>
                      <a:pt x="998560" y="174242"/>
                    </a:moveTo>
                    <a:lnTo>
                      <a:pt x="11906" y="174242"/>
                    </a:lnTo>
                    <a:cubicBezTo>
                      <a:pt x="2095" y="174242"/>
                      <a:pt x="-3496" y="163024"/>
                      <a:pt x="2429" y="155182"/>
                    </a:cubicBezTo>
                    <a:lnTo>
                      <a:pt x="119686" y="0"/>
                    </a:lnTo>
                    <a:lnTo>
                      <a:pt x="890816" y="0"/>
                    </a:lnTo>
                    <a:lnTo>
                      <a:pt x="1008072" y="155182"/>
                    </a:lnTo>
                    <a:cubicBezTo>
                      <a:pt x="1013963" y="163007"/>
                      <a:pt x="1008371" y="174242"/>
                      <a:pt x="998560" y="174242"/>
                    </a:cubicBezTo>
                    <a:close/>
                  </a:path>
                </a:pathLst>
              </a:custGeom>
              <a:noFill/>
              <a:ln w="12700" cap="rnd">
                <a:solidFill>
                  <a:schemeClr val="bg1"/>
                </a:solidFill>
                <a:prstDash val="solid"/>
                <a:round/>
              </a:ln>
            </p:spPr>
            <p:txBody>
              <a:bodyPr rtlCol="0"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Arial"/>
                  <a:ea typeface="+mn-ea"/>
                  <a:cs typeface="+mn-cs"/>
                </a:endParaRPr>
              </a:p>
            </p:txBody>
          </p:sp>
          <p:sp>
            <p:nvSpPr>
              <p:cNvPr id="48" name="Freeform: Shape 5">
                <a:extLst>
                  <a:ext uri="{FF2B5EF4-FFF2-40B4-BE49-F238E27FC236}">
                    <a16:creationId xmlns:a16="http://schemas.microsoft.com/office/drawing/2014/main" id="{A3825D66-DAD8-4248-B09B-40E0C85AFA83}"/>
                  </a:ext>
                </a:extLst>
              </p:cNvPr>
              <p:cNvSpPr/>
              <p:nvPr/>
            </p:nvSpPr>
            <p:spPr>
              <a:xfrm>
                <a:off x="13412074" y="35387"/>
                <a:ext cx="771129" cy="512439"/>
              </a:xfrm>
              <a:custGeom>
                <a:avLst/>
                <a:gdLst>
                  <a:gd name="connsiteX0" fmla="*/ 771129 w 771129"/>
                  <a:gd name="connsiteY0" fmla="*/ 512439 h 512439"/>
                  <a:gd name="connsiteX1" fmla="*/ 771129 w 771129"/>
                  <a:gd name="connsiteY1" fmla="*/ 33512 h 512439"/>
                  <a:gd name="connsiteX2" fmla="*/ 737617 w 771129"/>
                  <a:gd name="connsiteY2" fmla="*/ 0 h 512439"/>
                  <a:gd name="connsiteX3" fmla="*/ 33512 w 771129"/>
                  <a:gd name="connsiteY3" fmla="*/ 0 h 512439"/>
                  <a:gd name="connsiteX4" fmla="*/ 0 w 771129"/>
                  <a:gd name="connsiteY4" fmla="*/ 33512 h 512439"/>
                  <a:gd name="connsiteX5" fmla="*/ 0 w 771129"/>
                  <a:gd name="connsiteY5" fmla="*/ 512439 h 51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1129" h="512439">
                    <a:moveTo>
                      <a:pt x="771129" y="512439"/>
                    </a:moveTo>
                    <a:lnTo>
                      <a:pt x="771129" y="33512"/>
                    </a:lnTo>
                    <a:cubicBezTo>
                      <a:pt x="771129" y="14998"/>
                      <a:pt x="756132" y="0"/>
                      <a:pt x="737617" y="0"/>
                    </a:cubicBezTo>
                    <a:lnTo>
                      <a:pt x="33512" y="0"/>
                    </a:lnTo>
                    <a:cubicBezTo>
                      <a:pt x="14998" y="0"/>
                      <a:pt x="0" y="14998"/>
                      <a:pt x="0" y="33512"/>
                    </a:cubicBezTo>
                    <a:lnTo>
                      <a:pt x="0" y="512439"/>
                    </a:lnTo>
                  </a:path>
                </a:pathLst>
              </a:custGeom>
              <a:noFill/>
              <a:ln w="12700" cap="rnd">
                <a:solidFill>
                  <a:schemeClr val="bg1"/>
                </a:solidFill>
                <a:prstDash val="solid"/>
                <a:round/>
              </a:ln>
            </p:spPr>
            <p:txBody>
              <a:bodyPr rtlCol="0"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Arial"/>
                  <a:ea typeface="+mn-ea"/>
                  <a:cs typeface="+mn-cs"/>
                </a:endParaRPr>
              </a:p>
            </p:txBody>
          </p:sp>
          <p:sp>
            <p:nvSpPr>
              <p:cNvPr id="49" name="Freeform: Shape 6">
                <a:extLst>
                  <a:ext uri="{FF2B5EF4-FFF2-40B4-BE49-F238E27FC236}">
                    <a16:creationId xmlns:a16="http://schemas.microsoft.com/office/drawing/2014/main" id="{3638A6C3-AE92-B440-AA2C-46BD40996798}"/>
                  </a:ext>
                </a:extLst>
              </p:cNvPr>
              <p:cNvSpPr/>
              <p:nvPr/>
            </p:nvSpPr>
            <p:spPr>
              <a:xfrm>
                <a:off x="13778035" y="78007"/>
                <a:ext cx="39208" cy="39207"/>
              </a:xfrm>
              <a:custGeom>
                <a:avLst/>
                <a:gdLst>
                  <a:gd name="connsiteX0" fmla="*/ 39209 w 39209"/>
                  <a:gd name="connsiteY0" fmla="*/ 19604 h 39208"/>
                  <a:gd name="connsiteX1" fmla="*/ 19604 w 39209"/>
                  <a:gd name="connsiteY1" fmla="*/ 39209 h 39208"/>
                  <a:gd name="connsiteX2" fmla="*/ 0 w 39209"/>
                  <a:gd name="connsiteY2" fmla="*/ 19604 h 39208"/>
                  <a:gd name="connsiteX3" fmla="*/ 19604 w 39209"/>
                  <a:gd name="connsiteY3" fmla="*/ 0 h 39208"/>
                  <a:gd name="connsiteX4" fmla="*/ 39209 w 39209"/>
                  <a:gd name="connsiteY4" fmla="*/ 19604 h 39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09" h="39208">
                    <a:moveTo>
                      <a:pt x="39209" y="19604"/>
                    </a:moveTo>
                    <a:cubicBezTo>
                      <a:pt x="39209" y="30435"/>
                      <a:pt x="30435" y="39209"/>
                      <a:pt x="19604" y="39209"/>
                    </a:cubicBezTo>
                    <a:cubicBezTo>
                      <a:pt x="8774" y="39209"/>
                      <a:pt x="0" y="30435"/>
                      <a:pt x="0" y="19604"/>
                    </a:cubicBezTo>
                    <a:cubicBezTo>
                      <a:pt x="0" y="8774"/>
                      <a:pt x="8774" y="0"/>
                      <a:pt x="19604" y="0"/>
                    </a:cubicBezTo>
                    <a:cubicBezTo>
                      <a:pt x="30435" y="0"/>
                      <a:pt x="39209" y="8774"/>
                      <a:pt x="39209" y="19604"/>
                    </a:cubicBezTo>
                    <a:close/>
                  </a:path>
                </a:pathLst>
              </a:custGeom>
              <a:solidFill>
                <a:schemeClr val="tx1"/>
              </a:solidFill>
              <a:ln w="12700" cap="flat">
                <a:solidFill>
                  <a:schemeClr val="bg1"/>
                </a:solidFill>
                <a:prstDash val="solid"/>
                <a:miter/>
              </a:ln>
            </p:spPr>
            <p:txBody>
              <a:bodyPr rtlCol="0"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Arial"/>
                  <a:ea typeface="+mn-ea"/>
                  <a:cs typeface="+mn-cs"/>
                </a:endParaRPr>
              </a:p>
            </p:txBody>
          </p:sp>
          <p:sp>
            <p:nvSpPr>
              <p:cNvPr id="50" name="Freeform: Shape 7">
                <a:extLst>
                  <a:ext uri="{FF2B5EF4-FFF2-40B4-BE49-F238E27FC236}">
                    <a16:creationId xmlns:a16="http://schemas.microsoft.com/office/drawing/2014/main" id="{99675276-66A8-DC41-8C54-3AF5E1C43EE6}"/>
                  </a:ext>
                </a:extLst>
              </p:cNvPr>
              <p:cNvSpPr/>
              <p:nvPr/>
            </p:nvSpPr>
            <p:spPr>
              <a:xfrm>
                <a:off x="13571037" y="657382"/>
                <a:ext cx="464105" cy="1758"/>
              </a:xfrm>
              <a:custGeom>
                <a:avLst/>
                <a:gdLst>
                  <a:gd name="connsiteX0" fmla="*/ 0 w 464105"/>
                  <a:gd name="connsiteY0" fmla="*/ 0 h 1758"/>
                  <a:gd name="connsiteX1" fmla="*/ 464105 w 464105"/>
                  <a:gd name="connsiteY1" fmla="*/ 0 h 1758"/>
                </a:gdLst>
                <a:ahLst/>
                <a:cxnLst>
                  <a:cxn ang="0">
                    <a:pos x="connsiteX0" y="connsiteY0"/>
                  </a:cxn>
                  <a:cxn ang="0">
                    <a:pos x="connsiteX1" y="connsiteY1"/>
                  </a:cxn>
                </a:cxnLst>
                <a:rect l="l" t="t" r="r" b="b"/>
                <a:pathLst>
                  <a:path w="464105" h="1758">
                    <a:moveTo>
                      <a:pt x="0" y="0"/>
                    </a:moveTo>
                    <a:lnTo>
                      <a:pt x="464105" y="0"/>
                    </a:lnTo>
                  </a:path>
                </a:pathLst>
              </a:custGeom>
              <a:ln w="12700" cap="rnd">
                <a:solidFill>
                  <a:schemeClr val="bg1"/>
                </a:solidFill>
                <a:prstDash val="solid"/>
                <a:round/>
              </a:ln>
            </p:spPr>
            <p:txBody>
              <a:bodyPr rtlCol="0"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Arial"/>
                  <a:ea typeface="+mn-ea"/>
                  <a:cs typeface="+mn-cs"/>
                </a:endParaRPr>
              </a:p>
            </p:txBody>
          </p:sp>
        </p:grpSp>
      </p:grpSp>
      <p:sp>
        <p:nvSpPr>
          <p:cNvPr id="42" name="Rectangle 41">
            <a:extLst>
              <a:ext uri="{FF2B5EF4-FFF2-40B4-BE49-F238E27FC236}">
                <a16:creationId xmlns:a16="http://schemas.microsoft.com/office/drawing/2014/main" id="{8C8C707F-1B38-674C-A65B-8265D8CD7260}"/>
              </a:ext>
            </a:extLst>
          </p:cNvPr>
          <p:cNvSpPr/>
          <p:nvPr/>
        </p:nvSpPr>
        <p:spPr>
          <a:xfrm>
            <a:off x="1890493" y="2642155"/>
            <a:ext cx="1026982" cy="397032"/>
          </a:xfrm>
          <a:prstGeom prst="rect">
            <a:avLst/>
          </a:prstGeom>
        </p:spPr>
        <p:txBody>
          <a:bodyPr wrap="square">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US" sz="1100" b="0" i="0" u="none" strike="noStrike" kern="1200" cap="none" spc="0" normalizeH="0" baseline="0" noProof="0">
                <a:ln>
                  <a:noFill/>
                </a:ln>
                <a:solidFill>
                  <a:srgbClr val="0059C8">
                    <a:lumMod val="60000"/>
                    <a:lumOff val="40000"/>
                  </a:srgbClr>
                </a:solidFill>
                <a:effectLst/>
                <a:uLnTx/>
                <a:uFillTx/>
                <a:latin typeface="Arial"/>
                <a:ea typeface="+mn-ea"/>
                <a:cs typeface="+mn-cs"/>
              </a:rPr>
              <a:t>Discovery Workshops</a:t>
            </a:r>
          </a:p>
        </p:txBody>
      </p:sp>
      <p:grpSp>
        <p:nvGrpSpPr>
          <p:cNvPr id="56" name="Group 55">
            <a:extLst>
              <a:ext uri="{FF2B5EF4-FFF2-40B4-BE49-F238E27FC236}">
                <a16:creationId xmlns:a16="http://schemas.microsoft.com/office/drawing/2014/main" id="{87F73478-CF83-A645-8CB6-BF12150FF2E0}"/>
              </a:ext>
            </a:extLst>
          </p:cNvPr>
          <p:cNvGrpSpPr/>
          <p:nvPr/>
        </p:nvGrpSpPr>
        <p:grpSpPr>
          <a:xfrm>
            <a:off x="7770872" y="4463433"/>
            <a:ext cx="368838" cy="426515"/>
            <a:chOff x="898525" y="5572861"/>
            <a:chExt cx="482370" cy="557801"/>
          </a:xfrm>
        </p:grpSpPr>
        <p:sp>
          <p:nvSpPr>
            <p:cNvPr id="58" name="Freeform 146">
              <a:extLst>
                <a:ext uri="{FF2B5EF4-FFF2-40B4-BE49-F238E27FC236}">
                  <a16:creationId xmlns:a16="http://schemas.microsoft.com/office/drawing/2014/main" id="{561DB50C-11D8-A145-BE51-85A9E388DA63}"/>
                </a:ext>
              </a:extLst>
            </p:cNvPr>
            <p:cNvSpPr>
              <a:spLocks noChangeArrowheads="1"/>
            </p:cNvSpPr>
            <p:nvPr/>
          </p:nvSpPr>
          <p:spPr bwMode="auto">
            <a:xfrm>
              <a:off x="898525" y="5813053"/>
              <a:ext cx="39701" cy="1984"/>
            </a:xfrm>
            <a:custGeom>
              <a:avLst/>
              <a:gdLst>
                <a:gd name="T0" fmla="*/ 85 w 86"/>
                <a:gd name="T1" fmla="*/ 0 h 1"/>
                <a:gd name="T2" fmla="*/ 0 w 86"/>
                <a:gd name="T3" fmla="*/ 0 h 1"/>
              </a:gdLst>
              <a:ahLst/>
              <a:cxnLst>
                <a:cxn ang="0">
                  <a:pos x="T0" y="T1"/>
                </a:cxn>
                <a:cxn ang="0">
                  <a:pos x="T2" y="T3"/>
                </a:cxn>
              </a:cxnLst>
              <a:rect l="0" t="0" r="r" b="b"/>
              <a:pathLst>
                <a:path w="86" h="1">
                  <a:moveTo>
                    <a:pt x="85" y="0"/>
                  </a:moveTo>
                  <a:cubicBezTo>
                    <a:pt x="57" y="0"/>
                    <a:pt x="2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59" name="Freeform 147">
              <a:extLst>
                <a:ext uri="{FF2B5EF4-FFF2-40B4-BE49-F238E27FC236}">
                  <a16:creationId xmlns:a16="http://schemas.microsoft.com/office/drawing/2014/main" id="{6B443F13-DD8F-DB4B-8875-983228F590BF}"/>
                </a:ext>
              </a:extLst>
            </p:cNvPr>
            <p:cNvSpPr>
              <a:spLocks noChangeArrowheads="1"/>
            </p:cNvSpPr>
            <p:nvPr/>
          </p:nvSpPr>
          <p:spPr bwMode="auto">
            <a:xfrm>
              <a:off x="1071225" y="6029424"/>
              <a:ext cx="140938" cy="1986"/>
            </a:xfrm>
            <a:custGeom>
              <a:avLst/>
              <a:gdLst>
                <a:gd name="T0" fmla="*/ 310 w 311"/>
                <a:gd name="T1" fmla="*/ 0 h 1"/>
                <a:gd name="T2" fmla="*/ 0 w 311"/>
                <a:gd name="T3" fmla="*/ 0 h 1"/>
              </a:gdLst>
              <a:ahLst/>
              <a:cxnLst>
                <a:cxn ang="0">
                  <a:pos x="T0" y="T1"/>
                </a:cxn>
                <a:cxn ang="0">
                  <a:pos x="T2" y="T3"/>
                </a:cxn>
              </a:cxnLst>
              <a:rect l="0" t="0" r="r" b="b"/>
              <a:pathLst>
                <a:path w="311" h="1">
                  <a:moveTo>
                    <a:pt x="310" y="0"/>
                  </a:moveTo>
                  <a:cubicBezTo>
                    <a:pt x="207" y="0"/>
                    <a:pt x="103"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60" name="Freeform 148">
              <a:extLst>
                <a:ext uri="{FF2B5EF4-FFF2-40B4-BE49-F238E27FC236}">
                  <a16:creationId xmlns:a16="http://schemas.microsoft.com/office/drawing/2014/main" id="{EACACAC9-F79E-F946-86EE-ACFAFF5EF48B}"/>
                </a:ext>
              </a:extLst>
            </p:cNvPr>
            <p:cNvSpPr>
              <a:spLocks noChangeArrowheads="1"/>
            </p:cNvSpPr>
            <p:nvPr/>
          </p:nvSpPr>
          <p:spPr bwMode="auto">
            <a:xfrm>
              <a:off x="1071225" y="6055230"/>
              <a:ext cx="140938" cy="13895"/>
            </a:xfrm>
            <a:custGeom>
              <a:avLst/>
              <a:gdLst>
                <a:gd name="T0" fmla="*/ 310 w 311"/>
                <a:gd name="T1" fmla="*/ 0 h 29"/>
                <a:gd name="T2" fmla="*/ 0 w 311"/>
                <a:gd name="T3" fmla="*/ 28 h 29"/>
              </a:gdLst>
              <a:ahLst/>
              <a:cxnLst>
                <a:cxn ang="0">
                  <a:pos x="T0" y="T1"/>
                </a:cxn>
                <a:cxn ang="0">
                  <a:pos x="T2" y="T3"/>
                </a:cxn>
              </a:cxnLst>
              <a:rect l="0" t="0" r="r" b="b"/>
              <a:pathLst>
                <a:path w="311" h="29">
                  <a:moveTo>
                    <a:pt x="310" y="0"/>
                  </a:moveTo>
                  <a:cubicBezTo>
                    <a:pt x="207" y="9"/>
                    <a:pt x="103" y="19"/>
                    <a:pt x="0" y="2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61" name="Freeform 149">
              <a:extLst>
                <a:ext uri="{FF2B5EF4-FFF2-40B4-BE49-F238E27FC236}">
                  <a16:creationId xmlns:a16="http://schemas.microsoft.com/office/drawing/2014/main" id="{73C275B5-F465-9A4A-A266-4AEC2839C11D}"/>
                </a:ext>
              </a:extLst>
            </p:cNvPr>
            <p:cNvSpPr>
              <a:spLocks noChangeArrowheads="1"/>
            </p:cNvSpPr>
            <p:nvPr/>
          </p:nvSpPr>
          <p:spPr bwMode="auto">
            <a:xfrm>
              <a:off x="987853" y="5660203"/>
              <a:ext cx="305699" cy="470459"/>
            </a:xfrm>
            <a:custGeom>
              <a:avLst/>
              <a:gdLst>
                <a:gd name="T0" fmla="*/ 678 w 679"/>
                <a:gd name="T1" fmla="*/ 339 h 1046"/>
                <a:gd name="T2" fmla="*/ 339 w 679"/>
                <a:gd name="T3" fmla="*/ 0 h 1046"/>
                <a:gd name="T4" fmla="*/ 0 w 679"/>
                <a:gd name="T5" fmla="*/ 339 h 1046"/>
                <a:gd name="T6" fmla="*/ 101 w 679"/>
                <a:gd name="T7" fmla="*/ 580 h 1046"/>
                <a:gd name="T8" fmla="*/ 185 w 679"/>
                <a:gd name="T9" fmla="*/ 781 h 1046"/>
                <a:gd name="T10" fmla="*/ 185 w 679"/>
                <a:gd name="T11" fmla="*/ 910 h 1046"/>
                <a:gd name="T12" fmla="*/ 200 w 679"/>
                <a:gd name="T13" fmla="*/ 948 h 1046"/>
                <a:gd name="T14" fmla="*/ 272 w 679"/>
                <a:gd name="T15" fmla="*/ 1026 h 1046"/>
                <a:gd name="T16" fmla="*/ 313 w 679"/>
                <a:gd name="T17" fmla="*/ 1045 h 1046"/>
                <a:gd name="T18" fmla="*/ 367 w 679"/>
                <a:gd name="T19" fmla="*/ 1045 h 1046"/>
                <a:gd name="T20" fmla="*/ 409 w 679"/>
                <a:gd name="T21" fmla="*/ 1026 h 1046"/>
                <a:gd name="T22" fmla="*/ 481 w 679"/>
                <a:gd name="T23" fmla="*/ 948 h 1046"/>
                <a:gd name="T24" fmla="*/ 496 w 679"/>
                <a:gd name="T25" fmla="*/ 910 h 1046"/>
                <a:gd name="T26" fmla="*/ 496 w 679"/>
                <a:gd name="T27" fmla="*/ 778 h 1046"/>
                <a:gd name="T28" fmla="*/ 578 w 679"/>
                <a:gd name="T29" fmla="*/ 579 h 1046"/>
                <a:gd name="T30" fmla="*/ 678 w 679"/>
                <a:gd name="T31" fmla="*/ 339 h 1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79" h="1046">
                  <a:moveTo>
                    <a:pt x="678" y="339"/>
                  </a:moveTo>
                  <a:cubicBezTo>
                    <a:pt x="678" y="152"/>
                    <a:pt x="526" y="0"/>
                    <a:pt x="339" y="0"/>
                  </a:cubicBezTo>
                  <a:cubicBezTo>
                    <a:pt x="152" y="0"/>
                    <a:pt x="0" y="152"/>
                    <a:pt x="0" y="339"/>
                  </a:cubicBezTo>
                  <a:cubicBezTo>
                    <a:pt x="0" y="433"/>
                    <a:pt x="39" y="518"/>
                    <a:pt x="101" y="580"/>
                  </a:cubicBezTo>
                  <a:cubicBezTo>
                    <a:pt x="155" y="633"/>
                    <a:pt x="185" y="705"/>
                    <a:pt x="185" y="781"/>
                  </a:cubicBezTo>
                  <a:cubicBezTo>
                    <a:pt x="185" y="824"/>
                    <a:pt x="185" y="867"/>
                    <a:pt x="185" y="910"/>
                  </a:cubicBezTo>
                  <a:cubicBezTo>
                    <a:pt x="185" y="924"/>
                    <a:pt x="190" y="937"/>
                    <a:pt x="200" y="948"/>
                  </a:cubicBezTo>
                  <a:cubicBezTo>
                    <a:pt x="224" y="974"/>
                    <a:pt x="248" y="1000"/>
                    <a:pt x="272" y="1026"/>
                  </a:cubicBezTo>
                  <a:cubicBezTo>
                    <a:pt x="283" y="1038"/>
                    <a:pt x="298" y="1045"/>
                    <a:pt x="313" y="1045"/>
                  </a:cubicBezTo>
                  <a:cubicBezTo>
                    <a:pt x="331" y="1045"/>
                    <a:pt x="349" y="1045"/>
                    <a:pt x="367" y="1045"/>
                  </a:cubicBezTo>
                  <a:cubicBezTo>
                    <a:pt x="383" y="1045"/>
                    <a:pt x="398" y="1038"/>
                    <a:pt x="409" y="1026"/>
                  </a:cubicBezTo>
                  <a:cubicBezTo>
                    <a:pt x="433" y="1000"/>
                    <a:pt x="457" y="974"/>
                    <a:pt x="481" y="948"/>
                  </a:cubicBezTo>
                  <a:cubicBezTo>
                    <a:pt x="490" y="937"/>
                    <a:pt x="496" y="924"/>
                    <a:pt x="496" y="910"/>
                  </a:cubicBezTo>
                  <a:cubicBezTo>
                    <a:pt x="496" y="866"/>
                    <a:pt x="496" y="822"/>
                    <a:pt x="496" y="778"/>
                  </a:cubicBezTo>
                  <a:cubicBezTo>
                    <a:pt x="496" y="703"/>
                    <a:pt x="525" y="631"/>
                    <a:pt x="578" y="579"/>
                  </a:cubicBezTo>
                  <a:cubicBezTo>
                    <a:pt x="640" y="517"/>
                    <a:pt x="678" y="432"/>
                    <a:pt x="678" y="33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62" name="Freeform 150">
              <a:extLst>
                <a:ext uri="{FF2B5EF4-FFF2-40B4-BE49-F238E27FC236}">
                  <a16:creationId xmlns:a16="http://schemas.microsoft.com/office/drawing/2014/main" id="{F801653F-71CD-A84E-812C-484CA9654155}"/>
                </a:ext>
              </a:extLst>
            </p:cNvPr>
            <p:cNvSpPr>
              <a:spLocks noChangeArrowheads="1"/>
            </p:cNvSpPr>
            <p:nvPr/>
          </p:nvSpPr>
          <p:spPr bwMode="auto">
            <a:xfrm>
              <a:off x="1093060" y="6094931"/>
              <a:ext cx="105209" cy="9925"/>
            </a:xfrm>
            <a:custGeom>
              <a:avLst/>
              <a:gdLst>
                <a:gd name="T0" fmla="*/ 234 w 235"/>
                <a:gd name="T1" fmla="*/ 0 h 23"/>
                <a:gd name="T2" fmla="*/ 0 w 235"/>
                <a:gd name="T3" fmla="*/ 22 h 23"/>
              </a:gdLst>
              <a:ahLst/>
              <a:cxnLst>
                <a:cxn ang="0">
                  <a:pos x="T0" y="T1"/>
                </a:cxn>
                <a:cxn ang="0">
                  <a:pos x="T2" y="T3"/>
                </a:cxn>
              </a:cxnLst>
              <a:rect l="0" t="0" r="r" b="b"/>
              <a:pathLst>
                <a:path w="235" h="23">
                  <a:moveTo>
                    <a:pt x="234" y="0"/>
                  </a:moveTo>
                  <a:cubicBezTo>
                    <a:pt x="156" y="7"/>
                    <a:pt x="78" y="15"/>
                    <a:pt x="0" y="22"/>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63" name="Freeform 151">
              <a:extLst>
                <a:ext uri="{FF2B5EF4-FFF2-40B4-BE49-F238E27FC236}">
                  <a16:creationId xmlns:a16="http://schemas.microsoft.com/office/drawing/2014/main" id="{502F6564-5067-6041-A0AD-C7575E1713CD}"/>
                </a:ext>
              </a:extLst>
            </p:cNvPr>
            <p:cNvSpPr>
              <a:spLocks noChangeArrowheads="1"/>
            </p:cNvSpPr>
            <p:nvPr/>
          </p:nvSpPr>
          <p:spPr bwMode="auto">
            <a:xfrm>
              <a:off x="1083136" y="5793203"/>
              <a:ext cx="115133" cy="63522"/>
            </a:xfrm>
            <a:custGeom>
              <a:avLst/>
              <a:gdLst>
                <a:gd name="T0" fmla="*/ 254 w 255"/>
                <a:gd name="T1" fmla="*/ 141 h 142"/>
                <a:gd name="T2" fmla="*/ 254 w 255"/>
                <a:gd name="T3" fmla="*/ 42 h 142"/>
                <a:gd name="T4" fmla="*/ 212 w 255"/>
                <a:gd name="T5" fmla="*/ 0 h 142"/>
                <a:gd name="T6" fmla="*/ 169 w 255"/>
                <a:gd name="T7" fmla="*/ 42 h 142"/>
                <a:gd name="T8" fmla="*/ 169 w 255"/>
                <a:gd name="T9" fmla="*/ 98 h 142"/>
                <a:gd name="T10" fmla="*/ 127 w 255"/>
                <a:gd name="T11" fmla="*/ 141 h 142"/>
                <a:gd name="T12" fmla="*/ 85 w 255"/>
                <a:gd name="T13" fmla="*/ 98 h 142"/>
                <a:gd name="T14" fmla="*/ 85 w 255"/>
                <a:gd name="T15" fmla="*/ 42 h 142"/>
                <a:gd name="T16" fmla="*/ 42 w 255"/>
                <a:gd name="T17" fmla="*/ 0 h 142"/>
                <a:gd name="T18" fmla="*/ 0 w 255"/>
                <a:gd name="T19" fmla="*/ 42 h 142"/>
                <a:gd name="T20" fmla="*/ 0 w 255"/>
                <a:gd name="T21" fmla="*/ 141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5" h="142">
                  <a:moveTo>
                    <a:pt x="254" y="141"/>
                  </a:moveTo>
                  <a:cubicBezTo>
                    <a:pt x="254" y="130"/>
                    <a:pt x="254" y="53"/>
                    <a:pt x="254" y="42"/>
                  </a:cubicBezTo>
                  <a:cubicBezTo>
                    <a:pt x="254" y="19"/>
                    <a:pt x="235" y="0"/>
                    <a:pt x="212" y="0"/>
                  </a:cubicBezTo>
                  <a:cubicBezTo>
                    <a:pt x="188" y="0"/>
                    <a:pt x="169" y="19"/>
                    <a:pt x="169" y="42"/>
                  </a:cubicBezTo>
                  <a:cubicBezTo>
                    <a:pt x="169" y="53"/>
                    <a:pt x="169" y="88"/>
                    <a:pt x="169" y="98"/>
                  </a:cubicBezTo>
                  <a:cubicBezTo>
                    <a:pt x="169" y="122"/>
                    <a:pt x="150" y="141"/>
                    <a:pt x="127" y="141"/>
                  </a:cubicBezTo>
                  <a:cubicBezTo>
                    <a:pt x="104" y="141"/>
                    <a:pt x="85" y="122"/>
                    <a:pt x="85" y="98"/>
                  </a:cubicBezTo>
                  <a:cubicBezTo>
                    <a:pt x="85" y="88"/>
                    <a:pt x="85" y="53"/>
                    <a:pt x="85" y="42"/>
                  </a:cubicBezTo>
                  <a:cubicBezTo>
                    <a:pt x="85" y="19"/>
                    <a:pt x="65" y="0"/>
                    <a:pt x="42" y="0"/>
                  </a:cubicBezTo>
                  <a:cubicBezTo>
                    <a:pt x="18" y="0"/>
                    <a:pt x="0" y="19"/>
                    <a:pt x="0" y="42"/>
                  </a:cubicBezTo>
                  <a:cubicBezTo>
                    <a:pt x="0" y="53"/>
                    <a:pt x="0" y="130"/>
                    <a:pt x="0" y="14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64" name="Freeform 152">
              <a:extLst>
                <a:ext uri="{FF2B5EF4-FFF2-40B4-BE49-F238E27FC236}">
                  <a16:creationId xmlns:a16="http://schemas.microsoft.com/office/drawing/2014/main" id="{BB7BF88E-F391-7643-A232-B3CD86403DDF}"/>
                </a:ext>
              </a:extLst>
            </p:cNvPr>
            <p:cNvSpPr>
              <a:spLocks noChangeArrowheads="1"/>
            </p:cNvSpPr>
            <p:nvPr/>
          </p:nvSpPr>
          <p:spPr bwMode="auto">
            <a:xfrm>
              <a:off x="1343178" y="5813053"/>
              <a:ext cx="37717" cy="1984"/>
            </a:xfrm>
            <a:custGeom>
              <a:avLst/>
              <a:gdLst>
                <a:gd name="T0" fmla="*/ 0 w 85"/>
                <a:gd name="T1" fmla="*/ 0 h 1"/>
                <a:gd name="T2" fmla="*/ 84 w 85"/>
                <a:gd name="T3" fmla="*/ 0 h 1"/>
              </a:gdLst>
              <a:ahLst/>
              <a:cxnLst>
                <a:cxn ang="0">
                  <a:pos x="T0" y="T1"/>
                </a:cxn>
                <a:cxn ang="0">
                  <a:pos x="T2" y="T3"/>
                </a:cxn>
              </a:cxnLst>
              <a:rect l="0" t="0" r="r" b="b"/>
              <a:pathLst>
                <a:path w="85" h="1">
                  <a:moveTo>
                    <a:pt x="0" y="0"/>
                  </a:moveTo>
                  <a:cubicBezTo>
                    <a:pt x="28" y="0"/>
                    <a:pt x="56" y="0"/>
                    <a:pt x="84"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65" name="Freeform 153">
              <a:extLst>
                <a:ext uri="{FF2B5EF4-FFF2-40B4-BE49-F238E27FC236}">
                  <a16:creationId xmlns:a16="http://schemas.microsoft.com/office/drawing/2014/main" id="{C893D26A-FCCB-B145-A857-C35D413CAEBE}"/>
                </a:ext>
              </a:extLst>
            </p:cNvPr>
            <p:cNvSpPr>
              <a:spLocks noChangeArrowheads="1"/>
            </p:cNvSpPr>
            <p:nvPr/>
          </p:nvSpPr>
          <p:spPr bwMode="auto">
            <a:xfrm>
              <a:off x="1140702" y="5572861"/>
              <a:ext cx="1986" cy="39701"/>
            </a:xfrm>
            <a:custGeom>
              <a:avLst/>
              <a:gdLst>
                <a:gd name="T0" fmla="*/ 0 w 1"/>
                <a:gd name="T1" fmla="*/ 85 h 86"/>
                <a:gd name="T2" fmla="*/ 0 w 1"/>
                <a:gd name="T3" fmla="*/ 0 h 86"/>
              </a:gdLst>
              <a:ahLst/>
              <a:cxnLst>
                <a:cxn ang="0">
                  <a:pos x="T0" y="T1"/>
                </a:cxn>
                <a:cxn ang="0">
                  <a:pos x="T2" y="T3"/>
                </a:cxn>
              </a:cxnLst>
              <a:rect l="0" t="0" r="r" b="b"/>
              <a:pathLst>
                <a:path w="1" h="86">
                  <a:moveTo>
                    <a:pt x="0" y="85"/>
                  </a:moveTo>
                  <a:cubicBezTo>
                    <a:pt x="0" y="57"/>
                    <a:pt x="0" y="2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66" name="Freeform 154">
              <a:extLst>
                <a:ext uri="{FF2B5EF4-FFF2-40B4-BE49-F238E27FC236}">
                  <a16:creationId xmlns:a16="http://schemas.microsoft.com/office/drawing/2014/main" id="{65F68777-2C19-2B49-B944-FE0C5F317ADC}"/>
                </a:ext>
              </a:extLst>
            </p:cNvPr>
            <p:cNvSpPr>
              <a:spLocks noChangeArrowheads="1"/>
            </p:cNvSpPr>
            <p:nvPr/>
          </p:nvSpPr>
          <p:spPr bwMode="auto">
            <a:xfrm>
              <a:off x="932271" y="5916276"/>
              <a:ext cx="33745" cy="19851"/>
            </a:xfrm>
            <a:custGeom>
              <a:avLst/>
              <a:gdLst>
                <a:gd name="T0" fmla="*/ 0 w 74"/>
                <a:gd name="T1" fmla="*/ 42 h 43"/>
                <a:gd name="T2" fmla="*/ 73 w 74"/>
                <a:gd name="T3" fmla="*/ 0 h 43"/>
              </a:gdLst>
              <a:ahLst/>
              <a:cxnLst>
                <a:cxn ang="0">
                  <a:pos x="T0" y="T1"/>
                </a:cxn>
                <a:cxn ang="0">
                  <a:pos x="T2" y="T3"/>
                </a:cxn>
              </a:cxnLst>
              <a:rect l="0" t="0" r="r" b="b"/>
              <a:pathLst>
                <a:path w="74" h="43">
                  <a:moveTo>
                    <a:pt x="0" y="42"/>
                  </a:moveTo>
                  <a:cubicBezTo>
                    <a:pt x="24" y="28"/>
                    <a:pt x="49" y="14"/>
                    <a:pt x="73"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67" name="Freeform 155">
              <a:extLst>
                <a:ext uri="{FF2B5EF4-FFF2-40B4-BE49-F238E27FC236}">
                  <a16:creationId xmlns:a16="http://schemas.microsoft.com/office/drawing/2014/main" id="{04B96DDA-A54B-FF46-B876-7402CB5A4952}"/>
                </a:ext>
              </a:extLst>
            </p:cNvPr>
            <p:cNvSpPr>
              <a:spLocks noChangeArrowheads="1"/>
            </p:cNvSpPr>
            <p:nvPr/>
          </p:nvSpPr>
          <p:spPr bwMode="auto">
            <a:xfrm>
              <a:off x="1315387" y="5916276"/>
              <a:ext cx="33747" cy="19851"/>
            </a:xfrm>
            <a:custGeom>
              <a:avLst/>
              <a:gdLst>
                <a:gd name="T0" fmla="*/ 0 w 74"/>
                <a:gd name="T1" fmla="*/ 0 h 43"/>
                <a:gd name="T2" fmla="*/ 73 w 74"/>
                <a:gd name="T3" fmla="*/ 42 h 43"/>
              </a:gdLst>
              <a:ahLst/>
              <a:cxnLst>
                <a:cxn ang="0">
                  <a:pos x="T0" y="T1"/>
                </a:cxn>
                <a:cxn ang="0">
                  <a:pos x="T2" y="T3"/>
                </a:cxn>
              </a:cxnLst>
              <a:rect l="0" t="0" r="r" b="b"/>
              <a:pathLst>
                <a:path w="74" h="43">
                  <a:moveTo>
                    <a:pt x="0" y="0"/>
                  </a:moveTo>
                  <a:cubicBezTo>
                    <a:pt x="24" y="14"/>
                    <a:pt x="49" y="28"/>
                    <a:pt x="73" y="42"/>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68" name="Freeform 156">
              <a:extLst>
                <a:ext uri="{FF2B5EF4-FFF2-40B4-BE49-F238E27FC236}">
                  <a16:creationId xmlns:a16="http://schemas.microsoft.com/office/drawing/2014/main" id="{590BCFF4-C055-4F4F-BFCD-54E18933E174}"/>
                </a:ext>
              </a:extLst>
            </p:cNvPr>
            <p:cNvSpPr>
              <a:spLocks noChangeArrowheads="1"/>
            </p:cNvSpPr>
            <p:nvPr/>
          </p:nvSpPr>
          <p:spPr bwMode="auto">
            <a:xfrm>
              <a:off x="1315387" y="5693950"/>
              <a:ext cx="33747" cy="19851"/>
            </a:xfrm>
            <a:custGeom>
              <a:avLst/>
              <a:gdLst>
                <a:gd name="T0" fmla="*/ 0 w 74"/>
                <a:gd name="T1" fmla="*/ 42 h 43"/>
                <a:gd name="T2" fmla="*/ 73 w 74"/>
                <a:gd name="T3" fmla="*/ 0 h 43"/>
              </a:gdLst>
              <a:ahLst/>
              <a:cxnLst>
                <a:cxn ang="0">
                  <a:pos x="T0" y="T1"/>
                </a:cxn>
                <a:cxn ang="0">
                  <a:pos x="T2" y="T3"/>
                </a:cxn>
              </a:cxnLst>
              <a:rect l="0" t="0" r="r" b="b"/>
              <a:pathLst>
                <a:path w="74" h="43">
                  <a:moveTo>
                    <a:pt x="0" y="42"/>
                  </a:moveTo>
                  <a:cubicBezTo>
                    <a:pt x="24" y="28"/>
                    <a:pt x="49" y="14"/>
                    <a:pt x="73"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69" name="Freeform 157">
              <a:extLst>
                <a:ext uri="{FF2B5EF4-FFF2-40B4-BE49-F238E27FC236}">
                  <a16:creationId xmlns:a16="http://schemas.microsoft.com/office/drawing/2014/main" id="{E636A7DA-1E07-3746-B214-6FE33EFFFDF6}"/>
                </a:ext>
              </a:extLst>
            </p:cNvPr>
            <p:cNvSpPr>
              <a:spLocks noChangeArrowheads="1"/>
            </p:cNvSpPr>
            <p:nvPr/>
          </p:nvSpPr>
          <p:spPr bwMode="auto">
            <a:xfrm>
              <a:off x="1241940" y="5604622"/>
              <a:ext cx="19851" cy="33747"/>
            </a:xfrm>
            <a:custGeom>
              <a:avLst/>
              <a:gdLst>
                <a:gd name="T0" fmla="*/ 0 w 43"/>
                <a:gd name="T1" fmla="*/ 73 h 74"/>
                <a:gd name="T2" fmla="*/ 42 w 43"/>
                <a:gd name="T3" fmla="*/ 0 h 74"/>
              </a:gdLst>
              <a:ahLst/>
              <a:cxnLst>
                <a:cxn ang="0">
                  <a:pos x="T0" y="T1"/>
                </a:cxn>
                <a:cxn ang="0">
                  <a:pos x="T2" y="T3"/>
                </a:cxn>
              </a:cxnLst>
              <a:rect l="0" t="0" r="r" b="b"/>
              <a:pathLst>
                <a:path w="43" h="74">
                  <a:moveTo>
                    <a:pt x="0" y="73"/>
                  </a:moveTo>
                  <a:cubicBezTo>
                    <a:pt x="14" y="49"/>
                    <a:pt x="28" y="25"/>
                    <a:pt x="42"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70" name="Freeform 158">
              <a:extLst>
                <a:ext uri="{FF2B5EF4-FFF2-40B4-BE49-F238E27FC236}">
                  <a16:creationId xmlns:a16="http://schemas.microsoft.com/office/drawing/2014/main" id="{A24B1EF7-251E-7C4D-A118-764C5E56CA45}"/>
                </a:ext>
              </a:extLst>
            </p:cNvPr>
            <p:cNvSpPr>
              <a:spLocks noChangeArrowheads="1"/>
            </p:cNvSpPr>
            <p:nvPr/>
          </p:nvSpPr>
          <p:spPr bwMode="auto">
            <a:xfrm>
              <a:off x="932271" y="5693950"/>
              <a:ext cx="33745" cy="19851"/>
            </a:xfrm>
            <a:custGeom>
              <a:avLst/>
              <a:gdLst>
                <a:gd name="T0" fmla="*/ 73 w 74"/>
                <a:gd name="T1" fmla="*/ 42 h 43"/>
                <a:gd name="T2" fmla="*/ 0 w 74"/>
                <a:gd name="T3" fmla="*/ 0 h 43"/>
              </a:gdLst>
              <a:ahLst/>
              <a:cxnLst>
                <a:cxn ang="0">
                  <a:pos x="T0" y="T1"/>
                </a:cxn>
                <a:cxn ang="0">
                  <a:pos x="T2" y="T3"/>
                </a:cxn>
              </a:cxnLst>
              <a:rect l="0" t="0" r="r" b="b"/>
              <a:pathLst>
                <a:path w="74" h="43">
                  <a:moveTo>
                    <a:pt x="73" y="42"/>
                  </a:moveTo>
                  <a:cubicBezTo>
                    <a:pt x="49" y="28"/>
                    <a:pt x="24" y="14"/>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71" name="Freeform 159">
              <a:extLst>
                <a:ext uri="{FF2B5EF4-FFF2-40B4-BE49-F238E27FC236}">
                  <a16:creationId xmlns:a16="http://schemas.microsoft.com/office/drawing/2014/main" id="{9A5851EC-EDF7-FA4B-AED3-F69E50117CC3}"/>
                </a:ext>
              </a:extLst>
            </p:cNvPr>
            <p:cNvSpPr>
              <a:spLocks noChangeArrowheads="1"/>
            </p:cNvSpPr>
            <p:nvPr/>
          </p:nvSpPr>
          <p:spPr bwMode="auto">
            <a:xfrm>
              <a:off x="1019614" y="5604622"/>
              <a:ext cx="19851" cy="33747"/>
            </a:xfrm>
            <a:custGeom>
              <a:avLst/>
              <a:gdLst>
                <a:gd name="T0" fmla="*/ 42 w 43"/>
                <a:gd name="T1" fmla="*/ 73 h 74"/>
                <a:gd name="T2" fmla="*/ 0 w 43"/>
                <a:gd name="T3" fmla="*/ 0 h 74"/>
              </a:gdLst>
              <a:ahLst/>
              <a:cxnLst>
                <a:cxn ang="0">
                  <a:pos x="T0" y="T1"/>
                </a:cxn>
                <a:cxn ang="0">
                  <a:pos x="T2" y="T3"/>
                </a:cxn>
              </a:cxnLst>
              <a:rect l="0" t="0" r="r" b="b"/>
              <a:pathLst>
                <a:path w="43" h="74">
                  <a:moveTo>
                    <a:pt x="42" y="73"/>
                  </a:moveTo>
                  <a:cubicBezTo>
                    <a:pt x="28" y="49"/>
                    <a:pt x="14" y="2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grpSp>
      <p:sp>
        <p:nvSpPr>
          <p:cNvPr id="57" name="Rectangle 56">
            <a:extLst>
              <a:ext uri="{FF2B5EF4-FFF2-40B4-BE49-F238E27FC236}">
                <a16:creationId xmlns:a16="http://schemas.microsoft.com/office/drawing/2014/main" id="{6DFAB24B-EABC-3042-9A62-2CD008E3F313}"/>
              </a:ext>
            </a:extLst>
          </p:cNvPr>
          <p:cNvSpPr/>
          <p:nvPr/>
        </p:nvSpPr>
        <p:spPr>
          <a:xfrm>
            <a:off x="7475002" y="4913961"/>
            <a:ext cx="958148" cy="230832"/>
          </a:xfrm>
          <a:prstGeom prst="rect">
            <a:avLst/>
          </a:prstGeom>
          <a:ln>
            <a:noFill/>
          </a:ln>
        </p:spPr>
        <p:txBody>
          <a:bodyPr wrap="square">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rPr>
              <a:t>Education</a:t>
            </a:r>
          </a:p>
        </p:txBody>
      </p:sp>
      <p:grpSp>
        <p:nvGrpSpPr>
          <p:cNvPr id="72" name="Group 71">
            <a:extLst>
              <a:ext uri="{FF2B5EF4-FFF2-40B4-BE49-F238E27FC236}">
                <a16:creationId xmlns:a16="http://schemas.microsoft.com/office/drawing/2014/main" id="{A7B87ADE-534D-C14A-90D9-2BECFDE1A20A}"/>
              </a:ext>
            </a:extLst>
          </p:cNvPr>
          <p:cNvGrpSpPr/>
          <p:nvPr/>
        </p:nvGrpSpPr>
        <p:grpSpPr>
          <a:xfrm>
            <a:off x="1234686" y="4442592"/>
            <a:ext cx="978822" cy="773159"/>
            <a:chOff x="2040072" y="2862173"/>
            <a:chExt cx="1280115" cy="1011147"/>
          </a:xfrm>
        </p:grpSpPr>
        <p:grpSp>
          <p:nvGrpSpPr>
            <p:cNvPr id="73" name="Group 72">
              <a:extLst>
                <a:ext uri="{FF2B5EF4-FFF2-40B4-BE49-F238E27FC236}">
                  <a16:creationId xmlns:a16="http://schemas.microsoft.com/office/drawing/2014/main" id="{2E51A5B1-F76C-D347-B8AE-FD7F213D2413}"/>
                </a:ext>
              </a:extLst>
            </p:cNvPr>
            <p:cNvGrpSpPr/>
            <p:nvPr/>
          </p:nvGrpSpPr>
          <p:grpSpPr>
            <a:xfrm>
              <a:off x="2530878" y="2862173"/>
              <a:ext cx="354567" cy="509076"/>
              <a:chOff x="7947035" y="2292350"/>
              <a:chExt cx="284163" cy="407992"/>
            </a:xfrm>
          </p:grpSpPr>
          <p:sp>
            <p:nvSpPr>
              <p:cNvPr id="75" name="Freeform 201">
                <a:extLst>
                  <a:ext uri="{FF2B5EF4-FFF2-40B4-BE49-F238E27FC236}">
                    <a16:creationId xmlns:a16="http://schemas.microsoft.com/office/drawing/2014/main" id="{13041A24-9E70-AD4E-A496-AA5173231EAC}"/>
                  </a:ext>
                </a:extLst>
              </p:cNvPr>
              <p:cNvSpPr>
                <a:spLocks noChangeArrowheads="1"/>
              </p:cNvSpPr>
              <p:nvPr/>
            </p:nvSpPr>
            <p:spPr bwMode="auto">
              <a:xfrm>
                <a:off x="7947035" y="2333628"/>
                <a:ext cx="284163" cy="366714"/>
              </a:xfrm>
              <a:custGeom>
                <a:avLst/>
                <a:gdLst>
                  <a:gd name="T0" fmla="*/ 564 w 791"/>
                  <a:gd name="T1" fmla="*/ 0 h 1017"/>
                  <a:gd name="T2" fmla="*/ 734 w 791"/>
                  <a:gd name="T3" fmla="*/ 0 h 1017"/>
                  <a:gd name="T4" fmla="*/ 790 w 791"/>
                  <a:gd name="T5" fmla="*/ 56 h 1017"/>
                  <a:gd name="T6" fmla="*/ 790 w 791"/>
                  <a:gd name="T7" fmla="*/ 959 h 1017"/>
                  <a:gd name="T8" fmla="*/ 734 w 791"/>
                  <a:gd name="T9" fmla="*/ 1016 h 1017"/>
                  <a:gd name="T10" fmla="*/ 56 w 791"/>
                  <a:gd name="T11" fmla="*/ 1016 h 1017"/>
                  <a:gd name="T12" fmla="*/ 0 w 791"/>
                  <a:gd name="T13" fmla="*/ 959 h 1017"/>
                  <a:gd name="T14" fmla="*/ 0 w 791"/>
                  <a:gd name="T15" fmla="*/ 56 h 1017"/>
                  <a:gd name="T16" fmla="*/ 56 w 791"/>
                  <a:gd name="T17" fmla="*/ 0 h 1017"/>
                  <a:gd name="T18" fmla="*/ 226 w 791"/>
                  <a:gd name="T19" fmla="*/ 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1" h="1017">
                    <a:moveTo>
                      <a:pt x="564" y="0"/>
                    </a:moveTo>
                    <a:cubicBezTo>
                      <a:pt x="621" y="0"/>
                      <a:pt x="678" y="0"/>
                      <a:pt x="734" y="0"/>
                    </a:cubicBezTo>
                    <a:cubicBezTo>
                      <a:pt x="765" y="0"/>
                      <a:pt x="790" y="25"/>
                      <a:pt x="790" y="56"/>
                    </a:cubicBezTo>
                    <a:cubicBezTo>
                      <a:pt x="790" y="357"/>
                      <a:pt x="790" y="658"/>
                      <a:pt x="790" y="959"/>
                    </a:cubicBezTo>
                    <a:cubicBezTo>
                      <a:pt x="790" y="990"/>
                      <a:pt x="765" y="1016"/>
                      <a:pt x="734" y="1016"/>
                    </a:cubicBezTo>
                    <a:cubicBezTo>
                      <a:pt x="508" y="1016"/>
                      <a:pt x="282" y="1016"/>
                      <a:pt x="56" y="1016"/>
                    </a:cubicBezTo>
                    <a:cubicBezTo>
                      <a:pt x="25" y="1016"/>
                      <a:pt x="0" y="990"/>
                      <a:pt x="0" y="959"/>
                    </a:cubicBezTo>
                    <a:cubicBezTo>
                      <a:pt x="0" y="658"/>
                      <a:pt x="0" y="357"/>
                      <a:pt x="0" y="56"/>
                    </a:cubicBezTo>
                    <a:cubicBezTo>
                      <a:pt x="0" y="25"/>
                      <a:pt x="25" y="0"/>
                      <a:pt x="56" y="0"/>
                    </a:cubicBezTo>
                    <a:cubicBezTo>
                      <a:pt x="113" y="0"/>
                      <a:pt x="170" y="0"/>
                      <a:pt x="226" y="0"/>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76" name="Freeform 202">
                <a:extLst>
                  <a:ext uri="{FF2B5EF4-FFF2-40B4-BE49-F238E27FC236}">
                    <a16:creationId xmlns:a16="http://schemas.microsoft.com/office/drawing/2014/main" id="{237566DA-A8E6-DD4D-A0F7-AABAC78D554D}"/>
                  </a:ext>
                </a:extLst>
              </p:cNvPr>
              <p:cNvSpPr>
                <a:spLocks noChangeArrowheads="1"/>
              </p:cNvSpPr>
              <p:nvPr/>
            </p:nvSpPr>
            <p:spPr bwMode="auto">
              <a:xfrm>
                <a:off x="7997825" y="2292350"/>
                <a:ext cx="182563" cy="92075"/>
              </a:xfrm>
              <a:custGeom>
                <a:avLst/>
                <a:gdLst>
                  <a:gd name="T0" fmla="*/ 508 w 509"/>
                  <a:gd name="T1" fmla="*/ 197 h 255"/>
                  <a:gd name="T2" fmla="*/ 423 w 509"/>
                  <a:gd name="T3" fmla="*/ 113 h 255"/>
                  <a:gd name="T4" fmla="*/ 380 w 509"/>
                  <a:gd name="T5" fmla="*/ 113 h 255"/>
                  <a:gd name="T6" fmla="*/ 366 w 509"/>
                  <a:gd name="T7" fmla="*/ 100 h 255"/>
                  <a:gd name="T8" fmla="*/ 254 w 509"/>
                  <a:gd name="T9" fmla="*/ 0 h 255"/>
                  <a:gd name="T10" fmla="*/ 142 w 509"/>
                  <a:gd name="T11" fmla="*/ 100 h 255"/>
                  <a:gd name="T12" fmla="*/ 128 w 509"/>
                  <a:gd name="T13" fmla="*/ 113 h 255"/>
                  <a:gd name="T14" fmla="*/ 85 w 509"/>
                  <a:gd name="T15" fmla="*/ 113 h 255"/>
                  <a:gd name="T16" fmla="*/ 0 w 509"/>
                  <a:gd name="T17" fmla="*/ 197 h 255"/>
                  <a:gd name="T18" fmla="*/ 0 w 509"/>
                  <a:gd name="T19" fmla="*/ 226 h 255"/>
                  <a:gd name="T20" fmla="*/ 28 w 509"/>
                  <a:gd name="T21" fmla="*/ 254 h 255"/>
                  <a:gd name="T22" fmla="*/ 480 w 509"/>
                  <a:gd name="T23" fmla="*/ 254 h 255"/>
                  <a:gd name="T24" fmla="*/ 508 w 509"/>
                  <a:gd name="T25" fmla="*/ 226 h 255"/>
                  <a:gd name="T26" fmla="*/ 508 w 509"/>
                  <a:gd name="T27" fmla="*/ 19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9" h="255">
                    <a:moveTo>
                      <a:pt x="508" y="197"/>
                    </a:moveTo>
                    <a:cubicBezTo>
                      <a:pt x="508" y="151"/>
                      <a:pt x="470" y="113"/>
                      <a:pt x="423" y="113"/>
                    </a:cubicBezTo>
                    <a:cubicBezTo>
                      <a:pt x="409" y="113"/>
                      <a:pt x="395" y="113"/>
                      <a:pt x="380" y="113"/>
                    </a:cubicBezTo>
                    <a:cubicBezTo>
                      <a:pt x="373" y="113"/>
                      <a:pt x="367" y="107"/>
                      <a:pt x="366" y="100"/>
                    </a:cubicBezTo>
                    <a:cubicBezTo>
                      <a:pt x="359" y="44"/>
                      <a:pt x="308" y="0"/>
                      <a:pt x="254" y="0"/>
                    </a:cubicBezTo>
                    <a:cubicBezTo>
                      <a:pt x="200" y="0"/>
                      <a:pt x="149" y="44"/>
                      <a:pt x="142" y="100"/>
                    </a:cubicBezTo>
                    <a:cubicBezTo>
                      <a:pt x="141" y="107"/>
                      <a:pt x="135" y="113"/>
                      <a:pt x="128" y="113"/>
                    </a:cubicBezTo>
                    <a:cubicBezTo>
                      <a:pt x="114" y="113"/>
                      <a:pt x="100" y="113"/>
                      <a:pt x="85" y="113"/>
                    </a:cubicBezTo>
                    <a:cubicBezTo>
                      <a:pt x="38" y="113"/>
                      <a:pt x="0" y="151"/>
                      <a:pt x="0" y="197"/>
                    </a:cubicBezTo>
                    <a:cubicBezTo>
                      <a:pt x="0" y="206"/>
                      <a:pt x="0" y="216"/>
                      <a:pt x="0" y="226"/>
                    </a:cubicBezTo>
                    <a:cubicBezTo>
                      <a:pt x="0" y="241"/>
                      <a:pt x="13" y="254"/>
                      <a:pt x="28" y="254"/>
                    </a:cubicBezTo>
                    <a:cubicBezTo>
                      <a:pt x="179" y="254"/>
                      <a:pt x="330" y="254"/>
                      <a:pt x="480" y="254"/>
                    </a:cubicBezTo>
                    <a:cubicBezTo>
                      <a:pt x="495" y="254"/>
                      <a:pt x="508" y="241"/>
                      <a:pt x="508" y="226"/>
                    </a:cubicBezTo>
                    <a:cubicBezTo>
                      <a:pt x="508" y="216"/>
                      <a:pt x="508" y="206"/>
                      <a:pt x="508" y="197"/>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77" name="Freeform 203">
                <a:extLst>
                  <a:ext uri="{FF2B5EF4-FFF2-40B4-BE49-F238E27FC236}">
                    <a16:creationId xmlns:a16="http://schemas.microsoft.com/office/drawing/2014/main" id="{644E3B02-DEBA-A94B-83EF-AAB68D1D29DC}"/>
                  </a:ext>
                </a:extLst>
              </p:cNvPr>
              <p:cNvSpPr>
                <a:spLocks noChangeArrowheads="1"/>
              </p:cNvSpPr>
              <p:nvPr/>
            </p:nvSpPr>
            <p:spPr bwMode="auto">
              <a:xfrm>
                <a:off x="8080375" y="2444750"/>
                <a:ext cx="92075" cy="1588"/>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78" name="Freeform 204">
                <a:extLst>
                  <a:ext uri="{FF2B5EF4-FFF2-40B4-BE49-F238E27FC236}">
                    <a16:creationId xmlns:a16="http://schemas.microsoft.com/office/drawing/2014/main" id="{45C1B5D4-00DB-6946-86E9-74BEE5E4F47D}"/>
                  </a:ext>
                </a:extLst>
              </p:cNvPr>
              <p:cNvSpPr>
                <a:spLocks noChangeArrowheads="1"/>
              </p:cNvSpPr>
              <p:nvPr/>
            </p:nvSpPr>
            <p:spPr bwMode="auto">
              <a:xfrm>
                <a:off x="8080375" y="2322513"/>
                <a:ext cx="20638" cy="20637"/>
              </a:xfrm>
              <a:custGeom>
                <a:avLst/>
                <a:gdLst>
                  <a:gd name="T0" fmla="*/ 56 w 57"/>
                  <a:gd name="T1" fmla="*/ 29 h 58"/>
                  <a:gd name="T2" fmla="*/ 28 w 57"/>
                  <a:gd name="T3" fmla="*/ 57 h 58"/>
                  <a:gd name="T4" fmla="*/ 0 w 57"/>
                  <a:gd name="T5" fmla="*/ 29 h 58"/>
                  <a:gd name="T6" fmla="*/ 28 w 57"/>
                  <a:gd name="T7" fmla="*/ 0 h 58"/>
                  <a:gd name="T8" fmla="*/ 56 w 57"/>
                  <a:gd name="T9" fmla="*/ 29 h 58"/>
                </a:gdLst>
                <a:ahLst/>
                <a:cxnLst>
                  <a:cxn ang="0">
                    <a:pos x="T0" y="T1"/>
                  </a:cxn>
                  <a:cxn ang="0">
                    <a:pos x="T2" y="T3"/>
                  </a:cxn>
                  <a:cxn ang="0">
                    <a:pos x="T4" y="T5"/>
                  </a:cxn>
                  <a:cxn ang="0">
                    <a:pos x="T6" y="T7"/>
                  </a:cxn>
                  <a:cxn ang="0">
                    <a:pos x="T8" y="T9"/>
                  </a:cxn>
                </a:cxnLst>
                <a:rect l="0" t="0" r="r" b="b"/>
                <a:pathLst>
                  <a:path w="57" h="58">
                    <a:moveTo>
                      <a:pt x="56" y="29"/>
                    </a:moveTo>
                    <a:cubicBezTo>
                      <a:pt x="56" y="44"/>
                      <a:pt x="44" y="57"/>
                      <a:pt x="28" y="57"/>
                    </a:cubicBezTo>
                    <a:cubicBezTo>
                      <a:pt x="12" y="57"/>
                      <a:pt x="0" y="44"/>
                      <a:pt x="0" y="29"/>
                    </a:cubicBezTo>
                    <a:cubicBezTo>
                      <a:pt x="0" y="13"/>
                      <a:pt x="12" y="0"/>
                      <a:pt x="28" y="0"/>
                    </a:cubicBezTo>
                    <a:cubicBezTo>
                      <a:pt x="44" y="0"/>
                      <a:pt x="56" y="13"/>
                      <a:pt x="56" y="29"/>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79" name="Freeform 205">
                <a:extLst>
                  <a:ext uri="{FF2B5EF4-FFF2-40B4-BE49-F238E27FC236}">
                    <a16:creationId xmlns:a16="http://schemas.microsoft.com/office/drawing/2014/main" id="{6D563612-38F4-3D49-9348-A7E2FAD4C210}"/>
                  </a:ext>
                </a:extLst>
              </p:cNvPr>
              <p:cNvSpPr>
                <a:spLocks noChangeArrowheads="1"/>
              </p:cNvSpPr>
              <p:nvPr/>
            </p:nvSpPr>
            <p:spPr bwMode="auto">
              <a:xfrm>
                <a:off x="8008938" y="2430463"/>
                <a:ext cx="31750" cy="30162"/>
              </a:xfrm>
              <a:custGeom>
                <a:avLst/>
                <a:gdLst>
                  <a:gd name="T0" fmla="*/ 85 w 86"/>
                  <a:gd name="T1" fmla="*/ 42 h 85"/>
                  <a:gd name="T2" fmla="*/ 43 w 86"/>
                  <a:gd name="T3" fmla="*/ 84 h 85"/>
                  <a:gd name="T4" fmla="*/ 0 w 86"/>
                  <a:gd name="T5" fmla="*/ 42 h 85"/>
                  <a:gd name="T6" fmla="*/ 43 w 86"/>
                  <a:gd name="T7" fmla="*/ 0 h 85"/>
                  <a:gd name="T8" fmla="*/ 85 w 86"/>
                  <a:gd name="T9" fmla="*/ 42 h 85"/>
                </a:gdLst>
                <a:ahLst/>
                <a:cxnLst>
                  <a:cxn ang="0">
                    <a:pos x="T0" y="T1"/>
                  </a:cxn>
                  <a:cxn ang="0">
                    <a:pos x="T2" y="T3"/>
                  </a:cxn>
                  <a:cxn ang="0">
                    <a:pos x="T4" y="T5"/>
                  </a:cxn>
                  <a:cxn ang="0">
                    <a:pos x="T6" y="T7"/>
                  </a:cxn>
                  <a:cxn ang="0">
                    <a:pos x="T8" y="T9"/>
                  </a:cxn>
                </a:cxnLst>
                <a:rect l="0" t="0" r="r" b="b"/>
                <a:pathLst>
                  <a:path w="86" h="85">
                    <a:moveTo>
                      <a:pt x="85" y="42"/>
                    </a:moveTo>
                    <a:cubicBezTo>
                      <a:pt x="85" y="66"/>
                      <a:pt x="66" y="84"/>
                      <a:pt x="43" y="84"/>
                    </a:cubicBezTo>
                    <a:cubicBezTo>
                      <a:pt x="19" y="84"/>
                      <a:pt x="0" y="66"/>
                      <a:pt x="0" y="42"/>
                    </a:cubicBezTo>
                    <a:cubicBezTo>
                      <a:pt x="0" y="19"/>
                      <a:pt x="19" y="0"/>
                      <a:pt x="43" y="0"/>
                    </a:cubicBezTo>
                    <a:cubicBezTo>
                      <a:pt x="66" y="0"/>
                      <a:pt x="85" y="19"/>
                      <a:pt x="85" y="42"/>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80" name="Freeform 206">
                <a:extLst>
                  <a:ext uri="{FF2B5EF4-FFF2-40B4-BE49-F238E27FC236}">
                    <a16:creationId xmlns:a16="http://schemas.microsoft.com/office/drawing/2014/main" id="{49AD4FC1-8102-A746-AA9C-7FBF5FFAAE8F}"/>
                  </a:ext>
                </a:extLst>
              </p:cNvPr>
              <p:cNvSpPr>
                <a:spLocks noChangeArrowheads="1"/>
              </p:cNvSpPr>
              <p:nvPr/>
            </p:nvSpPr>
            <p:spPr bwMode="auto">
              <a:xfrm>
                <a:off x="8008938" y="2490788"/>
                <a:ext cx="31750" cy="31750"/>
              </a:xfrm>
              <a:custGeom>
                <a:avLst/>
                <a:gdLst>
                  <a:gd name="T0" fmla="*/ 85 w 86"/>
                  <a:gd name="T1" fmla="*/ 42 h 86"/>
                  <a:gd name="T2" fmla="*/ 43 w 86"/>
                  <a:gd name="T3" fmla="*/ 85 h 86"/>
                  <a:gd name="T4" fmla="*/ 0 w 86"/>
                  <a:gd name="T5" fmla="*/ 42 h 86"/>
                  <a:gd name="T6" fmla="*/ 43 w 86"/>
                  <a:gd name="T7" fmla="*/ 0 h 86"/>
                  <a:gd name="T8" fmla="*/ 85 w 86"/>
                  <a:gd name="T9" fmla="*/ 42 h 86"/>
                </a:gdLst>
                <a:ahLst/>
                <a:cxnLst>
                  <a:cxn ang="0">
                    <a:pos x="T0" y="T1"/>
                  </a:cxn>
                  <a:cxn ang="0">
                    <a:pos x="T2" y="T3"/>
                  </a:cxn>
                  <a:cxn ang="0">
                    <a:pos x="T4" y="T5"/>
                  </a:cxn>
                  <a:cxn ang="0">
                    <a:pos x="T6" y="T7"/>
                  </a:cxn>
                  <a:cxn ang="0">
                    <a:pos x="T8" y="T9"/>
                  </a:cxn>
                </a:cxnLst>
                <a:rect l="0" t="0" r="r" b="b"/>
                <a:pathLst>
                  <a:path w="86" h="86">
                    <a:moveTo>
                      <a:pt x="85" y="42"/>
                    </a:moveTo>
                    <a:cubicBezTo>
                      <a:pt x="85" y="66"/>
                      <a:pt x="66" y="85"/>
                      <a:pt x="43" y="85"/>
                    </a:cubicBezTo>
                    <a:cubicBezTo>
                      <a:pt x="19" y="85"/>
                      <a:pt x="0" y="66"/>
                      <a:pt x="0" y="42"/>
                    </a:cubicBezTo>
                    <a:cubicBezTo>
                      <a:pt x="0" y="19"/>
                      <a:pt x="19" y="0"/>
                      <a:pt x="43" y="0"/>
                    </a:cubicBezTo>
                    <a:cubicBezTo>
                      <a:pt x="66" y="0"/>
                      <a:pt x="85" y="19"/>
                      <a:pt x="85" y="42"/>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81" name="Freeform 207">
                <a:extLst>
                  <a:ext uri="{FF2B5EF4-FFF2-40B4-BE49-F238E27FC236}">
                    <a16:creationId xmlns:a16="http://schemas.microsoft.com/office/drawing/2014/main" id="{C2D81A95-8A4E-5241-A44E-2C3C298C7374}"/>
                  </a:ext>
                </a:extLst>
              </p:cNvPr>
              <p:cNvSpPr>
                <a:spLocks noChangeArrowheads="1"/>
              </p:cNvSpPr>
              <p:nvPr/>
            </p:nvSpPr>
            <p:spPr bwMode="auto">
              <a:xfrm>
                <a:off x="8008938" y="2551113"/>
                <a:ext cx="31750" cy="31750"/>
              </a:xfrm>
              <a:custGeom>
                <a:avLst/>
                <a:gdLst>
                  <a:gd name="T0" fmla="*/ 85 w 86"/>
                  <a:gd name="T1" fmla="*/ 43 h 86"/>
                  <a:gd name="T2" fmla="*/ 43 w 86"/>
                  <a:gd name="T3" fmla="*/ 85 h 86"/>
                  <a:gd name="T4" fmla="*/ 0 w 86"/>
                  <a:gd name="T5" fmla="*/ 43 h 86"/>
                  <a:gd name="T6" fmla="*/ 43 w 86"/>
                  <a:gd name="T7" fmla="*/ 0 h 86"/>
                  <a:gd name="T8" fmla="*/ 85 w 86"/>
                  <a:gd name="T9" fmla="*/ 43 h 86"/>
                </a:gdLst>
                <a:ahLst/>
                <a:cxnLst>
                  <a:cxn ang="0">
                    <a:pos x="T0" y="T1"/>
                  </a:cxn>
                  <a:cxn ang="0">
                    <a:pos x="T2" y="T3"/>
                  </a:cxn>
                  <a:cxn ang="0">
                    <a:pos x="T4" y="T5"/>
                  </a:cxn>
                  <a:cxn ang="0">
                    <a:pos x="T6" y="T7"/>
                  </a:cxn>
                  <a:cxn ang="0">
                    <a:pos x="T8" y="T9"/>
                  </a:cxn>
                </a:cxnLst>
                <a:rect l="0" t="0" r="r" b="b"/>
                <a:pathLst>
                  <a:path w="86" h="86">
                    <a:moveTo>
                      <a:pt x="85" y="43"/>
                    </a:moveTo>
                    <a:cubicBezTo>
                      <a:pt x="85" y="66"/>
                      <a:pt x="66" y="85"/>
                      <a:pt x="43" y="85"/>
                    </a:cubicBezTo>
                    <a:cubicBezTo>
                      <a:pt x="19" y="85"/>
                      <a:pt x="0" y="66"/>
                      <a:pt x="0" y="43"/>
                    </a:cubicBezTo>
                    <a:cubicBezTo>
                      <a:pt x="0" y="19"/>
                      <a:pt x="19" y="0"/>
                      <a:pt x="43" y="0"/>
                    </a:cubicBezTo>
                    <a:cubicBezTo>
                      <a:pt x="66" y="0"/>
                      <a:pt x="85" y="19"/>
                      <a:pt x="85" y="43"/>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82" name="Freeform 208">
                <a:extLst>
                  <a:ext uri="{FF2B5EF4-FFF2-40B4-BE49-F238E27FC236}">
                    <a16:creationId xmlns:a16="http://schemas.microsoft.com/office/drawing/2014/main" id="{B1EB0085-1178-E244-8AF6-C3283B35250C}"/>
                  </a:ext>
                </a:extLst>
              </p:cNvPr>
              <p:cNvSpPr>
                <a:spLocks noChangeArrowheads="1"/>
              </p:cNvSpPr>
              <p:nvPr/>
            </p:nvSpPr>
            <p:spPr bwMode="auto">
              <a:xfrm>
                <a:off x="8008938" y="2613025"/>
                <a:ext cx="31750" cy="30163"/>
              </a:xfrm>
              <a:custGeom>
                <a:avLst/>
                <a:gdLst>
                  <a:gd name="T0" fmla="*/ 85 w 86"/>
                  <a:gd name="T1" fmla="*/ 42 h 85"/>
                  <a:gd name="T2" fmla="*/ 43 w 86"/>
                  <a:gd name="T3" fmla="*/ 84 h 85"/>
                  <a:gd name="T4" fmla="*/ 0 w 86"/>
                  <a:gd name="T5" fmla="*/ 42 h 85"/>
                  <a:gd name="T6" fmla="*/ 43 w 86"/>
                  <a:gd name="T7" fmla="*/ 0 h 85"/>
                  <a:gd name="T8" fmla="*/ 85 w 86"/>
                  <a:gd name="T9" fmla="*/ 42 h 85"/>
                </a:gdLst>
                <a:ahLst/>
                <a:cxnLst>
                  <a:cxn ang="0">
                    <a:pos x="T0" y="T1"/>
                  </a:cxn>
                  <a:cxn ang="0">
                    <a:pos x="T2" y="T3"/>
                  </a:cxn>
                  <a:cxn ang="0">
                    <a:pos x="T4" y="T5"/>
                  </a:cxn>
                  <a:cxn ang="0">
                    <a:pos x="T6" y="T7"/>
                  </a:cxn>
                  <a:cxn ang="0">
                    <a:pos x="T8" y="T9"/>
                  </a:cxn>
                </a:cxnLst>
                <a:rect l="0" t="0" r="r" b="b"/>
                <a:pathLst>
                  <a:path w="86" h="85">
                    <a:moveTo>
                      <a:pt x="85" y="42"/>
                    </a:moveTo>
                    <a:cubicBezTo>
                      <a:pt x="85" y="65"/>
                      <a:pt x="66" y="84"/>
                      <a:pt x="43" y="84"/>
                    </a:cubicBezTo>
                    <a:cubicBezTo>
                      <a:pt x="19" y="84"/>
                      <a:pt x="0" y="65"/>
                      <a:pt x="0" y="42"/>
                    </a:cubicBezTo>
                    <a:cubicBezTo>
                      <a:pt x="0" y="19"/>
                      <a:pt x="19" y="0"/>
                      <a:pt x="43" y="0"/>
                    </a:cubicBezTo>
                    <a:cubicBezTo>
                      <a:pt x="66" y="0"/>
                      <a:pt x="85" y="19"/>
                      <a:pt x="85" y="42"/>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83" name="Freeform 209">
                <a:extLst>
                  <a:ext uri="{FF2B5EF4-FFF2-40B4-BE49-F238E27FC236}">
                    <a16:creationId xmlns:a16="http://schemas.microsoft.com/office/drawing/2014/main" id="{9B4783D7-CC95-A44A-A726-8BC2768EB6DF}"/>
                  </a:ext>
                </a:extLst>
              </p:cNvPr>
              <p:cNvSpPr>
                <a:spLocks noChangeArrowheads="1"/>
              </p:cNvSpPr>
              <p:nvPr/>
            </p:nvSpPr>
            <p:spPr bwMode="auto">
              <a:xfrm>
                <a:off x="8080375" y="2506663"/>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84" name="Freeform 210">
                <a:extLst>
                  <a:ext uri="{FF2B5EF4-FFF2-40B4-BE49-F238E27FC236}">
                    <a16:creationId xmlns:a16="http://schemas.microsoft.com/office/drawing/2014/main" id="{F7B75BAF-767C-7547-B162-48B03A0B65AF}"/>
                  </a:ext>
                </a:extLst>
              </p:cNvPr>
              <p:cNvSpPr>
                <a:spLocks noChangeArrowheads="1"/>
              </p:cNvSpPr>
              <p:nvPr/>
            </p:nvSpPr>
            <p:spPr bwMode="auto">
              <a:xfrm>
                <a:off x="8080375" y="2566988"/>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sp>
            <p:nvSpPr>
              <p:cNvPr id="85" name="Freeform 211">
                <a:extLst>
                  <a:ext uri="{FF2B5EF4-FFF2-40B4-BE49-F238E27FC236}">
                    <a16:creationId xmlns:a16="http://schemas.microsoft.com/office/drawing/2014/main" id="{F4AED54E-8140-FD4B-BE1C-4E372D8D4278}"/>
                  </a:ext>
                </a:extLst>
              </p:cNvPr>
              <p:cNvSpPr>
                <a:spLocks noChangeArrowheads="1"/>
              </p:cNvSpPr>
              <p:nvPr/>
            </p:nvSpPr>
            <p:spPr bwMode="auto">
              <a:xfrm>
                <a:off x="8080375" y="2627313"/>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2700"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300FC"/>
                  </a:solidFill>
                  <a:effectLst/>
                  <a:uLnTx/>
                  <a:uFillTx/>
                  <a:latin typeface="Arial"/>
                  <a:ea typeface="+mn-ea"/>
                  <a:cs typeface="+mn-cs"/>
                </a:endParaRPr>
              </a:p>
            </p:txBody>
          </p:sp>
        </p:grpSp>
        <p:sp>
          <p:nvSpPr>
            <p:cNvPr id="74" name="Rectangle 73">
              <a:extLst>
                <a:ext uri="{FF2B5EF4-FFF2-40B4-BE49-F238E27FC236}">
                  <a16:creationId xmlns:a16="http://schemas.microsoft.com/office/drawing/2014/main" id="{CE44CEF8-2A4A-E54F-9FE8-75DD850063A3}"/>
                </a:ext>
              </a:extLst>
            </p:cNvPr>
            <p:cNvSpPr/>
            <p:nvPr/>
          </p:nvSpPr>
          <p:spPr>
            <a:xfrm>
              <a:off x="2040072" y="3390303"/>
              <a:ext cx="1280115" cy="483017"/>
            </a:xfrm>
            <a:prstGeom prst="rect">
              <a:avLst/>
            </a:prstGeom>
            <a:ln>
              <a:noFill/>
            </a:ln>
          </p:spPr>
          <p:txBody>
            <a:bodyPr wrap="square" lIns="91440" tIns="45720" rIns="91440" bIns="45720" anchor="t">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rPr>
                <a:t>Financial Assessment</a:t>
              </a:r>
            </a:p>
          </p:txBody>
        </p:sp>
      </p:grpSp>
      <p:grpSp>
        <p:nvGrpSpPr>
          <p:cNvPr id="86" name="Group 85">
            <a:extLst>
              <a:ext uri="{FF2B5EF4-FFF2-40B4-BE49-F238E27FC236}">
                <a16:creationId xmlns:a16="http://schemas.microsoft.com/office/drawing/2014/main" id="{8D8CA1D1-99AD-4748-B744-8F3976BC5BC4}"/>
              </a:ext>
            </a:extLst>
          </p:cNvPr>
          <p:cNvGrpSpPr/>
          <p:nvPr/>
        </p:nvGrpSpPr>
        <p:grpSpPr>
          <a:xfrm>
            <a:off x="509681" y="4423550"/>
            <a:ext cx="876087" cy="786194"/>
            <a:chOff x="545949" y="2862308"/>
            <a:chExt cx="1145760" cy="1028194"/>
          </a:xfrm>
        </p:grpSpPr>
        <p:grpSp>
          <p:nvGrpSpPr>
            <p:cNvPr id="89" name="Group 88">
              <a:extLst>
                <a:ext uri="{FF2B5EF4-FFF2-40B4-BE49-F238E27FC236}">
                  <a16:creationId xmlns:a16="http://schemas.microsoft.com/office/drawing/2014/main" id="{7C89D14D-443D-B64D-AF5A-1B23293F9DDD}"/>
                </a:ext>
              </a:extLst>
            </p:cNvPr>
            <p:cNvGrpSpPr/>
            <p:nvPr/>
          </p:nvGrpSpPr>
          <p:grpSpPr>
            <a:xfrm flipH="1">
              <a:off x="706061" y="2862308"/>
              <a:ext cx="607967" cy="607967"/>
              <a:chOff x="3037681" y="2362201"/>
              <a:chExt cx="468312" cy="468312"/>
            </a:xfrm>
          </p:grpSpPr>
          <p:sp>
            <p:nvSpPr>
              <p:cNvPr id="91" name="Freeform 240">
                <a:extLst>
                  <a:ext uri="{FF2B5EF4-FFF2-40B4-BE49-F238E27FC236}">
                    <a16:creationId xmlns:a16="http://schemas.microsoft.com/office/drawing/2014/main" id="{F741C4A7-AE4A-C940-8730-D6F0E92D3D5F}"/>
                  </a:ext>
                </a:extLst>
              </p:cNvPr>
              <p:cNvSpPr>
                <a:spLocks noChangeArrowheads="1"/>
              </p:cNvSpPr>
              <p:nvPr/>
            </p:nvSpPr>
            <p:spPr bwMode="auto">
              <a:xfrm>
                <a:off x="3086893" y="2411413"/>
                <a:ext cx="241300" cy="241300"/>
              </a:xfrm>
              <a:custGeom>
                <a:avLst/>
                <a:gdLst>
                  <a:gd name="T0" fmla="*/ 671 w 672"/>
                  <a:gd name="T1" fmla="*/ 336 h 672"/>
                  <a:gd name="T2" fmla="*/ 626 w 672"/>
                  <a:gd name="T3" fmla="*/ 503 h 672"/>
                  <a:gd name="T4" fmla="*/ 503 w 672"/>
                  <a:gd name="T5" fmla="*/ 626 h 672"/>
                  <a:gd name="T6" fmla="*/ 335 w 672"/>
                  <a:gd name="T7" fmla="*/ 671 h 672"/>
                  <a:gd name="T8" fmla="*/ 168 w 672"/>
                  <a:gd name="T9" fmla="*/ 626 h 672"/>
                  <a:gd name="T10" fmla="*/ 45 w 672"/>
                  <a:gd name="T11" fmla="*/ 503 h 672"/>
                  <a:gd name="T12" fmla="*/ 0 w 672"/>
                  <a:gd name="T13" fmla="*/ 336 h 672"/>
                  <a:gd name="T14" fmla="*/ 45 w 672"/>
                  <a:gd name="T15" fmla="*/ 168 h 672"/>
                  <a:gd name="T16" fmla="*/ 168 w 672"/>
                  <a:gd name="T17" fmla="*/ 45 h 672"/>
                  <a:gd name="T18" fmla="*/ 335 w 672"/>
                  <a:gd name="T19" fmla="*/ 0 h 672"/>
                  <a:gd name="T20" fmla="*/ 503 w 672"/>
                  <a:gd name="T21" fmla="*/ 45 h 672"/>
                  <a:gd name="T22" fmla="*/ 626 w 672"/>
                  <a:gd name="T23" fmla="*/ 168 h 672"/>
                  <a:gd name="T24" fmla="*/ 671 w 672"/>
                  <a:gd name="T25" fmla="*/ 336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2" h="672">
                    <a:moveTo>
                      <a:pt x="671" y="336"/>
                    </a:moveTo>
                    <a:cubicBezTo>
                      <a:pt x="671" y="397"/>
                      <a:pt x="656" y="449"/>
                      <a:pt x="626" y="503"/>
                    </a:cubicBezTo>
                    <a:cubicBezTo>
                      <a:pt x="595" y="556"/>
                      <a:pt x="556" y="595"/>
                      <a:pt x="503" y="626"/>
                    </a:cubicBezTo>
                    <a:cubicBezTo>
                      <a:pt x="449" y="657"/>
                      <a:pt x="396" y="671"/>
                      <a:pt x="335" y="671"/>
                    </a:cubicBezTo>
                    <a:cubicBezTo>
                      <a:pt x="273" y="671"/>
                      <a:pt x="221" y="657"/>
                      <a:pt x="168" y="626"/>
                    </a:cubicBezTo>
                    <a:cubicBezTo>
                      <a:pt x="114" y="595"/>
                      <a:pt x="76" y="556"/>
                      <a:pt x="45" y="503"/>
                    </a:cubicBezTo>
                    <a:cubicBezTo>
                      <a:pt x="14" y="449"/>
                      <a:pt x="0" y="397"/>
                      <a:pt x="0" y="336"/>
                    </a:cubicBezTo>
                    <a:cubicBezTo>
                      <a:pt x="0" y="274"/>
                      <a:pt x="14" y="221"/>
                      <a:pt x="45" y="168"/>
                    </a:cubicBezTo>
                    <a:cubicBezTo>
                      <a:pt x="76" y="114"/>
                      <a:pt x="114" y="76"/>
                      <a:pt x="168" y="45"/>
                    </a:cubicBezTo>
                    <a:cubicBezTo>
                      <a:pt x="221" y="14"/>
                      <a:pt x="274" y="0"/>
                      <a:pt x="335" y="0"/>
                    </a:cubicBezTo>
                    <a:cubicBezTo>
                      <a:pt x="397" y="0"/>
                      <a:pt x="449" y="14"/>
                      <a:pt x="503" y="45"/>
                    </a:cubicBezTo>
                    <a:cubicBezTo>
                      <a:pt x="556" y="76"/>
                      <a:pt x="595" y="114"/>
                      <a:pt x="626" y="168"/>
                    </a:cubicBezTo>
                    <a:cubicBezTo>
                      <a:pt x="656" y="221"/>
                      <a:pt x="671" y="274"/>
                      <a:pt x="671" y="336"/>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Arial"/>
                  <a:ea typeface="+mn-ea"/>
                  <a:cs typeface="+mn-cs"/>
                </a:endParaRPr>
              </a:p>
            </p:txBody>
          </p:sp>
          <p:sp>
            <p:nvSpPr>
              <p:cNvPr id="92" name="Freeform 241">
                <a:extLst>
                  <a:ext uri="{FF2B5EF4-FFF2-40B4-BE49-F238E27FC236}">
                    <a16:creationId xmlns:a16="http://schemas.microsoft.com/office/drawing/2014/main" id="{7A8E8C7F-F6FD-F746-9B25-07CFB3408ACC}"/>
                  </a:ext>
                </a:extLst>
              </p:cNvPr>
              <p:cNvSpPr>
                <a:spLocks noChangeArrowheads="1"/>
              </p:cNvSpPr>
              <p:nvPr/>
            </p:nvSpPr>
            <p:spPr bwMode="auto">
              <a:xfrm>
                <a:off x="3037681" y="2362201"/>
                <a:ext cx="468312" cy="468312"/>
              </a:xfrm>
              <a:custGeom>
                <a:avLst/>
                <a:gdLst>
                  <a:gd name="T0" fmla="*/ 1275 w 1302"/>
                  <a:gd name="T1" fmla="*/ 1276 h 1303"/>
                  <a:gd name="T2" fmla="*/ 1275 w 1302"/>
                  <a:gd name="T3" fmla="*/ 1181 h 1303"/>
                  <a:gd name="T4" fmla="*/ 865 w 1302"/>
                  <a:gd name="T5" fmla="*/ 771 h 1303"/>
                  <a:gd name="T6" fmla="*/ 861 w 1302"/>
                  <a:gd name="T7" fmla="*/ 728 h 1303"/>
                  <a:gd name="T8" fmla="*/ 939 w 1302"/>
                  <a:gd name="T9" fmla="*/ 470 h 1303"/>
                  <a:gd name="T10" fmla="*/ 469 w 1302"/>
                  <a:gd name="T11" fmla="*/ 0 h 1303"/>
                  <a:gd name="T12" fmla="*/ 0 w 1302"/>
                  <a:gd name="T13" fmla="*/ 470 h 1303"/>
                  <a:gd name="T14" fmla="*/ 469 w 1302"/>
                  <a:gd name="T15" fmla="*/ 939 h 1303"/>
                  <a:gd name="T16" fmla="*/ 728 w 1302"/>
                  <a:gd name="T17" fmla="*/ 861 h 1303"/>
                  <a:gd name="T18" fmla="*/ 770 w 1302"/>
                  <a:gd name="T19" fmla="*/ 865 h 1303"/>
                  <a:gd name="T20" fmla="*/ 1180 w 1302"/>
                  <a:gd name="T21" fmla="*/ 1276 h 1303"/>
                  <a:gd name="T22" fmla="*/ 1275 w 1302"/>
                  <a:gd name="T23" fmla="*/ 1276 h 1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02" h="1303">
                    <a:moveTo>
                      <a:pt x="1275" y="1276"/>
                    </a:moveTo>
                    <a:cubicBezTo>
                      <a:pt x="1301" y="1249"/>
                      <a:pt x="1301" y="1207"/>
                      <a:pt x="1275" y="1181"/>
                    </a:cubicBezTo>
                    <a:cubicBezTo>
                      <a:pt x="1138" y="1044"/>
                      <a:pt x="1001" y="907"/>
                      <a:pt x="865" y="771"/>
                    </a:cubicBezTo>
                    <a:cubicBezTo>
                      <a:pt x="854" y="759"/>
                      <a:pt x="852" y="742"/>
                      <a:pt x="861" y="728"/>
                    </a:cubicBezTo>
                    <a:cubicBezTo>
                      <a:pt x="910" y="654"/>
                      <a:pt x="939" y="565"/>
                      <a:pt x="939" y="470"/>
                    </a:cubicBezTo>
                    <a:cubicBezTo>
                      <a:pt x="939" y="211"/>
                      <a:pt x="728" y="0"/>
                      <a:pt x="469" y="0"/>
                    </a:cubicBezTo>
                    <a:cubicBezTo>
                      <a:pt x="210" y="0"/>
                      <a:pt x="0" y="211"/>
                      <a:pt x="0" y="470"/>
                    </a:cubicBezTo>
                    <a:cubicBezTo>
                      <a:pt x="0" y="728"/>
                      <a:pt x="210" y="939"/>
                      <a:pt x="469" y="939"/>
                    </a:cubicBezTo>
                    <a:cubicBezTo>
                      <a:pt x="565" y="939"/>
                      <a:pt x="654" y="910"/>
                      <a:pt x="728" y="861"/>
                    </a:cubicBezTo>
                    <a:cubicBezTo>
                      <a:pt x="741" y="852"/>
                      <a:pt x="759" y="854"/>
                      <a:pt x="770" y="865"/>
                    </a:cubicBezTo>
                    <a:cubicBezTo>
                      <a:pt x="906" y="1002"/>
                      <a:pt x="1043" y="1139"/>
                      <a:pt x="1180" y="1276"/>
                    </a:cubicBezTo>
                    <a:cubicBezTo>
                      <a:pt x="1206" y="1302"/>
                      <a:pt x="1249" y="1302"/>
                      <a:pt x="1275" y="1276"/>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Arial"/>
                  <a:ea typeface="+mn-ea"/>
                  <a:cs typeface="+mn-cs"/>
                </a:endParaRPr>
              </a:p>
            </p:txBody>
          </p:sp>
        </p:grpSp>
        <p:sp>
          <p:nvSpPr>
            <p:cNvPr id="88" name="Rectangle 87">
              <a:extLst>
                <a:ext uri="{FF2B5EF4-FFF2-40B4-BE49-F238E27FC236}">
                  <a16:creationId xmlns:a16="http://schemas.microsoft.com/office/drawing/2014/main" id="{7FF29044-0825-B54D-B7E9-AFA213A4DADE}"/>
                </a:ext>
              </a:extLst>
            </p:cNvPr>
            <p:cNvSpPr/>
            <p:nvPr/>
          </p:nvSpPr>
          <p:spPr>
            <a:xfrm>
              <a:off x="545949" y="3407485"/>
              <a:ext cx="1145760" cy="483017"/>
            </a:xfrm>
            <a:prstGeom prst="rect">
              <a:avLst/>
            </a:prstGeom>
            <a:ln>
              <a:noFill/>
            </a:ln>
          </p:spPr>
          <p:txBody>
            <a:bodyPr wrap="square">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rPr>
                <a:t>Portfolio Assessment</a:t>
              </a:r>
            </a:p>
          </p:txBody>
        </p:sp>
      </p:grpSp>
      <p:sp>
        <p:nvSpPr>
          <p:cNvPr id="2" name="TextBox 1">
            <a:extLst>
              <a:ext uri="{FF2B5EF4-FFF2-40B4-BE49-F238E27FC236}">
                <a16:creationId xmlns:a16="http://schemas.microsoft.com/office/drawing/2014/main" id="{9DDD7651-B9D2-45B6-A3F2-AB4FBC05AEBA}"/>
              </a:ext>
            </a:extLst>
          </p:cNvPr>
          <p:cNvSpPr txBox="1"/>
          <p:nvPr/>
        </p:nvSpPr>
        <p:spPr>
          <a:xfrm>
            <a:off x="4811932" y="2688459"/>
            <a:ext cx="132767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rPr>
              <a:t>Migration readiness</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rPr>
              <a:t> observations</a:t>
            </a:r>
          </a:p>
        </p:txBody>
      </p:sp>
      <p:sp>
        <p:nvSpPr>
          <p:cNvPr id="5" name="TextBox 4">
            <a:extLst>
              <a:ext uri="{FF2B5EF4-FFF2-40B4-BE49-F238E27FC236}">
                <a16:creationId xmlns:a16="http://schemas.microsoft.com/office/drawing/2014/main" id="{9BBEA0F0-225D-4521-A0A7-06DD21D7D896}"/>
              </a:ext>
            </a:extLst>
          </p:cNvPr>
          <p:cNvSpPr txBox="1"/>
          <p:nvPr/>
        </p:nvSpPr>
        <p:spPr>
          <a:xfrm>
            <a:off x="5669288" y="2685671"/>
            <a:ext cx="220528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rPr>
              <a:t>Application scoping</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rPr>
              <a:t> &amp; profiling summary*</a:t>
            </a:r>
          </a:p>
        </p:txBody>
      </p:sp>
      <p:sp>
        <p:nvSpPr>
          <p:cNvPr id="6" name="TextBox 5">
            <a:extLst>
              <a:ext uri="{FF2B5EF4-FFF2-40B4-BE49-F238E27FC236}">
                <a16:creationId xmlns:a16="http://schemas.microsoft.com/office/drawing/2014/main" id="{274A3F43-EA6C-419C-BE8C-8C840BD07AB1}"/>
              </a:ext>
            </a:extLst>
          </p:cNvPr>
          <p:cNvSpPr txBox="1"/>
          <p:nvPr/>
        </p:nvSpPr>
        <p:spPr>
          <a:xfrm>
            <a:off x="7092130" y="2703953"/>
            <a:ext cx="176048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rPr>
              <a:t>Complexity</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rPr>
              <a:t> classification</a:t>
            </a:r>
          </a:p>
        </p:txBody>
      </p:sp>
      <p:sp>
        <p:nvSpPr>
          <p:cNvPr id="7" name="TextBox 6">
            <a:extLst>
              <a:ext uri="{FF2B5EF4-FFF2-40B4-BE49-F238E27FC236}">
                <a16:creationId xmlns:a16="http://schemas.microsoft.com/office/drawing/2014/main" id="{20D57587-DA88-4AC5-9637-2008FDC92ABF}"/>
              </a:ext>
            </a:extLst>
          </p:cNvPr>
          <p:cNvSpPr txBox="1"/>
          <p:nvPr/>
        </p:nvSpPr>
        <p:spPr>
          <a:xfrm>
            <a:off x="7182788" y="3801368"/>
            <a:ext cx="1606199"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rPr>
              <a:t>Preliminary </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rPr>
              <a:t>release plan*</a:t>
            </a:r>
          </a:p>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endParaRPr>
          </a:p>
        </p:txBody>
      </p:sp>
      <p:sp>
        <p:nvSpPr>
          <p:cNvPr id="8" name="TextBox 7">
            <a:extLst>
              <a:ext uri="{FF2B5EF4-FFF2-40B4-BE49-F238E27FC236}">
                <a16:creationId xmlns:a16="http://schemas.microsoft.com/office/drawing/2014/main" id="{1E8E19A6-1163-438C-8322-97F7A80FA23A}"/>
              </a:ext>
            </a:extLst>
          </p:cNvPr>
          <p:cNvSpPr txBox="1"/>
          <p:nvPr/>
        </p:nvSpPr>
        <p:spPr>
          <a:xfrm>
            <a:off x="4601545" y="3785442"/>
            <a:ext cx="1743032"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rPr>
              <a:t>Indicative migration strategy*</a:t>
            </a:r>
          </a:p>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endParaRPr>
          </a:p>
        </p:txBody>
      </p:sp>
      <p:sp>
        <p:nvSpPr>
          <p:cNvPr id="9" name="TextBox 8">
            <a:extLst>
              <a:ext uri="{FF2B5EF4-FFF2-40B4-BE49-F238E27FC236}">
                <a16:creationId xmlns:a16="http://schemas.microsoft.com/office/drawing/2014/main" id="{9C574C25-44C5-4390-8DF6-B6DA9A7F786A}"/>
              </a:ext>
            </a:extLst>
          </p:cNvPr>
          <p:cNvSpPr txBox="1"/>
          <p:nvPr/>
        </p:nvSpPr>
        <p:spPr>
          <a:xfrm>
            <a:off x="6077247" y="4826310"/>
            <a:ext cx="148721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rPr>
              <a:t>First mover</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rPr>
              <a:t> apps identified</a:t>
            </a:r>
          </a:p>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endParaRPr>
          </a:p>
        </p:txBody>
      </p:sp>
      <p:sp>
        <p:nvSpPr>
          <p:cNvPr id="10" name="TextBox 9">
            <a:extLst>
              <a:ext uri="{FF2B5EF4-FFF2-40B4-BE49-F238E27FC236}">
                <a16:creationId xmlns:a16="http://schemas.microsoft.com/office/drawing/2014/main" id="{7CF25C5B-255B-403F-81A1-77AD968178A9}"/>
              </a:ext>
            </a:extLst>
          </p:cNvPr>
          <p:cNvSpPr txBox="1"/>
          <p:nvPr/>
        </p:nvSpPr>
        <p:spPr>
          <a:xfrm>
            <a:off x="5948665" y="3804290"/>
            <a:ext cx="162967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rPr>
              <a:t>Target landing zone design</a:t>
            </a:r>
          </a:p>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endParaRPr>
          </a:p>
        </p:txBody>
      </p:sp>
      <p:sp>
        <p:nvSpPr>
          <p:cNvPr id="12" name="TextBox 11">
            <a:extLst>
              <a:ext uri="{FF2B5EF4-FFF2-40B4-BE49-F238E27FC236}">
                <a16:creationId xmlns:a16="http://schemas.microsoft.com/office/drawing/2014/main" id="{C8A98FFC-AA43-4825-B7F6-74EE3B0B6EAB}"/>
              </a:ext>
            </a:extLst>
          </p:cNvPr>
          <p:cNvSpPr txBox="1"/>
          <p:nvPr/>
        </p:nvSpPr>
        <p:spPr>
          <a:xfrm>
            <a:off x="4486931" y="4861397"/>
            <a:ext cx="2248226"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59C8">
                    <a:lumMod val="60000"/>
                    <a:lumOff val="40000"/>
                  </a:srgbClr>
                </a:solidFill>
                <a:effectLst/>
                <a:uLnTx/>
                <a:uFillTx/>
                <a:latin typeface="Arial"/>
                <a:ea typeface="+mn-ea"/>
                <a:cs typeface="+mn-cs"/>
              </a:rPr>
              <a:t>Estimated cost of </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59C8">
                    <a:lumMod val="60000"/>
                    <a:lumOff val="40000"/>
                  </a:srgbClr>
                </a:solidFill>
                <a:effectLst/>
                <a:uLnTx/>
                <a:uFillTx/>
                <a:latin typeface="Arial"/>
                <a:ea typeface="+mn-ea"/>
                <a:cs typeface="+mn-cs"/>
              </a:rPr>
              <a:t>migration &amp; operation</a:t>
            </a:r>
          </a:p>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59C8">
                  <a:lumMod val="60000"/>
                  <a:lumOff val="40000"/>
                </a:srgbClr>
              </a:solidFill>
              <a:effectLst/>
              <a:uLnTx/>
              <a:uFillTx/>
              <a:latin typeface="Arial"/>
              <a:ea typeface="+mn-ea"/>
              <a:cs typeface="+mn-cs"/>
            </a:endParaRPr>
          </a:p>
        </p:txBody>
      </p:sp>
      <p:grpSp>
        <p:nvGrpSpPr>
          <p:cNvPr id="105" name="Group 104">
            <a:extLst>
              <a:ext uri="{FF2B5EF4-FFF2-40B4-BE49-F238E27FC236}">
                <a16:creationId xmlns:a16="http://schemas.microsoft.com/office/drawing/2014/main" id="{76D0C57F-C438-A84B-A8F1-3D849F0203ED}"/>
              </a:ext>
            </a:extLst>
          </p:cNvPr>
          <p:cNvGrpSpPr/>
          <p:nvPr/>
        </p:nvGrpSpPr>
        <p:grpSpPr>
          <a:xfrm>
            <a:off x="5233363" y="2318634"/>
            <a:ext cx="480841" cy="289209"/>
            <a:chOff x="9382125" y="3295650"/>
            <a:chExt cx="485775" cy="285750"/>
          </a:xfrm>
        </p:grpSpPr>
        <p:sp>
          <p:nvSpPr>
            <p:cNvPr id="106" name="Freeform 152">
              <a:extLst>
                <a:ext uri="{FF2B5EF4-FFF2-40B4-BE49-F238E27FC236}">
                  <a16:creationId xmlns:a16="http://schemas.microsoft.com/office/drawing/2014/main" id="{8C6A817B-74D6-244E-8BFB-B8C1F251D588}"/>
                </a:ext>
              </a:extLst>
            </p:cNvPr>
            <p:cNvSpPr>
              <a:spLocks noChangeArrowheads="1"/>
            </p:cNvSpPr>
            <p:nvPr/>
          </p:nvSpPr>
          <p:spPr bwMode="auto">
            <a:xfrm>
              <a:off x="9721850" y="3297238"/>
              <a:ext cx="7938" cy="1587"/>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07" name="Freeform 153">
              <a:extLst>
                <a:ext uri="{FF2B5EF4-FFF2-40B4-BE49-F238E27FC236}">
                  <a16:creationId xmlns:a16="http://schemas.microsoft.com/office/drawing/2014/main" id="{93083F5E-BBA7-1546-8DA7-63F99DED32E9}"/>
                </a:ext>
              </a:extLst>
            </p:cNvPr>
            <p:cNvSpPr>
              <a:spLocks noChangeArrowheads="1"/>
            </p:cNvSpPr>
            <p:nvPr/>
          </p:nvSpPr>
          <p:spPr bwMode="auto">
            <a:xfrm>
              <a:off x="9721850" y="3579813"/>
              <a:ext cx="7938" cy="1587"/>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08" name="Freeform 154">
              <a:extLst>
                <a:ext uri="{FF2B5EF4-FFF2-40B4-BE49-F238E27FC236}">
                  <a16:creationId xmlns:a16="http://schemas.microsoft.com/office/drawing/2014/main" id="{E986D9FB-7DAB-114E-9494-4C0B393A7207}"/>
                </a:ext>
              </a:extLst>
            </p:cNvPr>
            <p:cNvSpPr>
              <a:spLocks noChangeArrowheads="1"/>
            </p:cNvSpPr>
            <p:nvPr/>
          </p:nvSpPr>
          <p:spPr bwMode="auto">
            <a:xfrm>
              <a:off x="9866313" y="3435350"/>
              <a:ext cx="1587" cy="7938"/>
            </a:xfrm>
            <a:custGeom>
              <a:avLst/>
              <a:gdLst>
                <a:gd name="T0" fmla="*/ 0 w 1"/>
                <a:gd name="T1" fmla="*/ 21 h 22"/>
                <a:gd name="T2" fmla="*/ 0 w 1"/>
                <a:gd name="T3" fmla="*/ 0 h 22"/>
              </a:gdLst>
              <a:ahLst/>
              <a:cxnLst>
                <a:cxn ang="0">
                  <a:pos x="T0" y="T1"/>
                </a:cxn>
                <a:cxn ang="0">
                  <a:pos x="T2" y="T3"/>
                </a:cxn>
              </a:cxnLst>
              <a:rect l="0" t="0" r="r" b="b"/>
              <a:pathLst>
                <a:path w="1" h="22">
                  <a:moveTo>
                    <a:pt x="0" y="21"/>
                  </a:moveTo>
                  <a:cubicBezTo>
                    <a:pt x="0" y="14"/>
                    <a:pt x="0" y="7"/>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09" name="Freeform 155">
              <a:extLst>
                <a:ext uri="{FF2B5EF4-FFF2-40B4-BE49-F238E27FC236}">
                  <a16:creationId xmlns:a16="http://schemas.microsoft.com/office/drawing/2014/main" id="{8332FA09-4E86-D842-B133-7742033414AF}"/>
                </a:ext>
              </a:extLst>
            </p:cNvPr>
            <p:cNvSpPr>
              <a:spLocks noChangeArrowheads="1"/>
            </p:cNvSpPr>
            <p:nvPr/>
          </p:nvSpPr>
          <p:spPr bwMode="auto">
            <a:xfrm>
              <a:off x="9685338" y="3300413"/>
              <a:ext cx="7937" cy="3175"/>
            </a:xfrm>
            <a:custGeom>
              <a:avLst/>
              <a:gdLst>
                <a:gd name="T0" fmla="*/ 21 w 22"/>
                <a:gd name="T1" fmla="*/ 0 h 7"/>
                <a:gd name="T2" fmla="*/ 0 w 22"/>
                <a:gd name="T3" fmla="*/ 6 h 7"/>
              </a:gdLst>
              <a:ahLst/>
              <a:cxnLst>
                <a:cxn ang="0">
                  <a:pos x="T0" y="T1"/>
                </a:cxn>
                <a:cxn ang="0">
                  <a:pos x="T2" y="T3"/>
                </a:cxn>
              </a:cxnLst>
              <a:rect l="0" t="0" r="r" b="b"/>
              <a:pathLst>
                <a:path w="22" h="7">
                  <a:moveTo>
                    <a:pt x="21" y="0"/>
                  </a:moveTo>
                  <a:cubicBezTo>
                    <a:pt x="14" y="2"/>
                    <a:pt x="7" y="4"/>
                    <a:pt x="0" y="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10" name="Freeform 156">
              <a:extLst>
                <a:ext uri="{FF2B5EF4-FFF2-40B4-BE49-F238E27FC236}">
                  <a16:creationId xmlns:a16="http://schemas.microsoft.com/office/drawing/2014/main" id="{7BE77FD6-67ED-C24A-9F64-4B1C47DCBD80}"/>
                </a:ext>
              </a:extLst>
            </p:cNvPr>
            <p:cNvSpPr>
              <a:spLocks noChangeArrowheads="1"/>
            </p:cNvSpPr>
            <p:nvPr/>
          </p:nvSpPr>
          <p:spPr bwMode="auto">
            <a:xfrm>
              <a:off x="9758363" y="3573463"/>
              <a:ext cx="7937" cy="1587"/>
            </a:xfrm>
            <a:custGeom>
              <a:avLst/>
              <a:gdLst>
                <a:gd name="T0" fmla="*/ 20 w 21"/>
                <a:gd name="T1" fmla="*/ 0 h 6"/>
                <a:gd name="T2" fmla="*/ 0 w 21"/>
                <a:gd name="T3" fmla="*/ 5 h 6"/>
              </a:gdLst>
              <a:ahLst/>
              <a:cxnLst>
                <a:cxn ang="0">
                  <a:pos x="T0" y="T1"/>
                </a:cxn>
                <a:cxn ang="0">
                  <a:pos x="T2" y="T3"/>
                </a:cxn>
              </a:cxnLst>
              <a:rect l="0" t="0" r="r" b="b"/>
              <a:pathLst>
                <a:path w="21" h="6">
                  <a:moveTo>
                    <a:pt x="20" y="0"/>
                  </a:moveTo>
                  <a:cubicBezTo>
                    <a:pt x="13" y="2"/>
                    <a:pt x="7" y="4"/>
                    <a:pt x="0" y="5"/>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11" name="Freeform 157">
              <a:extLst>
                <a:ext uri="{FF2B5EF4-FFF2-40B4-BE49-F238E27FC236}">
                  <a16:creationId xmlns:a16="http://schemas.microsoft.com/office/drawing/2014/main" id="{38E4B63C-B35A-6C4C-A23D-C1B98F441014}"/>
                </a:ext>
              </a:extLst>
            </p:cNvPr>
            <p:cNvSpPr>
              <a:spLocks noChangeArrowheads="1"/>
            </p:cNvSpPr>
            <p:nvPr/>
          </p:nvSpPr>
          <p:spPr bwMode="auto">
            <a:xfrm>
              <a:off x="9861550" y="3398838"/>
              <a:ext cx="3175" cy="7937"/>
            </a:xfrm>
            <a:custGeom>
              <a:avLst/>
              <a:gdLst>
                <a:gd name="T0" fmla="*/ 6 w 7"/>
                <a:gd name="T1" fmla="*/ 20 h 21"/>
                <a:gd name="T2" fmla="*/ 0 w 7"/>
                <a:gd name="T3" fmla="*/ 0 h 21"/>
              </a:gdLst>
              <a:ahLst/>
              <a:cxnLst>
                <a:cxn ang="0">
                  <a:pos x="T0" y="T1"/>
                </a:cxn>
                <a:cxn ang="0">
                  <a:pos x="T2" y="T3"/>
                </a:cxn>
              </a:cxnLst>
              <a:rect l="0" t="0" r="r" b="b"/>
              <a:pathLst>
                <a:path w="7" h="21">
                  <a:moveTo>
                    <a:pt x="6" y="20"/>
                  </a:moveTo>
                  <a:cubicBezTo>
                    <a:pt x="4" y="13"/>
                    <a:pt x="2" y="6"/>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12" name="Freeform 158">
              <a:extLst>
                <a:ext uri="{FF2B5EF4-FFF2-40B4-BE49-F238E27FC236}">
                  <a16:creationId xmlns:a16="http://schemas.microsoft.com/office/drawing/2014/main" id="{F138371F-8969-DA42-AC31-D6F5BD5FE4EF}"/>
                </a:ext>
              </a:extLst>
            </p:cNvPr>
            <p:cNvSpPr>
              <a:spLocks noChangeArrowheads="1"/>
            </p:cNvSpPr>
            <p:nvPr/>
          </p:nvSpPr>
          <p:spPr bwMode="auto">
            <a:xfrm>
              <a:off x="9588500" y="3470275"/>
              <a:ext cx="1588" cy="7938"/>
            </a:xfrm>
            <a:custGeom>
              <a:avLst/>
              <a:gdLst>
                <a:gd name="T0" fmla="*/ 5 w 6"/>
                <a:gd name="T1" fmla="*/ 21 h 22"/>
                <a:gd name="T2" fmla="*/ 0 w 6"/>
                <a:gd name="T3" fmla="*/ 0 h 22"/>
              </a:gdLst>
              <a:ahLst/>
              <a:cxnLst>
                <a:cxn ang="0">
                  <a:pos x="T0" y="T1"/>
                </a:cxn>
                <a:cxn ang="0">
                  <a:pos x="T2" y="T3"/>
                </a:cxn>
              </a:cxnLst>
              <a:rect l="0" t="0" r="r" b="b"/>
              <a:pathLst>
                <a:path w="6" h="22">
                  <a:moveTo>
                    <a:pt x="5" y="21"/>
                  </a:moveTo>
                  <a:cubicBezTo>
                    <a:pt x="3" y="14"/>
                    <a:pt x="2" y="7"/>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13" name="Freeform 159">
              <a:extLst>
                <a:ext uri="{FF2B5EF4-FFF2-40B4-BE49-F238E27FC236}">
                  <a16:creationId xmlns:a16="http://schemas.microsoft.com/office/drawing/2014/main" id="{B5D012C3-798E-1748-B90C-C9B3E1DF2952}"/>
                </a:ext>
              </a:extLst>
            </p:cNvPr>
            <p:cNvSpPr>
              <a:spLocks noChangeArrowheads="1"/>
            </p:cNvSpPr>
            <p:nvPr/>
          </p:nvSpPr>
          <p:spPr bwMode="auto">
            <a:xfrm>
              <a:off x="9652000" y="3314700"/>
              <a:ext cx="6350" cy="4763"/>
            </a:xfrm>
            <a:custGeom>
              <a:avLst/>
              <a:gdLst>
                <a:gd name="T0" fmla="*/ 18 w 19"/>
                <a:gd name="T1" fmla="*/ 0 h 12"/>
                <a:gd name="T2" fmla="*/ 0 w 19"/>
                <a:gd name="T3" fmla="*/ 11 h 12"/>
              </a:gdLst>
              <a:ahLst/>
              <a:cxnLst>
                <a:cxn ang="0">
                  <a:pos x="T0" y="T1"/>
                </a:cxn>
                <a:cxn ang="0">
                  <a:pos x="T2" y="T3"/>
                </a:cxn>
              </a:cxnLst>
              <a:rect l="0" t="0" r="r" b="b"/>
              <a:pathLst>
                <a:path w="19" h="12">
                  <a:moveTo>
                    <a:pt x="18" y="0"/>
                  </a:moveTo>
                  <a:cubicBezTo>
                    <a:pt x="12" y="3"/>
                    <a:pt x="6" y="7"/>
                    <a:pt x="0" y="1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14" name="Freeform 160">
              <a:extLst>
                <a:ext uri="{FF2B5EF4-FFF2-40B4-BE49-F238E27FC236}">
                  <a16:creationId xmlns:a16="http://schemas.microsoft.com/office/drawing/2014/main" id="{4803652C-8326-034F-AEFB-ECBA73BEE174}"/>
                </a:ext>
              </a:extLst>
            </p:cNvPr>
            <p:cNvSpPr>
              <a:spLocks noChangeArrowheads="1"/>
            </p:cNvSpPr>
            <p:nvPr/>
          </p:nvSpPr>
          <p:spPr bwMode="auto">
            <a:xfrm>
              <a:off x="9793288" y="3557588"/>
              <a:ext cx="6350" cy="4762"/>
            </a:xfrm>
            <a:custGeom>
              <a:avLst/>
              <a:gdLst>
                <a:gd name="T0" fmla="*/ 18 w 19"/>
                <a:gd name="T1" fmla="*/ 0 h 12"/>
                <a:gd name="T2" fmla="*/ 0 w 19"/>
                <a:gd name="T3" fmla="*/ 11 h 12"/>
              </a:gdLst>
              <a:ahLst/>
              <a:cxnLst>
                <a:cxn ang="0">
                  <a:pos x="T0" y="T1"/>
                </a:cxn>
                <a:cxn ang="0">
                  <a:pos x="T2" y="T3"/>
                </a:cxn>
              </a:cxnLst>
              <a:rect l="0" t="0" r="r" b="b"/>
              <a:pathLst>
                <a:path w="19" h="12">
                  <a:moveTo>
                    <a:pt x="18" y="0"/>
                  </a:moveTo>
                  <a:cubicBezTo>
                    <a:pt x="12" y="4"/>
                    <a:pt x="6" y="8"/>
                    <a:pt x="0" y="1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15" name="Freeform 161">
              <a:extLst>
                <a:ext uri="{FF2B5EF4-FFF2-40B4-BE49-F238E27FC236}">
                  <a16:creationId xmlns:a16="http://schemas.microsoft.com/office/drawing/2014/main" id="{DD82DABD-2760-534C-8E33-42096663EC1C}"/>
                </a:ext>
              </a:extLst>
            </p:cNvPr>
            <p:cNvSpPr>
              <a:spLocks noChangeArrowheads="1"/>
            </p:cNvSpPr>
            <p:nvPr/>
          </p:nvSpPr>
          <p:spPr bwMode="auto">
            <a:xfrm>
              <a:off x="9845675" y="3363913"/>
              <a:ext cx="3175" cy="7937"/>
            </a:xfrm>
            <a:custGeom>
              <a:avLst/>
              <a:gdLst>
                <a:gd name="T0" fmla="*/ 10 w 11"/>
                <a:gd name="T1" fmla="*/ 19 h 20"/>
                <a:gd name="T2" fmla="*/ 0 w 11"/>
                <a:gd name="T3" fmla="*/ 0 h 20"/>
              </a:gdLst>
              <a:ahLst/>
              <a:cxnLst>
                <a:cxn ang="0">
                  <a:pos x="T0" y="T1"/>
                </a:cxn>
                <a:cxn ang="0">
                  <a:pos x="T2" y="T3"/>
                </a:cxn>
              </a:cxnLst>
              <a:rect l="0" t="0" r="r" b="b"/>
              <a:pathLst>
                <a:path w="11" h="20">
                  <a:moveTo>
                    <a:pt x="10" y="19"/>
                  </a:moveTo>
                  <a:cubicBezTo>
                    <a:pt x="7" y="12"/>
                    <a:pt x="3" y="6"/>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16" name="Freeform 162">
              <a:extLst>
                <a:ext uri="{FF2B5EF4-FFF2-40B4-BE49-F238E27FC236}">
                  <a16:creationId xmlns:a16="http://schemas.microsoft.com/office/drawing/2014/main" id="{1390D556-EF88-3641-9B45-BE6AA0259454}"/>
                </a:ext>
              </a:extLst>
            </p:cNvPr>
            <p:cNvSpPr>
              <a:spLocks noChangeArrowheads="1"/>
            </p:cNvSpPr>
            <p:nvPr/>
          </p:nvSpPr>
          <p:spPr bwMode="auto">
            <a:xfrm>
              <a:off x="9601200" y="3505200"/>
              <a:ext cx="3175" cy="6350"/>
            </a:xfrm>
            <a:custGeom>
              <a:avLst/>
              <a:gdLst>
                <a:gd name="T0" fmla="*/ 10 w 11"/>
                <a:gd name="T1" fmla="*/ 18 h 19"/>
                <a:gd name="T2" fmla="*/ 0 w 11"/>
                <a:gd name="T3" fmla="*/ 0 h 19"/>
              </a:gdLst>
              <a:ahLst/>
              <a:cxnLst>
                <a:cxn ang="0">
                  <a:pos x="T0" y="T1"/>
                </a:cxn>
                <a:cxn ang="0">
                  <a:pos x="T2" y="T3"/>
                </a:cxn>
              </a:cxnLst>
              <a:rect l="0" t="0" r="r" b="b"/>
              <a:pathLst>
                <a:path w="11" h="19">
                  <a:moveTo>
                    <a:pt x="10" y="18"/>
                  </a:moveTo>
                  <a:cubicBezTo>
                    <a:pt x="7" y="12"/>
                    <a:pt x="3" y="6"/>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17" name="Freeform 163">
              <a:extLst>
                <a:ext uri="{FF2B5EF4-FFF2-40B4-BE49-F238E27FC236}">
                  <a16:creationId xmlns:a16="http://schemas.microsoft.com/office/drawing/2014/main" id="{DE82A3B3-D083-6446-96C9-B58111797C3F}"/>
                </a:ext>
              </a:extLst>
            </p:cNvPr>
            <p:cNvSpPr>
              <a:spLocks noChangeArrowheads="1"/>
            </p:cNvSpPr>
            <p:nvPr/>
          </p:nvSpPr>
          <p:spPr bwMode="auto">
            <a:xfrm>
              <a:off x="9821863" y="3535363"/>
              <a:ext cx="6350" cy="6350"/>
            </a:xfrm>
            <a:custGeom>
              <a:avLst/>
              <a:gdLst>
                <a:gd name="T0" fmla="*/ 15 w 16"/>
                <a:gd name="T1" fmla="*/ 0 h 16"/>
                <a:gd name="T2" fmla="*/ 0 w 16"/>
                <a:gd name="T3" fmla="*/ 15 h 16"/>
              </a:gdLst>
              <a:ahLst/>
              <a:cxnLst>
                <a:cxn ang="0">
                  <a:pos x="T0" y="T1"/>
                </a:cxn>
                <a:cxn ang="0">
                  <a:pos x="T2" y="T3"/>
                </a:cxn>
              </a:cxnLst>
              <a:rect l="0" t="0" r="r" b="b"/>
              <a:pathLst>
                <a:path w="16" h="16">
                  <a:moveTo>
                    <a:pt x="15" y="0"/>
                  </a:moveTo>
                  <a:cubicBezTo>
                    <a:pt x="10" y="5"/>
                    <a:pt x="5" y="10"/>
                    <a:pt x="0" y="15"/>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18" name="Freeform 164">
              <a:extLst>
                <a:ext uri="{FF2B5EF4-FFF2-40B4-BE49-F238E27FC236}">
                  <a16:creationId xmlns:a16="http://schemas.microsoft.com/office/drawing/2014/main" id="{EF6D6901-D675-7642-BBDB-BACDA4A272E7}"/>
                </a:ext>
              </a:extLst>
            </p:cNvPr>
            <p:cNvSpPr>
              <a:spLocks noChangeArrowheads="1"/>
            </p:cNvSpPr>
            <p:nvPr/>
          </p:nvSpPr>
          <p:spPr bwMode="auto">
            <a:xfrm>
              <a:off x="9821863" y="3335338"/>
              <a:ext cx="6350" cy="6350"/>
            </a:xfrm>
            <a:custGeom>
              <a:avLst/>
              <a:gdLst>
                <a:gd name="T0" fmla="*/ 15 w 16"/>
                <a:gd name="T1" fmla="*/ 15 h 16"/>
                <a:gd name="T2" fmla="*/ 0 w 16"/>
                <a:gd name="T3" fmla="*/ 0 h 16"/>
              </a:gdLst>
              <a:ahLst/>
              <a:cxnLst>
                <a:cxn ang="0">
                  <a:pos x="T0" y="T1"/>
                </a:cxn>
                <a:cxn ang="0">
                  <a:pos x="T2" y="T3"/>
                </a:cxn>
              </a:cxnLst>
              <a:rect l="0" t="0" r="r" b="b"/>
              <a:pathLst>
                <a:path w="16" h="16">
                  <a:moveTo>
                    <a:pt x="15" y="15"/>
                  </a:moveTo>
                  <a:cubicBezTo>
                    <a:pt x="10" y="10"/>
                    <a:pt x="5" y="5"/>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19" name="Freeform 165">
              <a:extLst>
                <a:ext uri="{FF2B5EF4-FFF2-40B4-BE49-F238E27FC236}">
                  <a16:creationId xmlns:a16="http://schemas.microsoft.com/office/drawing/2014/main" id="{059E7972-1009-2D42-B213-3D785CAC265F}"/>
                </a:ext>
              </a:extLst>
            </p:cNvPr>
            <p:cNvSpPr>
              <a:spLocks noChangeArrowheads="1"/>
            </p:cNvSpPr>
            <p:nvPr/>
          </p:nvSpPr>
          <p:spPr bwMode="auto">
            <a:xfrm>
              <a:off x="9601200" y="3363913"/>
              <a:ext cx="3175" cy="7937"/>
            </a:xfrm>
            <a:custGeom>
              <a:avLst/>
              <a:gdLst>
                <a:gd name="T0" fmla="*/ 10 w 11"/>
                <a:gd name="T1" fmla="*/ 0 h 20"/>
                <a:gd name="T2" fmla="*/ 0 w 11"/>
                <a:gd name="T3" fmla="*/ 19 h 20"/>
              </a:gdLst>
              <a:ahLst/>
              <a:cxnLst>
                <a:cxn ang="0">
                  <a:pos x="T0" y="T1"/>
                </a:cxn>
                <a:cxn ang="0">
                  <a:pos x="T2" y="T3"/>
                </a:cxn>
              </a:cxnLst>
              <a:rect l="0" t="0" r="r" b="b"/>
              <a:pathLst>
                <a:path w="11" h="20">
                  <a:moveTo>
                    <a:pt x="10" y="0"/>
                  </a:moveTo>
                  <a:cubicBezTo>
                    <a:pt x="7" y="6"/>
                    <a:pt x="3" y="12"/>
                    <a:pt x="0" y="1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20" name="Freeform 166">
              <a:extLst>
                <a:ext uri="{FF2B5EF4-FFF2-40B4-BE49-F238E27FC236}">
                  <a16:creationId xmlns:a16="http://schemas.microsoft.com/office/drawing/2014/main" id="{23859E4D-1A0D-D941-8F45-F090803BAC75}"/>
                </a:ext>
              </a:extLst>
            </p:cNvPr>
            <p:cNvSpPr>
              <a:spLocks noChangeArrowheads="1"/>
            </p:cNvSpPr>
            <p:nvPr/>
          </p:nvSpPr>
          <p:spPr bwMode="auto">
            <a:xfrm>
              <a:off x="9845675" y="3505200"/>
              <a:ext cx="3175" cy="6350"/>
            </a:xfrm>
            <a:custGeom>
              <a:avLst/>
              <a:gdLst>
                <a:gd name="T0" fmla="*/ 10 w 11"/>
                <a:gd name="T1" fmla="*/ 0 h 19"/>
                <a:gd name="T2" fmla="*/ 0 w 11"/>
                <a:gd name="T3" fmla="*/ 18 h 19"/>
              </a:gdLst>
              <a:ahLst/>
              <a:cxnLst>
                <a:cxn ang="0">
                  <a:pos x="T0" y="T1"/>
                </a:cxn>
                <a:cxn ang="0">
                  <a:pos x="T2" y="T3"/>
                </a:cxn>
              </a:cxnLst>
              <a:rect l="0" t="0" r="r" b="b"/>
              <a:pathLst>
                <a:path w="11" h="19">
                  <a:moveTo>
                    <a:pt x="10" y="0"/>
                  </a:moveTo>
                  <a:cubicBezTo>
                    <a:pt x="7" y="6"/>
                    <a:pt x="3" y="12"/>
                    <a:pt x="0" y="1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21" name="Freeform 167">
              <a:extLst>
                <a:ext uri="{FF2B5EF4-FFF2-40B4-BE49-F238E27FC236}">
                  <a16:creationId xmlns:a16="http://schemas.microsoft.com/office/drawing/2014/main" id="{6421C934-6F3A-1141-91F6-C7B5933C16C2}"/>
                </a:ext>
              </a:extLst>
            </p:cNvPr>
            <p:cNvSpPr>
              <a:spLocks noChangeArrowheads="1"/>
            </p:cNvSpPr>
            <p:nvPr/>
          </p:nvSpPr>
          <p:spPr bwMode="auto">
            <a:xfrm>
              <a:off x="9793288" y="3314700"/>
              <a:ext cx="6350" cy="4763"/>
            </a:xfrm>
            <a:custGeom>
              <a:avLst/>
              <a:gdLst>
                <a:gd name="T0" fmla="*/ 18 w 19"/>
                <a:gd name="T1" fmla="*/ 11 h 12"/>
                <a:gd name="T2" fmla="*/ 0 w 19"/>
                <a:gd name="T3" fmla="*/ 0 h 12"/>
              </a:gdLst>
              <a:ahLst/>
              <a:cxnLst>
                <a:cxn ang="0">
                  <a:pos x="T0" y="T1"/>
                </a:cxn>
                <a:cxn ang="0">
                  <a:pos x="T2" y="T3"/>
                </a:cxn>
              </a:cxnLst>
              <a:rect l="0" t="0" r="r" b="b"/>
              <a:pathLst>
                <a:path w="19" h="12">
                  <a:moveTo>
                    <a:pt x="18" y="11"/>
                  </a:moveTo>
                  <a:cubicBezTo>
                    <a:pt x="12" y="7"/>
                    <a:pt x="6" y="3"/>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22" name="Freeform 168">
              <a:extLst>
                <a:ext uri="{FF2B5EF4-FFF2-40B4-BE49-F238E27FC236}">
                  <a16:creationId xmlns:a16="http://schemas.microsoft.com/office/drawing/2014/main" id="{1CCD6216-2E9F-8840-9263-888F4E0E74AF}"/>
                </a:ext>
              </a:extLst>
            </p:cNvPr>
            <p:cNvSpPr>
              <a:spLocks noChangeArrowheads="1"/>
            </p:cNvSpPr>
            <p:nvPr/>
          </p:nvSpPr>
          <p:spPr bwMode="auto">
            <a:xfrm>
              <a:off x="9652000" y="3557588"/>
              <a:ext cx="6350" cy="4762"/>
            </a:xfrm>
            <a:custGeom>
              <a:avLst/>
              <a:gdLst>
                <a:gd name="T0" fmla="*/ 18 w 19"/>
                <a:gd name="T1" fmla="*/ 11 h 12"/>
                <a:gd name="T2" fmla="*/ 0 w 19"/>
                <a:gd name="T3" fmla="*/ 0 h 12"/>
              </a:gdLst>
              <a:ahLst/>
              <a:cxnLst>
                <a:cxn ang="0">
                  <a:pos x="T0" y="T1"/>
                </a:cxn>
                <a:cxn ang="0">
                  <a:pos x="T2" y="T3"/>
                </a:cxn>
              </a:cxnLst>
              <a:rect l="0" t="0" r="r" b="b"/>
              <a:pathLst>
                <a:path w="19" h="12">
                  <a:moveTo>
                    <a:pt x="18" y="11"/>
                  </a:moveTo>
                  <a:cubicBezTo>
                    <a:pt x="12" y="8"/>
                    <a:pt x="6" y="4"/>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23" name="Freeform 169">
              <a:extLst>
                <a:ext uri="{FF2B5EF4-FFF2-40B4-BE49-F238E27FC236}">
                  <a16:creationId xmlns:a16="http://schemas.microsoft.com/office/drawing/2014/main" id="{ED0388CD-2041-5C45-ACDA-E075C41CE0DC}"/>
                </a:ext>
              </a:extLst>
            </p:cNvPr>
            <p:cNvSpPr>
              <a:spLocks noChangeArrowheads="1"/>
            </p:cNvSpPr>
            <p:nvPr/>
          </p:nvSpPr>
          <p:spPr bwMode="auto">
            <a:xfrm>
              <a:off x="9588500" y="3398838"/>
              <a:ext cx="1588" cy="7937"/>
            </a:xfrm>
            <a:custGeom>
              <a:avLst/>
              <a:gdLst>
                <a:gd name="T0" fmla="*/ 5 w 6"/>
                <a:gd name="T1" fmla="*/ 0 h 21"/>
                <a:gd name="T2" fmla="*/ 0 w 6"/>
                <a:gd name="T3" fmla="*/ 20 h 21"/>
              </a:gdLst>
              <a:ahLst/>
              <a:cxnLst>
                <a:cxn ang="0">
                  <a:pos x="T0" y="T1"/>
                </a:cxn>
                <a:cxn ang="0">
                  <a:pos x="T2" y="T3"/>
                </a:cxn>
              </a:cxnLst>
              <a:rect l="0" t="0" r="r" b="b"/>
              <a:pathLst>
                <a:path w="6" h="21">
                  <a:moveTo>
                    <a:pt x="5" y="0"/>
                  </a:moveTo>
                  <a:cubicBezTo>
                    <a:pt x="3" y="6"/>
                    <a:pt x="2" y="13"/>
                    <a:pt x="0" y="2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24" name="Freeform 170">
              <a:extLst>
                <a:ext uri="{FF2B5EF4-FFF2-40B4-BE49-F238E27FC236}">
                  <a16:creationId xmlns:a16="http://schemas.microsoft.com/office/drawing/2014/main" id="{C0BCAE4A-E966-544E-BFD4-551FC89DFED7}"/>
                </a:ext>
              </a:extLst>
            </p:cNvPr>
            <p:cNvSpPr>
              <a:spLocks noChangeArrowheads="1"/>
            </p:cNvSpPr>
            <p:nvPr/>
          </p:nvSpPr>
          <p:spPr bwMode="auto">
            <a:xfrm>
              <a:off x="9861550" y="3470275"/>
              <a:ext cx="3175" cy="7938"/>
            </a:xfrm>
            <a:custGeom>
              <a:avLst/>
              <a:gdLst>
                <a:gd name="T0" fmla="*/ 6 w 7"/>
                <a:gd name="T1" fmla="*/ 0 h 22"/>
                <a:gd name="T2" fmla="*/ 0 w 7"/>
                <a:gd name="T3" fmla="*/ 21 h 22"/>
              </a:gdLst>
              <a:ahLst/>
              <a:cxnLst>
                <a:cxn ang="0">
                  <a:pos x="T0" y="T1"/>
                </a:cxn>
                <a:cxn ang="0">
                  <a:pos x="T2" y="T3"/>
                </a:cxn>
              </a:cxnLst>
              <a:rect l="0" t="0" r="r" b="b"/>
              <a:pathLst>
                <a:path w="7" h="22">
                  <a:moveTo>
                    <a:pt x="6" y="0"/>
                  </a:moveTo>
                  <a:cubicBezTo>
                    <a:pt x="4" y="7"/>
                    <a:pt x="2" y="14"/>
                    <a:pt x="0" y="2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25" name="Freeform 171">
              <a:extLst>
                <a:ext uri="{FF2B5EF4-FFF2-40B4-BE49-F238E27FC236}">
                  <a16:creationId xmlns:a16="http://schemas.microsoft.com/office/drawing/2014/main" id="{CB4C1B44-8110-334C-941F-868CF2238ED0}"/>
                </a:ext>
              </a:extLst>
            </p:cNvPr>
            <p:cNvSpPr>
              <a:spLocks noChangeArrowheads="1"/>
            </p:cNvSpPr>
            <p:nvPr/>
          </p:nvSpPr>
          <p:spPr bwMode="auto">
            <a:xfrm>
              <a:off x="9758363" y="3300413"/>
              <a:ext cx="7937" cy="3175"/>
            </a:xfrm>
            <a:custGeom>
              <a:avLst/>
              <a:gdLst>
                <a:gd name="T0" fmla="*/ 20 w 21"/>
                <a:gd name="T1" fmla="*/ 6 h 7"/>
                <a:gd name="T2" fmla="*/ 0 w 21"/>
                <a:gd name="T3" fmla="*/ 0 h 7"/>
              </a:gdLst>
              <a:ahLst/>
              <a:cxnLst>
                <a:cxn ang="0">
                  <a:pos x="T0" y="T1"/>
                </a:cxn>
                <a:cxn ang="0">
                  <a:pos x="T2" y="T3"/>
                </a:cxn>
              </a:cxnLst>
              <a:rect l="0" t="0" r="r" b="b"/>
              <a:pathLst>
                <a:path w="21" h="7">
                  <a:moveTo>
                    <a:pt x="20" y="6"/>
                  </a:moveTo>
                  <a:cubicBezTo>
                    <a:pt x="13" y="4"/>
                    <a:pt x="7" y="2"/>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26" name="Freeform 172">
              <a:extLst>
                <a:ext uri="{FF2B5EF4-FFF2-40B4-BE49-F238E27FC236}">
                  <a16:creationId xmlns:a16="http://schemas.microsoft.com/office/drawing/2014/main" id="{AC4EBA61-A398-A94F-B7EB-FFA4AFC48A85}"/>
                </a:ext>
              </a:extLst>
            </p:cNvPr>
            <p:cNvSpPr>
              <a:spLocks noChangeArrowheads="1"/>
            </p:cNvSpPr>
            <p:nvPr/>
          </p:nvSpPr>
          <p:spPr bwMode="auto">
            <a:xfrm>
              <a:off x="9685338" y="3573463"/>
              <a:ext cx="7937" cy="1587"/>
            </a:xfrm>
            <a:custGeom>
              <a:avLst/>
              <a:gdLst>
                <a:gd name="T0" fmla="*/ 21 w 22"/>
                <a:gd name="T1" fmla="*/ 5 h 6"/>
                <a:gd name="T2" fmla="*/ 0 w 22"/>
                <a:gd name="T3" fmla="*/ 0 h 6"/>
              </a:gdLst>
              <a:ahLst/>
              <a:cxnLst>
                <a:cxn ang="0">
                  <a:pos x="T0" y="T1"/>
                </a:cxn>
                <a:cxn ang="0">
                  <a:pos x="T2" y="T3"/>
                </a:cxn>
              </a:cxnLst>
              <a:rect l="0" t="0" r="r" b="b"/>
              <a:pathLst>
                <a:path w="22" h="6">
                  <a:moveTo>
                    <a:pt x="21" y="5"/>
                  </a:moveTo>
                  <a:cubicBezTo>
                    <a:pt x="14" y="4"/>
                    <a:pt x="7" y="2"/>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27" name="Freeform 173">
              <a:extLst>
                <a:ext uri="{FF2B5EF4-FFF2-40B4-BE49-F238E27FC236}">
                  <a16:creationId xmlns:a16="http://schemas.microsoft.com/office/drawing/2014/main" id="{FDC8184E-2F71-5748-8F34-7B335F7C06EC}"/>
                </a:ext>
              </a:extLst>
            </p:cNvPr>
            <p:cNvSpPr>
              <a:spLocks noChangeArrowheads="1"/>
            </p:cNvSpPr>
            <p:nvPr/>
          </p:nvSpPr>
          <p:spPr bwMode="auto">
            <a:xfrm>
              <a:off x="9525000" y="3438525"/>
              <a:ext cx="239713" cy="1588"/>
            </a:xfrm>
            <a:custGeom>
              <a:avLst/>
              <a:gdLst>
                <a:gd name="T0" fmla="*/ 664 w 665"/>
                <a:gd name="T1" fmla="*/ 0 h 1"/>
                <a:gd name="T2" fmla="*/ 0 w 665"/>
                <a:gd name="T3" fmla="*/ 0 h 1"/>
              </a:gdLst>
              <a:ahLst/>
              <a:cxnLst>
                <a:cxn ang="0">
                  <a:pos x="T0" y="T1"/>
                </a:cxn>
                <a:cxn ang="0">
                  <a:pos x="T2" y="T3"/>
                </a:cxn>
              </a:cxnLst>
              <a:rect l="0" t="0" r="r" b="b"/>
              <a:pathLst>
                <a:path w="665" h="1">
                  <a:moveTo>
                    <a:pt x="664" y="0"/>
                  </a:moveTo>
                  <a:cubicBezTo>
                    <a:pt x="443" y="0"/>
                    <a:pt x="221"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28" name="Freeform 174">
              <a:extLst>
                <a:ext uri="{FF2B5EF4-FFF2-40B4-BE49-F238E27FC236}">
                  <a16:creationId xmlns:a16="http://schemas.microsoft.com/office/drawing/2014/main" id="{23E0AE24-AC7F-1941-B2CA-DD0F56E023EF}"/>
                </a:ext>
              </a:extLst>
            </p:cNvPr>
            <p:cNvSpPr>
              <a:spLocks noChangeArrowheads="1"/>
            </p:cNvSpPr>
            <p:nvPr/>
          </p:nvSpPr>
          <p:spPr bwMode="auto">
            <a:xfrm>
              <a:off x="9725025" y="3397250"/>
              <a:ext cx="39688" cy="80963"/>
            </a:xfrm>
            <a:custGeom>
              <a:avLst/>
              <a:gdLst>
                <a:gd name="T0" fmla="*/ 0 w 112"/>
                <a:gd name="T1" fmla="*/ 225 h 226"/>
                <a:gd name="T2" fmla="*/ 108 w 112"/>
                <a:gd name="T3" fmla="*/ 118 h 226"/>
                <a:gd name="T4" fmla="*/ 108 w 112"/>
                <a:gd name="T5" fmla="*/ 108 h 226"/>
                <a:gd name="T6" fmla="*/ 0 w 112"/>
                <a:gd name="T7" fmla="*/ 0 h 226"/>
              </a:gdLst>
              <a:ahLst/>
              <a:cxnLst>
                <a:cxn ang="0">
                  <a:pos x="T0" y="T1"/>
                </a:cxn>
                <a:cxn ang="0">
                  <a:pos x="T2" y="T3"/>
                </a:cxn>
                <a:cxn ang="0">
                  <a:pos x="T4" y="T5"/>
                </a:cxn>
                <a:cxn ang="0">
                  <a:pos x="T6" y="T7"/>
                </a:cxn>
              </a:cxnLst>
              <a:rect l="0" t="0" r="r" b="b"/>
              <a:pathLst>
                <a:path w="112" h="226">
                  <a:moveTo>
                    <a:pt x="0" y="225"/>
                  </a:moveTo>
                  <a:cubicBezTo>
                    <a:pt x="36" y="189"/>
                    <a:pt x="72" y="154"/>
                    <a:pt x="108" y="118"/>
                  </a:cubicBezTo>
                  <a:cubicBezTo>
                    <a:pt x="111" y="116"/>
                    <a:pt x="111" y="111"/>
                    <a:pt x="108" y="108"/>
                  </a:cubicBezTo>
                  <a:cubicBezTo>
                    <a:pt x="72" y="72"/>
                    <a:pt x="36" y="36"/>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129" name="Freeform 175">
              <a:extLst>
                <a:ext uri="{FF2B5EF4-FFF2-40B4-BE49-F238E27FC236}">
                  <a16:creationId xmlns:a16="http://schemas.microsoft.com/office/drawing/2014/main" id="{185A0AFF-6331-CA42-998D-CC5C8B50396E}"/>
                </a:ext>
              </a:extLst>
            </p:cNvPr>
            <p:cNvSpPr>
              <a:spLocks noChangeArrowheads="1"/>
            </p:cNvSpPr>
            <p:nvPr/>
          </p:nvSpPr>
          <p:spPr bwMode="auto">
            <a:xfrm>
              <a:off x="9382125" y="3295650"/>
              <a:ext cx="284163" cy="284163"/>
            </a:xfrm>
            <a:custGeom>
              <a:avLst/>
              <a:gdLst>
                <a:gd name="T0" fmla="*/ 395 w 791"/>
                <a:gd name="T1" fmla="*/ 789 h 790"/>
                <a:gd name="T2" fmla="*/ 0 w 791"/>
                <a:gd name="T3" fmla="*/ 395 h 790"/>
                <a:gd name="T4" fmla="*/ 395 w 791"/>
                <a:gd name="T5" fmla="*/ 0 h 790"/>
                <a:gd name="T6" fmla="*/ 790 w 791"/>
                <a:gd name="T7" fmla="*/ 395 h 790"/>
                <a:gd name="T8" fmla="*/ 395 w 791"/>
                <a:gd name="T9" fmla="*/ 789 h 790"/>
              </a:gdLst>
              <a:ahLst/>
              <a:cxnLst>
                <a:cxn ang="0">
                  <a:pos x="T0" y="T1"/>
                </a:cxn>
                <a:cxn ang="0">
                  <a:pos x="T2" y="T3"/>
                </a:cxn>
                <a:cxn ang="0">
                  <a:pos x="T4" y="T5"/>
                </a:cxn>
                <a:cxn ang="0">
                  <a:pos x="T6" y="T7"/>
                </a:cxn>
                <a:cxn ang="0">
                  <a:pos x="T8" y="T9"/>
                </a:cxn>
              </a:cxnLst>
              <a:rect l="0" t="0" r="r" b="b"/>
              <a:pathLst>
                <a:path w="791" h="790">
                  <a:moveTo>
                    <a:pt x="395" y="789"/>
                  </a:moveTo>
                  <a:cubicBezTo>
                    <a:pt x="177" y="789"/>
                    <a:pt x="0" y="612"/>
                    <a:pt x="0" y="395"/>
                  </a:cubicBezTo>
                  <a:cubicBezTo>
                    <a:pt x="0" y="178"/>
                    <a:pt x="178" y="0"/>
                    <a:pt x="395" y="0"/>
                  </a:cubicBezTo>
                  <a:cubicBezTo>
                    <a:pt x="613" y="0"/>
                    <a:pt x="790" y="178"/>
                    <a:pt x="790" y="395"/>
                  </a:cubicBezTo>
                  <a:cubicBezTo>
                    <a:pt x="790" y="612"/>
                    <a:pt x="612" y="789"/>
                    <a:pt x="395" y="78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132" name="Group 131">
            <a:extLst>
              <a:ext uri="{FF2B5EF4-FFF2-40B4-BE49-F238E27FC236}">
                <a16:creationId xmlns:a16="http://schemas.microsoft.com/office/drawing/2014/main" id="{F56D4AB3-1C82-0C48-9175-25E4E92B4EB5}"/>
              </a:ext>
            </a:extLst>
          </p:cNvPr>
          <p:cNvGrpSpPr/>
          <p:nvPr/>
        </p:nvGrpSpPr>
        <p:grpSpPr>
          <a:xfrm>
            <a:off x="5266244" y="3358091"/>
            <a:ext cx="342795" cy="357918"/>
            <a:chOff x="2538413" y="3074988"/>
            <a:chExt cx="431800" cy="450850"/>
          </a:xfrm>
        </p:grpSpPr>
        <p:sp>
          <p:nvSpPr>
            <p:cNvPr id="133" name="Freeform 12">
              <a:extLst>
                <a:ext uri="{FF2B5EF4-FFF2-40B4-BE49-F238E27FC236}">
                  <a16:creationId xmlns:a16="http://schemas.microsoft.com/office/drawing/2014/main" id="{22F33C2A-C6C2-104D-9CC3-DDBF75B4B3A6}"/>
                </a:ext>
              </a:extLst>
            </p:cNvPr>
            <p:cNvSpPr>
              <a:spLocks noChangeArrowheads="1"/>
            </p:cNvSpPr>
            <p:nvPr/>
          </p:nvSpPr>
          <p:spPr bwMode="auto">
            <a:xfrm>
              <a:off x="2792413" y="3076575"/>
              <a:ext cx="101600" cy="50800"/>
            </a:xfrm>
            <a:custGeom>
              <a:avLst/>
              <a:gdLst>
                <a:gd name="T0" fmla="*/ 282 w 283"/>
                <a:gd name="T1" fmla="*/ 138 h 139"/>
                <a:gd name="T2" fmla="*/ 148 w 283"/>
                <a:gd name="T3" fmla="*/ 4 h 139"/>
                <a:gd name="T4" fmla="*/ 134 w 283"/>
                <a:gd name="T5" fmla="*/ 4 h 139"/>
                <a:gd name="T6" fmla="*/ 0 w 283"/>
                <a:gd name="T7" fmla="*/ 138 h 139"/>
              </a:gdLst>
              <a:ahLst/>
              <a:cxnLst>
                <a:cxn ang="0">
                  <a:pos x="T0" y="T1"/>
                </a:cxn>
                <a:cxn ang="0">
                  <a:pos x="T2" y="T3"/>
                </a:cxn>
                <a:cxn ang="0">
                  <a:pos x="T4" y="T5"/>
                </a:cxn>
                <a:cxn ang="0">
                  <a:pos x="T6" y="T7"/>
                </a:cxn>
              </a:cxnLst>
              <a:rect l="0" t="0" r="r" b="b"/>
              <a:pathLst>
                <a:path w="283" h="139">
                  <a:moveTo>
                    <a:pt x="282" y="138"/>
                  </a:moveTo>
                  <a:cubicBezTo>
                    <a:pt x="237" y="93"/>
                    <a:pt x="193" y="48"/>
                    <a:pt x="148" y="4"/>
                  </a:cubicBezTo>
                  <a:cubicBezTo>
                    <a:pt x="145" y="0"/>
                    <a:pt x="138" y="0"/>
                    <a:pt x="134" y="4"/>
                  </a:cubicBezTo>
                  <a:cubicBezTo>
                    <a:pt x="89" y="48"/>
                    <a:pt x="45" y="93"/>
                    <a:pt x="0" y="13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34" name="Freeform 13">
              <a:extLst>
                <a:ext uri="{FF2B5EF4-FFF2-40B4-BE49-F238E27FC236}">
                  <a16:creationId xmlns:a16="http://schemas.microsoft.com/office/drawing/2014/main" id="{DBC6F517-7B9C-F34C-AD7C-E72F0BE62757}"/>
                </a:ext>
              </a:extLst>
            </p:cNvPr>
            <p:cNvSpPr>
              <a:spLocks noChangeArrowheads="1"/>
            </p:cNvSpPr>
            <p:nvPr/>
          </p:nvSpPr>
          <p:spPr bwMode="auto">
            <a:xfrm>
              <a:off x="2627313" y="3449638"/>
              <a:ext cx="76200" cy="76200"/>
            </a:xfrm>
            <a:custGeom>
              <a:avLst/>
              <a:gdLst>
                <a:gd name="T0" fmla="*/ 211 w 212"/>
                <a:gd name="T1" fmla="*/ 105 h 212"/>
                <a:gd name="T2" fmla="*/ 197 w 212"/>
                <a:gd name="T3" fmla="*/ 158 h 212"/>
                <a:gd name="T4" fmla="*/ 158 w 212"/>
                <a:gd name="T5" fmla="*/ 197 h 212"/>
                <a:gd name="T6" fmla="*/ 105 w 212"/>
                <a:gd name="T7" fmla="*/ 211 h 212"/>
                <a:gd name="T8" fmla="*/ 52 w 212"/>
                <a:gd name="T9" fmla="*/ 197 h 212"/>
                <a:gd name="T10" fmla="*/ 14 w 212"/>
                <a:gd name="T11" fmla="*/ 158 h 212"/>
                <a:gd name="T12" fmla="*/ 0 w 212"/>
                <a:gd name="T13" fmla="*/ 105 h 212"/>
                <a:gd name="T14" fmla="*/ 14 w 212"/>
                <a:gd name="T15" fmla="*/ 53 h 212"/>
                <a:gd name="T16" fmla="*/ 52 w 212"/>
                <a:gd name="T17" fmla="*/ 14 h 212"/>
                <a:gd name="T18" fmla="*/ 105 w 212"/>
                <a:gd name="T19" fmla="*/ 0 h 212"/>
                <a:gd name="T20" fmla="*/ 158 w 212"/>
                <a:gd name="T21" fmla="*/ 14 h 212"/>
                <a:gd name="T22" fmla="*/ 197 w 212"/>
                <a:gd name="T23" fmla="*/ 53 h 212"/>
                <a:gd name="T24" fmla="*/ 211 w 212"/>
                <a:gd name="T25" fmla="*/ 10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2" h="212">
                  <a:moveTo>
                    <a:pt x="211" y="105"/>
                  </a:moveTo>
                  <a:cubicBezTo>
                    <a:pt x="211" y="125"/>
                    <a:pt x="206" y="141"/>
                    <a:pt x="197" y="158"/>
                  </a:cubicBezTo>
                  <a:cubicBezTo>
                    <a:pt x="187" y="175"/>
                    <a:pt x="175" y="187"/>
                    <a:pt x="158" y="197"/>
                  </a:cubicBezTo>
                  <a:cubicBezTo>
                    <a:pt x="141" y="207"/>
                    <a:pt x="124" y="211"/>
                    <a:pt x="105" y="211"/>
                  </a:cubicBezTo>
                  <a:cubicBezTo>
                    <a:pt x="85" y="211"/>
                    <a:pt x="68" y="207"/>
                    <a:pt x="52" y="197"/>
                  </a:cubicBezTo>
                  <a:cubicBezTo>
                    <a:pt x="35" y="187"/>
                    <a:pt x="23" y="175"/>
                    <a:pt x="14" y="158"/>
                  </a:cubicBezTo>
                  <a:cubicBezTo>
                    <a:pt x="4" y="141"/>
                    <a:pt x="0" y="124"/>
                    <a:pt x="0" y="105"/>
                  </a:cubicBezTo>
                  <a:cubicBezTo>
                    <a:pt x="0" y="85"/>
                    <a:pt x="4" y="69"/>
                    <a:pt x="14" y="53"/>
                  </a:cubicBezTo>
                  <a:cubicBezTo>
                    <a:pt x="23" y="36"/>
                    <a:pt x="35" y="24"/>
                    <a:pt x="52" y="14"/>
                  </a:cubicBezTo>
                  <a:cubicBezTo>
                    <a:pt x="68" y="4"/>
                    <a:pt x="86" y="0"/>
                    <a:pt x="105" y="0"/>
                  </a:cubicBezTo>
                  <a:cubicBezTo>
                    <a:pt x="125" y="0"/>
                    <a:pt x="141" y="4"/>
                    <a:pt x="158" y="14"/>
                  </a:cubicBezTo>
                  <a:cubicBezTo>
                    <a:pt x="175" y="24"/>
                    <a:pt x="187" y="36"/>
                    <a:pt x="197" y="53"/>
                  </a:cubicBezTo>
                  <a:cubicBezTo>
                    <a:pt x="206" y="69"/>
                    <a:pt x="211" y="86"/>
                    <a:pt x="211" y="105"/>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35" name="Freeform 14">
              <a:extLst>
                <a:ext uri="{FF2B5EF4-FFF2-40B4-BE49-F238E27FC236}">
                  <a16:creationId xmlns:a16="http://schemas.microsoft.com/office/drawing/2014/main" id="{72436594-FCDA-FB43-9920-B2A1FC129C2C}"/>
                </a:ext>
              </a:extLst>
            </p:cNvPr>
            <p:cNvSpPr>
              <a:spLocks noChangeArrowheads="1"/>
            </p:cNvSpPr>
            <p:nvPr/>
          </p:nvSpPr>
          <p:spPr bwMode="auto">
            <a:xfrm>
              <a:off x="2541588" y="3192463"/>
              <a:ext cx="69850" cy="69850"/>
            </a:xfrm>
            <a:custGeom>
              <a:avLst/>
              <a:gdLst>
                <a:gd name="T0" fmla="*/ 0 w 195"/>
                <a:gd name="T1" fmla="*/ 0 h 195"/>
                <a:gd name="T2" fmla="*/ 194 w 195"/>
                <a:gd name="T3" fmla="*/ 194 h 195"/>
              </a:gdLst>
              <a:ahLst/>
              <a:cxnLst>
                <a:cxn ang="0">
                  <a:pos x="T0" y="T1"/>
                </a:cxn>
                <a:cxn ang="0">
                  <a:pos x="T2" y="T3"/>
                </a:cxn>
              </a:cxnLst>
              <a:rect l="0" t="0" r="r" b="b"/>
              <a:pathLst>
                <a:path w="195" h="195">
                  <a:moveTo>
                    <a:pt x="0" y="0"/>
                  </a:moveTo>
                  <a:cubicBezTo>
                    <a:pt x="65" y="64"/>
                    <a:pt x="129" y="129"/>
                    <a:pt x="194" y="19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36" name="Freeform 15">
              <a:extLst>
                <a:ext uri="{FF2B5EF4-FFF2-40B4-BE49-F238E27FC236}">
                  <a16:creationId xmlns:a16="http://schemas.microsoft.com/office/drawing/2014/main" id="{435A5B86-D9A6-F649-9950-415FC892C1DD}"/>
                </a:ext>
              </a:extLst>
            </p:cNvPr>
            <p:cNvSpPr>
              <a:spLocks noChangeArrowheads="1"/>
            </p:cNvSpPr>
            <p:nvPr/>
          </p:nvSpPr>
          <p:spPr bwMode="auto">
            <a:xfrm>
              <a:off x="2541588" y="3192463"/>
              <a:ext cx="69850" cy="69850"/>
            </a:xfrm>
            <a:custGeom>
              <a:avLst/>
              <a:gdLst>
                <a:gd name="T0" fmla="*/ 194 w 195"/>
                <a:gd name="T1" fmla="*/ 0 h 195"/>
                <a:gd name="T2" fmla="*/ 0 w 195"/>
                <a:gd name="T3" fmla="*/ 194 h 195"/>
              </a:gdLst>
              <a:ahLst/>
              <a:cxnLst>
                <a:cxn ang="0">
                  <a:pos x="T0" y="T1"/>
                </a:cxn>
                <a:cxn ang="0">
                  <a:pos x="T2" y="T3"/>
                </a:cxn>
              </a:cxnLst>
              <a:rect l="0" t="0" r="r" b="b"/>
              <a:pathLst>
                <a:path w="195" h="195">
                  <a:moveTo>
                    <a:pt x="194" y="0"/>
                  </a:moveTo>
                  <a:cubicBezTo>
                    <a:pt x="129" y="64"/>
                    <a:pt x="65" y="129"/>
                    <a:pt x="0" y="19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37" name="Freeform 16">
              <a:extLst>
                <a:ext uri="{FF2B5EF4-FFF2-40B4-BE49-F238E27FC236}">
                  <a16:creationId xmlns:a16="http://schemas.microsoft.com/office/drawing/2014/main" id="{E818697E-20D0-234F-948A-9EED27142205}"/>
                </a:ext>
              </a:extLst>
            </p:cNvPr>
            <p:cNvSpPr>
              <a:spLocks noChangeArrowheads="1"/>
            </p:cNvSpPr>
            <p:nvPr/>
          </p:nvSpPr>
          <p:spPr bwMode="auto">
            <a:xfrm>
              <a:off x="2719388" y="3192463"/>
              <a:ext cx="69850" cy="69850"/>
            </a:xfrm>
            <a:custGeom>
              <a:avLst/>
              <a:gdLst>
                <a:gd name="T0" fmla="*/ 0 w 195"/>
                <a:gd name="T1" fmla="*/ 0 h 195"/>
                <a:gd name="T2" fmla="*/ 194 w 195"/>
                <a:gd name="T3" fmla="*/ 194 h 195"/>
              </a:gdLst>
              <a:ahLst/>
              <a:cxnLst>
                <a:cxn ang="0">
                  <a:pos x="T0" y="T1"/>
                </a:cxn>
                <a:cxn ang="0">
                  <a:pos x="T2" y="T3"/>
                </a:cxn>
              </a:cxnLst>
              <a:rect l="0" t="0" r="r" b="b"/>
              <a:pathLst>
                <a:path w="195" h="195">
                  <a:moveTo>
                    <a:pt x="0" y="0"/>
                  </a:moveTo>
                  <a:cubicBezTo>
                    <a:pt x="65" y="64"/>
                    <a:pt x="129" y="129"/>
                    <a:pt x="194" y="19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38" name="Freeform 17">
              <a:extLst>
                <a:ext uri="{FF2B5EF4-FFF2-40B4-BE49-F238E27FC236}">
                  <a16:creationId xmlns:a16="http://schemas.microsoft.com/office/drawing/2014/main" id="{BB35D940-3EF2-9D45-8748-DBF73CF47ECF}"/>
                </a:ext>
              </a:extLst>
            </p:cNvPr>
            <p:cNvSpPr>
              <a:spLocks noChangeArrowheads="1"/>
            </p:cNvSpPr>
            <p:nvPr/>
          </p:nvSpPr>
          <p:spPr bwMode="auto">
            <a:xfrm>
              <a:off x="2719388" y="3192463"/>
              <a:ext cx="69850" cy="69850"/>
            </a:xfrm>
            <a:custGeom>
              <a:avLst/>
              <a:gdLst>
                <a:gd name="T0" fmla="*/ 194 w 195"/>
                <a:gd name="T1" fmla="*/ 0 h 195"/>
                <a:gd name="T2" fmla="*/ 0 w 195"/>
                <a:gd name="T3" fmla="*/ 194 h 195"/>
              </a:gdLst>
              <a:ahLst/>
              <a:cxnLst>
                <a:cxn ang="0">
                  <a:pos x="T0" y="T1"/>
                </a:cxn>
                <a:cxn ang="0">
                  <a:pos x="T2" y="T3"/>
                </a:cxn>
              </a:cxnLst>
              <a:rect l="0" t="0" r="r" b="b"/>
              <a:pathLst>
                <a:path w="195" h="195">
                  <a:moveTo>
                    <a:pt x="194" y="0"/>
                  </a:moveTo>
                  <a:cubicBezTo>
                    <a:pt x="129" y="64"/>
                    <a:pt x="65" y="129"/>
                    <a:pt x="0" y="19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39" name="Freeform 18">
              <a:extLst>
                <a:ext uri="{FF2B5EF4-FFF2-40B4-BE49-F238E27FC236}">
                  <a16:creationId xmlns:a16="http://schemas.microsoft.com/office/drawing/2014/main" id="{B47F28C2-CF2C-8449-A518-23168D5A0792}"/>
                </a:ext>
              </a:extLst>
            </p:cNvPr>
            <p:cNvSpPr>
              <a:spLocks noChangeArrowheads="1"/>
            </p:cNvSpPr>
            <p:nvPr/>
          </p:nvSpPr>
          <p:spPr bwMode="auto">
            <a:xfrm>
              <a:off x="2897188" y="3192463"/>
              <a:ext cx="69850" cy="69850"/>
            </a:xfrm>
            <a:custGeom>
              <a:avLst/>
              <a:gdLst>
                <a:gd name="T0" fmla="*/ 0 w 195"/>
                <a:gd name="T1" fmla="*/ 0 h 195"/>
                <a:gd name="T2" fmla="*/ 194 w 195"/>
                <a:gd name="T3" fmla="*/ 194 h 195"/>
              </a:gdLst>
              <a:ahLst/>
              <a:cxnLst>
                <a:cxn ang="0">
                  <a:pos x="T0" y="T1"/>
                </a:cxn>
                <a:cxn ang="0">
                  <a:pos x="T2" y="T3"/>
                </a:cxn>
              </a:cxnLst>
              <a:rect l="0" t="0" r="r" b="b"/>
              <a:pathLst>
                <a:path w="195" h="195">
                  <a:moveTo>
                    <a:pt x="0" y="0"/>
                  </a:moveTo>
                  <a:cubicBezTo>
                    <a:pt x="65" y="64"/>
                    <a:pt x="129" y="129"/>
                    <a:pt x="194" y="19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40" name="Freeform 19">
              <a:extLst>
                <a:ext uri="{FF2B5EF4-FFF2-40B4-BE49-F238E27FC236}">
                  <a16:creationId xmlns:a16="http://schemas.microsoft.com/office/drawing/2014/main" id="{F7F83A40-1614-514C-AA60-111D6341225E}"/>
                </a:ext>
              </a:extLst>
            </p:cNvPr>
            <p:cNvSpPr>
              <a:spLocks noChangeArrowheads="1"/>
            </p:cNvSpPr>
            <p:nvPr/>
          </p:nvSpPr>
          <p:spPr bwMode="auto">
            <a:xfrm>
              <a:off x="2897188" y="3192463"/>
              <a:ext cx="69850" cy="69850"/>
            </a:xfrm>
            <a:custGeom>
              <a:avLst/>
              <a:gdLst>
                <a:gd name="T0" fmla="*/ 194 w 195"/>
                <a:gd name="T1" fmla="*/ 0 h 195"/>
                <a:gd name="T2" fmla="*/ 0 w 195"/>
                <a:gd name="T3" fmla="*/ 194 h 195"/>
              </a:gdLst>
              <a:ahLst/>
              <a:cxnLst>
                <a:cxn ang="0">
                  <a:pos x="T0" y="T1"/>
                </a:cxn>
                <a:cxn ang="0">
                  <a:pos x="T2" y="T3"/>
                </a:cxn>
              </a:cxnLst>
              <a:rect l="0" t="0" r="r" b="b"/>
              <a:pathLst>
                <a:path w="195" h="195">
                  <a:moveTo>
                    <a:pt x="194" y="0"/>
                  </a:moveTo>
                  <a:cubicBezTo>
                    <a:pt x="129" y="64"/>
                    <a:pt x="65" y="129"/>
                    <a:pt x="0" y="19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41" name="Freeform 20">
              <a:extLst>
                <a:ext uri="{FF2B5EF4-FFF2-40B4-BE49-F238E27FC236}">
                  <a16:creationId xmlns:a16="http://schemas.microsoft.com/office/drawing/2014/main" id="{BDEE9B37-5F25-7246-AB82-458B9B688BE4}"/>
                </a:ext>
              </a:extLst>
            </p:cNvPr>
            <p:cNvSpPr>
              <a:spLocks noChangeArrowheads="1"/>
            </p:cNvSpPr>
            <p:nvPr/>
          </p:nvSpPr>
          <p:spPr bwMode="auto">
            <a:xfrm>
              <a:off x="2538413" y="3317875"/>
              <a:ext cx="76200" cy="76200"/>
            </a:xfrm>
            <a:custGeom>
              <a:avLst/>
              <a:gdLst>
                <a:gd name="T0" fmla="*/ 211 w 212"/>
                <a:gd name="T1" fmla="*/ 105 h 212"/>
                <a:gd name="T2" fmla="*/ 197 w 212"/>
                <a:gd name="T3" fmla="*/ 158 h 212"/>
                <a:gd name="T4" fmla="*/ 159 w 212"/>
                <a:gd name="T5" fmla="*/ 197 h 212"/>
                <a:gd name="T6" fmla="*/ 106 w 212"/>
                <a:gd name="T7" fmla="*/ 211 h 212"/>
                <a:gd name="T8" fmla="*/ 53 w 212"/>
                <a:gd name="T9" fmla="*/ 197 h 212"/>
                <a:gd name="T10" fmla="*/ 14 w 212"/>
                <a:gd name="T11" fmla="*/ 158 h 212"/>
                <a:gd name="T12" fmla="*/ 0 w 212"/>
                <a:gd name="T13" fmla="*/ 105 h 212"/>
                <a:gd name="T14" fmla="*/ 14 w 212"/>
                <a:gd name="T15" fmla="*/ 52 h 212"/>
                <a:gd name="T16" fmla="*/ 53 w 212"/>
                <a:gd name="T17" fmla="*/ 14 h 212"/>
                <a:gd name="T18" fmla="*/ 106 w 212"/>
                <a:gd name="T19" fmla="*/ 0 h 212"/>
                <a:gd name="T20" fmla="*/ 159 w 212"/>
                <a:gd name="T21" fmla="*/ 14 h 212"/>
                <a:gd name="T22" fmla="*/ 197 w 212"/>
                <a:gd name="T23" fmla="*/ 52 h 212"/>
                <a:gd name="T24" fmla="*/ 211 w 212"/>
                <a:gd name="T25" fmla="*/ 10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2" h="212">
                  <a:moveTo>
                    <a:pt x="211" y="105"/>
                  </a:moveTo>
                  <a:cubicBezTo>
                    <a:pt x="211" y="125"/>
                    <a:pt x="207" y="141"/>
                    <a:pt x="197" y="158"/>
                  </a:cubicBezTo>
                  <a:cubicBezTo>
                    <a:pt x="187" y="175"/>
                    <a:pt x="175" y="187"/>
                    <a:pt x="159" y="197"/>
                  </a:cubicBezTo>
                  <a:cubicBezTo>
                    <a:pt x="142" y="206"/>
                    <a:pt x="125" y="211"/>
                    <a:pt x="106" y="211"/>
                  </a:cubicBezTo>
                  <a:cubicBezTo>
                    <a:pt x="86" y="211"/>
                    <a:pt x="70" y="206"/>
                    <a:pt x="53" y="197"/>
                  </a:cubicBezTo>
                  <a:cubicBezTo>
                    <a:pt x="36" y="187"/>
                    <a:pt x="23" y="175"/>
                    <a:pt x="14" y="158"/>
                  </a:cubicBezTo>
                  <a:cubicBezTo>
                    <a:pt x="4" y="141"/>
                    <a:pt x="0" y="124"/>
                    <a:pt x="0" y="105"/>
                  </a:cubicBezTo>
                  <a:cubicBezTo>
                    <a:pt x="0" y="85"/>
                    <a:pt x="4" y="68"/>
                    <a:pt x="14" y="52"/>
                  </a:cubicBezTo>
                  <a:cubicBezTo>
                    <a:pt x="23" y="35"/>
                    <a:pt x="36" y="23"/>
                    <a:pt x="53" y="14"/>
                  </a:cubicBezTo>
                  <a:cubicBezTo>
                    <a:pt x="70" y="4"/>
                    <a:pt x="86" y="0"/>
                    <a:pt x="106" y="0"/>
                  </a:cubicBezTo>
                  <a:cubicBezTo>
                    <a:pt x="125" y="0"/>
                    <a:pt x="142" y="4"/>
                    <a:pt x="159" y="14"/>
                  </a:cubicBezTo>
                  <a:cubicBezTo>
                    <a:pt x="175" y="23"/>
                    <a:pt x="187" y="35"/>
                    <a:pt x="197" y="52"/>
                  </a:cubicBezTo>
                  <a:cubicBezTo>
                    <a:pt x="207" y="68"/>
                    <a:pt x="211" y="86"/>
                    <a:pt x="211" y="105"/>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42" name="Freeform 21">
              <a:extLst>
                <a:ext uri="{FF2B5EF4-FFF2-40B4-BE49-F238E27FC236}">
                  <a16:creationId xmlns:a16="http://schemas.microsoft.com/office/drawing/2014/main" id="{FFAC2240-4FFE-5C44-A986-B7247F62E8CB}"/>
                </a:ext>
              </a:extLst>
            </p:cNvPr>
            <p:cNvSpPr>
              <a:spLocks noChangeArrowheads="1"/>
            </p:cNvSpPr>
            <p:nvPr/>
          </p:nvSpPr>
          <p:spPr bwMode="auto">
            <a:xfrm>
              <a:off x="2716213" y="3317875"/>
              <a:ext cx="76200" cy="76200"/>
            </a:xfrm>
            <a:custGeom>
              <a:avLst/>
              <a:gdLst>
                <a:gd name="T0" fmla="*/ 211 w 212"/>
                <a:gd name="T1" fmla="*/ 105 h 212"/>
                <a:gd name="T2" fmla="*/ 197 w 212"/>
                <a:gd name="T3" fmla="*/ 158 h 212"/>
                <a:gd name="T4" fmla="*/ 158 w 212"/>
                <a:gd name="T5" fmla="*/ 197 h 212"/>
                <a:gd name="T6" fmla="*/ 106 w 212"/>
                <a:gd name="T7" fmla="*/ 211 h 212"/>
                <a:gd name="T8" fmla="*/ 53 w 212"/>
                <a:gd name="T9" fmla="*/ 197 h 212"/>
                <a:gd name="T10" fmla="*/ 14 w 212"/>
                <a:gd name="T11" fmla="*/ 158 h 212"/>
                <a:gd name="T12" fmla="*/ 0 w 212"/>
                <a:gd name="T13" fmla="*/ 105 h 212"/>
                <a:gd name="T14" fmla="*/ 14 w 212"/>
                <a:gd name="T15" fmla="*/ 52 h 212"/>
                <a:gd name="T16" fmla="*/ 53 w 212"/>
                <a:gd name="T17" fmla="*/ 14 h 212"/>
                <a:gd name="T18" fmla="*/ 106 w 212"/>
                <a:gd name="T19" fmla="*/ 0 h 212"/>
                <a:gd name="T20" fmla="*/ 158 w 212"/>
                <a:gd name="T21" fmla="*/ 14 h 212"/>
                <a:gd name="T22" fmla="*/ 197 w 212"/>
                <a:gd name="T23" fmla="*/ 52 h 212"/>
                <a:gd name="T24" fmla="*/ 211 w 212"/>
                <a:gd name="T25" fmla="*/ 10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2" h="212">
                  <a:moveTo>
                    <a:pt x="211" y="105"/>
                  </a:moveTo>
                  <a:cubicBezTo>
                    <a:pt x="211" y="125"/>
                    <a:pt x="207" y="141"/>
                    <a:pt x="197" y="158"/>
                  </a:cubicBezTo>
                  <a:cubicBezTo>
                    <a:pt x="187" y="175"/>
                    <a:pt x="174" y="187"/>
                    <a:pt x="158" y="197"/>
                  </a:cubicBezTo>
                  <a:cubicBezTo>
                    <a:pt x="141" y="206"/>
                    <a:pt x="125" y="211"/>
                    <a:pt x="106" y="211"/>
                  </a:cubicBezTo>
                  <a:cubicBezTo>
                    <a:pt x="86" y="211"/>
                    <a:pt x="70" y="206"/>
                    <a:pt x="53" y="197"/>
                  </a:cubicBezTo>
                  <a:cubicBezTo>
                    <a:pt x="36" y="187"/>
                    <a:pt x="24" y="175"/>
                    <a:pt x="14" y="158"/>
                  </a:cubicBezTo>
                  <a:cubicBezTo>
                    <a:pt x="4" y="141"/>
                    <a:pt x="0" y="124"/>
                    <a:pt x="0" y="105"/>
                  </a:cubicBezTo>
                  <a:cubicBezTo>
                    <a:pt x="0" y="85"/>
                    <a:pt x="4" y="68"/>
                    <a:pt x="14" y="52"/>
                  </a:cubicBezTo>
                  <a:cubicBezTo>
                    <a:pt x="24" y="35"/>
                    <a:pt x="36" y="23"/>
                    <a:pt x="53" y="14"/>
                  </a:cubicBezTo>
                  <a:cubicBezTo>
                    <a:pt x="70" y="4"/>
                    <a:pt x="86" y="0"/>
                    <a:pt x="106" y="0"/>
                  </a:cubicBezTo>
                  <a:cubicBezTo>
                    <a:pt x="125" y="0"/>
                    <a:pt x="141" y="4"/>
                    <a:pt x="158" y="14"/>
                  </a:cubicBezTo>
                  <a:cubicBezTo>
                    <a:pt x="174" y="23"/>
                    <a:pt x="187" y="35"/>
                    <a:pt x="197" y="52"/>
                  </a:cubicBezTo>
                  <a:cubicBezTo>
                    <a:pt x="207" y="68"/>
                    <a:pt x="211" y="86"/>
                    <a:pt x="211" y="105"/>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43" name="Freeform 22">
              <a:extLst>
                <a:ext uri="{FF2B5EF4-FFF2-40B4-BE49-F238E27FC236}">
                  <a16:creationId xmlns:a16="http://schemas.microsoft.com/office/drawing/2014/main" id="{D6849642-7612-1144-9AE0-75EC055BE050}"/>
                </a:ext>
              </a:extLst>
            </p:cNvPr>
            <p:cNvSpPr>
              <a:spLocks noChangeArrowheads="1"/>
            </p:cNvSpPr>
            <p:nvPr/>
          </p:nvSpPr>
          <p:spPr bwMode="auto">
            <a:xfrm>
              <a:off x="2894013" y="3317875"/>
              <a:ext cx="76200" cy="76200"/>
            </a:xfrm>
            <a:custGeom>
              <a:avLst/>
              <a:gdLst>
                <a:gd name="T0" fmla="*/ 211 w 212"/>
                <a:gd name="T1" fmla="*/ 105 h 212"/>
                <a:gd name="T2" fmla="*/ 197 w 212"/>
                <a:gd name="T3" fmla="*/ 158 h 212"/>
                <a:gd name="T4" fmla="*/ 158 w 212"/>
                <a:gd name="T5" fmla="*/ 197 h 212"/>
                <a:gd name="T6" fmla="*/ 105 w 212"/>
                <a:gd name="T7" fmla="*/ 211 h 212"/>
                <a:gd name="T8" fmla="*/ 53 w 212"/>
                <a:gd name="T9" fmla="*/ 197 h 212"/>
                <a:gd name="T10" fmla="*/ 14 w 212"/>
                <a:gd name="T11" fmla="*/ 158 h 212"/>
                <a:gd name="T12" fmla="*/ 0 w 212"/>
                <a:gd name="T13" fmla="*/ 105 h 212"/>
                <a:gd name="T14" fmla="*/ 14 w 212"/>
                <a:gd name="T15" fmla="*/ 52 h 212"/>
                <a:gd name="T16" fmla="*/ 53 w 212"/>
                <a:gd name="T17" fmla="*/ 14 h 212"/>
                <a:gd name="T18" fmla="*/ 105 w 212"/>
                <a:gd name="T19" fmla="*/ 0 h 212"/>
                <a:gd name="T20" fmla="*/ 158 w 212"/>
                <a:gd name="T21" fmla="*/ 14 h 212"/>
                <a:gd name="T22" fmla="*/ 197 w 212"/>
                <a:gd name="T23" fmla="*/ 52 h 212"/>
                <a:gd name="T24" fmla="*/ 211 w 212"/>
                <a:gd name="T25" fmla="*/ 10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2" h="212">
                  <a:moveTo>
                    <a:pt x="211" y="105"/>
                  </a:moveTo>
                  <a:cubicBezTo>
                    <a:pt x="211" y="125"/>
                    <a:pt x="207" y="141"/>
                    <a:pt x="197" y="158"/>
                  </a:cubicBezTo>
                  <a:cubicBezTo>
                    <a:pt x="187" y="175"/>
                    <a:pt x="175" y="187"/>
                    <a:pt x="158" y="197"/>
                  </a:cubicBezTo>
                  <a:cubicBezTo>
                    <a:pt x="141" y="206"/>
                    <a:pt x="124" y="211"/>
                    <a:pt x="105" y="211"/>
                  </a:cubicBezTo>
                  <a:cubicBezTo>
                    <a:pt x="85" y="211"/>
                    <a:pt x="70" y="206"/>
                    <a:pt x="53" y="197"/>
                  </a:cubicBezTo>
                  <a:cubicBezTo>
                    <a:pt x="36" y="187"/>
                    <a:pt x="24" y="175"/>
                    <a:pt x="14" y="158"/>
                  </a:cubicBezTo>
                  <a:cubicBezTo>
                    <a:pt x="4" y="141"/>
                    <a:pt x="0" y="124"/>
                    <a:pt x="0" y="105"/>
                  </a:cubicBezTo>
                  <a:cubicBezTo>
                    <a:pt x="0" y="85"/>
                    <a:pt x="4" y="68"/>
                    <a:pt x="14" y="52"/>
                  </a:cubicBezTo>
                  <a:cubicBezTo>
                    <a:pt x="24" y="35"/>
                    <a:pt x="36" y="23"/>
                    <a:pt x="53" y="14"/>
                  </a:cubicBezTo>
                  <a:cubicBezTo>
                    <a:pt x="70" y="4"/>
                    <a:pt x="86" y="0"/>
                    <a:pt x="105" y="0"/>
                  </a:cubicBezTo>
                  <a:cubicBezTo>
                    <a:pt x="125" y="0"/>
                    <a:pt x="141" y="4"/>
                    <a:pt x="158" y="14"/>
                  </a:cubicBezTo>
                  <a:cubicBezTo>
                    <a:pt x="175" y="23"/>
                    <a:pt x="187" y="35"/>
                    <a:pt x="197" y="52"/>
                  </a:cubicBezTo>
                  <a:cubicBezTo>
                    <a:pt x="207" y="68"/>
                    <a:pt x="211" y="86"/>
                    <a:pt x="211" y="105"/>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44" name="Freeform 23">
              <a:extLst>
                <a:ext uri="{FF2B5EF4-FFF2-40B4-BE49-F238E27FC236}">
                  <a16:creationId xmlns:a16="http://schemas.microsoft.com/office/drawing/2014/main" id="{C6C181D6-1616-D34C-A5EC-8DE07ABE4EF5}"/>
                </a:ext>
              </a:extLst>
            </p:cNvPr>
            <p:cNvSpPr>
              <a:spLocks noChangeArrowheads="1"/>
            </p:cNvSpPr>
            <p:nvPr/>
          </p:nvSpPr>
          <p:spPr bwMode="auto">
            <a:xfrm>
              <a:off x="2700338" y="3074988"/>
              <a:ext cx="142875" cy="398462"/>
            </a:xfrm>
            <a:custGeom>
              <a:avLst/>
              <a:gdLst>
                <a:gd name="T0" fmla="*/ 0 w 396"/>
                <a:gd name="T1" fmla="*/ 1106 h 1107"/>
                <a:gd name="T2" fmla="*/ 243 w 396"/>
                <a:gd name="T3" fmla="*/ 1004 h 1107"/>
                <a:gd name="T4" fmla="*/ 395 w 396"/>
                <a:gd name="T5" fmla="*/ 775 h 1107"/>
                <a:gd name="T6" fmla="*/ 395 w 396"/>
                <a:gd name="T7" fmla="*/ 0 h 1107"/>
              </a:gdLst>
              <a:ahLst/>
              <a:cxnLst>
                <a:cxn ang="0">
                  <a:pos x="T0" y="T1"/>
                </a:cxn>
                <a:cxn ang="0">
                  <a:pos x="T2" y="T3"/>
                </a:cxn>
                <a:cxn ang="0">
                  <a:pos x="T4" y="T5"/>
                </a:cxn>
                <a:cxn ang="0">
                  <a:pos x="T6" y="T7"/>
                </a:cxn>
              </a:cxnLst>
              <a:rect l="0" t="0" r="r" b="b"/>
              <a:pathLst>
                <a:path w="396" h="1107">
                  <a:moveTo>
                    <a:pt x="0" y="1106"/>
                  </a:moveTo>
                  <a:cubicBezTo>
                    <a:pt x="81" y="1072"/>
                    <a:pt x="162" y="1038"/>
                    <a:pt x="243" y="1004"/>
                  </a:cubicBezTo>
                  <a:cubicBezTo>
                    <a:pt x="331" y="965"/>
                    <a:pt x="395" y="877"/>
                    <a:pt x="395" y="775"/>
                  </a:cubicBezTo>
                  <a:cubicBezTo>
                    <a:pt x="395" y="516"/>
                    <a:pt x="395" y="258"/>
                    <a:pt x="395"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145" name="Group 144">
            <a:extLst>
              <a:ext uri="{FF2B5EF4-FFF2-40B4-BE49-F238E27FC236}">
                <a16:creationId xmlns:a16="http://schemas.microsoft.com/office/drawing/2014/main" id="{0C27DF59-BE35-AE4B-96CA-2E0E76FA4DCD}"/>
              </a:ext>
            </a:extLst>
          </p:cNvPr>
          <p:cNvGrpSpPr/>
          <p:nvPr/>
        </p:nvGrpSpPr>
        <p:grpSpPr>
          <a:xfrm>
            <a:off x="6576201" y="3347580"/>
            <a:ext cx="391294" cy="461590"/>
            <a:chOff x="8293454" y="151204"/>
            <a:chExt cx="493250" cy="581860"/>
          </a:xfrm>
        </p:grpSpPr>
        <p:grpSp>
          <p:nvGrpSpPr>
            <p:cNvPr id="149" name="Group 148">
              <a:extLst>
                <a:ext uri="{FF2B5EF4-FFF2-40B4-BE49-F238E27FC236}">
                  <a16:creationId xmlns:a16="http://schemas.microsoft.com/office/drawing/2014/main" id="{CC30253B-E6EB-4F47-8974-0B6B44EB92FB}"/>
                </a:ext>
              </a:extLst>
            </p:cNvPr>
            <p:cNvGrpSpPr/>
            <p:nvPr/>
          </p:nvGrpSpPr>
          <p:grpSpPr>
            <a:xfrm rot="18900000">
              <a:off x="8293454" y="151204"/>
              <a:ext cx="493250" cy="493253"/>
              <a:chOff x="8817591" y="656865"/>
              <a:chExt cx="493250" cy="493253"/>
            </a:xfrm>
          </p:grpSpPr>
          <p:sp>
            <p:nvSpPr>
              <p:cNvPr id="150" name="Freeform 2">
                <a:extLst>
                  <a:ext uri="{FF2B5EF4-FFF2-40B4-BE49-F238E27FC236}">
                    <a16:creationId xmlns:a16="http://schemas.microsoft.com/office/drawing/2014/main" id="{177C4B07-6E69-CF44-8B53-17345783DCDD}"/>
                  </a:ext>
                </a:extLst>
              </p:cNvPr>
              <p:cNvSpPr>
                <a:spLocks noChangeArrowheads="1"/>
              </p:cNvSpPr>
              <p:nvPr/>
            </p:nvSpPr>
            <p:spPr bwMode="auto">
              <a:xfrm>
                <a:off x="8978249" y="887989"/>
                <a:ext cx="101469" cy="101469"/>
              </a:xfrm>
              <a:custGeom>
                <a:avLst/>
                <a:gdLst>
                  <a:gd name="T0" fmla="*/ 0 w 159"/>
                  <a:gd name="T1" fmla="*/ 158 h 159"/>
                  <a:gd name="T2" fmla="*/ 158 w 159"/>
                  <a:gd name="T3" fmla="*/ 0 h 159"/>
                </a:gdLst>
                <a:ahLst/>
                <a:cxnLst>
                  <a:cxn ang="0">
                    <a:pos x="T0" y="T1"/>
                  </a:cxn>
                  <a:cxn ang="0">
                    <a:pos x="T2" y="T3"/>
                  </a:cxn>
                </a:cxnLst>
                <a:rect l="0" t="0" r="r" b="b"/>
                <a:pathLst>
                  <a:path w="159" h="159">
                    <a:moveTo>
                      <a:pt x="0" y="158"/>
                    </a:moveTo>
                    <a:cubicBezTo>
                      <a:pt x="53" y="105"/>
                      <a:pt x="106" y="52"/>
                      <a:pt x="158"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51" name="Freeform 3">
                <a:extLst>
                  <a:ext uri="{FF2B5EF4-FFF2-40B4-BE49-F238E27FC236}">
                    <a16:creationId xmlns:a16="http://schemas.microsoft.com/office/drawing/2014/main" id="{D698C9D3-AABB-C14B-BD5C-79FD946713A0}"/>
                  </a:ext>
                </a:extLst>
              </p:cNvPr>
              <p:cNvSpPr>
                <a:spLocks noChangeArrowheads="1"/>
              </p:cNvSpPr>
              <p:nvPr/>
            </p:nvSpPr>
            <p:spPr bwMode="auto">
              <a:xfrm>
                <a:off x="8868326" y="992277"/>
                <a:ext cx="107106" cy="107106"/>
              </a:xfrm>
              <a:custGeom>
                <a:avLst/>
                <a:gdLst>
                  <a:gd name="T0" fmla="*/ 82 w 166"/>
                  <a:gd name="T1" fmla="*/ 0 h 166"/>
                  <a:gd name="T2" fmla="*/ 21 w 166"/>
                  <a:gd name="T3" fmla="*/ 20 h 166"/>
                  <a:gd name="T4" fmla="*/ 12 w 166"/>
                  <a:gd name="T5" fmla="*/ 58 h 166"/>
                  <a:gd name="T6" fmla="*/ 107 w 166"/>
                  <a:gd name="T7" fmla="*/ 153 h 166"/>
                  <a:gd name="T8" fmla="*/ 145 w 166"/>
                  <a:gd name="T9" fmla="*/ 144 h 166"/>
                  <a:gd name="T10" fmla="*/ 165 w 166"/>
                  <a:gd name="T11" fmla="*/ 83 h 166"/>
                </a:gdLst>
                <a:ahLst/>
                <a:cxnLst>
                  <a:cxn ang="0">
                    <a:pos x="T0" y="T1"/>
                  </a:cxn>
                  <a:cxn ang="0">
                    <a:pos x="T2" y="T3"/>
                  </a:cxn>
                  <a:cxn ang="0">
                    <a:pos x="T4" y="T5"/>
                  </a:cxn>
                  <a:cxn ang="0">
                    <a:pos x="T6" y="T7"/>
                  </a:cxn>
                  <a:cxn ang="0">
                    <a:pos x="T8" y="T9"/>
                  </a:cxn>
                  <a:cxn ang="0">
                    <a:pos x="T10" y="T11"/>
                  </a:cxn>
                </a:cxnLst>
                <a:rect l="0" t="0" r="r" b="b"/>
                <a:pathLst>
                  <a:path w="166" h="166">
                    <a:moveTo>
                      <a:pt x="82" y="0"/>
                    </a:moveTo>
                    <a:cubicBezTo>
                      <a:pt x="61" y="7"/>
                      <a:pt x="41" y="14"/>
                      <a:pt x="21" y="20"/>
                    </a:cubicBezTo>
                    <a:cubicBezTo>
                      <a:pt x="5" y="26"/>
                      <a:pt x="0" y="46"/>
                      <a:pt x="12" y="58"/>
                    </a:cubicBezTo>
                    <a:cubicBezTo>
                      <a:pt x="43" y="90"/>
                      <a:pt x="75" y="122"/>
                      <a:pt x="107" y="153"/>
                    </a:cubicBezTo>
                    <a:cubicBezTo>
                      <a:pt x="119" y="165"/>
                      <a:pt x="139" y="160"/>
                      <a:pt x="145" y="144"/>
                    </a:cubicBezTo>
                    <a:cubicBezTo>
                      <a:pt x="151" y="124"/>
                      <a:pt x="158" y="104"/>
                      <a:pt x="165" y="8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52" name="Freeform 4">
                <a:extLst>
                  <a:ext uri="{FF2B5EF4-FFF2-40B4-BE49-F238E27FC236}">
                    <a16:creationId xmlns:a16="http://schemas.microsoft.com/office/drawing/2014/main" id="{3E3D9718-1A3B-B447-B18F-CA584BEE5B75}"/>
                  </a:ext>
                </a:extLst>
              </p:cNvPr>
              <p:cNvSpPr>
                <a:spLocks noChangeArrowheads="1"/>
              </p:cNvSpPr>
              <p:nvPr/>
            </p:nvSpPr>
            <p:spPr bwMode="auto">
              <a:xfrm>
                <a:off x="8885237" y="656865"/>
                <a:ext cx="425604" cy="425606"/>
              </a:xfrm>
              <a:custGeom>
                <a:avLst/>
                <a:gdLst>
                  <a:gd name="T0" fmla="*/ 338 w 665"/>
                  <a:gd name="T1" fmla="*/ 104 h 665"/>
                  <a:gd name="T2" fmla="*/ 611 w 665"/>
                  <a:gd name="T3" fmla="*/ 16 h 665"/>
                  <a:gd name="T4" fmla="*/ 648 w 665"/>
                  <a:gd name="T5" fmla="*/ 53 h 665"/>
                  <a:gd name="T6" fmla="*/ 560 w 665"/>
                  <a:gd name="T7" fmla="*/ 326 h 665"/>
                  <a:gd name="T8" fmla="*/ 240 w 665"/>
                  <a:gd name="T9" fmla="*/ 646 h 665"/>
                  <a:gd name="T10" fmla="*/ 177 w 665"/>
                  <a:gd name="T11" fmla="*/ 646 h 665"/>
                  <a:gd name="T12" fmla="*/ 18 w 665"/>
                  <a:gd name="T13" fmla="*/ 487 h 665"/>
                  <a:gd name="T14" fmla="*/ 18 w 665"/>
                  <a:gd name="T15" fmla="*/ 424 h 665"/>
                  <a:gd name="T16" fmla="*/ 338 w 665"/>
                  <a:gd name="T17" fmla="*/ 104 h 6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5" h="665">
                    <a:moveTo>
                      <a:pt x="338" y="104"/>
                    </a:moveTo>
                    <a:cubicBezTo>
                      <a:pt x="412" y="29"/>
                      <a:pt x="515" y="0"/>
                      <a:pt x="611" y="16"/>
                    </a:cubicBezTo>
                    <a:cubicBezTo>
                      <a:pt x="630" y="19"/>
                      <a:pt x="645" y="34"/>
                      <a:pt x="648" y="53"/>
                    </a:cubicBezTo>
                    <a:cubicBezTo>
                      <a:pt x="664" y="149"/>
                      <a:pt x="635" y="252"/>
                      <a:pt x="560" y="326"/>
                    </a:cubicBezTo>
                    <a:cubicBezTo>
                      <a:pt x="453" y="432"/>
                      <a:pt x="346" y="539"/>
                      <a:pt x="240" y="646"/>
                    </a:cubicBezTo>
                    <a:cubicBezTo>
                      <a:pt x="223" y="664"/>
                      <a:pt x="194" y="664"/>
                      <a:pt x="177" y="646"/>
                    </a:cubicBezTo>
                    <a:cubicBezTo>
                      <a:pt x="124" y="593"/>
                      <a:pt x="71" y="540"/>
                      <a:pt x="18" y="487"/>
                    </a:cubicBezTo>
                    <a:cubicBezTo>
                      <a:pt x="0" y="470"/>
                      <a:pt x="0" y="441"/>
                      <a:pt x="18" y="424"/>
                    </a:cubicBezTo>
                    <a:cubicBezTo>
                      <a:pt x="125" y="318"/>
                      <a:pt x="232" y="211"/>
                      <a:pt x="338" y="10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53" name="Freeform 7">
                <a:extLst>
                  <a:ext uri="{FF2B5EF4-FFF2-40B4-BE49-F238E27FC236}">
                    <a16:creationId xmlns:a16="http://schemas.microsoft.com/office/drawing/2014/main" id="{708A7A59-7D43-2048-81BE-489A50396402}"/>
                  </a:ext>
                </a:extLst>
              </p:cNvPr>
              <p:cNvSpPr>
                <a:spLocks noChangeArrowheads="1"/>
              </p:cNvSpPr>
              <p:nvPr/>
            </p:nvSpPr>
            <p:spPr bwMode="auto">
              <a:xfrm>
                <a:off x="9057170" y="887989"/>
                <a:ext cx="163477" cy="262129"/>
              </a:xfrm>
              <a:custGeom>
                <a:avLst/>
                <a:gdLst>
                  <a:gd name="T0" fmla="*/ 0 w 254"/>
                  <a:gd name="T1" fmla="*/ 253 h 408"/>
                  <a:gd name="T2" fmla="*/ 132 w 254"/>
                  <a:gd name="T3" fmla="*/ 386 h 408"/>
                  <a:gd name="T4" fmla="*/ 193 w 254"/>
                  <a:gd name="T5" fmla="*/ 399 h 408"/>
                  <a:gd name="T6" fmla="*/ 228 w 254"/>
                  <a:gd name="T7" fmla="*/ 347 h 408"/>
                  <a:gd name="T8" fmla="*/ 226 w 254"/>
                  <a:gd name="T9" fmla="*/ 63 h 408"/>
                  <a:gd name="T10" fmla="*/ 253 w 254"/>
                  <a:gd name="T11" fmla="*/ 0 h 408"/>
                </a:gdLst>
                <a:ahLst/>
                <a:cxnLst>
                  <a:cxn ang="0">
                    <a:pos x="T0" y="T1"/>
                  </a:cxn>
                  <a:cxn ang="0">
                    <a:pos x="T2" y="T3"/>
                  </a:cxn>
                  <a:cxn ang="0">
                    <a:pos x="T4" y="T5"/>
                  </a:cxn>
                  <a:cxn ang="0">
                    <a:pos x="T6" y="T7"/>
                  </a:cxn>
                  <a:cxn ang="0">
                    <a:pos x="T8" y="T9"/>
                  </a:cxn>
                  <a:cxn ang="0">
                    <a:pos x="T10" y="T11"/>
                  </a:cxn>
                </a:cxnLst>
                <a:rect l="0" t="0" r="r" b="b"/>
                <a:pathLst>
                  <a:path w="254" h="408">
                    <a:moveTo>
                      <a:pt x="0" y="253"/>
                    </a:moveTo>
                    <a:cubicBezTo>
                      <a:pt x="44" y="298"/>
                      <a:pt x="88" y="342"/>
                      <a:pt x="132" y="386"/>
                    </a:cubicBezTo>
                    <a:cubicBezTo>
                      <a:pt x="148" y="403"/>
                      <a:pt x="172" y="407"/>
                      <a:pt x="193" y="399"/>
                    </a:cubicBezTo>
                    <a:cubicBezTo>
                      <a:pt x="214" y="390"/>
                      <a:pt x="228" y="369"/>
                      <a:pt x="228" y="347"/>
                    </a:cubicBezTo>
                    <a:cubicBezTo>
                      <a:pt x="228" y="253"/>
                      <a:pt x="227" y="158"/>
                      <a:pt x="226" y="63"/>
                    </a:cubicBezTo>
                    <a:cubicBezTo>
                      <a:pt x="226" y="39"/>
                      <a:pt x="236" y="17"/>
                      <a:pt x="253"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54" name="Freeform 8">
                <a:extLst>
                  <a:ext uri="{FF2B5EF4-FFF2-40B4-BE49-F238E27FC236}">
                    <a16:creationId xmlns:a16="http://schemas.microsoft.com/office/drawing/2014/main" id="{279D0A9E-4DEB-524E-9A0E-AE24BD804A08}"/>
                  </a:ext>
                </a:extLst>
              </p:cNvPr>
              <p:cNvSpPr>
                <a:spLocks noChangeArrowheads="1"/>
              </p:cNvSpPr>
              <p:nvPr/>
            </p:nvSpPr>
            <p:spPr bwMode="auto">
              <a:xfrm>
                <a:off x="8817591" y="747060"/>
                <a:ext cx="262127" cy="163477"/>
              </a:xfrm>
              <a:custGeom>
                <a:avLst/>
                <a:gdLst>
                  <a:gd name="T0" fmla="*/ 154 w 408"/>
                  <a:gd name="T1" fmla="*/ 254 h 255"/>
                  <a:gd name="T2" fmla="*/ 21 w 408"/>
                  <a:gd name="T3" fmla="*/ 121 h 255"/>
                  <a:gd name="T4" fmla="*/ 8 w 408"/>
                  <a:gd name="T5" fmla="*/ 60 h 255"/>
                  <a:gd name="T6" fmla="*/ 60 w 408"/>
                  <a:gd name="T7" fmla="*/ 25 h 255"/>
                  <a:gd name="T8" fmla="*/ 344 w 408"/>
                  <a:gd name="T9" fmla="*/ 26 h 255"/>
                  <a:gd name="T10" fmla="*/ 407 w 408"/>
                  <a:gd name="T11" fmla="*/ 0 h 255"/>
                </a:gdLst>
                <a:ahLst/>
                <a:cxnLst>
                  <a:cxn ang="0">
                    <a:pos x="T0" y="T1"/>
                  </a:cxn>
                  <a:cxn ang="0">
                    <a:pos x="T2" y="T3"/>
                  </a:cxn>
                  <a:cxn ang="0">
                    <a:pos x="T4" y="T5"/>
                  </a:cxn>
                  <a:cxn ang="0">
                    <a:pos x="T6" y="T7"/>
                  </a:cxn>
                  <a:cxn ang="0">
                    <a:pos x="T8" y="T9"/>
                  </a:cxn>
                  <a:cxn ang="0">
                    <a:pos x="T10" y="T11"/>
                  </a:cxn>
                </a:cxnLst>
                <a:rect l="0" t="0" r="r" b="b"/>
                <a:pathLst>
                  <a:path w="408" h="255">
                    <a:moveTo>
                      <a:pt x="154" y="254"/>
                    </a:moveTo>
                    <a:cubicBezTo>
                      <a:pt x="109" y="209"/>
                      <a:pt x="65" y="165"/>
                      <a:pt x="21" y="121"/>
                    </a:cubicBezTo>
                    <a:cubicBezTo>
                      <a:pt x="4" y="105"/>
                      <a:pt x="0" y="81"/>
                      <a:pt x="8" y="60"/>
                    </a:cubicBezTo>
                    <a:cubicBezTo>
                      <a:pt x="17" y="39"/>
                      <a:pt x="38" y="25"/>
                      <a:pt x="60" y="25"/>
                    </a:cubicBezTo>
                    <a:cubicBezTo>
                      <a:pt x="154" y="25"/>
                      <a:pt x="249" y="25"/>
                      <a:pt x="344" y="26"/>
                    </a:cubicBezTo>
                    <a:cubicBezTo>
                      <a:pt x="368" y="27"/>
                      <a:pt x="391" y="17"/>
                      <a:pt x="407"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55" name="Freeform 9">
                <a:extLst>
                  <a:ext uri="{FF2B5EF4-FFF2-40B4-BE49-F238E27FC236}">
                    <a16:creationId xmlns:a16="http://schemas.microsoft.com/office/drawing/2014/main" id="{F053D9AA-155C-9549-9E47-C25816835D8F}"/>
                  </a:ext>
                </a:extLst>
              </p:cNvPr>
              <p:cNvSpPr>
                <a:spLocks noChangeArrowheads="1"/>
              </p:cNvSpPr>
              <p:nvPr/>
            </p:nvSpPr>
            <p:spPr bwMode="auto">
              <a:xfrm>
                <a:off x="9121998" y="735786"/>
                <a:ext cx="109924" cy="109925"/>
              </a:xfrm>
              <a:custGeom>
                <a:avLst/>
                <a:gdLst>
                  <a:gd name="T0" fmla="*/ 131 w 173"/>
                  <a:gd name="T1" fmla="*/ 168 h 173"/>
                  <a:gd name="T2" fmla="*/ 139 w 173"/>
                  <a:gd name="T3" fmla="*/ 33 h 173"/>
                  <a:gd name="T4" fmla="*/ 4 w 173"/>
                  <a:gd name="T5" fmla="*/ 41 h 173"/>
                  <a:gd name="T6" fmla="*/ 4 w 173"/>
                  <a:gd name="T7" fmla="*/ 57 h 173"/>
                  <a:gd name="T8" fmla="*/ 115 w 173"/>
                  <a:gd name="T9" fmla="*/ 168 h 173"/>
                  <a:gd name="T10" fmla="*/ 131 w 173"/>
                  <a:gd name="T11" fmla="*/ 168 h 173"/>
                </a:gdLst>
                <a:ahLst/>
                <a:cxnLst>
                  <a:cxn ang="0">
                    <a:pos x="T0" y="T1"/>
                  </a:cxn>
                  <a:cxn ang="0">
                    <a:pos x="T2" y="T3"/>
                  </a:cxn>
                  <a:cxn ang="0">
                    <a:pos x="T4" y="T5"/>
                  </a:cxn>
                  <a:cxn ang="0">
                    <a:pos x="T6" y="T7"/>
                  </a:cxn>
                  <a:cxn ang="0">
                    <a:pos x="T8" y="T9"/>
                  </a:cxn>
                  <a:cxn ang="0">
                    <a:pos x="T10" y="T11"/>
                  </a:cxn>
                </a:cxnLst>
                <a:rect l="0" t="0" r="r" b="b"/>
                <a:pathLst>
                  <a:path w="173" h="173">
                    <a:moveTo>
                      <a:pt x="131" y="168"/>
                    </a:moveTo>
                    <a:cubicBezTo>
                      <a:pt x="167" y="125"/>
                      <a:pt x="172" y="66"/>
                      <a:pt x="139" y="33"/>
                    </a:cubicBezTo>
                    <a:cubicBezTo>
                      <a:pt x="106" y="0"/>
                      <a:pt x="47" y="5"/>
                      <a:pt x="4" y="41"/>
                    </a:cubicBezTo>
                    <a:cubicBezTo>
                      <a:pt x="0" y="45"/>
                      <a:pt x="0" y="53"/>
                      <a:pt x="4" y="57"/>
                    </a:cubicBezTo>
                    <a:cubicBezTo>
                      <a:pt x="41" y="94"/>
                      <a:pt x="78" y="131"/>
                      <a:pt x="115" y="168"/>
                    </a:cubicBezTo>
                    <a:cubicBezTo>
                      <a:pt x="119" y="172"/>
                      <a:pt x="126" y="172"/>
                      <a:pt x="131" y="16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grpSp>
        <p:sp>
          <p:nvSpPr>
            <p:cNvPr id="147" name="Arc 146">
              <a:extLst>
                <a:ext uri="{FF2B5EF4-FFF2-40B4-BE49-F238E27FC236}">
                  <a16:creationId xmlns:a16="http://schemas.microsoft.com/office/drawing/2014/main" id="{D8AA42E1-D9AC-0A4C-A405-2EAA5EDEA31B}"/>
                </a:ext>
              </a:extLst>
            </p:cNvPr>
            <p:cNvSpPr/>
            <p:nvPr/>
          </p:nvSpPr>
          <p:spPr>
            <a:xfrm>
              <a:off x="8332470" y="551909"/>
              <a:ext cx="422695" cy="181155"/>
            </a:xfrm>
            <a:prstGeom prst="arc">
              <a:avLst>
                <a:gd name="adj1" fmla="val 20298633"/>
                <a:gd name="adj2" fmla="val 12222224"/>
              </a:avLst>
            </a:pr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158" name="Group 157">
            <a:extLst>
              <a:ext uri="{FF2B5EF4-FFF2-40B4-BE49-F238E27FC236}">
                <a16:creationId xmlns:a16="http://schemas.microsoft.com/office/drawing/2014/main" id="{04704ADC-028C-834F-961D-6D965520119A}"/>
              </a:ext>
            </a:extLst>
          </p:cNvPr>
          <p:cNvGrpSpPr/>
          <p:nvPr/>
        </p:nvGrpSpPr>
        <p:grpSpPr>
          <a:xfrm>
            <a:off x="5364166" y="4417745"/>
            <a:ext cx="403134" cy="403133"/>
            <a:chOff x="2892949" y="5573813"/>
            <a:chExt cx="504198" cy="504198"/>
          </a:xfrm>
        </p:grpSpPr>
        <p:sp>
          <p:nvSpPr>
            <p:cNvPr id="159" name="Freeform 117">
              <a:extLst>
                <a:ext uri="{FF2B5EF4-FFF2-40B4-BE49-F238E27FC236}">
                  <a16:creationId xmlns:a16="http://schemas.microsoft.com/office/drawing/2014/main" id="{8A03E55F-7AE7-884E-9B66-23DEC9F60647}"/>
                </a:ext>
              </a:extLst>
            </p:cNvPr>
            <p:cNvSpPr>
              <a:spLocks noChangeArrowheads="1"/>
            </p:cNvSpPr>
            <p:nvPr/>
          </p:nvSpPr>
          <p:spPr bwMode="auto">
            <a:xfrm>
              <a:off x="2892949" y="5573813"/>
              <a:ext cx="504198" cy="504198"/>
            </a:xfrm>
            <a:custGeom>
              <a:avLst/>
              <a:gdLst>
                <a:gd name="T0" fmla="*/ 1129 w 1130"/>
                <a:gd name="T1" fmla="*/ 564 h 1130"/>
                <a:gd name="T2" fmla="*/ 1053 w 1130"/>
                <a:gd name="T3" fmla="*/ 846 h 1130"/>
                <a:gd name="T4" fmla="*/ 847 w 1130"/>
                <a:gd name="T5" fmla="*/ 1053 h 1130"/>
                <a:gd name="T6" fmla="*/ 565 w 1130"/>
                <a:gd name="T7" fmla="*/ 1129 h 1130"/>
                <a:gd name="T8" fmla="*/ 282 w 1130"/>
                <a:gd name="T9" fmla="*/ 1053 h 1130"/>
                <a:gd name="T10" fmla="*/ 76 w 1130"/>
                <a:gd name="T11" fmla="*/ 846 h 1130"/>
                <a:gd name="T12" fmla="*/ 0 w 1130"/>
                <a:gd name="T13" fmla="*/ 564 h 1130"/>
                <a:gd name="T14" fmla="*/ 76 w 1130"/>
                <a:gd name="T15" fmla="*/ 282 h 1130"/>
                <a:gd name="T16" fmla="*/ 282 w 1130"/>
                <a:gd name="T17" fmla="*/ 75 h 1130"/>
                <a:gd name="T18" fmla="*/ 565 w 1130"/>
                <a:gd name="T19" fmla="*/ 0 h 1130"/>
                <a:gd name="T20" fmla="*/ 847 w 1130"/>
                <a:gd name="T21" fmla="*/ 75 h 1130"/>
                <a:gd name="T22" fmla="*/ 1053 w 1130"/>
                <a:gd name="T23" fmla="*/ 282 h 1130"/>
                <a:gd name="T24" fmla="*/ 1129 w 1130"/>
                <a:gd name="T25" fmla="*/ 564 h 1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0" h="1130">
                  <a:moveTo>
                    <a:pt x="1129" y="564"/>
                  </a:moveTo>
                  <a:cubicBezTo>
                    <a:pt x="1129" y="668"/>
                    <a:pt x="1105" y="756"/>
                    <a:pt x="1053" y="846"/>
                  </a:cubicBezTo>
                  <a:cubicBezTo>
                    <a:pt x="1001" y="936"/>
                    <a:pt x="937" y="1001"/>
                    <a:pt x="847" y="1053"/>
                  </a:cubicBezTo>
                  <a:cubicBezTo>
                    <a:pt x="757" y="1105"/>
                    <a:pt x="669" y="1129"/>
                    <a:pt x="565" y="1129"/>
                  </a:cubicBezTo>
                  <a:cubicBezTo>
                    <a:pt x="461" y="1129"/>
                    <a:pt x="372" y="1105"/>
                    <a:pt x="282" y="1053"/>
                  </a:cubicBezTo>
                  <a:cubicBezTo>
                    <a:pt x="192" y="1001"/>
                    <a:pt x="128" y="936"/>
                    <a:pt x="76" y="846"/>
                  </a:cubicBezTo>
                  <a:cubicBezTo>
                    <a:pt x="24" y="756"/>
                    <a:pt x="0" y="668"/>
                    <a:pt x="0" y="564"/>
                  </a:cubicBezTo>
                  <a:cubicBezTo>
                    <a:pt x="0" y="460"/>
                    <a:pt x="24" y="372"/>
                    <a:pt x="76" y="282"/>
                  </a:cubicBezTo>
                  <a:cubicBezTo>
                    <a:pt x="128" y="192"/>
                    <a:pt x="192" y="127"/>
                    <a:pt x="282" y="75"/>
                  </a:cubicBezTo>
                  <a:cubicBezTo>
                    <a:pt x="372" y="24"/>
                    <a:pt x="461" y="0"/>
                    <a:pt x="565" y="0"/>
                  </a:cubicBezTo>
                  <a:cubicBezTo>
                    <a:pt x="669" y="0"/>
                    <a:pt x="757" y="24"/>
                    <a:pt x="847" y="75"/>
                  </a:cubicBezTo>
                  <a:cubicBezTo>
                    <a:pt x="937" y="127"/>
                    <a:pt x="1001" y="192"/>
                    <a:pt x="1053" y="282"/>
                  </a:cubicBezTo>
                  <a:cubicBezTo>
                    <a:pt x="1105" y="372"/>
                    <a:pt x="1129" y="460"/>
                    <a:pt x="1129" y="56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60" name="Freeform 118">
              <a:extLst>
                <a:ext uri="{FF2B5EF4-FFF2-40B4-BE49-F238E27FC236}">
                  <a16:creationId xmlns:a16="http://schemas.microsoft.com/office/drawing/2014/main" id="{C8B5B390-B423-9C46-BC40-AB5818917B6B}"/>
                </a:ext>
              </a:extLst>
            </p:cNvPr>
            <p:cNvSpPr>
              <a:spLocks noChangeArrowheads="1"/>
            </p:cNvSpPr>
            <p:nvPr/>
          </p:nvSpPr>
          <p:spPr bwMode="auto">
            <a:xfrm>
              <a:off x="2944157" y="5625020"/>
              <a:ext cx="403753" cy="403752"/>
            </a:xfrm>
            <a:custGeom>
              <a:avLst/>
              <a:gdLst>
                <a:gd name="T0" fmla="*/ 903 w 904"/>
                <a:gd name="T1" fmla="*/ 451 h 904"/>
                <a:gd name="T2" fmla="*/ 843 w 904"/>
                <a:gd name="T3" fmla="*/ 677 h 904"/>
                <a:gd name="T4" fmla="*/ 677 w 904"/>
                <a:gd name="T5" fmla="*/ 842 h 904"/>
                <a:gd name="T6" fmla="*/ 452 w 904"/>
                <a:gd name="T7" fmla="*/ 903 h 904"/>
                <a:gd name="T8" fmla="*/ 226 w 904"/>
                <a:gd name="T9" fmla="*/ 842 h 904"/>
                <a:gd name="T10" fmla="*/ 61 w 904"/>
                <a:gd name="T11" fmla="*/ 677 h 904"/>
                <a:gd name="T12" fmla="*/ 0 w 904"/>
                <a:gd name="T13" fmla="*/ 451 h 904"/>
                <a:gd name="T14" fmla="*/ 61 w 904"/>
                <a:gd name="T15" fmla="*/ 226 h 904"/>
                <a:gd name="T16" fmla="*/ 226 w 904"/>
                <a:gd name="T17" fmla="*/ 60 h 904"/>
                <a:gd name="T18" fmla="*/ 452 w 904"/>
                <a:gd name="T19" fmla="*/ 0 h 904"/>
                <a:gd name="T20" fmla="*/ 677 w 904"/>
                <a:gd name="T21" fmla="*/ 60 h 904"/>
                <a:gd name="T22" fmla="*/ 843 w 904"/>
                <a:gd name="T23" fmla="*/ 226 h 904"/>
                <a:gd name="T24" fmla="*/ 903 w 904"/>
                <a:gd name="T25" fmla="*/ 451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4" h="904">
                  <a:moveTo>
                    <a:pt x="903" y="451"/>
                  </a:moveTo>
                  <a:cubicBezTo>
                    <a:pt x="903" y="534"/>
                    <a:pt x="884" y="605"/>
                    <a:pt x="843" y="677"/>
                  </a:cubicBezTo>
                  <a:cubicBezTo>
                    <a:pt x="801" y="749"/>
                    <a:pt x="749" y="801"/>
                    <a:pt x="677" y="842"/>
                  </a:cubicBezTo>
                  <a:cubicBezTo>
                    <a:pt x="605" y="884"/>
                    <a:pt x="535" y="903"/>
                    <a:pt x="452" y="903"/>
                  </a:cubicBezTo>
                  <a:cubicBezTo>
                    <a:pt x="369" y="903"/>
                    <a:pt x="298" y="884"/>
                    <a:pt x="226" y="842"/>
                  </a:cubicBezTo>
                  <a:cubicBezTo>
                    <a:pt x="154" y="801"/>
                    <a:pt x="102" y="749"/>
                    <a:pt x="61" y="677"/>
                  </a:cubicBezTo>
                  <a:cubicBezTo>
                    <a:pt x="19" y="605"/>
                    <a:pt x="0" y="534"/>
                    <a:pt x="0" y="451"/>
                  </a:cubicBezTo>
                  <a:cubicBezTo>
                    <a:pt x="0" y="368"/>
                    <a:pt x="19" y="298"/>
                    <a:pt x="61" y="226"/>
                  </a:cubicBezTo>
                  <a:cubicBezTo>
                    <a:pt x="102" y="154"/>
                    <a:pt x="154" y="102"/>
                    <a:pt x="226" y="60"/>
                  </a:cubicBezTo>
                  <a:cubicBezTo>
                    <a:pt x="298" y="19"/>
                    <a:pt x="369" y="0"/>
                    <a:pt x="452" y="0"/>
                  </a:cubicBezTo>
                  <a:cubicBezTo>
                    <a:pt x="535" y="0"/>
                    <a:pt x="605" y="19"/>
                    <a:pt x="677" y="60"/>
                  </a:cubicBezTo>
                  <a:cubicBezTo>
                    <a:pt x="749" y="102"/>
                    <a:pt x="801" y="154"/>
                    <a:pt x="843" y="226"/>
                  </a:cubicBezTo>
                  <a:cubicBezTo>
                    <a:pt x="884" y="298"/>
                    <a:pt x="903" y="368"/>
                    <a:pt x="903" y="45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61" name="Freeform 119">
              <a:extLst>
                <a:ext uri="{FF2B5EF4-FFF2-40B4-BE49-F238E27FC236}">
                  <a16:creationId xmlns:a16="http://schemas.microsoft.com/office/drawing/2014/main" id="{88E25790-C220-774F-AFDD-B2BD2AEBE10E}"/>
                </a:ext>
              </a:extLst>
            </p:cNvPr>
            <p:cNvSpPr>
              <a:spLocks noChangeArrowheads="1"/>
            </p:cNvSpPr>
            <p:nvPr/>
          </p:nvSpPr>
          <p:spPr bwMode="auto">
            <a:xfrm>
              <a:off x="3145049" y="5688045"/>
              <a:ext cx="1970" cy="39390"/>
            </a:xfrm>
            <a:custGeom>
              <a:avLst/>
              <a:gdLst>
                <a:gd name="T0" fmla="*/ 0 w 1"/>
                <a:gd name="T1" fmla="*/ 85 h 86"/>
                <a:gd name="T2" fmla="*/ 0 w 1"/>
                <a:gd name="T3" fmla="*/ 0 h 86"/>
              </a:gdLst>
              <a:ahLst/>
              <a:cxnLst>
                <a:cxn ang="0">
                  <a:pos x="T0" y="T1"/>
                </a:cxn>
                <a:cxn ang="0">
                  <a:pos x="T2" y="T3"/>
                </a:cxn>
              </a:cxnLst>
              <a:rect l="0" t="0" r="r" b="b"/>
              <a:pathLst>
                <a:path w="1" h="86">
                  <a:moveTo>
                    <a:pt x="0" y="85"/>
                  </a:moveTo>
                  <a:cubicBezTo>
                    <a:pt x="0" y="57"/>
                    <a:pt x="0" y="2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62" name="Freeform 120">
              <a:extLst>
                <a:ext uri="{FF2B5EF4-FFF2-40B4-BE49-F238E27FC236}">
                  <a16:creationId xmlns:a16="http://schemas.microsoft.com/office/drawing/2014/main" id="{77C07ECF-3EB8-294A-A80F-097D86205247}"/>
                </a:ext>
              </a:extLst>
            </p:cNvPr>
            <p:cNvSpPr>
              <a:spLocks noChangeArrowheads="1"/>
            </p:cNvSpPr>
            <p:nvPr/>
          </p:nvSpPr>
          <p:spPr bwMode="auto">
            <a:xfrm>
              <a:off x="3145049" y="5926357"/>
              <a:ext cx="1970" cy="39390"/>
            </a:xfrm>
            <a:custGeom>
              <a:avLst/>
              <a:gdLst>
                <a:gd name="T0" fmla="*/ 0 w 1"/>
                <a:gd name="T1" fmla="*/ 85 h 86"/>
                <a:gd name="T2" fmla="*/ 0 w 1"/>
                <a:gd name="T3" fmla="*/ 0 h 86"/>
              </a:gdLst>
              <a:ahLst/>
              <a:cxnLst>
                <a:cxn ang="0">
                  <a:pos x="T0" y="T1"/>
                </a:cxn>
                <a:cxn ang="0">
                  <a:pos x="T2" y="T3"/>
                </a:cxn>
              </a:cxnLst>
              <a:rect l="0" t="0" r="r" b="b"/>
              <a:pathLst>
                <a:path w="1" h="86">
                  <a:moveTo>
                    <a:pt x="0" y="85"/>
                  </a:moveTo>
                  <a:cubicBezTo>
                    <a:pt x="0" y="57"/>
                    <a:pt x="0" y="2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63" name="Freeform 121">
              <a:extLst>
                <a:ext uri="{FF2B5EF4-FFF2-40B4-BE49-F238E27FC236}">
                  <a16:creationId xmlns:a16="http://schemas.microsoft.com/office/drawing/2014/main" id="{1FDE9626-A2B7-CD47-92B3-BF87CE589FAA}"/>
                </a:ext>
              </a:extLst>
            </p:cNvPr>
            <p:cNvSpPr>
              <a:spLocks noChangeArrowheads="1"/>
            </p:cNvSpPr>
            <p:nvPr/>
          </p:nvSpPr>
          <p:spPr bwMode="auto">
            <a:xfrm>
              <a:off x="3082024" y="5725466"/>
              <a:ext cx="126050" cy="202862"/>
            </a:xfrm>
            <a:custGeom>
              <a:avLst/>
              <a:gdLst>
                <a:gd name="T0" fmla="*/ 0 w 283"/>
                <a:gd name="T1" fmla="*/ 339 h 452"/>
                <a:gd name="T2" fmla="*/ 141 w 283"/>
                <a:gd name="T3" fmla="*/ 451 h 452"/>
                <a:gd name="T4" fmla="*/ 282 w 283"/>
                <a:gd name="T5" fmla="*/ 339 h 452"/>
                <a:gd name="T6" fmla="*/ 168 w 283"/>
                <a:gd name="T7" fmla="*/ 230 h 452"/>
                <a:gd name="T8" fmla="*/ 113 w 283"/>
                <a:gd name="T9" fmla="*/ 221 h 452"/>
                <a:gd name="T10" fmla="*/ 0 w 283"/>
                <a:gd name="T11" fmla="*/ 111 h 452"/>
                <a:gd name="T12" fmla="*/ 141 w 283"/>
                <a:gd name="T13" fmla="*/ 0 h 452"/>
                <a:gd name="T14" fmla="*/ 282 w 283"/>
                <a:gd name="T15" fmla="*/ 111 h 4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3" h="452">
                  <a:moveTo>
                    <a:pt x="0" y="339"/>
                  </a:moveTo>
                  <a:cubicBezTo>
                    <a:pt x="0" y="401"/>
                    <a:pt x="63" y="451"/>
                    <a:pt x="141" y="451"/>
                  </a:cubicBezTo>
                  <a:cubicBezTo>
                    <a:pt x="218" y="451"/>
                    <a:pt x="282" y="407"/>
                    <a:pt x="282" y="339"/>
                  </a:cubicBezTo>
                  <a:cubicBezTo>
                    <a:pt x="282" y="273"/>
                    <a:pt x="233" y="240"/>
                    <a:pt x="168" y="230"/>
                  </a:cubicBezTo>
                  <a:cubicBezTo>
                    <a:pt x="149" y="227"/>
                    <a:pt x="131" y="224"/>
                    <a:pt x="113" y="221"/>
                  </a:cubicBezTo>
                  <a:cubicBezTo>
                    <a:pt x="48" y="211"/>
                    <a:pt x="0" y="177"/>
                    <a:pt x="0" y="111"/>
                  </a:cubicBezTo>
                  <a:cubicBezTo>
                    <a:pt x="0" y="43"/>
                    <a:pt x="63" y="0"/>
                    <a:pt x="141" y="0"/>
                  </a:cubicBezTo>
                  <a:cubicBezTo>
                    <a:pt x="218" y="0"/>
                    <a:pt x="282" y="50"/>
                    <a:pt x="282" y="11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180" name="Group 179">
            <a:extLst>
              <a:ext uri="{FF2B5EF4-FFF2-40B4-BE49-F238E27FC236}">
                <a16:creationId xmlns:a16="http://schemas.microsoft.com/office/drawing/2014/main" id="{946A4816-785D-3145-B59A-11B5D8EABE4B}"/>
              </a:ext>
            </a:extLst>
          </p:cNvPr>
          <p:cNvGrpSpPr/>
          <p:nvPr/>
        </p:nvGrpSpPr>
        <p:grpSpPr>
          <a:xfrm>
            <a:off x="7783696" y="3372247"/>
            <a:ext cx="344133" cy="355132"/>
            <a:chOff x="3257550" y="4213225"/>
            <a:chExt cx="347663" cy="358775"/>
          </a:xfrm>
        </p:grpSpPr>
        <p:sp>
          <p:nvSpPr>
            <p:cNvPr id="181" name="Freeform 89">
              <a:extLst>
                <a:ext uri="{FF2B5EF4-FFF2-40B4-BE49-F238E27FC236}">
                  <a16:creationId xmlns:a16="http://schemas.microsoft.com/office/drawing/2014/main" id="{ABABA75D-F3FF-5442-B4E1-444A587694E4}"/>
                </a:ext>
              </a:extLst>
            </p:cNvPr>
            <p:cNvSpPr>
              <a:spLocks noChangeArrowheads="1"/>
            </p:cNvSpPr>
            <p:nvPr/>
          </p:nvSpPr>
          <p:spPr bwMode="auto">
            <a:xfrm>
              <a:off x="3257550" y="4448175"/>
              <a:ext cx="92075" cy="123825"/>
            </a:xfrm>
            <a:custGeom>
              <a:avLst/>
              <a:gdLst>
                <a:gd name="T0" fmla="*/ 23 w 255"/>
                <a:gd name="T1" fmla="*/ 199 h 344"/>
                <a:gd name="T2" fmla="*/ 0 w 255"/>
                <a:gd name="T3" fmla="*/ 127 h 344"/>
                <a:gd name="T4" fmla="*/ 127 w 255"/>
                <a:gd name="T5" fmla="*/ 0 h 344"/>
                <a:gd name="T6" fmla="*/ 254 w 255"/>
                <a:gd name="T7" fmla="*/ 127 h 344"/>
                <a:gd name="T8" fmla="*/ 231 w 255"/>
                <a:gd name="T9" fmla="*/ 199 h 344"/>
                <a:gd name="T10" fmla="*/ 133 w 255"/>
                <a:gd name="T11" fmla="*/ 340 h 344"/>
                <a:gd name="T12" fmla="*/ 127 w 255"/>
                <a:gd name="T13" fmla="*/ 343 h 344"/>
                <a:gd name="T14" fmla="*/ 122 w 255"/>
                <a:gd name="T15" fmla="*/ 340 h 344"/>
                <a:gd name="T16" fmla="*/ 23 w 255"/>
                <a:gd name="T17" fmla="*/ 199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 h="344">
                  <a:moveTo>
                    <a:pt x="23" y="199"/>
                  </a:moveTo>
                  <a:cubicBezTo>
                    <a:pt x="8" y="178"/>
                    <a:pt x="0" y="153"/>
                    <a:pt x="0" y="127"/>
                  </a:cubicBezTo>
                  <a:cubicBezTo>
                    <a:pt x="0" y="57"/>
                    <a:pt x="57" y="0"/>
                    <a:pt x="127" y="0"/>
                  </a:cubicBezTo>
                  <a:cubicBezTo>
                    <a:pt x="197" y="0"/>
                    <a:pt x="254" y="57"/>
                    <a:pt x="254" y="127"/>
                  </a:cubicBezTo>
                  <a:cubicBezTo>
                    <a:pt x="254" y="153"/>
                    <a:pt x="246" y="178"/>
                    <a:pt x="231" y="199"/>
                  </a:cubicBezTo>
                  <a:cubicBezTo>
                    <a:pt x="198" y="246"/>
                    <a:pt x="166" y="293"/>
                    <a:pt x="133" y="340"/>
                  </a:cubicBezTo>
                  <a:cubicBezTo>
                    <a:pt x="132" y="342"/>
                    <a:pt x="130" y="343"/>
                    <a:pt x="127" y="343"/>
                  </a:cubicBezTo>
                  <a:cubicBezTo>
                    <a:pt x="125" y="343"/>
                    <a:pt x="123" y="342"/>
                    <a:pt x="122" y="340"/>
                  </a:cubicBezTo>
                  <a:cubicBezTo>
                    <a:pt x="89" y="293"/>
                    <a:pt x="56" y="246"/>
                    <a:pt x="23" y="19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82" name="Freeform 90">
              <a:extLst>
                <a:ext uri="{FF2B5EF4-FFF2-40B4-BE49-F238E27FC236}">
                  <a16:creationId xmlns:a16="http://schemas.microsoft.com/office/drawing/2014/main" id="{96DAB376-3E81-5246-B9EB-F57369B6F0FC}"/>
                </a:ext>
              </a:extLst>
            </p:cNvPr>
            <p:cNvSpPr>
              <a:spLocks noChangeArrowheads="1"/>
            </p:cNvSpPr>
            <p:nvPr/>
          </p:nvSpPr>
          <p:spPr bwMode="auto">
            <a:xfrm>
              <a:off x="3543300" y="4213225"/>
              <a:ext cx="61913" cy="61913"/>
            </a:xfrm>
            <a:custGeom>
              <a:avLst/>
              <a:gdLst>
                <a:gd name="T0" fmla="*/ 0 w 170"/>
                <a:gd name="T1" fmla="*/ 0 h 170"/>
                <a:gd name="T2" fmla="*/ 169 w 170"/>
                <a:gd name="T3" fmla="*/ 169 h 170"/>
              </a:gdLst>
              <a:ahLst/>
              <a:cxnLst>
                <a:cxn ang="0">
                  <a:pos x="T0" y="T1"/>
                </a:cxn>
                <a:cxn ang="0">
                  <a:pos x="T2" y="T3"/>
                </a:cxn>
              </a:cxnLst>
              <a:rect l="0" t="0" r="r" b="b"/>
              <a:pathLst>
                <a:path w="170" h="170">
                  <a:moveTo>
                    <a:pt x="0" y="0"/>
                  </a:moveTo>
                  <a:cubicBezTo>
                    <a:pt x="56" y="57"/>
                    <a:pt x="112" y="113"/>
                    <a:pt x="169" y="16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83" name="Freeform 91">
              <a:extLst>
                <a:ext uri="{FF2B5EF4-FFF2-40B4-BE49-F238E27FC236}">
                  <a16:creationId xmlns:a16="http://schemas.microsoft.com/office/drawing/2014/main" id="{3B7B38C6-946E-CE4C-BADF-4A2FA060AEF2}"/>
                </a:ext>
              </a:extLst>
            </p:cNvPr>
            <p:cNvSpPr>
              <a:spLocks noChangeArrowheads="1"/>
            </p:cNvSpPr>
            <p:nvPr/>
          </p:nvSpPr>
          <p:spPr bwMode="auto">
            <a:xfrm>
              <a:off x="3543300" y="4213225"/>
              <a:ext cx="61913" cy="61913"/>
            </a:xfrm>
            <a:custGeom>
              <a:avLst/>
              <a:gdLst>
                <a:gd name="T0" fmla="*/ 169 w 170"/>
                <a:gd name="T1" fmla="*/ 0 h 170"/>
                <a:gd name="T2" fmla="*/ 0 w 170"/>
                <a:gd name="T3" fmla="*/ 169 h 170"/>
              </a:gdLst>
              <a:ahLst/>
              <a:cxnLst>
                <a:cxn ang="0">
                  <a:pos x="T0" y="T1"/>
                </a:cxn>
                <a:cxn ang="0">
                  <a:pos x="T2" y="T3"/>
                </a:cxn>
              </a:cxnLst>
              <a:rect l="0" t="0" r="r" b="b"/>
              <a:pathLst>
                <a:path w="170" h="170">
                  <a:moveTo>
                    <a:pt x="169" y="0"/>
                  </a:moveTo>
                  <a:cubicBezTo>
                    <a:pt x="112" y="57"/>
                    <a:pt x="56" y="113"/>
                    <a:pt x="0" y="16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84" name="Freeform 92">
              <a:extLst>
                <a:ext uri="{FF2B5EF4-FFF2-40B4-BE49-F238E27FC236}">
                  <a16:creationId xmlns:a16="http://schemas.microsoft.com/office/drawing/2014/main" id="{65392EB6-527C-D847-A60F-D1B2A3AA7687}"/>
                </a:ext>
              </a:extLst>
            </p:cNvPr>
            <p:cNvSpPr>
              <a:spLocks noChangeArrowheads="1"/>
            </p:cNvSpPr>
            <p:nvPr/>
          </p:nvSpPr>
          <p:spPr bwMode="auto">
            <a:xfrm>
              <a:off x="3338513" y="4568825"/>
              <a:ext cx="7937"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85" name="Freeform 93">
              <a:extLst>
                <a:ext uri="{FF2B5EF4-FFF2-40B4-BE49-F238E27FC236}">
                  <a16:creationId xmlns:a16="http://schemas.microsoft.com/office/drawing/2014/main" id="{5BE1986F-3FDE-544D-AFDC-108DCF576AAC}"/>
                </a:ext>
              </a:extLst>
            </p:cNvPr>
            <p:cNvSpPr>
              <a:spLocks noChangeArrowheads="1"/>
            </p:cNvSpPr>
            <p:nvPr/>
          </p:nvSpPr>
          <p:spPr bwMode="auto">
            <a:xfrm>
              <a:off x="3373438" y="4568825"/>
              <a:ext cx="7937" cy="1588"/>
            </a:xfrm>
            <a:custGeom>
              <a:avLst/>
              <a:gdLst>
                <a:gd name="T0" fmla="*/ 0 w 23"/>
                <a:gd name="T1" fmla="*/ 0 h 1"/>
                <a:gd name="T2" fmla="*/ 22 w 23"/>
                <a:gd name="T3" fmla="*/ 0 h 1"/>
              </a:gdLst>
              <a:ahLst/>
              <a:cxnLst>
                <a:cxn ang="0">
                  <a:pos x="T0" y="T1"/>
                </a:cxn>
                <a:cxn ang="0">
                  <a:pos x="T2" y="T3"/>
                </a:cxn>
              </a:cxnLst>
              <a:rect l="0" t="0" r="r" b="b"/>
              <a:pathLst>
                <a:path w="23" h="1">
                  <a:moveTo>
                    <a:pt x="0" y="0"/>
                  </a:moveTo>
                  <a:cubicBezTo>
                    <a:pt x="7" y="0"/>
                    <a:pt x="15" y="0"/>
                    <a:pt x="22"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86" name="Freeform 94">
              <a:extLst>
                <a:ext uri="{FF2B5EF4-FFF2-40B4-BE49-F238E27FC236}">
                  <a16:creationId xmlns:a16="http://schemas.microsoft.com/office/drawing/2014/main" id="{B2CEDAE0-542F-014A-88AD-871D695B5B60}"/>
                </a:ext>
              </a:extLst>
            </p:cNvPr>
            <p:cNvSpPr>
              <a:spLocks noChangeArrowheads="1"/>
            </p:cNvSpPr>
            <p:nvPr/>
          </p:nvSpPr>
          <p:spPr bwMode="auto">
            <a:xfrm>
              <a:off x="3409950" y="4568825"/>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87" name="Freeform 95">
              <a:extLst>
                <a:ext uri="{FF2B5EF4-FFF2-40B4-BE49-F238E27FC236}">
                  <a16:creationId xmlns:a16="http://schemas.microsoft.com/office/drawing/2014/main" id="{469A501E-BB05-534A-94C7-5903B0E00817}"/>
                </a:ext>
              </a:extLst>
            </p:cNvPr>
            <p:cNvSpPr>
              <a:spLocks noChangeArrowheads="1"/>
            </p:cNvSpPr>
            <p:nvPr/>
          </p:nvSpPr>
          <p:spPr bwMode="auto">
            <a:xfrm>
              <a:off x="3444875" y="4568825"/>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88" name="Freeform 96">
              <a:extLst>
                <a:ext uri="{FF2B5EF4-FFF2-40B4-BE49-F238E27FC236}">
                  <a16:creationId xmlns:a16="http://schemas.microsoft.com/office/drawing/2014/main" id="{3166654A-1CD2-DE4C-ADF7-9A5AFF81BEEE}"/>
                </a:ext>
              </a:extLst>
            </p:cNvPr>
            <p:cNvSpPr>
              <a:spLocks noChangeArrowheads="1"/>
            </p:cNvSpPr>
            <p:nvPr/>
          </p:nvSpPr>
          <p:spPr bwMode="auto">
            <a:xfrm>
              <a:off x="3479800" y="4568825"/>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89" name="Freeform 97">
              <a:extLst>
                <a:ext uri="{FF2B5EF4-FFF2-40B4-BE49-F238E27FC236}">
                  <a16:creationId xmlns:a16="http://schemas.microsoft.com/office/drawing/2014/main" id="{F68FA99C-8FC9-3C4D-9D16-B98FA6FE8496}"/>
                </a:ext>
              </a:extLst>
            </p:cNvPr>
            <p:cNvSpPr>
              <a:spLocks noChangeArrowheads="1"/>
            </p:cNvSpPr>
            <p:nvPr/>
          </p:nvSpPr>
          <p:spPr bwMode="auto">
            <a:xfrm>
              <a:off x="3516313" y="4568825"/>
              <a:ext cx="7937"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90" name="Freeform 98">
              <a:extLst>
                <a:ext uri="{FF2B5EF4-FFF2-40B4-BE49-F238E27FC236}">
                  <a16:creationId xmlns:a16="http://schemas.microsoft.com/office/drawing/2014/main" id="{016959EC-9DBC-254A-9B18-CB23C585BCBE}"/>
                </a:ext>
              </a:extLst>
            </p:cNvPr>
            <p:cNvSpPr>
              <a:spLocks noChangeArrowheads="1"/>
            </p:cNvSpPr>
            <p:nvPr/>
          </p:nvSpPr>
          <p:spPr bwMode="auto">
            <a:xfrm>
              <a:off x="3479800" y="4487863"/>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91" name="Freeform 99">
              <a:extLst>
                <a:ext uri="{FF2B5EF4-FFF2-40B4-BE49-F238E27FC236}">
                  <a16:creationId xmlns:a16="http://schemas.microsoft.com/office/drawing/2014/main" id="{6D99877D-36A5-8348-B813-84FFF8C1CD5C}"/>
                </a:ext>
              </a:extLst>
            </p:cNvPr>
            <p:cNvSpPr>
              <a:spLocks noChangeArrowheads="1"/>
            </p:cNvSpPr>
            <p:nvPr/>
          </p:nvSpPr>
          <p:spPr bwMode="auto">
            <a:xfrm>
              <a:off x="3516313" y="4487863"/>
              <a:ext cx="7937"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92" name="Freeform 100">
              <a:extLst>
                <a:ext uri="{FF2B5EF4-FFF2-40B4-BE49-F238E27FC236}">
                  <a16:creationId xmlns:a16="http://schemas.microsoft.com/office/drawing/2014/main" id="{F35A2E7C-6BCC-4343-9585-A37827C22B87}"/>
                </a:ext>
              </a:extLst>
            </p:cNvPr>
            <p:cNvSpPr>
              <a:spLocks noChangeArrowheads="1"/>
            </p:cNvSpPr>
            <p:nvPr/>
          </p:nvSpPr>
          <p:spPr bwMode="auto">
            <a:xfrm>
              <a:off x="3338513" y="4324350"/>
              <a:ext cx="7937"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93" name="Freeform 101">
              <a:extLst>
                <a:ext uri="{FF2B5EF4-FFF2-40B4-BE49-F238E27FC236}">
                  <a16:creationId xmlns:a16="http://schemas.microsoft.com/office/drawing/2014/main" id="{602CCE40-1480-C84D-9A7B-48135A4DE273}"/>
                </a:ext>
              </a:extLst>
            </p:cNvPr>
            <p:cNvSpPr>
              <a:spLocks noChangeArrowheads="1"/>
            </p:cNvSpPr>
            <p:nvPr/>
          </p:nvSpPr>
          <p:spPr bwMode="auto">
            <a:xfrm>
              <a:off x="3479800" y="4405313"/>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94" name="Freeform 102">
              <a:extLst>
                <a:ext uri="{FF2B5EF4-FFF2-40B4-BE49-F238E27FC236}">
                  <a16:creationId xmlns:a16="http://schemas.microsoft.com/office/drawing/2014/main" id="{B9DEB299-048D-3743-8D64-36B6D6888F29}"/>
                </a:ext>
              </a:extLst>
            </p:cNvPr>
            <p:cNvSpPr>
              <a:spLocks noChangeArrowheads="1"/>
            </p:cNvSpPr>
            <p:nvPr/>
          </p:nvSpPr>
          <p:spPr bwMode="auto">
            <a:xfrm>
              <a:off x="3516313" y="4405313"/>
              <a:ext cx="7937"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95" name="Freeform 103">
              <a:extLst>
                <a:ext uri="{FF2B5EF4-FFF2-40B4-BE49-F238E27FC236}">
                  <a16:creationId xmlns:a16="http://schemas.microsoft.com/office/drawing/2014/main" id="{24E3119D-B7EE-0E42-B3B1-7229D837FB37}"/>
                </a:ext>
              </a:extLst>
            </p:cNvPr>
            <p:cNvSpPr>
              <a:spLocks noChangeArrowheads="1"/>
            </p:cNvSpPr>
            <p:nvPr/>
          </p:nvSpPr>
          <p:spPr bwMode="auto">
            <a:xfrm>
              <a:off x="3373438" y="4324350"/>
              <a:ext cx="7937" cy="1588"/>
            </a:xfrm>
            <a:custGeom>
              <a:avLst/>
              <a:gdLst>
                <a:gd name="T0" fmla="*/ 0 w 23"/>
                <a:gd name="T1" fmla="*/ 0 h 1"/>
                <a:gd name="T2" fmla="*/ 22 w 23"/>
                <a:gd name="T3" fmla="*/ 0 h 1"/>
              </a:gdLst>
              <a:ahLst/>
              <a:cxnLst>
                <a:cxn ang="0">
                  <a:pos x="T0" y="T1"/>
                </a:cxn>
                <a:cxn ang="0">
                  <a:pos x="T2" y="T3"/>
                </a:cxn>
              </a:cxnLst>
              <a:rect l="0" t="0" r="r" b="b"/>
              <a:pathLst>
                <a:path w="23" h="1">
                  <a:moveTo>
                    <a:pt x="0" y="0"/>
                  </a:moveTo>
                  <a:cubicBezTo>
                    <a:pt x="7" y="0"/>
                    <a:pt x="15" y="0"/>
                    <a:pt x="22"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96" name="Freeform 104">
              <a:extLst>
                <a:ext uri="{FF2B5EF4-FFF2-40B4-BE49-F238E27FC236}">
                  <a16:creationId xmlns:a16="http://schemas.microsoft.com/office/drawing/2014/main" id="{93788189-8A31-5B45-A931-27675566F2A0}"/>
                </a:ext>
              </a:extLst>
            </p:cNvPr>
            <p:cNvSpPr>
              <a:spLocks noChangeArrowheads="1"/>
            </p:cNvSpPr>
            <p:nvPr/>
          </p:nvSpPr>
          <p:spPr bwMode="auto">
            <a:xfrm>
              <a:off x="3409950" y="4324350"/>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97" name="Freeform 105">
              <a:extLst>
                <a:ext uri="{FF2B5EF4-FFF2-40B4-BE49-F238E27FC236}">
                  <a16:creationId xmlns:a16="http://schemas.microsoft.com/office/drawing/2014/main" id="{51620897-9097-F54F-9BC7-6DDCACCDD560}"/>
                </a:ext>
              </a:extLst>
            </p:cNvPr>
            <p:cNvSpPr>
              <a:spLocks noChangeArrowheads="1"/>
            </p:cNvSpPr>
            <p:nvPr/>
          </p:nvSpPr>
          <p:spPr bwMode="auto">
            <a:xfrm>
              <a:off x="3444875" y="4324350"/>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98" name="Freeform 106">
              <a:extLst>
                <a:ext uri="{FF2B5EF4-FFF2-40B4-BE49-F238E27FC236}">
                  <a16:creationId xmlns:a16="http://schemas.microsoft.com/office/drawing/2014/main" id="{3A89F527-7C40-CC47-809E-B4A669901328}"/>
                </a:ext>
              </a:extLst>
            </p:cNvPr>
            <p:cNvSpPr>
              <a:spLocks noChangeArrowheads="1"/>
            </p:cNvSpPr>
            <p:nvPr/>
          </p:nvSpPr>
          <p:spPr bwMode="auto">
            <a:xfrm>
              <a:off x="3479800" y="4324350"/>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99" name="Freeform 107">
              <a:extLst>
                <a:ext uri="{FF2B5EF4-FFF2-40B4-BE49-F238E27FC236}">
                  <a16:creationId xmlns:a16="http://schemas.microsoft.com/office/drawing/2014/main" id="{901FDB7E-5284-A240-8905-57B7D120C164}"/>
                </a:ext>
              </a:extLst>
            </p:cNvPr>
            <p:cNvSpPr>
              <a:spLocks noChangeArrowheads="1"/>
            </p:cNvSpPr>
            <p:nvPr/>
          </p:nvSpPr>
          <p:spPr bwMode="auto">
            <a:xfrm>
              <a:off x="3516313" y="4324350"/>
              <a:ext cx="7937"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00" name="Freeform 108">
              <a:extLst>
                <a:ext uri="{FF2B5EF4-FFF2-40B4-BE49-F238E27FC236}">
                  <a16:creationId xmlns:a16="http://schemas.microsoft.com/office/drawing/2014/main" id="{B44F0FFF-6D28-4549-8AD4-63098EC3F021}"/>
                </a:ext>
              </a:extLst>
            </p:cNvPr>
            <p:cNvSpPr>
              <a:spLocks noChangeArrowheads="1"/>
            </p:cNvSpPr>
            <p:nvPr/>
          </p:nvSpPr>
          <p:spPr bwMode="auto">
            <a:xfrm>
              <a:off x="3338513" y="4243388"/>
              <a:ext cx="7937"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01" name="Freeform 109">
              <a:extLst>
                <a:ext uri="{FF2B5EF4-FFF2-40B4-BE49-F238E27FC236}">
                  <a16:creationId xmlns:a16="http://schemas.microsoft.com/office/drawing/2014/main" id="{8661AFBF-4390-1D48-A596-57DBEC2A361D}"/>
                </a:ext>
              </a:extLst>
            </p:cNvPr>
            <p:cNvSpPr>
              <a:spLocks noChangeArrowheads="1"/>
            </p:cNvSpPr>
            <p:nvPr/>
          </p:nvSpPr>
          <p:spPr bwMode="auto">
            <a:xfrm>
              <a:off x="3373438" y="4243388"/>
              <a:ext cx="7937" cy="1587"/>
            </a:xfrm>
            <a:custGeom>
              <a:avLst/>
              <a:gdLst>
                <a:gd name="T0" fmla="*/ 0 w 23"/>
                <a:gd name="T1" fmla="*/ 0 h 1"/>
                <a:gd name="T2" fmla="*/ 22 w 23"/>
                <a:gd name="T3" fmla="*/ 0 h 1"/>
              </a:gdLst>
              <a:ahLst/>
              <a:cxnLst>
                <a:cxn ang="0">
                  <a:pos x="T0" y="T1"/>
                </a:cxn>
                <a:cxn ang="0">
                  <a:pos x="T2" y="T3"/>
                </a:cxn>
              </a:cxnLst>
              <a:rect l="0" t="0" r="r" b="b"/>
              <a:pathLst>
                <a:path w="23" h="1">
                  <a:moveTo>
                    <a:pt x="0" y="0"/>
                  </a:moveTo>
                  <a:cubicBezTo>
                    <a:pt x="7" y="0"/>
                    <a:pt x="15" y="0"/>
                    <a:pt x="22"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02" name="Freeform 110">
              <a:extLst>
                <a:ext uri="{FF2B5EF4-FFF2-40B4-BE49-F238E27FC236}">
                  <a16:creationId xmlns:a16="http://schemas.microsoft.com/office/drawing/2014/main" id="{A960B16F-D868-8E47-9B63-76A7E99C8E7A}"/>
                </a:ext>
              </a:extLst>
            </p:cNvPr>
            <p:cNvSpPr>
              <a:spLocks noChangeArrowheads="1"/>
            </p:cNvSpPr>
            <p:nvPr/>
          </p:nvSpPr>
          <p:spPr bwMode="auto">
            <a:xfrm>
              <a:off x="3409950" y="4243388"/>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03" name="Freeform 111">
              <a:extLst>
                <a:ext uri="{FF2B5EF4-FFF2-40B4-BE49-F238E27FC236}">
                  <a16:creationId xmlns:a16="http://schemas.microsoft.com/office/drawing/2014/main" id="{F7C41AAF-8EB4-3542-80B8-A8FFA07DEF81}"/>
                </a:ext>
              </a:extLst>
            </p:cNvPr>
            <p:cNvSpPr>
              <a:spLocks noChangeArrowheads="1"/>
            </p:cNvSpPr>
            <p:nvPr/>
          </p:nvSpPr>
          <p:spPr bwMode="auto">
            <a:xfrm>
              <a:off x="3444875" y="4243388"/>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04" name="Freeform 112">
              <a:extLst>
                <a:ext uri="{FF2B5EF4-FFF2-40B4-BE49-F238E27FC236}">
                  <a16:creationId xmlns:a16="http://schemas.microsoft.com/office/drawing/2014/main" id="{39BE5DB5-80CC-BF4F-85C4-1579760D3081}"/>
                </a:ext>
              </a:extLst>
            </p:cNvPr>
            <p:cNvSpPr>
              <a:spLocks noChangeArrowheads="1"/>
            </p:cNvSpPr>
            <p:nvPr/>
          </p:nvSpPr>
          <p:spPr bwMode="auto">
            <a:xfrm>
              <a:off x="3479800" y="4243388"/>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05" name="Freeform 113">
              <a:extLst>
                <a:ext uri="{FF2B5EF4-FFF2-40B4-BE49-F238E27FC236}">
                  <a16:creationId xmlns:a16="http://schemas.microsoft.com/office/drawing/2014/main" id="{B9E05860-3882-C744-A3DB-64E9947CDDC6}"/>
                </a:ext>
              </a:extLst>
            </p:cNvPr>
            <p:cNvSpPr>
              <a:spLocks noChangeArrowheads="1"/>
            </p:cNvSpPr>
            <p:nvPr/>
          </p:nvSpPr>
          <p:spPr bwMode="auto">
            <a:xfrm>
              <a:off x="3516313" y="4243388"/>
              <a:ext cx="7937"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06" name="Freeform 114">
              <a:extLst>
                <a:ext uri="{FF2B5EF4-FFF2-40B4-BE49-F238E27FC236}">
                  <a16:creationId xmlns:a16="http://schemas.microsoft.com/office/drawing/2014/main" id="{36DDDC4C-54B3-5442-AD1A-484FB0E70591}"/>
                </a:ext>
              </a:extLst>
            </p:cNvPr>
            <p:cNvSpPr>
              <a:spLocks noChangeArrowheads="1"/>
            </p:cNvSpPr>
            <p:nvPr/>
          </p:nvSpPr>
          <p:spPr bwMode="auto">
            <a:xfrm>
              <a:off x="3551238" y="4487863"/>
              <a:ext cx="7937" cy="1587"/>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07" name="Freeform 115">
              <a:extLst>
                <a:ext uri="{FF2B5EF4-FFF2-40B4-BE49-F238E27FC236}">
                  <a16:creationId xmlns:a16="http://schemas.microsoft.com/office/drawing/2014/main" id="{94126202-7AE3-1540-9268-50A008081F2D}"/>
                </a:ext>
              </a:extLst>
            </p:cNvPr>
            <p:cNvSpPr>
              <a:spLocks noChangeArrowheads="1"/>
            </p:cNvSpPr>
            <p:nvPr/>
          </p:nvSpPr>
          <p:spPr bwMode="auto">
            <a:xfrm>
              <a:off x="3551238" y="4568825"/>
              <a:ext cx="7937" cy="1588"/>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08" name="Freeform 116">
              <a:extLst>
                <a:ext uri="{FF2B5EF4-FFF2-40B4-BE49-F238E27FC236}">
                  <a16:creationId xmlns:a16="http://schemas.microsoft.com/office/drawing/2014/main" id="{74847602-AC8E-B24B-8405-4EE8FDEDB04F}"/>
                </a:ext>
              </a:extLst>
            </p:cNvPr>
            <p:cNvSpPr>
              <a:spLocks noChangeArrowheads="1"/>
            </p:cNvSpPr>
            <p:nvPr/>
          </p:nvSpPr>
          <p:spPr bwMode="auto">
            <a:xfrm>
              <a:off x="3595688" y="4524375"/>
              <a:ext cx="1587" cy="7938"/>
            </a:xfrm>
            <a:custGeom>
              <a:avLst/>
              <a:gdLst>
                <a:gd name="T0" fmla="*/ 0 w 1"/>
                <a:gd name="T1" fmla="*/ 21 h 22"/>
                <a:gd name="T2" fmla="*/ 0 w 1"/>
                <a:gd name="T3" fmla="*/ 0 h 22"/>
              </a:gdLst>
              <a:ahLst/>
              <a:cxnLst>
                <a:cxn ang="0">
                  <a:pos x="T0" y="T1"/>
                </a:cxn>
                <a:cxn ang="0">
                  <a:pos x="T2" y="T3"/>
                </a:cxn>
              </a:cxnLst>
              <a:rect l="0" t="0" r="r" b="b"/>
              <a:pathLst>
                <a:path w="1" h="22">
                  <a:moveTo>
                    <a:pt x="0" y="21"/>
                  </a:moveTo>
                  <a:cubicBezTo>
                    <a:pt x="0" y="14"/>
                    <a:pt x="0" y="7"/>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09" name="Freeform 117">
              <a:extLst>
                <a:ext uri="{FF2B5EF4-FFF2-40B4-BE49-F238E27FC236}">
                  <a16:creationId xmlns:a16="http://schemas.microsoft.com/office/drawing/2014/main" id="{E8B4F2DC-09F9-B947-8C13-0FF0EDF8AE14}"/>
                </a:ext>
              </a:extLst>
            </p:cNvPr>
            <p:cNvSpPr>
              <a:spLocks noChangeArrowheads="1"/>
            </p:cNvSpPr>
            <p:nvPr/>
          </p:nvSpPr>
          <p:spPr bwMode="auto">
            <a:xfrm>
              <a:off x="3581400" y="4554538"/>
              <a:ext cx="6350" cy="6350"/>
            </a:xfrm>
            <a:custGeom>
              <a:avLst/>
              <a:gdLst>
                <a:gd name="T0" fmla="*/ 15 w 16"/>
                <a:gd name="T1" fmla="*/ 0 h 16"/>
                <a:gd name="T2" fmla="*/ 0 w 16"/>
                <a:gd name="T3" fmla="*/ 15 h 16"/>
              </a:gdLst>
              <a:ahLst/>
              <a:cxnLst>
                <a:cxn ang="0">
                  <a:pos x="T0" y="T1"/>
                </a:cxn>
                <a:cxn ang="0">
                  <a:pos x="T2" y="T3"/>
                </a:cxn>
              </a:cxnLst>
              <a:rect l="0" t="0" r="r" b="b"/>
              <a:pathLst>
                <a:path w="16" h="16">
                  <a:moveTo>
                    <a:pt x="15" y="0"/>
                  </a:moveTo>
                  <a:cubicBezTo>
                    <a:pt x="10" y="5"/>
                    <a:pt x="5" y="10"/>
                    <a:pt x="0"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10" name="Freeform 118">
              <a:extLst>
                <a:ext uri="{FF2B5EF4-FFF2-40B4-BE49-F238E27FC236}">
                  <a16:creationId xmlns:a16="http://schemas.microsoft.com/office/drawing/2014/main" id="{DF2ACB0C-E899-5E4A-B615-A43A7F08AE25}"/>
                </a:ext>
              </a:extLst>
            </p:cNvPr>
            <p:cNvSpPr>
              <a:spLocks noChangeArrowheads="1"/>
            </p:cNvSpPr>
            <p:nvPr/>
          </p:nvSpPr>
          <p:spPr bwMode="auto">
            <a:xfrm>
              <a:off x="3581400" y="4495800"/>
              <a:ext cx="6350" cy="6350"/>
            </a:xfrm>
            <a:custGeom>
              <a:avLst/>
              <a:gdLst>
                <a:gd name="T0" fmla="*/ 15 w 16"/>
                <a:gd name="T1" fmla="*/ 15 h 16"/>
                <a:gd name="T2" fmla="*/ 0 w 16"/>
                <a:gd name="T3" fmla="*/ 0 h 16"/>
              </a:gdLst>
              <a:ahLst/>
              <a:cxnLst>
                <a:cxn ang="0">
                  <a:pos x="T0" y="T1"/>
                </a:cxn>
                <a:cxn ang="0">
                  <a:pos x="T2" y="T3"/>
                </a:cxn>
              </a:cxnLst>
              <a:rect l="0" t="0" r="r" b="b"/>
              <a:pathLst>
                <a:path w="16" h="16">
                  <a:moveTo>
                    <a:pt x="15" y="15"/>
                  </a:moveTo>
                  <a:cubicBezTo>
                    <a:pt x="10" y="10"/>
                    <a:pt x="5"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11" name="Freeform 119">
              <a:extLst>
                <a:ext uri="{FF2B5EF4-FFF2-40B4-BE49-F238E27FC236}">
                  <a16:creationId xmlns:a16="http://schemas.microsoft.com/office/drawing/2014/main" id="{08BC1F3C-9FB7-EE42-834C-88212BE42A64}"/>
                </a:ext>
              </a:extLst>
            </p:cNvPr>
            <p:cNvSpPr>
              <a:spLocks noChangeArrowheads="1"/>
            </p:cNvSpPr>
            <p:nvPr/>
          </p:nvSpPr>
          <p:spPr bwMode="auto">
            <a:xfrm>
              <a:off x="3551238" y="4324350"/>
              <a:ext cx="7937" cy="1588"/>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12" name="Freeform 120">
              <a:extLst>
                <a:ext uri="{FF2B5EF4-FFF2-40B4-BE49-F238E27FC236}">
                  <a16:creationId xmlns:a16="http://schemas.microsoft.com/office/drawing/2014/main" id="{0800352B-446B-2945-BB60-78C7482DEC4A}"/>
                </a:ext>
              </a:extLst>
            </p:cNvPr>
            <p:cNvSpPr>
              <a:spLocks noChangeArrowheads="1"/>
            </p:cNvSpPr>
            <p:nvPr/>
          </p:nvSpPr>
          <p:spPr bwMode="auto">
            <a:xfrm>
              <a:off x="3551238" y="4405313"/>
              <a:ext cx="7937" cy="1587"/>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13" name="Freeform 121">
              <a:extLst>
                <a:ext uri="{FF2B5EF4-FFF2-40B4-BE49-F238E27FC236}">
                  <a16:creationId xmlns:a16="http://schemas.microsoft.com/office/drawing/2014/main" id="{082019A0-E9D0-6442-B884-F6E668D289F0}"/>
                </a:ext>
              </a:extLst>
            </p:cNvPr>
            <p:cNvSpPr>
              <a:spLocks noChangeArrowheads="1"/>
            </p:cNvSpPr>
            <p:nvPr/>
          </p:nvSpPr>
          <p:spPr bwMode="auto">
            <a:xfrm>
              <a:off x="3595688" y="4362450"/>
              <a:ext cx="1587" cy="7938"/>
            </a:xfrm>
            <a:custGeom>
              <a:avLst/>
              <a:gdLst>
                <a:gd name="T0" fmla="*/ 0 w 1"/>
                <a:gd name="T1" fmla="*/ 21 h 22"/>
                <a:gd name="T2" fmla="*/ 0 w 1"/>
                <a:gd name="T3" fmla="*/ 0 h 22"/>
              </a:gdLst>
              <a:ahLst/>
              <a:cxnLst>
                <a:cxn ang="0">
                  <a:pos x="T0" y="T1"/>
                </a:cxn>
                <a:cxn ang="0">
                  <a:pos x="T2" y="T3"/>
                </a:cxn>
              </a:cxnLst>
              <a:rect l="0" t="0" r="r" b="b"/>
              <a:pathLst>
                <a:path w="1" h="22">
                  <a:moveTo>
                    <a:pt x="0" y="21"/>
                  </a:moveTo>
                  <a:cubicBezTo>
                    <a:pt x="0" y="14"/>
                    <a:pt x="0" y="7"/>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14" name="Freeform 122">
              <a:extLst>
                <a:ext uri="{FF2B5EF4-FFF2-40B4-BE49-F238E27FC236}">
                  <a16:creationId xmlns:a16="http://schemas.microsoft.com/office/drawing/2014/main" id="{C57B91A8-9183-5C41-B8CD-CA80AD3E12C7}"/>
                </a:ext>
              </a:extLst>
            </p:cNvPr>
            <p:cNvSpPr>
              <a:spLocks noChangeArrowheads="1"/>
            </p:cNvSpPr>
            <p:nvPr/>
          </p:nvSpPr>
          <p:spPr bwMode="auto">
            <a:xfrm>
              <a:off x="3581400" y="4391025"/>
              <a:ext cx="6350" cy="6350"/>
            </a:xfrm>
            <a:custGeom>
              <a:avLst/>
              <a:gdLst>
                <a:gd name="T0" fmla="*/ 15 w 16"/>
                <a:gd name="T1" fmla="*/ 0 h 16"/>
                <a:gd name="T2" fmla="*/ 0 w 16"/>
                <a:gd name="T3" fmla="*/ 15 h 16"/>
              </a:gdLst>
              <a:ahLst/>
              <a:cxnLst>
                <a:cxn ang="0">
                  <a:pos x="T0" y="T1"/>
                </a:cxn>
                <a:cxn ang="0">
                  <a:pos x="T2" y="T3"/>
                </a:cxn>
              </a:cxnLst>
              <a:rect l="0" t="0" r="r" b="b"/>
              <a:pathLst>
                <a:path w="16" h="16">
                  <a:moveTo>
                    <a:pt x="15" y="0"/>
                  </a:moveTo>
                  <a:cubicBezTo>
                    <a:pt x="10" y="5"/>
                    <a:pt x="5" y="10"/>
                    <a:pt x="0"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15" name="Freeform 123">
              <a:extLst>
                <a:ext uri="{FF2B5EF4-FFF2-40B4-BE49-F238E27FC236}">
                  <a16:creationId xmlns:a16="http://schemas.microsoft.com/office/drawing/2014/main" id="{A7BA645F-B987-2C47-911D-9A2D05BED133}"/>
                </a:ext>
              </a:extLst>
            </p:cNvPr>
            <p:cNvSpPr>
              <a:spLocks noChangeArrowheads="1"/>
            </p:cNvSpPr>
            <p:nvPr/>
          </p:nvSpPr>
          <p:spPr bwMode="auto">
            <a:xfrm>
              <a:off x="3581400" y="4333875"/>
              <a:ext cx="6350" cy="6350"/>
            </a:xfrm>
            <a:custGeom>
              <a:avLst/>
              <a:gdLst>
                <a:gd name="T0" fmla="*/ 15 w 16"/>
                <a:gd name="T1" fmla="*/ 15 h 16"/>
                <a:gd name="T2" fmla="*/ 0 w 16"/>
                <a:gd name="T3" fmla="*/ 0 h 16"/>
              </a:gdLst>
              <a:ahLst/>
              <a:cxnLst>
                <a:cxn ang="0">
                  <a:pos x="T0" y="T1"/>
                </a:cxn>
                <a:cxn ang="0">
                  <a:pos x="T2" y="T3"/>
                </a:cxn>
              </a:cxnLst>
              <a:rect l="0" t="0" r="r" b="b"/>
              <a:pathLst>
                <a:path w="16" h="16">
                  <a:moveTo>
                    <a:pt x="15" y="15"/>
                  </a:moveTo>
                  <a:cubicBezTo>
                    <a:pt x="10" y="10"/>
                    <a:pt x="5"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16" name="Freeform 124">
              <a:extLst>
                <a:ext uri="{FF2B5EF4-FFF2-40B4-BE49-F238E27FC236}">
                  <a16:creationId xmlns:a16="http://schemas.microsoft.com/office/drawing/2014/main" id="{CF4695E8-A8E0-C846-BD58-6C3F1B80DB17}"/>
                </a:ext>
              </a:extLst>
            </p:cNvPr>
            <p:cNvSpPr>
              <a:spLocks noChangeArrowheads="1"/>
            </p:cNvSpPr>
            <p:nvPr/>
          </p:nvSpPr>
          <p:spPr bwMode="auto">
            <a:xfrm>
              <a:off x="3302000" y="4324350"/>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17" name="Freeform 125">
              <a:extLst>
                <a:ext uri="{FF2B5EF4-FFF2-40B4-BE49-F238E27FC236}">
                  <a16:creationId xmlns:a16="http://schemas.microsoft.com/office/drawing/2014/main" id="{76853E46-451D-A546-AB8C-974EC3B321C0}"/>
                </a:ext>
              </a:extLst>
            </p:cNvPr>
            <p:cNvSpPr>
              <a:spLocks noChangeArrowheads="1"/>
            </p:cNvSpPr>
            <p:nvPr/>
          </p:nvSpPr>
          <p:spPr bwMode="auto">
            <a:xfrm>
              <a:off x="3302000" y="4243388"/>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18" name="Freeform 126">
              <a:extLst>
                <a:ext uri="{FF2B5EF4-FFF2-40B4-BE49-F238E27FC236}">
                  <a16:creationId xmlns:a16="http://schemas.microsoft.com/office/drawing/2014/main" id="{B18B167E-602B-AE4C-9D2A-E0F2F6CACB11}"/>
                </a:ext>
              </a:extLst>
            </p:cNvPr>
            <p:cNvSpPr>
              <a:spLocks noChangeArrowheads="1"/>
            </p:cNvSpPr>
            <p:nvPr/>
          </p:nvSpPr>
          <p:spPr bwMode="auto">
            <a:xfrm>
              <a:off x="3265488" y="4279900"/>
              <a:ext cx="1587" cy="7938"/>
            </a:xfrm>
            <a:custGeom>
              <a:avLst/>
              <a:gdLst>
                <a:gd name="T0" fmla="*/ 0 w 1"/>
                <a:gd name="T1" fmla="*/ 0 h 22"/>
                <a:gd name="T2" fmla="*/ 0 w 1"/>
                <a:gd name="T3" fmla="*/ 21 h 22"/>
              </a:gdLst>
              <a:ahLst/>
              <a:cxnLst>
                <a:cxn ang="0">
                  <a:pos x="T0" y="T1"/>
                </a:cxn>
                <a:cxn ang="0">
                  <a:pos x="T2" y="T3"/>
                </a:cxn>
              </a:cxnLst>
              <a:rect l="0" t="0" r="r" b="b"/>
              <a:pathLst>
                <a:path w="1" h="22">
                  <a:moveTo>
                    <a:pt x="0" y="0"/>
                  </a:moveTo>
                  <a:cubicBezTo>
                    <a:pt x="0" y="7"/>
                    <a:pt x="0" y="14"/>
                    <a:pt x="0" y="2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19" name="Freeform 127">
              <a:extLst>
                <a:ext uri="{FF2B5EF4-FFF2-40B4-BE49-F238E27FC236}">
                  <a16:creationId xmlns:a16="http://schemas.microsoft.com/office/drawing/2014/main" id="{89F97B8A-56CC-6541-9719-C7951C0434BB}"/>
                </a:ext>
              </a:extLst>
            </p:cNvPr>
            <p:cNvSpPr>
              <a:spLocks noChangeArrowheads="1"/>
            </p:cNvSpPr>
            <p:nvPr/>
          </p:nvSpPr>
          <p:spPr bwMode="auto">
            <a:xfrm>
              <a:off x="3275013" y="4252913"/>
              <a:ext cx="6350" cy="6350"/>
            </a:xfrm>
            <a:custGeom>
              <a:avLst/>
              <a:gdLst>
                <a:gd name="T0" fmla="*/ 0 w 16"/>
                <a:gd name="T1" fmla="*/ 15 h 16"/>
                <a:gd name="T2" fmla="*/ 15 w 16"/>
                <a:gd name="T3" fmla="*/ 0 h 16"/>
              </a:gdLst>
              <a:ahLst/>
              <a:cxnLst>
                <a:cxn ang="0">
                  <a:pos x="T0" y="T1"/>
                </a:cxn>
                <a:cxn ang="0">
                  <a:pos x="T2" y="T3"/>
                </a:cxn>
              </a:cxnLst>
              <a:rect l="0" t="0" r="r" b="b"/>
              <a:pathLst>
                <a:path w="16" h="16">
                  <a:moveTo>
                    <a:pt x="0" y="15"/>
                  </a:moveTo>
                  <a:cubicBezTo>
                    <a:pt x="5" y="10"/>
                    <a:pt x="10" y="5"/>
                    <a:pt x="1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20" name="Freeform 128">
              <a:extLst>
                <a:ext uri="{FF2B5EF4-FFF2-40B4-BE49-F238E27FC236}">
                  <a16:creationId xmlns:a16="http://schemas.microsoft.com/office/drawing/2014/main" id="{CAB15C8F-52CA-AE4E-9FD6-F361F095F6A9}"/>
                </a:ext>
              </a:extLst>
            </p:cNvPr>
            <p:cNvSpPr>
              <a:spLocks noChangeArrowheads="1"/>
            </p:cNvSpPr>
            <p:nvPr/>
          </p:nvSpPr>
          <p:spPr bwMode="auto">
            <a:xfrm>
              <a:off x="3275013" y="4310063"/>
              <a:ext cx="6350" cy="6350"/>
            </a:xfrm>
            <a:custGeom>
              <a:avLst/>
              <a:gdLst>
                <a:gd name="T0" fmla="*/ 0 w 16"/>
                <a:gd name="T1" fmla="*/ 0 h 16"/>
                <a:gd name="T2" fmla="*/ 15 w 16"/>
                <a:gd name="T3" fmla="*/ 15 h 16"/>
              </a:gdLst>
              <a:ahLst/>
              <a:cxnLst>
                <a:cxn ang="0">
                  <a:pos x="T0" y="T1"/>
                </a:cxn>
                <a:cxn ang="0">
                  <a:pos x="T2" y="T3"/>
                </a:cxn>
              </a:cxnLst>
              <a:rect l="0" t="0" r="r" b="b"/>
              <a:pathLst>
                <a:path w="16" h="16">
                  <a:moveTo>
                    <a:pt x="0" y="0"/>
                  </a:moveTo>
                  <a:cubicBezTo>
                    <a:pt x="5" y="5"/>
                    <a:pt x="10" y="10"/>
                    <a:pt x="15"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21" name="Freeform 129">
              <a:extLst>
                <a:ext uri="{FF2B5EF4-FFF2-40B4-BE49-F238E27FC236}">
                  <a16:creationId xmlns:a16="http://schemas.microsoft.com/office/drawing/2014/main" id="{3DB75920-74E8-3B4C-8A33-EB79E6ECEB1B}"/>
                </a:ext>
              </a:extLst>
            </p:cNvPr>
            <p:cNvSpPr>
              <a:spLocks noChangeArrowheads="1"/>
            </p:cNvSpPr>
            <p:nvPr/>
          </p:nvSpPr>
          <p:spPr bwMode="auto">
            <a:xfrm>
              <a:off x="3444875" y="4487863"/>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22" name="Freeform 130">
              <a:extLst>
                <a:ext uri="{FF2B5EF4-FFF2-40B4-BE49-F238E27FC236}">
                  <a16:creationId xmlns:a16="http://schemas.microsoft.com/office/drawing/2014/main" id="{2182F050-E70F-DD43-99BC-C3B80A9182E0}"/>
                </a:ext>
              </a:extLst>
            </p:cNvPr>
            <p:cNvSpPr>
              <a:spLocks noChangeArrowheads="1"/>
            </p:cNvSpPr>
            <p:nvPr/>
          </p:nvSpPr>
          <p:spPr bwMode="auto">
            <a:xfrm>
              <a:off x="3444875" y="4405313"/>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23" name="Freeform 131">
              <a:extLst>
                <a:ext uri="{FF2B5EF4-FFF2-40B4-BE49-F238E27FC236}">
                  <a16:creationId xmlns:a16="http://schemas.microsoft.com/office/drawing/2014/main" id="{6BD19EDF-8002-C845-A0E9-9F1276E868F2}"/>
                </a:ext>
              </a:extLst>
            </p:cNvPr>
            <p:cNvSpPr>
              <a:spLocks noChangeArrowheads="1"/>
            </p:cNvSpPr>
            <p:nvPr/>
          </p:nvSpPr>
          <p:spPr bwMode="auto">
            <a:xfrm>
              <a:off x="3408363" y="4443413"/>
              <a:ext cx="1587" cy="7937"/>
            </a:xfrm>
            <a:custGeom>
              <a:avLst/>
              <a:gdLst>
                <a:gd name="T0" fmla="*/ 0 w 1"/>
                <a:gd name="T1" fmla="*/ 0 h 23"/>
                <a:gd name="T2" fmla="*/ 0 w 1"/>
                <a:gd name="T3" fmla="*/ 22 h 23"/>
              </a:gdLst>
              <a:ahLst/>
              <a:cxnLst>
                <a:cxn ang="0">
                  <a:pos x="T0" y="T1"/>
                </a:cxn>
                <a:cxn ang="0">
                  <a:pos x="T2" y="T3"/>
                </a:cxn>
              </a:cxnLst>
              <a:rect l="0" t="0" r="r" b="b"/>
              <a:pathLst>
                <a:path w="1" h="23">
                  <a:moveTo>
                    <a:pt x="0" y="0"/>
                  </a:moveTo>
                  <a:cubicBezTo>
                    <a:pt x="0" y="8"/>
                    <a:pt x="0" y="15"/>
                    <a:pt x="0" y="22"/>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24" name="Freeform 132">
              <a:extLst>
                <a:ext uri="{FF2B5EF4-FFF2-40B4-BE49-F238E27FC236}">
                  <a16:creationId xmlns:a16="http://schemas.microsoft.com/office/drawing/2014/main" id="{2AF24463-8397-E744-8906-BD0AAA40C67C}"/>
                </a:ext>
              </a:extLst>
            </p:cNvPr>
            <p:cNvSpPr>
              <a:spLocks noChangeArrowheads="1"/>
            </p:cNvSpPr>
            <p:nvPr/>
          </p:nvSpPr>
          <p:spPr bwMode="auto">
            <a:xfrm>
              <a:off x="3417888" y="4414838"/>
              <a:ext cx="6350" cy="6350"/>
            </a:xfrm>
            <a:custGeom>
              <a:avLst/>
              <a:gdLst>
                <a:gd name="T0" fmla="*/ 0 w 16"/>
                <a:gd name="T1" fmla="*/ 15 h 16"/>
                <a:gd name="T2" fmla="*/ 15 w 16"/>
                <a:gd name="T3" fmla="*/ 0 h 16"/>
              </a:gdLst>
              <a:ahLst/>
              <a:cxnLst>
                <a:cxn ang="0">
                  <a:pos x="T0" y="T1"/>
                </a:cxn>
                <a:cxn ang="0">
                  <a:pos x="T2" y="T3"/>
                </a:cxn>
              </a:cxnLst>
              <a:rect l="0" t="0" r="r" b="b"/>
              <a:pathLst>
                <a:path w="16" h="16">
                  <a:moveTo>
                    <a:pt x="0" y="15"/>
                  </a:moveTo>
                  <a:cubicBezTo>
                    <a:pt x="5" y="10"/>
                    <a:pt x="10" y="5"/>
                    <a:pt x="1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25" name="Freeform 133">
              <a:extLst>
                <a:ext uri="{FF2B5EF4-FFF2-40B4-BE49-F238E27FC236}">
                  <a16:creationId xmlns:a16="http://schemas.microsoft.com/office/drawing/2014/main" id="{8C7990B3-C911-7741-8CB3-FF493ACC5B81}"/>
                </a:ext>
              </a:extLst>
            </p:cNvPr>
            <p:cNvSpPr>
              <a:spLocks noChangeArrowheads="1"/>
            </p:cNvSpPr>
            <p:nvPr/>
          </p:nvSpPr>
          <p:spPr bwMode="auto">
            <a:xfrm>
              <a:off x="3417888" y="4471988"/>
              <a:ext cx="6350" cy="6350"/>
            </a:xfrm>
            <a:custGeom>
              <a:avLst/>
              <a:gdLst>
                <a:gd name="T0" fmla="*/ 0 w 16"/>
                <a:gd name="T1" fmla="*/ 0 h 16"/>
                <a:gd name="T2" fmla="*/ 15 w 16"/>
                <a:gd name="T3" fmla="*/ 15 h 16"/>
              </a:gdLst>
              <a:ahLst/>
              <a:cxnLst>
                <a:cxn ang="0">
                  <a:pos x="T0" y="T1"/>
                </a:cxn>
                <a:cxn ang="0">
                  <a:pos x="T2" y="T3"/>
                </a:cxn>
              </a:cxnLst>
              <a:rect l="0" t="0" r="r" b="b"/>
              <a:pathLst>
                <a:path w="16" h="16">
                  <a:moveTo>
                    <a:pt x="0" y="0"/>
                  </a:moveTo>
                  <a:cubicBezTo>
                    <a:pt x="5" y="5"/>
                    <a:pt x="10" y="10"/>
                    <a:pt x="15"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228" name="Group 227">
            <a:extLst>
              <a:ext uri="{FF2B5EF4-FFF2-40B4-BE49-F238E27FC236}">
                <a16:creationId xmlns:a16="http://schemas.microsoft.com/office/drawing/2014/main" id="{AC7507D4-CCAA-E546-BFFA-967CFB38E365}"/>
              </a:ext>
            </a:extLst>
          </p:cNvPr>
          <p:cNvGrpSpPr/>
          <p:nvPr/>
        </p:nvGrpSpPr>
        <p:grpSpPr>
          <a:xfrm>
            <a:off x="6531849" y="2210870"/>
            <a:ext cx="458842" cy="458842"/>
            <a:chOff x="8621713" y="3206750"/>
            <a:chExt cx="463550" cy="463550"/>
          </a:xfrm>
        </p:grpSpPr>
        <p:sp>
          <p:nvSpPr>
            <p:cNvPr id="229" name="Freeform 27">
              <a:extLst>
                <a:ext uri="{FF2B5EF4-FFF2-40B4-BE49-F238E27FC236}">
                  <a16:creationId xmlns:a16="http://schemas.microsoft.com/office/drawing/2014/main" id="{54E94FE8-121F-3C4F-82A7-61574201735D}"/>
                </a:ext>
              </a:extLst>
            </p:cNvPr>
            <p:cNvSpPr>
              <a:spLocks noChangeArrowheads="1"/>
            </p:cNvSpPr>
            <p:nvPr/>
          </p:nvSpPr>
          <p:spPr bwMode="auto">
            <a:xfrm>
              <a:off x="8715375" y="3302000"/>
              <a:ext cx="53975" cy="53975"/>
            </a:xfrm>
            <a:custGeom>
              <a:avLst/>
              <a:gdLst>
                <a:gd name="T0" fmla="*/ 0 w 151"/>
                <a:gd name="T1" fmla="*/ 0 h 151"/>
                <a:gd name="T2" fmla="*/ 150 w 151"/>
                <a:gd name="T3" fmla="*/ 150 h 151"/>
              </a:gdLst>
              <a:ahLst/>
              <a:cxnLst>
                <a:cxn ang="0">
                  <a:pos x="T0" y="T1"/>
                </a:cxn>
                <a:cxn ang="0">
                  <a:pos x="T2" y="T3"/>
                </a:cxn>
              </a:cxnLst>
              <a:rect l="0" t="0" r="r" b="b"/>
              <a:pathLst>
                <a:path w="151" h="151">
                  <a:moveTo>
                    <a:pt x="0" y="0"/>
                  </a:moveTo>
                  <a:cubicBezTo>
                    <a:pt x="50" y="50"/>
                    <a:pt x="100" y="100"/>
                    <a:pt x="150" y="15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30" name="Freeform 28">
              <a:extLst>
                <a:ext uri="{FF2B5EF4-FFF2-40B4-BE49-F238E27FC236}">
                  <a16:creationId xmlns:a16="http://schemas.microsoft.com/office/drawing/2014/main" id="{38B3B001-A743-D044-9DA6-B766177130EA}"/>
                </a:ext>
              </a:extLst>
            </p:cNvPr>
            <p:cNvSpPr>
              <a:spLocks noChangeArrowheads="1"/>
            </p:cNvSpPr>
            <p:nvPr/>
          </p:nvSpPr>
          <p:spPr bwMode="auto">
            <a:xfrm>
              <a:off x="8715375" y="3300413"/>
              <a:ext cx="42863" cy="42862"/>
            </a:xfrm>
            <a:custGeom>
              <a:avLst/>
              <a:gdLst>
                <a:gd name="T0" fmla="*/ 119 w 120"/>
                <a:gd name="T1" fmla="*/ 0 h 120"/>
                <a:gd name="T2" fmla="*/ 7 w 120"/>
                <a:gd name="T3" fmla="*/ 0 h 120"/>
                <a:gd name="T4" fmla="*/ 0 w 120"/>
                <a:gd name="T5" fmla="*/ 7 h 120"/>
                <a:gd name="T6" fmla="*/ 0 w 120"/>
                <a:gd name="T7" fmla="*/ 119 h 120"/>
              </a:gdLst>
              <a:ahLst/>
              <a:cxnLst>
                <a:cxn ang="0">
                  <a:pos x="T0" y="T1"/>
                </a:cxn>
                <a:cxn ang="0">
                  <a:pos x="T2" y="T3"/>
                </a:cxn>
                <a:cxn ang="0">
                  <a:pos x="T4" y="T5"/>
                </a:cxn>
                <a:cxn ang="0">
                  <a:pos x="T6" y="T7"/>
                </a:cxn>
              </a:cxnLst>
              <a:rect l="0" t="0" r="r" b="b"/>
              <a:pathLst>
                <a:path w="120" h="120">
                  <a:moveTo>
                    <a:pt x="119" y="0"/>
                  </a:moveTo>
                  <a:cubicBezTo>
                    <a:pt x="82" y="0"/>
                    <a:pt x="45" y="0"/>
                    <a:pt x="7" y="0"/>
                  </a:cubicBezTo>
                  <a:cubicBezTo>
                    <a:pt x="3" y="0"/>
                    <a:pt x="0" y="3"/>
                    <a:pt x="0" y="7"/>
                  </a:cubicBezTo>
                  <a:cubicBezTo>
                    <a:pt x="0" y="44"/>
                    <a:pt x="0" y="81"/>
                    <a:pt x="0" y="11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31" name="Freeform 29">
              <a:extLst>
                <a:ext uri="{FF2B5EF4-FFF2-40B4-BE49-F238E27FC236}">
                  <a16:creationId xmlns:a16="http://schemas.microsoft.com/office/drawing/2014/main" id="{5E9DE07B-7C7F-824B-8F98-3062F5B4A033}"/>
                </a:ext>
              </a:extLst>
            </p:cNvPr>
            <p:cNvSpPr>
              <a:spLocks noChangeArrowheads="1"/>
            </p:cNvSpPr>
            <p:nvPr/>
          </p:nvSpPr>
          <p:spPr bwMode="auto">
            <a:xfrm>
              <a:off x="8934450" y="3521075"/>
              <a:ext cx="53975" cy="53975"/>
            </a:xfrm>
            <a:custGeom>
              <a:avLst/>
              <a:gdLst>
                <a:gd name="T0" fmla="*/ 150 w 151"/>
                <a:gd name="T1" fmla="*/ 150 h 151"/>
                <a:gd name="T2" fmla="*/ 0 w 151"/>
                <a:gd name="T3" fmla="*/ 0 h 151"/>
              </a:gdLst>
              <a:ahLst/>
              <a:cxnLst>
                <a:cxn ang="0">
                  <a:pos x="T0" y="T1"/>
                </a:cxn>
                <a:cxn ang="0">
                  <a:pos x="T2" y="T3"/>
                </a:cxn>
              </a:cxnLst>
              <a:rect l="0" t="0" r="r" b="b"/>
              <a:pathLst>
                <a:path w="151" h="151">
                  <a:moveTo>
                    <a:pt x="150" y="150"/>
                  </a:moveTo>
                  <a:cubicBezTo>
                    <a:pt x="100" y="100"/>
                    <a:pt x="50" y="5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32" name="Freeform 30">
              <a:extLst>
                <a:ext uri="{FF2B5EF4-FFF2-40B4-BE49-F238E27FC236}">
                  <a16:creationId xmlns:a16="http://schemas.microsoft.com/office/drawing/2014/main" id="{37025DBC-7710-0E49-8BBA-8A73885E484A}"/>
                </a:ext>
              </a:extLst>
            </p:cNvPr>
            <p:cNvSpPr>
              <a:spLocks noChangeArrowheads="1"/>
            </p:cNvSpPr>
            <p:nvPr/>
          </p:nvSpPr>
          <p:spPr bwMode="auto">
            <a:xfrm>
              <a:off x="8947150" y="3532188"/>
              <a:ext cx="42863" cy="42862"/>
            </a:xfrm>
            <a:custGeom>
              <a:avLst/>
              <a:gdLst>
                <a:gd name="T0" fmla="*/ 0 w 121"/>
                <a:gd name="T1" fmla="*/ 120 h 121"/>
                <a:gd name="T2" fmla="*/ 113 w 121"/>
                <a:gd name="T3" fmla="*/ 120 h 121"/>
                <a:gd name="T4" fmla="*/ 120 w 121"/>
                <a:gd name="T5" fmla="*/ 113 h 121"/>
                <a:gd name="T6" fmla="*/ 120 w 121"/>
                <a:gd name="T7" fmla="*/ 0 h 121"/>
              </a:gdLst>
              <a:ahLst/>
              <a:cxnLst>
                <a:cxn ang="0">
                  <a:pos x="T0" y="T1"/>
                </a:cxn>
                <a:cxn ang="0">
                  <a:pos x="T2" y="T3"/>
                </a:cxn>
                <a:cxn ang="0">
                  <a:pos x="T4" y="T5"/>
                </a:cxn>
                <a:cxn ang="0">
                  <a:pos x="T6" y="T7"/>
                </a:cxn>
              </a:cxnLst>
              <a:rect l="0" t="0" r="r" b="b"/>
              <a:pathLst>
                <a:path w="121" h="121">
                  <a:moveTo>
                    <a:pt x="0" y="120"/>
                  </a:moveTo>
                  <a:cubicBezTo>
                    <a:pt x="38" y="120"/>
                    <a:pt x="75" y="120"/>
                    <a:pt x="113" y="120"/>
                  </a:cubicBezTo>
                  <a:cubicBezTo>
                    <a:pt x="117" y="120"/>
                    <a:pt x="120" y="117"/>
                    <a:pt x="120" y="113"/>
                  </a:cubicBezTo>
                  <a:cubicBezTo>
                    <a:pt x="120" y="76"/>
                    <a:pt x="120" y="38"/>
                    <a:pt x="12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33" name="Freeform 31">
              <a:extLst>
                <a:ext uri="{FF2B5EF4-FFF2-40B4-BE49-F238E27FC236}">
                  <a16:creationId xmlns:a16="http://schemas.microsoft.com/office/drawing/2014/main" id="{DD6051B8-4518-864E-A5B0-00BE2991DB5F}"/>
                </a:ext>
              </a:extLst>
            </p:cNvPr>
            <p:cNvSpPr>
              <a:spLocks noChangeArrowheads="1"/>
            </p:cNvSpPr>
            <p:nvPr/>
          </p:nvSpPr>
          <p:spPr bwMode="auto">
            <a:xfrm>
              <a:off x="8934450" y="3302000"/>
              <a:ext cx="53975" cy="53975"/>
            </a:xfrm>
            <a:custGeom>
              <a:avLst/>
              <a:gdLst>
                <a:gd name="T0" fmla="*/ 150 w 151"/>
                <a:gd name="T1" fmla="*/ 0 h 151"/>
                <a:gd name="T2" fmla="*/ 0 w 151"/>
                <a:gd name="T3" fmla="*/ 150 h 151"/>
              </a:gdLst>
              <a:ahLst/>
              <a:cxnLst>
                <a:cxn ang="0">
                  <a:pos x="T0" y="T1"/>
                </a:cxn>
                <a:cxn ang="0">
                  <a:pos x="T2" y="T3"/>
                </a:cxn>
              </a:cxnLst>
              <a:rect l="0" t="0" r="r" b="b"/>
              <a:pathLst>
                <a:path w="151" h="151">
                  <a:moveTo>
                    <a:pt x="150" y="0"/>
                  </a:moveTo>
                  <a:cubicBezTo>
                    <a:pt x="100" y="50"/>
                    <a:pt x="50" y="100"/>
                    <a:pt x="0" y="15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34" name="Freeform 32">
              <a:extLst>
                <a:ext uri="{FF2B5EF4-FFF2-40B4-BE49-F238E27FC236}">
                  <a16:creationId xmlns:a16="http://schemas.microsoft.com/office/drawing/2014/main" id="{9CE7CCA3-DFFE-EE48-AF76-AEB256406C15}"/>
                </a:ext>
              </a:extLst>
            </p:cNvPr>
            <p:cNvSpPr>
              <a:spLocks noChangeArrowheads="1"/>
            </p:cNvSpPr>
            <p:nvPr/>
          </p:nvSpPr>
          <p:spPr bwMode="auto">
            <a:xfrm>
              <a:off x="8947150" y="3300413"/>
              <a:ext cx="42863" cy="42862"/>
            </a:xfrm>
            <a:custGeom>
              <a:avLst/>
              <a:gdLst>
                <a:gd name="T0" fmla="*/ 120 w 121"/>
                <a:gd name="T1" fmla="*/ 119 h 120"/>
                <a:gd name="T2" fmla="*/ 120 w 121"/>
                <a:gd name="T3" fmla="*/ 7 h 120"/>
                <a:gd name="T4" fmla="*/ 113 w 121"/>
                <a:gd name="T5" fmla="*/ 0 h 120"/>
                <a:gd name="T6" fmla="*/ 0 w 121"/>
                <a:gd name="T7" fmla="*/ 0 h 120"/>
              </a:gdLst>
              <a:ahLst/>
              <a:cxnLst>
                <a:cxn ang="0">
                  <a:pos x="T0" y="T1"/>
                </a:cxn>
                <a:cxn ang="0">
                  <a:pos x="T2" y="T3"/>
                </a:cxn>
                <a:cxn ang="0">
                  <a:pos x="T4" y="T5"/>
                </a:cxn>
                <a:cxn ang="0">
                  <a:pos x="T6" y="T7"/>
                </a:cxn>
              </a:cxnLst>
              <a:rect l="0" t="0" r="r" b="b"/>
              <a:pathLst>
                <a:path w="121" h="120">
                  <a:moveTo>
                    <a:pt x="120" y="119"/>
                  </a:moveTo>
                  <a:cubicBezTo>
                    <a:pt x="120" y="81"/>
                    <a:pt x="120" y="44"/>
                    <a:pt x="120" y="7"/>
                  </a:cubicBezTo>
                  <a:cubicBezTo>
                    <a:pt x="120" y="3"/>
                    <a:pt x="117" y="0"/>
                    <a:pt x="113" y="0"/>
                  </a:cubicBezTo>
                  <a:cubicBezTo>
                    <a:pt x="75" y="0"/>
                    <a:pt x="3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35" name="Freeform 33">
              <a:extLst>
                <a:ext uri="{FF2B5EF4-FFF2-40B4-BE49-F238E27FC236}">
                  <a16:creationId xmlns:a16="http://schemas.microsoft.com/office/drawing/2014/main" id="{228B5F74-1C06-8748-9690-2AAF6269CB81}"/>
                </a:ext>
              </a:extLst>
            </p:cNvPr>
            <p:cNvSpPr>
              <a:spLocks noChangeArrowheads="1"/>
            </p:cNvSpPr>
            <p:nvPr/>
          </p:nvSpPr>
          <p:spPr bwMode="auto">
            <a:xfrm>
              <a:off x="8715375" y="3521075"/>
              <a:ext cx="53975" cy="53975"/>
            </a:xfrm>
            <a:custGeom>
              <a:avLst/>
              <a:gdLst>
                <a:gd name="T0" fmla="*/ 0 w 151"/>
                <a:gd name="T1" fmla="*/ 150 h 151"/>
                <a:gd name="T2" fmla="*/ 150 w 151"/>
                <a:gd name="T3" fmla="*/ 0 h 151"/>
              </a:gdLst>
              <a:ahLst/>
              <a:cxnLst>
                <a:cxn ang="0">
                  <a:pos x="T0" y="T1"/>
                </a:cxn>
                <a:cxn ang="0">
                  <a:pos x="T2" y="T3"/>
                </a:cxn>
              </a:cxnLst>
              <a:rect l="0" t="0" r="r" b="b"/>
              <a:pathLst>
                <a:path w="151" h="151">
                  <a:moveTo>
                    <a:pt x="0" y="150"/>
                  </a:moveTo>
                  <a:cubicBezTo>
                    <a:pt x="50" y="100"/>
                    <a:pt x="100" y="50"/>
                    <a:pt x="15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36" name="Freeform 34">
              <a:extLst>
                <a:ext uri="{FF2B5EF4-FFF2-40B4-BE49-F238E27FC236}">
                  <a16:creationId xmlns:a16="http://schemas.microsoft.com/office/drawing/2014/main" id="{4D4B0EA9-328B-0A4A-90C9-BD204018B287}"/>
                </a:ext>
              </a:extLst>
            </p:cNvPr>
            <p:cNvSpPr>
              <a:spLocks noChangeArrowheads="1"/>
            </p:cNvSpPr>
            <p:nvPr/>
          </p:nvSpPr>
          <p:spPr bwMode="auto">
            <a:xfrm>
              <a:off x="8715375" y="3532188"/>
              <a:ext cx="42863" cy="42862"/>
            </a:xfrm>
            <a:custGeom>
              <a:avLst/>
              <a:gdLst>
                <a:gd name="T0" fmla="*/ 0 w 120"/>
                <a:gd name="T1" fmla="*/ 0 h 121"/>
                <a:gd name="T2" fmla="*/ 0 w 120"/>
                <a:gd name="T3" fmla="*/ 113 h 121"/>
                <a:gd name="T4" fmla="*/ 7 w 120"/>
                <a:gd name="T5" fmla="*/ 120 h 121"/>
                <a:gd name="T6" fmla="*/ 119 w 120"/>
                <a:gd name="T7" fmla="*/ 120 h 121"/>
              </a:gdLst>
              <a:ahLst/>
              <a:cxnLst>
                <a:cxn ang="0">
                  <a:pos x="T0" y="T1"/>
                </a:cxn>
                <a:cxn ang="0">
                  <a:pos x="T2" y="T3"/>
                </a:cxn>
                <a:cxn ang="0">
                  <a:pos x="T4" y="T5"/>
                </a:cxn>
                <a:cxn ang="0">
                  <a:pos x="T6" y="T7"/>
                </a:cxn>
              </a:cxnLst>
              <a:rect l="0" t="0" r="r" b="b"/>
              <a:pathLst>
                <a:path w="120" h="121">
                  <a:moveTo>
                    <a:pt x="0" y="0"/>
                  </a:moveTo>
                  <a:cubicBezTo>
                    <a:pt x="0" y="38"/>
                    <a:pt x="0" y="76"/>
                    <a:pt x="0" y="113"/>
                  </a:cubicBezTo>
                  <a:cubicBezTo>
                    <a:pt x="0" y="117"/>
                    <a:pt x="3" y="120"/>
                    <a:pt x="7" y="120"/>
                  </a:cubicBezTo>
                  <a:cubicBezTo>
                    <a:pt x="45" y="120"/>
                    <a:pt x="82" y="120"/>
                    <a:pt x="119" y="12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37" name="Freeform 35">
              <a:extLst>
                <a:ext uri="{FF2B5EF4-FFF2-40B4-BE49-F238E27FC236}">
                  <a16:creationId xmlns:a16="http://schemas.microsoft.com/office/drawing/2014/main" id="{4B006406-9B84-984F-8F16-B2C7F5DAF123}"/>
                </a:ext>
              </a:extLst>
            </p:cNvPr>
            <p:cNvSpPr>
              <a:spLocks noChangeArrowheads="1"/>
            </p:cNvSpPr>
            <p:nvPr/>
          </p:nvSpPr>
          <p:spPr bwMode="auto">
            <a:xfrm>
              <a:off x="8755063" y="3341688"/>
              <a:ext cx="195262" cy="195262"/>
            </a:xfrm>
            <a:custGeom>
              <a:avLst/>
              <a:gdLst>
                <a:gd name="T0" fmla="*/ 270 w 542"/>
                <a:gd name="T1" fmla="*/ 78 h 541"/>
                <a:gd name="T2" fmla="*/ 313 w 542"/>
                <a:gd name="T3" fmla="*/ 50 h 541"/>
                <a:gd name="T4" fmla="*/ 319 w 542"/>
                <a:gd name="T5" fmla="*/ 34 h 541"/>
                <a:gd name="T6" fmla="*/ 378 w 542"/>
                <a:gd name="T7" fmla="*/ 10 h 541"/>
                <a:gd name="T8" fmla="*/ 403 w 542"/>
                <a:gd name="T9" fmla="*/ 69 h 541"/>
                <a:gd name="T10" fmla="*/ 396 w 542"/>
                <a:gd name="T11" fmla="*/ 85 h 541"/>
                <a:gd name="T12" fmla="*/ 406 w 542"/>
                <a:gd name="T13" fmla="*/ 135 h 541"/>
                <a:gd name="T14" fmla="*/ 456 w 542"/>
                <a:gd name="T15" fmla="*/ 145 h 541"/>
                <a:gd name="T16" fmla="*/ 472 w 542"/>
                <a:gd name="T17" fmla="*/ 138 h 541"/>
                <a:gd name="T18" fmla="*/ 531 w 542"/>
                <a:gd name="T19" fmla="*/ 162 h 541"/>
                <a:gd name="T20" fmla="*/ 507 w 542"/>
                <a:gd name="T21" fmla="*/ 221 h 541"/>
                <a:gd name="T22" fmla="*/ 491 w 542"/>
                <a:gd name="T23" fmla="*/ 228 h 541"/>
                <a:gd name="T24" fmla="*/ 462 w 542"/>
                <a:gd name="T25" fmla="*/ 270 h 541"/>
                <a:gd name="T26" fmla="*/ 491 w 542"/>
                <a:gd name="T27" fmla="*/ 313 h 541"/>
                <a:gd name="T28" fmla="*/ 507 w 542"/>
                <a:gd name="T29" fmla="*/ 319 h 541"/>
                <a:gd name="T30" fmla="*/ 531 w 542"/>
                <a:gd name="T31" fmla="*/ 377 h 541"/>
                <a:gd name="T32" fmla="*/ 472 w 542"/>
                <a:gd name="T33" fmla="*/ 402 h 541"/>
                <a:gd name="T34" fmla="*/ 456 w 542"/>
                <a:gd name="T35" fmla="*/ 395 h 541"/>
                <a:gd name="T36" fmla="*/ 406 w 542"/>
                <a:gd name="T37" fmla="*/ 405 h 541"/>
                <a:gd name="T38" fmla="*/ 396 w 542"/>
                <a:gd name="T39" fmla="*/ 455 h 541"/>
                <a:gd name="T40" fmla="*/ 403 w 542"/>
                <a:gd name="T41" fmla="*/ 471 h 541"/>
                <a:gd name="T42" fmla="*/ 378 w 542"/>
                <a:gd name="T43" fmla="*/ 530 h 541"/>
                <a:gd name="T44" fmla="*/ 319 w 542"/>
                <a:gd name="T45" fmla="*/ 506 h 541"/>
                <a:gd name="T46" fmla="*/ 313 w 542"/>
                <a:gd name="T47" fmla="*/ 490 h 541"/>
                <a:gd name="T48" fmla="*/ 270 w 542"/>
                <a:gd name="T49" fmla="*/ 461 h 541"/>
                <a:gd name="T50" fmla="*/ 228 w 542"/>
                <a:gd name="T51" fmla="*/ 490 h 541"/>
                <a:gd name="T52" fmla="*/ 221 w 542"/>
                <a:gd name="T53" fmla="*/ 506 h 541"/>
                <a:gd name="T54" fmla="*/ 162 w 542"/>
                <a:gd name="T55" fmla="*/ 530 h 541"/>
                <a:gd name="T56" fmla="*/ 138 w 542"/>
                <a:gd name="T57" fmla="*/ 471 h 541"/>
                <a:gd name="T58" fmla="*/ 145 w 542"/>
                <a:gd name="T59" fmla="*/ 455 h 541"/>
                <a:gd name="T60" fmla="*/ 135 w 542"/>
                <a:gd name="T61" fmla="*/ 405 h 541"/>
                <a:gd name="T62" fmla="*/ 85 w 542"/>
                <a:gd name="T63" fmla="*/ 395 h 541"/>
                <a:gd name="T64" fmla="*/ 69 w 542"/>
                <a:gd name="T65" fmla="*/ 402 h 541"/>
                <a:gd name="T66" fmla="*/ 10 w 542"/>
                <a:gd name="T67" fmla="*/ 377 h 541"/>
                <a:gd name="T68" fmla="*/ 34 w 542"/>
                <a:gd name="T69" fmla="*/ 319 h 541"/>
                <a:gd name="T70" fmla="*/ 50 w 542"/>
                <a:gd name="T71" fmla="*/ 313 h 541"/>
                <a:gd name="T72" fmla="*/ 78 w 542"/>
                <a:gd name="T73" fmla="*/ 270 h 541"/>
                <a:gd name="T74" fmla="*/ 50 w 542"/>
                <a:gd name="T75" fmla="*/ 228 h 541"/>
                <a:gd name="T76" fmla="*/ 34 w 542"/>
                <a:gd name="T77" fmla="*/ 221 h 541"/>
                <a:gd name="T78" fmla="*/ 10 w 542"/>
                <a:gd name="T79" fmla="*/ 162 h 541"/>
                <a:gd name="T80" fmla="*/ 69 w 542"/>
                <a:gd name="T81" fmla="*/ 138 h 541"/>
                <a:gd name="T82" fmla="*/ 85 w 542"/>
                <a:gd name="T83" fmla="*/ 145 h 541"/>
                <a:gd name="T84" fmla="*/ 135 w 542"/>
                <a:gd name="T85" fmla="*/ 135 h 541"/>
                <a:gd name="T86" fmla="*/ 145 w 542"/>
                <a:gd name="T87" fmla="*/ 85 h 541"/>
                <a:gd name="T88" fmla="*/ 138 w 542"/>
                <a:gd name="T89" fmla="*/ 69 h 541"/>
                <a:gd name="T90" fmla="*/ 162 w 542"/>
                <a:gd name="T91" fmla="*/ 10 h 541"/>
                <a:gd name="T92" fmla="*/ 221 w 542"/>
                <a:gd name="T93" fmla="*/ 34 h 541"/>
                <a:gd name="T94" fmla="*/ 228 w 542"/>
                <a:gd name="T95" fmla="*/ 50 h 541"/>
                <a:gd name="T96" fmla="*/ 270 w 542"/>
                <a:gd name="T97" fmla="*/ 78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2" h="541">
                  <a:moveTo>
                    <a:pt x="270" y="78"/>
                  </a:moveTo>
                  <a:cubicBezTo>
                    <a:pt x="289" y="78"/>
                    <a:pt x="306" y="67"/>
                    <a:pt x="313" y="50"/>
                  </a:cubicBezTo>
                  <a:cubicBezTo>
                    <a:pt x="315" y="44"/>
                    <a:pt x="317" y="39"/>
                    <a:pt x="319" y="34"/>
                  </a:cubicBezTo>
                  <a:cubicBezTo>
                    <a:pt x="329" y="11"/>
                    <a:pt x="355" y="0"/>
                    <a:pt x="378" y="10"/>
                  </a:cubicBezTo>
                  <a:cubicBezTo>
                    <a:pt x="401" y="19"/>
                    <a:pt x="412" y="46"/>
                    <a:pt x="403" y="69"/>
                  </a:cubicBezTo>
                  <a:cubicBezTo>
                    <a:pt x="401" y="74"/>
                    <a:pt x="398" y="79"/>
                    <a:pt x="396" y="85"/>
                  </a:cubicBezTo>
                  <a:cubicBezTo>
                    <a:pt x="389" y="102"/>
                    <a:pt x="393" y="122"/>
                    <a:pt x="406" y="135"/>
                  </a:cubicBezTo>
                  <a:cubicBezTo>
                    <a:pt x="419" y="148"/>
                    <a:pt x="439" y="152"/>
                    <a:pt x="456" y="145"/>
                  </a:cubicBezTo>
                  <a:cubicBezTo>
                    <a:pt x="461" y="142"/>
                    <a:pt x="467" y="140"/>
                    <a:pt x="472" y="138"/>
                  </a:cubicBezTo>
                  <a:cubicBezTo>
                    <a:pt x="495" y="128"/>
                    <a:pt x="522" y="139"/>
                    <a:pt x="531" y="162"/>
                  </a:cubicBezTo>
                  <a:cubicBezTo>
                    <a:pt x="541" y="185"/>
                    <a:pt x="530" y="212"/>
                    <a:pt x="507" y="221"/>
                  </a:cubicBezTo>
                  <a:cubicBezTo>
                    <a:pt x="502" y="223"/>
                    <a:pt x="496" y="225"/>
                    <a:pt x="491" y="228"/>
                  </a:cubicBezTo>
                  <a:cubicBezTo>
                    <a:pt x="473" y="235"/>
                    <a:pt x="462" y="252"/>
                    <a:pt x="462" y="270"/>
                  </a:cubicBezTo>
                  <a:cubicBezTo>
                    <a:pt x="462" y="289"/>
                    <a:pt x="473" y="306"/>
                    <a:pt x="491" y="313"/>
                  </a:cubicBezTo>
                  <a:cubicBezTo>
                    <a:pt x="496" y="315"/>
                    <a:pt x="502" y="317"/>
                    <a:pt x="507" y="319"/>
                  </a:cubicBezTo>
                  <a:cubicBezTo>
                    <a:pt x="530" y="329"/>
                    <a:pt x="541" y="354"/>
                    <a:pt x="531" y="377"/>
                  </a:cubicBezTo>
                  <a:cubicBezTo>
                    <a:pt x="522" y="400"/>
                    <a:pt x="495" y="411"/>
                    <a:pt x="472" y="402"/>
                  </a:cubicBezTo>
                  <a:cubicBezTo>
                    <a:pt x="467" y="400"/>
                    <a:pt x="461" y="398"/>
                    <a:pt x="456" y="395"/>
                  </a:cubicBezTo>
                  <a:cubicBezTo>
                    <a:pt x="439" y="388"/>
                    <a:pt x="419" y="392"/>
                    <a:pt x="406" y="405"/>
                  </a:cubicBezTo>
                  <a:cubicBezTo>
                    <a:pt x="393" y="418"/>
                    <a:pt x="389" y="438"/>
                    <a:pt x="396" y="455"/>
                  </a:cubicBezTo>
                  <a:cubicBezTo>
                    <a:pt x="398" y="461"/>
                    <a:pt x="401" y="466"/>
                    <a:pt x="403" y="471"/>
                  </a:cubicBezTo>
                  <a:cubicBezTo>
                    <a:pt x="412" y="494"/>
                    <a:pt x="401" y="521"/>
                    <a:pt x="378" y="530"/>
                  </a:cubicBezTo>
                  <a:cubicBezTo>
                    <a:pt x="355" y="540"/>
                    <a:pt x="329" y="529"/>
                    <a:pt x="319" y="506"/>
                  </a:cubicBezTo>
                  <a:cubicBezTo>
                    <a:pt x="317" y="501"/>
                    <a:pt x="315" y="496"/>
                    <a:pt x="313" y="490"/>
                  </a:cubicBezTo>
                  <a:cubicBezTo>
                    <a:pt x="306" y="472"/>
                    <a:pt x="289" y="461"/>
                    <a:pt x="270" y="461"/>
                  </a:cubicBezTo>
                  <a:cubicBezTo>
                    <a:pt x="252" y="461"/>
                    <a:pt x="235" y="472"/>
                    <a:pt x="228" y="490"/>
                  </a:cubicBezTo>
                  <a:cubicBezTo>
                    <a:pt x="226" y="496"/>
                    <a:pt x="223" y="501"/>
                    <a:pt x="221" y="506"/>
                  </a:cubicBezTo>
                  <a:cubicBezTo>
                    <a:pt x="212" y="529"/>
                    <a:pt x="185" y="540"/>
                    <a:pt x="162" y="530"/>
                  </a:cubicBezTo>
                  <a:cubicBezTo>
                    <a:pt x="139" y="521"/>
                    <a:pt x="128" y="494"/>
                    <a:pt x="138" y="471"/>
                  </a:cubicBezTo>
                  <a:cubicBezTo>
                    <a:pt x="141" y="466"/>
                    <a:pt x="143" y="461"/>
                    <a:pt x="145" y="455"/>
                  </a:cubicBezTo>
                  <a:cubicBezTo>
                    <a:pt x="152" y="438"/>
                    <a:pt x="148" y="418"/>
                    <a:pt x="135" y="405"/>
                  </a:cubicBezTo>
                  <a:cubicBezTo>
                    <a:pt x="122" y="392"/>
                    <a:pt x="102" y="388"/>
                    <a:pt x="85" y="395"/>
                  </a:cubicBezTo>
                  <a:cubicBezTo>
                    <a:pt x="80" y="398"/>
                    <a:pt x="75" y="400"/>
                    <a:pt x="69" y="402"/>
                  </a:cubicBezTo>
                  <a:cubicBezTo>
                    <a:pt x="46" y="411"/>
                    <a:pt x="19" y="400"/>
                    <a:pt x="10" y="377"/>
                  </a:cubicBezTo>
                  <a:cubicBezTo>
                    <a:pt x="0" y="354"/>
                    <a:pt x="11" y="329"/>
                    <a:pt x="34" y="319"/>
                  </a:cubicBezTo>
                  <a:cubicBezTo>
                    <a:pt x="40" y="317"/>
                    <a:pt x="45" y="315"/>
                    <a:pt x="50" y="313"/>
                  </a:cubicBezTo>
                  <a:cubicBezTo>
                    <a:pt x="67" y="306"/>
                    <a:pt x="78" y="289"/>
                    <a:pt x="78" y="270"/>
                  </a:cubicBezTo>
                  <a:cubicBezTo>
                    <a:pt x="78" y="252"/>
                    <a:pt x="67" y="235"/>
                    <a:pt x="50" y="228"/>
                  </a:cubicBezTo>
                  <a:cubicBezTo>
                    <a:pt x="45" y="225"/>
                    <a:pt x="40" y="223"/>
                    <a:pt x="34" y="221"/>
                  </a:cubicBezTo>
                  <a:cubicBezTo>
                    <a:pt x="11" y="212"/>
                    <a:pt x="0" y="185"/>
                    <a:pt x="10" y="162"/>
                  </a:cubicBezTo>
                  <a:cubicBezTo>
                    <a:pt x="19" y="139"/>
                    <a:pt x="46" y="128"/>
                    <a:pt x="69" y="138"/>
                  </a:cubicBezTo>
                  <a:cubicBezTo>
                    <a:pt x="75" y="140"/>
                    <a:pt x="80" y="142"/>
                    <a:pt x="85" y="145"/>
                  </a:cubicBezTo>
                  <a:cubicBezTo>
                    <a:pt x="102" y="152"/>
                    <a:pt x="122" y="148"/>
                    <a:pt x="135" y="135"/>
                  </a:cubicBezTo>
                  <a:cubicBezTo>
                    <a:pt x="148" y="122"/>
                    <a:pt x="152" y="102"/>
                    <a:pt x="145" y="85"/>
                  </a:cubicBezTo>
                  <a:cubicBezTo>
                    <a:pt x="143" y="79"/>
                    <a:pt x="141" y="74"/>
                    <a:pt x="138" y="69"/>
                  </a:cubicBezTo>
                  <a:cubicBezTo>
                    <a:pt x="128" y="46"/>
                    <a:pt x="139" y="19"/>
                    <a:pt x="162" y="10"/>
                  </a:cubicBezTo>
                  <a:cubicBezTo>
                    <a:pt x="185" y="0"/>
                    <a:pt x="212" y="11"/>
                    <a:pt x="221" y="34"/>
                  </a:cubicBezTo>
                  <a:cubicBezTo>
                    <a:pt x="223" y="39"/>
                    <a:pt x="226" y="44"/>
                    <a:pt x="228" y="50"/>
                  </a:cubicBezTo>
                  <a:cubicBezTo>
                    <a:pt x="235" y="67"/>
                    <a:pt x="252" y="78"/>
                    <a:pt x="270" y="7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38" name="Freeform 36">
              <a:extLst>
                <a:ext uri="{FF2B5EF4-FFF2-40B4-BE49-F238E27FC236}">
                  <a16:creationId xmlns:a16="http://schemas.microsoft.com/office/drawing/2014/main" id="{0DDF4A61-AB99-CD43-A64B-746FBB2318A6}"/>
                </a:ext>
              </a:extLst>
            </p:cNvPr>
            <p:cNvSpPr>
              <a:spLocks noChangeArrowheads="1"/>
            </p:cNvSpPr>
            <p:nvPr/>
          </p:nvSpPr>
          <p:spPr bwMode="auto">
            <a:xfrm>
              <a:off x="8821738" y="3408363"/>
              <a:ext cx="61912" cy="60325"/>
            </a:xfrm>
            <a:custGeom>
              <a:avLst/>
              <a:gdLst>
                <a:gd name="T0" fmla="*/ 169 w 170"/>
                <a:gd name="T1" fmla="*/ 84 h 169"/>
                <a:gd name="T2" fmla="*/ 158 w 170"/>
                <a:gd name="T3" fmla="*/ 127 h 169"/>
                <a:gd name="T4" fmla="*/ 127 w 170"/>
                <a:gd name="T5" fmla="*/ 157 h 169"/>
                <a:gd name="T6" fmla="*/ 84 w 170"/>
                <a:gd name="T7" fmla="*/ 168 h 169"/>
                <a:gd name="T8" fmla="*/ 42 w 170"/>
                <a:gd name="T9" fmla="*/ 157 h 169"/>
                <a:gd name="T10" fmla="*/ 11 w 170"/>
                <a:gd name="T11" fmla="*/ 127 h 169"/>
                <a:gd name="T12" fmla="*/ 0 w 170"/>
                <a:gd name="T13" fmla="*/ 84 h 169"/>
                <a:gd name="T14" fmla="*/ 11 w 170"/>
                <a:gd name="T15" fmla="*/ 42 h 169"/>
                <a:gd name="T16" fmla="*/ 42 w 170"/>
                <a:gd name="T17" fmla="*/ 11 h 169"/>
                <a:gd name="T18" fmla="*/ 84 w 170"/>
                <a:gd name="T19" fmla="*/ 0 h 169"/>
                <a:gd name="T20" fmla="*/ 127 w 170"/>
                <a:gd name="T21" fmla="*/ 11 h 169"/>
                <a:gd name="T22" fmla="*/ 158 w 170"/>
                <a:gd name="T23" fmla="*/ 42 h 169"/>
                <a:gd name="T24" fmla="*/ 169 w 170"/>
                <a:gd name="T25" fmla="*/ 8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169">
                  <a:moveTo>
                    <a:pt x="169" y="84"/>
                  </a:moveTo>
                  <a:cubicBezTo>
                    <a:pt x="169" y="100"/>
                    <a:pt x="166" y="113"/>
                    <a:pt x="158" y="127"/>
                  </a:cubicBezTo>
                  <a:cubicBezTo>
                    <a:pt x="151" y="140"/>
                    <a:pt x="141" y="150"/>
                    <a:pt x="127" y="157"/>
                  </a:cubicBezTo>
                  <a:cubicBezTo>
                    <a:pt x="114" y="165"/>
                    <a:pt x="100" y="168"/>
                    <a:pt x="84" y="168"/>
                  </a:cubicBezTo>
                  <a:cubicBezTo>
                    <a:pt x="69" y="168"/>
                    <a:pt x="56" y="165"/>
                    <a:pt x="42" y="157"/>
                  </a:cubicBezTo>
                  <a:cubicBezTo>
                    <a:pt x="29" y="150"/>
                    <a:pt x="19" y="140"/>
                    <a:pt x="11" y="127"/>
                  </a:cubicBezTo>
                  <a:cubicBezTo>
                    <a:pt x="3" y="113"/>
                    <a:pt x="0" y="99"/>
                    <a:pt x="0" y="84"/>
                  </a:cubicBezTo>
                  <a:cubicBezTo>
                    <a:pt x="0" y="68"/>
                    <a:pt x="3" y="55"/>
                    <a:pt x="11" y="42"/>
                  </a:cubicBezTo>
                  <a:cubicBezTo>
                    <a:pt x="19" y="28"/>
                    <a:pt x="29" y="19"/>
                    <a:pt x="42" y="11"/>
                  </a:cubicBezTo>
                  <a:cubicBezTo>
                    <a:pt x="56" y="3"/>
                    <a:pt x="69" y="0"/>
                    <a:pt x="84" y="0"/>
                  </a:cubicBezTo>
                  <a:cubicBezTo>
                    <a:pt x="100" y="0"/>
                    <a:pt x="114" y="3"/>
                    <a:pt x="127" y="11"/>
                  </a:cubicBezTo>
                  <a:cubicBezTo>
                    <a:pt x="141" y="19"/>
                    <a:pt x="151" y="28"/>
                    <a:pt x="158" y="42"/>
                  </a:cubicBezTo>
                  <a:cubicBezTo>
                    <a:pt x="166" y="55"/>
                    <a:pt x="169" y="69"/>
                    <a:pt x="169" y="8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39" name="Freeform 37">
              <a:extLst>
                <a:ext uri="{FF2B5EF4-FFF2-40B4-BE49-F238E27FC236}">
                  <a16:creationId xmlns:a16="http://schemas.microsoft.com/office/drawing/2014/main" id="{1EEB6AB9-B1F2-BD4F-AB6A-2B3DF09B58AA}"/>
                </a:ext>
              </a:extLst>
            </p:cNvPr>
            <p:cNvSpPr>
              <a:spLocks noChangeArrowheads="1"/>
            </p:cNvSpPr>
            <p:nvPr/>
          </p:nvSpPr>
          <p:spPr bwMode="auto">
            <a:xfrm>
              <a:off x="8847138" y="3206750"/>
              <a:ext cx="11112" cy="1588"/>
            </a:xfrm>
            <a:custGeom>
              <a:avLst/>
              <a:gdLst>
                <a:gd name="T0" fmla="*/ 28 w 29"/>
                <a:gd name="T1" fmla="*/ 0 h 1"/>
                <a:gd name="T2" fmla="*/ 0 w 29"/>
                <a:gd name="T3" fmla="*/ 0 h 1"/>
              </a:gdLst>
              <a:ahLst/>
              <a:cxnLst>
                <a:cxn ang="0">
                  <a:pos x="T0" y="T1"/>
                </a:cxn>
                <a:cxn ang="0">
                  <a:pos x="T2" y="T3"/>
                </a:cxn>
              </a:cxnLst>
              <a:rect l="0" t="0" r="r" b="b"/>
              <a:pathLst>
                <a:path w="29" h="1">
                  <a:moveTo>
                    <a:pt x="28" y="0"/>
                  </a:moveTo>
                  <a:cubicBezTo>
                    <a:pt x="19" y="0"/>
                    <a:pt x="9"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40" name="Freeform 38">
              <a:extLst>
                <a:ext uri="{FF2B5EF4-FFF2-40B4-BE49-F238E27FC236}">
                  <a16:creationId xmlns:a16="http://schemas.microsoft.com/office/drawing/2014/main" id="{7227F8D4-77E4-E648-A7AE-B6CCB5A6CD46}"/>
                </a:ext>
              </a:extLst>
            </p:cNvPr>
            <p:cNvSpPr>
              <a:spLocks noChangeArrowheads="1"/>
            </p:cNvSpPr>
            <p:nvPr/>
          </p:nvSpPr>
          <p:spPr bwMode="auto">
            <a:xfrm>
              <a:off x="8847138" y="3668713"/>
              <a:ext cx="11112" cy="1587"/>
            </a:xfrm>
            <a:custGeom>
              <a:avLst/>
              <a:gdLst>
                <a:gd name="T0" fmla="*/ 28 w 29"/>
                <a:gd name="T1" fmla="*/ 0 h 1"/>
                <a:gd name="T2" fmla="*/ 0 w 29"/>
                <a:gd name="T3" fmla="*/ 0 h 1"/>
              </a:gdLst>
              <a:ahLst/>
              <a:cxnLst>
                <a:cxn ang="0">
                  <a:pos x="T0" y="T1"/>
                </a:cxn>
                <a:cxn ang="0">
                  <a:pos x="T2" y="T3"/>
                </a:cxn>
              </a:cxnLst>
              <a:rect l="0" t="0" r="r" b="b"/>
              <a:pathLst>
                <a:path w="29" h="1">
                  <a:moveTo>
                    <a:pt x="28" y="0"/>
                  </a:moveTo>
                  <a:cubicBezTo>
                    <a:pt x="19" y="0"/>
                    <a:pt x="9"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41" name="Freeform 39">
              <a:extLst>
                <a:ext uri="{FF2B5EF4-FFF2-40B4-BE49-F238E27FC236}">
                  <a16:creationId xmlns:a16="http://schemas.microsoft.com/office/drawing/2014/main" id="{94F13CF0-707F-8143-AACE-2447E6CA13EB}"/>
                </a:ext>
              </a:extLst>
            </p:cNvPr>
            <p:cNvSpPr>
              <a:spLocks noChangeArrowheads="1"/>
            </p:cNvSpPr>
            <p:nvPr/>
          </p:nvSpPr>
          <p:spPr bwMode="auto">
            <a:xfrm>
              <a:off x="9083675" y="3433763"/>
              <a:ext cx="1588" cy="11112"/>
            </a:xfrm>
            <a:custGeom>
              <a:avLst/>
              <a:gdLst>
                <a:gd name="T0" fmla="*/ 0 w 1"/>
                <a:gd name="T1" fmla="*/ 28 h 29"/>
                <a:gd name="T2" fmla="*/ 0 w 1"/>
                <a:gd name="T3" fmla="*/ 0 h 29"/>
              </a:gdLst>
              <a:ahLst/>
              <a:cxnLst>
                <a:cxn ang="0">
                  <a:pos x="T0" y="T1"/>
                </a:cxn>
                <a:cxn ang="0">
                  <a:pos x="T2" y="T3"/>
                </a:cxn>
              </a:cxnLst>
              <a:rect l="0" t="0" r="r" b="b"/>
              <a:pathLst>
                <a:path w="1" h="29">
                  <a:moveTo>
                    <a:pt x="0" y="28"/>
                  </a:moveTo>
                  <a:cubicBezTo>
                    <a:pt x="0" y="18"/>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42" name="Freeform 40">
              <a:extLst>
                <a:ext uri="{FF2B5EF4-FFF2-40B4-BE49-F238E27FC236}">
                  <a16:creationId xmlns:a16="http://schemas.microsoft.com/office/drawing/2014/main" id="{E8909219-EE69-1E46-8DF4-1FFB4F1005E5}"/>
                </a:ext>
              </a:extLst>
            </p:cNvPr>
            <p:cNvSpPr>
              <a:spLocks noChangeArrowheads="1"/>
            </p:cNvSpPr>
            <p:nvPr/>
          </p:nvSpPr>
          <p:spPr bwMode="auto">
            <a:xfrm>
              <a:off x="8621713" y="3433763"/>
              <a:ext cx="1587" cy="11112"/>
            </a:xfrm>
            <a:custGeom>
              <a:avLst/>
              <a:gdLst>
                <a:gd name="T0" fmla="*/ 0 w 1"/>
                <a:gd name="T1" fmla="*/ 28 h 29"/>
                <a:gd name="T2" fmla="*/ 0 w 1"/>
                <a:gd name="T3" fmla="*/ 0 h 29"/>
              </a:gdLst>
              <a:ahLst/>
              <a:cxnLst>
                <a:cxn ang="0">
                  <a:pos x="T0" y="T1"/>
                </a:cxn>
                <a:cxn ang="0">
                  <a:pos x="T2" y="T3"/>
                </a:cxn>
              </a:cxnLst>
              <a:rect l="0" t="0" r="r" b="b"/>
              <a:pathLst>
                <a:path w="1" h="29">
                  <a:moveTo>
                    <a:pt x="0" y="28"/>
                  </a:moveTo>
                  <a:cubicBezTo>
                    <a:pt x="0" y="18"/>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43" name="Freeform 41">
              <a:extLst>
                <a:ext uri="{FF2B5EF4-FFF2-40B4-BE49-F238E27FC236}">
                  <a16:creationId xmlns:a16="http://schemas.microsoft.com/office/drawing/2014/main" id="{5A0E5DFC-312D-534C-AE66-4677688CC6BA}"/>
                </a:ext>
              </a:extLst>
            </p:cNvPr>
            <p:cNvSpPr>
              <a:spLocks noChangeArrowheads="1"/>
            </p:cNvSpPr>
            <p:nvPr/>
          </p:nvSpPr>
          <p:spPr bwMode="auto">
            <a:xfrm>
              <a:off x="8807450" y="3209925"/>
              <a:ext cx="11113" cy="1588"/>
            </a:xfrm>
            <a:custGeom>
              <a:avLst/>
              <a:gdLst>
                <a:gd name="T0" fmla="*/ 28 w 29"/>
                <a:gd name="T1" fmla="*/ 0 h 6"/>
                <a:gd name="T2" fmla="*/ 0 w 29"/>
                <a:gd name="T3" fmla="*/ 5 h 6"/>
              </a:gdLst>
              <a:ahLst/>
              <a:cxnLst>
                <a:cxn ang="0">
                  <a:pos x="T0" y="T1"/>
                </a:cxn>
                <a:cxn ang="0">
                  <a:pos x="T2" y="T3"/>
                </a:cxn>
              </a:cxnLst>
              <a:rect l="0" t="0" r="r" b="b"/>
              <a:pathLst>
                <a:path w="29" h="6">
                  <a:moveTo>
                    <a:pt x="28" y="0"/>
                  </a:moveTo>
                  <a:cubicBezTo>
                    <a:pt x="19" y="1"/>
                    <a:pt x="10" y="3"/>
                    <a:pt x="0" y="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44" name="Freeform 42">
              <a:extLst>
                <a:ext uri="{FF2B5EF4-FFF2-40B4-BE49-F238E27FC236}">
                  <a16:creationId xmlns:a16="http://schemas.microsoft.com/office/drawing/2014/main" id="{B6BA5360-375C-BE4A-A54A-7634D3A4B95A}"/>
                </a:ext>
              </a:extLst>
            </p:cNvPr>
            <p:cNvSpPr>
              <a:spLocks noChangeArrowheads="1"/>
            </p:cNvSpPr>
            <p:nvPr/>
          </p:nvSpPr>
          <p:spPr bwMode="auto">
            <a:xfrm>
              <a:off x="8886825" y="3665538"/>
              <a:ext cx="11113" cy="1587"/>
            </a:xfrm>
            <a:custGeom>
              <a:avLst/>
              <a:gdLst>
                <a:gd name="T0" fmla="*/ 28 w 29"/>
                <a:gd name="T1" fmla="*/ 0 h 6"/>
                <a:gd name="T2" fmla="*/ 0 w 29"/>
                <a:gd name="T3" fmla="*/ 5 h 6"/>
              </a:gdLst>
              <a:ahLst/>
              <a:cxnLst>
                <a:cxn ang="0">
                  <a:pos x="T0" y="T1"/>
                </a:cxn>
                <a:cxn ang="0">
                  <a:pos x="T2" y="T3"/>
                </a:cxn>
              </a:cxnLst>
              <a:rect l="0" t="0" r="r" b="b"/>
              <a:pathLst>
                <a:path w="29" h="6">
                  <a:moveTo>
                    <a:pt x="28" y="0"/>
                  </a:moveTo>
                  <a:cubicBezTo>
                    <a:pt x="19" y="2"/>
                    <a:pt x="9" y="4"/>
                    <a:pt x="0" y="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45" name="Freeform 43">
              <a:extLst>
                <a:ext uri="{FF2B5EF4-FFF2-40B4-BE49-F238E27FC236}">
                  <a16:creationId xmlns:a16="http://schemas.microsoft.com/office/drawing/2014/main" id="{9D4CA354-18AA-9440-B736-91A08ADC9B6C}"/>
                </a:ext>
              </a:extLst>
            </p:cNvPr>
            <p:cNvSpPr>
              <a:spLocks noChangeArrowheads="1"/>
            </p:cNvSpPr>
            <p:nvPr/>
          </p:nvSpPr>
          <p:spPr bwMode="auto">
            <a:xfrm>
              <a:off x="9078913" y="3394075"/>
              <a:ext cx="1587" cy="11113"/>
            </a:xfrm>
            <a:custGeom>
              <a:avLst/>
              <a:gdLst>
                <a:gd name="T0" fmla="*/ 5 w 6"/>
                <a:gd name="T1" fmla="*/ 28 h 29"/>
                <a:gd name="T2" fmla="*/ 0 w 6"/>
                <a:gd name="T3" fmla="*/ 0 h 29"/>
              </a:gdLst>
              <a:ahLst/>
              <a:cxnLst>
                <a:cxn ang="0">
                  <a:pos x="T0" y="T1"/>
                </a:cxn>
                <a:cxn ang="0">
                  <a:pos x="T2" y="T3"/>
                </a:cxn>
              </a:cxnLst>
              <a:rect l="0" t="0" r="r" b="b"/>
              <a:pathLst>
                <a:path w="6" h="29">
                  <a:moveTo>
                    <a:pt x="5" y="28"/>
                  </a:moveTo>
                  <a:cubicBezTo>
                    <a:pt x="3" y="18"/>
                    <a:pt x="2"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46" name="Freeform 44">
              <a:extLst>
                <a:ext uri="{FF2B5EF4-FFF2-40B4-BE49-F238E27FC236}">
                  <a16:creationId xmlns:a16="http://schemas.microsoft.com/office/drawing/2014/main" id="{3294C80A-A2F9-E744-A28C-DD5B5D71DA5C}"/>
                </a:ext>
              </a:extLst>
            </p:cNvPr>
            <p:cNvSpPr>
              <a:spLocks noChangeArrowheads="1"/>
            </p:cNvSpPr>
            <p:nvPr/>
          </p:nvSpPr>
          <p:spPr bwMode="auto">
            <a:xfrm>
              <a:off x="8623300" y="3473450"/>
              <a:ext cx="1588" cy="11113"/>
            </a:xfrm>
            <a:custGeom>
              <a:avLst/>
              <a:gdLst>
                <a:gd name="T0" fmla="*/ 5 w 6"/>
                <a:gd name="T1" fmla="*/ 28 h 29"/>
                <a:gd name="T2" fmla="*/ 0 w 6"/>
                <a:gd name="T3" fmla="*/ 0 h 29"/>
              </a:gdLst>
              <a:ahLst/>
              <a:cxnLst>
                <a:cxn ang="0">
                  <a:pos x="T0" y="T1"/>
                </a:cxn>
                <a:cxn ang="0">
                  <a:pos x="T2" y="T3"/>
                </a:cxn>
              </a:cxnLst>
              <a:rect l="0" t="0" r="r" b="b"/>
              <a:pathLst>
                <a:path w="6" h="29">
                  <a:moveTo>
                    <a:pt x="5" y="28"/>
                  </a:moveTo>
                  <a:cubicBezTo>
                    <a:pt x="4" y="19"/>
                    <a:pt x="2" y="1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47" name="Freeform 45">
              <a:extLst>
                <a:ext uri="{FF2B5EF4-FFF2-40B4-BE49-F238E27FC236}">
                  <a16:creationId xmlns:a16="http://schemas.microsoft.com/office/drawing/2014/main" id="{9C2A342B-8E7C-E249-BB2F-162DDB9917F5}"/>
                </a:ext>
              </a:extLst>
            </p:cNvPr>
            <p:cNvSpPr>
              <a:spLocks noChangeArrowheads="1"/>
            </p:cNvSpPr>
            <p:nvPr/>
          </p:nvSpPr>
          <p:spPr bwMode="auto">
            <a:xfrm>
              <a:off x="8767763" y="3219450"/>
              <a:ext cx="9525" cy="3175"/>
            </a:xfrm>
            <a:custGeom>
              <a:avLst/>
              <a:gdLst>
                <a:gd name="T0" fmla="*/ 26 w 27"/>
                <a:gd name="T1" fmla="*/ 0 h 11"/>
                <a:gd name="T2" fmla="*/ 0 w 27"/>
                <a:gd name="T3" fmla="*/ 10 h 11"/>
              </a:gdLst>
              <a:ahLst/>
              <a:cxnLst>
                <a:cxn ang="0">
                  <a:pos x="T0" y="T1"/>
                </a:cxn>
                <a:cxn ang="0">
                  <a:pos x="T2" y="T3"/>
                </a:cxn>
              </a:cxnLst>
              <a:rect l="0" t="0" r="r" b="b"/>
              <a:pathLst>
                <a:path w="27" h="11">
                  <a:moveTo>
                    <a:pt x="26" y="0"/>
                  </a:moveTo>
                  <a:cubicBezTo>
                    <a:pt x="18" y="3"/>
                    <a:pt x="9" y="6"/>
                    <a:pt x="0" y="1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48" name="Freeform 46">
              <a:extLst>
                <a:ext uri="{FF2B5EF4-FFF2-40B4-BE49-F238E27FC236}">
                  <a16:creationId xmlns:a16="http://schemas.microsoft.com/office/drawing/2014/main" id="{365A2C64-C613-7741-861F-984D69B631EE}"/>
                </a:ext>
              </a:extLst>
            </p:cNvPr>
            <p:cNvSpPr>
              <a:spLocks noChangeArrowheads="1"/>
            </p:cNvSpPr>
            <p:nvPr/>
          </p:nvSpPr>
          <p:spPr bwMode="auto">
            <a:xfrm>
              <a:off x="8926513" y="3654425"/>
              <a:ext cx="9525" cy="3175"/>
            </a:xfrm>
            <a:custGeom>
              <a:avLst/>
              <a:gdLst>
                <a:gd name="T0" fmla="*/ 26 w 27"/>
                <a:gd name="T1" fmla="*/ 0 h 10"/>
                <a:gd name="T2" fmla="*/ 0 w 27"/>
                <a:gd name="T3" fmla="*/ 9 h 10"/>
              </a:gdLst>
              <a:ahLst/>
              <a:cxnLst>
                <a:cxn ang="0">
                  <a:pos x="T0" y="T1"/>
                </a:cxn>
                <a:cxn ang="0">
                  <a:pos x="T2" y="T3"/>
                </a:cxn>
              </a:cxnLst>
              <a:rect l="0" t="0" r="r" b="b"/>
              <a:pathLst>
                <a:path w="27" h="10">
                  <a:moveTo>
                    <a:pt x="26" y="0"/>
                  </a:moveTo>
                  <a:cubicBezTo>
                    <a:pt x="17" y="3"/>
                    <a:pt x="9" y="6"/>
                    <a:pt x="0" y="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49" name="Freeform 47">
              <a:extLst>
                <a:ext uri="{FF2B5EF4-FFF2-40B4-BE49-F238E27FC236}">
                  <a16:creationId xmlns:a16="http://schemas.microsoft.com/office/drawing/2014/main" id="{1B6EF6BB-523F-3C4A-AF62-C044D48A8301}"/>
                </a:ext>
              </a:extLst>
            </p:cNvPr>
            <p:cNvSpPr>
              <a:spLocks noChangeArrowheads="1"/>
            </p:cNvSpPr>
            <p:nvPr/>
          </p:nvSpPr>
          <p:spPr bwMode="auto">
            <a:xfrm>
              <a:off x="9067800" y="3354388"/>
              <a:ext cx="3175" cy="9525"/>
            </a:xfrm>
            <a:custGeom>
              <a:avLst/>
              <a:gdLst>
                <a:gd name="T0" fmla="*/ 9 w 10"/>
                <a:gd name="T1" fmla="*/ 26 h 27"/>
                <a:gd name="T2" fmla="*/ 0 w 10"/>
                <a:gd name="T3" fmla="*/ 0 h 27"/>
              </a:gdLst>
              <a:ahLst/>
              <a:cxnLst>
                <a:cxn ang="0">
                  <a:pos x="T0" y="T1"/>
                </a:cxn>
                <a:cxn ang="0">
                  <a:pos x="T2" y="T3"/>
                </a:cxn>
              </a:cxnLst>
              <a:rect l="0" t="0" r="r" b="b"/>
              <a:pathLst>
                <a:path w="10" h="27">
                  <a:moveTo>
                    <a:pt x="9" y="26"/>
                  </a:moveTo>
                  <a:cubicBezTo>
                    <a:pt x="6" y="17"/>
                    <a:pt x="3"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50" name="Freeform 48">
              <a:extLst>
                <a:ext uri="{FF2B5EF4-FFF2-40B4-BE49-F238E27FC236}">
                  <a16:creationId xmlns:a16="http://schemas.microsoft.com/office/drawing/2014/main" id="{ADDB8414-AE47-9D4F-BD5C-DAABF011B8C5}"/>
                </a:ext>
              </a:extLst>
            </p:cNvPr>
            <p:cNvSpPr>
              <a:spLocks noChangeArrowheads="1"/>
            </p:cNvSpPr>
            <p:nvPr/>
          </p:nvSpPr>
          <p:spPr bwMode="auto">
            <a:xfrm>
              <a:off x="8632825" y="3513138"/>
              <a:ext cx="3175" cy="9525"/>
            </a:xfrm>
            <a:custGeom>
              <a:avLst/>
              <a:gdLst>
                <a:gd name="T0" fmla="*/ 10 w 11"/>
                <a:gd name="T1" fmla="*/ 26 h 27"/>
                <a:gd name="T2" fmla="*/ 0 w 11"/>
                <a:gd name="T3" fmla="*/ 0 h 27"/>
              </a:gdLst>
              <a:ahLst/>
              <a:cxnLst>
                <a:cxn ang="0">
                  <a:pos x="T0" y="T1"/>
                </a:cxn>
                <a:cxn ang="0">
                  <a:pos x="T2" y="T3"/>
                </a:cxn>
              </a:cxnLst>
              <a:rect l="0" t="0" r="r" b="b"/>
              <a:pathLst>
                <a:path w="11" h="27">
                  <a:moveTo>
                    <a:pt x="10" y="26"/>
                  </a:moveTo>
                  <a:cubicBezTo>
                    <a:pt x="7" y="18"/>
                    <a:pt x="4"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51" name="Freeform 49">
              <a:extLst>
                <a:ext uri="{FF2B5EF4-FFF2-40B4-BE49-F238E27FC236}">
                  <a16:creationId xmlns:a16="http://schemas.microsoft.com/office/drawing/2014/main" id="{29662CC7-D41D-3742-9723-D673355E4055}"/>
                </a:ext>
              </a:extLst>
            </p:cNvPr>
            <p:cNvSpPr>
              <a:spLocks noChangeArrowheads="1"/>
            </p:cNvSpPr>
            <p:nvPr/>
          </p:nvSpPr>
          <p:spPr bwMode="auto">
            <a:xfrm>
              <a:off x="8732838" y="3235325"/>
              <a:ext cx="9525" cy="4763"/>
            </a:xfrm>
            <a:custGeom>
              <a:avLst/>
              <a:gdLst>
                <a:gd name="T0" fmla="*/ 25 w 26"/>
                <a:gd name="T1" fmla="*/ 0 h 15"/>
                <a:gd name="T2" fmla="*/ 0 w 26"/>
                <a:gd name="T3" fmla="*/ 14 h 15"/>
              </a:gdLst>
              <a:ahLst/>
              <a:cxnLst>
                <a:cxn ang="0">
                  <a:pos x="T0" y="T1"/>
                </a:cxn>
                <a:cxn ang="0">
                  <a:pos x="T2" y="T3"/>
                </a:cxn>
              </a:cxnLst>
              <a:rect l="0" t="0" r="r" b="b"/>
              <a:pathLst>
                <a:path w="26" h="15">
                  <a:moveTo>
                    <a:pt x="25" y="0"/>
                  </a:moveTo>
                  <a:cubicBezTo>
                    <a:pt x="17" y="4"/>
                    <a:pt x="9" y="9"/>
                    <a:pt x="0" y="1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52" name="Freeform 50">
              <a:extLst>
                <a:ext uri="{FF2B5EF4-FFF2-40B4-BE49-F238E27FC236}">
                  <a16:creationId xmlns:a16="http://schemas.microsoft.com/office/drawing/2014/main" id="{7912BB96-0F77-4B4C-8105-F0BBF666304D}"/>
                </a:ext>
              </a:extLst>
            </p:cNvPr>
            <p:cNvSpPr>
              <a:spLocks noChangeArrowheads="1"/>
            </p:cNvSpPr>
            <p:nvPr/>
          </p:nvSpPr>
          <p:spPr bwMode="auto">
            <a:xfrm>
              <a:off x="8963025" y="3635375"/>
              <a:ext cx="9525" cy="4763"/>
            </a:xfrm>
            <a:custGeom>
              <a:avLst/>
              <a:gdLst>
                <a:gd name="T0" fmla="*/ 25 w 26"/>
                <a:gd name="T1" fmla="*/ 0 h 15"/>
                <a:gd name="T2" fmla="*/ 0 w 26"/>
                <a:gd name="T3" fmla="*/ 14 h 15"/>
              </a:gdLst>
              <a:ahLst/>
              <a:cxnLst>
                <a:cxn ang="0">
                  <a:pos x="T0" y="T1"/>
                </a:cxn>
                <a:cxn ang="0">
                  <a:pos x="T2" y="T3"/>
                </a:cxn>
              </a:cxnLst>
              <a:rect l="0" t="0" r="r" b="b"/>
              <a:pathLst>
                <a:path w="26" h="15">
                  <a:moveTo>
                    <a:pt x="25" y="0"/>
                  </a:moveTo>
                  <a:cubicBezTo>
                    <a:pt x="17" y="5"/>
                    <a:pt x="8" y="10"/>
                    <a:pt x="0" y="1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53" name="Freeform 51">
              <a:extLst>
                <a:ext uri="{FF2B5EF4-FFF2-40B4-BE49-F238E27FC236}">
                  <a16:creationId xmlns:a16="http://schemas.microsoft.com/office/drawing/2014/main" id="{1807671F-EE1C-B84B-A3FF-E3555021721B}"/>
                </a:ext>
              </a:extLst>
            </p:cNvPr>
            <p:cNvSpPr>
              <a:spLocks noChangeArrowheads="1"/>
            </p:cNvSpPr>
            <p:nvPr/>
          </p:nvSpPr>
          <p:spPr bwMode="auto">
            <a:xfrm>
              <a:off x="9050338" y="3317875"/>
              <a:ext cx="4762" cy="952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5"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54" name="Freeform 52">
              <a:extLst>
                <a:ext uri="{FF2B5EF4-FFF2-40B4-BE49-F238E27FC236}">
                  <a16:creationId xmlns:a16="http://schemas.microsoft.com/office/drawing/2014/main" id="{FF0125D9-116E-C648-A443-72C9B1ADB528}"/>
                </a:ext>
              </a:extLst>
            </p:cNvPr>
            <p:cNvSpPr>
              <a:spLocks noChangeArrowheads="1"/>
            </p:cNvSpPr>
            <p:nvPr/>
          </p:nvSpPr>
          <p:spPr bwMode="auto">
            <a:xfrm>
              <a:off x="8648700" y="3549650"/>
              <a:ext cx="4763" cy="952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10" y="17"/>
                    <a:pt x="5"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55" name="Freeform 53">
              <a:extLst>
                <a:ext uri="{FF2B5EF4-FFF2-40B4-BE49-F238E27FC236}">
                  <a16:creationId xmlns:a16="http://schemas.microsoft.com/office/drawing/2014/main" id="{7855C469-20CE-7E4D-BFBF-326B9C54AEBB}"/>
                </a:ext>
              </a:extLst>
            </p:cNvPr>
            <p:cNvSpPr>
              <a:spLocks noChangeArrowheads="1"/>
            </p:cNvSpPr>
            <p:nvPr/>
          </p:nvSpPr>
          <p:spPr bwMode="auto">
            <a:xfrm>
              <a:off x="8699500" y="3257550"/>
              <a:ext cx="7938" cy="7938"/>
            </a:xfrm>
            <a:custGeom>
              <a:avLst/>
              <a:gdLst>
                <a:gd name="T0" fmla="*/ 21 w 22"/>
                <a:gd name="T1" fmla="*/ 0 h 20"/>
                <a:gd name="T2" fmla="*/ 0 w 22"/>
                <a:gd name="T3" fmla="*/ 19 h 20"/>
              </a:gdLst>
              <a:ahLst/>
              <a:cxnLst>
                <a:cxn ang="0">
                  <a:pos x="T0" y="T1"/>
                </a:cxn>
                <a:cxn ang="0">
                  <a:pos x="T2" y="T3"/>
                </a:cxn>
              </a:cxnLst>
              <a:rect l="0" t="0" r="r" b="b"/>
              <a:pathLst>
                <a:path w="22" h="20">
                  <a:moveTo>
                    <a:pt x="21" y="0"/>
                  </a:moveTo>
                  <a:cubicBezTo>
                    <a:pt x="14" y="6"/>
                    <a:pt x="7" y="12"/>
                    <a:pt x="0" y="1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56" name="Freeform 54">
              <a:extLst>
                <a:ext uri="{FF2B5EF4-FFF2-40B4-BE49-F238E27FC236}">
                  <a16:creationId xmlns:a16="http://schemas.microsoft.com/office/drawing/2014/main" id="{C77214CF-3FD6-9142-B6F6-B237C92D1E95}"/>
                </a:ext>
              </a:extLst>
            </p:cNvPr>
            <p:cNvSpPr>
              <a:spLocks noChangeArrowheads="1"/>
            </p:cNvSpPr>
            <p:nvPr/>
          </p:nvSpPr>
          <p:spPr bwMode="auto">
            <a:xfrm>
              <a:off x="8996363" y="3611563"/>
              <a:ext cx="7937" cy="6350"/>
            </a:xfrm>
            <a:custGeom>
              <a:avLst/>
              <a:gdLst>
                <a:gd name="T0" fmla="*/ 22 w 23"/>
                <a:gd name="T1" fmla="*/ 0 h 19"/>
                <a:gd name="T2" fmla="*/ 0 w 23"/>
                <a:gd name="T3" fmla="*/ 18 h 19"/>
              </a:gdLst>
              <a:ahLst/>
              <a:cxnLst>
                <a:cxn ang="0">
                  <a:pos x="T0" y="T1"/>
                </a:cxn>
                <a:cxn ang="0">
                  <a:pos x="T2" y="T3"/>
                </a:cxn>
              </a:cxnLst>
              <a:rect l="0" t="0" r="r" b="b"/>
              <a:pathLst>
                <a:path w="23" h="19">
                  <a:moveTo>
                    <a:pt x="22" y="0"/>
                  </a:moveTo>
                  <a:cubicBezTo>
                    <a:pt x="15" y="6"/>
                    <a:pt x="7" y="12"/>
                    <a:pt x="0" y="1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57" name="Freeform 55">
              <a:extLst>
                <a:ext uri="{FF2B5EF4-FFF2-40B4-BE49-F238E27FC236}">
                  <a16:creationId xmlns:a16="http://schemas.microsoft.com/office/drawing/2014/main" id="{DFDA3488-559D-E14A-AA33-EEE1B72E3088}"/>
                </a:ext>
              </a:extLst>
            </p:cNvPr>
            <p:cNvSpPr>
              <a:spLocks noChangeArrowheads="1"/>
            </p:cNvSpPr>
            <p:nvPr/>
          </p:nvSpPr>
          <p:spPr bwMode="auto">
            <a:xfrm>
              <a:off x="9026525" y="3286125"/>
              <a:ext cx="6350" cy="7938"/>
            </a:xfrm>
            <a:custGeom>
              <a:avLst/>
              <a:gdLst>
                <a:gd name="T0" fmla="*/ 18 w 19"/>
                <a:gd name="T1" fmla="*/ 22 h 23"/>
                <a:gd name="T2" fmla="*/ 0 w 19"/>
                <a:gd name="T3" fmla="*/ 0 h 23"/>
              </a:gdLst>
              <a:ahLst/>
              <a:cxnLst>
                <a:cxn ang="0">
                  <a:pos x="T0" y="T1"/>
                </a:cxn>
                <a:cxn ang="0">
                  <a:pos x="T2" y="T3"/>
                </a:cxn>
              </a:cxnLst>
              <a:rect l="0" t="0" r="r" b="b"/>
              <a:pathLst>
                <a:path w="19" h="23">
                  <a:moveTo>
                    <a:pt x="18" y="22"/>
                  </a:moveTo>
                  <a:cubicBezTo>
                    <a:pt x="12" y="14"/>
                    <a:pt x="6" y="7"/>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58" name="Freeform 56">
              <a:extLst>
                <a:ext uri="{FF2B5EF4-FFF2-40B4-BE49-F238E27FC236}">
                  <a16:creationId xmlns:a16="http://schemas.microsoft.com/office/drawing/2014/main" id="{69B379BA-1D17-994A-BF35-F05F09933C91}"/>
                </a:ext>
              </a:extLst>
            </p:cNvPr>
            <p:cNvSpPr>
              <a:spLocks noChangeArrowheads="1"/>
            </p:cNvSpPr>
            <p:nvPr/>
          </p:nvSpPr>
          <p:spPr bwMode="auto">
            <a:xfrm>
              <a:off x="8670925" y="3582988"/>
              <a:ext cx="7938" cy="7937"/>
            </a:xfrm>
            <a:custGeom>
              <a:avLst/>
              <a:gdLst>
                <a:gd name="T0" fmla="*/ 19 w 20"/>
                <a:gd name="T1" fmla="*/ 22 h 23"/>
                <a:gd name="T2" fmla="*/ 0 w 20"/>
                <a:gd name="T3" fmla="*/ 0 h 23"/>
              </a:gdLst>
              <a:ahLst/>
              <a:cxnLst>
                <a:cxn ang="0">
                  <a:pos x="T0" y="T1"/>
                </a:cxn>
                <a:cxn ang="0">
                  <a:pos x="T2" y="T3"/>
                </a:cxn>
              </a:cxnLst>
              <a:rect l="0" t="0" r="r" b="b"/>
              <a:pathLst>
                <a:path w="20" h="23">
                  <a:moveTo>
                    <a:pt x="19" y="22"/>
                  </a:moveTo>
                  <a:cubicBezTo>
                    <a:pt x="13" y="15"/>
                    <a:pt x="7"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59" name="Freeform 57">
              <a:extLst>
                <a:ext uri="{FF2B5EF4-FFF2-40B4-BE49-F238E27FC236}">
                  <a16:creationId xmlns:a16="http://schemas.microsoft.com/office/drawing/2014/main" id="{26ECA600-1043-D047-A49B-892851FF479B}"/>
                </a:ext>
              </a:extLst>
            </p:cNvPr>
            <p:cNvSpPr>
              <a:spLocks noChangeArrowheads="1"/>
            </p:cNvSpPr>
            <p:nvPr/>
          </p:nvSpPr>
          <p:spPr bwMode="auto">
            <a:xfrm>
              <a:off x="8670925" y="3286125"/>
              <a:ext cx="7938" cy="7938"/>
            </a:xfrm>
            <a:custGeom>
              <a:avLst/>
              <a:gdLst>
                <a:gd name="T0" fmla="*/ 19 w 20"/>
                <a:gd name="T1" fmla="*/ 0 h 23"/>
                <a:gd name="T2" fmla="*/ 0 w 20"/>
                <a:gd name="T3" fmla="*/ 22 h 23"/>
              </a:gdLst>
              <a:ahLst/>
              <a:cxnLst>
                <a:cxn ang="0">
                  <a:pos x="T0" y="T1"/>
                </a:cxn>
                <a:cxn ang="0">
                  <a:pos x="T2" y="T3"/>
                </a:cxn>
              </a:cxnLst>
              <a:rect l="0" t="0" r="r" b="b"/>
              <a:pathLst>
                <a:path w="20" h="23">
                  <a:moveTo>
                    <a:pt x="19" y="0"/>
                  </a:moveTo>
                  <a:cubicBezTo>
                    <a:pt x="13" y="7"/>
                    <a:pt x="7" y="14"/>
                    <a:pt x="0" y="22"/>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60" name="Freeform 58">
              <a:extLst>
                <a:ext uri="{FF2B5EF4-FFF2-40B4-BE49-F238E27FC236}">
                  <a16:creationId xmlns:a16="http://schemas.microsoft.com/office/drawing/2014/main" id="{70141721-BE9D-0144-8367-F4DA6F6E945D}"/>
                </a:ext>
              </a:extLst>
            </p:cNvPr>
            <p:cNvSpPr>
              <a:spLocks noChangeArrowheads="1"/>
            </p:cNvSpPr>
            <p:nvPr/>
          </p:nvSpPr>
          <p:spPr bwMode="auto">
            <a:xfrm>
              <a:off x="9026525" y="3582988"/>
              <a:ext cx="6350" cy="7937"/>
            </a:xfrm>
            <a:custGeom>
              <a:avLst/>
              <a:gdLst>
                <a:gd name="T0" fmla="*/ 18 w 19"/>
                <a:gd name="T1" fmla="*/ 0 h 23"/>
                <a:gd name="T2" fmla="*/ 0 w 19"/>
                <a:gd name="T3" fmla="*/ 22 h 23"/>
              </a:gdLst>
              <a:ahLst/>
              <a:cxnLst>
                <a:cxn ang="0">
                  <a:pos x="T0" y="T1"/>
                </a:cxn>
                <a:cxn ang="0">
                  <a:pos x="T2" y="T3"/>
                </a:cxn>
              </a:cxnLst>
              <a:rect l="0" t="0" r="r" b="b"/>
              <a:pathLst>
                <a:path w="19" h="23">
                  <a:moveTo>
                    <a:pt x="18" y="0"/>
                  </a:moveTo>
                  <a:cubicBezTo>
                    <a:pt x="12" y="8"/>
                    <a:pt x="6" y="15"/>
                    <a:pt x="0" y="22"/>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61" name="Freeform 59">
              <a:extLst>
                <a:ext uri="{FF2B5EF4-FFF2-40B4-BE49-F238E27FC236}">
                  <a16:creationId xmlns:a16="http://schemas.microsoft.com/office/drawing/2014/main" id="{8742FBC5-35C4-1940-9B14-BF01D76FE26A}"/>
                </a:ext>
              </a:extLst>
            </p:cNvPr>
            <p:cNvSpPr>
              <a:spLocks noChangeArrowheads="1"/>
            </p:cNvSpPr>
            <p:nvPr/>
          </p:nvSpPr>
          <p:spPr bwMode="auto">
            <a:xfrm>
              <a:off x="8996363" y="3257550"/>
              <a:ext cx="7937" cy="7938"/>
            </a:xfrm>
            <a:custGeom>
              <a:avLst/>
              <a:gdLst>
                <a:gd name="T0" fmla="*/ 22 w 23"/>
                <a:gd name="T1" fmla="*/ 19 h 20"/>
                <a:gd name="T2" fmla="*/ 0 w 23"/>
                <a:gd name="T3" fmla="*/ 0 h 20"/>
              </a:gdLst>
              <a:ahLst/>
              <a:cxnLst>
                <a:cxn ang="0">
                  <a:pos x="T0" y="T1"/>
                </a:cxn>
                <a:cxn ang="0">
                  <a:pos x="T2" y="T3"/>
                </a:cxn>
              </a:cxnLst>
              <a:rect l="0" t="0" r="r" b="b"/>
              <a:pathLst>
                <a:path w="23" h="20">
                  <a:moveTo>
                    <a:pt x="22" y="19"/>
                  </a:moveTo>
                  <a:cubicBezTo>
                    <a:pt x="15" y="12"/>
                    <a:pt x="7" y="6"/>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62" name="Freeform 60">
              <a:extLst>
                <a:ext uri="{FF2B5EF4-FFF2-40B4-BE49-F238E27FC236}">
                  <a16:creationId xmlns:a16="http://schemas.microsoft.com/office/drawing/2014/main" id="{44483688-D6C4-7D4C-A99F-12A55669F884}"/>
                </a:ext>
              </a:extLst>
            </p:cNvPr>
            <p:cNvSpPr>
              <a:spLocks noChangeArrowheads="1"/>
            </p:cNvSpPr>
            <p:nvPr/>
          </p:nvSpPr>
          <p:spPr bwMode="auto">
            <a:xfrm>
              <a:off x="8699500" y="3611563"/>
              <a:ext cx="7938" cy="6350"/>
            </a:xfrm>
            <a:custGeom>
              <a:avLst/>
              <a:gdLst>
                <a:gd name="T0" fmla="*/ 21 w 22"/>
                <a:gd name="T1" fmla="*/ 18 h 19"/>
                <a:gd name="T2" fmla="*/ 0 w 22"/>
                <a:gd name="T3" fmla="*/ 0 h 19"/>
              </a:gdLst>
              <a:ahLst/>
              <a:cxnLst>
                <a:cxn ang="0">
                  <a:pos x="T0" y="T1"/>
                </a:cxn>
                <a:cxn ang="0">
                  <a:pos x="T2" y="T3"/>
                </a:cxn>
              </a:cxnLst>
              <a:rect l="0" t="0" r="r" b="b"/>
              <a:pathLst>
                <a:path w="22" h="19">
                  <a:moveTo>
                    <a:pt x="21" y="18"/>
                  </a:moveTo>
                  <a:cubicBezTo>
                    <a:pt x="14" y="12"/>
                    <a:pt x="7" y="6"/>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63" name="Freeform 61">
              <a:extLst>
                <a:ext uri="{FF2B5EF4-FFF2-40B4-BE49-F238E27FC236}">
                  <a16:creationId xmlns:a16="http://schemas.microsoft.com/office/drawing/2014/main" id="{37E248C5-A853-484E-A4EA-103891B0AA53}"/>
                </a:ext>
              </a:extLst>
            </p:cNvPr>
            <p:cNvSpPr>
              <a:spLocks noChangeArrowheads="1"/>
            </p:cNvSpPr>
            <p:nvPr/>
          </p:nvSpPr>
          <p:spPr bwMode="auto">
            <a:xfrm>
              <a:off x="8648700" y="3317875"/>
              <a:ext cx="4763" cy="952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10" y="8"/>
                    <a:pt x="5"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64" name="Freeform 62">
              <a:extLst>
                <a:ext uri="{FF2B5EF4-FFF2-40B4-BE49-F238E27FC236}">
                  <a16:creationId xmlns:a16="http://schemas.microsoft.com/office/drawing/2014/main" id="{FAC84D94-9FCD-584D-BABE-DB979FE33F8B}"/>
                </a:ext>
              </a:extLst>
            </p:cNvPr>
            <p:cNvSpPr>
              <a:spLocks noChangeArrowheads="1"/>
            </p:cNvSpPr>
            <p:nvPr/>
          </p:nvSpPr>
          <p:spPr bwMode="auto">
            <a:xfrm>
              <a:off x="9050338" y="3549650"/>
              <a:ext cx="4762" cy="952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9"/>
                    <a:pt x="5" y="17"/>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65" name="Freeform 63">
              <a:extLst>
                <a:ext uri="{FF2B5EF4-FFF2-40B4-BE49-F238E27FC236}">
                  <a16:creationId xmlns:a16="http://schemas.microsoft.com/office/drawing/2014/main" id="{6CBFB960-9D9D-484B-9E23-95A176AA8B6B}"/>
                </a:ext>
              </a:extLst>
            </p:cNvPr>
            <p:cNvSpPr>
              <a:spLocks noChangeArrowheads="1"/>
            </p:cNvSpPr>
            <p:nvPr/>
          </p:nvSpPr>
          <p:spPr bwMode="auto">
            <a:xfrm>
              <a:off x="8963025" y="3235325"/>
              <a:ext cx="9525" cy="4763"/>
            </a:xfrm>
            <a:custGeom>
              <a:avLst/>
              <a:gdLst>
                <a:gd name="T0" fmla="*/ 25 w 26"/>
                <a:gd name="T1" fmla="*/ 14 h 15"/>
                <a:gd name="T2" fmla="*/ 0 w 26"/>
                <a:gd name="T3" fmla="*/ 0 h 15"/>
              </a:gdLst>
              <a:ahLst/>
              <a:cxnLst>
                <a:cxn ang="0">
                  <a:pos x="T0" y="T1"/>
                </a:cxn>
                <a:cxn ang="0">
                  <a:pos x="T2" y="T3"/>
                </a:cxn>
              </a:cxnLst>
              <a:rect l="0" t="0" r="r" b="b"/>
              <a:pathLst>
                <a:path w="26" h="15">
                  <a:moveTo>
                    <a:pt x="25" y="14"/>
                  </a:moveTo>
                  <a:cubicBezTo>
                    <a:pt x="17" y="9"/>
                    <a:pt x="8" y="4"/>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66" name="Freeform 64">
              <a:extLst>
                <a:ext uri="{FF2B5EF4-FFF2-40B4-BE49-F238E27FC236}">
                  <a16:creationId xmlns:a16="http://schemas.microsoft.com/office/drawing/2014/main" id="{4DDA7F84-27F4-A84A-9CB5-A47AF9FA2FF1}"/>
                </a:ext>
              </a:extLst>
            </p:cNvPr>
            <p:cNvSpPr>
              <a:spLocks noChangeArrowheads="1"/>
            </p:cNvSpPr>
            <p:nvPr/>
          </p:nvSpPr>
          <p:spPr bwMode="auto">
            <a:xfrm>
              <a:off x="8732838" y="3635375"/>
              <a:ext cx="9525" cy="4763"/>
            </a:xfrm>
            <a:custGeom>
              <a:avLst/>
              <a:gdLst>
                <a:gd name="T0" fmla="*/ 25 w 26"/>
                <a:gd name="T1" fmla="*/ 14 h 15"/>
                <a:gd name="T2" fmla="*/ 0 w 26"/>
                <a:gd name="T3" fmla="*/ 0 h 15"/>
              </a:gdLst>
              <a:ahLst/>
              <a:cxnLst>
                <a:cxn ang="0">
                  <a:pos x="T0" y="T1"/>
                </a:cxn>
                <a:cxn ang="0">
                  <a:pos x="T2" y="T3"/>
                </a:cxn>
              </a:cxnLst>
              <a:rect l="0" t="0" r="r" b="b"/>
              <a:pathLst>
                <a:path w="26" h="15">
                  <a:moveTo>
                    <a:pt x="25" y="14"/>
                  </a:moveTo>
                  <a:cubicBezTo>
                    <a:pt x="17" y="10"/>
                    <a:pt x="9"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67" name="Freeform 65">
              <a:extLst>
                <a:ext uri="{FF2B5EF4-FFF2-40B4-BE49-F238E27FC236}">
                  <a16:creationId xmlns:a16="http://schemas.microsoft.com/office/drawing/2014/main" id="{B6BA86EB-432A-E64B-9AF7-EC0991D4AFD3}"/>
                </a:ext>
              </a:extLst>
            </p:cNvPr>
            <p:cNvSpPr>
              <a:spLocks noChangeArrowheads="1"/>
            </p:cNvSpPr>
            <p:nvPr/>
          </p:nvSpPr>
          <p:spPr bwMode="auto">
            <a:xfrm>
              <a:off x="8632825" y="3354388"/>
              <a:ext cx="3175" cy="9525"/>
            </a:xfrm>
            <a:custGeom>
              <a:avLst/>
              <a:gdLst>
                <a:gd name="T0" fmla="*/ 10 w 11"/>
                <a:gd name="T1" fmla="*/ 0 h 27"/>
                <a:gd name="T2" fmla="*/ 0 w 11"/>
                <a:gd name="T3" fmla="*/ 26 h 27"/>
              </a:gdLst>
              <a:ahLst/>
              <a:cxnLst>
                <a:cxn ang="0">
                  <a:pos x="T0" y="T1"/>
                </a:cxn>
                <a:cxn ang="0">
                  <a:pos x="T2" y="T3"/>
                </a:cxn>
              </a:cxnLst>
              <a:rect l="0" t="0" r="r" b="b"/>
              <a:pathLst>
                <a:path w="11" h="27">
                  <a:moveTo>
                    <a:pt x="10" y="0"/>
                  </a:moveTo>
                  <a:cubicBezTo>
                    <a:pt x="7" y="8"/>
                    <a:pt x="4" y="17"/>
                    <a:pt x="0" y="26"/>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68" name="Freeform 66">
              <a:extLst>
                <a:ext uri="{FF2B5EF4-FFF2-40B4-BE49-F238E27FC236}">
                  <a16:creationId xmlns:a16="http://schemas.microsoft.com/office/drawing/2014/main" id="{2EBD43A7-5F5E-CB48-AEA9-42B0E2108BA4}"/>
                </a:ext>
              </a:extLst>
            </p:cNvPr>
            <p:cNvSpPr>
              <a:spLocks noChangeArrowheads="1"/>
            </p:cNvSpPr>
            <p:nvPr/>
          </p:nvSpPr>
          <p:spPr bwMode="auto">
            <a:xfrm>
              <a:off x="9067800" y="3513138"/>
              <a:ext cx="3175" cy="9525"/>
            </a:xfrm>
            <a:custGeom>
              <a:avLst/>
              <a:gdLst>
                <a:gd name="T0" fmla="*/ 9 w 10"/>
                <a:gd name="T1" fmla="*/ 0 h 27"/>
                <a:gd name="T2" fmla="*/ 0 w 10"/>
                <a:gd name="T3" fmla="*/ 26 h 27"/>
              </a:gdLst>
              <a:ahLst/>
              <a:cxnLst>
                <a:cxn ang="0">
                  <a:pos x="T0" y="T1"/>
                </a:cxn>
                <a:cxn ang="0">
                  <a:pos x="T2" y="T3"/>
                </a:cxn>
              </a:cxnLst>
              <a:rect l="0" t="0" r="r" b="b"/>
              <a:pathLst>
                <a:path w="10" h="27">
                  <a:moveTo>
                    <a:pt x="9" y="0"/>
                  </a:moveTo>
                  <a:cubicBezTo>
                    <a:pt x="6" y="9"/>
                    <a:pt x="3" y="18"/>
                    <a:pt x="0" y="26"/>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69" name="Freeform 67">
              <a:extLst>
                <a:ext uri="{FF2B5EF4-FFF2-40B4-BE49-F238E27FC236}">
                  <a16:creationId xmlns:a16="http://schemas.microsoft.com/office/drawing/2014/main" id="{28723DD7-AFA2-7E41-AEB6-9E84B67D713C}"/>
                </a:ext>
              </a:extLst>
            </p:cNvPr>
            <p:cNvSpPr>
              <a:spLocks noChangeArrowheads="1"/>
            </p:cNvSpPr>
            <p:nvPr/>
          </p:nvSpPr>
          <p:spPr bwMode="auto">
            <a:xfrm>
              <a:off x="8926513" y="3219450"/>
              <a:ext cx="9525" cy="3175"/>
            </a:xfrm>
            <a:custGeom>
              <a:avLst/>
              <a:gdLst>
                <a:gd name="T0" fmla="*/ 26 w 27"/>
                <a:gd name="T1" fmla="*/ 10 h 11"/>
                <a:gd name="T2" fmla="*/ 0 w 27"/>
                <a:gd name="T3" fmla="*/ 0 h 11"/>
              </a:gdLst>
              <a:ahLst/>
              <a:cxnLst>
                <a:cxn ang="0">
                  <a:pos x="T0" y="T1"/>
                </a:cxn>
                <a:cxn ang="0">
                  <a:pos x="T2" y="T3"/>
                </a:cxn>
              </a:cxnLst>
              <a:rect l="0" t="0" r="r" b="b"/>
              <a:pathLst>
                <a:path w="27" h="11">
                  <a:moveTo>
                    <a:pt x="26" y="10"/>
                  </a:moveTo>
                  <a:cubicBezTo>
                    <a:pt x="17" y="6"/>
                    <a:pt x="9"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70" name="Freeform 68">
              <a:extLst>
                <a:ext uri="{FF2B5EF4-FFF2-40B4-BE49-F238E27FC236}">
                  <a16:creationId xmlns:a16="http://schemas.microsoft.com/office/drawing/2014/main" id="{6FAB6814-BE24-294F-AA40-C7226F1C3C7D}"/>
                </a:ext>
              </a:extLst>
            </p:cNvPr>
            <p:cNvSpPr>
              <a:spLocks noChangeArrowheads="1"/>
            </p:cNvSpPr>
            <p:nvPr/>
          </p:nvSpPr>
          <p:spPr bwMode="auto">
            <a:xfrm>
              <a:off x="8767763" y="3654425"/>
              <a:ext cx="9525" cy="3175"/>
            </a:xfrm>
            <a:custGeom>
              <a:avLst/>
              <a:gdLst>
                <a:gd name="T0" fmla="*/ 26 w 27"/>
                <a:gd name="T1" fmla="*/ 9 h 10"/>
                <a:gd name="T2" fmla="*/ 0 w 27"/>
                <a:gd name="T3" fmla="*/ 0 h 10"/>
              </a:gdLst>
              <a:ahLst/>
              <a:cxnLst>
                <a:cxn ang="0">
                  <a:pos x="T0" y="T1"/>
                </a:cxn>
                <a:cxn ang="0">
                  <a:pos x="T2" y="T3"/>
                </a:cxn>
              </a:cxnLst>
              <a:rect l="0" t="0" r="r" b="b"/>
              <a:pathLst>
                <a:path w="27" h="10">
                  <a:moveTo>
                    <a:pt x="26" y="9"/>
                  </a:moveTo>
                  <a:cubicBezTo>
                    <a:pt x="18" y="6"/>
                    <a:pt x="9"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71" name="Freeform 69">
              <a:extLst>
                <a:ext uri="{FF2B5EF4-FFF2-40B4-BE49-F238E27FC236}">
                  <a16:creationId xmlns:a16="http://schemas.microsoft.com/office/drawing/2014/main" id="{A725FA66-C328-A743-958D-E1FA81ECE31E}"/>
                </a:ext>
              </a:extLst>
            </p:cNvPr>
            <p:cNvSpPr>
              <a:spLocks noChangeArrowheads="1"/>
            </p:cNvSpPr>
            <p:nvPr/>
          </p:nvSpPr>
          <p:spPr bwMode="auto">
            <a:xfrm>
              <a:off x="8623300" y="3394075"/>
              <a:ext cx="1588" cy="11113"/>
            </a:xfrm>
            <a:custGeom>
              <a:avLst/>
              <a:gdLst>
                <a:gd name="T0" fmla="*/ 5 w 6"/>
                <a:gd name="T1" fmla="*/ 0 h 29"/>
                <a:gd name="T2" fmla="*/ 0 w 6"/>
                <a:gd name="T3" fmla="*/ 28 h 29"/>
              </a:gdLst>
              <a:ahLst/>
              <a:cxnLst>
                <a:cxn ang="0">
                  <a:pos x="T0" y="T1"/>
                </a:cxn>
                <a:cxn ang="0">
                  <a:pos x="T2" y="T3"/>
                </a:cxn>
              </a:cxnLst>
              <a:rect l="0" t="0" r="r" b="b"/>
              <a:pathLst>
                <a:path w="6" h="29">
                  <a:moveTo>
                    <a:pt x="5" y="0"/>
                  </a:moveTo>
                  <a:cubicBezTo>
                    <a:pt x="4" y="9"/>
                    <a:pt x="2" y="18"/>
                    <a:pt x="0" y="2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72" name="Freeform 70">
              <a:extLst>
                <a:ext uri="{FF2B5EF4-FFF2-40B4-BE49-F238E27FC236}">
                  <a16:creationId xmlns:a16="http://schemas.microsoft.com/office/drawing/2014/main" id="{D6395703-61D9-7E4B-8185-8F2C1C373510}"/>
                </a:ext>
              </a:extLst>
            </p:cNvPr>
            <p:cNvSpPr>
              <a:spLocks noChangeArrowheads="1"/>
            </p:cNvSpPr>
            <p:nvPr/>
          </p:nvSpPr>
          <p:spPr bwMode="auto">
            <a:xfrm>
              <a:off x="9078913" y="3473450"/>
              <a:ext cx="1587" cy="11113"/>
            </a:xfrm>
            <a:custGeom>
              <a:avLst/>
              <a:gdLst>
                <a:gd name="T0" fmla="*/ 5 w 6"/>
                <a:gd name="T1" fmla="*/ 0 h 29"/>
                <a:gd name="T2" fmla="*/ 0 w 6"/>
                <a:gd name="T3" fmla="*/ 28 h 29"/>
              </a:gdLst>
              <a:ahLst/>
              <a:cxnLst>
                <a:cxn ang="0">
                  <a:pos x="T0" y="T1"/>
                </a:cxn>
                <a:cxn ang="0">
                  <a:pos x="T2" y="T3"/>
                </a:cxn>
              </a:cxnLst>
              <a:rect l="0" t="0" r="r" b="b"/>
              <a:pathLst>
                <a:path w="6" h="29">
                  <a:moveTo>
                    <a:pt x="5" y="0"/>
                  </a:moveTo>
                  <a:cubicBezTo>
                    <a:pt x="3" y="10"/>
                    <a:pt x="2" y="19"/>
                    <a:pt x="0" y="2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73" name="Freeform 71">
              <a:extLst>
                <a:ext uri="{FF2B5EF4-FFF2-40B4-BE49-F238E27FC236}">
                  <a16:creationId xmlns:a16="http://schemas.microsoft.com/office/drawing/2014/main" id="{FF5F0EB2-10B0-9C46-96E7-96AA35FE07CA}"/>
                </a:ext>
              </a:extLst>
            </p:cNvPr>
            <p:cNvSpPr>
              <a:spLocks noChangeArrowheads="1"/>
            </p:cNvSpPr>
            <p:nvPr/>
          </p:nvSpPr>
          <p:spPr bwMode="auto">
            <a:xfrm>
              <a:off x="8886825" y="3209925"/>
              <a:ext cx="11113" cy="1588"/>
            </a:xfrm>
            <a:custGeom>
              <a:avLst/>
              <a:gdLst>
                <a:gd name="T0" fmla="*/ 28 w 29"/>
                <a:gd name="T1" fmla="*/ 5 h 6"/>
                <a:gd name="T2" fmla="*/ 0 w 29"/>
                <a:gd name="T3" fmla="*/ 0 h 6"/>
              </a:gdLst>
              <a:ahLst/>
              <a:cxnLst>
                <a:cxn ang="0">
                  <a:pos x="T0" y="T1"/>
                </a:cxn>
                <a:cxn ang="0">
                  <a:pos x="T2" y="T3"/>
                </a:cxn>
              </a:cxnLst>
              <a:rect l="0" t="0" r="r" b="b"/>
              <a:pathLst>
                <a:path w="29" h="6">
                  <a:moveTo>
                    <a:pt x="28" y="5"/>
                  </a:moveTo>
                  <a:cubicBezTo>
                    <a:pt x="19" y="3"/>
                    <a:pt x="9" y="1"/>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74" name="Freeform 72">
              <a:extLst>
                <a:ext uri="{FF2B5EF4-FFF2-40B4-BE49-F238E27FC236}">
                  <a16:creationId xmlns:a16="http://schemas.microsoft.com/office/drawing/2014/main" id="{3B5489EE-E97E-7242-94A3-032130C02B29}"/>
                </a:ext>
              </a:extLst>
            </p:cNvPr>
            <p:cNvSpPr>
              <a:spLocks noChangeArrowheads="1"/>
            </p:cNvSpPr>
            <p:nvPr/>
          </p:nvSpPr>
          <p:spPr bwMode="auto">
            <a:xfrm>
              <a:off x="8807450" y="3665538"/>
              <a:ext cx="11113" cy="1587"/>
            </a:xfrm>
            <a:custGeom>
              <a:avLst/>
              <a:gdLst>
                <a:gd name="T0" fmla="*/ 28 w 29"/>
                <a:gd name="T1" fmla="*/ 5 h 6"/>
                <a:gd name="T2" fmla="*/ 0 w 29"/>
                <a:gd name="T3" fmla="*/ 0 h 6"/>
              </a:gdLst>
              <a:ahLst/>
              <a:cxnLst>
                <a:cxn ang="0">
                  <a:pos x="T0" y="T1"/>
                </a:cxn>
                <a:cxn ang="0">
                  <a:pos x="T2" y="T3"/>
                </a:cxn>
              </a:cxnLst>
              <a:rect l="0" t="0" r="r" b="b"/>
              <a:pathLst>
                <a:path w="29" h="6">
                  <a:moveTo>
                    <a:pt x="28" y="5"/>
                  </a:moveTo>
                  <a:cubicBezTo>
                    <a:pt x="19" y="4"/>
                    <a:pt x="10" y="2"/>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293" name="Group 292">
            <a:extLst>
              <a:ext uri="{FF2B5EF4-FFF2-40B4-BE49-F238E27FC236}">
                <a16:creationId xmlns:a16="http://schemas.microsoft.com/office/drawing/2014/main" id="{6A48BA36-AC1B-4A45-AC54-7C218AC0976B}"/>
              </a:ext>
            </a:extLst>
          </p:cNvPr>
          <p:cNvGrpSpPr/>
          <p:nvPr/>
        </p:nvGrpSpPr>
        <p:grpSpPr>
          <a:xfrm>
            <a:off x="7802901" y="2233786"/>
            <a:ext cx="352742" cy="428330"/>
            <a:chOff x="918375" y="2281636"/>
            <a:chExt cx="444653" cy="539936"/>
          </a:xfrm>
        </p:grpSpPr>
        <p:sp>
          <p:nvSpPr>
            <p:cNvPr id="294" name="Freeform 343">
              <a:extLst>
                <a:ext uri="{FF2B5EF4-FFF2-40B4-BE49-F238E27FC236}">
                  <a16:creationId xmlns:a16="http://schemas.microsoft.com/office/drawing/2014/main" id="{7A17FD1A-62A2-C94D-A9C4-92D9E911D3AE}"/>
                </a:ext>
              </a:extLst>
            </p:cNvPr>
            <p:cNvSpPr>
              <a:spLocks noChangeArrowheads="1"/>
            </p:cNvSpPr>
            <p:nvPr/>
          </p:nvSpPr>
          <p:spPr bwMode="auto">
            <a:xfrm>
              <a:off x="1067255" y="2621082"/>
              <a:ext cx="51611" cy="49626"/>
            </a:xfrm>
            <a:custGeom>
              <a:avLst/>
              <a:gdLst>
                <a:gd name="T0" fmla="*/ 112 w 113"/>
                <a:gd name="T1" fmla="*/ 111 h 112"/>
                <a:gd name="T2" fmla="*/ 0 w 113"/>
                <a:gd name="T3" fmla="*/ 0 h 112"/>
              </a:gdLst>
              <a:ahLst/>
              <a:cxnLst>
                <a:cxn ang="0">
                  <a:pos x="T0" y="T1"/>
                </a:cxn>
                <a:cxn ang="0">
                  <a:pos x="T2" y="T3"/>
                </a:cxn>
              </a:cxnLst>
              <a:rect l="0" t="0" r="r" b="b"/>
              <a:pathLst>
                <a:path w="113" h="112">
                  <a:moveTo>
                    <a:pt x="112" y="111"/>
                  </a:moveTo>
                  <a:cubicBezTo>
                    <a:pt x="75" y="74"/>
                    <a:pt x="37" y="37"/>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95" name="Freeform 344">
              <a:extLst>
                <a:ext uri="{FF2B5EF4-FFF2-40B4-BE49-F238E27FC236}">
                  <a16:creationId xmlns:a16="http://schemas.microsoft.com/office/drawing/2014/main" id="{D9ADCF3E-8DAC-FE40-8A84-D619B54E47B0}"/>
                </a:ext>
              </a:extLst>
            </p:cNvPr>
            <p:cNvSpPr>
              <a:spLocks noChangeArrowheads="1"/>
            </p:cNvSpPr>
            <p:nvPr/>
          </p:nvSpPr>
          <p:spPr bwMode="auto">
            <a:xfrm>
              <a:off x="1162538" y="2716364"/>
              <a:ext cx="51611" cy="51611"/>
            </a:xfrm>
            <a:custGeom>
              <a:avLst/>
              <a:gdLst>
                <a:gd name="T0" fmla="*/ 112 w 113"/>
                <a:gd name="T1" fmla="*/ 112 h 113"/>
                <a:gd name="T2" fmla="*/ 0 w 113"/>
                <a:gd name="T3" fmla="*/ 0 h 113"/>
              </a:gdLst>
              <a:ahLst/>
              <a:cxnLst>
                <a:cxn ang="0">
                  <a:pos x="T0" y="T1"/>
                </a:cxn>
                <a:cxn ang="0">
                  <a:pos x="T2" y="T3"/>
                </a:cxn>
              </a:cxnLst>
              <a:rect l="0" t="0" r="r" b="b"/>
              <a:pathLst>
                <a:path w="113" h="113">
                  <a:moveTo>
                    <a:pt x="112" y="112"/>
                  </a:moveTo>
                  <a:cubicBezTo>
                    <a:pt x="75" y="74"/>
                    <a:pt x="37" y="37"/>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96" name="Freeform 345">
              <a:extLst>
                <a:ext uri="{FF2B5EF4-FFF2-40B4-BE49-F238E27FC236}">
                  <a16:creationId xmlns:a16="http://schemas.microsoft.com/office/drawing/2014/main" id="{1AB2B835-1F14-7846-B6D0-60FC02A13139}"/>
                </a:ext>
              </a:extLst>
            </p:cNvPr>
            <p:cNvSpPr>
              <a:spLocks noChangeArrowheads="1"/>
            </p:cNvSpPr>
            <p:nvPr/>
          </p:nvSpPr>
          <p:spPr bwMode="auto">
            <a:xfrm>
              <a:off x="1162538" y="2621082"/>
              <a:ext cx="51611" cy="49626"/>
            </a:xfrm>
            <a:custGeom>
              <a:avLst/>
              <a:gdLst>
                <a:gd name="T0" fmla="*/ 0 w 113"/>
                <a:gd name="T1" fmla="*/ 111 h 112"/>
                <a:gd name="T2" fmla="*/ 112 w 113"/>
                <a:gd name="T3" fmla="*/ 0 h 112"/>
              </a:gdLst>
              <a:ahLst/>
              <a:cxnLst>
                <a:cxn ang="0">
                  <a:pos x="T0" y="T1"/>
                </a:cxn>
                <a:cxn ang="0">
                  <a:pos x="T2" y="T3"/>
                </a:cxn>
              </a:cxnLst>
              <a:rect l="0" t="0" r="r" b="b"/>
              <a:pathLst>
                <a:path w="113" h="112">
                  <a:moveTo>
                    <a:pt x="0" y="111"/>
                  </a:moveTo>
                  <a:cubicBezTo>
                    <a:pt x="37" y="74"/>
                    <a:pt x="75" y="37"/>
                    <a:pt x="112"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97" name="Freeform 346">
              <a:extLst>
                <a:ext uri="{FF2B5EF4-FFF2-40B4-BE49-F238E27FC236}">
                  <a16:creationId xmlns:a16="http://schemas.microsoft.com/office/drawing/2014/main" id="{6D7C043F-02F4-7C42-A731-5810972B28A0}"/>
                </a:ext>
              </a:extLst>
            </p:cNvPr>
            <p:cNvSpPr>
              <a:spLocks noChangeArrowheads="1"/>
            </p:cNvSpPr>
            <p:nvPr/>
          </p:nvSpPr>
          <p:spPr bwMode="auto">
            <a:xfrm>
              <a:off x="1067255" y="2716364"/>
              <a:ext cx="51611" cy="51611"/>
            </a:xfrm>
            <a:custGeom>
              <a:avLst/>
              <a:gdLst>
                <a:gd name="T0" fmla="*/ 0 w 113"/>
                <a:gd name="T1" fmla="*/ 112 h 113"/>
                <a:gd name="T2" fmla="*/ 112 w 113"/>
                <a:gd name="T3" fmla="*/ 0 h 113"/>
              </a:gdLst>
              <a:ahLst/>
              <a:cxnLst>
                <a:cxn ang="0">
                  <a:pos x="T0" y="T1"/>
                </a:cxn>
                <a:cxn ang="0">
                  <a:pos x="T2" y="T3"/>
                </a:cxn>
              </a:cxnLst>
              <a:rect l="0" t="0" r="r" b="b"/>
              <a:pathLst>
                <a:path w="113" h="113">
                  <a:moveTo>
                    <a:pt x="0" y="112"/>
                  </a:moveTo>
                  <a:cubicBezTo>
                    <a:pt x="37" y="74"/>
                    <a:pt x="75" y="37"/>
                    <a:pt x="112"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98" name="Freeform 347">
              <a:extLst>
                <a:ext uri="{FF2B5EF4-FFF2-40B4-BE49-F238E27FC236}">
                  <a16:creationId xmlns:a16="http://schemas.microsoft.com/office/drawing/2014/main" id="{47D786CB-27C6-8E40-9A30-4E6AA9AF17EF}"/>
                </a:ext>
              </a:extLst>
            </p:cNvPr>
            <p:cNvSpPr>
              <a:spLocks noChangeArrowheads="1"/>
            </p:cNvSpPr>
            <p:nvPr/>
          </p:nvSpPr>
          <p:spPr bwMode="auto">
            <a:xfrm>
              <a:off x="1067255" y="2430516"/>
              <a:ext cx="51611" cy="51611"/>
            </a:xfrm>
            <a:custGeom>
              <a:avLst/>
              <a:gdLst>
                <a:gd name="T0" fmla="*/ 112 w 113"/>
                <a:gd name="T1" fmla="*/ 112 h 113"/>
                <a:gd name="T2" fmla="*/ 0 w 113"/>
                <a:gd name="T3" fmla="*/ 0 h 113"/>
              </a:gdLst>
              <a:ahLst/>
              <a:cxnLst>
                <a:cxn ang="0">
                  <a:pos x="T0" y="T1"/>
                </a:cxn>
                <a:cxn ang="0">
                  <a:pos x="T2" y="T3"/>
                </a:cxn>
              </a:cxnLst>
              <a:rect l="0" t="0" r="r" b="b"/>
              <a:pathLst>
                <a:path w="113" h="113">
                  <a:moveTo>
                    <a:pt x="112" y="112"/>
                  </a:moveTo>
                  <a:cubicBezTo>
                    <a:pt x="75" y="74"/>
                    <a:pt x="37" y="37"/>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99" name="Freeform 348">
              <a:extLst>
                <a:ext uri="{FF2B5EF4-FFF2-40B4-BE49-F238E27FC236}">
                  <a16:creationId xmlns:a16="http://schemas.microsoft.com/office/drawing/2014/main" id="{4065EEC5-CD72-7C42-970A-D63076FD9925}"/>
                </a:ext>
              </a:extLst>
            </p:cNvPr>
            <p:cNvSpPr>
              <a:spLocks noChangeArrowheads="1"/>
            </p:cNvSpPr>
            <p:nvPr/>
          </p:nvSpPr>
          <p:spPr bwMode="auto">
            <a:xfrm>
              <a:off x="1162538" y="2525799"/>
              <a:ext cx="51611" cy="51611"/>
            </a:xfrm>
            <a:custGeom>
              <a:avLst/>
              <a:gdLst>
                <a:gd name="T0" fmla="*/ 112 w 113"/>
                <a:gd name="T1" fmla="*/ 112 h 113"/>
                <a:gd name="T2" fmla="*/ 0 w 113"/>
                <a:gd name="T3" fmla="*/ 0 h 113"/>
              </a:gdLst>
              <a:ahLst/>
              <a:cxnLst>
                <a:cxn ang="0">
                  <a:pos x="T0" y="T1"/>
                </a:cxn>
                <a:cxn ang="0">
                  <a:pos x="T2" y="T3"/>
                </a:cxn>
              </a:cxnLst>
              <a:rect l="0" t="0" r="r" b="b"/>
              <a:pathLst>
                <a:path w="113" h="113">
                  <a:moveTo>
                    <a:pt x="112" y="112"/>
                  </a:moveTo>
                  <a:cubicBezTo>
                    <a:pt x="75" y="74"/>
                    <a:pt x="37" y="37"/>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00" name="Freeform 349">
              <a:extLst>
                <a:ext uri="{FF2B5EF4-FFF2-40B4-BE49-F238E27FC236}">
                  <a16:creationId xmlns:a16="http://schemas.microsoft.com/office/drawing/2014/main" id="{A55BFACC-09FF-424D-B362-484C8177FCAB}"/>
                </a:ext>
              </a:extLst>
            </p:cNvPr>
            <p:cNvSpPr>
              <a:spLocks noChangeArrowheads="1"/>
            </p:cNvSpPr>
            <p:nvPr/>
          </p:nvSpPr>
          <p:spPr bwMode="auto">
            <a:xfrm>
              <a:off x="1162538" y="2430516"/>
              <a:ext cx="51611" cy="51611"/>
            </a:xfrm>
            <a:custGeom>
              <a:avLst/>
              <a:gdLst>
                <a:gd name="T0" fmla="*/ 0 w 113"/>
                <a:gd name="T1" fmla="*/ 112 h 113"/>
                <a:gd name="T2" fmla="*/ 112 w 113"/>
                <a:gd name="T3" fmla="*/ 0 h 113"/>
              </a:gdLst>
              <a:ahLst/>
              <a:cxnLst>
                <a:cxn ang="0">
                  <a:pos x="T0" y="T1"/>
                </a:cxn>
                <a:cxn ang="0">
                  <a:pos x="T2" y="T3"/>
                </a:cxn>
              </a:cxnLst>
              <a:rect l="0" t="0" r="r" b="b"/>
              <a:pathLst>
                <a:path w="113" h="113">
                  <a:moveTo>
                    <a:pt x="0" y="112"/>
                  </a:moveTo>
                  <a:cubicBezTo>
                    <a:pt x="37" y="74"/>
                    <a:pt x="75" y="37"/>
                    <a:pt x="112"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01" name="Freeform 350">
              <a:extLst>
                <a:ext uri="{FF2B5EF4-FFF2-40B4-BE49-F238E27FC236}">
                  <a16:creationId xmlns:a16="http://schemas.microsoft.com/office/drawing/2014/main" id="{1B4C9C81-33A3-4943-BE28-42D116490A4C}"/>
                </a:ext>
              </a:extLst>
            </p:cNvPr>
            <p:cNvSpPr>
              <a:spLocks noChangeArrowheads="1"/>
            </p:cNvSpPr>
            <p:nvPr/>
          </p:nvSpPr>
          <p:spPr bwMode="auto">
            <a:xfrm>
              <a:off x="1067255" y="2525799"/>
              <a:ext cx="51611" cy="51611"/>
            </a:xfrm>
            <a:custGeom>
              <a:avLst/>
              <a:gdLst>
                <a:gd name="T0" fmla="*/ 0 w 113"/>
                <a:gd name="T1" fmla="*/ 112 h 113"/>
                <a:gd name="T2" fmla="*/ 112 w 113"/>
                <a:gd name="T3" fmla="*/ 0 h 113"/>
              </a:gdLst>
              <a:ahLst/>
              <a:cxnLst>
                <a:cxn ang="0">
                  <a:pos x="T0" y="T1"/>
                </a:cxn>
                <a:cxn ang="0">
                  <a:pos x="T2" y="T3"/>
                </a:cxn>
              </a:cxnLst>
              <a:rect l="0" t="0" r="r" b="b"/>
              <a:pathLst>
                <a:path w="113" h="113">
                  <a:moveTo>
                    <a:pt x="0" y="112"/>
                  </a:moveTo>
                  <a:cubicBezTo>
                    <a:pt x="37" y="74"/>
                    <a:pt x="75" y="37"/>
                    <a:pt x="112"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02" name="Freeform 351">
              <a:extLst>
                <a:ext uri="{FF2B5EF4-FFF2-40B4-BE49-F238E27FC236}">
                  <a16:creationId xmlns:a16="http://schemas.microsoft.com/office/drawing/2014/main" id="{82DCDA40-21BA-EC42-9279-CBEAF8F37070}"/>
                </a:ext>
              </a:extLst>
            </p:cNvPr>
            <p:cNvSpPr>
              <a:spLocks noChangeArrowheads="1"/>
            </p:cNvSpPr>
            <p:nvPr/>
          </p:nvSpPr>
          <p:spPr bwMode="auto">
            <a:xfrm>
              <a:off x="1108941" y="2281636"/>
              <a:ext cx="63522" cy="63522"/>
            </a:xfrm>
            <a:custGeom>
              <a:avLst/>
              <a:gdLst>
                <a:gd name="T0" fmla="*/ 142 w 143"/>
                <a:gd name="T1" fmla="*/ 71 h 142"/>
                <a:gd name="T2" fmla="*/ 132 w 143"/>
                <a:gd name="T3" fmla="*/ 106 h 142"/>
                <a:gd name="T4" fmla="*/ 106 w 143"/>
                <a:gd name="T5" fmla="*/ 132 h 142"/>
                <a:gd name="T6" fmla="*/ 71 w 143"/>
                <a:gd name="T7" fmla="*/ 141 h 142"/>
                <a:gd name="T8" fmla="*/ 36 w 143"/>
                <a:gd name="T9" fmla="*/ 132 h 142"/>
                <a:gd name="T10" fmla="*/ 10 w 143"/>
                <a:gd name="T11" fmla="*/ 106 h 142"/>
                <a:gd name="T12" fmla="*/ 0 w 143"/>
                <a:gd name="T13" fmla="*/ 71 h 142"/>
                <a:gd name="T14" fmla="*/ 10 w 143"/>
                <a:gd name="T15" fmla="*/ 35 h 142"/>
                <a:gd name="T16" fmla="*/ 36 w 143"/>
                <a:gd name="T17" fmla="*/ 10 h 142"/>
                <a:gd name="T18" fmla="*/ 71 w 143"/>
                <a:gd name="T19" fmla="*/ 0 h 142"/>
                <a:gd name="T20" fmla="*/ 106 w 143"/>
                <a:gd name="T21" fmla="*/ 10 h 142"/>
                <a:gd name="T22" fmla="*/ 132 w 143"/>
                <a:gd name="T23" fmla="*/ 35 h 142"/>
                <a:gd name="T24" fmla="*/ 142 w 143"/>
                <a:gd name="T25" fmla="*/ 71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3" h="142">
                  <a:moveTo>
                    <a:pt x="142" y="71"/>
                  </a:moveTo>
                  <a:cubicBezTo>
                    <a:pt x="142" y="84"/>
                    <a:pt x="138" y="95"/>
                    <a:pt x="132" y="106"/>
                  </a:cubicBezTo>
                  <a:cubicBezTo>
                    <a:pt x="125" y="117"/>
                    <a:pt x="117" y="125"/>
                    <a:pt x="106" y="132"/>
                  </a:cubicBezTo>
                  <a:cubicBezTo>
                    <a:pt x="94" y="138"/>
                    <a:pt x="84" y="141"/>
                    <a:pt x="71" y="141"/>
                  </a:cubicBezTo>
                  <a:cubicBezTo>
                    <a:pt x="58" y="141"/>
                    <a:pt x="47" y="138"/>
                    <a:pt x="36" y="132"/>
                  </a:cubicBezTo>
                  <a:cubicBezTo>
                    <a:pt x="25" y="125"/>
                    <a:pt x="16" y="117"/>
                    <a:pt x="10" y="106"/>
                  </a:cubicBezTo>
                  <a:cubicBezTo>
                    <a:pt x="3" y="95"/>
                    <a:pt x="0" y="84"/>
                    <a:pt x="0" y="71"/>
                  </a:cubicBezTo>
                  <a:cubicBezTo>
                    <a:pt x="0" y="58"/>
                    <a:pt x="3" y="46"/>
                    <a:pt x="10" y="35"/>
                  </a:cubicBezTo>
                  <a:cubicBezTo>
                    <a:pt x="16" y="23"/>
                    <a:pt x="25" y="16"/>
                    <a:pt x="36" y="10"/>
                  </a:cubicBezTo>
                  <a:cubicBezTo>
                    <a:pt x="47" y="3"/>
                    <a:pt x="58" y="0"/>
                    <a:pt x="71" y="0"/>
                  </a:cubicBezTo>
                  <a:cubicBezTo>
                    <a:pt x="84" y="0"/>
                    <a:pt x="94" y="3"/>
                    <a:pt x="106" y="10"/>
                  </a:cubicBezTo>
                  <a:cubicBezTo>
                    <a:pt x="117" y="16"/>
                    <a:pt x="125" y="23"/>
                    <a:pt x="132" y="35"/>
                  </a:cubicBezTo>
                  <a:cubicBezTo>
                    <a:pt x="138" y="46"/>
                    <a:pt x="142" y="58"/>
                    <a:pt x="142" y="7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03" name="Freeform 352">
              <a:extLst>
                <a:ext uri="{FF2B5EF4-FFF2-40B4-BE49-F238E27FC236}">
                  <a16:creationId xmlns:a16="http://schemas.microsoft.com/office/drawing/2014/main" id="{F282A44F-D75D-C342-8815-0FC3C7876F36}"/>
                </a:ext>
              </a:extLst>
            </p:cNvPr>
            <p:cNvSpPr>
              <a:spLocks noChangeArrowheads="1"/>
            </p:cNvSpPr>
            <p:nvPr/>
          </p:nvSpPr>
          <p:spPr bwMode="auto">
            <a:xfrm>
              <a:off x="1108941" y="2472202"/>
              <a:ext cx="63522" cy="63522"/>
            </a:xfrm>
            <a:custGeom>
              <a:avLst/>
              <a:gdLst>
                <a:gd name="T0" fmla="*/ 142 w 143"/>
                <a:gd name="T1" fmla="*/ 71 h 143"/>
                <a:gd name="T2" fmla="*/ 132 w 143"/>
                <a:gd name="T3" fmla="*/ 106 h 143"/>
                <a:gd name="T4" fmla="*/ 106 w 143"/>
                <a:gd name="T5" fmla="*/ 132 h 143"/>
                <a:gd name="T6" fmla="*/ 71 w 143"/>
                <a:gd name="T7" fmla="*/ 142 h 143"/>
                <a:gd name="T8" fmla="*/ 36 w 143"/>
                <a:gd name="T9" fmla="*/ 132 h 143"/>
                <a:gd name="T10" fmla="*/ 10 w 143"/>
                <a:gd name="T11" fmla="*/ 106 h 143"/>
                <a:gd name="T12" fmla="*/ 0 w 143"/>
                <a:gd name="T13" fmla="*/ 71 h 143"/>
                <a:gd name="T14" fmla="*/ 10 w 143"/>
                <a:gd name="T15" fmla="*/ 36 h 143"/>
                <a:gd name="T16" fmla="*/ 36 w 143"/>
                <a:gd name="T17" fmla="*/ 10 h 143"/>
                <a:gd name="T18" fmla="*/ 71 w 143"/>
                <a:gd name="T19" fmla="*/ 0 h 143"/>
                <a:gd name="T20" fmla="*/ 106 w 143"/>
                <a:gd name="T21" fmla="*/ 10 h 143"/>
                <a:gd name="T22" fmla="*/ 132 w 143"/>
                <a:gd name="T23" fmla="*/ 36 h 143"/>
                <a:gd name="T24" fmla="*/ 142 w 143"/>
                <a:gd name="T25" fmla="*/ 7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3" h="143">
                  <a:moveTo>
                    <a:pt x="142" y="71"/>
                  </a:moveTo>
                  <a:cubicBezTo>
                    <a:pt x="142" y="84"/>
                    <a:pt x="138" y="94"/>
                    <a:pt x="132" y="106"/>
                  </a:cubicBezTo>
                  <a:cubicBezTo>
                    <a:pt x="125" y="117"/>
                    <a:pt x="117" y="125"/>
                    <a:pt x="106" y="132"/>
                  </a:cubicBezTo>
                  <a:cubicBezTo>
                    <a:pt x="94" y="138"/>
                    <a:pt x="84" y="142"/>
                    <a:pt x="71" y="142"/>
                  </a:cubicBezTo>
                  <a:cubicBezTo>
                    <a:pt x="58" y="142"/>
                    <a:pt x="47" y="138"/>
                    <a:pt x="36" y="132"/>
                  </a:cubicBezTo>
                  <a:cubicBezTo>
                    <a:pt x="25" y="125"/>
                    <a:pt x="16" y="117"/>
                    <a:pt x="10" y="106"/>
                  </a:cubicBezTo>
                  <a:cubicBezTo>
                    <a:pt x="3" y="94"/>
                    <a:pt x="0" y="84"/>
                    <a:pt x="0" y="71"/>
                  </a:cubicBezTo>
                  <a:cubicBezTo>
                    <a:pt x="0" y="58"/>
                    <a:pt x="3" y="47"/>
                    <a:pt x="10" y="36"/>
                  </a:cubicBezTo>
                  <a:cubicBezTo>
                    <a:pt x="16" y="25"/>
                    <a:pt x="25" y="16"/>
                    <a:pt x="36" y="10"/>
                  </a:cubicBezTo>
                  <a:cubicBezTo>
                    <a:pt x="47" y="3"/>
                    <a:pt x="58" y="0"/>
                    <a:pt x="71" y="0"/>
                  </a:cubicBezTo>
                  <a:cubicBezTo>
                    <a:pt x="84" y="0"/>
                    <a:pt x="94" y="3"/>
                    <a:pt x="106" y="10"/>
                  </a:cubicBezTo>
                  <a:cubicBezTo>
                    <a:pt x="117" y="16"/>
                    <a:pt x="125" y="25"/>
                    <a:pt x="132" y="36"/>
                  </a:cubicBezTo>
                  <a:cubicBezTo>
                    <a:pt x="138" y="47"/>
                    <a:pt x="142" y="58"/>
                    <a:pt x="142" y="7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04" name="Freeform 353">
              <a:extLst>
                <a:ext uri="{FF2B5EF4-FFF2-40B4-BE49-F238E27FC236}">
                  <a16:creationId xmlns:a16="http://schemas.microsoft.com/office/drawing/2014/main" id="{DE4540F1-53A1-DE4C-8D83-93FAB45048A7}"/>
                </a:ext>
              </a:extLst>
            </p:cNvPr>
            <p:cNvSpPr>
              <a:spLocks noChangeArrowheads="1"/>
            </p:cNvSpPr>
            <p:nvPr/>
          </p:nvSpPr>
          <p:spPr bwMode="auto">
            <a:xfrm>
              <a:off x="1067255" y="2335234"/>
              <a:ext cx="51611" cy="51611"/>
            </a:xfrm>
            <a:custGeom>
              <a:avLst/>
              <a:gdLst>
                <a:gd name="T0" fmla="*/ 0 w 113"/>
                <a:gd name="T1" fmla="*/ 112 h 113"/>
                <a:gd name="T2" fmla="*/ 112 w 113"/>
                <a:gd name="T3" fmla="*/ 0 h 113"/>
              </a:gdLst>
              <a:ahLst/>
              <a:cxnLst>
                <a:cxn ang="0">
                  <a:pos x="T0" y="T1"/>
                </a:cxn>
                <a:cxn ang="0">
                  <a:pos x="T2" y="T3"/>
                </a:cxn>
              </a:cxnLst>
              <a:rect l="0" t="0" r="r" b="b"/>
              <a:pathLst>
                <a:path w="113" h="113">
                  <a:moveTo>
                    <a:pt x="0" y="112"/>
                  </a:moveTo>
                  <a:cubicBezTo>
                    <a:pt x="37" y="74"/>
                    <a:pt x="75" y="37"/>
                    <a:pt x="112"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05" name="Freeform 354">
              <a:extLst>
                <a:ext uri="{FF2B5EF4-FFF2-40B4-BE49-F238E27FC236}">
                  <a16:creationId xmlns:a16="http://schemas.microsoft.com/office/drawing/2014/main" id="{A93D8241-5F4B-1B40-B894-C0729CD6D3C3}"/>
                </a:ext>
              </a:extLst>
            </p:cNvPr>
            <p:cNvSpPr>
              <a:spLocks noChangeArrowheads="1"/>
            </p:cNvSpPr>
            <p:nvPr/>
          </p:nvSpPr>
          <p:spPr bwMode="auto">
            <a:xfrm>
              <a:off x="1204223" y="2376919"/>
              <a:ext cx="63522" cy="63522"/>
            </a:xfrm>
            <a:custGeom>
              <a:avLst/>
              <a:gdLst>
                <a:gd name="T0" fmla="*/ 141 w 142"/>
                <a:gd name="T1" fmla="*/ 70 h 142"/>
                <a:gd name="T2" fmla="*/ 132 w 142"/>
                <a:gd name="T3" fmla="*/ 106 h 142"/>
                <a:gd name="T4" fmla="*/ 106 w 142"/>
                <a:gd name="T5" fmla="*/ 132 h 142"/>
                <a:gd name="T6" fmla="*/ 71 w 142"/>
                <a:gd name="T7" fmla="*/ 141 h 142"/>
                <a:gd name="T8" fmla="*/ 35 w 142"/>
                <a:gd name="T9" fmla="*/ 132 h 142"/>
                <a:gd name="T10" fmla="*/ 10 w 142"/>
                <a:gd name="T11" fmla="*/ 106 h 142"/>
                <a:gd name="T12" fmla="*/ 0 w 142"/>
                <a:gd name="T13" fmla="*/ 70 h 142"/>
                <a:gd name="T14" fmla="*/ 10 w 142"/>
                <a:gd name="T15" fmla="*/ 35 h 142"/>
                <a:gd name="T16" fmla="*/ 35 w 142"/>
                <a:gd name="T17" fmla="*/ 9 h 142"/>
                <a:gd name="T18" fmla="*/ 71 w 142"/>
                <a:gd name="T19" fmla="*/ 0 h 142"/>
                <a:gd name="T20" fmla="*/ 106 w 142"/>
                <a:gd name="T21" fmla="*/ 9 h 142"/>
                <a:gd name="T22" fmla="*/ 132 w 142"/>
                <a:gd name="T23" fmla="*/ 35 h 142"/>
                <a:gd name="T24" fmla="*/ 141 w 142"/>
                <a:gd name="T25" fmla="*/ 7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 h="142">
                  <a:moveTo>
                    <a:pt x="141" y="70"/>
                  </a:moveTo>
                  <a:cubicBezTo>
                    <a:pt x="141" y="83"/>
                    <a:pt x="138" y="94"/>
                    <a:pt x="132" y="106"/>
                  </a:cubicBezTo>
                  <a:cubicBezTo>
                    <a:pt x="125" y="117"/>
                    <a:pt x="117" y="125"/>
                    <a:pt x="106" y="132"/>
                  </a:cubicBezTo>
                  <a:cubicBezTo>
                    <a:pt x="95" y="138"/>
                    <a:pt x="84" y="141"/>
                    <a:pt x="71" y="141"/>
                  </a:cubicBezTo>
                  <a:cubicBezTo>
                    <a:pt x="58" y="141"/>
                    <a:pt x="46" y="138"/>
                    <a:pt x="35" y="132"/>
                  </a:cubicBezTo>
                  <a:cubicBezTo>
                    <a:pt x="23" y="125"/>
                    <a:pt x="16" y="117"/>
                    <a:pt x="10" y="106"/>
                  </a:cubicBezTo>
                  <a:cubicBezTo>
                    <a:pt x="3" y="94"/>
                    <a:pt x="0" y="83"/>
                    <a:pt x="0" y="70"/>
                  </a:cubicBezTo>
                  <a:cubicBezTo>
                    <a:pt x="0" y="57"/>
                    <a:pt x="3" y="46"/>
                    <a:pt x="10" y="35"/>
                  </a:cubicBezTo>
                  <a:cubicBezTo>
                    <a:pt x="16" y="24"/>
                    <a:pt x="23" y="15"/>
                    <a:pt x="35" y="9"/>
                  </a:cubicBezTo>
                  <a:cubicBezTo>
                    <a:pt x="46" y="2"/>
                    <a:pt x="58" y="0"/>
                    <a:pt x="71" y="0"/>
                  </a:cubicBezTo>
                  <a:cubicBezTo>
                    <a:pt x="84" y="0"/>
                    <a:pt x="95" y="2"/>
                    <a:pt x="106" y="9"/>
                  </a:cubicBezTo>
                  <a:cubicBezTo>
                    <a:pt x="117" y="15"/>
                    <a:pt x="125" y="24"/>
                    <a:pt x="132" y="35"/>
                  </a:cubicBezTo>
                  <a:cubicBezTo>
                    <a:pt x="138" y="46"/>
                    <a:pt x="141" y="57"/>
                    <a:pt x="141" y="7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06" name="Freeform 355">
              <a:extLst>
                <a:ext uri="{FF2B5EF4-FFF2-40B4-BE49-F238E27FC236}">
                  <a16:creationId xmlns:a16="http://schemas.microsoft.com/office/drawing/2014/main" id="{91E50915-A07E-A940-9CB5-08148B808643}"/>
                </a:ext>
              </a:extLst>
            </p:cNvPr>
            <p:cNvSpPr>
              <a:spLocks noChangeArrowheads="1"/>
            </p:cNvSpPr>
            <p:nvPr/>
          </p:nvSpPr>
          <p:spPr bwMode="auto">
            <a:xfrm>
              <a:off x="1013658" y="2376919"/>
              <a:ext cx="63522" cy="63522"/>
            </a:xfrm>
            <a:custGeom>
              <a:avLst/>
              <a:gdLst>
                <a:gd name="T0" fmla="*/ 141 w 142"/>
                <a:gd name="T1" fmla="*/ 70 h 142"/>
                <a:gd name="T2" fmla="*/ 132 w 142"/>
                <a:gd name="T3" fmla="*/ 106 h 142"/>
                <a:gd name="T4" fmla="*/ 106 w 142"/>
                <a:gd name="T5" fmla="*/ 132 h 142"/>
                <a:gd name="T6" fmla="*/ 70 w 142"/>
                <a:gd name="T7" fmla="*/ 141 h 142"/>
                <a:gd name="T8" fmla="*/ 35 w 142"/>
                <a:gd name="T9" fmla="*/ 132 h 142"/>
                <a:gd name="T10" fmla="*/ 9 w 142"/>
                <a:gd name="T11" fmla="*/ 106 h 142"/>
                <a:gd name="T12" fmla="*/ 0 w 142"/>
                <a:gd name="T13" fmla="*/ 70 h 142"/>
                <a:gd name="T14" fmla="*/ 9 w 142"/>
                <a:gd name="T15" fmla="*/ 35 h 142"/>
                <a:gd name="T16" fmla="*/ 35 w 142"/>
                <a:gd name="T17" fmla="*/ 9 h 142"/>
                <a:gd name="T18" fmla="*/ 70 w 142"/>
                <a:gd name="T19" fmla="*/ 0 h 142"/>
                <a:gd name="T20" fmla="*/ 106 w 142"/>
                <a:gd name="T21" fmla="*/ 9 h 142"/>
                <a:gd name="T22" fmla="*/ 132 w 142"/>
                <a:gd name="T23" fmla="*/ 35 h 142"/>
                <a:gd name="T24" fmla="*/ 141 w 142"/>
                <a:gd name="T25" fmla="*/ 7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 h="142">
                  <a:moveTo>
                    <a:pt x="141" y="70"/>
                  </a:moveTo>
                  <a:cubicBezTo>
                    <a:pt x="141" y="83"/>
                    <a:pt x="138" y="94"/>
                    <a:pt x="132" y="106"/>
                  </a:cubicBezTo>
                  <a:cubicBezTo>
                    <a:pt x="125" y="117"/>
                    <a:pt x="117" y="125"/>
                    <a:pt x="106" y="132"/>
                  </a:cubicBezTo>
                  <a:cubicBezTo>
                    <a:pt x="94" y="138"/>
                    <a:pt x="83" y="141"/>
                    <a:pt x="70" y="141"/>
                  </a:cubicBezTo>
                  <a:cubicBezTo>
                    <a:pt x="57" y="141"/>
                    <a:pt x="46" y="138"/>
                    <a:pt x="35" y="132"/>
                  </a:cubicBezTo>
                  <a:cubicBezTo>
                    <a:pt x="24" y="125"/>
                    <a:pt x="15" y="117"/>
                    <a:pt x="9" y="106"/>
                  </a:cubicBezTo>
                  <a:cubicBezTo>
                    <a:pt x="2" y="94"/>
                    <a:pt x="0" y="83"/>
                    <a:pt x="0" y="70"/>
                  </a:cubicBezTo>
                  <a:cubicBezTo>
                    <a:pt x="0" y="57"/>
                    <a:pt x="2" y="46"/>
                    <a:pt x="9" y="35"/>
                  </a:cubicBezTo>
                  <a:cubicBezTo>
                    <a:pt x="15" y="24"/>
                    <a:pt x="24" y="15"/>
                    <a:pt x="35" y="9"/>
                  </a:cubicBezTo>
                  <a:cubicBezTo>
                    <a:pt x="46" y="2"/>
                    <a:pt x="57" y="0"/>
                    <a:pt x="70" y="0"/>
                  </a:cubicBezTo>
                  <a:cubicBezTo>
                    <a:pt x="83" y="0"/>
                    <a:pt x="94" y="2"/>
                    <a:pt x="106" y="9"/>
                  </a:cubicBezTo>
                  <a:cubicBezTo>
                    <a:pt x="117" y="15"/>
                    <a:pt x="125" y="24"/>
                    <a:pt x="132" y="35"/>
                  </a:cubicBezTo>
                  <a:cubicBezTo>
                    <a:pt x="138" y="46"/>
                    <a:pt x="141" y="57"/>
                    <a:pt x="141" y="7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07" name="Freeform 356">
              <a:extLst>
                <a:ext uri="{FF2B5EF4-FFF2-40B4-BE49-F238E27FC236}">
                  <a16:creationId xmlns:a16="http://schemas.microsoft.com/office/drawing/2014/main" id="{592CF29A-2D6C-A14F-85DD-60B14A5D816C}"/>
                </a:ext>
              </a:extLst>
            </p:cNvPr>
            <p:cNvSpPr>
              <a:spLocks noChangeArrowheads="1"/>
            </p:cNvSpPr>
            <p:nvPr/>
          </p:nvSpPr>
          <p:spPr bwMode="auto">
            <a:xfrm>
              <a:off x="1108941" y="2662767"/>
              <a:ext cx="63522" cy="63522"/>
            </a:xfrm>
            <a:custGeom>
              <a:avLst/>
              <a:gdLst>
                <a:gd name="T0" fmla="*/ 142 w 143"/>
                <a:gd name="T1" fmla="*/ 70 h 142"/>
                <a:gd name="T2" fmla="*/ 132 w 143"/>
                <a:gd name="T3" fmla="*/ 106 h 142"/>
                <a:gd name="T4" fmla="*/ 106 w 143"/>
                <a:gd name="T5" fmla="*/ 132 h 142"/>
                <a:gd name="T6" fmla="*/ 71 w 143"/>
                <a:gd name="T7" fmla="*/ 141 h 142"/>
                <a:gd name="T8" fmla="*/ 36 w 143"/>
                <a:gd name="T9" fmla="*/ 132 h 142"/>
                <a:gd name="T10" fmla="*/ 10 w 143"/>
                <a:gd name="T11" fmla="*/ 106 h 142"/>
                <a:gd name="T12" fmla="*/ 0 w 143"/>
                <a:gd name="T13" fmla="*/ 70 h 142"/>
                <a:gd name="T14" fmla="*/ 10 w 143"/>
                <a:gd name="T15" fmla="*/ 35 h 142"/>
                <a:gd name="T16" fmla="*/ 36 w 143"/>
                <a:gd name="T17" fmla="*/ 9 h 142"/>
                <a:gd name="T18" fmla="*/ 71 w 143"/>
                <a:gd name="T19" fmla="*/ 0 h 142"/>
                <a:gd name="T20" fmla="*/ 106 w 143"/>
                <a:gd name="T21" fmla="*/ 9 h 142"/>
                <a:gd name="T22" fmla="*/ 132 w 143"/>
                <a:gd name="T23" fmla="*/ 35 h 142"/>
                <a:gd name="T24" fmla="*/ 142 w 143"/>
                <a:gd name="T25" fmla="*/ 7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3" h="142">
                  <a:moveTo>
                    <a:pt x="142" y="70"/>
                  </a:moveTo>
                  <a:cubicBezTo>
                    <a:pt x="142" y="83"/>
                    <a:pt x="138" y="94"/>
                    <a:pt x="132" y="106"/>
                  </a:cubicBezTo>
                  <a:cubicBezTo>
                    <a:pt x="125" y="117"/>
                    <a:pt x="117" y="125"/>
                    <a:pt x="106" y="132"/>
                  </a:cubicBezTo>
                  <a:cubicBezTo>
                    <a:pt x="94" y="138"/>
                    <a:pt x="84" y="141"/>
                    <a:pt x="71" y="141"/>
                  </a:cubicBezTo>
                  <a:cubicBezTo>
                    <a:pt x="58" y="141"/>
                    <a:pt x="47" y="138"/>
                    <a:pt x="36" y="132"/>
                  </a:cubicBezTo>
                  <a:cubicBezTo>
                    <a:pt x="25" y="125"/>
                    <a:pt x="16" y="117"/>
                    <a:pt x="10" y="106"/>
                  </a:cubicBezTo>
                  <a:cubicBezTo>
                    <a:pt x="3" y="94"/>
                    <a:pt x="0" y="83"/>
                    <a:pt x="0" y="70"/>
                  </a:cubicBezTo>
                  <a:cubicBezTo>
                    <a:pt x="0" y="57"/>
                    <a:pt x="3" y="46"/>
                    <a:pt x="10" y="35"/>
                  </a:cubicBezTo>
                  <a:cubicBezTo>
                    <a:pt x="16" y="24"/>
                    <a:pt x="25" y="15"/>
                    <a:pt x="36" y="9"/>
                  </a:cubicBezTo>
                  <a:cubicBezTo>
                    <a:pt x="47" y="2"/>
                    <a:pt x="58" y="0"/>
                    <a:pt x="71" y="0"/>
                  </a:cubicBezTo>
                  <a:cubicBezTo>
                    <a:pt x="84" y="0"/>
                    <a:pt x="94" y="2"/>
                    <a:pt x="106" y="9"/>
                  </a:cubicBezTo>
                  <a:cubicBezTo>
                    <a:pt x="117" y="15"/>
                    <a:pt x="125" y="24"/>
                    <a:pt x="132" y="35"/>
                  </a:cubicBezTo>
                  <a:cubicBezTo>
                    <a:pt x="138" y="46"/>
                    <a:pt x="142" y="57"/>
                    <a:pt x="142" y="7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08" name="Freeform 357">
              <a:extLst>
                <a:ext uri="{FF2B5EF4-FFF2-40B4-BE49-F238E27FC236}">
                  <a16:creationId xmlns:a16="http://schemas.microsoft.com/office/drawing/2014/main" id="{1EEA920C-7CFE-AA40-98EF-C179EA9A15DA}"/>
                </a:ext>
              </a:extLst>
            </p:cNvPr>
            <p:cNvSpPr>
              <a:spLocks noChangeArrowheads="1"/>
            </p:cNvSpPr>
            <p:nvPr/>
          </p:nvSpPr>
          <p:spPr bwMode="auto">
            <a:xfrm>
              <a:off x="1257821" y="2621082"/>
              <a:ext cx="49626" cy="49626"/>
            </a:xfrm>
            <a:custGeom>
              <a:avLst/>
              <a:gdLst>
                <a:gd name="T0" fmla="*/ 111 w 112"/>
                <a:gd name="T1" fmla="*/ 111 h 112"/>
                <a:gd name="T2" fmla="*/ 0 w 112"/>
                <a:gd name="T3" fmla="*/ 0 h 112"/>
              </a:gdLst>
              <a:ahLst/>
              <a:cxnLst>
                <a:cxn ang="0">
                  <a:pos x="T0" y="T1"/>
                </a:cxn>
                <a:cxn ang="0">
                  <a:pos x="T2" y="T3"/>
                </a:cxn>
              </a:cxnLst>
              <a:rect l="0" t="0" r="r" b="b"/>
              <a:pathLst>
                <a:path w="112" h="112">
                  <a:moveTo>
                    <a:pt x="111" y="111"/>
                  </a:moveTo>
                  <a:cubicBezTo>
                    <a:pt x="74" y="74"/>
                    <a:pt x="37" y="37"/>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09" name="Freeform 358">
              <a:extLst>
                <a:ext uri="{FF2B5EF4-FFF2-40B4-BE49-F238E27FC236}">
                  <a16:creationId xmlns:a16="http://schemas.microsoft.com/office/drawing/2014/main" id="{EC1D2A89-3BAF-3940-83D8-C6A01629758C}"/>
                </a:ext>
              </a:extLst>
            </p:cNvPr>
            <p:cNvSpPr>
              <a:spLocks noChangeArrowheads="1"/>
            </p:cNvSpPr>
            <p:nvPr/>
          </p:nvSpPr>
          <p:spPr bwMode="auto">
            <a:xfrm>
              <a:off x="1257821" y="2525799"/>
              <a:ext cx="49626" cy="51611"/>
            </a:xfrm>
            <a:custGeom>
              <a:avLst/>
              <a:gdLst>
                <a:gd name="T0" fmla="*/ 0 w 112"/>
                <a:gd name="T1" fmla="*/ 112 h 113"/>
                <a:gd name="T2" fmla="*/ 111 w 112"/>
                <a:gd name="T3" fmla="*/ 0 h 113"/>
              </a:gdLst>
              <a:ahLst/>
              <a:cxnLst>
                <a:cxn ang="0">
                  <a:pos x="T0" y="T1"/>
                </a:cxn>
                <a:cxn ang="0">
                  <a:pos x="T2" y="T3"/>
                </a:cxn>
              </a:cxnLst>
              <a:rect l="0" t="0" r="r" b="b"/>
              <a:pathLst>
                <a:path w="112" h="113">
                  <a:moveTo>
                    <a:pt x="0" y="112"/>
                  </a:moveTo>
                  <a:cubicBezTo>
                    <a:pt x="37" y="74"/>
                    <a:pt x="74" y="37"/>
                    <a:pt x="111"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10" name="Freeform 359">
              <a:extLst>
                <a:ext uri="{FF2B5EF4-FFF2-40B4-BE49-F238E27FC236}">
                  <a16:creationId xmlns:a16="http://schemas.microsoft.com/office/drawing/2014/main" id="{390BDB97-1368-D548-85AA-10F1A64EA6F1}"/>
                </a:ext>
              </a:extLst>
            </p:cNvPr>
            <p:cNvSpPr>
              <a:spLocks noChangeArrowheads="1"/>
            </p:cNvSpPr>
            <p:nvPr/>
          </p:nvSpPr>
          <p:spPr bwMode="auto">
            <a:xfrm>
              <a:off x="1204223" y="2567485"/>
              <a:ext cx="63522" cy="63522"/>
            </a:xfrm>
            <a:custGeom>
              <a:avLst/>
              <a:gdLst>
                <a:gd name="T0" fmla="*/ 141 w 142"/>
                <a:gd name="T1" fmla="*/ 71 h 142"/>
                <a:gd name="T2" fmla="*/ 132 w 142"/>
                <a:gd name="T3" fmla="*/ 106 h 142"/>
                <a:gd name="T4" fmla="*/ 106 w 142"/>
                <a:gd name="T5" fmla="*/ 132 h 142"/>
                <a:gd name="T6" fmla="*/ 71 w 142"/>
                <a:gd name="T7" fmla="*/ 141 h 142"/>
                <a:gd name="T8" fmla="*/ 35 w 142"/>
                <a:gd name="T9" fmla="*/ 132 h 142"/>
                <a:gd name="T10" fmla="*/ 10 w 142"/>
                <a:gd name="T11" fmla="*/ 106 h 142"/>
                <a:gd name="T12" fmla="*/ 0 w 142"/>
                <a:gd name="T13" fmla="*/ 71 h 142"/>
                <a:gd name="T14" fmla="*/ 10 w 142"/>
                <a:gd name="T15" fmla="*/ 35 h 142"/>
                <a:gd name="T16" fmla="*/ 35 w 142"/>
                <a:gd name="T17" fmla="*/ 10 h 142"/>
                <a:gd name="T18" fmla="*/ 71 w 142"/>
                <a:gd name="T19" fmla="*/ 0 h 142"/>
                <a:gd name="T20" fmla="*/ 106 w 142"/>
                <a:gd name="T21" fmla="*/ 10 h 142"/>
                <a:gd name="T22" fmla="*/ 132 w 142"/>
                <a:gd name="T23" fmla="*/ 35 h 142"/>
                <a:gd name="T24" fmla="*/ 141 w 142"/>
                <a:gd name="T25" fmla="*/ 71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 h="142">
                  <a:moveTo>
                    <a:pt x="141" y="71"/>
                  </a:moveTo>
                  <a:cubicBezTo>
                    <a:pt x="141" y="84"/>
                    <a:pt x="138" y="95"/>
                    <a:pt x="132" y="106"/>
                  </a:cubicBezTo>
                  <a:cubicBezTo>
                    <a:pt x="125" y="117"/>
                    <a:pt x="117" y="125"/>
                    <a:pt x="106" y="132"/>
                  </a:cubicBezTo>
                  <a:cubicBezTo>
                    <a:pt x="95" y="138"/>
                    <a:pt x="84" y="141"/>
                    <a:pt x="71" y="141"/>
                  </a:cubicBezTo>
                  <a:cubicBezTo>
                    <a:pt x="58" y="141"/>
                    <a:pt x="46" y="138"/>
                    <a:pt x="35" y="132"/>
                  </a:cubicBezTo>
                  <a:cubicBezTo>
                    <a:pt x="23" y="125"/>
                    <a:pt x="16" y="117"/>
                    <a:pt x="10" y="106"/>
                  </a:cubicBezTo>
                  <a:cubicBezTo>
                    <a:pt x="3" y="95"/>
                    <a:pt x="0" y="84"/>
                    <a:pt x="0" y="71"/>
                  </a:cubicBezTo>
                  <a:cubicBezTo>
                    <a:pt x="0" y="58"/>
                    <a:pt x="3" y="46"/>
                    <a:pt x="10" y="35"/>
                  </a:cubicBezTo>
                  <a:cubicBezTo>
                    <a:pt x="16" y="23"/>
                    <a:pt x="23" y="16"/>
                    <a:pt x="35" y="10"/>
                  </a:cubicBezTo>
                  <a:cubicBezTo>
                    <a:pt x="46" y="3"/>
                    <a:pt x="58" y="0"/>
                    <a:pt x="71" y="0"/>
                  </a:cubicBezTo>
                  <a:cubicBezTo>
                    <a:pt x="84" y="0"/>
                    <a:pt x="95" y="3"/>
                    <a:pt x="106" y="10"/>
                  </a:cubicBezTo>
                  <a:cubicBezTo>
                    <a:pt x="117" y="16"/>
                    <a:pt x="125" y="23"/>
                    <a:pt x="132" y="35"/>
                  </a:cubicBezTo>
                  <a:cubicBezTo>
                    <a:pt x="138" y="46"/>
                    <a:pt x="141" y="58"/>
                    <a:pt x="141" y="7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11" name="Freeform 360">
              <a:extLst>
                <a:ext uri="{FF2B5EF4-FFF2-40B4-BE49-F238E27FC236}">
                  <a16:creationId xmlns:a16="http://schemas.microsoft.com/office/drawing/2014/main" id="{2C30F47C-1C87-AE4A-8971-D4B6C2017A26}"/>
                </a:ext>
              </a:extLst>
            </p:cNvPr>
            <p:cNvSpPr>
              <a:spLocks noChangeArrowheads="1"/>
            </p:cNvSpPr>
            <p:nvPr/>
          </p:nvSpPr>
          <p:spPr bwMode="auto">
            <a:xfrm>
              <a:off x="971972" y="2621082"/>
              <a:ext cx="49626" cy="49626"/>
            </a:xfrm>
            <a:custGeom>
              <a:avLst/>
              <a:gdLst>
                <a:gd name="T0" fmla="*/ 0 w 112"/>
                <a:gd name="T1" fmla="*/ 111 h 112"/>
                <a:gd name="T2" fmla="*/ 111 w 112"/>
                <a:gd name="T3" fmla="*/ 0 h 112"/>
              </a:gdLst>
              <a:ahLst/>
              <a:cxnLst>
                <a:cxn ang="0">
                  <a:pos x="T0" y="T1"/>
                </a:cxn>
                <a:cxn ang="0">
                  <a:pos x="T2" y="T3"/>
                </a:cxn>
              </a:cxnLst>
              <a:rect l="0" t="0" r="r" b="b"/>
              <a:pathLst>
                <a:path w="112" h="112">
                  <a:moveTo>
                    <a:pt x="0" y="111"/>
                  </a:moveTo>
                  <a:cubicBezTo>
                    <a:pt x="37" y="74"/>
                    <a:pt x="74" y="37"/>
                    <a:pt x="111"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12" name="Freeform 361">
              <a:extLst>
                <a:ext uri="{FF2B5EF4-FFF2-40B4-BE49-F238E27FC236}">
                  <a16:creationId xmlns:a16="http://schemas.microsoft.com/office/drawing/2014/main" id="{CA7D958B-AC1D-3F46-A2E4-21A27C265186}"/>
                </a:ext>
              </a:extLst>
            </p:cNvPr>
            <p:cNvSpPr>
              <a:spLocks noChangeArrowheads="1"/>
            </p:cNvSpPr>
            <p:nvPr/>
          </p:nvSpPr>
          <p:spPr bwMode="auto">
            <a:xfrm>
              <a:off x="971972" y="2525799"/>
              <a:ext cx="49626" cy="51611"/>
            </a:xfrm>
            <a:custGeom>
              <a:avLst/>
              <a:gdLst>
                <a:gd name="T0" fmla="*/ 111 w 112"/>
                <a:gd name="T1" fmla="*/ 112 h 113"/>
                <a:gd name="T2" fmla="*/ 0 w 112"/>
                <a:gd name="T3" fmla="*/ 0 h 113"/>
              </a:gdLst>
              <a:ahLst/>
              <a:cxnLst>
                <a:cxn ang="0">
                  <a:pos x="T0" y="T1"/>
                </a:cxn>
                <a:cxn ang="0">
                  <a:pos x="T2" y="T3"/>
                </a:cxn>
              </a:cxnLst>
              <a:rect l="0" t="0" r="r" b="b"/>
              <a:pathLst>
                <a:path w="112" h="113">
                  <a:moveTo>
                    <a:pt x="111" y="112"/>
                  </a:moveTo>
                  <a:cubicBezTo>
                    <a:pt x="74" y="74"/>
                    <a:pt x="37" y="37"/>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13" name="Freeform 362">
              <a:extLst>
                <a:ext uri="{FF2B5EF4-FFF2-40B4-BE49-F238E27FC236}">
                  <a16:creationId xmlns:a16="http://schemas.microsoft.com/office/drawing/2014/main" id="{DD88C733-5F66-6243-BA8C-B71C8C37D6A7}"/>
                </a:ext>
              </a:extLst>
            </p:cNvPr>
            <p:cNvSpPr>
              <a:spLocks noChangeArrowheads="1"/>
            </p:cNvSpPr>
            <p:nvPr/>
          </p:nvSpPr>
          <p:spPr bwMode="auto">
            <a:xfrm>
              <a:off x="971972" y="2430516"/>
              <a:ext cx="49626" cy="51611"/>
            </a:xfrm>
            <a:custGeom>
              <a:avLst/>
              <a:gdLst>
                <a:gd name="T0" fmla="*/ 0 w 112"/>
                <a:gd name="T1" fmla="*/ 112 h 113"/>
                <a:gd name="T2" fmla="*/ 111 w 112"/>
                <a:gd name="T3" fmla="*/ 0 h 113"/>
              </a:gdLst>
              <a:ahLst/>
              <a:cxnLst>
                <a:cxn ang="0">
                  <a:pos x="T0" y="T1"/>
                </a:cxn>
                <a:cxn ang="0">
                  <a:pos x="T2" y="T3"/>
                </a:cxn>
              </a:cxnLst>
              <a:rect l="0" t="0" r="r" b="b"/>
              <a:pathLst>
                <a:path w="112" h="113">
                  <a:moveTo>
                    <a:pt x="0" y="112"/>
                  </a:moveTo>
                  <a:cubicBezTo>
                    <a:pt x="37" y="74"/>
                    <a:pt x="74" y="37"/>
                    <a:pt x="111"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14" name="Freeform 363">
              <a:extLst>
                <a:ext uri="{FF2B5EF4-FFF2-40B4-BE49-F238E27FC236}">
                  <a16:creationId xmlns:a16="http://schemas.microsoft.com/office/drawing/2014/main" id="{4B05E762-EC03-6E43-B85C-2B2FA07E5B88}"/>
                </a:ext>
              </a:extLst>
            </p:cNvPr>
            <p:cNvSpPr>
              <a:spLocks noChangeArrowheads="1"/>
            </p:cNvSpPr>
            <p:nvPr/>
          </p:nvSpPr>
          <p:spPr bwMode="auto">
            <a:xfrm>
              <a:off x="918375" y="2472202"/>
              <a:ext cx="63522" cy="63522"/>
            </a:xfrm>
            <a:custGeom>
              <a:avLst/>
              <a:gdLst>
                <a:gd name="T0" fmla="*/ 141 w 142"/>
                <a:gd name="T1" fmla="*/ 71 h 143"/>
                <a:gd name="T2" fmla="*/ 132 w 142"/>
                <a:gd name="T3" fmla="*/ 106 h 143"/>
                <a:gd name="T4" fmla="*/ 106 w 142"/>
                <a:gd name="T5" fmla="*/ 132 h 143"/>
                <a:gd name="T6" fmla="*/ 71 w 142"/>
                <a:gd name="T7" fmla="*/ 142 h 143"/>
                <a:gd name="T8" fmla="*/ 35 w 142"/>
                <a:gd name="T9" fmla="*/ 132 h 143"/>
                <a:gd name="T10" fmla="*/ 10 w 142"/>
                <a:gd name="T11" fmla="*/ 106 h 143"/>
                <a:gd name="T12" fmla="*/ 0 w 142"/>
                <a:gd name="T13" fmla="*/ 71 h 143"/>
                <a:gd name="T14" fmla="*/ 10 w 142"/>
                <a:gd name="T15" fmla="*/ 36 h 143"/>
                <a:gd name="T16" fmla="*/ 35 w 142"/>
                <a:gd name="T17" fmla="*/ 10 h 143"/>
                <a:gd name="T18" fmla="*/ 71 w 142"/>
                <a:gd name="T19" fmla="*/ 0 h 143"/>
                <a:gd name="T20" fmla="*/ 106 w 142"/>
                <a:gd name="T21" fmla="*/ 10 h 143"/>
                <a:gd name="T22" fmla="*/ 132 w 142"/>
                <a:gd name="T23" fmla="*/ 36 h 143"/>
                <a:gd name="T24" fmla="*/ 141 w 142"/>
                <a:gd name="T25" fmla="*/ 7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 h="143">
                  <a:moveTo>
                    <a:pt x="141" y="71"/>
                  </a:moveTo>
                  <a:cubicBezTo>
                    <a:pt x="141" y="84"/>
                    <a:pt x="138" y="94"/>
                    <a:pt x="132" y="106"/>
                  </a:cubicBezTo>
                  <a:cubicBezTo>
                    <a:pt x="125" y="117"/>
                    <a:pt x="117" y="125"/>
                    <a:pt x="106" y="132"/>
                  </a:cubicBezTo>
                  <a:cubicBezTo>
                    <a:pt x="95" y="138"/>
                    <a:pt x="84" y="142"/>
                    <a:pt x="71" y="142"/>
                  </a:cubicBezTo>
                  <a:cubicBezTo>
                    <a:pt x="58" y="142"/>
                    <a:pt x="46" y="138"/>
                    <a:pt x="35" y="132"/>
                  </a:cubicBezTo>
                  <a:cubicBezTo>
                    <a:pt x="23" y="125"/>
                    <a:pt x="16" y="117"/>
                    <a:pt x="10" y="106"/>
                  </a:cubicBezTo>
                  <a:cubicBezTo>
                    <a:pt x="3" y="94"/>
                    <a:pt x="0" y="84"/>
                    <a:pt x="0" y="71"/>
                  </a:cubicBezTo>
                  <a:cubicBezTo>
                    <a:pt x="0" y="58"/>
                    <a:pt x="3" y="47"/>
                    <a:pt x="10" y="36"/>
                  </a:cubicBezTo>
                  <a:cubicBezTo>
                    <a:pt x="16" y="25"/>
                    <a:pt x="23" y="16"/>
                    <a:pt x="35" y="10"/>
                  </a:cubicBezTo>
                  <a:cubicBezTo>
                    <a:pt x="46" y="3"/>
                    <a:pt x="58" y="0"/>
                    <a:pt x="71" y="0"/>
                  </a:cubicBezTo>
                  <a:cubicBezTo>
                    <a:pt x="84" y="0"/>
                    <a:pt x="95" y="3"/>
                    <a:pt x="106" y="10"/>
                  </a:cubicBezTo>
                  <a:cubicBezTo>
                    <a:pt x="117" y="16"/>
                    <a:pt x="125" y="25"/>
                    <a:pt x="132" y="36"/>
                  </a:cubicBezTo>
                  <a:cubicBezTo>
                    <a:pt x="138" y="47"/>
                    <a:pt x="141" y="58"/>
                    <a:pt x="141" y="7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15" name="Freeform 364">
              <a:extLst>
                <a:ext uri="{FF2B5EF4-FFF2-40B4-BE49-F238E27FC236}">
                  <a16:creationId xmlns:a16="http://schemas.microsoft.com/office/drawing/2014/main" id="{023848DB-E04B-E142-B056-8545D9DC646C}"/>
                </a:ext>
              </a:extLst>
            </p:cNvPr>
            <p:cNvSpPr>
              <a:spLocks noChangeArrowheads="1"/>
            </p:cNvSpPr>
            <p:nvPr/>
          </p:nvSpPr>
          <p:spPr bwMode="auto">
            <a:xfrm>
              <a:off x="1013658" y="2567485"/>
              <a:ext cx="63522" cy="63522"/>
            </a:xfrm>
            <a:custGeom>
              <a:avLst/>
              <a:gdLst>
                <a:gd name="T0" fmla="*/ 141 w 142"/>
                <a:gd name="T1" fmla="*/ 71 h 142"/>
                <a:gd name="T2" fmla="*/ 132 w 142"/>
                <a:gd name="T3" fmla="*/ 106 h 142"/>
                <a:gd name="T4" fmla="*/ 106 w 142"/>
                <a:gd name="T5" fmla="*/ 132 h 142"/>
                <a:gd name="T6" fmla="*/ 70 w 142"/>
                <a:gd name="T7" fmla="*/ 141 h 142"/>
                <a:gd name="T8" fmla="*/ 35 w 142"/>
                <a:gd name="T9" fmla="*/ 132 h 142"/>
                <a:gd name="T10" fmla="*/ 9 w 142"/>
                <a:gd name="T11" fmla="*/ 106 h 142"/>
                <a:gd name="T12" fmla="*/ 0 w 142"/>
                <a:gd name="T13" fmla="*/ 71 h 142"/>
                <a:gd name="T14" fmla="*/ 9 w 142"/>
                <a:gd name="T15" fmla="*/ 35 h 142"/>
                <a:gd name="T16" fmla="*/ 35 w 142"/>
                <a:gd name="T17" fmla="*/ 10 h 142"/>
                <a:gd name="T18" fmla="*/ 70 w 142"/>
                <a:gd name="T19" fmla="*/ 0 h 142"/>
                <a:gd name="T20" fmla="*/ 106 w 142"/>
                <a:gd name="T21" fmla="*/ 10 h 142"/>
                <a:gd name="T22" fmla="*/ 132 w 142"/>
                <a:gd name="T23" fmla="*/ 35 h 142"/>
                <a:gd name="T24" fmla="*/ 141 w 142"/>
                <a:gd name="T25" fmla="*/ 71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 h="142">
                  <a:moveTo>
                    <a:pt x="141" y="71"/>
                  </a:moveTo>
                  <a:cubicBezTo>
                    <a:pt x="141" y="84"/>
                    <a:pt x="138" y="95"/>
                    <a:pt x="132" y="106"/>
                  </a:cubicBezTo>
                  <a:cubicBezTo>
                    <a:pt x="125" y="117"/>
                    <a:pt x="117" y="125"/>
                    <a:pt x="106" y="132"/>
                  </a:cubicBezTo>
                  <a:cubicBezTo>
                    <a:pt x="94" y="138"/>
                    <a:pt x="83" y="141"/>
                    <a:pt x="70" y="141"/>
                  </a:cubicBezTo>
                  <a:cubicBezTo>
                    <a:pt x="57" y="141"/>
                    <a:pt x="46" y="138"/>
                    <a:pt x="35" y="132"/>
                  </a:cubicBezTo>
                  <a:cubicBezTo>
                    <a:pt x="24" y="125"/>
                    <a:pt x="15" y="117"/>
                    <a:pt x="9" y="106"/>
                  </a:cubicBezTo>
                  <a:cubicBezTo>
                    <a:pt x="2" y="95"/>
                    <a:pt x="0" y="84"/>
                    <a:pt x="0" y="71"/>
                  </a:cubicBezTo>
                  <a:cubicBezTo>
                    <a:pt x="0" y="58"/>
                    <a:pt x="2" y="46"/>
                    <a:pt x="9" y="35"/>
                  </a:cubicBezTo>
                  <a:cubicBezTo>
                    <a:pt x="15" y="23"/>
                    <a:pt x="24" y="16"/>
                    <a:pt x="35" y="10"/>
                  </a:cubicBezTo>
                  <a:cubicBezTo>
                    <a:pt x="46" y="3"/>
                    <a:pt x="57" y="0"/>
                    <a:pt x="70" y="0"/>
                  </a:cubicBezTo>
                  <a:cubicBezTo>
                    <a:pt x="83" y="0"/>
                    <a:pt x="94" y="3"/>
                    <a:pt x="106" y="10"/>
                  </a:cubicBezTo>
                  <a:cubicBezTo>
                    <a:pt x="117" y="16"/>
                    <a:pt x="125" y="23"/>
                    <a:pt x="132" y="35"/>
                  </a:cubicBezTo>
                  <a:cubicBezTo>
                    <a:pt x="138" y="46"/>
                    <a:pt x="141" y="58"/>
                    <a:pt x="141" y="7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16" name="Freeform 365">
              <a:extLst>
                <a:ext uri="{FF2B5EF4-FFF2-40B4-BE49-F238E27FC236}">
                  <a16:creationId xmlns:a16="http://schemas.microsoft.com/office/drawing/2014/main" id="{A9FBA22E-225E-EB4A-9D48-8672210E1B2B}"/>
                </a:ext>
              </a:extLst>
            </p:cNvPr>
            <p:cNvSpPr>
              <a:spLocks noChangeArrowheads="1"/>
            </p:cNvSpPr>
            <p:nvPr/>
          </p:nvSpPr>
          <p:spPr bwMode="auto">
            <a:xfrm>
              <a:off x="1299506" y="2472202"/>
              <a:ext cx="63522" cy="63522"/>
            </a:xfrm>
            <a:custGeom>
              <a:avLst/>
              <a:gdLst>
                <a:gd name="T0" fmla="*/ 141 w 142"/>
                <a:gd name="T1" fmla="*/ 71 h 143"/>
                <a:gd name="T2" fmla="*/ 132 w 142"/>
                <a:gd name="T3" fmla="*/ 106 h 143"/>
                <a:gd name="T4" fmla="*/ 106 w 142"/>
                <a:gd name="T5" fmla="*/ 132 h 143"/>
                <a:gd name="T6" fmla="*/ 70 w 142"/>
                <a:gd name="T7" fmla="*/ 142 h 143"/>
                <a:gd name="T8" fmla="*/ 35 w 142"/>
                <a:gd name="T9" fmla="*/ 132 h 143"/>
                <a:gd name="T10" fmla="*/ 9 w 142"/>
                <a:gd name="T11" fmla="*/ 106 h 143"/>
                <a:gd name="T12" fmla="*/ 0 w 142"/>
                <a:gd name="T13" fmla="*/ 71 h 143"/>
                <a:gd name="T14" fmla="*/ 9 w 142"/>
                <a:gd name="T15" fmla="*/ 36 h 143"/>
                <a:gd name="T16" fmla="*/ 35 w 142"/>
                <a:gd name="T17" fmla="*/ 10 h 143"/>
                <a:gd name="T18" fmla="*/ 70 w 142"/>
                <a:gd name="T19" fmla="*/ 0 h 143"/>
                <a:gd name="T20" fmla="*/ 106 w 142"/>
                <a:gd name="T21" fmla="*/ 10 h 143"/>
                <a:gd name="T22" fmla="*/ 132 w 142"/>
                <a:gd name="T23" fmla="*/ 36 h 143"/>
                <a:gd name="T24" fmla="*/ 141 w 142"/>
                <a:gd name="T25" fmla="*/ 7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 h="143">
                  <a:moveTo>
                    <a:pt x="141" y="71"/>
                  </a:moveTo>
                  <a:cubicBezTo>
                    <a:pt x="141" y="84"/>
                    <a:pt x="138" y="94"/>
                    <a:pt x="132" y="106"/>
                  </a:cubicBezTo>
                  <a:cubicBezTo>
                    <a:pt x="125" y="117"/>
                    <a:pt x="117" y="125"/>
                    <a:pt x="106" y="132"/>
                  </a:cubicBezTo>
                  <a:cubicBezTo>
                    <a:pt x="94" y="138"/>
                    <a:pt x="83" y="142"/>
                    <a:pt x="70" y="142"/>
                  </a:cubicBezTo>
                  <a:cubicBezTo>
                    <a:pt x="57" y="142"/>
                    <a:pt x="46" y="138"/>
                    <a:pt x="35" y="132"/>
                  </a:cubicBezTo>
                  <a:cubicBezTo>
                    <a:pt x="24" y="125"/>
                    <a:pt x="15" y="117"/>
                    <a:pt x="9" y="106"/>
                  </a:cubicBezTo>
                  <a:cubicBezTo>
                    <a:pt x="2" y="94"/>
                    <a:pt x="0" y="84"/>
                    <a:pt x="0" y="71"/>
                  </a:cubicBezTo>
                  <a:cubicBezTo>
                    <a:pt x="0" y="58"/>
                    <a:pt x="2" y="47"/>
                    <a:pt x="9" y="36"/>
                  </a:cubicBezTo>
                  <a:cubicBezTo>
                    <a:pt x="15" y="25"/>
                    <a:pt x="24" y="16"/>
                    <a:pt x="35" y="10"/>
                  </a:cubicBezTo>
                  <a:cubicBezTo>
                    <a:pt x="46" y="3"/>
                    <a:pt x="57" y="0"/>
                    <a:pt x="70" y="0"/>
                  </a:cubicBezTo>
                  <a:cubicBezTo>
                    <a:pt x="83" y="0"/>
                    <a:pt x="94" y="3"/>
                    <a:pt x="106" y="10"/>
                  </a:cubicBezTo>
                  <a:cubicBezTo>
                    <a:pt x="117" y="16"/>
                    <a:pt x="125" y="25"/>
                    <a:pt x="132" y="36"/>
                  </a:cubicBezTo>
                  <a:cubicBezTo>
                    <a:pt x="138" y="47"/>
                    <a:pt x="141" y="58"/>
                    <a:pt x="141" y="7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17" name="Freeform 366">
              <a:extLst>
                <a:ext uri="{FF2B5EF4-FFF2-40B4-BE49-F238E27FC236}">
                  <a16:creationId xmlns:a16="http://schemas.microsoft.com/office/drawing/2014/main" id="{2FF20385-4BCD-174E-B099-B6DDF07E5E2D}"/>
                </a:ext>
              </a:extLst>
            </p:cNvPr>
            <p:cNvSpPr>
              <a:spLocks noChangeArrowheads="1"/>
            </p:cNvSpPr>
            <p:nvPr/>
          </p:nvSpPr>
          <p:spPr bwMode="auto">
            <a:xfrm>
              <a:off x="1204223" y="2758050"/>
              <a:ext cx="63522" cy="63522"/>
            </a:xfrm>
            <a:custGeom>
              <a:avLst/>
              <a:gdLst>
                <a:gd name="T0" fmla="*/ 141 w 142"/>
                <a:gd name="T1" fmla="*/ 71 h 143"/>
                <a:gd name="T2" fmla="*/ 132 w 142"/>
                <a:gd name="T3" fmla="*/ 106 h 143"/>
                <a:gd name="T4" fmla="*/ 106 w 142"/>
                <a:gd name="T5" fmla="*/ 132 h 143"/>
                <a:gd name="T6" fmla="*/ 71 w 142"/>
                <a:gd name="T7" fmla="*/ 142 h 143"/>
                <a:gd name="T8" fmla="*/ 35 w 142"/>
                <a:gd name="T9" fmla="*/ 132 h 143"/>
                <a:gd name="T10" fmla="*/ 10 w 142"/>
                <a:gd name="T11" fmla="*/ 106 h 143"/>
                <a:gd name="T12" fmla="*/ 0 w 142"/>
                <a:gd name="T13" fmla="*/ 71 h 143"/>
                <a:gd name="T14" fmla="*/ 10 w 142"/>
                <a:gd name="T15" fmla="*/ 36 h 143"/>
                <a:gd name="T16" fmla="*/ 35 w 142"/>
                <a:gd name="T17" fmla="*/ 10 h 143"/>
                <a:gd name="T18" fmla="*/ 71 w 142"/>
                <a:gd name="T19" fmla="*/ 0 h 143"/>
                <a:gd name="T20" fmla="*/ 106 w 142"/>
                <a:gd name="T21" fmla="*/ 10 h 143"/>
                <a:gd name="T22" fmla="*/ 132 w 142"/>
                <a:gd name="T23" fmla="*/ 36 h 143"/>
                <a:gd name="T24" fmla="*/ 141 w 142"/>
                <a:gd name="T25" fmla="*/ 7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 h="143">
                  <a:moveTo>
                    <a:pt x="141" y="71"/>
                  </a:moveTo>
                  <a:cubicBezTo>
                    <a:pt x="141" y="84"/>
                    <a:pt x="138" y="94"/>
                    <a:pt x="132" y="106"/>
                  </a:cubicBezTo>
                  <a:cubicBezTo>
                    <a:pt x="125" y="117"/>
                    <a:pt x="117" y="125"/>
                    <a:pt x="106" y="132"/>
                  </a:cubicBezTo>
                  <a:cubicBezTo>
                    <a:pt x="95" y="138"/>
                    <a:pt x="84" y="142"/>
                    <a:pt x="71" y="142"/>
                  </a:cubicBezTo>
                  <a:cubicBezTo>
                    <a:pt x="58" y="142"/>
                    <a:pt x="46" y="138"/>
                    <a:pt x="35" y="132"/>
                  </a:cubicBezTo>
                  <a:cubicBezTo>
                    <a:pt x="23" y="125"/>
                    <a:pt x="16" y="117"/>
                    <a:pt x="10" y="106"/>
                  </a:cubicBezTo>
                  <a:cubicBezTo>
                    <a:pt x="3" y="94"/>
                    <a:pt x="0" y="84"/>
                    <a:pt x="0" y="71"/>
                  </a:cubicBezTo>
                  <a:cubicBezTo>
                    <a:pt x="0" y="58"/>
                    <a:pt x="3" y="47"/>
                    <a:pt x="10" y="36"/>
                  </a:cubicBezTo>
                  <a:cubicBezTo>
                    <a:pt x="16" y="24"/>
                    <a:pt x="23" y="16"/>
                    <a:pt x="35" y="10"/>
                  </a:cubicBezTo>
                  <a:cubicBezTo>
                    <a:pt x="46" y="3"/>
                    <a:pt x="58" y="0"/>
                    <a:pt x="71" y="0"/>
                  </a:cubicBezTo>
                  <a:cubicBezTo>
                    <a:pt x="84" y="0"/>
                    <a:pt x="95" y="3"/>
                    <a:pt x="106" y="10"/>
                  </a:cubicBezTo>
                  <a:cubicBezTo>
                    <a:pt x="117" y="16"/>
                    <a:pt x="125" y="24"/>
                    <a:pt x="132" y="36"/>
                  </a:cubicBezTo>
                  <a:cubicBezTo>
                    <a:pt x="138" y="47"/>
                    <a:pt x="141" y="58"/>
                    <a:pt x="141" y="7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18" name="Freeform 367">
              <a:extLst>
                <a:ext uri="{FF2B5EF4-FFF2-40B4-BE49-F238E27FC236}">
                  <a16:creationId xmlns:a16="http://schemas.microsoft.com/office/drawing/2014/main" id="{6CAEA7C0-9E55-1740-8392-C35DB94D7CB8}"/>
                </a:ext>
              </a:extLst>
            </p:cNvPr>
            <p:cNvSpPr>
              <a:spLocks noChangeArrowheads="1"/>
            </p:cNvSpPr>
            <p:nvPr/>
          </p:nvSpPr>
          <p:spPr bwMode="auto">
            <a:xfrm>
              <a:off x="1013658" y="2758050"/>
              <a:ext cx="63522" cy="63522"/>
            </a:xfrm>
            <a:custGeom>
              <a:avLst/>
              <a:gdLst>
                <a:gd name="T0" fmla="*/ 141 w 142"/>
                <a:gd name="T1" fmla="*/ 71 h 143"/>
                <a:gd name="T2" fmla="*/ 132 w 142"/>
                <a:gd name="T3" fmla="*/ 106 h 143"/>
                <a:gd name="T4" fmla="*/ 106 w 142"/>
                <a:gd name="T5" fmla="*/ 132 h 143"/>
                <a:gd name="T6" fmla="*/ 70 w 142"/>
                <a:gd name="T7" fmla="*/ 142 h 143"/>
                <a:gd name="T8" fmla="*/ 35 w 142"/>
                <a:gd name="T9" fmla="*/ 132 h 143"/>
                <a:gd name="T10" fmla="*/ 9 w 142"/>
                <a:gd name="T11" fmla="*/ 106 h 143"/>
                <a:gd name="T12" fmla="*/ 0 w 142"/>
                <a:gd name="T13" fmla="*/ 71 h 143"/>
                <a:gd name="T14" fmla="*/ 9 w 142"/>
                <a:gd name="T15" fmla="*/ 36 h 143"/>
                <a:gd name="T16" fmla="*/ 35 w 142"/>
                <a:gd name="T17" fmla="*/ 10 h 143"/>
                <a:gd name="T18" fmla="*/ 70 w 142"/>
                <a:gd name="T19" fmla="*/ 0 h 143"/>
                <a:gd name="T20" fmla="*/ 106 w 142"/>
                <a:gd name="T21" fmla="*/ 10 h 143"/>
                <a:gd name="T22" fmla="*/ 132 w 142"/>
                <a:gd name="T23" fmla="*/ 36 h 143"/>
                <a:gd name="T24" fmla="*/ 141 w 142"/>
                <a:gd name="T25" fmla="*/ 7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 h="143">
                  <a:moveTo>
                    <a:pt x="141" y="71"/>
                  </a:moveTo>
                  <a:cubicBezTo>
                    <a:pt x="141" y="84"/>
                    <a:pt x="138" y="94"/>
                    <a:pt x="132" y="106"/>
                  </a:cubicBezTo>
                  <a:cubicBezTo>
                    <a:pt x="125" y="117"/>
                    <a:pt x="117" y="125"/>
                    <a:pt x="106" y="132"/>
                  </a:cubicBezTo>
                  <a:cubicBezTo>
                    <a:pt x="94" y="138"/>
                    <a:pt x="83" y="142"/>
                    <a:pt x="70" y="142"/>
                  </a:cubicBezTo>
                  <a:cubicBezTo>
                    <a:pt x="57" y="142"/>
                    <a:pt x="46" y="138"/>
                    <a:pt x="35" y="132"/>
                  </a:cubicBezTo>
                  <a:cubicBezTo>
                    <a:pt x="24" y="125"/>
                    <a:pt x="15" y="117"/>
                    <a:pt x="9" y="106"/>
                  </a:cubicBezTo>
                  <a:cubicBezTo>
                    <a:pt x="2" y="94"/>
                    <a:pt x="0" y="84"/>
                    <a:pt x="0" y="71"/>
                  </a:cubicBezTo>
                  <a:cubicBezTo>
                    <a:pt x="0" y="58"/>
                    <a:pt x="2" y="47"/>
                    <a:pt x="9" y="36"/>
                  </a:cubicBezTo>
                  <a:cubicBezTo>
                    <a:pt x="15" y="24"/>
                    <a:pt x="24" y="16"/>
                    <a:pt x="35" y="10"/>
                  </a:cubicBezTo>
                  <a:cubicBezTo>
                    <a:pt x="46" y="3"/>
                    <a:pt x="57" y="0"/>
                    <a:pt x="70" y="0"/>
                  </a:cubicBezTo>
                  <a:cubicBezTo>
                    <a:pt x="83" y="0"/>
                    <a:pt x="94" y="3"/>
                    <a:pt x="106" y="10"/>
                  </a:cubicBezTo>
                  <a:cubicBezTo>
                    <a:pt x="117" y="16"/>
                    <a:pt x="125" y="24"/>
                    <a:pt x="132" y="36"/>
                  </a:cubicBezTo>
                  <a:cubicBezTo>
                    <a:pt x="138" y="47"/>
                    <a:pt x="141" y="58"/>
                    <a:pt x="141" y="7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19" name="Freeform 368">
              <a:extLst>
                <a:ext uri="{FF2B5EF4-FFF2-40B4-BE49-F238E27FC236}">
                  <a16:creationId xmlns:a16="http://schemas.microsoft.com/office/drawing/2014/main" id="{3D5A753F-A612-164C-ABFD-8A85231A4EDD}"/>
                </a:ext>
              </a:extLst>
            </p:cNvPr>
            <p:cNvSpPr>
              <a:spLocks noChangeArrowheads="1"/>
            </p:cNvSpPr>
            <p:nvPr/>
          </p:nvSpPr>
          <p:spPr bwMode="auto">
            <a:xfrm>
              <a:off x="1299506" y="2662767"/>
              <a:ext cx="63522" cy="63522"/>
            </a:xfrm>
            <a:custGeom>
              <a:avLst/>
              <a:gdLst>
                <a:gd name="T0" fmla="*/ 141 w 142"/>
                <a:gd name="T1" fmla="*/ 70 h 142"/>
                <a:gd name="T2" fmla="*/ 132 w 142"/>
                <a:gd name="T3" fmla="*/ 106 h 142"/>
                <a:gd name="T4" fmla="*/ 106 w 142"/>
                <a:gd name="T5" fmla="*/ 132 h 142"/>
                <a:gd name="T6" fmla="*/ 70 w 142"/>
                <a:gd name="T7" fmla="*/ 141 h 142"/>
                <a:gd name="T8" fmla="*/ 35 w 142"/>
                <a:gd name="T9" fmla="*/ 132 h 142"/>
                <a:gd name="T10" fmla="*/ 9 w 142"/>
                <a:gd name="T11" fmla="*/ 106 h 142"/>
                <a:gd name="T12" fmla="*/ 0 w 142"/>
                <a:gd name="T13" fmla="*/ 70 h 142"/>
                <a:gd name="T14" fmla="*/ 9 w 142"/>
                <a:gd name="T15" fmla="*/ 35 h 142"/>
                <a:gd name="T16" fmla="*/ 35 w 142"/>
                <a:gd name="T17" fmla="*/ 9 h 142"/>
                <a:gd name="T18" fmla="*/ 70 w 142"/>
                <a:gd name="T19" fmla="*/ 0 h 142"/>
                <a:gd name="T20" fmla="*/ 106 w 142"/>
                <a:gd name="T21" fmla="*/ 9 h 142"/>
                <a:gd name="T22" fmla="*/ 132 w 142"/>
                <a:gd name="T23" fmla="*/ 35 h 142"/>
                <a:gd name="T24" fmla="*/ 141 w 142"/>
                <a:gd name="T25" fmla="*/ 7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 h="142">
                  <a:moveTo>
                    <a:pt x="141" y="70"/>
                  </a:moveTo>
                  <a:cubicBezTo>
                    <a:pt x="141" y="83"/>
                    <a:pt x="138" y="94"/>
                    <a:pt x="132" y="106"/>
                  </a:cubicBezTo>
                  <a:cubicBezTo>
                    <a:pt x="125" y="117"/>
                    <a:pt x="117" y="125"/>
                    <a:pt x="106" y="132"/>
                  </a:cubicBezTo>
                  <a:cubicBezTo>
                    <a:pt x="94" y="138"/>
                    <a:pt x="83" y="141"/>
                    <a:pt x="70" y="141"/>
                  </a:cubicBezTo>
                  <a:cubicBezTo>
                    <a:pt x="57" y="141"/>
                    <a:pt x="46" y="138"/>
                    <a:pt x="35" y="132"/>
                  </a:cubicBezTo>
                  <a:cubicBezTo>
                    <a:pt x="24" y="125"/>
                    <a:pt x="15" y="117"/>
                    <a:pt x="9" y="106"/>
                  </a:cubicBezTo>
                  <a:cubicBezTo>
                    <a:pt x="2" y="94"/>
                    <a:pt x="0" y="83"/>
                    <a:pt x="0" y="70"/>
                  </a:cubicBezTo>
                  <a:cubicBezTo>
                    <a:pt x="0" y="57"/>
                    <a:pt x="2" y="46"/>
                    <a:pt x="9" y="35"/>
                  </a:cubicBezTo>
                  <a:cubicBezTo>
                    <a:pt x="15" y="24"/>
                    <a:pt x="24" y="15"/>
                    <a:pt x="35" y="9"/>
                  </a:cubicBezTo>
                  <a:cubicBezTo>
                    <a:pt x="46" y="2"/>
                    <a:pt x="57" y="0"/>
                    <a:pt x="70" y="0"/>
                  </a:cubicBezTo>
                  <a:cubicBezTo>
                    <a:pt x="83" y="0"/>
                    <a:pt x="94" y="2"/>
                    <a:pt x="106" y="9"/>
                  </a:cubicBezTo>
                  <a:cubicBezTo>
                    <a:pt x="117" y="15"/>
                    <a:pt x="125" y="24"/>
                    <a:pt x="132" y="35"/>
                  </a:cubicBezTo>
                  <a:cubicBezTo>
                    <a:pt x="138" y="46"/>
                    <a:pt x="141" y="57"/>
                    <a:pt x="141" y="7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20" name="Freeform 369">
              <a:extLst>
                <a:ext uri="{FF2B5EF4-FFF2-40B4-BE49-F238E27FC236}">
                  <a16:creationId xmlns:a16="http://schemas.microsoft.com/office/drawing/2014/main" id="{E79ACE63-3379-C748-A427-EACB6E166CD6}"/>
                </a:ext>
              </a:extLst>
            </p:cNvPr>
            <p:cNvSpPr>
              <a:spLocks noChangeArrowheads="1"/>
            </p:cNvSpPr>
            <p:nvPr/>
          </p:nvSpPr>
          <p:spPr bwMode="auto">
            <a:xfrm>
              <a:off x="918375" y="2662767"/>
              <a:ext cx="63522" cy="63522"/>
            </a:xfrm>
            <a:custGeom>
              <a:avLst/>
              <a:gdLst>
                <a:gd name="T0" fmla="*/ 141 w 142"/>
                <a:gd name="T1" fmla="*/ 70 h 142"/>
                <a:gd name="T2" fmla="*/ 132 w 142"/>
                <a:gd name="T3" fmla="*/ 106 h 142"/>
                <a:gd name="T4" fmla="*/ 106 w 142"/>
                <a:gd name="T5" fmla="*/ 132 h 142"/>
                <a:gd name="T6" fmla="*/ 71 w 142"/>
                <a:gd name="T7" fmla="*/ 141 h 142"/>
                <a:gd name="T8" fmla="*/ 35 w 142"/>
                <a:gd name="T9" fmla="*/ 132 h 142"/>
                <a:gd name="T10" fmla="*/ 10 w 142"/>
                <a:gd name="T11" fmla="*/ 106 h 142"/>
                <a:gd name="T12" fmla="*/ 0 w 142"/>
                <a:gd name="T13" fmla="*/ 70 h 142"/>
                <a:gd name="T14" fmla="*/ 10 w 142"/>
                <a:gd name="T15" fmla="*/ 35 h 142"/>
                <a:gd name="T16" fmla="*/ 35 w 142"/>
                <a:gd name="T17" fmla="*/ 9 h 142"/>
                <a:gd name="T18" fmla="*/ 71 w 142"/>
                <a:gd name="T19" fmla="*/ 0 h 142"/>
                <a:gd name="T20" fmla="*/ 106 w 142"/>
                <a:gd name="T21" fmla="*/ 9 h 142"/>
                <a:gd name="T22" fmla="*/ 132 w 142"/>
                <a:gd name="T23" fmla="*/ 35 h 142"/>
                <a:gd name="T24" fmla="*/ 141 w 142"/>
                <a:gd name="T25" fmla="*/ 7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 h="142">
                  <a:moveTo>
                    <a:pt x="141" y="70"/>
                  </a:moveTo>
                  <a:cubicBezTo>
                    <a:pt x="141" y="83"/>
                    <a:pt x="138" y="94"/>
                    <a:pt x="132" y="106"/>
                  </a:cubicBezTo>
                  <a:cubicBezTo>
                    <a:pt x="125" y="117"/>
                    <a:pt x="117" y="125"/>
                    <a:pt x="106" y="132"/>
                  </a:cubicBezTo>
                  <a:cubicBezTo>
                    <a:pt x="95" y="138"/>
                    <a:pt x="84" y="141"/>
                    <a:pt x="71" y="141"/>
                  </a:cubicBezTo>
                  <a:cubicBezTo>
                    <a:pt x="58" y="141"/>
                    <a:pt x="46" y="138"/>
                    <a:pt x="35" y="132"/>
                  </a:cubicBezTo>
                  <a:cubicBezTo>
                    <a:pt x="23" y="125"/>
                    <a:pt x="16" y="117"/>
                    <a:pt x="10" y="106"/>
                  </a:cubicBezTo>
                  <a:cubicBezTo>
                    <a:pt x="3" y="94"/>
                    <a:pt x="0" y="83"/>
                    <a:pt x="0" y="70"/>
                  </a:cubicBezTo>
                  <a:cubicBezTo>
                    <a:pt x="0" y="57"/>
                    <a:pt x="3" y="46"/>
                    <a:pt x="10" y="35"/>
                  </a:cubicBezTo>
                  <a:cubicBezTo>
                    <a:pt x="16" y="24"/>
                    <a:pt x="23" y="15"/>
                    <a:pt x="35" y="9"/>
                  </a:cubicBezTo>
                  <a:cubicBezTo>
                    <a:pt x="46" y="2"/>
                    <a:pt x="58" y="0"/>
                    <a:pt x="71" y="0"/>
                  </a:cubicBezTo>
                  <a:cubicBezTo>
                    <a:pt x="84" y="0"/>
                    <a:pt x="95" y="2"/>
                    <a:pt x="106" y="9"/>
                  </a:cubicBezTo>
                  <a:cubicBezTo>
                    <a:pt x="117" y="15"/>
                    <a:pt x="125" y="24"/>
                    <a:pt x="132" y="35"/>
                  </a:cubicBezTo>
                  <a:cubicBezTo>
                    <a:pt x="138" y="46"/>
                    <a:pt x="141" y="57"/>
                    <a:pt x="141" y="7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323" name="Group 322">
            <a:extLst>
              <a:ext uri="{FF2B5EF4-FFF2-40B4-BE49-F238E27FC236}">
                <a16:creationId xmlns:a16="http://schemas.microsoft.com/office/drawing/2014/main" id="{92AA020F-EDCF-C542-A90C-8FE591893D23}"/>
              </a:ext>
            </a:extLst>
          </p:cNvPr>
          <p:cNvGrpSpPr/>
          <p:nvPr/>
        </p:nvGrpSpPr>
        <p:grpSpPr>
          <a:xfrm>
            <a:off x="6622782" y="4408017"/>
            <a:ext cx="360235" cy="427617"/>
            <a:chOff x="10774185" y="643965"/>
            <a:chExt cx="551846" cy="655069"/>
          </a:xfrm>
        </p:grpSpPr>
        <p:sp>
          <p:nvSpPr>
            <p:cNvPr id="324" name="Freeform 167">
              <a:extLst>
                <a:ext uri="{FF2B5EF4-FFF2-40B4-BE49-F238E27FC236}">
                  <a16:creationId xmlns:a16="http://schemas.microsoft.com/office/drawing/2014/main" id="{8490790B-4E35-AE4D-A261-9A5E7D1F64D9}"/>
                </a:ext>
              </a:extLst>
            </p:cNvPr>
            <p:cNvSpPr>
              <a:spLocks noChangeArrowheads="1"/>
            </p:cNvSpPr>
            <p:nvPr/>
          </p:nvSpPr>
          <p:spPr bwMode="auto">
            <a:xfrm>
              <a:off x="10970705" y="643965"/>
              <a:ext cx="156820" cy="77417"/>
            </a:xfrm>
            <a:custGeom>
              <a:avLst/>
              <a:gdLst>
                <a:gd name="T0" fmla="*/ 347 w 348"/>
                <a:gd name="T1" fmla="*/ 171 h 172"/>
                <a:gd name="T2" fmla="*/ 179 w 348"/>
                <a:gd name="T3" fmla="*/ 3 h 172"/>
                <a:gd name="T4" fmla="*/ 169 w 348"/>
                <a:gd name="T5" fmla="*/ 3 h 172"/>
                <a:gd name="T6" fmla="*/ 0 w 348"/>
                <a:gd name="T7" fmla="*/ 171 h 172"/>
              </a:gdLst>
              <a:ahLst/>
              <a:cxnLst>
                <a:cxn ang="0">
                  <a:pos x="T0" y="T1"/>
                </a:cxn>
                <a:cxn ang="0">
                  <a:pos x="T2" y="T3"/>
                </a:cxn>
                <a:cxn ang="0">
                  <a:pos x="T4" y="T5"/>
                </a:cxn>
                <a:cxn ang="0">
                  <a:pos x="T6" y="T7"/>
                </a:cxn>
              </a:cxnLst>
              <a:rect l="0" t="0" r="r" b="b"/>
              <a:pathLst>
                <a:path w="348" h="172">
                  <a:moveTo>
                    <a:pt x="347" y="171"/>
                  </a:moveTo>
                  <a:cubicBezTo>
                    <a:pt x="291" y="115"/>
                    <a:pt x="235" y="59"/>
                    <a:pt x="179" y="3"/>
                  </a:cubicBezTo>
                  <a:cubicBezTo>
                    <a:pt x="176" y="0"/>
                    <a:pt x="172" y="0"/>
                    <a:pt x="169" y="3"/>
                  </a:cubicBezTo>
                  <a:cubicBezTo>
                    <a:pt x="113" y="59"/>
                    <a:pt x="56" y="115"/>
                    <a:pt x="0" y="17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25" name="Freeform 168">
              <a:extLst>
                <a:ext uri="{FF2B5EF4-FFF2-40B4-BE49-F238E27FC236}">
                  <a16:creationId xmlns:a16="http://schemas.microsoft.com/office/drawing/2014/main" id="{54F5F51D-8194-E44C-BF95-FA40AF5BE93C}"/>
                </a:ext>
              </a:extLst>
            </p:cNvPr>
            <p:cNvSpPr>
              <a:spLocks noChangeArrowheads="1"/>
            </p:cNvSpPr>
            <p:nvPr/>
          </p:nvSpPr>
          <p:spPr bwMode="auto">
            <a:xfrm>
              <a:off x="11050107" y="643965"/>
              <a:ext cx="1986" cy="655069"/>
            </a:xfrm>
            <a:custGeom>
              <a:avLst/>
              <a:gdLst>
                <a:gd name="T0" fmla="*/ 0 w 1"/>
                <a:gd name="T1" fmla="*/ 0 h 1454"/>
                <a:gd name="T2" fmla="*/ 0 w 1"/>
                <a:gd name="T3" fmla="*/ 1453 h 1454"/>
              </a:gdLst>
              <a:ahLst/>
              <a:cxnLst>
                <a:cxn ang="0">
                  <a:pos x="T0" y="T1"/>
                </a:cxn>
                <a:cxn ang="0">
                  <a:pos x="T2" y="T3"/>
                </a:cxn>
              </a:cxnLst>
              <a:rect l="0" t="0" r="r" b="b"/>
              <a:pathLst>
                <a:path w="1" h="1454">
                  <a:moveTo>
                    <a:pt x="0" y="0"/>
                  </a:moveTo>
                  <a:cubicBezTo>
                    <a:pt x="0" y="484"/>
                    <a:pt x="0" y="969"/>
                    <a:pt x="0" y="145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26" name="Freeform 169">
              <a:extLst>
                <a:ext uri="{FF2B5EF4-FFF2-40B4-BE49-F238E27FC236}">
                  <a16:creationId xmlns:a16="http://schemas.microsoft.com/office/drawing/2014/main" id="{CA5D28EC-D716-F14A-A73B-7E50B7333EED}"/>
                </a:ext>
              </a:extLst>
            </p:cNvPr>
            <p:cNvSpPr>
              <a:spLocks noChangeArrowheads="1"/>
            </p:cNvSpPr>
            <p:nvPr/>
          </p:nvSpPr>
          <p:spPr bwMode="auto">
            <a:xfrm>
              <a:off x="11248613" y="826590"/>
              <a:ext cx="77418" cy="156819"/>
            </a:xfrm>
            <a:custGeom>
              <a:avLst/>
              <a:gdLst>
                <a:gd name="T0" fmla="*/ 0 w 172"/>
                <a:gd name="T1" fmla="*/ 347 h 348"/>
                <a:gd name="T2" fmla="*/ 169 w 172"/>
                <a:gd name="T3" fmla="*/ 179 h 348"/>
                <a:gd name="T4" fmla="*/ 169 w 172"/>
                <a:gd name="T5" fmla="*/ 169 h 348"/>
                <a:gd name="T6" fmla="*/ 0 w 172"/>
                <a:gd name="T7" fmla="*/ 0 h 348"/>
              </a:gdLst>
              <a:ahLst/>
              <a:cxnLst>
                <a:cxn ang="0">
                  <a:pos x="T0" y="T1"/>
                </a:cxn>
                <a:cxn ang="0">
                  <a:pos x="T2" y="T3"/>
                </a:cxn>
                <a:cxn ang="0">
                  <a:pos x="T4" y="T5"/>
                </a:cxn>
                <a:cxn ang="0">
                  <a:pos x="T6" y="T7"/>
                </a:cxn>
              </a:cxnLst>
              <a:rect l="0" t="0" r="r" b="b"/>
              <a:pathLst>
                <a:path w="172" h="348">
                  <a:moveTo>
                    <a:pt x="0" y="347"/>
                  </a:moveTo>
                  <a:cubicBezTo>
                    <a:pt x="56" y="291"/>
                    <a:pt x="113" y="235"/>
                    <a:pt x="169" y="179"/>
                  </a:cubicBezTo>
                  <a:cubicBezTo>
                    <a:pt x="171" y="176"/>
                    <a:pt x="171" y="171"/>
                    <a:pt x="169" y="169"/>
                  </a:cubicBezTo>
                  <a:cubicBezTo>
                    <a:pt x="113" y="113"/>
                    <a:pt x="56" y="56"/>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27" name="Freeform 170">
              <a:extLst>
                <a:ext uri="{FF2B5EF4-FFF2-40B4-BE49-F238E27FC236}">
                  <a16:creationId xmlns:a16="http://schemas.microsoft.com/office/drawing/2014/main" id="{74D7B781-7DD3-5E4F-9DB6-92BCDFADD6ED}"/>
                </a:ext>
              </a:extLst>
            </p:cNvPr>
            <p:cNvSpPr>
              <a:spLocks noChangeArrowheads="1"/>
            </p:cNvSpPr>
            <p:nvPr/>
          </p:nvSpPr>
          <p:spPr bwMode="auto">
            <a:xfrm>
              <a:off x="11109659" y="904007"/>
              <a:ext cx="214386" cy="395027"/>
            </a:xfrm>
            <a:custGeom>
              <a:avLst/>
              <a:gdLst>
                <a:gd name="T0" fmla="*/ 0 w 478"/>
                <a:gd name="T1" fmla="*/ 875 h 876"/>
                <a:gd name="T2" fmla="*/ 0 w 478"/>
                <a:gd name="T3" fmla="*/ 169 h 876"/>
                <a:gd name="T4" fmla="*/ 170 w 478"/>
                <a:gd name="T5" fmla="*/ 0 h 876"/>
                <a:gd name="T6" fmla="*/ 477 w 478"/>
                <a:gd name="T7" fmla="*/ 0 h 876"/>
              </a:gdLst>
              <a:ahLst/>
              <a:cxnLst>
                <a:cxn ang="0">
                  <a:pos x="T0" y="T1"/>
                </a:cxn>
                <a:cxn ang="0">
                  <a:pos x="T2" y="T3"/>
                </a:cxn>
                <a:cxn ang="0">
                  <a:pos x="T4" y="T5"/>
                </a:cxn>
                <a:cxn ang="0">
                  <a:pos x="T6" y="T7"/>
                </a:cxn>
              </a:cxnLst>
              <a:rect l="0" t="0" r="r" b="b"/>
              <a:pathLst>
                <a:path w="478" h="876">
                  <a:moveTo>
                    <a:pt x="0" y="875"/>
                  </a:moveTo>
                  <a:cubicBezTo>
                    <a:pt x="0" y="639"/>
                    <a:pt x="0" y="404"/>
                    <a:pt x="0" y="169"/>
                  </a:cubicBezTo>
                  <a:cubicBezTo>
                    <a:pt x="0" y="76"/>
                    <a:pt x="76" y="0"/>
                    <a:pt x="170" y="0"/>
                  </a:cubicBezTo>
                  <a:cubicBezTo>
                    <a:pt x="272" y="0"/>
                    <a:pt x="375" y="0"/>
                    <a:pt x="477"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28" name="Freeform 171">
              <a:extLst>
                <a:ext uri="{FF2B5EF4-FFF2-40B4-BE49-F238E27FC236}">
                  <a16:creationId xmlns:a16="http://schemas.microsoft.com/office/drawing/2014/main" id="{050E2598-AD6B-F141-BEC7-C2372DC468F0}"/>
                </a:ext>
              </a:extLst>
            </p:cNvPr>
            <p:cNvSpPr>
              <a:spLocks noChangeArrowheads="1"/>
            </p:cNvSpPr>
            <p:nvPr/>
          </p:nvSpPr>
          <p:spPr bwMode="auto">
            <a:xfrm>
              <a:off x="10774185" y="826590"/>
              <a:ext cx="77417" cy="156819"/>
            </a:xfrm>
            <a:custGeom>
              <a:avLst/>
              <a:gdLst>
                <a:gd name="T0" fmla="*/ 172 w 173"/>
                <a:gd name="T1" fmla="*/ 0 h 348"/>
                <a:gd name="T2" fmla="*/ 3 w 173"/>
                <a:gd name="T3" fmla="*/ 169 h 348"/>
                <a:gd name="T4" fmla="*/ 3 w 173"/>
                <a:gd name="T5" fmla="*/ 179 h 348"/>
                <a:gd name="T6" fmla="*/ 172 w 173"/>
                <a:gd name="T7" fmla="*/ 347 h 348"/>
              </a:gdLst>
              <a:ahLst/>
              <a:cxnLst>
                <a:cxn ang="0">
                  <a:pos x="T0" y="T1"/>
                </a:cxn>
                <a:cxn ang="0">
                  <a:pos x="T2" y="T3"/>
                </a:cxn>
                <a:cxn ang="0">
                  <a:pos x="T4" y="T5"/>
                </a:cxn>
                <a:cxn ang="0">
                  <a:pos x="T6" y="T7"/>
                </a:cxn>
              </a:cxnLst>
              <a:rect l="0" t="0" r="r" b="b"/>
              <a:pathLst>
                <a:path w="173" h="348">
                  <a:moveTo>
                    <a:pt x="172" y="0"/>
                  </a:moveTo>
                  <a:cubicBezTo>
                    <a:pt x="116" y="56"/>
                    <a:pt x="59" y="113"/>
                    <a:pt x="3" y="169"/>
                  </a:cubicBezTo>
                  <a:cubicBezTo>
                    <a:pt x="0" y="171"/>
                    <a:pt x="0" y="176"/>
                    <a:pt x="3" y="179"/>
                  </a:cubicBezTo>
                  <a:cubicBezTo>
                    <a:pt x="59" y="235"/>
                    <a:pt x="116" y="291"/>
                    <a:pt x="172" y="34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29" name="Freeform 172">
              <a:extLst>
                <a:ext uri="{FF2B5EF4-FFF2-40B4-BE49-F238E27FC236}">
                  <a16:creationId xmlns:a16="http://schemas.microsoft.com/office/drawing/2014/main" id="{B3924296-AD47-2F45-9943-ABC3C3E13CA9}"/>
                </a:ext>
              </a:extLst>
            </p:cNvPr>
            <p:cNvSpPr>
              <a:spLocks noChangeArrowheads="1"/>
            </p:cNvSpPr>
            <p:nvPr/>
          </p:nvSpPr>
          <p:spPr bwMode="auto">
            <a:xfrm>
              <a:off x="10774185" y="904007"/>
              <a:ext cx="214386" cy="395027"/>
            </a:xfrm>
            <a:custGeom>
              <a:avLst/>
              <a:gdLst>
                <a:gd name="T0" fmla="*/ 476 w 477"/>
                <a:gd name="T1" fmla="*/ 875 h 876"/>
                <a:gd name="T2" fmla="*/ 476 w 477"/>
                <a:gd name="T3" fmla="*/ 169 h 876"/>
                <a:gd name="T4" fmla="*/ 307 w 477"/>
                <a:gd name="T5" fmla="*/ 0 h 876"/>
                <a:gd name="T6" fmla="*/ 0 w 477"/>
                <a:gd name="T7" fmla="*/ 0 h 876"/>
              </a:gdLst>
              <a:ahLst/>
              <a:cxnLst>
                <a:cxn ang="0">
                  <a:pos x="T0" y="T1"/>
                </a:cxn>
                <a:cxn ang="0">
                  <a:pos x="T2" y="T3"/>
                </a:cxn>
                <a:cxn ang="0">
                  <a:pos x="T4" y="T5"/>
                </a:cxn>
                <a:cxn ang="0">
                  <a:pos x="T6" y="T7"/>
                </a:cxn>
              </a:cxnLst>
              <a:rect l="0" t="0" r="r" b="b"/>
              <a:pathLst>
                <a:path w="477" h="876">
                  <a:moveTo>
                    <a:pt x="476" y="875"/>
                  </a:moveTo>
                  <a:cubicBezTo>
                    <a:pt x="476" y="639"/>
                    <a:pt x="476" y="404"/>
                    <a:pt x="476" y="169"/>
                  </a:cubicBezTo>
                  <a:cubicBezTo>
                    <a:pt x="476" y="76"/>
                    <a:pt x="401" y="0"/>
                    <a:pt x="307" y="0"/>
                  </a:cubicBezTo>
                  <a:cubicBezTo>
                    <a:pt x="205" y="0"/>
                    <a:pt x="102"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333" name="Group 332">
            <a:extLst>
              <a:ext uri="{FF2B5EF4-FFF2-40B4-BE49-F238E27FC236}">
                <a16:creationId xmlns:a16="http://schemas.microsoft.com/office/drawing/2014/main" id="{4CBA7EBE-5EF2-4B61-B832-CC7561C9A43E}"/>
              </a:ext>
            </a:extLst>
          </p:cNvPr>
          <p:cNvGrpSpPr/>
          <p:nvPr/>
        </p:nvGrpSpPr>
        <p:grpSpPr>
          <a:xfrm>
            <a:off x="818082" y="2216477"/>
            <a:ext cx="381845" cy="340988"/>
            <a:chOff x="4856728" y="2339203"/>
            <a:chExt cx="482369" cy="430757"/>
          </a:xfrm>
        </p:grpSpPr>
        <p:sp>
          <p:nvSpPr>
            <p:cNvPr id="334" name="Freeform 56">
              <a:extLst>
                <a:ext uri="{FF2B5EF4-FFF2-40B4-BE49-F238E27FC236}">
                  <a16:creationId xmlns:a16="http://schemas.microsoft.com/office/drawing/2014/main" id="{7AA08C71-EE2B-43FE-9402-3151ADCA3D5C}"/>
                </a:ext>
              </a:extLst>
            </p:cNvPr>
            <p:cNvSpPr>
              <a:spLocks noChangeArrowheads="1"/>
            </p:cNvSpPr>
            <p:nvPr/>
          </p:nvSpPr>
          <p:spPr bwMode="auto">
            <a:xfrm>
              <a:off x="4856728" y="2339203"/>
              <a:ext cx="450608" cy="430757"/>
            </a:xfrm>
            <a:custGeom>
              <a:avLst/>
              <a:gdLst>
                <a:gd name="T0" fmla="*/ 404 w 1002"/>
                <a:gd name="T1" fmla="*/ 87 h 958"/>
                <a:gd name="T2" fmla="*/ 559 w 1002"/>
                <a:gd name="T3" fmla="*/ 71 h 958"/>
                <a:gd name="T4" fmla="*/ 412 w 1002"/>
                <a:gd name="T5" fmla="*/ 0 h 958"/>
                <a:gd name="T6" fmla="*/ 281 w 1002"/>
                <a:gd name="T7" fmla="*/ 54 h 958"/>
                <a:gd name="T8" fmla="*/ 157 w 1002"/>
                <a:gd name="T9" fmla="*/ 178 h 958"/>
                <a:gd name="T10" fmla="*/ 145 w 1002"/>
                <a:gd name="T11" fmla="*/ 215 h 958"/>
                <a:gd name="T12" fmla="*/ 146 w 1002"/>
                <a:gd name="T13" fmla="*/ 217 h 958"/>
                <a:gd name="T14" fmla="*/ 60 w 1002"/>
                <a:gd name="T15" fmla="*/ 302 h 958"/>
                <a:gd name="T16" fmla="*/ 59 w 1002"/>
                <a:gd name="T17" fmla="*/ 302 h 958"/>
                <a:gd name="T18" fmla="*/ 22 w 1002"/>
                <a:gd name="T19" fmla="*/ 314 h 958"/>
                <a:gd name="T20" fmla="*/ 8 w 1002"/>
                <a:gd name="T21" fmla="*/ 327 h 958"/>
                <a:gd name="T22" fmla="*/ 8 w 1002"/>
                <a:gd name="T23" fmla="*/ 357 h 958"/>
                <a:gd name="T24" fmla="*/ 125 w 1002"/>
                <a:gd name="T25" fmla="*/ 474 h 958"/>
                <a:gd name="T26" fmla="*/ 156 w 1002"/>
                <a:gd name="T27" fmla="*/ 474 h 958"/>
                <a:gd name="T28" fmla="*/ 169 w 1002"/>
                <a:gd name="T29" fmla="*/ 461 h 958"/>
                <a:gd name="T30" fmla="*/ 181 w 1002"/>
                <a:gd name="T31" fmla="*/ 423 h 958"/>
                <a:gd name="T32" fmla="*/ 307 w 1002"/>
                <a:gd name="T33" fmla="*/ 359 h 958"/>
                <a:gd name="T34" fmla="*/ 800 w 1002"/>
                <a:gd name="T35" fmla="*/ 901 h 958"/>
                <a:gd name="T36" fmla="*/ 957 w 1002"/>
                <a:gd name="T37" fmla="*/ 911 h 958"/>
                <a:gd name="T38" fmla="*/ 947 w 1002"/>
                <a:gd name="T39" fmla="*/ 754 h 958"/>
                <a:gd name="T40" fmla="*/ 404 w 1002"/>
                <a:gd name="T41" fmla="*/ 260 h 958"/>
                <a:gd name="T42" fmla="*/ 404 w 1002"/>
                <a:gd name="T43" fmla="*/ 87 h 9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02" h="958">
                  <a:moveTo>
                    <a:pt x="404" y="87"/>
                  </a:moveTo>
                  <a:cubicBezTo>
                    <a:pt x="447" y="44"/>
                    <a:pt x="522" y="29"/>
                    <a:pt x="559" y="71"/>
                  </a:cubicBezTo>
                  <a:cubicBezTo>
                    <a:pt x="552" y="63"/>
                    <a:pt x="505" y="0"/>
                    <a:pt x="412" y="0"/>
                  </a:cubicBezTo>
                  <a:cubicBezTo>
                    <a:pt x="362" y="0"/>
                    <a:pt x="316" y="19"/>
                    <a:pt x="281" y="54"/>
                  </a:cubicBezTo>
                  <a:cubicBezTo>
                    <a:pt x="239" y="95"/>
                    <a:pt x="198" y="136"/>
                    <a:pt x="157" y="178"/>
                  </a:cubicBezTo>
                  <a:cubicBezTo>
                    <a:pt x="147" y="188"/>
                    <a:pt x="143" y="202"/>
                    <a:pt x="145" y="215"/>
                  </a:cubicBezTo>
                  <a:cubicBezTo>
                    <a:pt x="145" y="215"/>
                    <a:pt x="145" y="216"/>
                    <a:pt x="146" y="217"/>
                  </a:cubicBezTo>
                  <a:cubicBezTo>
                    <a:pt x="153" y="264"/>
                    <a:pt x="108" y="310"/>
                    <a:pt x="60" y="302"/>
                  </a:cubicBezTo>
                  <a:cubicBezTo>
                    <a:pt x="59" y="302"/>
                    <a:pt x="59" y="302"/>
                    <a:pt x="59" y="302"/>
                  </a:cubicBezTo>
                  <a:cubicBezTo>
                    <a:pt x="45" y="300"/>
                    <a:pt x="31" y="304"/>
                    <a:pt x="22" y="314"/>
                  </a:cubicBezTo>
                  <a:cubicBezTo>
                    <a:pt x="17" y="318"/>
                    <a:pt x="12" y="322"/>
                    <a:pt x="8" y="327"/>
                  </a:cubicBezTo>
                  <a:cubicBezTo>
                    <a:pt x="0" y="335"/>
                    <a:pt x="0" y="349"/>
                    <a:pt x="8" y="357"/>
                  </a:cubicBezTo>
                  <a:cubicBezTo>
                    <a:pt x="47" y="396"/>
                    <a:pt x="86" y="435"/>
                    <a:pt x="125" y="474"/>
                  </a:cubicBezTo>
                  <a:cubicBezTo>
                    <a:pt x="134" y="483"/>
                    <a:pt x="147" y="483"/>
                    <a:pt x="156" y="474"/>
                  </a:cubicBezTo>
                  <a:cubicBezTo>
                    <a:pt x="160" y="470"/>
                    <a:pt x="165" y="465"/>
                    <a:pt x="169" y="461"/>
                  </a:cubicBezTo>
                  <a:cubicBezTo>
                    <a:pt x="179" y="451"/>
                    <a:pt x="183" y="437"/>
                    <a:pt x="181" y="423"/>
                  </a:cubicBezTo>
                  <a:cubicBezTo>
                    <a:pt x="169" y="361"/>
                    <a:pt x="251" y="303"/>
                    <a:pt x="307" y="359"/>
                  </a:cubicBezTo>
                  <a:cubicBezTo>
                    <a:pt x="471" y="539"/>
                    <a:pt x="635" y="720"/>
                    <a:pt x="800" y="901"/>
                  </a:cubicBezTo>
                  <a:cubicBezTo>
                    <a:pt x="843" y="949"/>
                    <a:pt x="911" y="957"/>
                    <a:pt x="957" y="911"/>
                  </a:cubicBezTo>
                  <a:cubicBezTo>
                    <a:pt x="1001" y="867"/>
                    <a:pt x="998" y="800"/>
                    <a:pt x="947" y="754"/>
                  </a:cubicBezTo>
                  <a:cubicBezTo>
                    <a:pt x="766" y="589"/>
                    <a:pt x="585" y="424"/>
                    <a:pt x="404" y="260"/>
                  </a:cubicBezTo>
                  <a:cubicBezTo>
                    <a:pt x="357" y="212"/>
                    <a:pt x="357" y="135"/>
                    <a:pt x="404" y="87"/>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336" name="Freeform 57">
              <a:extLst>
                <a:ext uri="{FF2B5EF4-FFF2-40B4-BE49-F238E27FC236}">
                  <a16:creationId xmlns:a16="http://schemas.microsoft.com/office/drawing/2014/main" id="{185FC63A-EA08-48C7-908A-DBD645050E03}"/>
                </a:ext>
              </a:extLst>
            </p:cNvPr>
            <p:cNvSpPr>
              <a:spLocks noChangeArrowheads="1"/>
            </p:cNvSpPr>
            <p:nvPr/>
          </p:nvSpPr>
          <p:spPr bwMode="auto">
            <a:xfrm>
              <a:off x="4920250" y="2573440"/>
              <a:ext cx="194536" cy="196520"/>
            </a:xfrm>
            <a:custGeom>
              <a:avLst/>
              <a:gdLst>
                <a:gd name="T0" fmla="*/ 311 w 432"/>
                <a:gd name="T1" fmla="*/ 0 h 437"/>
                <a:gd name="T2" fmla="*/ 53 w 432"/>
                <a:gd name="T3" fmla="*/ 235 h 437"/>
                <a:gd name="T4" fmla="*/ 43 w 432"/>
                <a:gd name="T5" fmla="*/ 393 h 437"/>
                <a:gd name="T6" fmla="*/ 202 w 432"/>
                <a:gd name="T7" fmla="*/ 383 h 437"/>
                <a:gd name="T8" fmla="*/ 431 w 432"/>
                <a:gd name="T9" fmla="*/ 131 h 437"/>
              </a:gdLst>
              <a:ahLst/>
              <a:cxnLst>
                <a:cxn ang="0">
                  <a:pos x="T0" y="T1"/>
                </a:cxn>
                <a:cxn ang="0">
                  <a:pos x="T2" y="T3"/>
                </a:cxn>
                <a:cxn ang="0">
                  <a:pos x="T4" y="T5"/>
                </a:cxn>
                <a:cxn ang="0">
                  <a:pos x="T6" y="T7"/>
                </a:cxn>
                <a:cxn ang="0">
                  <a:pos x="T8" y="T9"/>
                </a:cxn>
              </a:cxnLst>
              <a:rect l="0" t="0" r="r" b="b"/>
              <a:pathLst>
                <a:path w="432" h="437">
                  <a:moveTo>
                    <a:pt x="311" y="0"/>
                  </a:moveTo>
                  <a:cubicBezTo>
                    <a:pt x="225" y="78"/>
                    <a:pt x="139" y="156"/>
                    <a:pt x="53" y="235"/>
                  </a:cubicBezTo>
                  <a:cubicBezTo>
                    <a:pt x="2" y="281"/>
                    <a:pt x="0" y="349"/>
                    <a:pt x="43" y="393"/>
                  </a:cubicBezTo>
                  <a:cubicBezTo>
                    <a:pt x="87" y="436"/>
                    <a:pt x="155" y="434"/>
                    <a:pt x="202" y="383"/>
                  </a:cubicBezTo>
                  <a:cubicBezTo>
                    <a:pt x="278" y="299"/>
                    <a:pt x="354" y="215"/>
                    <a:pt x="431" y="131"/>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337" name="Freeform 58">
              <a:extLst>
                <a:ext uri="{FF2B5EF4-FFF2-40B4-BE49-F238E27FC236}">
                  <a16:creationId xmlns:a16="http://schemas.microsoft.com/office/drawing/2014/main" id="{C8EA4538-3BDB-4E6F-9C4E-7EC174744D29}"/>
                </a:ext>
              </a:extLst>
            </p:cNvPr>
            <p:cNvSpPr>
              <a:spLocks noChangeArrowheads="1"/>
            </p:cNvSpPr>
            <p:nvPr/>
          </p:nvSpPr>
          <p:spPr bwMode="auto">
            <a:xfrm>
              <a:off x="5114785" y="2351114"/>
              <a:ext cx="224312" cy="222326"/>
            </a:xfrm>
            <a:custGeom>
              <a:avLst/>
              <a:gdLst>
                <a:gd name="T0" fmla="*/ 119 w 500"/>
                <a:gd name="T1" fmla="*/ 495 h 496"/>
                <a:gd name="T2" fmla="*/ 180 w 500"/>
                <a:gd name="T3" fmla="*/ 428 h 496"/>
                <a:gd name="T4" fmla="*/ 224 w 500"/>
                <a:gd name="T5" fmla="*/ 416 h 496"/>
                <a:gd name="T6" fmla="*/ 430 w 500"/>
                <a:gd name="T7" fmla="*/ 364 h 496"/>
                <a:gd name="T8" fmla="*/ 485 w 500"/>
                <a:gd name="T9" fmla="*/ 179 h 496"/>
                <a:gd name="T10" fmla="*/ 466 w 500"/>
                <a:gd name="T11" fmla="*/ 157 h 496"/>
                <a:gd name="T12" fmla="*/ 438 w 500"/>
                <a:gd name="T13" fmla="*/ 164 h 496"/>
                <a:gd name="T14" fmla="*/ 351 w 500"/>
                <a:gd name="T15" fmla="*/ 251 h 496"/>
                <a:gd name="T16" fmla="*/ 247 w 500"/>
                <a:gd name="T17" fmla="*/ 251 h 496"/>
                <a:gd name="T18" fmla="*/ 247 w 500"/>
                <a:gd name="T19" fmla="*/ 147 h 496"/>
                <a:gd name="T20" fmla="*/ 334 w 500"/>
                <a:gd name="T21" fmla="*/ 60 h 496"/>
                <a:gd name="T22" fmla="*/ 341 w 500"/>
                <a:gd name="T23" fmla="*/ 32 h 496"/>
                <a:gd name="T24" fmla="*/ 319 w 500"/>
                <a:gd name="T25" fmla="*/ 13 h 496"/>
                <a:gd name="T26" fmla="*/ 134 w 500"/>
                <a:gd name="T27" fmla="*/ 68 h 496"/>
                <a:gd name="T28" fmla="*/ 83 w 500"/>
                <a:gd name="T29" fmla="*/ 277 h 496"/>
                <a:gd name="T30" fmla="*/ 71 w 500"/>
                <a:gd name="T31" fmla="*/ 321 h 496"/>
                <a:gd name="T32" fmla="*/ 0 w 500"/>
                <a:gd name="T33" fmla="*/ 38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0" h="496">
                  <a:moveTo>
                    <a:pt x="119" y="495"/>
                  </a:moveTo>
                  <a:cubicBezTo>
                    <a:pt x="139" y="472"/>
                    <a:pt x="159" y="450"/>
                    <a:pt x="180" y="428"/>
                  </a:cubicBezTo>
                  <a:cubicBezTo>
                    <a:pt x="191" y="416"/>
                    <a:pt x="208" y="411"/>
                    <a:pt x="224" y="416"/>
                  </a:cubicBezTo>
                  <a:cubicBezTo>
                    <a:pt x="294" y="437"/>
                    <a:pt x="374" y="420"/>
                    <a:pt x="430" y="364"/>
                  </a:cubicBezTo>
                  <a:cubicBezTo>
                    <a:pt x="480" y="313"/>
                    <a:pt x="499" y="243"/>
                    <a:pt x="485" y="179"/>
                  </a:cubicBezTo>
                  <a:cubicBezTo>
                    <a:pt x="483" y="169"/>
                    <a:pt x="476" y="160"/>
                    <a:pt x="466" y="157"/>
                  </a:cubicBezTo>
                  <a:cubicBezTo>
                    <a:pt x="456" y="154"/>
                    <a:pt x="445" y="157"/>
                    <a:pt x="438" y="164"/>
                  </a:cubicBezTo>
                  <a:cubicBezTo>
                    <a:pt x="420" y="183"/>
                    <a:pt x="392" y="210"/>
                    <a:pt x="351" y="251"/>
                  </a:cubicBezTo>
                  <a:cubicBezTo>
                    <a:pt x="323" y="280"/>
                    <a:pt x="276" y="280"/>
                    <a:pt x="247" y="251"/>
                  </a:cubicBezTo>
                  <a:cubicBezTo>
                    <a:pt x="219" y="222"/>
                    <a:pt x="219" y="175"/>
                    <a:pt x="247" y="147"/>
                  </a:cubicBezTo>
                  <a:cubicBezTo>
                    <a:pt x="276" y="118"/>
                    <a:pt x="305" y="89"/>
                    <a:pt x="334" y="60"/>
                  </a:cubicBezTo>
                  <a:cubicBezTo>
                    <a:pt x="341" y="53"/>
                    <a:pt x="344" y="42"/>
                    <a:pt x="341" y="32"/>
                  </a:cubicBezTo>
                  <a:cubicBezTo>
                    <a:pt x="338" y="22"/>
                    <a:pt x="329" y="15"/>
                    <a:pt x="319" y="13"/>
                  </a:cubicBezTo>
                  <a:cubicBezTo>
                    <a:pt x="255" y="0"/>
                    <a:pt x="185" y="18"/>
                    <a:pt x="134" y="68"/>
                  </a:cubicBezTo>
                  <a:cubicBezTo>
                    <a:pt x="78" y="125"/>
                    <a:pt x="61" y="206"/>
                    <a:pt x="83" y="277"/>
                  </a:cubicBezTo>
                  <a:cubicBezTo>
                    <a:pt x="88" y="293"/>
                    <a:pt x="83" y="310"/>
                    <a:pt x="71" y="321"/>
                  </a:cubicBezTo>
                  <a:cubicBezTo>
                    <a:pt x="57" y="334"/>
                    <a:pt x="35" y="354"/>
                    <a:pt x="0" y="386"/>
                  </a:cubicBezTo>
                </a:path>
              </a:pathLst>
            </a:custGeom>
            <a:noFill/>
            <a:ln w="12700"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grpSp>
      <p:sp>
        <p:nvSpPr>
          <p:cNvPr id="344" name="TextBox 343">
            <a:extLst>
              <a:ext uri="{FF2B5EF4-FFF2-40B4-BE49-F238E27FC236}">
                <a16:creationId xmlns:a16="http://schemas.microsoft.com/office/drawing/2014/main" id="{479C4468-9E2A-4CC2-A49A-B31F3CCD5AB5}"/>
              </a:ext>
            </a:extLst>
          </p:cNvPr>
          <p:cNvSpPr txBox="1"/>
          <p:nvPr/>
        </p:nvSpPr>
        <p:spPr>
          <a:xfrm>
            <a:off x="403335" y="2623920"/>
            <a:ext cx="1237752"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59C8">
                    <a:lumMod val="60000"/>
                    <a:lumOff val="40000"/>
                  </a:srgbClr>
                </a:solidFill>
                <a:effectLst/>
                <a:uLnTx/>
                <a:uFillTx/>
                <a:latin typeface="Arial"/>
                <a:ea typeface="+mn-ea"/>
                <a:cs typeface="+mn-cs"/>
              </a:rPr>
              <a:t>Rapid/ Infrastructure</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59C8">
                    <a:lumMod val="60000"/>
                    <a:lumOff val="40000"/>
                  </a:srgbClr>
                </a:solidFill>
                <a:effectLst/>
                <a:uLnTx/>
                <a:uFillTx/>
                <a:latin typeface="Arial"/>
                <a:ea typeface="+mn-ea"/>
                <a:cs typeface="+mn-cs"/>
              </a:rPr>
              <a:t>Discovery*</a:t>
            </a:r>
          </a:p>
        </p:txBody>
      </p:sp>
      <p:sp>
        <p:nvSpPr>
          <p:cNvPr id="345" name="TextBox 344">
            <a:extLst>
              <a:ext uri="{FF2B5EF4-FFF2-40B4-BE49-F238E27FC236}">
                <a16:creationId xmlns:a16="http://schemas.microsoft.com/office/drawing/2014/main" id="{B778CB0F-1527-4418-A960-BE9572A659C5}"/>
              </a:ext>
            </a:extLst>
          </p:cNvPr>
          <p:cNvSpPr txBox="1"/>
          <p:nvPr/>
        </p:nvSpPr>
        <p:spPr>
          <a:xfrm>
            <a:off x="54470" y="3289942"/>
            <a:ext cx="4341741"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FFFFFF"/>
                </a:solidFill>
                <a:effectLst/>
                <a:uLnTx/>
                <a:uFillTx/>
                <a:latin typeface="Arial"/>
                <a:ea typeface="+mn-ea"/>
                <a:cs typeface="+mn-cs"/>
              </a:rPr>
              <a:t>*Optional tools Azure Migrate / Dr. Migrate</a:t>
            </a:r>
          </a:p>
        </p:txBody>
      </p:sp>
      <p:grpSp>
        <p:nvGrpSpPr>
          <p:cNvPr id="462" name="Group 461">
            <a:extLst>
              <a:ext uri="{FF2B5EF4-FFF2-40B4-BE49-F238E27FC236}">
                <a16:creationId xmlns:a16="http://schemas.microsoft.com/office/drawing/2014/main" id="{3F371495-76EE-03FD-F169-237812555E2B}"/>
              </a:ext>
            </a:extLst>
          </p:cNvPr>
          <p:cNvGrpSpPr/>
          <p:nvPr/>
        </p:nvGrpSpPr>
        <p:grpSpPr>
          <a:xfrm>
            <a:off x="2289159" y="4371669"/>
            <a:ext cx="479418" cy="479418"/>
            <a:chOff x="862382" y="5566493"/>
            <a:chExt cx="651917" cy="651917"/>
          </a:xfrm>
        </p:grpSpPr>
        <p:grpSp>
          <p:nvGrpSpPr>
            <p:cNvPr id="458" name="Group 457">
              <a:extLst>
                <a:ext uri="{FF2B5EF4-FFF2-40B4-BE49-F238E27FC236}">
                  <a16:creationId xmlns:a16="http://schemas.microsoft.com/office/drawing/2014/main" id="{0729E319-7CFE-5416-9C72-982D0212D270}"/>
                </a:ext>
              </a:extLst>
            </p:cNvPr>
            <p:cNvGrpSpPr/>
            <p:nvPr/>
          </p:nvGrpSpPr>
          <p:grpSpPr>
            <a:xfrm>
              <a:off x="862382" y="5566493"/>
              <a:ext cx="651917" cy="651917"/>
              <a:chOff x="1124743" y="5461001"/>
              <a:chExt cx="619125" cy="619125"/>
            </a:xfrm>
          </p:grpSpPr>
          <p:sp>
            <p:nvSpPr>
              <p:cNvPr id="459" name="Freeform 237">
                <a:extLst>
                  <a:ext uri="{FF2B5EF4-FFF2-40B4-BE49-F238E27FC236}">
                    <a16:creationId xmlns:a16="http://schemas.microsoft.com/office/drawing/2014/main" id="{444C9A36-13BD-2A94-5739-D0B53909DE64}"/>
                  </a:ext>
                </a:extLst>
              </p:cNvPr>
              <p:cNvSpPr>
                <a:spLocks noChangeArrowheads="1"/>
              </p:cNvSpPr>
              <p:nvPr/>
            </p:nvSpPr>
            <p:spPr bwMode="auto">
              <a:xfrm>
                <a:off x="1189831" y="5526088"/>
                <a:ext cx="398462" cy="398463"/>
              </a:xfrm>
              <a:custGeom>
                <a:avLst/>
                <a:gdLst>
                  <a:gd name="T0" fmla="*/ 1106 w 1107"/>
                  <a:gd name="T1" fmla="*/ 553 h 1107"/>
                  <a:gd name="T2" fmla="*/ 1032 w 1107"/>
                  <a:gd name="T3" fmla="*/ 830 h 1107"/>
                  <a:gd name="T4" fmla="*/ 830 w 1107"/>
                  <a:gd name="T5" fmla="*/ 1032 h 1107"/>
                  <a:gd name="T6" fmla="*/ 553 w 1107"/>
                  <a:gd name="T7" fmla="*/ 1106 h 1107"/>
                  <a:gd name="T8" fmla="*/ 277 w 1107"/>
                  <a:gd name="T9" fmla="*/ 1032 h 1107"/>
                  <a:gd name="T10" fmla="*/ 74 w 1107"/>
                  <a:gd name="T11" fmla="*/ 830 h 1107"/>
                  <a:gd name="T12" fmla="*/ 0 w 1107"/>
                  <a:gd name="T13" fmla="*/ 553 h 1107"/>
                  <a:gd name="T14" fmla="*/ 74 w 1107"/>
                  <a:gd name="T15" fmla="*/ 277 h 1107"/>
                  <a:gd name="T16" fmla="*/ 277 w 1107"/>
                  <a:gd name="T17" fmla="*/ 74 h 1107"/>
                  <a:gd name="T18" fmla="*/ 553 w 1107"/>
                  <a:gd name="T19" fmla="*/ 0 h 1107"/>
                  <a:gd name="T20" fmla="*/ 830 w 1107"/>
                  <a:gd name="T21" fmla="*/ 74 h 1107"/>
                  <a:gd name="T22" fmla="*/ 1032 w 1107"/>
                  <a:gd name="T23" fmla="*/ 277 h 1107"/>
                  <a:gd name="T24" fmla="*/ 1106 w 1107"/>
                  <a:gd name="T25" fmla="*/ 553 h 1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7" h="1107">
                    <a:moveTo>
                      <a:pt x="1106" y="553"/>
                    </a:moveTo>
                    <a:cubicBezTo>
                      <a:pt x="1106" y="655"/>
                      <a:pt x="1083" y="742"/>
                      <a:pt x="1032" y="830"/>
                    </a:cubicBezTo>
                    <a:cubicBezTo>
                      <a:pt x="981" y="918"/>
                      <a:pt x="918" y="981"/>
                      <a:pt x="830" y="1032"/>
                    </a:cubicBezTo>
                    <a:cubicBezTo>
                      <a:pt x="741" y="1083"/>
                      <a:pt x="655" y="1106"/>
                      <a:pt x="553" y="1106"/>
                    </a:cubicBezTo>
                    <a:cubicBezTo>
                      <a:pt x="451" y="1106"/>
                      <a:pt x="365" y="1083"/>
                      <a:pt x="277" y="1032"/>
                    </a:cubicBezTo>
                    <a:cubicBezTo>
                      <a:pt x="188" y="981"/>
                      <a:pt x="125" y="918"/>
                      <a:pt x="74" y="830"/>
                    </a:cubicBezTo>
                    <a:cubicBezTo>
                      <a:pt x="23" y="742"/>
                      <a:pt x="0" y="655"/>
                      <a:pt x="0" y="553"/>
                    </a:cubicBezTo>
                    <a:cubicBezTo>
                      <a:pt x="0" y="451"/>
                      <a:pt x="23" y="366"/>
                      <a:pt x="74" y="277"/>
                    </a:cubicBezTo>
                    <a:cubicBezTo>
                      <a:pt x="125" y="189"/>
                      <a:pt x="188" y="125"/>
                      <a:pt x="277" y="74"/>
                    </a:cubicBezTo>
                    <a:cubicBezTo>
                      <a:pt x="365" y="23"/>
                      <a:pt x="451" y="0"/>
                      <a:pt x="553" y="0"/>
                    </a:cubicBezTo>
                    <a:cubicBezTo>
                      <a:pt x="655" y="0"/>
                      <a:pt x="741" y="23"/>
                      <a:pt x="830" y="74"/>
                    </a:cubicBezTo>
                    <a:cubicBezTo>
                      <a:pt x="918" y="125"/>
                      <a:pt x="981" y="189"/>
                      <a:pt x="1032" y="277"/>
                    </a:cubicBezTo>
                    <a:cubicBezTo>
                      <a:pt x="1083" y="366"/>
                      <a:pt x="1106" y="451"/>
                      <a:pt x="1106" y="553"/>
                    </a:cubicBezTo>
                  </a:path>
                </a:pathLst>
              </a:custGeom>
              <a:noFill/>
              <a:ln w="952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60" name="Freeform 238">
                <a:extLst>
                  <a:ext uri="{FF2B5EF4-FFF2-40B4-BE49-F238E27FC236}">
                    <a16:creationId xmlns:a16="http://schemas.microsoft.com/office/drawing/2014/main" id="{A8F6140B-46C3-23DE-4F08-B508C7AD2D97}"/>
                  </a:ext>
                </a:extLst>
              </p:cNvPr>
              <p:cNvSpPr>
                <a:spLocks noChangeArrowheads="1"/>
              </p:cNvSpPr>
              <p:nvPr/>
            </p:nvSpPr>
            <p:spPr bwMode="auto">
              <a:xfrm>
                <a:off x="1124743" y="5461001"/>
                <a:ext cx="619125" cy="619125"/>
              </a:xfrm>
              <a:custGeom>
                <a:avLst/>
                <a:gdLst>
                  <a:gd name="T0" fmla="*/ 1718 w 1719"/>
                  <a:gd name="T1" fmla="*/ 1624 h 1720"/>
                  <a:gd name="T2" fmla="*/ 1275 w 1719"/>
                  <a:gd name="T3" fmla="*/ 1181 h 1720"/>
                  <a:gd name="T4" fmla="*/ 1272 w 1719"/>
                  <a:gd name="T5" fmla="*/ 1137 h 1720"/>
                  <a:gd name="T6" fmla="*/ 1209 w 1719"/>
                  <a:gd name="T7" fmla="*/ 261 h 1720"/>
                  <a:gd name="T8" fmla="*/ 261 w 1719"/>
                  <a:gd name="T9" fmla="*/ 261 h 1720"/>
                  <a:gd name="T10" fmla="*/ 261 w 1719"/>
                  <a:gd name="T11" fmla="*/ 1209 h 1720"/>
                  <a:gd name="T12" fmla="*/ 1136 w 1719"/>
                  <a:gd name="T13" fmla="*/ 1272 h 1720"/>
                  <a:gd name="T14" fmla="*/ 1180 w 1719"/>
                  <a:gd name="T15" fmla="*/ 1275 h 1720"/>
                  <a:gd name="T16" fmla="*/ 1623 w 1719"/>
                  <a:gd name="T17" fmla="*/ 1719 h 1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19" h="1720">
                    <a:moveTo>
                      <a:pt x="1718" y="1624"/>
                    </a:moveTo>
                    <a:cubicBezTo>
                      <a:pt x="1570" y="1476"/>
                      <a:pt x="1423" y="1329"/>
                      <a:pt x="1275" y="1181"/>
                    </a:cubicBezTo>
                    <a:cubicBezTo>
                      <a:pt x="1263" y="1169"/>
                      <a:pt x="1262" y="1150"/>
                      <a:pt x="1272" y="1137"/>
                    </a:cubicBezTo>
                    <a:cubicBezTo>
                      <a:pt x="1468" y="874"/>
                      <a:pt x="1447" y="500"/>
                      <a:pt x="1209" y="261"/>
                    </a:cubicBezTo>
                    <a:cubicBezTo>
                      <a:pt x="948" y="0"/>
                      <a:pt x="522" y="0"/>
                      <a:pt x="261" y="261"/>
                    </a:cubicBezTo>
                    <a:cubicBezTo>
                      <a:pt x="0" y="523"/>
                      <a:pt x="0" y="948"/>
                      <a:pt x="261" y="1209"/>
                    </a:cubicBezTo>
                    <a:cubicBezTo>
                      <a:pt x="499" y="1448"/>
                      <a:pt x="874" y="1469"/>
                      <a:pt x="1136" y="1272"/>
                    </a:cubicBezTo>
                    <a:cubicBezTo>
                      <a:pt x="1150" y="1262"/>
                      <a:pt x="1168" y="1264"/>
                      <a:pt x="1180" y="1275"/>
                    </a:cubicBezTo>
                    <a:cubicBezTo>
                      <a:pt x="1328" y="1423"/>
                      <a:pt x="1475" y="1571"/>
                      <a:pt x="1623" y="1719"/>
                    </a:cubicBezTo>
                  </a:path>
                </a:pathLst>
              </a:custGeom>
              <a:noFill/>
              <a:ln w="952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461" name="Freeform 146">
              <a:extLst>
                <a:ext uri="{FF2B5EF4-FFF2-40B4-BE49-F238E27FC236}">
                  <a16:creationId xmlns:a16="http://schemas.microsoft.com/office/drawing/2014/main" id="{8113E5D4-A9E4-E1F3-20E1-3471EECE2245}"/>
                </a:ext>
              </a:extLst>
            </p:cNvPr>
            <p:cNvSpPr>
              <a:spLocks noChangeArrowheads="1"/>
            </p:cNvSpPr>
            <p:nvPr/>
          </p:nvSpPr>
          <p:spPr bwMode="auto">
            <a:xfrm>
              <a:off x="1002660" y="5709478"/>
              <a:ext cx="290036" cy="290036"/>
            </a:xfrm>
            <a:custGeom>
              <a:avLst/>
              <a:gdLst>
                <a:gd name="T0" fmla="*/ 564 w 565"/>
                <a:gd name="T1" fmla="*/ 282 h 565"/>
                <a:gd name="T2" fmla="*/ 504 w 565"/>
                <a:gd name="T3" fmla="*/ 194 h 565"/>
                <a:gd name="T4" fmla="*/ 501 w 565"/>
                <a:gd name="T5" fmla="*/ 191 h 565"/>
                <a:gd name="T6" fmla="*/ 501 w 565"/>
                <a:gd name="T7" fmla="*/ 187 h 565"/>
                <a:gd name="T8" fmla="*/ 483 w 565"/>
                <a:gd name="T9" fmla="*/ 82 h 565"/>
                <a:gd name="T10" fmla="*/ 378 w 565"/>
                <a:gd name="T11" fmla="*/ 64 h 565"/>
                <a:gd name="T12" fmla="*/ 374 w 565"/>
                <a:gd name="T13" fmla="*/ 64 h 565"/>
                <a:gd name="T14" fmla="*/ 370 w 565"/>
                <a:gd name="T15" fmla="*/ 60 h 565"/>
                <a:gd name="T16" fmla="*/ 282 w 565"/>
                <a:gd name="T17" fmla="*/ 0 h 565"/>
                <a:gd name="T18" fmla="*/ 194 w 565"/>
                <a:gd name="T19" fmla="*/ 60 h 565"/>
                <a:gd name="T20" fmla="*/ 191 w 565"/>
                <a:gd name="T21" fmla="*/ 64 h 565"/>
                <a:gd name="T22" fmla="*/ 187 w 565"/>
                <a:gd name="T23" fmla="*/ 64 h 565"/>
                <a:gd name="T24" fmla="*/ 81 w 565"/>
                <a:gd name="T25" fmla="*/ 82 h 565"/>
                <a:gd name="T26" fmla="*/ 64 w 565"/>
                <a:gd name="T27" fmla="*/ 187 h 565"/>
                <a:gd name="T28" fmla="*/ 64 w 565"/>
                <a:gd name="T29" fmla="*/ 191 h 565"/>
                <a:gd name="T30" fmla="*/ 60 w 565"/>
                <a:gd name="T31" fmla="*/ 194 h 565"/>
                <a:gd name="T32" fmla="*/ 0 w 565"/>
                <a:gd name="T33" fmla="*/ 282 h 565"/>
                <a:gd name="T34" fmla="*/ 60 w 565"/>
                <a:gd name="T35" fmla="*/ 371 h 565"/>
                <a:gd name="T36" fmla="*/ 64 w 565"/>
                <a:gd name="T37" fmla="*/ 374 h 565"/>
                <a:gd name="T38" fmla="*/ 64 w 565"/>
                <a:gd name="T39" fmla="*/ 378 h 565"/>
                <a:gd name="T40" fmla="*/ 81 w 565"/>
                <a:gd name="T41" fmla="*/ 483 h 565"/>
                <a:gd name="T42" fmla="*/ 187 w 565"/>
                <a:gd name="T43" fmla="*/ 501 h 565"/>
                <a:gd name="T44" fmla="*/ 191 w 565"/>
                <a:gd name="T45" fmla="*/ 501 h 565"/>
                <a:gd name="T46" fmla="*/ 194 w 565"/>
                <a:gd name="T47" fmla="*/ 504 h 565"/>
                <a:gd name="T48" fmla="*/ 282 w 565"/>
                <a:gd name="T49" fmla="*/ 564 h 565"/>
                <a:gd name="T50" fmla="*/ 370 w 565"/>
                <a:gd name="T51" fmla="*/ 504 h 565"/>
                <a:gd name="T52" fmla="*/ 374 w 565"/>
                <a:gd name="T53" fmla="*/ 501 h 565"/>
                <a:gd name="T54" fmla="*/ 378 w 565"/>
                <a:gd name="T55" fmla="*/ 501 h 565"/>
                <a:gd name="T56" fmla="*/ 483 w 565"/>
                <a:gd name="T57" fmla="*/ 483 h 565"/>
                <a:gd name="T58" fmla="*/ 501 w 565"/>
                <a:gd name="T59" fmla="*/ 378 h 565"/>
                <a:gd name="T60" fmla="*/ 501 w 565"/>
                <a:gd name="T61" fmla="*/ 374 h 565"/>
                <a:gd name="T62" fmla="*/ 504 w 565"/>
                <a:gd name="T63" fmla="*/ 371 h 565"/>
                <a:gd name="T64" fmla="*/ 564 w 565"/>
                <a:gd name="T65" fmla="*/ 282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65" h="565">
                  <a:moveTo>
                    <a:pt x="564" y="282"/>
                  </a:moveTo>
                  <a:cubicBezTo>
                    <a:pt x="564" y="244"/>
                    <a:pt x="540" y="208"/>
                    <a:pt x="504" y="194"/>
                  </a:cubicBezTo>
                  <a:cubicBezTo>
                    <a:pt x="503" y="193"/>
                    <a:pt x="501" y="194"/>
                    <a:pt x="501" y="191"/>
                  </a:cubicBezTo>
                  <a:cubicBezTo>
                    <a:pt x="501" y="189"/>
                    <a:pt x="501" y="188"/>
                    <a:pt x="501" y="187"/>
                  </a:cubicBezTo>
                  <a:cubicBezTo>
                    <a:pt x="515" y="152"/>
                    <a:pt x="511" y="110"/>
                    <a:pt x="483" y="82"/>
                  </a:cubicBezTo>
                  <a:cubicBezTo>
                    <a:pt x="455" y="53"/>
                    <a:pt x="413" y="46"/>
                    <a:pt x="378" y="64"/>
                  </a:cubicBezTo>
                  <a:cubicBezTo>
                    <a:pt x="376" y="64"/>
                    <a:pt x="375" y="64"/>
                    <a:pt x="374" y="64"/>
                  </a:cubicBezTo>
                  <a:cubicBezTo>
                    <a:pt x="372" y="62"/>
                    <a:pt x="370" y="64"/>
                    <a:pt x="370" y="60"/>
                  </a:cubicBezTo>
                  <a:cubicBezTo>
                    <a:pt x="356" y="25"/>
                    <a:pt x="320" y="0"/>
                    <a:pt x="282" y="0"/>
                  </a:cubicBezTo>
                  <a:cubicBezTo>
                    <a:pt x="243" y="0"/>
                    <a:pt x="208" y="25"/>
                    <a:pt x="194" y="60"/>
                  </a:cubicBezTo>
                  <a:cubicBezTo>
                    <a:pt x="193" y="61"/>
                    <a:pt x="194" y="64"/>
                    <a:pt x="191" y="64"/>
                  </a:cubicBezTo>
                  <a:cubicBezTo>
                    <a:pt x="189" y="64"/>
                    <a:pt x="188" y="64"/>
                    <a:pt x="187" y="64"/>
                  </a:cubicBezTo>
                  <a:cubicBezTo>
                    <a:pt x="152" y="50"/>
                    <a:pt x="109" y="53"/>
                    <a:pt x="81" y="82"/>
                  </a:cubicBezTo>
                  <a:cubicBezTo>
                    <a:pt x="52" y="110"/>
                    <a:pt x="46" y="152"/>
                    <a:pt x="64" y="187"/>
                  </a:cubicBezTo>
                  <a:cubicBezTo>
                    <a:pt x="64" y="188"/>
                    <a:pt x="64" y="189"/>
                    <a:pt x="64" y="191"/>
                  </a:cubicBezTo>
                  <a:cubicBezTo>
                    <a:pt x="62" y="192"/>
                    <a:pt x="64" y="194"/>
                    <a:pt x="60" y="194"/>
                  </a:cubicBezTo>
                  <a:cubicBezTo>
                    <a:pt x="25" y="208"/>
                    <a:pt x="0" y="243"/>
                    <a:pt x="0" y="282"/>
                  </a:cubicBezTo>
                  <a:cubicBezTo>
                    <a:pt x="0" y="320"/>
                    <a:pt x="25" y="356"/>
                    <a:pt x="60" y="371"/>
                  </a:cubicBezTo>
                  <a:cubicBezTo>
                    <a:pt x="61" y="372"/>
                    <a:pt x="64" y="371"/>
                    <a:pt x="64" y="374"/>
                  </a:cubicBezTo>
                  <a:cubicBezTo>
                    <a:pt x="64" y="375"/>
                    <a:pt x="64" y="376"/>
                    <a:pt x="64" y="378"/>
                  </a:cubicBezTo>
                  <a:cubicBezTo>
                    <a:pt x="50" y="413"/>
                    <a:pt x="52" y="455"/>
                    <a:pt x="81" y="483"/>
                  </a:cubicBezTo>
                  <a:cubicBezTo>
                    <a:pt x="109" y="511"/>
                    <a:pt x="152" y="519"/>
                    <a:pt x="187" y="501"/>
                  </a:cubicBezTo>
                  <a:cubicBezTo>
                    <a:pt x="188" y="501"/>
                    <a:pt x="189" y="501"/>
                    <a:pt x="191" y="501"/>
                  </a:cubicBezTo>
                  <a:cubicBezTo>
                    <a:pt x="192" y="502"/>
                    <a:pt x="194" y="501"/>
                    <a:pt x="194" y="504"/>
                  </a:cubicBezTo>
                  <a:cubicBezTo>
                    <a:pt x="208" y="540"/>
                    <a:pt x="243" y="564"/>
                    <a:pt x="282" y="564"/>
                  </a:cubicBezTo>
                  <a:cubicBezTo>
                    <a:pt x="320" y="564"/>
                    <a:pt x="356" y="540"/>
                    <a:pt x="370" y="504"/>
                  </a:cubicBezTo>
                  <a:cubicBezTo>
                    <a:pt x="371" y="503"/>
                    <a:pt x="370" y="501"/>
                    <a:pt x="374" y="501"/>
                  </a:cubicBezTo>
                  <a:cubicBezTo>
                    <a:pt x="375" y="501"/>
                    <a:pt x="376" y="501"/>
                    <a:pt x="378" y="501"/>
                  </a:cubicBezTo>
                  <a:cubicBezTo>
                    <a:pt x="413" y="515"/>
                    <a:pt x="455" y="511"/>
                    <a:pt x="483" y="483"/>
                  </a:cubicBezTo>
                  <a:cubicBezTo>
                    <a:pt x="511" y="455"/>
                    <a:pt x="519" y="413"/>
                    <a:pt x="501" y="378"/>
                  </a:cubicBezTo>
                  <a:cubicBezTo>
                    <a:pt x="501" y="376"/>
                    <a:pt x="501" y="375"/>
                    <a:pt x="501" y="374"/>
                  </a:cubicBezTo>
                  <a:cubicBezTo>
                    <a:pt x="502" y="373"/>
                    <a:pt x="501" y="371"/>
                    <a:pt x="504" y="371"/>
                  </a:cubicBezTo>
                  <a:cubicBezTo>
                    <a:pt x="540" y="356"/>
                    <a:pt x="564" y="321"/>
                    <a:pt x="564" y="282"/>
                  </a:cubicBezTo>
                </a:path>
              </a:pathLst>
            </a:custGeom>
            <a:noFill/>
            <a:ln w="952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463" name="Rectangle 462">
            <a:extLst>
              <a:ext uri="{FF2B5EF4-FFF2-40B4-BE49-F238E27FC236}">
                <a16:creationId xmlns:a16="http://schemas.microsoft.com/office/drawing/2014/main" id="{1FC6A8F3-AF73-F97A-7CFF-93B4D3068C44}"/>
              </a:ext>
            </a:extLst>
          </p:cNvPr>
          <p:cNvSpPr/>
          <p:nvPr/>
        </p:nvSpPr>
        <p:spPr>
          <a:xfrm>
            <a:off x="2043781" y="4849122"/>
            <a:ext cx="1026981" cy="528606"/>
          </a:xfrm>
          <a:prstGeom prst="rect">
            <a:avLst/>
          </a:prstGeom>
        </p:spPr>
        <p:txBody>
          <a:bodyPr wrap="square">
            <a:spAutoFit/>
          </a:bodyPr>
          <a:lstStyle/>
          <a:p>
            <a:pPr marL="0" marR="0" lvl="0" indent="0" algn="ctr" defTabSz="228600" rtl="0" eaLnBrk="1" fontAlgn="auto" latinLnBrk="0" hangingPunct="1">
              <a:lnSpc>
                <a:spcPct val="90000"/>
              </a:lnSpc>
              <a:spcBef>
                <a:spcPts val="600"/>
              </a:spcBef>
              <a:spcAft>
                <a:spcPts val="0"/>
              </a:spcAft>
              <a:buClrTx/>
              <a:buSzTx/>
              <a:buFontTx/>
              <a:buNone/>
              <a:tabLst/>
              <a:defRPr/>
            </a:pPr>
            <a:r>
              <a:rPr kumimoji="0" lang="en-US" sz="1050" b="0" i="0" u="none" strike="noStrike" kern="1200" cap="none" spc="0" normalizeH="0" baseline="0" noProof="0">
                <a:ln>
                  <a:noFill/>
                </a:ln>
                <a:solidFill>
                  <a:srgbClr val="0059C8">
                    <a:lumMod val="60000"/>
                    <a:lumOff val="40000"/>
                  </a:srgbClr>
                </a:solidFill>
                <a:effectLst/>
                <a:uLnTx/>
                <a:uFillTx/>
                <a:latin typeface="Arial"/>
                <a:ea typeface="+mn-ea"/>
                <a:cs typeface="+mn-cs"/>
              </a:rPr>
              <a:t>Cloud Readiness Assessment</a:t>
            </a:r>
          </a:p>
        </p:txBody>
      </p:sp>
      <p:sp>
        <p:nvSpPr>
          <p:cNvPr id="464" name="Rounded Rectangle 463">
            <a:extLst>
              <a:ext uri="{FF2B5EF4-FFF2-40B4-BE49-F238E27FC236}">
                <a16:creationId xmlns:a16="http://schemas.microsoft.com/office/drawing/2014/main" id="{D2B7BFB6-2778-18BA-9DE8-D737E1D6C022}"/>
              </a:ext>
            </a:extLst>
          </p:cNvPr>
          <p:cNvSpPr/>
          <p:nvPr/>
        </p:nvSpPr>
        <p:spPr>
          <a:xfrm>
            <a:off x="371861" y="1671494"/>
            <a:ext cx="2686598" cy="1552590"/>
          </a:xfrm>
          <a:prstGeom prst="roundRect">
            <a:avLst>
              <a:gd name="adj" fmla="val 19179"/>
            </a:avLst>
          </a:prstGeom>
          <a:noFill/>
          <a:ln w="34925" cap="rnd" cmpd="dbl">
            <a:solidFill>
              <a:schemeClr val="accent5">
                <a:lumMod val="50000"/>
              </a:schemeClr>
            </a:solidFill>
            <a:prstDash val="lgDashDotDot"/>
            <a:extLst>
              <a:ext uri="{C807C97D-BFC1-408E-A445-0C87EB9F89A2}">
                <ask:lineSketchStyleProps xmlns:ask="http://schemas.microsoft.com/office/drawing/2018/sketchyshapes" sd="981765707">
                  <a:custGeom>
                    <a:avLst/>
                    <a:gdLst>
                      <a:gd name="connsiteX0" fmla="*/ 0 w 3891201"/>
                      <a:gd name="connsiteY0" fmla="*/ 211840 h 1271016"/>
                      <a:gd name="connsiteX1" fmla="*/ 211840 w 3891201"/>
                      <a:gd name="connsiteY1" fmla="*/ 0 h 1271016"/>
                      <a:gd name="connsiteX2" fmla="*/ 789760 w 3891201"/>
                      <a:gd name="connsiteY2" fmla="*/ 0 h 1271016"/>
                      <a:gd name="connsiteX3" fmla="*/ 1437031 w 3891201"/>
                      <a:gd name="connsiteY3" fmla="*/ 0 h 1271016"/>
                      <a:gd name="connsiteX4" fmla="*/ 2084301 w 3891201"/>
                      <a:gd name="connsiteY4" fmla="*/ 0 h 1271016"/>
                      <a:gd name="connsiteX5" fmla="*/ 2592871 w 3891201"/>
                      <a:gd name="connsiteY5" fmla="*/ 0 h 1271016"/>
                      <a:gd name="connsiteX6" fmla="*/ 3066766 w 3891201"/>
                      <a:gd name="connsiteY6" fmla="*/ 0 h 1271016"/>
                      <a:gd name="connsiteX7" fmla="*/ 3679361 w 3891201"/>
                      <a:gd name="connsiteY7" fmla="*/ 0 h 1271016"/>
                      <a:gd name="connsiteX8" fmla="*/ 3891201 w 3891201"/>
                      <a:gd name="connsiteY8" fmla="*/ 211840 h 1271016"/>
                      <a:gd name="connsiteX9" fmla="*/ 3891201 w 3891201"/>
                      <a:gd name="connsiteY9" fmla="*/ 627035 h 1271016"/>
                      <a:gd name="connsiteX10" fmla="*/ 3891201 w 3891201"/>
                      <a:gd name="connsiteY10" fmla="*/ 1059176 h 1271016"/>
                      <a:gd name="connsiteX11" fmla="*/ 3679361 w 3891201"/>
                      <a:gd name="connsiteY11" fmla="*/ 1271016 h 1271016"/>
                      <a:gd name="connsiteX12" fmla="*/ 3066766 w 3891201"/>
                      <a:gd name="connsiteY12" fmla="*/ 1271016 h 1271016"/>
                      <a:gd name="connsiteX13" fmla="*/ 2523521 w 3891201"/>
                      <a:gd name="connsiteY13" fmla="*/ 1271016 h 1271016"/>
                      <a:gd name="connsiteX14" fmla="*/ 1910925 w 3891201"/>
                      <a:gd name="connsiteY14" fmla="*/ 1271016 h 1271016"/>
                      <a:gd name="connsiteX15" fmla="*/ 1263655 w 3891201"/>
                      <a:gd name="connsiteY15" fmla="*/ 1271016 h 1271016"/>
                      <a:gd name="connsiteX16" fmla="*/ 211840 w 3891201"/>
                      <a:gd name="connsiteY16" fmla="*/ 1271016 h 1271016"/>
                      <a:gd name="connsiteX17" fmla="*/ 0 w 3891201"/>
                      <a:gd name="connsiteY17" fmla="*/ 1059176 h 1271016"/>
                      <a:gd name="connsiteX18" fmla="*/ 0 w 3891201"/>
                      <a:gd name="connsiteY18" fmla="*/ 652455 h 1271016"/>
                      <a:gd name="connsiteX19" fmla="*/ 0 w 3891201"/>
                      <a:gd name="connsiteY19" fmla="*/ 211840 h 127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91201" h="1271016" extrusionOk="0">
                        <a:moveTo>
                          <a:pt x="0" y="211840"/>
                        </a:moveTo>
                        <a:cubicBezTo>
                          <a:pt x="-1724" y="97869"/>
                          <a:pt x="85073" y="-4035"/>
                          <a:pt x="211840" y="0"/>
                        </a:cubicBezTo>
                        <a:cubicBezTo>
                          <a:pt x="352813" y="-66347"/>
                          <a:pt x="644289" y="64141"/>
                          <a:pt x="789760" y="0"/>
                        </a:cubicBezTo>
                        <a:cubicBezTo>
                          <a:pt x="935231" y="-64141"/>
                          <a:pt x="1135764" y="36819"/>
                          <a:pt x="1437031" y="0"/>
                        </a:cubicBezTo>
                        <a:cubicBezTo>
                          <a:pt x="1738298" y="-36819"/>
                          <a:pt x="1919312" y="25"/>
                          <a:pt x="2084301" y="0"/>
                        </a:cubicBezTo>
                        <a:cubicBezTo>
                          <a:pt x="2249290" y="-25"/>
                          <a:pt x="2412211" y="24788"/>
                          <a:pt x="2592871" y="0"/>
                        </a:cubicBezTo>
                        <a:cubicBezTo>
                          <a:pt x="2773531" y="-24788"/>
                          <a:pt x="2963621" y="44805"/>
                          <a:pt x="3066766" y="0"/>
                        </a:cubicBezTo>
                        <a:cubicBezTo>
                          <a:pt x="3169912" y="-44805"/>
                          <a:pt x="3497062" y="44876"/>
                          <a:pt x="3679361" y="0"/>
                        </a:cubicBezTo>
                        <a:cubicBezTo>
                          <a:pt x="3821363" y="3626"/>
                          <a:pt x="3878954" y="89255"/>
                          <a:pt x="3891201" y="211840"/>
                        </a:cubicBezTo>
                        <a:cubicBezTo>
                          <a:pt x="3920093" y="301511"/>
                          <a:pt x="3842349" y="475407"/>
                          <a:pt x="3891201" y="627035"/>
                        </a:cubicBezTo>
                        <a:cubicBezTo>
                          <a:pt x="3940053" y="778664"/>
                          <a:pt x="3863357" y="934958"/>
                          <a:pt x="3891201" y="1059176"/>
                        </a:cubicBezTo>
                        <a:cubicBezTo>
                          <a:pt x="3868850" y="1182099"/>
                          <a:pt x="3789568" y="1249049"/>
                          <a:pt x="3679361" y="1271016"/>
                        </a:cubicBezTo>
                        <a:cubicBezTo>
                          <a:pt x="3519371" y="1276183"/>
                          <a:pt x="3229389" y="1233492"/>
                          <a:pt x="3066766" y="1271016"/>
                        </a:cubicBezTo>
                        <a:cubicBezTo>
                          <a:pt x="2904143" y="1308540"/>
                          <a:pt x="2785129" y="1263928"/>
                          <a:pt x="2523521" y="1271016"/>
                        </a:cubicBezTo>
                        <a:cubicBezTo>
                          <a:pt x="2261914" y="1278104"/>
                          <a:pt x="2153174" y="1239646"/>
                          <a:pt x="1910925" y="1271016"/>
                        </a:cubicBezTo>
                        <a:cubicBezTo>
                          <a:pt x="1668676" y="1302386"/>
                          <a:pt x="1513616" y="1267310"/>
                          <a:pt x="1263655" y="1271016"/>
                        </a:cubicBezTo>
                        <a:cubicBezTo>
                          <a:pt x="1013694" y="1274722"/>
                          <a:pt x="608536" y="1219037"/>
                          <a:pt x="211840" y="1271016"/>
                        </a:cubicBezTo>
                        <a:cubicBezTo>
                          <a:pt x="77910" y="1284644"/>
                          <a:pt x="25439" y="1186323"/>
                          <a:pt x="0" y="1059176"/>
                        </a:cubicBezTo>
                        <a:cubicBezTo>
                          <a:pt x="-36452" y="957017"/>
                          <a:pt x="48746" y="797152"/>
                          <a:pt x="0" y="652455"/>
                        </a:cubicBezTo>
                        <a:cubicBezTo>
                          <a:pt x="-48746" y="507758"/>
                          <a:pt x="1772" y="362414"/>
                          <a:pt x="0" y="21184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p:txBody>
      </p:sp>
      <p:sp>
        <p:nvSpPr>
          <p:cNvPr id="3" name="Pentagon 35">
            <a:extLst>
              <a:ext uri="{FF2B5EF4-FFF2-40B4-BE49-F238E27FC236}">
                <a16:creationId xmlns:a16="http://schemas.microsoft.com/office/drawing/2014/main" id="{097C8815-76C8-31A8-D044-43F08D83D3BC}"/>
              </a:ext>
            </a:extLst>
          </p:cNvPr>
          <p:cNvSpPr/>
          <p:nvPr/>
        </p:nvSpPr>
        <p:spPr>
          <a:xfrm>
            <a:off x="377796" y="1638311"/>
            <a:ext cx="2694802" cy="446568"/>
          </a:xfrm>
          <a:prstGeom prst="homePlate">
            <a:avLst>
              <a:gd name="adj" fmla="val 0"/>
            </a:avLst>
          </a:prstGeom>
          <a:solidFill>
            <a:srgbClr val="042D63"/>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300" normalizeH="0" baseline="0" noProof="0">
                <a:ln>
                  <a:noFill/>
                </a:ln>
                <a:solidFill>
                  <a:prstClr val="white"/>
                </a:solidFill>
                <a:effectLst/>
                <a:uLnTx/>
                <a:uFillTx/>
                <a:latin typeface="Arial"/>
                <a:ea typeface="+mn-ea"/>
                <a:cs typeface="+mn-cs"/>
              </a:rPr>
              <a:t>DISCOVERY</a:t>
            </a:r>
          </a:p>
        </p:txBody>
      </p:sp>
      <p:grpSp>
        <p:nvGrpSpPr>
          <p:cNvPr id="468" name="Group 467">
            <a:extLst>
              <a:ext uri="{FF2B5EF4-FFF2-40B4-BE49-F238E27FC236}">
                <a16:creationId xmlns:a16="http://schemas.microsoft.com/office/drawing/2014/main" id="{D4FCD8A9-6FE7-3DAB-391C-50BB120D6FE5}"/>
              </a:ext>
            </a:extLst>
          </p:cNvPr>
          <p:cNvGrpSpPr/>
          <p:nvPr/>
        </p:nvGrpSpPr>
        <p:grpSpPr>
          <a:xfrm>
            <a:off x="277100" y="6254117"/>
            <a:ext cx="4374064" cy="479418"/>
            <a:chOff x="302152" y="6229065"/>
            <a:chExt cx="3876266" cy="424857"/>
          </a:xfrm>
        </p:grpSpPr>
        <p:pic>
          <p:nvPicPr>
            <p:cNvPr id="469" name="Graphic 468">
              <a:extLst>
                <a:ext uri="{FF2B5EF4-FFF2-40B4-BE49-F238E27FC236}">
                  <a16:creationId xmlns:a16="http://schemas.microsoft.com/office/drawing/2014/main" id="{6B7DF868-17D9-41C7-245C-33D20F1FC8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152" y="6229065"/>
              <a:ext cx="1378424" cy="424857"/>
            </a:xfrm>
            <a:prstGeom prst="rect">
              <a:avLst/>
            </a:prstGeom>
          </p:spPr>
        </p:pic>
        <p:sp>
          <p:nvSpPr>
            <p:cNvPr id="470" name="TextBox 469">
              <a:extLst>
                <a:ext uri="{FF2B5EF4-FFF2-40B4-BE49-F238E27FC236}">
                  <a16:creationId xmlns:a16="http://schemas.microsoft.com/office/drawing/2014/main" id="{832FAD66-559B-797A-F094-A6DAD44A3C48}"/>
                </a:ext>
              </a:extLst>
            </p:cNvPr>
            <p:cNvSpPr txBox="1"/>
            <p:nvPr/>
          </p:nvSpPr>
          <p:spPr>
            <a:xfrm>
              <a:off x="1884033" y="6318745"/>
              <a:ext cx="229438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Fira Sans Hair" panose="020B0203050000020004" pitchFamily="34" charset="0"/>
                  <a:ea typeface="+mn-ea"/>
                  <a:cs typeface="+mn-cs"/>
                </a:rPr>
                <a:t>Migration Services</a:t>
              </a:r>
            </a:p>
          </p:txBody>
        </p:sp>
        <p:cxnSp>
          <p:nvCxnSpPr>
            <p:cNvPr id="471" name="Straight Connector 470">
              <a:extLst>
                <a:ext uri="{FF2B5EF4-FFF2-40B4-BE49-F238E27FC236}">
                  <a16:creationId xmlns:a16="http://schemas.microsoft.com/office/drawing/2014/main" id="{FF6A7C97-CEF2-89AB-DEF7-BEF9D7D495DD}"/>
                </a:ext>
              </a:extLst>
            </p:cNvPr>
            <p:cNvCxnSpPr>
              <a:cxnSpLocks/>
            </p:cNvCxnSpPr>
            <p:nvPr/>
          </p:nvCxnSpPr>
          <p:spPr>
            <a:xfrm>
              <a:off x="1748847" y="6232000"/>
              <a:ext cx="0" cy="4219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72" name="Group 471">
              <a:extLst>
                <a:ext uri="{FF2B5EF4-FFF2-40B4-BE49-F238E27FC236}">
                  <a16:creationId xmlns:a16="http://schemas.microsoft.com/office/drawing/2014/main" id="{251061BB-18C7-1479-69AC-EB3B88AC52BC}"/>
                </a:ext>
              </a:extLst>
            </p:cNvPr>
            <p:cNvGrpSpPr>
              <a:grpSpLocks noChangeAspect="1"/>
            </p:cNvGrpSpPr>
            <p:nvPr/>
          </p:nvGrpSpPr>
          <p:grpSpPr>
            <a:xfrm>
              <a:off x="1842997" y="6294759"/>
              <a:ext cx="456928" cy="268640"/>
              <a:chOff x="6781800" y="5716588"/>
              <a:chExt cx="604838" cy="355600"/>
            </a:xfrm>
          </p:grpSpPr>
          <p:sp>
            <p:nvSpPr>
              <p:cNvPr id="473" name="Freeform 258">
                <a:extLst>
                  <a:ext uri="{FF2B5EF4-FFF2-40B4-BE49-F238E27FC236}">
                    <a16:creationId xmlns:a16="http://schemas.microsoft.com/office/drawing/2014/main" id="{3E4623D4-E095-E98B-0CFD-D4A1C83CF373}"/>
                  </a:ext>
                </a:extLst>
              </p:cNvPr>
              <p:cNvSpPr>
                <a:spLocks noChangeArrowheads="1"/>
              </p:cNvSpPr>
              <p:nvPr/>
            </p:nvSpPr>
            <p:spPr bwMode="auto">
              <a:xfrm>
                <a:off x="7205663" y="5718175"/>
                <a:ext cx="9525" cy="1588"/>
              </a:xfrm>
              <a:custGeom>
                <a:avLst/>
                <a:gdLst>
                  <a:gd name="T0" fmla="*/ 24 w 25"/>
                  <a:gd name="T1" fmla="*/ 0 h 1"/>
                  <a:gd name="T2" fmla="*/ 0 w 25"/>
                  <a:gd name="T3" fmla="*/ 0 h 1"/>
                </a:gdLst>
                <a:ahLst/>
                <a:cxnLst>
                  <a:cxn ang="0">
                    <a:pos x="T0" y="T1"/>
                  </a:cxn>
                  <a:cxn ang="0">
                    <a:pos x="T2" y="T3"/>
                  </a:cxn>
                </a:cxnLst>
                <a:rect l="0" t="0" r="r" b="b"/>
                <a:pathLst>
                  <a:path w="25" h="1">
                    <a:moveTo>
                      <a:pt x="24" y="0"/>
                    </a:moveTo>
                    <a:cubicBezTo>
                      <a:pt x="16" y="0"/>
                      <a:pt x="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4" name="Freeform 259">
                <a:extLst>
                  <a:ext uri="{FF2B5EF4-FFF2-40B4-BE49-F238E27FC236}">
                    <a16:creationId xmlns:a16="http://schemas.microsoft.com/office/drawing/2014/main" id="{A2E9276A-138A-9718-7048-F433FC208292}"/>
                  </a:ext>
                </a:extLst>
              </p:cNvPr>
              <p:cNvSpPr>
                <a:spLocks noChangeArrowheads="1"/>
              </p:cNvSpPr>
              <p:nvPr/>
            </p:nvSpPr>
            <p:spPr bwMode="auto">
              <a:xfrm>
                <a:off x="7205663" y="6070600"/>
                <a:ext cx="9525" cy="1588"/>
              </a:xfrm>
              <a:custGeom>
                <a:avLst/>
                <a:gdLst>
                  <a:gd name="T0" fmla="*/ 24 w 25"/>
                  <a:gd name="T1" fmla="*/ 0 h 1"/>
                  <a:gd name="T2" fmla="*/ 0 w 25"/>
                  <a:gd name="T3" fmla="*/ 0 h 1"/>
                </a:gdLst>
                <a:ahLst/>
                <a:cxnLst>
                  <a:cxn ang="0">
                    <a:pos x="T0" y="T1"/>
                  </a:cxn>
                  <a:cxn ang="0">
                    <a:pos x="T2" y="T3"/>
                  </a:cxn>
                </a:cxnLst>
                <a:rect l="0" t="0" r="r" b="b"/>
                <a:pathLst>
                  <a:path w="25" h="1">
                    <a:moveTo>
                      <a:pt x="24" y="0"/>
                    </a:moveTo>
                    <a:cubicBezTo>
                      <a:pt x="16" y="0"/>
                      <a:pt x="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5" name="Freeform 260">
                <a:extLst>
                  <a:ext uri="{FF2B5EF4-FFF2-40B4-BE49-F238E27FC236}">
                    <a16:creationId xmlns:a16="http://schemas.microsoft.com/office/drawing/2014/main" id="{CC65DE0E-D5F9-7A96-0261-8F99B756B19D}"/>
                  </a:ext>
                </a:extLst>
              </p:cNvPr>
              <p:cNvSpPr>
                <a:spLocks noChangeArrowheads="1"/>
              </p:cNvSpPr>
              <p:nvPr/>
            </p:nvSpPr>
            <p:spPr bwMode="auto">
              <a:xfrm>
                <a:off x="7385050" y="5889625"/>
                <a:ext cx="1588" cy="11113"/>
              </a:xfrm>
              <a:custGeom>
                <a:avLst/>
                <a:gdLst>
                  <a:gd name="T0" fmla="*/ 0 w 1"/>
                  <a:gd name="T1" fmla="*/ 28 h 29"/>
                  <a:gd name="T2" fmla="*/ 0 w 1"/>
                  <a:gd name="T3" fmla="*/ 0 h 29"/>
                </a:gdLst>
                <a:ahLst/>
                <a:cxnLst>
                  <a:cxn ang="0">
                    <a:pos x="T0" y="T1"/>
                  </a:cxn>
                  <a:cxn ang="0">
                    <a:pos x="T2" y="T3"/>
                  </a:cxn>
                </a:cxnLst>
                <a:rect l="0" t="0" r="r" b="b"/>
                <a:pathLst>
                  <a:path w="1" h="29">
                    <a:moveTo>
                      <a:pt x="0" y="28"/>
                    </a:moveTo>
                    <a:cubicBezTo>
                      <a:pt x="0" y="19"/>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6" name="Freeform 261">
                <a:extLst>
                  <a:ext uri="{FF2B5EF4-FFF2-40B4-BE49-F238E27FC236}">
                    <a16:creationId xmlns:a16="http://schemas.microsoft.com/office/drawing/2014/main" id="{81F558DB-2056-74E2-6958-5A3E6CCE039E}"/>
                  </a:ext>
                </a:extLst>
              </p:cNvPr>
              <p:cNvSpPr>
                <a:spLocks noChangeArrowheads="1"/>
              </p:cNvSpPr>
              <p:nvPr/>
            </p:nvSpPr>
            <p:spPr bwMode="auto">
              <a:xfrm>
                <a:off x="7159625" y="5722938"/>
                <a:ext cx="9525" cy="3175"/>
              </a:xfrm>
              <a:custGeom>
                <a:avLst/>
                <a:gdLst>
                  <a:gd name="T0" fmla="*/ 24 w 25"/>
                  <a:gd name="T1" fmla="*/ 0 h 9"/>
                  <a:gd name="T2" fmla="*/ 0 w 25"/>
                  <a:gd name="T3" fmla="*/ 8 h 9"/>
                </a:gdLst>
                <a:ahLst/>
                <a:cxnLst>
                  <a:cxn ang="0">
                    <a:pos x="T0" y="T1"/>
                  </a:cxn>
                  <a:cxn ang="0">
                    <a:pos x="T2" y="T3"/>
                  </a:cxn>
                </a:cxnLst>
                <a:rect l="0" t="0" r="r" b="b"/>
                <a:pathLst>
                  <a:path w="25" h="9">
                    <a:moveTo>
                      <a:pt x="24" y="0"/>
                    </a:moveTo>
                    <a:cubicBezTo>
                      <a:pt x="16" y="3"/>
                      <a:pt x="8" y="5"/>
                      <a:pt x="0" y="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7" name="Freeform 262">
                <a:extLst>
                  <a:ext uri="{FF2B5EF4-FFF2-40B4-BE49-F238E27FC236}">
                    <a16:creationId xmlns:a16="http://schemas.microsoft.com/office/drawing/2014/main" id="{B7FC5B76-A899-6522-3ADF-59B3A29167B2}"/>
                  </a:ext>
                </a:extLst>
              </p:cNvPr>
              <p:cNvSpPr>
                <a:spLocks noChangeArrowheads="1"/>
              </p:cNvSpPr>
              <p:nvPr/>
            </p:nvSpPr>
            <p:spPr bwMode="auto">
              <a:xfrm>
                <a:off x="7250113" y="6062663"/>
                <a:ext cx="9525" cy="3175"/>
              </a:xfrm>
              <a:custGeom>
                <a:avLst/>
                <a:gdLst>
                  <a:gd name="T0" fmla="*/ 25 w 26"/>
                  <a:gd name="T1" fmla="*/ 0 h 8"/>
                  <a:gd name="T2" fmla="*/ 0 w 26"/>
                  <a:gd name="T3" fmla="*/ 7 h 8"/>
                </a:gdLst>
                <a:ahLst/>
                <a:cxnLst>
                  <a:cxn ang="0">
                    <a:pos x="T0" y="T1"/>
                  </a:cxn>
                  <a:cxn ang="0">
                    <a:pos x="T2" y="T3"/>
                  </a:cxn>
                </a:cxnLst>
                <a:rect l="0" t="0" r="r" b="b"/>
                <a:pathLst>
                  <a:path w="26" h="8">
                    <a:moveTo>
                      <a:pt x="25" y="0"/>
                    </a:moveTo>
                    <a:cubicBezTo>
                      <a:pt x="17" y="2"/>
                      <a:pt x="9" y="5"/>
                      <a:pt x="0" y="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8" name="Freeform 263">
                <a:extLst>
                  <a:ext uri="{FF2B5EF4-FFF2-40B4-BE49-F238E27FC236}">
                    <a16:creationId xmlns:a16="http://schemas.microsoft.com/office/drawing/2014/main" id="{82459D19-E2C5-169E-4DAE-9E390A04F2C4}"/>
                  </a:ext>
                </a:extLst>
              </p:cNvPr>
              <p:cNvSpPr>
                <a:spLocks noChangeArrowheads="1"/>
              </p:cNvSpPr>
              <p:nvPr/>
            </p:nvSpPr>
            <p:spPr bwMode="auto">
              <a:xfrm>
                <a:off x="7378700" y="5843588"/>
                <a:ext cx="3175" cy="11112"/>
              </a:xfrm>
              <a:custGeom>
                <a:avLst/>
                <a:gdLst>
                  <a:gd name="T0" fmla="*/ 7 w 8"/>
                  <a:gd name="T1" fmla="*/ 28 h 29"/>
                  <a:gd name="T2" fmla="*/ 0 w 8"/>
                  <a:gd name="T3" fmla="*/ 0 h 29"/>
                </a:gdLst>
                <a:ahLst/>
                <a:cxnLst>
                  <a:cxn ang="0">
                    <a:pos x="T0" y="T1"/>
                  </a:cxn>
                  <a:cxn ang="0">
                    <a:pos x="T2" y="T3"/>
                  </a:cxn>
                </a:cxnLst>
                <a:rect l="0" t="0" r="r" b="b"/>
                <a:pathLst>
                  <a:path w="8" h="29">
                    <a:moveTo>
                      <a:pt x="7" y="28"/>
                    </a:moveTo>
                    <a:cubicBezTo>
                      <a:pt x="5" y="19"/>
                      <a:pt x="3"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9" name="Freeform 264">
                <a:extLst>
                  <a:ext uri="{FF2B5EF4-FFF2-40B4-BE49-F238E27FC236}">
                    <a16:creationId xmlns:a16="http://schemas.microsoft.com/office/drawing/2014/main" id="{2E63212D-E2B2-1A2D-0C30-41952C13DFA8}"/>
                  </a:ext>
                </a:extLst>
              </p:cNvPr>
              <p:cNvSpPr>
                <a:spLocks noChangeArrowheads="1"/>
              </p:cNvSpPr>
              <p:nvPr/>
            </p:nvSpPr>
            <p:spPr bwMode="auto">
              <a:xfrm>
                <a:off x="7038975" y="5935663"/>
                <a:ext cx="1588" cy="11112"/>
              </a:xfrm>
              <a:custGeom>
                <a:avLst/>
                <a:gdLst>
                  <a:gd name="T0" fmla="*/ 4 w 5"/>
                  <a:gd name="T1" fmla="*/ 28 h 29"/>
                  <a:gd name="T2" fmla="*/ 0 w 5"/>
                  <a:gd name="T3" fmla="*/ 0 h 29"/>
                </a:gdLst>
                <a:ahLst/>
                <a:cxnLst>
                  <a:cxn ang="0">
                    <a:pos x="T0" y="T1"/>
                  </a:cxn>
                  <a:cxn ang="0">
                    <a:pos x="T2" y="T3"/>
                  </a:cxn>
                </a:cxnLst>
                <a:rect l="0" t="0" r="r" b="b"/>
                <a:pathLst>
                  <a:path w="5" h="29">
                    <a:moveTo>
                      <a:pt x="4" y="28"/>
                    </a:moveTo>
                    <a:cubicBezTo>
                      <a:pt x="3" y="19"/>
                      <a:pt x="2"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0" name="Freeform 265">
                <a:extLst>
                  <a:ext uri="{FF2B5EF4-FFF2-40B4-BE49-F238E27FC236}">
                    <a16:creationId xmlns:a16="http://schemas.microsoft.com/office/drawing/2014/main" id="{C42AD06A-30A5-9C49-E57F-7139C318CCF2}"/>
                  </a:ext>
                </a:extLst>
              </p:cNvPr>
              <p:cNvSpPr>
                <a:spLocks noChangeArrowheads="1"/>
              </p:cNvSpPr>
              <p:nvPr/>
            </p:nvSpPr>
            <p:spPr bwMode="auto">
              <a:xfrm>
                <a:off x="7118350" y="5738813"/>
                <a:ext cx="7938" cy="4762"/>
              </a:xfrm>
              <a:custGeom>
                <a:avLst/>
                <a:gdLst>
                  <a:gd name="T0" fmla="*/ 21 w 22"/>
                  <a:gd name="T1" fmla="*/ 0 h 15"/>
                  <a:gd name="T2" fmla="*/ 0 w 22"/>
                  <a:gd name="T3" fmla="*/ 14 h 15"/>
                </a:gdLst>
                <a:ahLst/>
                <a:cxnLst>
                  <a:cxn ang="0">
                    <a:pos x="T0" y="T1"/>
                  </a:cxn>
                  <a:cxn ang="0">
                    <a:pos x="T2" y="T3"/>
                  </a:cxn>
                </a:cxnLst>
                <a:rect l="0" t="0" r="r" b="b"/>
                <a:pathLst>
                  <a:path w="22" h="15">
                    <a:moveTo>
                      <a:pt x="21" y="0"/>
                    </a:moveTo>
                    <a:cubicBezTo>
                      <a:pt x="14" y="5"/>
                      <a:pt x="7" y="9"/>
                      <a:pt x="0" y="1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1" name="Freeform 266">
                <a:extLst>
                  <a:ext uri="{FF2B5EF4-FFF2-40B4-BE49-F238E27FC236}">
                    <a16:creationId xmlns:a16="http://schemas.microsoft.com/office/drawing/2014/main" id="{486F2005-B5DA-F4F0-4A11-25135C483ABE}"/>
                  </a:ext>
                </a:extLst>
              </p:cNvPr>
              <p:cNvSpPr>
                <a:spLocks noChangeArrowheads="1"/>
              </p:cNvSpPr>
              <p:nvPr/>
            </p:nvSpPr>
            <p:spPr bwMode="auto">
              <a:xfrm>
                <a:off x="7292975" y="6043613"/>
                <a:ext cx="7938" cy="4762"/>
              </a:xfrm>
              <a:custGeom>
                <a:avLst/>
                <a:gdLst>
                  <a:gd name="T0" fmla="*/ 21 w 22"/>
                  <a:gd name="T1" fmla="*/ 0 h 15"/>
                  <a:gd name="T2" fmla="*/ 0 w 22"/>
                  <a:gd name="T3" fmla="*/ 14 h 15"/>
                </a:gdLst>
                <a:ahLst/>
                <a:cxnLst>
                  <a:cxn ang="0">
                    <a:pos x="T0" y="T1"/>
                  </a:cxn>
                  <a:cxn ang="0">
                    <a:pos x="T2" y="T3"/>
                  </a:cxn>
                </a:cxnLst>
                <a:rect l="0" t="0" r="r" b="b"/>
                <a:pathLst>
                  <a:path w="22" h="15">
                    <a:moveTo>
                      <a:pt x="21" y="0"/>
                    </a:moveTo>
                    <a:cubicBezTo>
                      <a:pt x="14" y="5"/>
                      <a:pt x="7" y="9"/>
                      <a:pt x="0" y="1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2" name="Freeform 267">
                <a:extLst>
                  <a:ext uri="{FF2B5EF4-FFF2-40B4-BE49-F238E27FC236}">
                    <a16:creationId xmlns:a16="http://schemas.microsoft.com/office/drawing/2014/main" id="{D2D0CD78-2923-EF19-97B8-E3F0DD4836E1}"/>
                  </a:ext>
                </a:extLst>
              </p:cNvPr>
              <p:cNvSpPr>
                <a:spLocks noChangeArrowheads="1"/>
              </p:cNvSpPr>
              <p:nvPr/>
            </p:nvSpPr>
            <p:spPr bwMode="auto">
              <a:xfrm>
                <a:off x="7359650" y="5802313"/>
                <a:ext cx="4763" cy="9525"/>
              </a:xfrm>
              <a:custGeom>
                <a:avLst/>
                <a:gdLst>
                  <a:gd name="T0" fmla="*/ 14 w 15"/>
                  <a:gd name="T1" fmla="*/ 24 h 25"/>
                  <a:gd name="T2" fmla="*/ 0 w 15"/>
                  <a:gd name="T3" fmla="*/ 0 h 25"/>
                </a:gdLst>
                <a:ahLst/>
                <a:cxnLst>
                  <a:cxn ang="0">
                    <a:pos x="T0" y="T1"/>
                  </a:cxn>
                  <a:cxn ang="0">
                    <a:pos x="T2" y="T3"/>
                  </a:cxn>
                </a:cxnLst>
                <a:rect l="0" t="0" r="r" b="b"/>
                <a:pathLst>
                  <a:path w="15" h="25">
                    <a:moveTo>
                      <a:pt x="14" y="24"/>
                    </a:moveTo>
                    <a:cubicBezTo>
                      <a:pt x="10" y="16"/>
                      <a:pt x="5"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3" name="Freeform 268">
                <a:extLst>
                  <a:ext uri="{FF2B5EF4-FFF2-40B4-BE49-F238E27FC236}">
                    <a16:creationId xmlns:a16="http://schemas.microsoft.com/office/drawing/2014/main" id="{5AF5EC44-D0A3-3A59-ADD5-C05AB294F42C}"/>
                  </a:ext>
                </a:extLst>
              </p:cNvPr>
              <p:cNvSpPr>
                <a:spLocks noChangeArrowheads="1"/>
              </p:cNvSpPr>
              <p:nvPr/>
            </p:nvSpPr>
            <p:spPr bwMode="auto">
              <a:xfrm>
                <a:off x="7054850" y="5978525"/>
                <a:ext cx="4763" cy="9525"/>
              </a:xfrm>
              <a:custGeom>
                <a:avLst/>
                <a:gdLst>
                  <a:gd name="T0" fmla="*/ 11 w 12"/>
                  <a:gd name="T1" fmla="*/ 25 h 26"/>
                  <a:gd name="T2" fmla="*/ 0 w 12"/>
                  <a:gd name="T3" fmla="*/ 0 h 26"/>
                </a:gdLst>
                <a:ahLst/>
                <a:cxnLst>
                  <a:cxn ang="0">
                    <a:pos x="T0" y="T1"/>
                  </a:cxn>
                  <a:cxn ang="0">
                    <a:pos x="T2" y="T3"/>
                  </a:cxn>
                </a:cxnLst>
                <a:rect l="0" t="0" r="r" b="b"/>
                <a:pathLst>
                  <a:path w="12" h="26">
                    <a:moveTo>
                      <a:pt x="11" y="25"/>
                    </a:moveTo>
                    <a:cubicBezTo>
                      <a:pt x="8" y="17"/>
                      <a:pt x="4"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4" name="Freeform 269">
                <a:extLst>
                  <a:ext uri="{FF2B5EF4-FFF2-40B4-BE49-F238E27FC236}">
                    <a16:creationId xmlns:a16="http://schemas.microsoft.com/office/drawing/2014/main" id="{EEE01B41-30B5-1C0E-0F0F-E234FC716CB0}"/>
                  </a:ext>
                </a:extLst>
              </p:cNvPr>
              <p:cNvSpPr>
                <a:spLocks noChangeArrowheads="1"/>
              </p:cNvSpPr>
              <p:nvPr/>
            </p:nvSpPr>
            <p:spPr bwMode="auto">
              <a:xfrm>
                <a:off x="7331075" y="6015038"/>
                <a:ext cx="6350" cy="7937"/>
              </a:xfrm>
              <a:custGeom>
                <a:avLst/>
                <a:gdLst>
                  <a:gd name="T0" fmla="*/ 18 w 19"/>
                  <a:gd name="T1" fmla="*/ 0 h 22"/>
                  <a:gd name="T2" fmla="*/ 0 w 19"/>
                  <a:gd name="T3" fmla="*/ 21 h 22"/>
                </a:gdLst>
                <a:ahLst/>
                <a:cxnLst>
                  <a:cxn ang="0">
                    <a:pos x="T0" y="T1"/>
                  </a:cxn>
                  <a:cxn ang="0">
                    <a:pos x="T2" y="T3"/>
                  </a:cxn>
                </a:cxnLst>
                <a:rect l="0" t="0" r="r" b="b"/>
                <a:pathLst>
                  <a:path w="19" h="22">
                    <a:moveTo>
                      <a:pt x="18" y="0"/>
                    </a:moveTo>
                    <a:cubicBezTo>
                      <a:pt x="12" y="7"/>
                      <a:pt x="6" y="14"/>
                      <a:pt x="0" y="2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5" name="Freeform 270">
                <a:extLst>
                  <a:ext uri="{FF2B5EF4-FFF2-40B4-BE49-F238E27FC236}">
                    <a16:creationId xmlns:a16="http://schemas.microsoft.com/office/drawing/2014/main" id="{A97202D3-EAE6-CE13-5C8A-6C8E4685149C}"/>
                  </a:ext>
                </a:extLst>
              </p:cNvPr>
              <p:cNvSpPr>
                <a:spLocks noChangeArrowheads="1"/>
              </p:cNvSpPr>
              <p:nvPr/>
            </p:nvSpPr>
            <p:spPr bwMode="auto">
              <a:xfrm>
                <a:off x="7331075" y="5765800"/>
                <a:ext cx="6350" cy="7938"/>
              </a:xfrm>
              <a:custGeom>
                <a:avLst/>
                <a:gdLst>
                  <a:gd name="T0" fmla="*/ 18 w 19"/>
                  <a:gd name="T1" fmla="*/ 21 h 22"/>
                  <a:gd name="T2" fmla="*/ 0 w 19"/>
                  <a:gd name="T3" fmla="*/ 0 h 22"/>
                </a:gdLst>
                <a:ahLst/>
                <a:cxnLst>
                  <a:cxn ang="0">
                    <a:pos x="T0" y="T1"/>
                  </a:cxn>
                  <a:cxn ang="0">
                    <a:pos x="T2" y="T3"/>
                  </a:cxn>
                </a:cxnLst>
                <a:rect l="0" t="0" r="r" b="b"/>
                <a:pathLst>
                  <a:path w="19" h="22">
                    <a:moveTo>
                      <a:pt x="18" y="21"/>
                    </a:moveTo>
                    <a:cubicBezTo>
                      <a:pt x="12" y="14"/>
                      <a:pt x="6" y="7"/>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6" name="Freeform 271">
                <a:extLst>
                  <a:ext uri="{FF2B5EF4-FFF2-40B4-BE49-F238E27FC236}">
                    <a16:creationId xmlns:a16="http://schemas.microsoft.com/office/drawing/2014/main" id="{F6A2EAED-1EF2-8088-4DEF-01D1AD973E6A}"/>
                  </a:ext>
                </a:extLst>
              </p:cNvPr>
              <p:cNvSpPr>
                <a:spLocks noChangeArrowheads="1"/>
              </p:cNvSpPr>
              <p:nvPr/>
            </p:nvSpPr>
            <p:spPr bwMode="auto">
              <a:xfrm>
                <a:off x="7054850" y="5802313"/>
                <a:ext cx="4763" cy="9525"/>
              </a:xfrm>
              <a:custGeom>
                <a:avLst/>
                <a:gdLst>
                  <a:gd name="T0" fmla="*/ 11 w 12"/>
                  <a:gd name="T1" fmla="*/ 0 h 25"/>
                  <a:gd name="T2" fmla="*/ 0 w 12"/>
                  <a:gd name="T3" fmla="*/ 24 h 25"/>
                </a:gdLst>
                <a:ahLst/>
                <a:cxnLst>
                  <a:cxn ang="0">
                    <a:pos x="T0" y="T1"/>
                  </a:cxn>
                  <a:cxn ang="0">
                    <a:pos x="T2" y="T3"/>
                  </a:cxn>
                </a:cxnLst>
                <a:rect l="0" t="0" r="r" b="b"/>
                <a:pathLst>
                  <a:path w="12" h="25">
                    <a:moveTo>
                      <a:pt x="11" y="0"/>
                    </a:moveTo>
                    <a:cubicBezTo>
                      <a:pt x="8" y="8"/>
                      <a:pt x="4" y="16"/>
                      <a:pt x="0" y="2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7" name="Freeform 272">
                <a:extLst>
                  <a:ext uri="{FF2B5EF4-FFF2-40B4-BE49-F238E27FC236}">
                    <a16:creationId xmlns:a16="http://schemas.microsoft.com/office/drawing/2014/main" id="{17B16799-94C8-2371-5C6B-B396FD6225BC}"/>
                  </a:ext>
                </a:extLst>
              </p:cNvPr>
              <p:cNvSpPr>
                <a:spLocks noChangeArrowheads="1"/>
              </p:cNvSpPr>
              <p:nvPr/>
            </p:nvSpPr>
            <p:spPr bwMode="auto">
              <a:xfrm>
                <a:off x="7359650" y="5978525"/>
                <a:ext cx="4763" cy="952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10" y="8"/>
                      <a:pt x="5" y="17"/>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8" name="Freeform 273">
                <a:extLst>
                  <a:ext uri="{FF2B5EF4-FFF2-40B4-BE49-F238E27FC236}">
                    <a16:creationId xmlns:a16="http://schemas.microsoft.com/office/drawing/2014/main" id="{6D1F2A6D-7841-F50B-994E-6ACFC93120D4}"/>
                  </a:ext>
                </a:extLst>
              </p:cNvPr>
              <p:cNvSpPr>
                <a:spLocks noChangeArrowheads="1"/>
              </p:cNvSpPr>
              <p:nvPr/>
            </p:nvSpPr>
            <p:spPr bwMode="auto">
              <a:xfrm>
                <a:off x="7292975" y="5738813"/>
                <a:ext cx="7938" cy="4762"/>
              </a:xfrm>
              <a:custGeom>
                <a:avLst/>
                <a:gdLst>
                  <a:gd name="T0" fmla="*/ 21 w 22"/>
                  <a:gd name="T1" fmla="*/ 14 h 15"/>
                  <a:gd name="T2" fmla="*/ 0 w 22"/>
                  <a:gd name="T3" fmla="*/ 0 h 15"/>
                </a:gdLst>
                <a:ahLst/>
                <a:cxnLst>
                  <a:cxn ang="0">
                    <a:pos x="T0" y="T1"/>
                  </a:cxn>
                  <a:cxn ang="0">
                    <a:pos x="T2" y="T3"/>
                  </a:cxn>
                </a:cxnLst>
                <a:rect l="0" t="0" r="r" b="b"/>
                <a:pathLst>
                  <a:path w="22" h="15">
                    <a:moveTo>
                      <a:pt x="21" y="14"/>
                    </a:moveTo>
                    <a:cubicBezTo>
                      <a:pt x="14" y="9"/>
                      <a:pt x="7"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9" name="Freeform 274">
                <a:extLst>
                  <a:ext uri="{FF2B5EF4-FFF2-40B4-BE49-F238E27FC236}">
                    <a16:creationId xmlns:a16="http://schemas.microsoft.com/office/drawing/2014/main" id="{14B09122-79C5-D861-B9BB-BBF89E90F11B}"/>
                  </a:ext>
                </a:extLst>
              </p:cNvPr>
              <p:cNvSpPr>
                <a:spLocks noChangeArrowheads="1"/>
              </p:cNvSpPr>
              <p:nvPr/>
            </p:nvSpPr>
            <p:spPr bwMode="auto">
              <a:xfrm>
                <a:off x="7118350" y="6043613"/>
                <a:ext cx="7938" cy="4762"/>
              </a:xfrm>
              <a:custGeom>
                <a:avLst/>
                <a:gdLst>
                  <a:gd name="T0" fmla="*/ 21 w 22"/>
                  <a:gd name="T1" fmla="*/ 14 h 15"/>
                  <a:gd name="T2" fmla="*/ 0 w 22"/>
                  <a:gd name="T3" fmla="*/ 0 h 15"/>
                </a:gdLst>
                <a:ahLst/>
                <a:cxnLst>
                  <a:cxn ang="0">
                    <a:pos x="T0" y="T1"/>
                  </a:cxn>
                  <a:cxn ang="0">
                    <a:pos x="T2" y="T3"/>
                  </a:cxn>
                </a:cxnLst>
                <a:rect l="0" t="0" r="r" b="b"/>
                <a:pathLst>
                  <a:path w="22" h="15">
                    <a:moveTo>
                      <a:pt x="21" y="14"/>
                    </a:moveTo>
                    <a:cubicBezTo>
                      <a:pt x="14" y="9"/>
                      <a:pt x="7"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0" name="Freeform 275">
                <a:extLst>
                  <a:ext uri="{FF2B5EF4-FFF2-40B4-BE49-F238E27FC236}">
                    <a16:creationId xmlns:a16="http://schemas.microsoft.com/office/drawing/2014/main" id="{5FA42CB3-9B6B-10B4-EB97-5B553F0A96ED}"/>
                  </a:ext>
                </a:extLst>
              </p:cNvPr>
              <p:cNvSpPr>
                <a:spLocks noChangeArrowheads="1"/>
              </p:cNvSpPr>
              <p:nvPr/>
            </p:nvSpPr>
            <p:spPr bwMode="auto">
              <a:xfrm>
                <a:off x="7038975" y="5843588"/>
                <a:ext cx="1588" cy="11112"/>
              </a:xfrm>
              <a:custGeom>
                <a:avLst/>
                <a:gdLst>
                  <a:gd name="T0" fmla="*/ 4 w 5"/>
                  <a:gd name="T1" fmla="*/ 0 h 29"/>
                  <a:gd name="T2" fmla="*/ 0 w 5"/>
                  <a:gd name="T3" fmla="*/ 28 h 29"/>
                </a:gdLst>
                <a:ahLst/>
                <a:cxnLst>
                  <a:cxn ang="0">
                    <a:pos x="T0" y="T1"/>
                  </a:cxn>
                  <a:cxn ang="0">
                    <a:pos x="T2" y="T3"/>
                  </a:cxn>
                </a:cxnLst>
                <a:rect l="0" t="0" r="r" b="b"/>
                <a:pathLst>
                  <a:path w="5" h="29">
                    <a:moveTo>
                      <a:pt x="4" y="0"/>
                    </a:moveTo>
                    <a:cubicBezTo>
                      <a:pt x="3" y="9"/>
                      <a:pt x="2" y="19"/>
                      <a:pt x="0" y="2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1" name="Freeform 276">
                <a:extLst>
                  <a:ext uri="{FF2B5EF4-FFF2-40B4-BE49-F238E27FC236}">
                    <a16:creationId xmlns:a16="http://schemas.microsoft.com/office/drawing/2014/main" id="{8BFCD429-11A7-E7B3-E555-382B60CBCD0B}"/>
                  </a:ext>
                </a:extLst>
              </p:cNvPr>
              <p:cNvSpPr>
                <a:spLocks noChangeArrowheads="1"/>
              </p:cNvSpPr>
              <p:nvPr/>
            </p:nvSpPr>
            <p:spPr bwMode="auto">
              <a:xfrm>
                <a:off x="7378700" y="5935663"/>
                <a:ext cx="3175" cy="11112"/>
              </a:xfrm>
              <a:custGeom>
                <a:avLst/>
                <a:gdLst>
                  <a:gd name="T0" fmla="*/ 7 w 8"/>
                  <a:gd name="T1" fmla="*/ 0 h 29"/>
                  <a:gd name="T2" fmla="*/ 0 w 8"/>
                  <a:gd name="T3" fmla="*/ 28 h 29"/>
                </a:gdLst>
                <a:ahLst/>
                <a:cxnLst>
                  <a:cxn ang="0">
                    <a:pos x="T0" y="T1"/>
                  </a:cxn>
                  <a:cxn ang="0">
                    <a:pos x="T2" y="T3"/>
                  </a:cxn>
                </a:cxnLst>
                <a:rect l="0" t="0" r="r" b="b"/>
                <a:pathLst>
                  <a:path w="8" h="29">
                    <a:moveTo>
                      <a:pt x="7" y="0"/>
                    </a:moveTo>
                    <a:cubicBezTo>
                      <a:pt x="5" y="9"/>
                      <a:pt x="3" y="19"/>
                      <a:pt x="0" y="2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2" name="Freeform 277">
                <a:extLst>
                  <a:ext uri="{FF2B5EF4-FFF2-40B4-BE49-F238E27FC236}">
                    <a16:creationId xmlns:a16="http://schemas.microsoft.com/office/drawing/2014/main" id="{B107E269-0464-AC94-2C44-F641A1F8FCBC}"/>
                  </a:ext>
                </a:extLst>
              </p:cNvPr>
              <p:cNvSpPr>
                <a:spLocks noChangeArrowheads="1"/>
              </p:cNvSpPr>
              <p:nvPr/>
            </p:nvSpPr>
            <p:spPr bwMode="auto">
              <a:xfrm>
                <a:off x="7250113" y="5722938"/>
                <a:ext cx="9525" cy="3175"/>
              </a:xfrm>
              <a:custGeom>
                <a:avLst/>
                <a:gdLst>
                  <a:gd name="T0" fmla="*/ 25 w 26"/>
                  <a:gd name="T1" fmla="*/ 8 h 9"/>
                  <a:gd name="T2" fmla="*/ 0 w 26"/>
                  <a:gd name="T3" fmla="*/ 0 h 9"/>
                </a:gdLst>
                <a:ahLst/>
                <a:cxnLst>
                  <a:cxn ang="0">
                    <a:pos x="T0" y="T1"/>
                  </a:cxn>
                  <a:cxn ang="0">
                    <a:pos x="T2" y="T3"/>
                  </a:cxn>
                </a:cxnLst>
                <a:rect l="0" t="0" r="r" b="b"/>
                <a:pathLst>
                  <a:path w="26" h="9">
                    <a:moveTo>
                      <a:pt x="25" y="8"/>
                    </a:moveTo>
                    <a:cubicBezTo>
                      <a:pt x="17" y="5"/>
                      <a:pt x="9"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3" name="Freeform 278">
                <a:extLst>
                  <a:ext uri="{FF2B5EF4-FFF2-40B4-BE49-F238E27FC236}">
                    <a16:creationId xmlns:a16="http://schemas.microsoft.com/office/drawing/2014/main" id="{0F7B41E1-E429-32A6-00C1-A5841E5FCC2D}"/>
                  </a:ext>
                </a:extLst>
              </p:cNvPr>
              <p:cNvSpPr>
                <a:spLocks noChangeArrowheads="1"/>
              </p:cNvSpPr>
              <p:nvPr/>
            </p:nvSpPr>
            <p:spPr bwMode="auto">
              <a:xfrm>
                <a:off x="7159625" y="6062663"/>
                <a:ext cx="9525" cy="3175"/>
              </a:xfrm>
              <a:custGeom>
                <a:avLst/>
                <a:gdLst>
                  <a:gd name="T0" fmla="*/ 24 w 25"/>
                  <a:gd name="T1" fmla="*/ 7 h 8"/>
                  <a:gd name="T2" fmla="*/ 0 w 25"/>
                  <a:gd name="T3" fmla="*/ 0 h 8"/>
                </a:gdLst>
                <a:ahLst/>
                <a:cxnLst>
                  <a:cxn ang="0">
                    <a:pos x="T0" y="T1"/>
                  </a:cxn>
                  <a:cxn ang="0">
                    <a:pos x="T2" y="T3"/>
                  </a:cxn>
                </a:cxnLst>
                <a:rect l="0" t="0" r="r" b="b"/>
                <a:pathLst>
                  <a:path w="25" h="8">
                    <a:moveTo>
                      <a:pt x="24" y="7"/>
                    </a:moveTo>
                    <a:cubicBezTo>
                      <a:pt x="16" y="5"/>
                      <a:pt x="8" y="2"/>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4" name="Freeform 279">
                <a:extLst>
                  <a:ext uri="{FF2B5EF4-FFF2-40B4-BE49-F238E27FC236}">
                    <a16:creationId xmlns:a16="http://schemas.microsoft.com/office/drawing/2014/main" id="{C05A7700-2247-4464-DA38-E36E26B47F54}"/>
                  </a:ext>
                </a:extLst>
              </p:cNvPr>
              <p:cNvSpPr>
                <a:spLocks noChangeArrowheads="1"/>
              </p:cNvSpPr>
              <p:nvPr/>
            </p:nvSpPr>
            <p:spPr bwMode="auto">
              <a:xfrm>
                <a:off x="6959600" y="5894388"/>
                <a:ext cx="298450" cy="1587"/>
              </a:xfrm>
              <a:custGeom>
                <a:avLst/>
                <a:gdLst>
                  <a:gd name="T0" fmla="*/ 827 w 828"/>
                  <a:gd name="T1" fmla="*/ 0 h 1"/>
                  <a:gd name="T2" fmla="*/ 0 w 828"/>
                  <a:gd name="T3" fmla="*/ 0 h 1"/>
                </a:gdLst>
                <a:ahLst/>
                <a:cxnLst>
                  <a:cxn ang="0">
                    <a:pos x="T0" y="T1"/>
                  </a:cxn>
                  <a:cxn ang="0">
                    <a:pos x="T2" y="T3"/>
                  </a:cxn>
                </a:cxnLst>
                <a:rect l="0" t="0" r="r" b="b"/>
                <a:pathLst>
                  <a:path w="828" h="1">
                    <a:moveTo>
                      <a:pt x="827" y="0"/>
                    </a:moveTo>
                    <a:cubicBezTo>
                      <a:pt x="552" y="0"/>
                      <a:pt x="276"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5" name="Freeform 280">
                <a:extLst>
                  <a:ext uri="{FF2B5EF4-FFF2-40B4-BE49-F238E27FC236}">
                    <a16:creationId xmlns:a16="http://schemas.microsoft.com/office/drawing/2014/main" id="{8BF536B6-3CA2-FBF2-967F-5ED4F70D37FA}"/>
                  </a:ext>
                </a:extLst>
              </p:cNvPr>
              <p:cNvSpPr>
                <a:spLocks noChangeArrowheads="1"/>
              </p:cNvSpPr>
              <p:nvPr/>
            </p:nvSpPr>
            <p:spPr bwMode="auto">
              <a:xfrm>
                <a:off x="7207250" y="5843588"/>
                <a:ext cx="49213" cy="101600"/>
              </a:xfrm>
              <a:custGeom>
                <a:avLst/>
                <a:gdLst>
                  <a:gd name="T0" fmla="*/ 0 w 138"/>
                  <a:gd name="T1" fmla="*/ 282 h 283"/>
                  <a:gd name="T2" fmla="*/ 133 w 138"/>
                  <a:gd name="T3" fmla="*/ 148 h 283"/>
                  <a:gd name="T4" fmla="*/ 133 w 138"/>
                  <a:gd name="T5" fmla="*/ 134 h 283"/>
                  <a:gd name="T6" fmla="*/ 0 w 138"/>
                  <a:gd name="T7" fmla="*/ 0 h 283"/>
                </a:gdLst>
                <a:ahLst/>
                <a:cxnLst>
                  <a:cxn ang="0">
                    <a:pos x="T0" y="T1"/>
                  </a:cxn>
                  <a:cxn ang="0">
                    <a:pos x="T2" y="T3"/>
                  </a:cxn>
                  <a:cxn ang="0">
                    <a:pos x="T4" y="T5"/>
                  </a:cxn>
                  <a:cxn ang="0">
                    <a:pos x="T6" y="T7"/>
                  </a:cxn>
                </a:cxnLst>
                <a:rect l="0" t="0" r="r" b="b"/>
                <a:pathLst>
                  <a:path w="138" h="283">
                    <a:moveTo>
                      <a:pt x="0" y="282"/>
                    </a:moveTo>
                    <a:cubicBezTo>
                      <a:pt x="45" y="237"/>
                      <a:pt x="89" y="193"/>
                      <a:pt x="133" y="148"/>
                    </a:cubicBezTo>
                    <a:cubicBezTo>
                      <a:pt x="137" y="144"/>
                      <a:pt x="137" y="137"/>
                      <a:pt x="133" y="134"/>
                    </a:cubicBezTo>
                    <a:cubicBezTo>
                      <a:pt x="89" y="89"/>
                      <a:pt x="45" y="4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6" name="Freeform 281">
                <a:extLst>
                  <a:ext uri="{FF2B5EF4-FFF2-40B4-BE49-F238E27FC236}">
                    <a16:creationId xmlns:a16="http://schemas.microsoft.com/office/drawing/2014/main" id="{D6269DE0-DD93-8B19-FE12-525118EDA4A0}"/>
                  </a:ext>
                </a:extLst>
              </p:cNvPr>
              <p:cNvSpPr>
                <a:spLocks noChangeArrowheads="1"/>
              </p:cNvSpPr>
              <p:nvPr/>
            </p:nvSpPr>
            <p:spPr bwMode="auto">
              <a:xfrm>
                <a:off x="6781800" y="5716588"/>
                <a:ext cx="355600" cy="355600"/>
              </a:xfrm>
              <a:custGeom>
                <a:avLst/>
                <a:gdLst>
                  <a:gd name="T0" fmla="*/ 493 w 986"/>
                  <a:gd name="T1" fmla="*/ 986 h 987"/>
                  <a:gd name="T2" fmla="*/ 0 w 986"/>
                  <a:gd name="T3" fmla="*/ 493 h 987"/>
                  <a:gd name="T4" fmla="*/ 493 w 986"/>
                  <a:gd name="T5" fmla="*/ 0 h 987"/>
                  <a:gd name="T6" fmla="*/ 985 w 986"/>
                  <a:gd name="T7" fmla="*/ 493 h 987"/>
                  <a:gd name="T8" fmla="*/ 493 w 986"/>
                  <a:gd name="T9" fmla="*/ 986 h 987"/>
                </a:gdLst>
                <a:ahLst/>
                <a:cxnLst>
                  <a:cxn ang="0">
                    <a:pos x="T0" y="T1"/>
                  </a:cxn>
                  <a:cxn ang="0">
                    <a:pos x="T2" y="T3"/>
                  </a:cxn>
                  <a:cxn ang="0">
                    <a:pos x="T4" y="T5"/>
                  </a:cxn>
                  <a:cxn ang="0">
                    <a:pos x="T6" y="T7"/>
                  </a:cxn>
                  <a:cxn ang="0">
                    <a:pos x="T8" y="T9"/>
                  </a:cxn>
                </a:cxnLst>
                <a:rect l="0" t="0" r="r" b="b"/>
                <a:pathLst>
                  <a:path w="986" h="987">
                    <a:moveTo>
                      <a:pt x="493" y="986"/>
                    </a:moveTo>
                    <a:cubicBezTo>
                      <a:pt x="221" y="986"/>
                      <a:pt x="0" y="764"/>
                      <a:pt x="0" y="493"/>
                    </a:cubicBezTo>
                    <a:cubicBezTo>
                      <a:pt x="0" y="222"/>
                      <a:pt x="222" y="0"/>
                      <a:pt x="493" y="0"/>
                    </a:cubicBezTo>
                    <a:cubicBezTo>
                      <a:pt x="765" y="0"/>
                      <a:pt x="985" y="222"/>
                      <a:pt x="985" y="493"/>
                    </a:cubicBezTo>
                    <a:cubicBezTo>
                      <a:pt x="985" y="764"/>
                      <a:pt x="764" y="986"/>
                      <a:pt x="493" y="98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13" name="Freeform 80">
            <a:extLst>
              <a:ext uri="{FF2B5EF4-FFF2-40B4-BE49-F238E27FC236}">
                <a16:creationId xmlns:a16="http://schemas.microsoft.com/office/drawing/2014/main" id="{51C9175E-B6B2-39CA-5892-A272E221BF15}"/>
              </a:ext>
            </a:extLst>
          </p:cNvPr>
          <p:cNvSpPr>
            <a:spLocks noChangeArrowheads="1"/>
          </p:cNvSpPr>
          <p:nvPr/>
        </p:nvSpPr>
        <p:spPr bwMode="auto">
          <a:xfrm rot="20432030">
            <a:off x="1207297" y="2291516"/>
            <a:ext cx="82542" cy="184508"/>
          </a:xfrm>
          <a:custGeom>
            <a:avLst/>
            <a:gdLst>
              <a:gd name="T0" fmla="*/ 423 w 722"/>
              <a:gd name="T1" fmla="*/ 0 h 1117"/>
              <a:gd name="T2" fmla="*/ 401 w 722"/>
              <a:gd name="T3" fmla="*/ 12 h 1117"/>
              <a:gd name="T4" fmla="*/ 141 w 722"/>
              <a:gd name="T5" fmla="*/ 428 h 1117"/>
              <a:gd name="T6" fmla="*/ 154 w 722"/>
              <a:gd name="T7" fmla="*/ 452 h 1117"/>
              <a:gd name="T8" fmla="*/ 262 w 722"/>
              <a:gd name="T9" fmla="*/ 452 h 1117"/>
              <a:gd name="T10" fmla="*/ 269 w 722"/>
              <a:gd name="T11" fmla="*/ 464 h 1117"/>
              <a:gd name="T12" fmla="*/ 76 w 722"/>
              <a:gd name="T13" fmla="*/ 773 h 1117"/>
              <a:gd name="T14" fmla="*/ 89 w 722"/>
              <a:gd name="T15" fmla="*/ 797 h 1117"/>
              <a:gd name="T16" fmla="*/ 198 w 722"/>
              <a:gd name="T17" fmla="*/ 797 h 1117"/>
              <a:gd name="T18" fmla="*/ 204 w 722"/>
              <a:gd name="T19" fmla="*/ 809 h 1117"/>
              <a:gd name="T20" fmla="*/ 4 w 722"/>
              <a:gd name="T21" fmla="*/ 1108 h 1117"/>
              <a:gd name="T22" fmla="*/ 7 w 722"/>
              <a:gd name="T23" fmla="*/ 1111 h 1117"/>
              <a:gd name="T24" fmla="*/ 492 w 722"/>
              <a:gd name="T25" fmla="*/ 707 h 1117"/>
              <a:gd name="T26" fmla="*/ 485 w 722"/>
              <a:gd name="T27" fmla="*/ 689 h 1117"/>
              <a:gd name="T28" fmla="*/ 355 w 722"/>
              <a:gd name="T29" fmla="*/ 689 h 1117"/>
              <a:gd name="T30" fmla="*/ 351 w 722"/>
              <a:gd name="T31" fmla="*/ 679 h 1117"/>
              <a:gd name="T32" fmla="*/ 624 w 722"/>
              <a:gd name="T33" fmla="*/ 366 h 1117"/>
              <a:gd name="T34" fmla="*/ 615 w 722"/>
              <a:gd name="T35" fmla="*/ 344 h 1117"/>
              <a:gd name="T36" fmla="*/ 442 w 722"/>
              <a:gd name="T37" fmla="*/ 344 h 1117"/>
              <a:gd name="T38" fmla="*/ 437 w 722"/>
              <a:gd name="T39" fmla="*/ 334 h 1117"/>
              <a:gd name="T40" fmla="*/ 711 w 722"/>
              <a:gd name="T41" fmla="*/ 21 h 1117"/>
              <a:gd name="T42" fmla="*/ 701 w 722"/>
              <a:gd name="T43" fmla="*/ 0 h 1117"/>
              <a:gd name="T44" fmla="*/ 423 w 722"/>
              <a:gd name="T45" fmla="*/ 0 h 1117"/>
              <a:gd name="connsiteX0" fmla="*/ 5837 w 9864"/>
              <a:gd name="connsiteY0" fmla="*/ 0 h 9974"/>
              <a:gd name="connsiteX1" fmla="*/ 5532 w 9864"/>
              <a:gd name="connsiteY1" fmla="*/ 107 h 9974"/>
              <a:gd name="connsiteX2" fmla="*/ 1931 w 9864"/>
              <a:gd name="connsiteY2" fmla="*/ 3832 h 9974"/>
              <a:gd name="connsiteX3" fmla="*/ 2111 w 9864"/>
              <a:gd name="connsiteY3" fmla="*/ 4047 h 9974"/>
              <a:gd name="connsiteX4" fmla="*/ 3607 w 9864"/>
              <a:gd name="connsiteY4" fmla="*/ 4047 h 9974"/>
              <a:gd name="connsiteX5" fmla="*/ 3704 w 9864"/>
              <a:gd name="connsiteY5" fmla="*/ 4154 h 9974"/>
              <a:gd name="connsiteX6" fmla="*/ 1031 w 9864"/>
              <a:gd name="connsiteY6" fmla="*/ 6920 h 9974"/>
              <a:gd name="connsiteX7" fmla="*/ 1211 w 9864"/>
              <a:gd name="connsiteY7" fmla="*/ 7135 h 9974"/>
              <a:gd name="connsiteX8" fmla="*/ 2720 w 9864"/>
              <a:gd name="connsiteY8" fmla="*/ 7135 h 9974"/>
              <a:gd name="connsiteX9" fmla="*/ 2803 w 9864"/>
              <a:gd name="connsiteY9" fmla="*/ 7243 h 9974"/>
              <a:gd name="connsiteX10" fmla="*/ 33 w 9864"/>
              <a:gd name="connsiteY10" fmla="*/ 9919 h 9974"/>
              <a:gd name="connsiteX11" fmla="*/ 75 w 9864"/>
              <a:gd name="connsiteY11" fmla="*/ 9946 h 9974"/>
              <a:gd name="connsiteX12" fmla="*/ 6792 w 9864"/>
              <a:gd name="connsiteY12" fmla="*/ 6329 h 9974"/>
              <a:gd name="connsiteX13" fmla="*/ 6695 w 9864"/>
              <a:gd name="connsiteY13" fmla="*/ 6168 h 9974"/>
              <a:gd name="connsiteX14" fmla="*/ 4895 w 9864"/>
              <a:gd name="connsiteY14" fmla="*/ 6168 h 9974"/>
              <a:gd name="connsiteX15" fmla="*/ 4839 w 9864"/>
              <a:gd name="connsiteY15" fmla="*/ 6079 h 9974"/>
              <a:gd name="connsiteX16" fmla="*/ 8621 w 9864"/>
              <a:gd name="connsiteY16" fmla="*/ 3277 h 9974"/>
              <a:gd name="connsiteX17" fmla="*/ 8496 w 9864"/>
              <a:gd name="connsiteY17" fmla="*/ 3080 h 9974"/>
              <a:gd name="connsiteX18" fmla="*/ 6100 w 9864"/>
              <a:gd name="connsiteY18" fmla="*/ 3080 h 9974"/>
              <a:gd name="connsiteX19" fmla="*/ 6031 w 9864"/>
              <a:gd name="connsiteY19" fmla="*/ 2990 h 9974"/>
              <a:gd name="connsiteX20" fmla="*/ 9826 w 9864"/>
              <a:gd name="connsiteY20" fmla="*/ 188 h 9974"/>
              <a:gd name="connsiteX21" fmla="*/ 9490 w 9864"/>
              <a:gd name="connsiteY21" fmla="*/ 398 h 9974"/>
              <a:gd name="connsiteX22" fmla="*/ 5837 w 9864"/>
              <a:gd name="connsiteY22" fmla="*/ 0 h 9974"/>
              <a:gd name="connsiteX0" fmla="*/ 5917 w 9999"/>
              <a:gd name="connsiteY0" fmla="*/ 0 h 10000"/>
              <a:gd name="connsiteX1" fmla="*/ 5608 w 9999"/>
              <a:gd name="connsiteY1" fmla="*/ 107 h 10000"/>
              <a:gd name="connsiteX2" fmla="*/ 1958 w 9999"/>
              <a:gd name="connsiteY2" fmla="*/ 3842 h 10000"/>
              <a:gd name="connsiteX3" fmla="*/ 2140 w 9999"/>
              <a:gd name="connsiteY3" fmla="*/ 4058 h 10000"/>
              <a:gd name="connsiteX4" fmla="*/ 3657 w 9999"/>
              <a:gd name="connsiteY4" fmla="*/ 4058 h 10000"/>
              <a:gd name="connsiteX5" fmla="*/ 3755 w 9999"/>
              <a:gd name="connsiteY5" fmla="*/ 4165 h 10000"/>
              <a:gd name="connsiteX6" fmla="*/ 1045 w 9999"/>
              <a:gd name="connsiteY6" fmla="*/ 6938 h 10000"/>
              <a:gd name="connsiteX7" fmla="*/ 1228 w 9999"/>
              <a:gd name="connsiteY7" fmla="*/ 7154 h 10000"/>
              <a:gd name="connsiteX8" fmla="*/ 2758 w 9999"/>
              <a:gd name="connsiteY8" fmla="*/ 7154 h 10000"/>
              <a:gd name="connsiteX9" fmla="*/ 2842 w 9999"/>
              <a:gd name="connsiteY9" fmla="*/ 7262 h 10000"/>
              <a:gd name="connsiteX10" fmla="*/ 33 w 9999"/>
              <a:gd name="connsiteY10" fmla="*/ 9945 h 10000"/>
              <a:gd name="connsiteX11" fmla="*/ 76 w 9999"/>
              <a:gd name="connsiteY11" fmla="*/ 9972 h 10000"/>
              <a:gd name="connsiteX12" fmla="*/ 6886 w 9999"/>
              <a:gd name="connsiteY12" fmla="*/ 6345 h 10000"/>
              <a:gd name="connsiteX13" fmla="*/ 6787 w 9999"/>
              <a:gd name="connsiteY13" fmla="*/ 6184 h 10000"/>
              <a:gd name="connsiteX14" fmla="*/ 4962 w 9999"/>
              <a:gd name="connsiteY14" fmla="*/ 6184 h 10000"/>
              <a:gd name="connsiteX15" fmla="*/ 4906 w 9999"/>
              <a:gd name="connsiteY15" fmla="*/ 6095 h 10000"/>
              <a:gd name="connsiteX16" fmla="*/ 8740 w 9999"/>
              <a:gd name="connsiteY16" fmla="*/ 3286 h 10000"/>
              <a:gd name="connsiteX17" fmla="*/ 8613 w 9999"/>
              <a:gd name="connsiteY17" fmla="*/ 3088 h 10000"/>
              <a:gd name="connsiteX18" fmla="*/ 6184 w 9999"/>
              <a:gd name="connsiteY18" fmla="*/ 3088 h 10000"/>
              <a:gd name="connsiteX19" fmla="*/ 6114 w 9999"/>
              <a:gd name="connsiteY19" fmla="*/ 2998 h 10000"/>
              <a:gd name="connsiteX20" fmla="*/ 9961 w 9999"/>
              <a:gd name="connsiteY20" fmla="*/ 188 h 10000"/>
              <a:gd name="connsiteX21" fmla="*/ 9621 w 9999"/>
              <a:gd name="connsiteY21" fmla="*/ 399 h 10000"/>
              <a:gd name="connsiteX22" fmla="*/ 5917 w 9999"/>
              <a:gd name="connsiteY22" fmla="*/ 0 h 10000"/>
              <a:gd name="connsiteX0" fmla="*/ 5918 w 9707"/>
              <a:gd name="connsiteY0" fmla="*/ 0 h 10000"/>
              <a:gd name="connsiteX1" fmla="*/ 5609 w 9707"/>
              <a:gd name="connsiteY1" fmla="*/ 107 h 10000"/>
              <a:gd name="connsiteX2" fmla="*/ 1958 w 9707"/>
              <a:gd name="connsiteY2" fmla="*/ 3842 h 10000"/>
              <a:gd name="connsiteX3" fmla="*/ 2140 w 9707"/>
              <a:gd name="connsiteY3" fmla="*/ 4058 h 10000"/>
              <a:gd name="connsiteX4" fmla="*/ 3657 w 9707"/>
              <a:gd name="connsiteY4" fmla="*/ 4058 h 10000"/>
              <a:gd name="connsiteX5" fmla="*/ 3755 w 9707"/>
              <a:gd name="connsiteY5" fmla="*/ 4165 h 10000"/>
              <a:gd name="connsiteX6" fmla="*/ 1045 w 9707"/>
              <a:gd name="connsiteY6" fmla="*/ 6938 h 10000"/>
              <a:gd name="connsiteX7" fmla="*/ 1228 w 9707"/>
              <a:gd name="connsiteY7" fmla="*/ 7154 h 10000"/>
              <a:gd name="connsiteX8" fmla="*/ 2758 w 9707"/>
              <a:gd name="connsiteY8" fmla="*/ 7154 h 10000"/>
              <a:gd name="connsiteX9" fmla="*/ 2842 w 9707"/>
              <a:gd name="connsiteY9" fmla="*/ 7262 h 10000"/>
              <a:gd name="connsiteX10" fmla="*/ 33 w 9707"/>
              <a:gd name="connsiteY10" fmla="*/ 9945 h 10000"/>
              <a:gd name="connsiteX11" fmla="*/ 76 w 9707"/>
              <a:gd name="connsiteY11" fmla="*/ 9972 h 10000"/>
              <a:gd name="connsiteX12" fmla="*/ 6887 w 9707"/>
              <a:gd name="connsiteY12" fmla="*/ 6345 h 10000"/>
              <a:gd name="connsiteX13" fmla="*/ 6788 w 9707"/>
              <a:gd name="connsiteY13" fmla="*/ 6184 h 10000"/>
              <a:gd name="connsiteX14" fmla="*/ 4962 w 9707"/>
              <a:gd name="connsiteY14" fmla="*/ 6184 h 10000"/>
              <a:gd name="connsiteX15" fmla="*/ 4906 w 9707"/>
              <a:gd name="connsiteY15" fmla="*/ 6095 h 10000"/>
              <a:gd name="connsiteX16" fmla="*/ 8741 w 9707"/>
              <a:gd name="connsiteY16" fmla="*/ 3286 h 10000"/>
              <a:gd name="connsiteX17" fmla="*/ 8614 w 9707"/>
              <a:gd name="connsiteY17" fmla="*/ 3088 h 10000"/>
              <a:gd name="connsiteX18" fmla="*/ 6185 w 9707"/>
              <a:gd name="connsiteY18" fmla="*/ 3088 h 10000"/>
              <a:gd name="connsiteX19" fmla="*/ 6115 w 9707"/>
              <a:gd name="connsiteY19" fmla="*/ 2998 h 10000"/>
              <a:gd name="connsiteX20" fmla="*/ 9463 w 9707"/>
              <a:gd name="connsiteY20" fmla="*/ 537 h 10000"/>
              <a:gd name="connsiteX21" fmla="*/ 9622 w 9707"/>
              <a:gd name="connsiteY21" fmla="*/ 399 h 10000"/>
              <a:gd name="connsiteX22" fmla="*/ 5918 w 9707"/>
              <a:gd name="connsiteY22" fmla="*/ 0 h 10000"/>
              <a:gd name="connsiteX0" fmla="*/ 6097 w 10000"/>
              <a:gd name="connsiteY0" fmla="*/ 0 h 10000"/>
              <a:gd name="connsiteX1" fmla="*/ 5778 w 10000"/>
              <a:gd name="connsiteY1" fmla="*/ 107 h 10000"/>
              <a:gd name="connsiteX2" fmla="*/ 2017 w 10000"/>
              <a:gd name="connsiteY2" fmla="*/ 3842 h 10000"/>
              <a:gd name="connsiteX3" fmla="*/ 2205 w 10000"/>
              <a:gd name="connsiteY3" fmla="*/ 4058 h 10000"/>
              <a:gd name="connsiteX4" fmla="*/ 3767 w 10000"/>
              <a:gd name="connsiteY4" fmla="*/ 4058 h 10000"/>
              <a:gd name="connsiteX5" fmla="*/ 3868 w 10000"/>
              <a:gd name="connsiteY5" fmla="*/ 4165 h 10000"/>
              <a:gd name="connsiteX6" fmla="*/ 1077 w 10000"/>
              <a:gd name="connsiteY6" fmla="*/ 6938 h 10000"/>
              <a:gd name="connsiteX7" fmla="*/ 1265 w 10000"/>
              <a:gd name="connsiteY7" fmla="*/ 7154 h 10000"/>
              <a:gd name="connsiteX8" fmla="*/ 2841 w 10000"/>
              <a:gd name="connsiteY8" fmla="*/ 7154 h 10000"/>
              <a:gd name="connsiteX9" fmla="*/ 2928 w 10000"/>
              <a:gd name="connsiteY9" fmla="*/ 7262 h 10000"/>
              <a:gd name="connsiteX10" fmla="*/ 34 w 10000"/>
              <a:gd name="connsiteY10" fmla="*/ 9945 h 10000"/>
              <a:gd name="connsiteX11" fmla="*/ 78 w 10000"/>
              <a:gd name="connsiteY11" fmla="*/ 9972 h 10000"/>
              <a:gd name="connsiteX12" fmla="*/ 7095 w 10000"/>
              <a:gd name="connsiteY12" fmla="*/ 6345 h 10000"/>
              <a:gd name="connsiteX13" fmla="*/ 6993 w 10000"/>
              <a:gd name="connsiteY13" fmla="*/ 6184 h 10000"/>
              <a:gd name="connsiteX14" fmla="*/ 5112 w 10000"/>
              <a:gd name="connsiteY14" fmla="*/ 6184 h 10000"/>
              <a:gd name="connsiteX15" fmla="*/ 5054 w 10000"/>
              <a:gd name="connsiteY15" fmla="*/ 6095 h 10000"/>
              <a:gd name="connsiteX16" fmla="*/ 9005 w 10000"/>
              <a:gd name="connsiteY16" fmla="*/ 3286 h 10000"/>
              <a:gd name="connsiteX17" fmla="*/ 8874 w 10000"/>
              <a:gd name="connsiteY17" fmla="*/ 3088 h 10000"/>
              <a:gd name="connsiteX18" fmla="*/ 6372 w 10000"/>
              <a:gd name="connsiteY18" fmla="*/ 3088 h 10000"/>
              <a:gd name="connsiteX19" fmla="*/ 6814 w 10000"/>
              <a:gd name="connsiteY19" fmla="*/ 2749 h 10000"/>
              <a:gd name="connsiteX20" fmla="*/ 9749 w 10000"/>
              <a:gd name="connsiteY20" fmla="*/ 537 h 10000"/>
              <a:gd name="connsiteX21" fmla="*/ 9912 w 10000"/>
              <a:gd name="connsiteY21" fmla="*/ 399 h 10000"/>
              <a:gd name="connsiteX22" fmla="*/ 6097 w 10000"/>
              <a:gd name="connsiteY22"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00" h="10000">
                <a:moveTo>
                  <a:pt x="6097" y="0"/>
                </a:moveTo>
                <a:cubicBezTo>
                  <a:pt x="5981" y="0"/>
                  <a:pt x="5836" y="45"/>
                  <a:pt x="5778" y="107"/>
                </a:cubicBezTo>
                <a:lnTo>
                  <a:pt x="2017" y="3842"/>
                </a:lnTo>
                <a:cubicBezTo>
                  <a:pt x="1886" y="3958"/>
                  <a:pt x="1973" y="4058"/>
                  <a:pt x="2205" y="4058"/>
                </a:cubicBezTo>
                <a:lnTo>
                  <a:pt x="3767" y="4058"/>
                </a:lnTo>
                <a:cubicBezTo>
                  <a:pt x="3883" y="4058"/>
                  <a:pt x="3926" y="4111"/>
                  <a:pt x="3868" y="4165"/>
                </a:cubicBezTo>
                <a:lnTo>
                  <a:pt x="1077" y="6938"/>
                </a:lnTo>
                <a:cubicBezTo>
                  <a:pt x="961" y="7055"/>
                  <a:pt x="1048" y="7154"/>
                  <a:pt x="1265" y="7154"/>
                </a:cubicBezTo>
                <a:lnTo>
                  <a:pt x="2841" y="7154"/>
                </a:lnTo>
                <a:cubicBezTo>
                  <a:pt x="2957" y="7154"/>
                  <a:pt x="2985" y="7199"/>
                  <a:pt x="2928" y="7262"/>
                </a:cubicBezTo>
                <a:lnTo>
                  <a:pt x="34" y="9945"/>
                </a:lnTo>
                <a:cubicBezTo>
                  <a:pt x="-23" y="10008"/>
                  <a:pt x="-8" y="10017"/>
                  <a:pt x="78" y="9972"/>
                </a:cubicBezTo>
                <a:lnTo>
                  <a:pt x="7095" y="6345"/>
                </a:lnTo>
                <a:cubicBezTo>
                  <a:pt x="7269" y="6256"/>
                  <a:pt x="7225" y="6184"/>
                  <a:pt x="6993" y="6184"/>
                </a:cubicBezTo>
                <a:lnTo>
                  <a:pt x="5112" y="6184"/>
                </a:lnTo>
                <a:cubicBezTo>
                  <a:pt x="5011" y="6184"/>
                  <a:pt x="4968" y="6140"/>
                  <a:pt x="5054" y="6095"/>
                </a:cubicBezTo>
                <a:lnTo>
                  <a:pt x="9005" y="3286"/>
                </a:lnTo>
                <a:cubicBezTo>
                  <a:pt x="9163" y="3177"/>
                  <a:pt x="9091" y="3088"/>
                  <a:pt x="8874" y="3088"/>
                </a:cubicBezTo>
                <a:cubicBezTo>
                  <a:pt x="8040" y="3088"/>
                  <a:pt x="6715" y="3144"/>
                  <a:pt x="6372" y="3088"/>
                </a:cubicBezTo>
                <a:cubicBezTo>
                  <a:pt x="6029" y="3032"/>
                  <a:pt x="6251" y="3174"/>
                  <a:pt x="6814" y="2749"/>
                </a:cubicBezTo>
                <a:cubicBezTo>
                  <a:pt x="7376" y="2324"/>
                  <a:pt x="8599" y="1357"/>
                  <a:pt x="9749" y="537"/>
                </a:cubicBezTo>
                <a:cubicBezTo>
                  <a:pt x="9893" y="430"/>
                  <a:pt x="10130" y="399"/>
                  <a:pt x="9912" y="399"/>
                </a:cubicBezTo>
                <a:cubicBezTo>
                  <a:pt x="9287" y="100"/>
                  <a:pt x="7442" y="0"/>
                  <a:pt x="6097" y="0"/>
                </a:cubicBezTo>
              </a:path>
            </a:pathLst>
          </a:custGeom>
          <a:solidFill>
            <a:schemeClr val="bg1"/>
          </a:solidFill>
          <a:ln w="12700" cap="flat">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9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300FC"/>
              </a:solidFill>
              <a:effectLst/>
              <a:uLnTx/>
              <a:uFillTx/>
              <a:latin typeface="Arial"/>
              <a:ea typeface="+mn-ea"/>
              <a:cs typeface="+mn-cs"/>
            </a:endParaRPr>
          </a:p>
        </p:txBody>
      </p:sp>
      <p:sp>
        <p:nvSpPr>
          <p:cNvPr id="14" name="Pentagon 35">
            <a:extLst>
              <a:ext uri="{FF2B5EF4-FFF2-40B4-BE49-F238E27FC236}">
                <a16:creationId xmlns:a16="http://schemas.microsoft.com/office/drawing/2014/main" id="{E238B5D9-749F-CBF9-C8AC-9723322F0120}"/>
              </a:ext>
            </a:extLst>
          </p:cNvPr>
          <p:cNvSpPr/>
          <p:nvPr/>
        </p:nvSpPr>
        <p:spPr>
          <a:xfrm>
            <a:off x="4825347" y="1577079"/>
            <a:ext cx="3659201" cy="446568"/>
          </a:xfrm>
          <a:prstGeom prst="homePlate">
            <a:avLst>
              <a:gd name="adj" fmla="val 0"/>
            </a:avLst>
          </a:prstGeom>
          <a:solidFill>
            <a:srgbClr val="042D63"/>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300" normalizeH="0" baseline="0" noProof="0">
                <a:ln>
                  <a:noFill/>
                </a:ln>
                <a:solidFill>
                  <a:prstClr val="white"/>
                </a:solidFill>
                <a:effectLst/>
                <a:uLnTx/>
                <a:uFillTx/>
                <a:latin typeface="Arial"/>
                <a:ea typeface="+mn-ea"/>
                <a:cs typeface="+mn-cs"/>
              </a:rPr>
              <a:t>OUTCOMES</a:t>
            </a:r>
          </a:p>
        </p:txBody>
      </p:sp>
      <p:sp>
        <p:nvSpPr>
          <p:cNvPr id="34" name="Rounded Rectangle 33">
            <a:extLst>
              <a:ext uri="{FF2B5EF4-FFF2-40B4-BE49-F238E27FC236}">
                <a16:creationId xmlns:a16="http://schemas.microsoft.com/office/drawing/2014/main" id="{383FA3E2-6114-D25A-1942-AF335B0B0744}"/>
              </a:ext>
            </a:extLst>
          </p:cNvPr>
          <p:cNvSpPr/>
          <p:nvPr/>
        </p:nvSpPr>
        <p:spPr>
          <a:xfrm>
            <a:off x="371861" y="3887913"/>
            <a:ext cx="2686598" cy="1552590"/>
          </a:xfrm>
          <a:prstGeom prst="roundRect">
            <a:avLst>
              <a:gd name="adj" fmla="val 19179"/>
            </a:avLst>
          </a:prstGeom>
          <a:noFill/>
          <a:ln w="34925" cap="rnd" cmpd="dbl">
            <a:solidFill>
              <a:schemeClr val="accent5">
                <a:lumMod val="50000"/>
              </a:schemeClr>
            </a:solidFill>
            <a:prstDash val="lgDashDotDot"/>
            <a:extLst>
              <a:ext uri="{C807C97D-BFC1-408E-A445-0C87EB9F89A2}">
                <ask:lineSketchStyleProps xmlns:ask="http://schemas.microsoft.com/office/drawing/2018/sketchyshapes" sd="981765707">
                  <a:custGeom>
                    <a:avLst/>
                    <a:gdLst>
                      <a:gd name="connsiteX0" fmla="*/ 0 w 3891201"/>
                      <a:gd name="connsiteY0" fmla="*/ 211840 h 1271016"/>
                      <a:gd name="connsiteX1" fmla="*/ 211840 w 3891201"/>
                      <a:gd name="connsiteY1" fmla="*/ 0 h 1271016"/>
                      <a:gd name="connsiteX2" fmla="*/ 789760 w 3891201"/>
                      <a:gd name="connsiteY2" fmla="*/ 0 h 1271016"/>
                      <a:gd name="connsiteX3" fmla="*/ 1437031 w 3891201"/>
                      <a:gd name="connsiteY3" fmla="*/ 0 h 1271016"/>
                      <a:gd name="connsiteX4" fmla="*/ 2084301 w 3891201"/>
                      <a:gd name="connsiteY4" fmla="*/ 0 h 1271016"/>
                      <a:gd name="connsiteX5" fmla="*/ 2592871 w 3891201"/>
                      <a:gd name="connsiteY5" fmla="*/ 0 h 1271016"/>
                      <a:gd name="connsiteX6" fmla="*/ 3066766 w 3891201"/>
                      <a:gd name="connsiteY6" fmla="*/ 0 h 1271016"/>
                      <a:gd name="connsiteX7" fmla="*/ 3679361 w 3891201"/>
                      <a:gd name="connsiteY7" fmla="*/ 0 h 1271016"/>
                      <a:gd name="connsiteX8" fmla="*/ 3891201 w 3891201"/>
                      <a:gd name="connsiteY8" fmla="*/ 211840 h 1271016"/>
                      <a:gd name="connsiteX9" fmla="*/ 3891201 w 3891201"/>
                      <a:gd name="connsiteY9" fmla="*/ 627035 h 1271016"/>
                      <a:gd name="connsiteX10" fmla="*/ 3891201 w 3891201"/>
                      <a:gd name="connsiteY10" fmla="*/ 1059176 h 1271016"/>
                      <a:gd name="connsiteX11" fmla="*/ 3679361 w 3891201"/>
                      <a:gd name="connsiteY11" fmla="*/ 1271016 h 1271016"/>
                      <a:gd name="connsiteX12" fmla="*/ 3066766 w 3891201"/>
                      <a:gd name="connsiteY12" fmla="*/ 1271016 h 1271016"/>
                      <a:gd name="connsiteX13" fmla="*/ 2523521 w 3891201"/>
                      <a:gd name="connsiteY13" fmla="*/ 1271016 h 1271016"/>
                      <a:gd name="connsiteX14" fmla="*/ 1910925 w 3891201"/>
                      <a:gd name="connsiteY14" fmla="*/ 1271016 h 1271016"/>
                      <a:gd name="connsiteX15" fmla="*/ 1263655 w 3891201"/>
                      <a:gd name="connsiteY15" fmla="*/ 1271016 h 1271016"/>
                      <a:gd name="connsiteX16" fmla="*/ 211840 w 3891201"/>
                      <a:gd name="connsiteY16" fmla="*/ 1271016 h 1271016"/>
                      <a:gd name="connsiteX17" fmla="*/ 0 w 3891201"/>
                      <a:gd name="connsiteY17" fmla="*/ 1059176 h 1271016"/>
                      <a:gd name="connsiteX18" fmla="*/ 0 w 3891201"/>
                      <a:gd name="connsiteY18" fmla="*/ 652455 h 1271016"/>
                      <a:gd name="connsiteX19" fmla="*/ 0 w 3891201"/>
                      <a:gd name="connsiteY19" fmla="*/ 211840 h 127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91201" h="1271016" extrusionOk="0">
                        <a:moveTo>
                          <a:pt x="0" y="211840"/>
                        </a:moveTo>
                        <a:cubicBezTo>
                          <a:pt x="-1724" y="97869"/>
                          <a:pt x="85073" y="-4035"/>
                          <a:pt x="211840" y="0"/>
                        </a:cubicBezTo>
                        <a:cubicBezTo>
                          <a:pt x="352813" y="-66347"/>
                          <a:pt x="644289" y="64141"/>
                          <a:pt x="789760" y="0"/>
                        </a:cubicBezTo>
                        <a:cubicBezTo>
                          <a:pt x="935231" y="-64141"/>
                          <a:pt x="1135764" y="36819"/>
                          <a:pt x="1437031" y="0"/>
                        </a:cubicBezTo>
                        <a:cubicBezTo>
                          <a:pt x="1738298" y="-36819"/>
                          <a:pt x="1919312" y="25"/>
                          <a:pt x="2084301" y="0"/>
                        </a:cubicBezTo>
                        <a:cubicBezTo>
                          <a:pt x="2249290" y="-25"/>
                          <a:pt x="2412211" y="24788"/>
                          <a:pt x="2592871" y="0"/>
                        </a:cubicBezTo>
                        <a:cubicBezTo>
                          <a:pt x="2773531" y="-24788"/>
                          <a:pt x="2963621" y="44805"/>
                          <a:pt x="3066766" y="0"/>
                        </a:cubicBezTo>
                        <a:cubicBezTo>
                          <a:pt x="3169912" y="-44805"/>
                          <a:pt x="3497062" y="44876"/>
                          <a:pt x="3679361" y="0"/>
                        </a:cubicBezTo>
                        <a:cubicBezTo>
                          <a:pt x="3821363" y="3626"/>
                          <a:pt x="3878954" y="89255"/>
                          <a:pt x="3891201" y="211840"/>
                        </a:cubicBezTo>
                        <a:cubicBezTo>
                          <a:pt x="3920093" y="301511"/>
                          <a:pt x="3842349" y="475407"/>
                          <a:pt x="3891201" y="627035"/>
                        </a:cubicBezTo>
                        <a:cubicBezTo>
                          <a:pt x="3940053" y="778664"/>
                          <a:pt x="3863357" y="934958"/>
                          <a:pt x="3891201" y="1059176"/>
                        </a:cubicBezTo>
                        <a:cubicBezTo>
                          <a:pt x="3868850" y="1182099"/>
                          <a:pt x="3789568" y="1249049"/>
                          <a:pt x="3679361" y="1271016"/>
                        </a:cubicBezTo>
                        <a:cubicBezTo>
                          <a:pt x="3519371" y="1276183"/>
                          <a:pt x="3229389" y="1233492"/>
                          <a:pt x="3066766" y="1271016"/>
                        </a:cubicBezTo>
                        <a:cubicBezTo>
                          <a:pt x="2904143" y="1308540"/>
                          <a:pt x="2785129" y="1263928"/>
                          <a:pt x="2523521" y="1271016"/>
                        </a:cubicBezTo>
                        <a:cubicBezTo>
                          <a:pt x="2261914" y="1278104"/>
                          <a:pt x="2153174" y="1239646"/>
                          <a:pt x="1910925" y="1271016"/>
                        </a:cubicBezTo>
                        <a:cubicBezTo>
                          <a:pt x="1668676" y="1302386"/>
                          <a:pt x="1513616" y="1267310"/>
                          <a:pt x="1263655" y="1271016"/>
                        </a:cubicBezTo>
                        <a:cubicBezTo>
                          <a:pt x="1013694" y="1274722"/>
                          <a:pt x="608536" y="1219037"/>
                          <a:pt x="211840" y="1271016"/>
                        </a:cubicBezTo>
                        <a:cubicBezTo>
                          <a:pt x="77910" y="1284644"/>
                          <a:pt x="25439" y="1186323"/>
                          <a:pt x="0" y="1059176"/>
                        </a:cubicBezTo>
                        <a:cubicBezTo>
                          <a:pt x="-36452" y="957017"/>
                          <a:pt x="48746" y="797152"/>
                          <a:pt x="0" y="652455"/>
                        </a:cubicBezTo>
                        <a:cubicBezTo>
                          <a:pt x="-48746" y="507758"/>
                          <a:pt x="1772" y="362414"/>
                          <a:pt x="0" y="21184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p:txBody>
      </p:sp>
      <p:sp>
        <p:nvSpPr>
          <p:cNvPr id="35" name="Pentagon 35">
            <a:extLst>
              <a:ext uri="{FF2B5EF4-FFF2-40B4-BE49-F238E27FC236}">
                <a16:creationId xmlns:a16="http://schemas.microsoft.com/office/drawing/2014/main" id="{64740DAB-FFA8-CD20-0548-9DD1E2401D1A}"/>
              </a:ext>
            </a:extLst>
          </p:cNvPr>
          <p:cNvSpPr/>
          <p:nvPr/>
        </p:nvSpPr>
        <p:spPr>
          <a:xfrm>
            <a:off x="377796" y="3854730"/>
            <a:ext cx="2694802" cy="446568"/>
          </a:xfrm>
          <a:prstGeom prst="homePlate">
            <a:avLst>
              <a:gd name="adj" fmla="val 0"/>
            </a:avLst>
          </a:prstGeom>
          <a:solidFill>
            <a:srgbClr val="042D63"/>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300" normalizeH="0" baseline="0" noProof="0">
                <a:ln>
                  <a:noFill/>
                </a:ln>
                <a:solidFill>
                  <a:prstClr val="white"/>
                </a:solidFill>
                <a:effectLst/>
                <a:uLnTx/>
                <a:uFillTx/>
                <a:latin typeface="Arial"/>
                <a:ea typeface="+mn-ea"/>
                <a:cs typeface="+mn-cs"/>
              </a:rPr>
              <a:t>ASSESSMENT</a:t>
            </a:r>
          </a:p>
        </p:txBody>
      </p:sp>
      <p:cxnSp>
        <p:nvCxnSpPr>
          <p:cNvPr id="40" name="Straight Connector 39">
            <a:extLst>
              <a:ext uri="{FF2B5EF4-FFF2-40B4-BE49-F238E27FC236}">
                <a16:creationId xmlns:a16="http://schemas.microsoft.com/office/drawing/2014/main" id="{3D3D1AAD-64BE-089E-A09F-EADB6A2023C1}"/>
              </a:ext>
            </a:extLst>
          </p:cNvPr>
          <p:cNvCxnSpPr>
            <a:cxnSpLocks/>
            <a:stCxn id="464" idx="3"/>
          </p:cNvCxnSpPr>
          <p:nvPr/>
        </p:nvCxnSpPr>
        <p:spPr>
          <a:xfrm>
            <a:off x="3058459" y="2447789"/>
            <a:ext cx="1743032" cy="950331"/>
          </a:xfrm>
          <a:prstGeom prst="bentConnector3">
            <a:avLst>
              <a:gd name="adj1" fmla="val 50000"/>
            </a:avLst>
          </a:prstGeom>
          <a:ln w="63500">
            <a:solidFill>
              <a:schemeClr val="accent5">
                <a:lumMod val="50000"/>
                <a:alpha val="8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50" name="Straight Connector 39">
            <a:extLst>
              <a:ext uri="{FF2B5EF4-FFF2-40B4-BE49-F238E27FC236}">
                <a16:creationId xmlns:a16="http://schemas.microsoft.com/office/drawing/2014/main" id="{EBA00012-670A-9E7A-B9DE-01DC30704188}"/>
              </a:ext>
            </a:extLst>
          </p:cNvPr>
          <p:cNvCxnSpPr>
            <a:cxnSpLocks/>
            <a:stCxn id="34" idx="3"/>
          </p:cNvCxnSpPr>
          <p:nvPr/>
        </p:nvCxnSpPr>
        <p:spPr>
          <a:xfrm flipV="1">
            <a:off x="3058459" y="3614400"/>
            <a:ext cx="1766888" cy="1049808"/>
          </a:xfrm>
          <a:prstGeom prst="bentConnector3">
            <a:avLst>
              <a:gd name="adj1" fmla="val 48887"/>
            </a:avLst>
          </a:prstGeom>
          <a:ln w="63500">
            <a:solidFill>
              <a:schemeClr val="accent5">
                <a:lumMod val="50000"/>
                <a:alpha val="8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454" name="Pentagon 453">
            <a:extLst>
              <a:ext uri="{FF2B5EF4-FFF2-40B4-BE49-F238E27FC236}">
                <a16:creationId xmlns:a16="http://schemas.microsoft.com/office/drawing/2014/main" id="{D56348C8-5ED3-99E2-B2EA-DAE3FD664B45}"/>
              </a:ext>
            </a:extLst>
          </p:cNvPr>
          <p:cNvSpPr/>
          <p:nvPr/>
        </p:nvSpPr>
        <p:spPr>
          <a:xfrm>
            <a:off x="509681" y="5819146"/>
            <a:ext cx="11113750" cy="325793"/>
          </a:xfrm>
          <a:prstGeom prst="homePlate">
            <a:avLst/>
          </a:prstGeom>
          <a:solidFill>
            <a:srgbClr val="042D63"/>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00" normalizeH="0" baseline="0" noProof="0">
                <a:ln>
                  <a:noFill/>
                </a:ln>
                <a:solidFill>
                  <a:prstClr val="white"/>
                </a:solidFill>
                <a:effectLst/>
                <a:uLnTx/>
                <a:uFillTx/>
                <a:latin typeface="Arial"/>
                <a:ea typeface="+mn-ea"/>
                <a:cs typeface="+mn-cs"/>
              </a:rPr>
              <a:t>6 WEEK TIMELINE</a:t>
            </a:r>
          </a:p>
        </p:txBody>
      </p:sp>
      <p:sp>
        <p:nvSpPr>
          <p:cNvPr id="455" name="Text Placeholder 3">
            <a:extLst>
              <a:ext uri="{FF2B5EF4-FFF2-40B4-BE49-F238E27FC236}">
                <a16:creationId xmlns:a16="http://schemas.microsoft.com/office/drawing/2014/main" id="{10224060-7207-1056-A8A5-55CA3EF6D464}"/>
              </a:ext>
            </a:extLst>
          </p:cNvPr>
          <p:cNvSpPr txBox="1">
            <a:spLocks/>
          </p:cNvSpPr>
          <p:nvPr/>
        </p:nvSpPr>
        <p:spPr>
          <a:xfrm>
            <a:off x="9062408" y="1730100"/>
            <a:ext cx="2514600" cy="3465051"/>
          </a:xfrm>
          <a:prstGeom prst="rect">
            <a:avLst/>
          </a:prstGeo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Fira Sans" panose="020B05030500000200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None/>
              <a:tabLst/>
              <a:defRPr/>
            </a:pPr>
            <a:r>
              <a:rPr kumimoji="0" lang="en-GB" sz="14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Cloud Consultants &amp; Architects will work with you to:</a:t>
            </a:r>
          </a:p>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4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Understand &amp; document your current state</a:t>
            </a:r>
          </a:p>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4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Deploy &amp; run discovery tools (where needed)</a:t>
            </a:r>
          </a:p>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4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Provide High-Level Design (HLD) for Cloud Target</a:t>
            </a:r>
          </a:p>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4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Provide indicative migration plan &amp; strategy</a:t>
            </a:r>
          </a:p>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4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Provide indicative business case, including TCO and Migration Costs.</a:t>
            </a:r>
          </a:p>
        </p:txBody>
      </p:sp>
      <p:sp>
        <p:nvSpPr>
          <p:cNvPr id="11" name="TextBox 10">
            <a:extLst>
              <a:ext uri="{FF2B5EF4-FFF2-40B4-BE49-F238E27FC236}">
                <a16:creationId xmlns:a16="http://schemas.microsoft.com/office/drawing/2014/main" id="{FCB88F46-6059-22FE-2A81-8AE4C2EBC768}"/>
              </a:ext>
            </a:extLst>
          </p:cNvPr>
          <p:cNvSpPr txBox="1"/>
          <p:nvPr/>
        </p:nvSpPr>
        <p:spPr>
          <a:xfrm>
            <a:off x="8412480" y="5518673"/>
            <a:ext cx="184731" cy="369332"/>
          </a:xfrm>
          <a:prstGeom prst="rect">
            <a:avLst/>
          </a:prstGeom>
          <a:noFill/>
        </p:spPr>
        <p:txBody>
          <a:bodyPr wrap="non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000000"/>
              </a:solidFill>
              <a:effectLst/>
              <a:uLnTx/>
              <a:uFillTx/>
              <a:latin typeface="Arial"/>
              <a:ea typeface="+mn-ea"/>
              <a:cs typeface="+mn-cs"/>
            </a:endParaRPr>
          </a:p>
        </p:txBody>
      </p:sp>
      <p:sp>
        <p:nvSpPr>
          <p:cNvPr id="15" name="TextBox 14">
            <a:extLst>
              <a:ext uri="{FF2B5EF4-FFF2-40B4-BE49-F238E27FC236}">
                <a16:creationId xmlns:a16="http://schemas.microsoft.com/office/drawing/2014/main" id="{6F3ADA61-6426-0BA5-E27F-7D22C472A5C5}"/>
              </a:ext>
            </a:extLst>
          </p:cNvPr>
          <p:cNvSpPr txBox="1"/>
          <p:nvPr/>
        </p:nvSpPr>
        <p:spPr>
          <a:xfrm>
            <a:off x="5670142" y="5459195"/>
            <a:ext cx="213507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59C8">
                    <a:lumMod val="60000"/>
                    <a:lumOff val="40000"/>
                  </a:srgbClr>
                </a:solidFill>
                <a:effectLst/>
                <a:uLnTx/>
                <a:uFillTx/>
                <a:latin typeface="Arial"/>
                <a:ea typeface="+mn-ea"/>
                <a:cs typeface="+mn-cs"/>
              </a:rPr>
              <a:t>*Dependent on assessment type</a:t>
            </a:r>
          </a:p>
        </p:txBody>
      </p:sp>
    </p:spTree>
    <p:extLst>
      <p:ext uri="{BB962C8B-B14F-4D97-AF65-F5344CB8AC3E}">
        <p14:creationId xmlns:p14="http://schemas.microsoft.com/office/powerpoint/2010/main" val="2768397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68"/>
                                        </p:tgtEl>
                                        <p:attrNameLst>
                                          <p:attrName>style.visibility</p:attrName>
                                        </p:attrNameLst>
                                      </p:cBhvr>
                                      <p:to>
                                        <p:strVal val="visible"/>
                                      </p:to>
                                    </p:set>
                                    <p:animEffect transition="in" filter="fade">
                                      <p:cBhvr>
                                        <p:cTn id="7" dur="1000"/>
                                        <p:tgtEl>
                                          <p:spTgt spid="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590EF-2766-3820-D842-F5EA793A3643}"/>
              </a:ext>
            </a:extLst>
          </p:cNvPr>
          <p:cNvSpPr>
            <a:spLocks noGrp="1"/>
          </p:cNvSpPr>
          <p:nvPr>
            <p:ph type="title"/>
          </p:nvPr>
        </p:nvSpPr>
        <p:spPr>
          <a:xfrm>
            <a:off x="334496" y="268589"/>
            <a:ext cx="11495554" cy="498919"/>
          </a:xfrm>
        </p:spPr>
        <p:txBody>
          <a:bodyPr/>
          <a:lstStyle/>
          <a:p>
            <a:r>
              <a:rPr lang="en-GB"/>
              <a:t>Azure AMM Assess Journey</a:t>
            </a:r>
          </a:p>
        </p:txBody>
      </p:sp>
      <p:sp>
        <p:nvSpPr>
          <p:cNvPr id="3" name="Slide Number Placeholder 2">
            <a:extLst>
              <a:ext uri="{FF2B5EF4-FFF2-40B4-BE49-F238E27FC236}">
                <a16:creationId xmlns:a16="http://schemas.microsoft.com/office/drawing/2014/main" id="{AE37E209-0161-5869-7BD1-5FD189F26C95}"/>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grpSp>
        <p:nvGrpSpPr>
          <p:cNvPr id="6" name="Group 5">
            <a:extLst>
              <a:ext uri="{FF2B5EF4-FFF2-40B4-BE49-F238E27FC236}">
                <a16:creationId xmlns:a16="http://schemas.microsoft.com/office/drawing/2014/main" id="{DE725E94-ECC1-1DC2-DE51-12B434EA66D0}"/>
              </a:ext>
            </a:extLst>
          </p:cNvPr>
          <p:cNvGrpSpPr/>
          <p:nvPr/>
        </p:nvGrpSpPr>
        <p:grpSpPr>
          <a:xfrm>
            <a:off x="277100" y="6254117"/>
            <a:ext cx="4374064" cy="479418"/>
            <a:chOff x="302152" y="6229065"/>
            <a:chExt cx="3876266" cy="424857"/>
          </a:xfrm>
        </p:grpSpPr>
        <p:pic>
          <p:nvPicPr>
            <p:cNvPr id="7" name="Graphic 6">
              <a:extLst>
                <a:ext uri="{FF2B5EF4-FFF2-40B4-BE49-F238E27FC236}">
                  <a16:creationId xmlns:a16="http://schemas.microsoft.com/office/drawing/2014/main" id="{3DCB3475-883E-0240-2B7D-9A83F83FC6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152" y="6229065"/>
              <a:ext cx="1378424" cy="424857"/>
            </a:xfrm>
            <a:prstGeom prst="rect">
              <a:avLst/>
            </a:prstGeom>
          </p:spPr>
        </p:pic>
        <p:sp>
          <p:nvSpPr>
            <p:cNvPr id="8" name="TextBox 7">
              <a:extLst>
                <a:ext uri="{FF2B5EF4-FFF2-40B4-BE49-F238E27FC236}">
                  <a16:creationId xmlns:a16="http://schemas.microsoft.com/office/drawing/2014/main" id="{A46B32CF-0F08-6BFF-D7E7-6A76794F302B}"/>
                </a:ext>
              </a:extLst>
            </p:cNvPr>
            <p:cNvSpPr txBox="1"/>
            <p:nvPr/>
          </p:nvSpPr>
          <p:spPr>
            <a:xfrm>
              <a:off x="1884033" y="6318745"/>
              <a:ext cx="229438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Fira Sans Hair" panose="020B0203050000020004" pitchFamily="34" charset="0"/>
                  <a:ea typeface="+mn-ea"/>
                  <a:cs typeface="+mn-cs"/>
                </a:rPr>
                <a:t>Migration Services</a:t>
              </a:r>
            </a:p>
          </p:txBody>
        </p:sp>
        <p:cxnSp>
          <p:nvCxnSpPr>
            <p:cNvPr id="9" name="Straight Connector 8">
              <a:extLst>
                <a:ext uri="{FF2B5EF4-FFF2-40B4-BE49-F238E27FC236}">
                  <a16:creationId xmlns:a16="http://schemas.microsoft.com/office/drawing/2014/main" id="{284C4420-BC8F-DBEF-1FB9-4FD0F48E8F1D}"/>
                </a:ext>
              </a:extLst>
            </p:cNvPr>
            <p:cNvCxnSpPr>
              <a:cxnSpLocks/>
            </p:cNvCxnSpPr>
            <p:nvPr/>
          </p:nvCxnSpPr>
          <p:spPr>
            <a:xfrm>
              <a:off x="1748847" y="6232000"/>
              <a:ext cx="0" cy="4219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DA26D636-4207-A581-AB8F-E3D2653D3755}"/>
                </a:ext>
              </a:extLst>
            </p:cNvPr>
            <p:cNvGrpSpPr>
              <a:grpSpLocks noChangeAspect="1"/>
            </p:cNvGrpSpPr>
            <p:nvPr/>
          </p:nvGrpSpPr>
          <p:grpSpPr>
            <a:xfrm>
              <a:off x="1842997" y="6294759"/>
              <a:ext cx="456928" cy="268640"/>
              <a:chOff x="6781800" y="5716588"/>
              <a:chExt cx="604838" cy="355600"/>
            </a:xfrm>
          </p:grpSpPr>
          <p:sp>
            <p:nvSpPr>
              <p:cNvPr id="11" name="Freeform 258">
                <a:extLst>
                  <a:ext uri="{FF2B5EF4-FFF2-40B4-BE49-F238E27FC236}">
                    <a16:creationId xmlns:a16="http://schemas.microsoft.com/office/drawing/2014/main" id="{F166921B-1788-4B44-DCBD-30422BB900DA}"/>
                  </a:ext>
                </a:extLst>
              </p:cNvPr>
              <p:cNvSpPr>
                <a:spLocks noChangeArrowheads="1"/>
              </p:cNvSpPr>
              <p:nvPr/>
            </p:nvSpPr>
            <p:spPr bwMode="auto">
              <a:xfrm>
                <a:off x="7205663" y="5718175"/>
                <a:ext cx="9525" cy="1588"/>
              </a:xfrm>
              <a:custGeom>
                <a:avLst/>
                <a:gdLst>
                  <a:gd name="T0" fmla="*/ 24 w 25"/>
                  <a:gd name="T1" fmla="*/ 0 h 1"/>
                  <a:gd name="T2" fmla="*/ 0 w 25"/>
                  <a:gd name="T3" fmla="*/ 0 h 1"/>
                </a:gdLst>
                <a:ahLst/>
                <a:cxnLst>
                  <a:cxn ang="0">
                    <a:pos x="T0" y="T1"/>
                  </a:cxn>
                  <a:cxn ang="0">
                    <a:pos x="T2" y="T3"/>
                  </a:cxn>
                </a:cxnLst>
                <a:rect l="0" t="0" r="r" b="b"/>
                <a:pathLst>
                  <a:path w="25" h="1">
                    <a:moveTo>
                      <a:pt x="24" y="0"/>
                    </a:moveTo>
                    <a:cubicBezTo>
                      <a:pt x="16" y="0"/>
                      <a:pt x="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259">
                <a:extLst>
                  <a:ext uri="{FF2B5EF4-FFF2-40B4-BE49-F238E27FC236}">
                    <a16:creationId xmlns:a16="http://schemas.microsoft.com/office/drawing/2014/main" id="{EACEB412-7274-F595-FED4-E9814FFE11D0}"/>
                  </a:ext>
                </a:extLst>
              </p:cNvPr>
              <p:cNvSpPr>
                <a:spLocks noChangeArrowheads="1"/>
              </p:cNvSpPr>
              <p:nvPr/>
            </p:nvSpPr>
            <p:spPr bwMode="auto">
              <a:xfrm>
                <a:off x="7205663" y="6070600"/>
                <a:ext cx="9525" cy="1588"/>
              </a:xfrm>
              <a:custGeom>
                <a:avLst/>
                <a:gdLst>
                  <a:gd name="T0" fmla="*/ 24 w 25"/>
                  <a:gd name="T1" fmla="*/ 0 h 1"/>
                  <a:gd name="T2" fmla="*/ 0 w 25"/>
                  <a:gd name="T3" fmla="*/ 0 h 1"/>
                </a:gdLst>
                <a:ahLst/>
                <a:cxnLst>
                  <a:cxn ang="0">
                    <a:pos x="T0" y="T1"/>
                  </a:cxn>
                  <a:cxn ang="0">
                    <a:pos x="T2" y="T3"/>
                  </a:cxn>
                </a:cxnLst>
                <a:rect l="0" t="0" r="r" b="b"/>
                <a:pathLst>
                  <a:path w="25" h="1">
                    <a:moveTo>
                      <a:pt x="24" y="0"/>
                    </a:moveTo>
                    <a:cubicBezTo>
                      <a:pt x="16" y="0"/>
                      <a:pt x="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Freeform 260">
                <a:extLst>
                  <a:ext uri="{FF2B5EF4-FFF2-40B4-BE49-F238E27FC236}">
                    <a16:creationId xmlns:a16="http://schemas.microsoft.com/office/drawing/2014/main" id="{7282DC08-582A-AD0B-3251-75A83DB9E373}"/>
                  </a:ext>
                </a:extLst>
              </p:cNvPr>
              <p:cNvSpPr>
                <a:spLocks noChangeArrowheads="1"/>
              </p:cNvSpPr>
              <p:nvPr/>
            </p:nvSpPr>
            <p:spPr bwMode="auto">
              <a:xfrm>
                <a:off x="7385050" y="5889625"/>
                <a:ext cx="1588" cy="11113"/>
              </a:xfrm>
              <a:custGeom>
                <a:avLst/>
                <a:gdLst>
                  <a:gd name="T0" fmla="*/ 0 w 1"/>
                  <a:gd name="T1" fmla="*/ 28 h 29"/>
                  <a:gd name="T2" fmla="*/ 0 w 1"/>
                  <a:gd name="T3" fmla="*/ 0 h 29"/>
                </a:gdLst>
                <a:ahLst/>
                <a:cxnLst>
                  <a:cxn ang="0">
                    <a:pos x="T0" y="T1"/>
                  </a:cxn>
                  <a:cxn ang="0">
                    <a:pos x="T2" y="T3"/>
                  </a:cxn>
                </a:cxnLst>
                <a:rect l="0" t="0" r="r" b="b"/>
                <a:pathLst>
                  <a:path w="1" h="29">
                    <a:moveTo>
                      <a:pt x="0" y="28"/>
                    </a:moveTo>
                    <a:cubicBezTo>
                      <a:pt x="0" y="19"/>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261">
                <a:extLst>
                  <a:ext uri="{FF2B5EF4-FFF2-40B4-BE49-F238E27FC236}">
                    <a16:creationId xmlns:a16="http://schemas.microsoft.com/office/drawing/2014/main" id="{79D7576C-CE29-CC2D-DB91-9EB376D8199B}"/>
                  </a:ext>
                </a:extLst>
              </p:cNvPr>
              <p:cNvSpPr>
                <a:spLocks noChangeArrowheads="1"/>
              </p:cNvSpPr>
              <p:nvPr/>
            </p:nvSpPr>
            <p:spPr bwMode="auto">
              <a:xfrm>
                <a:off x="7159625" y="5722938"/>
                <a:ext cx="9525" cy="3175"/>
              </a:xfrm>
              <a:custGeom>
                <a:avLst/>
                <a:gdLst>
                  <a:gd name="T0" fmla="*/ 24 w 25"/>
                  <a:gd name="T1" fmla="*/ 0 h 9"/>
                  <a:gd name="T2" fmla="*/ 0 w 25"/>
                  <a:gd name="T3" fmla="*/ 8 h 9"/>
                </a:gdLst>
                <a:ahLst/>
                <a:cxnLst>
                  <a:cxn ang="0">
                    <a:pos x="T0" y="T1"/>
                  </a:cxn>
                  <a:cxn ang="0">
                    <a:pos x="T2" y="T3"/>
                  </a:cxn>
                </a:cxnLst>
                <a:rect l="0" t="0" r="r" b="b"/>
                <a:pathLst>
                  <a:path w="25" h="9">
                    <a:moveTo>
                      <a:pt x="24" y="0"/>
                    </a:moveTo>
                    <a:cubicBezTo>
                      <a:pt x="16" y="3"/>
                      <a:pt x="8" y="5"/>
                      <a:pt x="0" y="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262">
                <a:extLst>
                  <a:ext uri="{FF2B5EF4-FFF2-40B4-BE49-F238E27FC236}">
                    <a16:creationId xmlns:a16="http://schemas.microsoft.com/office/drawing/2014/main" id="{D164D4C5-3530-298A-3973-6DDF2A8427A9}"/>
                  </a:ext>
                </a:extLst>
              </p:cNvPr>
              <p:cNvSpPr>
                <a:spLocks noChangeArrowheads="1"/>
              </p:cNvSpPr>
              <p:nvPr/>
            </p:nvSpPr>
            <p:spPr bwMode="auto">
              <a:xfrm>
                <a:off x="7250113" y="6062663"/>
                <a:ext cx="9525" cy="3175"/>
              </a:xfrm>
              <a:custGeom>
                <a:avLst/>
                <a:gdLst>
                  <a:gd name="T0" fmla="*/ 25 w 26"/>
                  <a:gd name="T1" fmla="*/ 0 h 8"/>
                  <a:gd name="T2" fmla="*/ 0 w 26"/>
                  <a:gd name="T3" fmla="*/ 7 h 8"/>
                </a:gdLst>
                <a:ahLst/>
                <a:cxnLst>
                  <a:cxn ang="0">
                    <a:pos x="T0" y="T1"/>
                  </a:cxn>
                  <a:cxn ang="0">
                    <a:pos x="T2" y="T3"/>
                  </a:cxn>
                </a:cxnLst>
                <a:rect l="0" t="0" r="r" b="b"/>
                <a:pathLst>
                  <a:path w="26" h="8">
                    <a:moveTo>
                      <a:pt x="25" y="0"/>
                    </a:moveTo>
                    <a:cubicBezTo>
                      <a:pt x="17" y="2"/>
                      <a:pt x="9" y="5"/>
                      <a:pt x="0" y="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263">
                <a:extLst>
                  <a:ext uri="{FF2B5EF4-FFF2-40B4-BE49-F238E27FC236}">
                    <a16:creationId xmlns:a16="http://schemas.microsoft.com/office/drawing/2014/main" id="{3CD1D721-F883-3901-3140-519694B3EE8E}"/>
                  </a:ext>
                </a:extLst>
              </p:cNvPr>
              <p:cNvSpPr>
                <a:spLocks noChangeArrowheads="1"/>
              </p:cNvSpPr>
              <p:nvPr/>
            </p:nvSpPr>
            <p:spPr bwMode="auto">
              <a:xfrm>
                <a:off x="7378700" y="5843588"/>
                <a:ext cx="3175" cy="11112"/>
              </a:xfrm>
              <a:custGeom>
                <a:avLst/>
                <a:gdLst>
                  <a:gd name="T0" fmla="*/ 7 w 8"/>
                  <a:gd name="T1" fmla="*/ 28 h 29"/>
                  <a:gd name="T2" fmla="*/ 0 w 8"/>
                  <a:gd name="T3" fmla="*/ 0 h 29"/>
                </a:gdLst>
                <a:ahLst/>
                <a:cxnLst>
                  <a:cxn ang="0">
                    <a:pos x="T0" y="T1"/>
                  </a:cxn>
                  <a:cxn ang="0">
                    <a:pos x="T2" y="T3"/>
                  </a:cxn>
                </a:cxnLst>
                <a:rect l="0" t="0" r="r" b="b"/>
                <a:pathLst>
                  <a:path w="8" h="29">
                    <a:moveTo>
                      <a:pt x="7" y="28"/>
                    </a:moveTo>
                    <a:cubicBezTo>
                      <a:pt x="5" y="19"/>
                      <a:pt x="3"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Freeform 264">
                <a:extLst>
                  <a:ext uri="{FF2B5EF4-FFF2-40B4-BE49-F238E27FC236}">
                    <a16:creationId xmlns:a16="http://schemas.microsoft.com/office/drawing/2014/main" id="{5DA24FB3-98BB-355F-B4E5-52AA08A740A9}"/>
                  </a:ext>
                </a:extLst>
              </p:cNvPr>
              <p:cNvSpPr>
                <a:spLocks noChangeArrowheads="1"/>
              </p:cNvSpPr>
              <p:nvPr/>
            </p:nvSpPr>
            <p:spPr bwMode="auto">
              <a:xfrm>
                <a:off x="7038975" y="5935663"/>
                <a:ext cx="1588" cy="11112"/>
              </a:xfrm>
              <a:custGeom>
                <a:avLst/>
                <a:gdLst>
                  <a:gd name="T0" fmla="*/ 4 w 5"/>
                  <a:gd name="T1" fmla="*/ 28 h 29"/>
                  <a:gd name="T2" fmla="*/ 0 w 5"/>
                  <a:gd name="T3" fmla="*/ 0 h 29"/>
                </a:gdLst>
                <a:ahLst/>
                <a:cxnLst>
                  <a:cxn ang="0">
                    <a:pos x="T0" y="T1"/>
                  </a:cxn>
                  <a:cxn ang="0">
                    <a:pos x="T2" y="T3"/>
                  </a:cxn>
                </a:cxnLst>
                <a:rect l="0" t="0" r="r" b="b"/>
                <a:pathLst>
                  <a:path w="5" h="29">
                    <a:moveTo>
                      <a:pt x="4" y="28"/>
                    </a:moveTo>
                    <a:cubicBezTo>
                      <a:pt x="3" y="19"/>
                      <a:pt x="2"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Freeform 265">
                <a:extLst>
                  <a:ext uri="{FF2B5EF4-FFF2-40B4-BE49-F238E27FC236}">
                    <a16:creationId xmlns:a16="http://schemas.microsoft.com/office/drawing/2014/main" id="{7AF637FB-8C7F-1FBE-E219-EC653E35EA31}"/>
                  </a:ext>
                </a:extLst>
              </p:cNvPr>
              <p:cNvSpPr>
                <a:spLocks noChangeArrowheads="1"/>
              </p:cNvSpPr>
              <p:nvPr/>
            </p:nvSpPr>
            <p:spPr bwMode="auto">
              <a:xfrm>
                <a:off x="7118350" y="5738813"/>
                <a:ext cx="7938" cy="4762"/>
              </a:xfrm>
              <a:custGeom>
                <a:avLst/>
                <a:gdLst>
                  <a:gd name="T0" fmla="*/ 21 w 22"/>
                  <a:gd name="T1" fmla="*/ 0 h 15"/>
                  <a:gd name="T2" fmla="*/ 0 w 22"/>
                  <a:gd name="T3" fmla="*/ 14 h 15"/>
                </a:gdLst>
                <a:ahLst/>
                <a:cxnLst>
                  <a:cxn ang="0">
                    <a:pos x="T0" y="T1"/>
                  </a:cxn>
                  <a:cxn ang="0">
                    <a:pos x="T2" y="T3"/>
                  </a:cxn>
                </a:cxnLst>
                <a:rect l="0" t="0" r="r" b="b"/>
                <a:pathLst>
                  <a:path w="22" h="15">
                    <a:moveTo>
                      <a:pt x="21" y="0"/>
                    </a:moveTo>
                    <a:cubicBezTo>
                      <a:pt x="14" y="5"/>
                      <a:pt x="7" y="9"/>
                      <a:pt x="0" y="1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Freeform 266">
                <a:extLst>
                  <a:ext uri="{FF2B5EF4-FFF2-40B4-BE49-F238E27FC236}">
                    <a16:creationId xmlns:a16="http://schemas.microsoft.com/office/drawing/2014/main" id="{5B95F181-95D4-CB2C-B47B-B49C9692F80F}"/>
                  </a:ext>
                </a:extLst>
              </p:cNvPr>
              <p:cNvSpPr>
                <a:spLocks noChangeArrowheads="1"/>
              </p:cNvSpPr>
              <p:nvPr/>
            </p:nvSpPr>
            <p:spPr bwMode="auto">
              <a:xfrm>
                <a:off x="7292975" y="6043613"/>
                <a:ext cx="7938" cy="4762"/>
              </a:xfrm>
              <a:custGeom>
                <a:avLst/>
                <a:gdLst>
                  <a:gd name="T0" fmla="*/ 21 w 22"/>
                  <a:gd name="T1" fmla="*/ 0 h 15"/>
                  <a:gd name="T2" fmla="*/ 0 w 22"/>
                  <a:gd name="T3" fmla="*/ 14 h 15"/>
                </a:gdLst>
                <a:ahLst/>
                <a:cxnLst>
                  <a:cxn ang="0">
                    <a:pos x="T0" y="T1"/>
                  </a:cxn>
                  <a:cxn ang="0">
                    <a:pos x="T2" y="T3"/>
                  </a:cxn>
                </a:cxnLst>
                <a:rect l="0" t="0" r="r" b="b"/>
                <a:pathLst>
                  <a:path w="22" h="15">
                    <a:moveTo>
                      <a:pt x="21" y="0"/>
                    </a:moveTo>
                    <a:cubicBezTo>
                      <a:pt x="14" y="5"/>
                      <a:pt x="7" y="9"/>
                      <a:pt x="0" y="1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267">
                <a:extLst>
                  <a:ext uri="{FF2B5EF4-FFF2-40B4-BE49-F238E27FC236}">
                    <a16:creationId xmlns:a16="http://schemas.microsoft.com/office/drawing/2014/main" id="{92BAA3C3-90BA-9036-BF00-9D7BFD2969FC}"/>
                  </a:ext>
                </a:extLst>
              </p:cNvPr>
              <p:cNvSpPr>
                <a:spLocks noChangeArrowheads="1"/>
              </p:cNvSpPr>
              <p:nvPr/>
            </p:nvSpPr>
            <p:spPr bwMode="auto">
              <a:xfrm>
                <a:off x="7359650" y="5802313"/>
                <a:ext cx="4763" cy="9525"/>
              </a:xfrm>
              <a:custGeom>
                <a:avLst/>
                <a:gdLst>
                  <a:gd name="T0" fmla="*/ 14 w 15"/>
                  <a:gd name="T1" fmla="*/ 24 h 25"/>
                  <a:gd name="T2" fmla="*/ 0 w 15"/>
                  <a:gd name="T3" fmla="*/ 0 h 25"/>
                </a:gdLst>
                <a:ahLst/>
                <a:cxnLst>
                  <a:cxn ang="0">
                    <a:pos x="T0" y="T1"/>
                  </a:cxn>
                  <a:cxn ang="0">
                    <a:pos x="T2" y="T3"/>
                  </a:cxn>
                </a:cxnLst>
                <a:rect l="0" t="0" r="r" b="b"/>
                <a:pathLst>
                  <a:path w="15" h="25">
                    <a:moveTo>
                      <a:pt x="14" y="24"/>
                    </a:moveTo>
                    <a:cubicBezTo>
                      <a:pt x="10" y="16"/>
                      <a:pt x="5"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Freeform 268">
                <a:extLst>
                  <a:ext uri="{FF2B5EF4-FFF2-40B4-BE49-F238E27FC236}">
                    <a16:creationId xmlns:a16="http://schemas.microsoft.com/office/drawing/2014/main" id="{86848784-492A-4651-0CE6-10D1A40F1355}"/>
                  </a:ext>
                </a:extLst>
              </p:cNvPr>
              <p:cNvSpPr>
                <a:spLocks noChangeArrowheads="1"/>
              </p:cNvSpPr>
              <p:nvPr/>
            </p:nvSpPr>
            <p:spPr bwMode="auto">
              <a:xfrm>
                <a:off x="7054850" y="5978525"/>
                <a:ext cx="4763" cy="9525"/>
              </a:xfrm>
              <a:custGeom>
                <a:avLst/>
                <a:gdLst>
                  <a:gd name="T0" fmla="*/ 11 w 12"/>
                  <a:gd name="T1" fmla="*/ 25 h 26"/>
                  <a:gd name="T2" fmla="*/ 0 w 12"/>
                  <a:gd name="T3" fmla="*/ 0 h 26"/>
                </a:gdLst>
                <a:ahLst/>
                <a:cxnLst>
                  <a:cxn ang="0">
                    <a:pos x="T0" y="T1"/>
                  </a:cxn>
                  <a:cxn ang="0">
                    <a:pos x="T2" y="T3"/>
                  </a:cxn>
                </a:cxnLst>
                <a:rect l="0" t="0" r="r" b="b"/>
                <a:pathLst>
                  <a:path w="12" h="26">
                    <a:moveTo>
                      <a:pt x="11" y="25"/>
                    </a:moveTo>
                    <a:cubicBezTo>
                      <a:pt x="8" y="17"/>
                      <a:pt x="4"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269">
                <a:extLst>
                  <a:ext uri="{FF2B5EF4-FFF2-40B4-BE49-F238E27FC236}">
                    <a16:creationId xmlns:a16="http://schemas.microsoft.com/office/drawing/2014/main" id="{A54B8230-5446-206F-8685-C6CF50D98D42}"/>
                  </a:ext>
                </a:extLst>
              </p:cNvPr>
              <p:cNvSpPr>
                <a:spLocks noChangeArrowheads="1"/>
              </p:cNvSpPr>
              <p:nvPr/>
            </p:nvSpPr>
            <p:spPr bwMode="auto">
              <a:xfrm>
                <a:off x="7331075" y="6015038"/>
                <a:ext cx="6350" cy="7937"/>
              </a:xfrm>
              <a:custGeom>
                <a:avLst/>
                <a:gdLst>
                  <a:gd name="T0" fmla="*/ 18 w 19"/>
                  <a:gd name="T1" fmla="*/ 0 h 22"/>
                  <a:gd name="T2" fmla="*/ 0 w 19"/>
                  <a:gd name="T3" fmla="*/ 21 h 22"/>
                </a:gdLst>
                <a:ahLst/>
                <a:cxnLst>
                  <a:cxn ang="0">
                    <a:pos x="T0" y="T1"/>
                  </a:cxn>
                  <a:cxn ang="0">
                    <a:pos x="T2" y="T3"/>
                  </a:cxn>
                </a:cxnLst>
                <a:rect l="0" t="0" r="r" b="b"/>
                <a:pathLst>
                  <a:path w="19" h="22">
                    <a:moveTo>
                      <a:pt x="18" y="0"/>
                    </a:moveTo>
                    <a:cubicBezTo>
                      <a:pt x="12" y="7"/>
                      <a:pt x="6" y="14"/>
                      <a:pt x="0" y="2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Freeform 270">
                <a:extLst>
                  <a:ext uri="{FF2B5EF4-FFF2-40B4-BE49-F238E27FC236}">
                    <a16:creationId xmlns:a16="http://schemas.microsoft.com/office/drawing/2014/main" id="{661B19D6-0820-C4D4-5676-285EA8813E05}"/>
                  </a:ext>
                </a:extLst>
              </p:cNvPr>
              <p:cNvSpPr>
                <a:spLocks noChangeArrowheads="1"/>
              </p:cNvSpPr>
              <p:nvPr/>
            </p:nvSpPr>
            <p:spPr bwMode="auto">
              <a:xfrm>
                <a:off x="7331075" y="5765800"/>
                <a:ext cx="6350" cy="7938"/>
              </a:xfrm>
              <a:custGeom>
                <a:avLst/>
                <a:gdLst>
                  <a:gd name="T0" fmla="*/ 18 w 19"/>
                  <a:gd name="T1" fmla="*/ 21 h 22"/>
                  <a:gd name="T2" fmla="*/ 0 w 19"/>
                  <a:gd name="T3" fmla="*/ 0 h 22"/>
                </a:gdLst>
                <a:ahLst/>
                <a:cxnLst>
                  <a:cxn ang="0">
                    <a:pos x="T0" y="T1"/>
                  </a:cxn>
                  <a:cxn ang="0">
                    <a:pos x="T2" y="T3"/>
                  </a:cxn>
                </a:cxnLst>
                <a:rect l="0" t="0" r="r" b="b"/>
                <a:pathLst>
                  <a:path w="19" h="22">
                    <a:moveTo>
                      <a:pt x="18" y="21"/>
                    </a:moveTo>
                    <a:cubicBezTo>
                      <a:pt x="12" y="14"/>
                      <a:pt x="6" y="7"/>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Freeform 271">
                <a:extLst>
                  <a:ext uri="{FF2B5EF4-FFF2-40B4-BE49-F238E27FC236}">
                    <a16:creationId xmlns:a16="http://schemas.microsoft.com/office/drawing/2014/main" id="{D5E89A13-27DD-2EA2-B36C-7EF22D3C3F9C}"/>
                  </a:ext>
                </a:extLst>
              </p:cNvPr>
              <p:cNvSpPr>
                <a:spLocks noChangeArrowheads="1"/>
              </p:cNvSpPr>
              <p:nvPr/>
            </p:nvSpPr>
            <p:spPr bwMode="auto">
              <a:xfrm>
                <a:off x="7054850" y="5802313"/>
                <a:ext cx="4763" cy="9525"/>
              </a:xfrm>
              <a:custGeom>
                <a:avLst/>
                <a:gdLst>
                  <a:gd name="T0" fmla="*/ 11 w 12"/>
                  <a:gd name="T1" fmla="*/ 0 h 25"/>
                  <a:gd name="T2" fmla="*/ 0 w 12"/>
                  <a:gd name="T3" fmla="*/ 24 h 25"/>
                </a:gdLst>
                <a:ahLst/>
                <a:cxnLst>
                  <a:cxn ang="0">
                    <a:pos x="T0" y="T1"/>
                  </a:cxn>
                  <a:cxn ang="0">
                    <a:pos x="T2" y="T3"/>
                  </a:cxn>
                </a:cxnLst>
                <a:rect l="0" t="0" r="r" b="b"/>
                <a:pathLst>
                  <a:path w="12" h="25">
                    <a:moveTo>
                      <a:pt x="11" y="0"/>
                    </a:moveTo>
                    <a:cubicBezTo>
                      <a:pt x="8" y="8"/>
                      <a:pt x="4" y="16"/>
                      <a:pt x="0" y="2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Freeform 272">
                <a:extLst>
                  <a:ext uri="{FF2B5EF4-FFF2-40B4-BE49-F238E27FC236}">
                    <a16:creationId xmlns:a16="http://schemas.microsoft.com/office/drawing/2014/main" id="{8ED3FADD-BA23-4DAB-F6DF-A2C1BC37B736}"/>
                  </a:ext>
                </a:extLst>
              </p:cNvPr>
              <p:cNvSpPr>
                <a:spLocks noChangeArrowheads="1"/>
              </p:cNvSpPr>
              <p:nvPr/>
            </p:nvSpPr>
            <p:spPr bwMode="auto">
              <a:xfrm>
                <a:off x="7359650" y="5978525"/>
                <a:ext cx="4763" cy="952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10" y="8"/>
                      <a:pt x="5" y="17"/>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Freeform 273">
                <a:extLst>
                  <a:ext uri="{FF2B5EF4-FFF2-40B4-BE49-F238E27FC236}">
                    <a16:creationId xmlns:a16="http://schemas.microsoft.com/office/drawing/2014/main" id="{CE4EA15B-FC9D-6252-CDE7-B6E0D613C2C0}"/>
                  </a:ext>
                </a:extLst>
              </p:cNvPr>
              <p:cNvSpPr>
                <a:spLocks noChangeArrowheads="1"/>
              </p:cNvSpPr>
              <p:nvPr/>
            </p:nvSpPr>
            <p:spPr bwMode="auto">
              <a:xfrm>
                <a:off x="7292975" y="5738813"/>
                <a:ext cx="7938" cy="4762"/>
              </a:xfrm>
              <a:custGeom>
                <a:avLst/>
                <a:gdLst>
                  <a:gd name="T0" fmla="*/ 21 w 22"/>
                  <a:gd name="T1" fmla="*/ 14 h 15"/>
                  <a:gd name="T2" fmla="*/ 0 w 22"/>
                  <a:gd name="T3" fmla="*/ 0 h 15"/>
                </a:gdLst>
                <a:ahLst/>
                <a:cxnLst>
                  <a:cxn ang="0">
                    <a:pos x="T0" y="T1"/>
                  </a:cxn>
                  <a:cxn ang="0">
                    <a:pos x="T2" y="T3"/>
                  </a:cxn>
                </a:cxnLst>
                <a:rect l="0" t="0" r="r" b="b"/>
                <a:pathLst>
                  <a:path w="22" h="15">
                    <a:moveTo>
                      <a:pt x="21" y="14"/>
                    </a:moveTo>
                    <a:cubicBezTo>
                      <a:pt x="14" y="9"/>
                      <a:pt x="7"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Freeform 274">
                <a:extLst>
                  <a:ext uri="{FF2B5EF4-FFF2-40B4-BE49-F238E27FC236}">
                    <a16:creationId xmlns:a16="http://schemas.microsoft.com/office/drawing/2014/main" id="{27181CE8-5AD6-88A3-B6D6-3499C8B39D4F}"/>
                  </a:ext>
                </a:extLst>
              </p:cNvPr>
              <p:cNvSpPr>
                <a:spLocks noChangeArrowheads="1"/>
              </p:cNvSpPr>
              <p:nvPr/>
            </p:nvSpPr>
            <p:spPr bwMode="auto">
              <a:xfrm>
                <a:off x="7118350" y="6043613"/>
                <a:ext cx="7938" cy="4762"/>
              </a:xfrm>
              <a:custGeom>
                <a:avLst/>
                <a:gdLst>
                  <a:gd name="T0" fmla="*/ 21 w 22"/>
                  <a:gd name="T1" fmla="*/ 14 h 15"/>
                  <a:gd name="T2" fmla="*/ 0 w 22"/>
                  <a:gd name="T3" fmla="*/ 0 h 15"/>
                </a:gdLst>
                <a:ahLst/>
                <a:cxnLst>
                  <a:cxn ang="0">
                    <a:pos x="T0" y="T1"/>
                  </a:cxn>
                  <a:cxn ang="0">
                    <a:pos x="T2" y="T3"/>
                  </a:cxn>
                </a:cxnLst>
                <a:rect l="0" t="0" r="r" b="b"/>
                <a:pathLst>
                  <a:path w="22" h="15">
                    <a:moveTo>
                      <a:pt x="21" y="14"/>
                    </a:moveTo>
                    <a:cubicBezTo>
                      <a:pt x="14" y="9"/>
                      <a:pt x="7"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Freeform 275">
                <a:extLst>
                  <a:ext uri="{FF2B5EF4-FFF2-40B4-BE49-F238E27FC236}">
                    <a16:creationId xmlns:a16="http://schemas.microsoft.com/office/drawing/2014/main" id="{EA4C06C2-9540-5103-EEE6-A5AE0F9E5530}"/>
                  </a:ext>
                </a:extLst>
              </p:cNvPr>
              <p:cNvSpPr>
                <a:spLocks noChangeArrowheads="1"/>
              </p:cNvSpPr>
              <p:nvPr/>
            </p:nvSpPr>
            <p:spPr bwMode="auto">
              <a:xfrm>
                <a:off x="7038975" y="5843588"/>
                <a:ext cx="1588" cy="11112"/>
              </a:xfrm>
              <a:custGeom>
                <a:avLst/>
                <a:gdLst>
                  <a:gd name="T0" fmla="*/ 4 w 5"/>
                  <a:gd name="T1" fmla="*/ 0 h 29"/>
                  <a:gd name="T2" fmla="*/ 0 w 5"/>
                  <a:gd name="T3" fmla="*/ 28 h 29"/>
                </a:gdLst>
                <a:ahLst/>
                <a:cxnLst>
                  <a:cxn ang="0">
                    <a:pos x="T0" y="T1"/>
                  </a:cxn>
                  <a:cxn ang="0">
                    <a:pos x="T2" y="T3"/>
                  </a:cxn>
                </a:cxnLst>
                <a:rect l="0" t="0" r="r" b="b"/>
                <a:pathLst>
                  <a:path w="5" h="29">
                    <a:moveTo>
                      <a:pt x="4" y="0"/>
                    </a:moveTo>
                    <a:cubicBezTo>
                      <a:pt x="3" y="9"/>
                      <a:pt x="2" y="19"/>
                      <a:pt x="0" y="2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Freeform 276">
                <a:extLst>
                  <a:ext uri="{FF2B5EF4-FFF2-40B4-BE49-F238E27FC236}">
                    <a16:creationId xmlns:a16="http://schemas.microsoft.com/office/drawing/2014/main" id="{2E7CA5C9-4C12-03CA-BA19-9639198748D7}"/>
                  </a:ext>
                </a:extLst>
              </p:cNvPr>
              <p:cNvSpPr>
                <a:spLocks noChangeArrowheads="1"/>
              </p:cNvSpPr>
              <p:nvPr/>
            </p:nvSpPr>
            <p:spPr bwMode="auto">
              <a:xfrm>
                <a:off x="7378700" y="5935663"/>
                <a:ext cx="3175" cy="11112"/>
              </a:xfrm>
              <a:custGeom>
                <a:avLst/>
                <a:gdLst>
                  <a:gd name="T0" fmla="*/ 7 w 8"/>
                  <a:gd name="T1" fmla="*/ 0 h 29"/>
                  <a:gd name="T2" fmla="*/ 0 w 8"/>
                  <a:gd name="T3" fmla="*/ 28 h 29"/>
                </a:gdLst>
                <a:ahLst/>
                <a:cxnLst>
                  <a:cxn ang="0">
                    <a:pos x="T0" y="T1"/>
                  </a:cxn>
                  <a:cxn ang="0">
                    <a:pos x="T2" y="T3"/>
                  </a:cxn>
                </a:cxnLst>
                <a:rect l="0" t="0" r="r" b="b"/>
                <a:pathLst>
                  <a:path w="8" h="29">
                    <a:moveTo>
                      <a:pt x="7" y="0"/>
                    </a:moveTo>
                    <a:cubicBezTo>
                      <a:pt x="5" y="9"/>
                      <a:pt x="3" y="19"/>
                      <a:pt x="0" y="2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Freeform 277">
                <a:extLst>
                  <a:ext uri="{FF2B5EF4-FFF2-40B4-BE49-F238E27FC236}">
                    <a16:creationId xmlns:a16="http://schemas.microsoft.com/office/drawing/2014/main" id="{C2000D8B-0678-2398-C719-B5F58B88BAD8}"/>
                  </a:ext>
                </a:extLst>
              </p:cNvPr>
              <p:cNvSpPr>
                <a:spLocks noChangeArrowheads="1"/>
              </p:cNvSpPr>
              <p:nvPr/>
            </p:nvSpPr>
            <p:spPr bwMode="auto">
              <a:xfrm>
                <a:off x="7250113" y="5722938"/>
                <a:ext cx="9525" cy="3175"/>
              </a:xfrm>
              <a:custGeom>
                <a:avLst/>
                <a:gdLst>
                  <a:gd name="T0" fmla="*/ 25 w 26"/>
                  <a:gd name="T1" fmla="*/ 8 h 9"/>
                  <a:gd name="T2" fmla="*/ 0 w 26"/>
                  <a:gd name="T3" fmla="*/ 0 h 9"/>
                </a:gdLst>
                <a:ahLst/>
                <a:cxnLst>
                  <a:cxn ang="0">
                    <a:pos x="T0" y="T1"/>
                  </a:cxn>
                  <a:cxn ang="0">
                    <a:pos x="T2" y="T3"/>
                  </a:cxn>
                </a:cxnLst>
                <a:rect l="0" t="0" r="r" b="b"/>
                <a:pathLst>
                  <a:path w="26" h="9">
                    <a:moveTo>
                      <a:pt x="25" y="8"/>
                    </a:moveTo>
                    <a:cubicBezTo>
                      <a:pt x="17" y="5"/>
                      <a:pt x="9"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Freeform 278">
                <a:extLst>
                  <a:ext uri="{FF2B5EF4-FFF2-40B4-BE49-F238E27FC236}">
                    <a16:creationId xmlns:a16="http://schemas.microsoft.com/office/drawing/2014/main" id="{093106EC-5611-868D-2EC4-1D58D8EC18D0}"/>
                  </a:ext>
                </a:extLst>
              </p:cNvPr>
              <p:cNvSpPr>
                <a:spLocks noChangeArrowheads="1"/>
              </p:cNvSpPr>
              <p:nvPr/>
            </p:nvSpPr>
            <p:spPr bwMode="auto">
              <a:xfrm>
                <a:off x="7159625" y="6062663"/>
                <a:ext cx="9525" cy="3175"/>
              </a:xfrm>
              <a:custGeom>
                <a:avLst/>
                <a:gdLst>
                  <a:gd name="T0" fmla="*/ 24 w 25"/>
                  <a:gd name="T1" fmla="*/ 7 h 8"/>
                  <a:gd name="T2" fmla="*/ 0 w 25"/>
                  <a:gd name="T3" fmla="*/ 0 h 8"/>
                </a:gdLst>
                <a:ahLst/>
                <a:cxnLst>
                  <a:cxn ang="0">
                    <a:pos x="T0" y="T1"/>
                  </a:cxn>
                  <a:cxn ang="0">
                    <a:pos x="T2" y="T3"/>
                  </a:cxn>
                </a:cxnLst>
                <a:rect l="0" t="0" r="r" b="b"/>
                <a:pathLst>
                  <a:path w="25" h="8">
                    <a:moveTo>
                      <a:pt x="24" y="7"/>
                    </a:moveTo>
                    <a:cubicBezTo>
                      <a:pt x="16" y="5"/>
                      <a:pt x="8" y="2"/>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Freeform 279">
                <a:extLst>
                  <a:ext uri="{FF2B5EF4-FFF2-40B4-BE49-F238E27FC236}">
                    <a16:creationId xmlns:a16="http://schemas.microsoft.com/office/drawing/2014/main" id="{1445DA10-399A-A6B8-F598-BFFE427FA75B}"/>
                  </a:ext>
                </a:extLst>
              </p:cNvPr>
              <p:cNvSpPr>
                <a:spLocks noChangeArrowheads="1"/>
              </p:cNvSpPr>
              <p:nvPr/>
            </p:nvSpPr>
            <p:spPr bwMode="auto">
              <a:xfrm>
                <a:off x="6959600" y="5894388"/>
                <a:ext cx="298450" cy="1587"/>
              </a:xfrm>
              <a:custGeom>
                <a:avLst/>
                <a:gdLst>
                  <a:gd name="T0" fmla="*/ 827 w 828"/>
                  <a:gd name="T1" fmla="*/ 0 h 1"/>
                  <a:gd name="T2" fmla="*/ 0 w 828"/>
                  <a:gd name="T3" fmla="*/ 0 h 1"/>
                </a:gdLst>
                <a:ahLst/>
                <a:cxnLst>
                  <a:cxn ang="0">
                    <a:pos x="T0" y="T1"/>
                  </a:cxn>
                  <a:cxn ang="0">
                    <a:pos x="T2" y="T3"/>
                  </a:cxn>
                </a:cxnLst>
                <a:rect l="0" t="0" r="r" b="b"/>
                <a:pathLst>
                  <a:path w="828" h="1">
                    <a:moveTo>
                      <a:pt x="827" y="0"/>
                    </a:moveTo>
                    <a:cubicBezTo>
                      <a:pt x="552" y="0"/>
                      <a:pt x="276"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Freeform 280">
                <a:extLst>
                  <a:ext uri="{FF2B5EF4-FFF2-40B4-BE49-F238E27FC236}">
                    <a16:creationId xmlns:a16="http://schemas.microsoft.com/office/drawing/2014/main" id="{34C34B9E-803C-AAB1-43E8-E3C976F37337}"/>
                  </a:ext>
                </a:extLst>
              </p:cNvPr>
              <p:cNvSpPr>
                <a:spLocks noChangeArrowheads="1"/>
              </p:cNvSpPr>
              <p:nvPr/>
            </p:nvSpPr>
            <p:spPr bwMode="auto">
              <a:xfrm>
                <a:off x="7207250" y="5843588"/>
                <a:ext cx="49213" cy="101600"/>
              </a:xfrm>
              <a:custGeom>
                <a:avLst/>
                <a:gdLst>
                  <a:gd name="T0" fmla="*/ 0 w 138"/>
                  <a:gd name="T1" fmla="*/ 282 h 283"/>
                  <a:gd name="T2" fmla="*/ 133 w 138"/>
                  <a:gd name="T3" fmla="*/ 148 h 283"/>
                  <a:gd name="T4" fmla="*/ 133 w 138"/>
                  <a:gd name="T5" fmla="*/ 134 h 283"/>
                  <a:gd name="T6" fmla="*/ 0 w 138"/>
                  <a:gd name="T7" fmla="*/ 0 h 283"/>
                </a:gdLst>
                <a:ahLst/>
                <a:cxnLst>
                  <a:cxn ang="0">
                    <a:pos x="T0" y="T1"/>
                  </a:cxn>
                  <a:cxn ang="0">
                    <a:pos x="T2" y="T3"/>
                  </a:cxn>
                  <a:cxn ang="0">
                    <a:pos x="T4" y="T5"/>
                  </a:cxn>
                  <a:cxn ang="0">
                    <a:pos x="T6" y="T7"/>
                  </a:cxn>
                </a:cxnLst>
                <a:rect l="0" t="0" r="r" b="b"/>
                <a:pathLst>
                  <a:path w="138" h="283">
                    <a:moveTo>
                      <a:pt x="0" y="282"/>
                    </a:moveTo>
                    <a:cubicBezTo>
                      <a:pt x="45" y="237"/>
                      <a:pt x="89" y="193"/>
                      <a:pt x="133" y="148"/>
                    </a:cubicBezTo>
                    <a:cubicBezTo>
                      <a:pt x="137" y="144"/>
                      <a:pt x="137" y="137"/>
                      <a:pt x="133" y="134"/>
                    </a:cubicBezTo>
                    <a:cubicBezTo>
                      <a:pt x="89" y="89"/>
                      <a:pt x="45" y="4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Freeform 281">
                <a:extLst>
                  <a:ext uri="{FF2B5EF4-FFF2-40B4-BE49-F238E27FC236}">
                    <a16:creationId xmlns:a16="http://schemas.microsoft.com/office/drawing/2014/main" id="{3994B6BE-1E5E-2F54-B119-13E0EFFF5B0D}"/>
                  </a:ext>
                </a:extLst>
              </p:cNvPr>
              <p:cNvSpPr>
                <a:spLocks noChangeArrowheads="1"/>
              </p:cNvSpPr>
              <p:nvPr/>
            </p:nvSpPr>
            <p:spPr bwMode="auto">
              <a:xfrm>
                <a:off x="6781800" y="5716588"/>
                <a:ext cx="355600" cy="355600"/>
              </a:xfrm>
              <a:custGeom>
                <a:avLst/>
                <a:gdLst>
                  <a:gd name="T0" fmla="*/ 493 w 986"/>
                  <a:gd name="T1" fmla="*/ 986 h 987"/>
                  <a:gd name="T2" fmla="*/ 0 w 986"/>
                  <a:gd name="T3" fmla="*/ 493 h 987"/>
                  <a:gd name="T4" fmla="*/ 493 w 986"/>
                  <a:gd name="T5" fmla="*/ 0 h 987"/>
                  <a:gd name="T6" fmla="*/ 985 w 986"/>
                  <a:gd name="T7" fmla="*/ 493 h 987"/>
                  <a:gd name="T8" fmla="*/ 493 w 986"/>
                  <a:gd name="T9" fmla="*/ 986 h 987"/>
                </a:gdLst>
                <a:ahLst/>
                <a:cxnLst>
                  <a:cxn ang="0">
                    <a:pos x="T0" y="T1"/>
                  </a:cxn>
                  <a:cxn ang="0">
                    <a:pos x="T2" y="T3"/>
                  </a:cxn>
                  <a:cxn ang="0">
                    <a:pos x="T4" y="T5"/>
                  </a:cxn>
                  <a:cxn ang="0">
                    <a:pos x="T6" y="T7"/>
                  </a:cxn>
                  <a:cxn ang="0">
                    <a:pos x="T8" y="T9"/>
                  </a:cxn>
                </a:cxnLst>
                <a:rect l="0" t="0" r="r" b="b"/>
                <a:pathLst>
                  <a:path w="986" h="987">
                    <a:moveTo>
                      <a:pt x="493" y="986"/>
                    </a:moveTo>
                    <a:cubicBezTo>
                      <a:pt x="221" y="986"/>
                      <a:pt x="0" y="764"/>
                      <a:pt x="0" y="493"/>
                    </a:cubicBezTo>
                    <a:cubicBezTo>
                      <a:pt x="0" y="222"/>
                      <a:pt x="222" y="0"/>
                      <a:pt x="493" y="0"/>
                    </a:cubicBezTo>
                    <a:cubicBezTo>
                      <a:pt x="765" y="0"/>
                      <a:pt x="985" y="222"/>
                      <a:pt x="985" y="493"/>
                    </a:cubicBezTo>
                    <a:cubicBezTo>
                      <a:pt x="985" y="764"/>
                      <a:pt x="764" y="986"/>
                      <a:pt x="493" y="98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4" name="Group 3">
            <a:extLst>
              <a:ext uri="{FF2B5EF4-FFF2-40B4-BE49-F238E27FC236}">
                <a16:creationId xmlns:a16="http://schemas.microsoft.com/office/drawing/2014/main" id="{F6E85470-519C-89EB-2F85-98A6618AEFFF}"/>
              </a:ext>
            </a:extLst>
          </p:cNvPr>
          <p:cNvGrpSpPr/>
          <p:nvPr/>
        </p:nvGrpSpPr>
        <p:grpSpPr>
          <a:xfrm>
            <a:off x="-3935863" y="2102342"/>
            <a:ext cx="582028" cy="459870"/>
            <a:chOff x="7318743" y="4128283"/>
            <a:chExt cx="160790" cy="127043"/>
          </a:xfrm>
          <a:solidFill>
            <a:srgbClr val="FFFF00">
              <a:alpha val="43000"/>
            </a:srgbClr>
          </a:solidFill>
        </p:grpSpPr>
        <p:sp>
          <p:nvSpPr>
            <p:cNvPr id="35" name="Freeform 278">
              <a:extLst>
                <a:ext uri="{FF2B5EF4-FFF2-40B4-BE49-F238E27FC236}">
                  <a16:creationId xmlns:a16="http://schemas.microsoft.com/office/drawing/2014/main" id="{2A33674F-84C7-4E9F-3D73-6BBDDEF3C4A7}"/>
                </a:ext>
              </a:extLst>
            </p:cNvPr>
            <p:cNvSpPr>
              <a:spLocks noChangeArrowheads="1"/>
            </p:cNvSpPr>
            <p:nvPr/>
          </p:nvSpPr>
          <p:spPr bwMode="auto">
            <a:xfrm>
              <a:off x="7360430" y="4128283"/>
              <a:ext cx="77417" cy="77418"/>
            </a:xfrm>
            <a:custGeom>
              <a:avLst/>
              <a:gdLst>
                <a:gd name="T0" fmla="*/ 169 w 170"/>
                <a:gd name="T1" fmla="*/ 85 h 171"/>
                <a:gd name="T2" fmla="*/ 158 w 170"/>
                <a:gd name="T3" fmla="*/ 127 h 171"/>
                <a:gd name="T4" fmla="*/ 127 w 170"/>
                <a:gd name="T5" fmla="*/ 158 h 171"/>
                <a:gd name="T6" fmla="*/ 85 w 170"/>
                <a:gd name="T7" fmla="*/ 170 h 171"/>
                <a:gd name="T8" fmla="*/ 42 w 170"/>
                <a:gd name="T9" fmla="*/ 158 h 171"/>
                <a:gd name="T10" fmla="*/ 11 w 170"/>
                <a:gd name="T11" fmla="*/ 127 h 171"/>
                <a:gd name="T12" fmla="*/ 0 w 170"/>
                <a:gd name="T13" fmla="*/ 85 h 171"/>
                <a:gd name="T14" fmla="*/ 11 w 170"/>
                <a:gd name="T15" fmla="*/ 43 h 171"/>
                <a:gd name="T16" fmla="*/ 42 w 170"/>
                <a:gd name="T17" fmla="*/ 12 h 171"/>
                <a:gd name="T18" fmla="*/ 85 w 170"/>
                <a:gd name="T19" fmla="*/ 0 h 171"/>
                <a:gd name="T20" fmla="*/ 127 w 170"/>
                <a:gd name="T21" fmla="*/ 12 h 171"/>
                <a:gd name="T22" fmla="*/ 158 w 170"/>
                <a:gd name="T23" fmla="*/ 43 h 171"/>
                <a:gd name="T24" fmla="*/ 169 w 170"/>
                <a:gd name="T25" fmla="*/ 8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171">
                  <a:moveTo>
                    <a:pt x="169" y="85"/>
                  </a:moveTo>
                  <a:cubicBezTo>
                    <a:pt x="169" y="100"/>
                    <a:pt x="166" y="114"/>
                    <a:pt x="158" y="127"/>
                  </a:cubicBezTo>
                  <a:cubicBezTo>
                    <a:pt x="150" y="141"/>
                    <a:pt x="141" y="150"/>
                    <a:pt x="127" y="158"/>
                  </a:cubicBezTo>
                  <a:cubicBezTo>
                    <a:pt x="114" y="166"/>
                    <a:pt x="101" y="170"/>
                    <a:pt x="85" y="170"/>
                  </a:cubicBezTo>
                  <a:cubicBezTo>
                    <a:pt x="70" y="170"/>
                    <a:pt x="56" y="166"/>
                    <a:pt x="42" y="158"/>
                  </a:cubicBezTo>
                  <a:cubicBezTo>
                    <a:pt x="29" y="150"/>
                    <a:pt x="19" y="141"/>
                    <a:pt x="11" y="127"/>
                  </a:cubicBezTo>
                  <a:cubicBezTo>
                    <a:pt x="4" y="114"/>
                    <a:pt x="0" y="101"/>
                    <a:pt x="0" y="85"/>
                  </a:cubicBezTo>
                  <a:cubicBezTo>
                    <a:pt x="0" y="70"/>
                    <a:pt x="4" y="57"/>
                    <a:pt x="11" y="43"/>
                  </a:cubicBezTo>
                  <a:cubicBezTo>
                    <a:pt x="19" y="30"/>
                    <a:pt x="29" y="20"/>
                    <a:pt x="42" y="12"/>
                  </a:cubicBezTo>
                  <a:cubicBezTo>
                    <a:pt x="56" y="5"/>
                    <a:pt x="69" y="0"/>
                    <a:pt x="85" y="0"/>
                  </a:cubicBezTo>
                  <a:cubicBezTo>
                    <a:pt x="100" y="0"/>
                    <a:pt x="114" y="5"/>
                    <a:pt x="127" y="12"/>
                  </a:cubicBezTo>
                  <a:cubicBezTo>
                    <a:pt x="141" y="20"/>
                    <a:pt x="150" y="30"/>
                    <a:pt x="158" y="43"/>
                  </a:cubicBezTo>
                  <a:cubicBezTo>
                    <a:pt x="166" y="57"/>
                    <a:pt x="169" y="69"/>
                    <a:pt x="169" y="85"/>
                  </a:cubicBezTo>
                </a:path>
              </a:pathLst>
            </a:custGeom>
            <a:grpFill/>
            <a:ln w="15875" cap="flat">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7" name="Freeform 279">
              <a:extLst>
                <a:ext uri="{FF2B5EF4-FFF2-40B4-BE49-F238E27FC236}">
                  <a16:creationId xmlns:a16="http://schemas.microsoft.com/office/drawing/2014/main" id="{D21CE68D-6E43-C89C-3D52-4C97FD1F3FF5}"/>
                </a:ext>
              </a:extLst>
            </p:cNvPr>
            <p:cNvSpPr>
              <a:spLocks noChangeArrowheads="1"/>
            </p:cNvSpPr>
            <p:nvPr/>
          </p:nvSpPr>
          <p:spPr bwMode="auto">
            <a:xfrm>
              <a:off x="7318743" y="4203715"/>
              <a:ext cx="160790" cy="51611"/>
            </a:xfrm>
            <a:custGeom>
              <a:avLst/>
              <a:gdLst>
                <a:gd name="T0" fmla="*/ 357 w 358"/>
                <a:gd name="T1" fmla="*/ 112 h 113"/>
                <a:gd name="T2" fmla="*/ 179 w 358"/>
                <a:gd name="T3" fmla="*/ 0 h 113"/>
                <a:gd name="T4" fmla="*/ 0 w 358"/>
                <a:gd name="T5" fmla="*/ 112 h 113"/>
              </a:gdLst>
              <a:ahLst/>
              <a:cxnLst>
                <a:cxn ang="0">
                  <a:pos x="T0" y="T1"/>
                </a:cxn>
                <a:cxn ang="0">
                  <a:pos x="T2" y="T3"/>
                </a:cxn>
                <a:cxn ang="0">
                  <a:pos x="T4" y="T5"/>
                </a:cxn>
              </a:cxnLst>
              <a:rect l="0" t="0" r="r" b="b"/>
              <a:pathLst>
                <a:path w="358" h="113">
                  <a:moveTo>
                    <a:pt x="357" y="112"/>
                  </a:moveTo>
                  <a:cubicBezTo>
                    <a:pt x="326" y="46"/>
                    <a:pt x="258" y="0"/>
                    <a:pt x="179" y="0"/>
                  </a:cubicBezTo>
                  <a:cubicBezTo>
                    <a:pt x="100" y="0"/>
                    <a:pt x="32" y="46"/>
                    <a:pt x="0" y="112"/>
                  </a:cubicBezTo>
                </a:path>
              </a:pathLst>
            </a:custGeom>
            <a:grpFill/>
            <a:ln w="15875" cap="rnd">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ira Sans Light" panose="020B0403050000020004" pitchFamily="34" charset="0"/>
                <a:ea typeface="+mn-ea"/>
                <a:cs typeface="+mn-cs"/>
              </a:endParaRPr>
            </a:p>
          </p:txBody>
        </p:sp>
      </p:grpSp>
      <p:sp>
        <p:nvSpPr>
          <p:cNvPr id="36" name="TextBox 35">
            <a:extLst>
              <a:ext uri="{FF2B5EF4-FFF2-40B4-BE49-F238E27FC236}">
                <a16:creationId xmlns:a16="http://schemas.microsoft.com/office/drawing/2014/main" id="{55F7E5E7-5967-508D-E263-CF500203031D}"/>
              </a:ext>
            </a:extLst>
          </p:cNvPr>
          <p:cNvSpPr txBox="1"/>
          <p:nvPr/>
        </p:nvSpPr>
        <p:spPr>
          <a:xfrm>
            <a:off x="1977287" y="2155126"/>
            <a:ext cx="683200"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Fira Sans" panose="020B0503050000020004" pitchFamily="34" charset="0"/>
                <a:ea typeface="+mn-ea"/>
                <a:cs typeface="+mn-cs"/>
              </a:rPr>
              <a:t>Engage</a:t>
            </a:r>
          </a:p>
        </p:txBody>
      </p:sp>
      <p:grpSp>
        <p:nvGrpSpPr>
          <p:cNvPr id="37" name="Group 36">
            <a:extLst>
              <a:ext uri="{FF2B5EF4-FFF2-40B4-BE49-F238E27FC236}">
                <a16:creationId xmlns:a16="http://schemas.microsoft.com/office/drawing/2014/main" id="{7E2CB031-959F-6AA1-2A45-05716D22E6FE}"/>
              </a:ext>
            </a:extLst>
          </p:cNvPr>
          <p:cNvGrpSpPr/>
          <p:nvPr/>
        </p:nvGrpSpPr>
        <p:grpSpPr>
          <a:xfrm>
            <a:off x="2059306" y="1639911"/>
            <a:ext cx="523896" cy="517069"/>
            <a:chOff x="10744408" y="603676"/>
            <a:chExt cx="609413" cy="601472"/>
          </a:xfrm>
        </p:grpSpPr>
        <p:sp>
          <p:nvSpPr>
            <p:cNvPr id="38" name="Freeform 64">
              <a:extLst>
                <a:ext uri="{FF2B5EF4-FFF2-40B4-BE49-F238E27FC236}">
                  <a16:creationId xmlns:a16="http://schemas.microsoft.com/office/drawing/2014/main" id="{583EA5C7-08EB-E5B4-2E93-EBB9B4B36C26}"/>
                </a:ext>
              </a:extLst>
            </p:cNvPr>
            <p:cNvSpPr>
              <a:spLocks noChangeArrowheads="1"/>
            </p:cNvSpPr>
            <p:nvPr/>
          </p:nvSpPr>
          <p:spPr bwMode="auto">
            <a:xfrm>
              <a:off x="10841676" y="625510"/>
              <a:ext cx="89327" cy="89328"/>
            </a:xfrm>
            <a:custGeom>
              <a:avLst/>
              <a:gdLst>
                <a:gd name="T0" fmla="*/ 198 w 199"/>
                <a:gd name="T1" fmla="*/ 98 h 198"/>
                <a:gd name="T2" fmla="*/ 184 w 199"/>
                <a:gd name="T3" fmla="*/ 148 h 198"/>
                <a:gd name="T4" fmla="*/ 148 w 199"/>
                <a:gd name="T5" fmla="*/ 184 h 198"/>
                <a:gd name="T6" fmla="*/ 99 w 199"/>
                <a:gd name="T7" fmla="*/ 197 h 198"/>
                <a:gd name="T8" fmla="*/ 49 w 199"/>
                <a:gd name="T9" fmla="*/ 184 h 198"/>
                <a:gd name="T10" fmla="*/ 13 w 199"/>
                <a:gd name="T11" fmla="*/ 148 h 198"/>
                <a:gd name="T12" fmla="*/ 0 w 199"/>
                <a:gd name="T13" fmla="*/ 98 h 198"/>
                <a:gd name="T14" fmla="*/ 13 w 199"/>
                <a:gd name="T15" fmla="*/ 49 h 198"/>
                <a:gd name="T16" fmla="*/ 49 w 199"/>
                <a:gd name="T17" fmla="*/ 13 h 198"/>
                <a:gd name="T18" fmla="*/ 99 w 199"/>
                <a:gd name="T19" fmla="*/ 0 h 198"/>
                <a:gd name="T20" fmla="*/ 148 w 199"/>
                <a:gd name="T21" fmla="*/ 13 h 198"/>
                <a:gd name="T22" fmla="*/ 184 w 199"/>
                <a:gd name="T23" fmla="*/ 49 h 198"/>
                <a:gd name="T24" fmla="*/ 198 w 199"/>
                <a:gd name="T25" fmla="*/ 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9" h="198">
                  <a:moveTo>
                    <a:pt x="198" y="98"/>
                  </a:moveTo>
                  <a:cubicBezTo>
                    <a:pt x="198" y="117"/>
                    <a:pt x="193" y="132"/>
                    <a:pt x="184" y="148"/>
                  </a:cubicBezTo>
                  <a:cubicBezTo>
                    <a:pt x="175" y="164"/>
                    <a:pt x="164" y="175"/>
                    <a:pt x="148" y="184"/>
                  </a:cubicBezTo>
                  <a:cubicBezTo>
                    <a:pt x="132" y="193"/>
                    <a:pt x="117" y="197"/>
                    <a:pt x="99" y="197"/>
                  </a:cubicBezTo>
                  <a:cubicBezTo>
                    <a:pt x="81" y="197"/>
                    <a:pt x="65" y="193"/>
                    <a:pt x="49" y="184"/>
                  </a:cubicBezTo>
                  <a:cubicBezTo>
                    <a:pt x="34" y="175"/>
                    <a:pt x="22" y="164"/>
                    <a:pt x="13" y="148"/>
                  </a:cubicBezTo>
                  <a:cubicBezTo>
                    <a:pt x="4" y="132"/>
                    <a:pt x="0" y="116"/>
                    <a:pt x="0" y="98"/>
                  </a:cubicBezTo>
                  <a:cubicBezTo>
                    <a:pt x="0" y="79"/>
                    <a:pt x="4" y="65"/>
                    <a:pt x="13" y="49"/>
                  </a:cubicBezTo>
                  <a:cubicBezTo>
                    <a:pt x="22" y="33"/>
                    <a:pt x="34" y="22"/>
                    <a:pt x="49" y="13"/>
                  </a:cubicBezTo>
                  <a:cubicBezTo>
                    <a:pt x="65" y="4"/>
                    <a:pt x="81" y="0"/>
                    <a:pt x="99" y="0"/>
                  </a:cubicBezTo>
                  <a:cubicBezTo>
                    <a:pt x="117" y="0"/>
                    <a:pt x="132" y="4"/>
                    <a:pt x="148" y="13"/>
                  </a:cubicBezTo>
                  <a:cubicBezTo>
                    <a:pt x="164" y="22"/>
                    <a:pt x="175" y="33"/>
                    <a:pt x="184" y="49"/>
                  </a:cubicBezTo>
                  <a:cubicBezTo>
                    <a:pt x="193" y="65"/>
                    <a:pt x="198" y="80"/>
                    <a:pt x="198" y="98"/>
                  </a:cubicBezTo>
                </a:path>
              </a:pathLst>
            </a:custGeom>
            <a:noFill/>
            <a:ln w="15875" cap="flat">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9" name="Freeform 65">
              <a:extLst>
                <a:ext uri="{FF2B5EF4-FFF2-40B4-BE49-F238E27FC236}">
                  <a16:creationId xmlns:a16="http://schemas.microsoft.com/office/drawing/2014/main" id="{AF9119F9-8457-35C2-709F-ECB858B67603}"/>
                </a:ext>
              </a:extLst>
            </p:cNvPr>
            <p:cNvSpPr>
              <a:spLocks noChangeArrowheads="1"/>
            </p:cNvSpPr>
            <p:nvPr/>
          </p:nvSpPr>
          <p:spPr bwMode="auto">
            <a:xfrm>
              <a:off x="10744408" y="603676"/>
              <a:ext cx="325549" cy="601471"/>
            </a:xfrm>
            <a:custGeom>
              <a:avLst/>
              <a:gdLst>
                <a:gd name="T0" fmla="*/ 453 w 725"/>
                <a:gd name="T1" fmla="*/ 1284 h 1335"/>
                <a:gd name="T2" fmla="*/ 403 w 725"/>
                <a:gd name="T3" fmla="*/ 1334 h 1335"/>
                <a:gd name="T4" fmla="*/ 354 w 725"/>
                <a:gd name="T5" fmla="*/ 1284 h 1335"/>
                <a:gd name="T6" fmla="*/ 354 w 725"/>
                <a:gd name="T7" fmla="*/ 865 h 1335"/>
                <a:gd name="T8" fmla="*/ 313 w 725"/>
                <a:gd name="T9" fmla="*/ 823 h 1335"/>
                <a:gd name="T10" fmla="*/ 272 w 725"/>
                <a:gd name="T11" fmla="*/ 865 h 1335"/>
                <a:gd name="T12" fmla="*/ 272 w 725"/>
                <a:gd name="T13" fmla="*/ 1284 h 1335"/>
                <a:gd name="T14" fmla="*/ 222 w 725"/>
                <a:gd name="T15" fmla="*/ 1334 h 1335"/>
                <a:gd name="T16" fmla="*/ 173 w 725"/>
                <a:gd name="T17" fmla="*/ 1284 h 1335"/>
                <a:gd name="T18" fmla="*/ 173 w 725"/>
                <a:gd name="T19" fmla="*/ 489 h 1335"/>
                <a:gd name="T20" fmla="*/ 170 w 725"/>
                <a:gd name="T21" fmla="*/ 484 h 1335"/>
                <a:gd name="T22" fmla="*/ 164 w 725"/>
                <a:gd name="T23" fmla="*/ 485 h 1335"/>
                <a:gd name="T24" fmla="*/ 99 w 725"/>
                <a:gd name="T25" fmla="*/ 642 h 1335"/>
                <a:gd name="T26" fmla="*/ 99 w 725"/>
                <a:gd name="T27" fmla="*/ 766 h 1335"/>
                <a:gd name="T28" fmla="*/ 49 w 725"/>
                <a:gd name="T29" fmla="*/ 815 h 1335"/>
                <a:gd name="T30" fmla="*/ 0 w 725"/>
                <a:gd name="T31" fmla="*/ 766 h 1335"/>
                <a:gd name="T32" fmla="*/ 0 w 725"/>
                <a:gd name="T33" fmla="*/ 634 h 1335"/>
                <a:gd name="T34" fmla="*/ 313 w 725"/>
                <a:gd name="T35" fmla="*/ 321 h 1335"/>
                <a:gd name="T36" fmla="*/ 428 w 725"/>
                <a:gd name="T37" fmla="*/ 321 h 1335"/>
                <a:gd name="T38" fmla="*/ 626 w 725"/>
                <a:gd name="T39" fmla="*/ 123 h 1335"/>
                <a:gd name="T40" fmla="*/ 626 w 725"/>
                <a:gd name="T41" fmla="*/ 49 h 1335"/>
                <a:gd name="T42" fmla="*/ 675 w 725"/>
                <a:gd name="T43" fmla="*/ 0 h 1335"/>
                <a:gd name="T44" fmla="*/ 724 w 725"/>
                <a:gd name="T45" fmla="*/ 49 h 1335"/>
                <a:gd name="T46" fmla="*/ 724 w 725"/>
                <a:gd name="T47" fmla="*/ 123 h 1335"/>
                <a:gd name="T48" fmla="*/ 470 w 725"/>
                <a:gd name="T49" fmla="*/ 417 h 1335"/>
                <a:gd name="T50" fmla="*/ 463 w 725"/>
                <a:gd name="T51" fmla="*/ 418 h 1335"/>
                <a:gd name="T52" fmla="*/ 453 w 725"/>
                <a:gd name="T53" fmla="*/ 430 h 1335"/>
                <a:gd name="T54" fmla="*/ 453 w 725"/>
                <a:gd name="T55" fmla="*/ 1284 h 1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5" h="1335">
                  <a:moveTo>
                    <a:pt x="453" y="1284"/>
                  </a:moveTo>
                  <a:cubicBezTo>
                    <a:pt x="453" y="1312"/>
                    <a:pt x="431" y="1334"/>
                    <a:pt x="403" y="1334"/>
                  </a:cubicBezTo>
                  <a:cubicBezTo>
                    <a:pt x="376" y="1334"/>
                    <a:pt x="354" y="1312"/>
                    <a:pt x="354" y="1284"/>
                  </a:cubicBezTo>
                  <a:cubicBezTo>
                    <a:pt x="354" y="1144"/>
                    <a:pt x="354" y="1005"/>
                    <a:pt x="354" y="865"/>
                  </a:cubicBezTo>
                  <a:cubicBezTo>
                    <a:pt x="354" y="842"/>
                    <a:pt x="335" y="823"/>
                    <a:pt x="313" y="823"/>
                  </a:cubicBezTo>
                  <a:cubicBezTo>
                    <a:pt x="290" y="823"/>
                    <a:pt x="272" y="842"/>
                    <a:pt x="272" y="865"/>
                  </a:cubicBezTo>
                  <a:cubicBezTo>
                    <a:pt x="272" y="1005"/>
                    <a:pt x="272" y="1144"/>
                    <a:pt x="272" y="1284"/>
                  </a:cubicBezTo>
                  <a:cubicBezTo>
                    <a:pt x="272" y="1312"/>
                    <a:pt x="249" y="1334"/>
                    <a:pt x="222" y="1334"/>
                  </a:cubicBezTo>
                  <a:cubicBezTo>
                    <a:pt x="195" y="1334"/>
                    <a:pt x="173" y="1312"/>
                    <a:pt x="173" y="1284"/>
                  </a:cubicBezTo>
                  <a:cubicBezTo>
                    <a:pt x="173" y="1019"/>
                    <a:pt x="173" y="754"/>
                    <a:pt x="173" y="489"/>
                  </a:cubicBezTo>
                  <a:cubicBezTo>
                    <a:pt x="173" y="487"/>
                    <a:pt x="172" y="485"/>
                    <a:pt x="170" y="484"/>
                  </a:cubicBezTo>
                  <a:cubicBezTo>
                    <a:pt x="168" y="483"/>
                    <a:pt x="165" y="484"/>
                    <a:pt x="164" y="485"/>
                  </a:cubicBezTo>
                  <a:cubicBezTo>
                    <a:pt x="122" y="527"/>
                    <a:pt x="99" y="583"/>
                    <a:pt x="99" y="642"/>
                  </a:cubicBezTo>
                  <a:cubicBezTo>
                    <a:pt x="99" y="683"/>
                    <a:pt x="99" y="725"/>
                    <a:pt x="99" y="766"/>
                  </a:cubicBezTo>
                  <a:cubicBezTo>
                    <a:pt x="99" y="793"/>
                    <a:pt x="77" y="815"/>
                    <a:pt x="49" y="815"/>
                  </a:cubicBezTo>
                  <a:cubicBezTo>
                    <a:pt x="22" y="815"/>
                    <a:pt x="0" y="793"/>
                    <a:pt x="0" y="766"/>
                  </a:cubicBezTo>
                  <a:cubicBezTo>
                    <a:pt x="0" y="722"/>
                    <a:pt x="0" y="678"/>
                    <a:pt x="0" y="634"/>
                  </a:cubicBezTo>
                  <a:cubicBezTo>
                    <a:pt x="0" y="462"/>
                    <a:pt x="140" y="321"/>
                    <a:pt x="313" y="321"/>
                  </a:cubicBezTo>
                  <a:cubicBezTo>
                    <a:pt x="351" y="321"/>
                    <a:pt x="390" y="321"/>
                    <a:pt x="428" y="321"/>
                  </a:cubicBezTo>
                  <a:cubicBezTo>
                    <a:pt x="537" y="321"/>
                    <a:pt x="626" y="232"/>
                    <a:pt x="626" y="123"/>
                  </a:cubicBezTo>
                  <a:cubicBezTo>
                    <a:pt x="626" y="98"/>
                    <a:pt x="626" y="74"/>
                    <a:pt x="626" y="49"/>
                  </a:cubicBezTo>
                  <a:cubicBezTo>
                    <a:pt x="626" y="22"/>
                    <a:pt x="648" y="0"/>
                    <a:pt x="675" y="0"/>
                  </a:cubicBezTo>
                  <a:cubicBezTo>
                    <a:pt x="702" y="0"/>
                    <a:pt x="724" y="22"/>
                    <a:pt x="724" y="49"/>
                  </a:cubicBezTo>
                  <a:cubicBezTo>
                    <a:pt x="724" y="74"/>
                    <a:pt x="724" y="98"/>
                    <a:pt x="724" y="123"/>
                  </a:cubicBezTo>
                  <a:cubicBezTo>
                    <a:pt x="724" y="273"/>
                    <a:pt x="614" y="396"/>
                    <a:pt x="470" y="417"/>
                  </a:cubicBezTo>
                  <a:cubicBezTo>
                    <a:pt x="468" y="417"/>
                    <a:pt x="465" y="418"/>
                    <a:pt x="463" y="418"/>
                  </a:cubicBezTo>
                  <a:cubicBezTo>
                    <a:pt x="457" y="418"/>
                    <a:pt x="453" y="424"/>
                    <a:pt x="453" y="430"/>
                  </a:cubicBezTo>
                  <a:cubicBezTo>
                    <a:pt x="453" y="715"/>
                    <a:pt x="453" y="999"/>
                    <a:pt x="453" y="1284"/>
                  </a:cubicBezTo>
                </a:path>
              </a:pathLst>
            </a:custGeom>
            <a:noFill/>
            <a:ln w="15875" cap="flat">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0" name="Freeform 66">
              <a:extLst>
                <a:ext uri="{FF2B5EF4-FFF2-40B4-BE49-F238E27FC236}">
                  <a16:creationId xmlns:a16="http://schemas.microsoft.com/office/drawing/2014/main" id="{3EC36C6E-595E-A706-27F8-3A552F8BD1D2}"/>
                </a:ext>
              </a:extLst>
            </p:cNvPr>
            <p:cNvSpPr>
              <a:spLocks noChangeArrowheads="1"/>
            </p:cNvSpPr>
            <p:nvPr/>
          </p:nvSpPr>
          <p:spPr bwMode="auto">
            <a:xfrm>
              <a:off x="11167225" y="625510"/>
              <a:ext cx="89327" cy="89328"/>
            </a:xfrm>
            <a:custGeom>
              <a:avLst/>
              <a:gdLst>
                <a:gd name="T0" fmla="*/ 198 w 199"/>
                <a:gd name="T1" fmla="*/ 98 h 198"/>
                <a:gd name="T2" fmla="*/ 185 w 199"/>
                <a:gd name="T3" fmla="*/ 148 h 198"/>
                <a:gd name="T4" fmla="*/ 149 w 199"/>
                <a:gd name="T5" fmla="*/ 184 h 198"/>
                <a:gd name="T6" fmla="*/ 99 w 199"/>
                <a:gd name="T7" fmla="*/ 197 h 198"/>
                <a:gd name="T8" fmla="*/ 50 w 199"/>
                <a:gd name="T9" fmla="*/ 184 h 198"/>
                <a:gd name="T10" fmla="*/ 14 w 199"/>
                <a:gd name="T11" fmla="*/ 148 h 198"/>
                <a:gd name="T12" fmla="*/ 0 w 199"/>
                <a:gd name="T13" fmla="*/ 98 h 198"/>
                <a:gd name="T14" fmla="*/ 14 w 199"/>
                <a:gd name="T15" fmla="*/ 49 h 198"/>
                <a:gd name="T16" fmla="*/ 50 w 199"/>
                <a:gd name="T17" fmla="*/ 13 h 198"/>
                <a:gd name="T18" fmla="*/ 99 w 199"/>
                <a:gd name="T19" fmla="*/ 0 h 198"/>
                <a:gd name="T20" fmla="*/ 149 w 199"/>
                <a:gd name="T21" fmla="*/ 13 h 198"/>
                <a:gd name="T22" fmla="*/ 185 w 199"/>
                <a:gd name="T23" fmla="*/ 49 h 198"/>
                <a:gd name="T24" fmla="*/ 198 w 199"/>
                <a:gd name="T25" fmla="*/ 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9" h="198">
                  <a:moveTo>
                    <a:pt x="198" y="98"/>
                  </a:moveTo>
                  <a:cubicBezTo>
                    <a:pt x="198" y="117"/>
                    <a:pt x="194" y="132"/>
                    <a:pt x="185" y="148"/>
                  </a:cubicBezTo>
                  <a:cubicBezTo>
                    <a:pt x="176" y="164"/>
                    <a:pt x="165" y="175"/>
                    <a:pt x="149" y="184"/>
                  </a:cubicBezTo>
                  <a:cubicBezTo>
                    <a:pt x="134" y="193"/>
                    <a:pt x="117" y="197"/>
                    <a:pt x="99" y="197"/>
                  </a:cubicBezTo>
                  <a:cubicBezTo>
                    <a:pt x="81" y="197"/>
                    <a:pt x="66" y="193"/>
                    <a:pt x="50" y="184"/>
                  </a:cubicBezTo>
                  <a:cubicBezTo>
                    <a:pt x="35" y="175"/>
                    <a:pt x="24" y="164"/>
                    <a:pt x="14" y="148"/>
                  </a:cubicBezTo>
                  <a:cubicBezTo>
                    <a:pt x="5" y="132"/>
                    <a:pt x="0" y="116"/>
                    <a:pt x="0" y="98"/>
                  </a:cubicBezTo>
                  <a:cubicBezTo>
                    <a:pt x="0" y="79"/>
                    <a:pt x="5" y="65"/>
                    <a:pt x="14" y="49"/>
                  </a:cubicBezTo>
                  <a:cubicBezTo>
                    <a:pt x="24" y="33"/>
                    <a:pt x="35" y="22"/>
                    <a:pt x="50" y="13"/>
                  </a:cubicBezTo>
                  <a:cubicBezTo>
                    <a:pt x="66" y="4"/>
                    <a:pt x="81" y="0"/>
                    <a:pt x="99" y="0"/>
                  </a:cubicBezTo>
                  <a:cubicBezTo>
                    <a:pt x="117" y="0"/>
                    <a:pt x="134" y="4"/>
                    <a:pt x="149" y="13"/>
                  </a:cubicBezTo>
                  <a:cubicBezTo>
                    <a:pt x="165" y="22"/>
                    <a:pt x="176" y="33"/>
                    <a:pt x="185" y="49"/>
                  </a:cubicBezTo>
                  <a:cubicBezTo>
                    <a:pt x="194" y="65"/>
                    <a:pt x="198" y="80"/>
                    <a:pt x="198" y="98"/>
                  </a:cubicBezTo>
                </a:path>
              </a:pathLst>
            </a:custGeom>
            <a:noFill/>
            <a:ln w="15875" cap="flat">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1" name="Freeform 67">
              <a:extLst>
                <a:ext uri="{FF2B5EF4-FFF2-40B4-BE49-F238E27FC236}">
                  <a16:creationId xmlns:a16="http://schemas.microsoft.com/office/drawing/2014/main" id="{AFBDD71C-A0D7-3E7B-3DD9-4F416C1E9EC4}"/>
                </a:ext>
              </a:extLst>
            </p:cNvPr>
            <p:cNvSpPr>
              <a:spLocks noChangeArrowheads="1"/>
            </p:cNvSpPr>
            <p:nvPr/>
          </p:nvSpPr>
          <p:spPr bwMode="auto">
            <a:xfrm>
              <a:off x="11050107" y="659258"/>
              <a:ext cx="303714" cy="545890"/>
            </a:xfrm>
            <a:custGeom>
              <a:avLst/>
              <a:gdLst>
                <a:gd name="T0" fmla="*/ 0 w 676"/>
                <a:gd name="T1" fmla="*/ 164 h 1212"/>
                <a:gd name="T2" fmla="*/ 205 w 676"/>
                <a:gd name="T3" fmla="*/ 294 h 1212"/>
                <a:gd name="T4" fmla="*/ 212 w 676"/>
                <a:gd name="T5" fmla="*/ 295 h 1212"/>
                <a:gd name="T6" fmla="*/ 222 w 676"/>
                <a:gd name="T7" fmla="*/ 307 h 1212"/>
                <a:gd name="T8" fmla="*/ 222 w 676"/>
                <a:gd name="T9" fmla="*/ 1161 h 1212"/>
                <a:gd name="T10" fmla="*/ 272 w 676"/>
                <a:gd name="T11" fmla="*/ 1211 h 1212"/>
                <a:gd name="T12" fmla="*/ 321 w 676"/>
                <a:gd name="T13" fmla="*/ 1161 h 1212"/>
                <a:gd name="T14" fmla="*/ 321 w 676"/>
                <a:gd name="T15" fmla="*/ 742 h 1212"/>
                <a:gd name="T16" fmla="*/ 362 w 676"/>
                <a:gd name="T17" fmla="*/ 700 h 1212"/>
                <a:gd name="T18" fmla="*/ 403 w 676"/>
                <a:gd name="T19" fmla="*/ 742 h 1212"/>
                <a:gd name="T20" fmla="*/ 403 w 676"/>
                <a:gd name="T21" fmla="*/ 1161 h 1212"/>
                <a:gd name="T22" fmla="*/ 453 w 676"/>
                <a:gd name="T23" fmla="*/ 1211 h 1212"/>
                <a:gd name="T24" fmla="*/ 502 w 676"/>
                <a:gd name="T25" fmla="*/ 1161 h 1212"/>
                <a:gd name="T26" fmla="*/ 502 w 676"/>
                <a:gd name="T27" fmla="*/ 366 h 1212"/>
                <a:gd name="T28" fmla="*/ 505 w 676"/>
                <a:gd name="T29" fmla="*/ 361 h 1212"/>
                <a:gd name="T30" fmla="*/ 511 w 676"/>
                <a:gd name="T31" fmla="*/ 362 h 1212"/>
                <a:gd name="T32" fmla="*/ 576 w 676"/>
                <a:gd name="T33" fmla="*/ 519 h 1212"/>
                <a:gd name="T34" fmla="*/ 576 w 676"/>
                <a:gd name="T35" fmla="*/ 643 h 1212"/>
                <a:gd name="T36" fmla="*/ 626 w 676"/>
                <a:gd name="T37" fmla="*/ 692 h 1212"/>
                <a:gd name="T38" fmla="*/ 675 w 676"/>
                <a:gd name="T39" fmla="*/ 643 h 1212"/>
                <a:gd name="T40" fmla="*/ 675 w 676"/>
                <a:gd name="T41" fmla="*/ 511 h 1212"/>
                <a:gd name="T42" fmla="*/ 362 w 676"/>
                <a:gd name="T43" fmla="*/ 198 h 1212"/>
                <a:gd name="T44" fmla="*/ 247 w 676"/>
                <a:gd name="T45" fmla="*/ 198 h 1212"/>
                <a:gd name="T46" fmla="*/ 49 w 676"/>
                <a:gd name="T47" fmla="*/ 0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6" h="1212">
                  <a:moveTo>
                    <a:pt x="0" y="164"/>
                  </a:moveTo>
                  <a:cubicBezTo>
                    <a:pt x="46" y="233"/>
                    <a:pt x="119" y="281"/>
                    <a:pt x="205" y="294"/>
                  </a:cubicBezTo>
                  <a:cubicBezTo>
                    <a:pt x="207" y="294"/>
                    <a:pt x="210" y="295"/>
                    <a:pt x="212" y="295"/>
                  </a:cubicBezTo>
                  <a:cubicBezTo>
                    <a:pt x="218" y="295"/>
                    <a:pt x="222" y="301"/>
                    <a:pt x="222" y="307"/>
                  </a:cubicBezTo>
                  <a:cubicBezTo>
                    <a:pt x="222" y="592"/>
                    <a:pt x="222" y="876"/>
                    <a:pt x="222" y="1161"/>
                  </a:cubicBezTo>
                  <a:cubicBezTo>
                    <a:pt x="222" y="1189"/>
                    <a:pt x="244" y="1211"/>
                    <a:pt x="272" y="1211"/>
                  </a:cubicBezTo>
                  <a:cubicBezTo>
                    <a:pt x="299" y="1211"/>
                    <a:pt x="321" y="1189"/>
                    <a:pt x="321" y="1161"/>
                  </a:cubicBezTo>
                  <a:cubicBezTo>
                    <a:pt x="321" y="1021"/>
                    <a:pt x="321" y="882"/>
                    <a:pt x="321" y="742"/>
                  </a:cubicBezTo>
                  <a:cubicBezTo>
                    <a:pt x="321" y="719"/>
                    <a:pt x="339" y="700"/>
                    <a:pt x="362" y="700"/>
                  </a:cubicBezTo>
                  <a:cubicBezTo>
                    <a:pt x="385" y="700"/>
                    <a:pt x="403" y="719"/>
                    <a:pt x="403" y="742"/>
                  </a:cubicBezTo>
                  <a:cubicBezTo>
                    <a:pt x="403" y="882"/>
                    <a:pt x="403" y="1021"/>
                    <a:pt x="403" y="1161"/>
                  </a:cubicBezTo>
                  <a:cubicBezTo>
                    <a:pt x="403" y="1189"/>
                    <a:pt x="425" y="1211"/>
                    <a:pt x="453" y="1211"/>
                  </a:cubicBezTo>
                  <a:cubicBezTo>
                    <a:pt x="480" y="1211"/>
                    <a:pt x="502" y="1189"/>
                    <a:pt x="502" y="1161"/>
                  </a:cubicBezTo>
                  <a:cubicBezTo>
                    <a:pt x="502" y="896"/>
                    <a:pt x="502" y="631"/>
                    <a:pt x="502" y="366"/>
                  </a:cubicBezTo>
                  <a:cubicBezTo>
                    <a:pt x="502" y="364"/>
                    <a:pt x="503" y="362"/>
                    <a:pt x="505" y="361"/>
                  </a:cubicBezTo>
                  <a:cubicBezTo>
                    <a:pt x="507" y="360"/>
                    <a:pt x="510" y="361"/>
                    <a:pt x="511" y="362"/>
                  </a:cubicBezTo>
                  <a:cubicBezTo>
                    <a:pt x="553" y="404"/>
                    <a:pt x="576" y="460"/>
                    <a:pt x="576" y="519"/>
                  </a:cubicBezTo>
                  <a:cubicBezTo>
                    <a:pt x="576" y="560"/>
                    <a:pt x="576" y="602"/>
                    <a:pt x="576" y="643"/>
                  </a:cubicBezTo>
                  <a:cubicBezTo>
                    <a:pt x="576" y="670"/>
                    <a:pt x="598" y="692"/>
                    <a:pt x="626" y="692"/>
                  </a:cubicBezTo>
                  <a:cubicBezTo>
                    <a:pt x="653" y="692"/>
                    <a:pt x="675" y="670"/>
                    <a:pt x="675" y="643"/>
                  </a:cubicBezTo>
                  <a:cubicBezTo>
                    <a:pt x="675" y="599"/>
                    <a:pt x="675" y="555"/>
                    <a:pt x="675" y="511"/>
                  </a:cubicBezTo>
                  <a:cubicBezTo>
                    <a:pt x="675" y="339"/>
                    <a:pt x="535" y="198"/>
                    <a:pt x="362" y="198"/>
                  </a:cubicBezTo>
                  <a:cubicBezTo>
                    <a:pt x="324" y="198"/>
                    <a:pt x="285" y="198"/>
                    <a:pt x="247" y="198"/>
                  </a:cubicBezTo>
                  <a:cubicBezTo>
                    <a:pt x="138" y="198"/>
                    <a:pt x="49" y="109"/>
                    <a:pt x="49" y="0"/>
                  </a:cubicBezTo>
                </a:path>
              </a:pathLst>
            </a:custGeom>
            <a:noFill/>
            <a:ln w="15875" cap="flat">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91" name="TextBox 90">
            <a:extLst>
              <a:ext uri="{FF2B5EF4-FFF2-40B4-BE49-F238E27FC236}">
                <a16:creationId xmlns:a16="http://schemas.microsoft.com/office/drawing/2014/main" id="{43747EDC-E41C-EFCE-D95D-081B29CFDF8E}"/>
              </a:ext>
            </a:extLst>
          </p:cNvPr>
          <p:cNvSpPr txBox="1"/>
          <p:nvPr/>
        </p:nvSpPr>
        <p:spPr>
          <a:xfrm>
            <a:off x="1761774" y="1129135"/>
            <a:ext cx="120577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Initiation </a:t>
            </a:r>
          </a:p>
        </p:txBody>
      </p:sp>
      <p:sp>
        <p:nvSpPr>
          <p:cNvPr id="93" name="Rounded Rectangle 92">
            <a:extLst>
              <a:ext uri="{FF2B5EF4-FFF2-40B4-BE49-F238E27FC236}">
                <a16:creationId xmlns:a16="http://schemas.microsoft.com/office/drawing/2014/main" id="{8E83241B-72B5-2780-2550-59AA1A883533}"/>
              </a:ext>
            </a:extLst>
          </p:cNvPr>
          <p:cNvSpPr/>
          <p:nvPr/>
        </p:nvSpPr>
        <p:spPr>
          <a:xfrm>
            <a:off x="1249497" y="1518988"/>
            <a:ext cx="2017686" cy="973157"/>
          </a:xfrm>
          <a:prstGeom prst="roundRect">
            <a:avLst/>
          </a:prstGeom>
          <a:noFill/>
          <a:ln w="34925" cap="rnd" cmpd="dbl">
            <a:solidFill>
              <a:schemeClr val="accent5">
                <a:lumMod val="50000"/>
              </a:schemeClr>
            </a:solidFill>
            <a:prstDash val="lgDashDotDot"/>
            <a:extLst>
              <a:ext uri="{C807C97D-BFC1-408E-A445-0C87EB9F89A2}">
                <ask:lineSketchStyleProps xmlns:ask="http://schemas.microsoft.com/office/drawing/2018/sketchyshapes" sd="981765707">
                  <a:custGeom>
                    <a:avLst/>
                    <a:gdLst>
                      <a:gd name="connsiteX0" fmla="*/ 0 w 3891201"/>
                      <a:gd name="connsiteY0" fmla="*/ 211840 h 1271016"/>
                      <a:gd name="connsiteX1" fmla="*/ 211840 w 3891201"/>
                      <a:gd name="connsiteY1" fmla="*/ 0 h 1271016"/>
                      <a:gd name="connsiteX2" fmla="*/ 789760 w 3891201"/>
                      <a:gd name="connsiteY2" fmla="*/ 0 h 1271016"/>
                      <a:gd name="connsiteX3" fmla="*/ 1437031 w 3891201"/>
                      <a:gd name="connsiteY3" fmla="*/ 0 h 1271016"/>
                      <a:gd name="connsiteX4" fmla="*/ 2084301 w 3891201"/>
                      <a:gd name="connsiteY4" fmla="*/ 0 h 1271016"/>
                      <a:gd name="connsiteX5" fmla="*/ 2592871 w 3891201"/>
                      <a:gd name="connsiteY5" fmla="*/ 0 h 1271016"/>
                      <a:gd name="connsiteX6" fmla="*/ 3066766 w 3891201"/>
                      <a:gd name="connsiteY6" fmla="*/ 0 h 1271016"/>
                      <a:gd name="connsiteX7" fmla="*/ 3679361 w 3891201"/>
                      <a:gd name="connsiteY7" fmla="*/ 0 h 1271016"/>
                      <a:gd name="connsiteX8" fmla="*/ 3891201 w 3891201"/>
                      <a:gd name="connsiteY8" fmla="*/ 211840 h 1271016"/>
                      <a:gd name="connsiteX9" fmla="*/ 3891201 w 3891201"/>
                      <a:gd name="connsiteY9" fmla="*/ 627035 h 1271016"/>
                      <a:gd name="connsiteX10" fmla="*/ 3891201 w 3891201"/>
                      <a:gd name="connsiteY10" fmla="*/ 1059176 h 1271016"/>
                      <a:gd name="connsiteX11" fmla="*/ 3679361 w 3891201"/>
                      <a:gd name="connsiteY11" fmla="*/ 1271016 h 1271016"/>
                      <a:gd name="connsiteX12" fmla="*/ 3066766 w 3891201"/>
                      <a:gd name="connsiteY12" fmla="*/ 1271016 h 1271016"/>
                      <a:gd name="connsiteX13" fmla="*/ 2523521 w 3891201"/>
                      <a:gd name="connsiteY13" fmla="*/ 1271016 h 1271016"/>
                      <a:gd name="connsiteX14" fmla="*/ 1910925 w 3891201"/>
                      <a:gd name="connsiteY14" fmla="*/ 1271016 h 1271016"/>
                      <a:gd name="connsiteX15" fmla="*/ 1263655 w 3891201"/>
                      <a:gd name="connsiteY15" fmla="*/ 1271016 h 1271016"/>
                      <a:gd name="connsiteX16" fmla="*/ 211840 w 3891201"/>
                      <a:gd name="connsiteY16" fmla="*/ 1271016 h 1271016"/>
                      <a:gd name="connsiteX17" fmla="*/ 0 w 3891201"/>
                      <a:gd name="connsiteY17" fmla="*/ 1059176 h 1271016"/>
                      <a:gd name="connsiteX18" fmla="*/ 0 w 3891201"/>
                      <a:gd name="connsiteY18" fmla="*/ 652455 h 1271016"/>
                      <a:gd name="connsiteX19" fmla="*/ 0 w 3891201"/>
                      <a:gd name="connsiteY19" fmla="*/ 211840 h 127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91201" h="1271016" extrusionOk="0">
                        <a:moveTo>
                          <a:pt x="0" y="211840"/>
                        </a:moveTo>
                        <a:cubicBezTo>
                          <a:pt x="-1724" y="97869"/>
                          <a:pt x="85073" y="-4035"/>
                          <a:pt x="211840" y="0"/>
                        </a:cubicBezTo>
                        <a:cubicBezTo>
                          <a:pt x="352813" y="-66347"/>
                          <a:pt x="644289" y="64141"/>
                          <a:pt x="789760" y="0"/>
                        </a:cubicBezTo>
                        <a:cubicBezTo>
                          <a:pt x="935231" y="-64141"/>
                          <a:pt x="1135764" y="36819"/>
                          <a:pt x="1437031" y="0"/>
                        </a:cubicBezTo>
                        <a:cubicBezTo>
                          <a:pt x="1738298" y="-36819"/>
                          <a:pt x="1919312" y="25"/>
                          <a:pt x="2084301" y="0"/>
                        </a:cubicBezTo>
                        <a:cubicBezTo>
                          <a:pt x="2249290" y="-25"/>
                          <a:pt x="2412211" y="24788"/>
                          <a:pt x="2592871" y="0"/>
                        </a:cubicBezTo>
                        <a:cubicBezTo>
                          <a:pt x="2773531" y="-24788"/>
                          <a:pt x="2963621" y="44805"/>
                          <a:pt x="3066766" y="0"/>
                        </a:cubicBezTo>
                        <a:cubicBezTo>
                          <a:pt x="3169912" y="-44805"/>
                          <a:pt x="3497062" y="44876"/>
                          <a:pt x="3679361" y="0"/>
                        </a:cubicBezTo>
                        <a:cubicBezTo>
                          <a:pt x="3821363" y="3626"/>
                          <a:pt x="3878954" y="89255"/>
                          <a:pt x="3891201" y="211840"/>
                        </a:cubicBezTo>
                        <a:cubicBezTo>
                          <a:pt x="3920093" y="301511"/>
                          <a:pt x="3842349" y="475407"/>
                          <a:pt x="3891201" y="627035"/>
                        </a:cubicBezTo>
                        <a:cubicBezTo>
                          <a:pt x="3940053" y="778664"/>
                          <a:pt x="3863357" y="934958"/>
                          <a:pt x="3891201" y="1059176"/>
                        </a:cubicBezTo>
                        <a:cubicBezTo>
                          <a:pt x="3868850" y="1182099"/>
                          <a:pt x="3789568" y="1249049"/>
                          <a:pt x="3679361" y="1271016"/>
                        </a:cubicBezTo>
                        <a:cubicBezTo>
                          <a:pt x="3519371" y="1276183"/>
                          <a:pt x="3229389" y="1233492"/>
                          <a:pt x="3066766" y="1271016"/>
                        </a:cubicBezTo>
                        <a:cubicBezTo>
                          <a:pt x="2904143" y="1308540"/>
                          <a:pt x="2785129" y="1263928"/>
                          <a:pt x="2523521" y="1271016"/>
                        </a:cubicBezTo>
                        <a:cubicBezTo>
                          <a:pt x="2261914" y="1278104"/>
                          <a:pt x="2153174" y="1239646"/>
                          <a:pt x="1910925" y="1271016"/>
                        </a:cubicBezTo>
                        <a:cubicBezTo>
                          <a:pt x="1668676" y="1302386"/>
                          <a:pt x="1513616" y="1267310"/>
                          <a:pt x="1263655" y="1271016"/>
                        </a:cubicBezTo>
                        <a:cubicBezTo>
                          <a:pt x="1013694" y="1274722"/>
                          <a:pt x="608536" y="1219037"/>
                          <a:pt x="211840" y="1271016"/>
                        </a:cubicBezTo>
                        <a:cubicBezTo>
                          <a:pt x="77910" y="1284644"/>
                          <a:pt x="25439" y="1186323"/>
                          <a:pt x="0" y="1059176"/>
                        </a:cubicBezTo>
                        <a:cubicBezTo>
                          <a:pt x="-36452" y="957017"/>
                          <a:pt x="48746" y="797152"/>
                          <a:pt x="0" y="652455"/>
                        </a:cubicBezTo>
                        <a:cubicBezTo>
                          <a:pt x="-48746" y="507758"/>
                          <a:pt x="1772" y="362414"/>
                          <a:pt x="0" y="21184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329" name="TextBox 328">
            <a:extLst>
              <a:ext uri="{FF2B5EF4-FFF2-40B4-BE49-F238E27FC236}">
                <a16:creationId xmlns:a16="http://schemas.microsoft.com/office/drawing/2014/main" id="{D4F94F47-D248-BF2E-B9D9-637CB1624F42}"/>
              </a:ext>
            </a:extLst>
          </p:cNvPr>
          <p:cNvSpPr txBox="1"/>
          <p:nvPr/>
        </p:nvSpPr>
        <p:spPr>
          <a:xfrm>
            <a:off x="1276046" y="2530973"/>
            <a:ext cx="2620271" cy="1113125"/>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Customer Kick Off</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Scope Review</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Business Overview</a:t>
            </a:r>
          </a:p>
          <a:p>
            <a:pPr marL="400050" marR="0" lvl="2" indent="-171450" algn="l" defTabSz="457200" rtl="0" eaLnBrk="1" fontAlgn="auto" latinLnBrk="0" hangingPunct="1">
              <a:lnSpc>
                <a:spcPct val="100000"/>
              </a:lnSpc>
              <a:spcBef>
                <a:spcPts val="0"/>
              </a:spcBef>
              <a:spcAft>
                <a:spcPts val="200"/>
              </a:spcAft>
              <a:buClr>
                <a:srgbClr val="EB0000"/>
              </a:buClr>
              <a:buSzPct val="100000"/>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Arial" charset="0"/>
                <a:cs typeface="Arial" charset="0"/>
              </a:rPr>
              <a:t>Drivers</a:t>
            </a:r>
          </a:p>
          <a:p>
            <a:pPr marL="400050" marR="0" lvl="2" indent="-171450" algn="l" defTabSz="457200" rtl="0" eaLnBrk="1" fontAlgn="auto" latinLnBrk="0" hangingPunct="1">
              <a:lnSpc>
                <a:spcPct val="100000"/>
              </a:lnSpc>
              <a:spcBef>
                <a:spcPts val="0"/>
              </a:spcBef>
              <a:spcAft>
                <a:spcPts val="200"/>
              </a:spcAft>
              <a:buClr>
                <a:srgbClr val="EB0000"/>
              </a:buClr>
              <a:buSzPct val="100000"/>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Arial" charset="0"/>
                <a:cs typeface="Arial" charset="0"/>
              </a:rPr>
              <a:t>Objectives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Workshop Planning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Tooling Partner Kick Off</a:t>
            </a:r>
          </a:p>
        </p:txBody>
      </p:sp>
      <p:sp>
        <p:nvSpPr>
          <p:cNvPr id="92" name="TextBox 91">
            <a:extLst>
              <a:ext uri="{FF2B5EF4-FFF2-40B4-BE49-F238E27FC236}">
                <a16:creationId xmlns:a16="http://schemas.microsoft.com/office/drawing/2014/main" id="{9AF357D7-8457-0335-A1A5-91606CDCAA8E}"/>
              </a:ext>
            </a:extLst>
          </p:cNvPr>
          <p:cNvSpPr txBox="1"/>
          <p:nvPr/>
        </p:nvSpPr>
        <p:spPr>
          <a:xfrm>
            <a:off x="8662608" y="1107086"/>
            <a:ext cx="11945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Discovery</a:t>
            </a:r>
          </a:p>
        </p:txBody>
      </p:sp>
      <p:sp>
        <p:nvSpPr>
          <p:cNvPr id="96" name="Rounded Rectangle 95">
            <a:extLst>
              <a:ext uri="{FF2B5EF4-FFF2-40B4-BE49-F238E27FC236}">
                <a16:creationId xmlns:a16="http://schemas.microsoft.com/office/drawing/2014/main" id="{9A03CBB1-DFC0-4EB1-C27B-E2041927F40E}"/>
              </a:ext>
            </a:extLst>
          </p:cNvPr>
          <p:cNvSpPr/>
          <p:nvPr/>
        </p:nvSpPr>
        <p:spPr>
          <a:xfrm>
            <a:off x="4307117" y="1508102"/>
            <a:ext cx="6888062" cy="973157"/>
          </a:xfrm>
          <a:prstGeom prst="roundRect">
            <a:avLst/>
          </a:prstGeom>
          <a:solidFill>
            <a:schemeClr val="tx1"/>
          </a:solidFill>
          <a:ln w="34925" cap="rnd" cmpd="dbl">
            <a:gradFill flip="none" rotWithShape="1">
              <a:gsLst>
                <a:gs pos="0">
                  <a:srgbClr val="FFC000"/>
                </a:gs>
                <a:gs pos="86000">
                  <a:srgbClr val="C00000"/>
                </a:gs>
              </a:gsLst>
              <a:lin ang="0" scaled="1"/>
              <a:tileRect/>
            </a:gradFill>
            <a:prstDash val="lgDashDotDot"/>
            <a:extLst>
              <a:ext uri="{C807C97D-BFC1-408E-A445-0C87EB9F89A2}">
                <ask:lineSketchStyleProps xmlns:ask="http://schemas.microsoft.com/office/drawing/2018/sketchyshapes" sd="981765707">
                  <a:custGeom>
                    <a:avLst/>
                    <a:gdLst>
                      <a:gd name="connsiteX0" fmla="*/ 0 w 3891201"/>
                      <a:gd name="connsiteY0" fmla="*/ 211840 h 1271016"/>
                      <a:gd name="connsiteX1" fmla="*/ 211840 w 3891201"/>
                      <a:gd name="connsiteY1" fmla="*/ 0 h 1271016"/>
                      <a:gd name="connsiteX2" fmla="*/ 789760 w 3891201"/>
                      <a:gd name="connsiteY2" fmla="*/ 0 h 1271016"/>
                      <a:gd name="connsiteX3" fmla="*/ 1437031 w 3891201"/>
                      <a:gd name="connsiteY3" fmla="*/ 0 h 1271016"/>
                      <a:gd name="connsiteX4" fmla="*/ 2084301 w 3891201"/>
                      <a:gd name="connsiteY4" fmla="*/ 0 h 1271016"/>
                      <a:gd name="connsiteX5" fmla="*/ 2592871 w 3891201"/>
                      <a:gd name="connsiteY5" fmla="*/ 0 h 1271016"/>
                      <a:gd name="connsiteX6" fmla="*/ 3066766 w 3891201"/>
                      <a:gd name="connsiteY6" fmla="*/ 0 h 1271016"/>
                      <a:gd name="connsiteX7" fmla="*/ 3679361 w 3891201"/>
                      <a:gd name="connsiteY7" fmla="*/ 0 h 1271016"/>
                      <a:gd name="connsiteX8" fmla="*/ 3891201 w 3891201"/>
                      <a:gd name="connsiteY8" fmla="*/ 211840 h 1271016"/>
                      <a:gd name="connsiteX9" fmla="*/ 3891201 w 3891201"/>
                      <a:gd name="connsiteY9" fmla="*/ 627035 h 1271016"/>
                      <a:gd name="connsiteX10" fmla="*/ 3891201 w 3891201"/>
                      <a:gd name="connsiteY10" fmla="*/ 1059176 h 1271016"/>
                      <a:gd name="connsiteX11" fmla="*/ 3679361 w 3891201"/>
                      <a:gd name="connsiteY11" fmla="*/ 1271016 h 1271016"/>
                      <a:gd name="connsiteX12" fmla="*/ 3066766 w 3891201"/>
                      <a:gd name="connsiteY12" fmla="*/ 1271016 h 1271016"/>
                      <a:gd name="connsiteX13" fmla="*/ 2523521 w 3891201"/>
                      <a:gd name="connsiteY13" fmla="*/ 1271016 h 1271016"/>
                      <a:gd name="connsiteX14" fmla="*/ 1910925 w 3891201"/>
                      <a:gd name="connsiteY14" fmla="*/ 1271016 h 1271016"/>
                      <a:gd name="connsiteX15" fmla="*/ 1263655 w 3891201"/>
                      <a:gd name="connsiteY15" fmla="*/ 1271016 h 1271016"/>
                      <a:gd name="connsiteX16" fmla="*/ 211840 w 3891201"/>
                      <a:gd name="connsiteY16" fmla="*/ 1271016 h 1271016"/>
                      <a:gd name="connsiteX17" fmla="*/ 0 w 3891201"/>
                      <a:gd name="connsiteY17" fmla="*/ 1059176 h 1271016"/>
                      <a:gd name="connsiteX18" fmla="*/ 0 w 3891201"/>
                      <a:gd name="connsiteY18" fmla="*/ 652455 h 1271016"/>
                      <a:gd name="connsiteX19" fmla="*/ 0 w 3891201"/>
                      <a:gd name="connsiteY19" fmla="*/ 211840 h 127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91201" h="1271016" extrusionOk="0">
                        <a:moveTo>
                          <a:pt x="0" y="211840"/>
                        </a:moveTo>
                        <a:cubicBezTo>
                          <a:pt x="-1724" y="97869"/>
                          <a:pt x="85073" y="-4035"/>
                          <a:pt x="211840" y="0"/>
                        </a:cubicBezTo>
                        <a:cubicBezTo>
                          <a:pt x="352813" y="-66347"/>
                          <a:pt x="644289" y="64141"/>
                          <a:pt x="789760" y="0"/>
                        </a:cubicBezTo>
                        <a:cubicBezTo>
                          <a:pt x="935231" y="-64141"/>
                          <a:pt x="1135764" y="36819"/>
                          <a:pt x="1437031" y="0"/>
                        </a:cubicBezTo>
                        <a:cubicBezTo>
                          <a:pt x="1738298" y="-36819"/>
                          <a:pt x="1919312" y="25"/>
                          <a:pt x="2084301" y="0"/>
                        </a:cubicBezTo>
                        <a:cubicBezTo>
                          <a:pt x="2249290" y="-25"/>
                          <a:pt x="2412211" y="24788"/>
                          <a:pt x="2592871" y="0"/>
                        </a:cubicBezTo>
                        <a:cubicBezTo>
                          <a:pt x="2773531" y="-24788"/>
                          <a:pt x="2963621" y="44805"/>
                          <a:pt x="3066766" y="0"/>
                        </a:cubicBezTo>
                        <a:cubicBezTo>
                          <a:pt x="3169912" y="-44805"/>
                          <a:pt x="3497062" y="44876"/>
                          <a:pt x="3679361" y="0"/>
                        </a:cubicBezTo>
                        <a:cubicBezTo>
                          <a:pt x="3821363" y="3626"/>
                          <a:pt x="3878954" y="89255"/>
                          <a:pt x="3891201" y="211840"/>
                        </a:cubicBezTo>
                        <a:cubicBezTo>
                          <a:pt x="3920093" y="301511"/>
                          <a:pt x="3842349" y="475407"/>
                          <a:pt x="3891201" y="627035"/>
                        </a:cubicBezTo>
                        <a:cubicBezTo>
                          <a:pt x="3940053" y="778664"/>
                          <a:pt x="3863357" y="934958"/>
                          <a:pt x="3891201" y="1059176"/>
                        </a:cubicBezTo>
                        <a:cubicBezTo>
                          <a:pt x="3868850" y="1182099"/>
                          <a:pt x="3789568" y="1249049"/>
                          <a:pt x="3679361" y="1271016"/>
                        </a:cubicBezTo>
                        <a:cubicBezTo>
                          <a:pt x="3519371" y="1276183"/>
                          <a:pt x="3229389" y="1233492"/>
                          <a:pt x="3066766" y="1271016"/>
                        </a:cubicBezTo>
                        <a:cubicBezTo>
                          <a:pt x="2904143" y="1308540"/>
                          <a:pt x="2785129" y="1263928"/>
                          <a:pt x="2523521" y="1271016"/>
                        </a:cubicBezTo>
                        <a:cubicBezTo>
                          <a:pt x="2261914" y="1278104"/>
                          <a:pt x="2153174" y="1239646"/>
                          <a:pt x="1910925" y="1271016"/>
                        </a:cubicBezTo>
                        <a:cubicBezTo>
                          <a:pt x="1668676" y="1302386"/>
                          <a:pt x="1513616" y="1267310"/>
                          <a:pt x="1263655" y="1271016"/>
                        </a:cubicBezTo>
                        <a:cubicBezTo>
                          <a:pt x="1013694" y="1274722"/>
                          <a:pt x="608536" y="1219037"/>
                          <a:pt x="211840" y="1271016"/>
                        </a:cubicBezTo>
                        <a:cubicBezTo>
                          <a:pt x="77910" y="1284644"/>
                          <a:pt x="25439" y="1186323"/>
                          <a:pt x="0" y="1059176"/>
                        </a:cubicBezTo>
                        <a:cubicBezTo>
                          <a:pt x="-36452" y="957017"/>
                          <a:pt x="48746" y="797152"/>
                          <a:pt x="0" y="652455"/>
                        </a:cubicBezTo>
                        <a:cubicBezTo>
                          <a:pt x="-48746" y="507758"/>
                          <a:pt x="1772" y="362414"/>
                          <a:pt x="0" y="21184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103" name="Rounded Rectangle 102">
            <a:extLst>
              <a:ext uri="{FF2B5EF4-FFF2-40B4-BE49-F238E27FC236}">
                <a16:creationId xmlns:a16="http://schemas.microsoft.com/office/drawing/2014/main" id="{D3BD1861-3498-D3F4-CA79-2097DCB4E829}"/>
              </a:ext>
            </a:extLst>
          </p:cNvPr>
          <p:cNvSpPr/>
          <p:nvPr/>
        </p:nvSpPr>
        <p:spPr>
          <a:xfrm>
            <a:off x="5383503" y="4275359"/>
            <a:ext cx="3957340" cy="973157"/>
          </a:xfrm>
          <a:prstGeom prst="roundRect">
            <a:avLst/>
          </a:prstGeom>
          <a:noFill/>
          <a:ln w="34925" cap="rnd" cmpd="dbl">
            <a:solidFill>
              <a:srgbClr val="00B050"/>
            </a:solidFill>
            <a:prstDash val="lgDashDotDot"/>
            <a:extLst>
              <a:ext uri="{C807C97D-BFC1-408E-A445-0C87EB9F89A2}">
                <ask:lineSketchStyleProps xmlns:ask="http://schemas.microsoft.com/office/drawing/2018/sketchyshapes" sd="981765707">
                  <a:custGeom>
                    <a:avLst/>
                    <a:gdLst>
                      <a:gd name="connsiteX0" fmla="*/ 0 w 3891201"/>
                      <a:gd name="connsiteY0" fmla="*/ 211840 h 1271016"/>
                      <a:gd name="connsiteX1" fmla="*/ 211840 w 3891201"/>
                      <a:gd name="connsiteY1" fmla="*/ 0 h 1271016"/>
                      <a:gd name="connsiteX2" fmla="*/ 789760 w 3891201"/>
                      <a:gd name="connsiteY2" fmla="*/ 0 h 1271016"/>
                      <a:gd name="connsiteX3" fmla="*/ 1437031 w 3891201"/>
                      <a:gd name="connsiteY3" fmla="*/ 0 h 1271016"/>
                      <a:gd name="connsiteX4" fmla="*/ 2084301 w 3891201"/>
                      <a:gd name="connsiteY4" fmla="*/ 0 h 1271016"/>
                      <a:gd name="connsiteX5" fmla="*/ 2592871 w 3891201"/>
                      <a:gd name="connsiteY5" fmla="*/ 0 h 1271016"/>
                      <a:gd name="connsiteX6" fmla="*/ 3066766 w 3891201"/>
                      <a:gd name="connsiteY6" fmla="*/ 0 h 1271016"/>
                      <a:gd name="connsiteX7" fmla="*/ 3679361 w 3891201"/>
                      <a:gd name="connsiteY7" fmla="*/ 0 h 1271016"/>
                      <a:gd name="connsiteX8" fmla="*/ 3891201 w 3891201"/>
                      <a:gd name="connsiteY8" fmla="*/ 211840 h 1271016"/>
                      <a:gd name="connsiteX9" fmla="*/ 3891201 w 3891201"/>
                      <a:gd name="connsiteY9" fmla="*/ 627035 h 1271016"/>
                      <a:gd name="connsiteX10" fmla="*/ 3891201 w 3891201"/>
                      <a:gd name="connsiteY10" fmla="*/ 1059176 h 1271016"/>
                      <a:gd name="connsiteX11" fmla="*/ 3679361 w 3891201"/>
                      <a:gd name="connsiteY11" fmla="*/ 1271016 h 1271016"/>
                      <a:gd name="connsiteX12" fmla="*/ 3066766 w 3891201"/>
                      <a:gd name="connsiteY12" fmla="*/ 1271016 h 1271016"/>
                      <a:gd name="connsiteX13" fmla="*/ 2523521 w 3891201"/>
                      <a:gd name="connsiteY13" fmla="*/ 1271016 h 1271016"/>
                      <a:gd name="connsiteX14" fmla="*/ 1910925 w 3891201"/>
                      <a:gd name="connsiteY14" fmla="*/ 1271016 h 1271016"/>
                      <a:gd name="connsiteX15" fmla="*/ 1263655 w 3891201"/>
                      <a:gd name="connsiteY15" fmla="*/ 1271016 h 1271016"/>
                      <a:gd name="connsiteX16" fmla="*/ 211840 w 3891201"/>
                      <a:gd name="connsiteY16" fmla="*/ 1271016 h 1271016"/>
                      <a:gd name="connsiteX17" fmla="*/ 0 w 3891201"/>
                      <a:gd name="connsiteY17" fmla="*/ 1059176 h 1271016"/>
                      <a:gd name="connsiteX18" fmla="*/ 0 w 3891201"/>
                      <a:gd name="connsiteY18" fmla="*/ 652455 h 1271016"/>
                      <a:gd name="connsiteX19" fmla="*/ 0 w 3891201"/>
                      <a:gd name="connsiteY19" fmla="*/ 211840 h 127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91201" h="1271016" extrusionOk="0">
                        <a:moveTo>
                          <a:pt x="0" y="211840"/>
                        </a:moveTo>
                        <a:cubicBezTo>
                          <a:pt x="-1724" y="97869"/>
                          <a:pt x="85073" y="-4035"/>
                          <a:pt x="211840" y="0"/>
                        </a:cubicBezTo>
                        <a:cubicBezTo>
                          <a:pt x="352813" y="-66347"/>
                          <a:pt x="644289" y="64141"/>
                          <a:pt x="789760" y="0"/>
                        </a:cubicBezTo>
                        <a:cubicBezTo>
                          <a:pt x="935231" y="-64141"/>
                          <a:pt x="1135764" y="36819"/>
                          <a:pt x="1437031" y="0"/>
                        </a:cubicBezTo>
                        <a:cubicBezTo>
                          <a:pt x="1738298" y="-36819"/>
                          <a:pt x="1919312" y="25"/>
                          <a:pt x="2084301" y="0"/>
                        </a:cubicBezTo>
                        <a:cubicBezTo>
                          <a:pt x="2249290" y="-25"/>
                          <a:pt x="2412211" y="24788"/>
                          <a:pt x="2592871" y="0"/>
                        </a:cubicBezTo>
                        <a:cubicBezTo>
                          <a:pt x="2773531" y="-24788"/>
                          <a:pt x="2963621" y="44805"/>
                          <a:pt x="3066766" y="0"/>
                        </a:cubicBezTo>
                        <a:cubicBezTo>
                          <a:pt x="3169912" y="-44805"/>
                          <a:pt x="3497062" y="44876"/>
                          <a:pt x="3679361" y="0"/>
                        </a:cubicBezTo>
                        <a:cubicBezTo>
                          <a:pt x="3821363" y="3626"/>
                          <a:pt x="3878954" y="89255"/>
                          <a:pt x="3891201" y="211840"/>
                        </a:cubicBezTo>
                        <a:cubicBezTo>
                          <a:pt x="3920093" y="301511"/>
                          <a:pt x="3842349" y="475407"/>
                          <a:pt x="3891201" y="627035"/>
                        </a:cubicBezTo>
                        <a:cubicBezTo>
                          <a:pt x="3940053" y="778664"/>
                          <a:pt x="3863357" y="934958"/>
                          <a:pt x="3891201" y="1059176"/>
                        </a:cubicBezTo>
                        <a:cubicBezTo>
                          <a:pt x="3868850" y="1182099"/>
                          <a:pt x="3789568" y="1249049"/>
                          <a:pt x="3679361" y="1271016"/>
                        </a:cubicBezTo>
                        <a:cubicBezTo>
                          <a:pt x="3519371" y="1276183"/>
                          <a:pt x="3229389" y="1233492"/>
                          <a:pt x="3066766" y="1271016"/>
                        </a:cubicBezTo>
                        <a:cubicBezTo>
                          <a:pt x="2904143" y="1308540"/>
                          <a:pt x="2785129" y="1263928"/>
                          <a:pt x="2523521" y="1271016"/>
                        </a:cubicBezTo>
                        <a:cubicBezTo>
                          <a:pt x="2261914" y="1278104"/>
                          <a:pt x="2153174" y="1239646"/>
                          <a:pt x="1910925" y="1271016"/>
                        </a:cubicBezTo>
                        <a:cubicBezTo>
                          <a:pt x="1668676" y="1302386"/>
                          <a:pt x="1513616" y="1267310"/>
                          <a:pt x="1263655" y="1271016"/>
                        </a:cubicBezTo>
                        <a:cubicBezTo>
                          <a:pt x="1013694" y="1274722"/>
                          <a:pt x="608536" y="1219037"/>
                          <a:pt x="211840" y="1271016"/>
                        </a:cubicBezTo>
                        <a:cubicBezTo>
                          <a:pt x="77910" y="1284644"/>
                          <a:pt x="25439" y="1186323"/>
                          <a:pt x="0" y="1059176"/>
                        </a:cubicBezTo>
                        <a:cubicBezTo>
                          <a:pt x="-36452" y="957017"/>
                          <a:pt x="48746" y="797152"/>
                          <a:pt x="0" y="652455"/>
                        </a:cubicBezTo>
                        <a:cubicBezTo>
                          <a:pt x="-48746" y="507758"/>
                          <a:pt x="1772" y="362414"/>
                          <a:pt x="0" y="21184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104" name="TextBox 103">
            <a:extLst>
              <a:ext uri="{FF2B5EF4-FFF2-40B4-BE49-F238E27FC236}">
                <a16:creationId xmlns:a16="http://schemas.microsoft.com/office/drawing/2014/main" id="{40BE186E-8419-6094-DFFA-5C5DC4E2F341}"/>
              </a:ext>
            </a:extLst>
          </p:cNvPr>
          <p:cNvSpPr txBox="1"/>
          <p:nvPr/>
        </p:nvSpPr>
        <p:spPr>
          <a:xfrm>
            <a:off x="6880028" y="3894720"/>
            <a:ext cx="121219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Showcase</a:t>
            </a:r>
          </a:p>
        </p:txBody>
      </p:sp>
      <p:grpSp>
        <p:nvGrpSpPr>
          <p:cNvPr id="106" name="Group 105">
            <a:extLst>
              <a:ext uri="{FF2B5EF4-FFF2-40B4-BE49-F238E27FC236}">
                <a16:creationId xmlns:a16="http://schemas.microsoft.com/office/drawing/2014/main" id="{823AFC7C-2049-A8BC-11C2-C43FB3001F87}"/>
              </a:ext>
            </a:extLst>
          </p:cNvPr>
          <p:cNvGrpSpPr/>
          <p:nvPr/>
        </p:nvGrpSpPr>
        <p:grpSpPr>
          <a:xfrm>
            <a:off x="1182256" y="3933007"/>
            <a:ext cx="2456638" cy="1840155"/>
            <a:chOff x="7916619" y="3669768"/>
            <a:chExt cx="2456638" cy="1840155"/>
          </a:xfrm>
        </p:grpSpPr>
        <p:sp>
          <p:nvSpPr>
            <p:cNvPr id="315" name="Rectangle 314">
              <a:extLst>
                <a:ext uri="{FF2B5EF4-FFF2-40B4-BE49-F238E27FC236}">
                  <a16:creationId xmlns:a16="http://schemas.microsoft.com/office/drawing/2014/main" id="{12E3D8B0-6292-727B-8F20-2EE6052131EB}"/>
                </a:ext>
              </a:extLst>
            </p:cNvPr>
            <p:cNvSpPr/>
            <p:nvPr/>
          </p:nvSpPr>
          <p:spPr>
            <a:xfrm>
              <a:off x="8598965" y="4727595"/>
              <a:ext cx="376706" cy="184666"/>
            </a:xfrm>
            <a:prstGeom prst="rect">
              <a:avLst/>
            </a:prstGeom>
            <a:noFill/>
            <a:ln>
              <a:noFill/>
            </a:ln>
          </p:spPr>
          <p:txBody>
            <a:bodyPr wrap="none" lIns="0" tIns="0" rIns="0" bIns="0">
              <a:spAutoFit/>
            </a:bodyPr>
            <a:lstStyle/>
            <a:p>
              <a:pPr marL="0" marR="0" lvl="0" indent="0" algn="ctr" defTabSz="457200" rtl="0" eaLnBrk="1" fontAlgn="auto" latinLnBrk="0" hangingPunct="1">
                <a:lnSpc>
                  <a:spcPct val="100000"/>
                </a:lnSpc>
                <a:spcBef>
                  <a:spcPts val="600"/>
                </a:spcBef>
                <a:spcAft>
                  <a:spcPts val="0"/>
                </a:spcAft>
                <a:buClr>
                  <a:srgbClr val="C40022"/>
                </a:buClr>
                <a:buSzTx/>
                <a:buFontTx/>
                <a:buNone/>
                <a:tabLst/>
                <a:defRPr/>
              </a:pPr>
              <a:r>
                <a:rPr kumimoji="0" lang="en-US" sz="1200" b="0" i="0" u="none" strike="noStrike" kern="1200" cap="none" spc="0" normalizeH="0" baseline="0" noProof="0">
                  <a:ln>
                    <a:noFill/>
                  </a:ln>
                  <a:solidFill>
                    <a:prstClr val="white"/>
                  </a:solidFill>
                  <a:effectLst/>
                  <a:uLnTx/>
                  <a:uFillTx/>
                  <a:latin typeface="Fira Sans" panose="020B0503050000020004" pitchFamily="34" charset="0"/>
                  <a:ea typeface="+mn-ea"/>
                  <a:cs typeface="+mn-cs"/>
                  <a:sym typeface="Arial"/>
                </a:rPr>
                <a:t>Close</a:t>
              </a:r>
            </a:p>
          </p:txBody>
        </p:sp>
        <p:grpSp>
          <p:nvGrpSpPr>
            <p:cNvPr id="316" name="Group 315">
              <a:extLst>
                <a:ext uri="{FF2B5EF4-FFF2-40B4-BE49-F238E27FC236}">
                  <a16:creationId xmlns:a16="http://schemas.microsoft.com/office/drawing/2014/main" id="{B04EA0AC-0A3D-3CBA-C952-AC008271A40A}"/>
                </a:ext>
              </a:extLst>
            </p:cNvPr>
            <p:cNvGrpSpPr/>
            <p:nvPr/>
          </p:nvGrpSpPr>
          <p:grpSpPr>
            <a:xfrm>
              <a:off x="8565555" y="4147883"/>
              <a:ext cx="458709" cy="547713"/>
              <a:chOff x="4848688" y="5587599"/>
              <a:chExt cx="527833" cy="630248"/>
            </a:xfrm>
          </p:grpSpPr>
          <p:sp>
            <p:nvSpPr>
              <p:cNvPr id="317" name="Freeform 254">
                <a:extLst>
                  <a:ext uri="{FF2B5EF4-FFF2-40B4-BE49-F238E27FC236}">
                    <a16:creationId xmlns:a16="http://schemas.microsoft.com/office/drawing/2014/main" id="{E166C0AB-6E22-36EA-DF51-F8B7E8CA7204}"/>
                  </a:ext>
                </a:extLst>
              </p:cNvPr>
              <p:cNvSpPr>
                <a:spLocks noChangeArrowheads="1"/>
              </p:cNvSpPr>
              <p:nvPr/>
            </p:nvSpPr>
            <p:spPr bwMode="auto">
              <a:xfrm>
                <a:off x="5069275" y="5733344"/>
                <a:ext cx="114232" cy="100446"/>
              </a:xfrm>
              <a:custGeom>
                <a:avLst/>
                <a:gdLst>
                  <a:gd name="T0" fmla="*/ 253 w 254"/>
                  <a:gd name="T1" fmla="*/ 0 h 223"/>
                  <a:gd name="T2" fmla="*/ 95 w 254"/>
                  <a:gd name="T3" fmla="*/ 217 h 223"/>
                  <a:gd name="T4" fmla="*/ 87 w 254"/>
                  <a:gd name="T5" fmla="*/ 222 h 223"/>
                  <a:gd name="T6" fmla="*/ 79 w 254"/>
                  <a:gd name="T7" fmla="*/ 218 h 223"/>
                  <a:gd name="T8" fmla="*/ 0 w 254"/>
                  <a:gd name="T9" fmla="*/ 119 h 223"/>
                </a:gdLst>
                <a:ahLst/>
                <a:cxnLst>
                  <a:cxn ang="0">
                    <a:pos x="T0" y="T1"/>
                  </a:cxn>
                  <a:cxn ang="0">
                    <a:pos x="T2" y="T3"/>
                  </a:cxn>
                  <a:cxn ang="0">
                    <a:pos x="T4" y="T5"/>
                  </a:cxn>
                  <a:cxn ang="0">
                    <a:pos x="T6" y="T7"/>
                  </a:cxn>
                  <a:cxn ang="0">
                    <a:pos x="T8" y="T9"/>
                  </a:cxn>
                </a:cxnLst>
                <a:rect l="0" t="0" r="r" b="b"/>
                <a:pathLst>
                  <a:path w="254" h="223">
                    <a:moveTo>
                      <a:pt x="253" y="0"/>
                    </a:moveTo>
                    <a:cubicBezTo>
                      <a:pt x="200" y="72"/>
                      <a:pt x="147" y="145"/>
                      <a:pt x="95" y="217"/>
                    </a:cubicBezTo>
                    <a:cubicBezTo>
                      <a:pt x="93" y="220"/>
                      <a:pt x="90" y="221"/>
                      <a:pt x="87" y="222"/>
                    </a:cubicBezTo>
                    <a:cubicBezTo>
                      <a:pt x="84" y="222"/>
                      <a:pt x="81" y="220"/>
                      <a:pt x="79" y="218"/>
                    </a:cubicBezTo>
                    <a:cubicBezTo>
                      <a:pt x="52" y="185"/>
                      <a:pt x="26" y="152"/>
                      <a:pt x="0" y="119"/>
                    </a:cubicBezTo>
                  </a:path>
                </a:pathLst>
              </a:custGeom>
              <a:noFill/>
              <a:ln w="15875" cap="rnd">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8" name="Freeform 255">
                <a:extLst>
                  <a:ext uri="{FF2B5EF4-FFF2-40B4-BE49-F238E27FC236}">
                    <a16:creationId xmlns:a16="http://schemas.microsoft.com/office/drawing/2014/main" id="{F1B01AE8-827B-77A3-B136-9BED61F7CA47}"/>
                  </a:ext>
                </a:extLst>
              </p:cNvPr>
              <p:cNvSpPr>
                <a:spLocks noChangeArrowheads="1"/>
              </p:cNvSpPr>
              <p:nvPr/>
            </p:nvSpPr>
            <p:spPr bwMode="auto">
              <a:xfrm>
                <a:off x="5006250" y="6013016"/>
                <a:ext cx="80750" cy="204831"/>
              </a:xfrm>
              <a:custGeom>
                <a:avLst/>
                <a:gdLst>
                  <a:gd name="T0" fmla="*/ 179 w 180"/>
                  <a:gd name="T1" fmla="*/ 0 h 459"/>
                  <a:gd name="T2" fmla="*/ 0 w 180"/>
                  <a:gd name="T3" fmla="*/ 458 h 459"/>
                </a:gdLst>
                <a:ahLst/>
                <a:cxnLst>
                  <a:cxn ang="0">
                    <a:pos x="T0" y="T1"/>
                  </a:cxn>
                  <a:cxn ang="0">
                    <a:pos x="T2" y="T3"/>
                  </a:cxn>
                </a:cxnLst>
                <a:rect l="0" t="0" r="r" b="b"/>
                <a:pathLst>
                  <a:path w="180" h="459">
                    <a:moveTo>
                      <a:pt x="179" y="0"/>
                    </a:moveTo>
                    <a:cubicBezTo>
                      <a:pt x="179" y="177"/>
                      <a:pt x="111" y="338"/>
                      <a:pt x="0" y="458"/>
                    </a:cubicBezTo>
                  </a:path>
                </a:pathLst>
              </a:custGeom>
              <a:noFill/>
              <a:ln w="15875" cap="flat">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9" name="Freeform 256">
                <a:extLst>
                  <a:ext uri="{FF2B5EF4-FFF2-40B4-BE49-F238E27FC236}">
                    <a16:creationId xmlns:a16="http://schemas.microsoft.com/office/drawing/2014/main" id="{C4A7FE70-F0EE-1A27-2968-92D2023622FD}"/>
                  </a:ext>
                </a:extLst>
              </p:cNvPr>
              <p:cNvSpPr>
                <a:spLocks noChangeArrowheads="1"/>
              </p:cNvSpPr>
              <p:nvPr/>
            </p:nvSpPr>
            <p:spPr bwMode="auto">
              <a:xfrm>
                <a:off x="5136239" y="6013016"/>
                <a:ext cx="80750" cy="204831"/>
              </a:xfrm>
              <a:custGeom>
                <a:avLst/>
                <a:gdLst>
                  <a:gd name="T0" fmla="*/ 178 w 179"/>
                  <a:gd name="T1" fmla="*/ 458 h 459"/>
                  <a:gd name="T2" fmla="*/ 0 w 179"/>
                  <a:gd name="T3" fmla="*/ 0 h 459"/>
                </a:gdLst>
                <a:ahLst/>
                <a:cxnLst>
                  <a:cxn ang="0">
                    <a:pos x="T0" y="T1"/>
                  </a:cxn>
                  <a:cxn ang="0">
                    <a:pos x="T2" y="T3"/>
                  </a:cxn>
                </a:cxnLst>
                <a:rect l="0" t="0" r="r" b="b"/>
                <a:pathLst>
                  <a:path w="179" h="459">
                    <a:moveTo>
                      <a:pt x="178" y="458"/>
                    </a:moveTo>
                    <a:cubicBezTo>
                      <a:pt x="67" y="338"/>
                      <a:pt x="0" y="177"/>
                      <a:pt x="0" y="0"/>
                    </a:cubicBezTo>
                  </a:path>
                </a:pathLst>
              </a:custGeom>
              <a:noFill/>
              <a:ln w="15875" cap="flat">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0" name="Freeform 257">
                <a:extLst>
                  <a:ext uri="{FF2B5EF4-FFF2-40B4-BE49-F238E27FC236}">
                    <a16:creationId xmlns:a16="http://schemas.microsoft.com/office/drawing/2014/main" id="{E62F04E9-E427-C7FF-1A7A-4DCC721963AF}"/>
                  </a:ext>
                </a:extLst>
              </p:cNvPr>
              <p:cNvSpPr>
                <a:spLocks noChangeArrowheads="1"/>
              </p:cNvSpPr>
              <p:nvPr/>
            </p:nvSpPr>
            <p:spPr bwMode="auto">
              <a:xfrm>
                <a:off x="4962920" y="5587599"/>
                <a:ext cx="297398" cy="429356"/>
              </a:xfrm>
              <a:custGeom>
                <a:avLst/>
                <a:gdLst>
                  <a:gd name="T0" fmla="*/ 29 w 668"/>
                  <a:gd name="T1" fmla="*/ 0 h 961"/>
                  <a:gd name="T2" fmla="*/ 7 w 668"/>
                  <a:gd name="T3" fmla="*/ 10 h 961"/>
                  <a:gd name="T4" fmla="*/ 1 w 668"/>
                  <a:gd name="T5" fmla="*/ 32 h 961"/>
                  <a:gd name="T6" fmla="*/ 95 w 668"/>
                  <a:gd name="T7" fmla="*/ 751 h 961"/>
                  <a:gd name="T8" fmla="*/ 333 w 668"/>
                  <a:gd name="T9" fmla="*/ 960 h 961"/>
                  <a:gd name="T10" fmla="*/ 571 w 668"/>
                  <a:gd name="T11" fmla="*/ 751 h 961"/>
                  <a:gd name="T12" fmla="*/ 666 w 668"/>
                  <a:gd name="T13" fmla="*/ 32 h 961"/>
                  <a:gd name="T14" fmla="*/ 659 w 668"/>
                  <a:gd name="T15" fmla="*/ 10 h 961"/>
                  <a:gd name="T16" fmla="*/ 638 w 668"/>
                  <a:gd name="T17" fmla="*/ 0 h 961"/>
                  <a:gd name="T18" fmla="*/ 29 w 668"/>
                  <a:gd name="T19" fmla="*/ 0 h 9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8" h="961">
                    <a:moveTo>
                      <a:pt x="29" y="0"/>
                    </a:moveTo>
                    <a:cubicBezTo>
                      <a:pt x="21" y="0"/>
                      <a:pt x="13" y="4"/>
                      <a:pt x="7" y="10"/>
                    </a:cubicBezTo>
                    <a:cubicBezTo>
                      <a:pt x="2" y="16"/>
                      <a:pt x="0" y="24"/>
                      <a:pt x="1" y="32"/>
                    </a:cubicBezTo>
                    <a:cubicBezTo>
                      <a:pt x="32" y="272"/>
                      <a:pt x="63" y="511"/>
                      <a:pt x="95" y="751"/>
                    </a:cubicBezTo>
                    <a:cubicBezTo>
                      <a:pt x="111" y="869"/>
                      <a:pt x="211" y="960"/>
                      <a:pt x="333" y="960"/>
                    </a:cubicBezTo>
                    <a:cubicBezTo>
                      <a:pt x="454" y="960"/>
                      <a:pt x="556" y="869"/>
                      <a:pt x="571" y="751"/>
                    </a:cubicBezTo>
                    <a:cubicBezTo>
                      <a:pt x="602" y="511"/>
                      <a:pt x="634" y="272"/>
                      <a:pt x="666" y="32"/>
                    </a:cubicBezTo>
                    <a:cubicBezTo>
                      <a:pt x="667" y="24"/>
                      <a:pt x="664" y="16"/>
                      <a:pt x="659" y="10"/>
                    </a:cubicBezTo>
                    <a:cubicBezTo>
                      <a:pt x="654" y="4"/>
                      <a:pt x="646" y="0"/>
                      <a:pt x="638" y="0"/>
                    </a:cubicBezTo>
                    <a:cubicBezTo>
                      <a:pt x="435" y="0"/>
                      <a:pt x="232" y="0"/>
                      <a:pt x="29" y="0"/>
                    </a:cubicBezTo>
                  </a:path>
                </a:pathLst>
              </a:custGeom>
              <a:noFill/>
              <a:ln w="15875" cap="flat">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1" name="Freeform 258">
                <a:extLst>
                  <a:ext uri="{FF2B5EF4-FFF2-40B4-BE49-F238E27FC236}">
                    <a16:creationId xmlns:a16="http://schemas.microsoft.com/office/drawing/2014/main" id="{27C11310-FCE7-09F2-51B9-F1721BDED81E}"/>
                  </a:ext>
                </a:extLst>
              </p:cNvPr>
              <p:cNvSpPr>
                <a:spLocks noChangeArrowheads="1"/>
              </p:cNvSpPr>
              <p:nvPr/>
            </p:nvSpPr>
            <p:spPr bwMode="auto">
              <a:xfrm>
                <a:off x="4968828" y="5636838"/>
                <a:ext cx="287551" cy="1969"/>
              </a:xfrm>
              <a:custGeom>
                <a:avLst/>
                <a:gdLst>
                  <a:gd name="T0" fmla="*/ 644 w 645"/>
                  <a:gd name="T1" fmla="*/ 0 h 1"/>
                  <a:gd name="T2" fmla="*/ 0 w 645"/>
                  <a:gd name="T3" fmla="*/ 0 h 1"/>
                </a:gdLst>
                <a:ahLst/>
                <a:cxnLst>
                  <a:cxn ang="0">
                    <a:pos x="T0" y="T1"/>
                  </a:cxn>
                  <a:cxn ang="0">
                    <a:pos x="T2" y="T3"/>
                  </a:cxn>
                </a:cxnLst>
                <a:rect l="0" t="0" r="r" b="b"/>
                <a:pathLst>
                  <a:path w="645" h="1">
                    <a:moveTo>
                      <a:pt x="644" y="0"/>
                    </a:moveTo>
                    <a:cubicBezTo>
                      <a:pt x="429" y="0"/>
                      <a:pt x="214" y="0"/>
                      <a:pt x="0" y="0"/>
                    </a:cubicBezTo>
                  </a:path>
                </a:pathLst>
              </a:custGeom>
              <a:noFill/>
              <a:ln w="15875" cap="flat">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2" name="Freeform 259">
                <a:extLst>
                  <a:ext uri="{FF2B5EF4-FFF2-40B4-BE49-F238E27FC236}">
                    <a16:creationId xmlns:a16="http://schemas.microsoft.com/office/drawing/2014/main" id="{12D7DA8C-1485-FC68-D92D-93CD72FD7C2F}"/>
                  </a:ext>
                </a:extLst>
              </p:cNvPr>
              <p:cNvSpPr>
                <a:spLocks noChangeArrowheads="1"/>
              </p:cNvSpPr>
              <p:nvPr/>
            </p:nvSpPr>
            <p:spPr bwMode="auto">
              <a:xfrm>
                <a:off x="4848688" y="5636838"/>
                <a:ext cx="155592" cy="287551"/>
              </a:xfrm>
              <a:custGeom>
                <a:avLst/>
                <a:gdLst>
                  <a:gd name="T0" fmla="*/ 349 w 350"/>
                  <a:gd name="T1" fmla="*/ 629 h 643"/>
                  <a:gd name="T2" fmla="*/ 208 w 350"/>
                  <a:gd name="T3" fmla="*/ 569 h 643"/>
                  <a:gd name="T4" fmla="*/ 26 w 350"/>
                  <a:gd name="T5" fmla="*/ 255 h 643"/>
                  <a:gd name="T6" fmla="*/ 0 w 350"/>
                  <a:gd name="T7" fmla="*/ 157 h 643"/>
                  <a:gd name="T8" fmla="*/ 156 w 350"/>
                  <a:gd name="T9" fmla="*/ 0 h 643"/>
                  <a:gd name="T10" fmla="*/ 282 w 350"/>
                  <a:gd name="T11" fmla="*/ 125 h 643"/>
                  <a:gd name="T12" fmla="*/ 181 w 350"/>
                  <a:gd name="T13" fmla="*/ 226 h 643"/>
                  <a:gd name="T14" fmla="*/ 125 w 350"/>
                  <a:gd name="T15" fmla="*/ 202 h 6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0" h="643">
                    <a:moveTo>
                      <a:pt x="349" y="629"/>
                    </a:moveTo>
                    <a:cubicBezTo>
                      <a:pt x="295" y="642"/>
                      <a:pt x="237" y="620"/>
                      <a:pt x="208" y="569"/>
                    </a:cubicBezTo>
                    <a:cubicBezTo>
                      <a:pt x="147" y="464"/>
                      <a:pt x="86" y="360"/>
                      <a:pt x="26" y="255"/>
                    </a:cubicBezTo>
                    <a:cubicBezTo>
                      <a:pt x="9" y="226"/>
                      <a:pt x="0" y="192"/>
                      <a:pt x="0" y="157"/>
                    </a:cubicBezTo>
                    <a:cubicBezTo>
                      <a:pt x="0" y="70"/>
                      <a:pt x="70" y="0"/>
                      <a:pt x="156" y="0"/>
                    </a:cubicBezTo>
                    <a:cubicBezTo>
                      <a:pt x="226" y="0"/>
                      <a:pt x="282" y="56"/>
                      <a:pt x="282" y="125"/>
                    </a:cubicBezTo>
                    <a:cubicBezTo>
                      <a:pt x="282" y="181"/>
                      <a:pt x="237" y="226"/>
                      <a:pt x="181" y="226"/>
                    </a:cubicBezTo>
                    <a:cubicBezTo>
                      <a:pt x="159" y="226"/>
                      <a:pt x="139" y="217"/>
                      <a:pt x="125" y="202"/>
                    </a:cubicBezTo>
                  </a:path>
                </a:pathLst>
              </a:custGeom>
              <a:noFill/>
              <a:ln w="15875" cap="rnd">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3" name="Freeform 260">
                <a:extLst>
                  <a:ext uri="{FF2B5EF4-FFF2-40B4-BE49-F238E27FC236}">
                    <a16:creationId xmlns:a16="http://schemas.microsoft.com/office/drawing/2014/main" id="{E1F40E9A-69A7-E261-C097-DB5486541C61}"/>
                  </a:ext>
                </a:extLst>
              </p:cNvPr>
              <p:cNvSpPr>
                <a:spLocks noChangeArrowheads="1"/>
              </p:cNvSpPr>
              <p:nvPr/>
            </p:nvSpPr>
            <p:spPr bwMode="auto">
              <a:xfrm>
                <a:off x="5218959" y="5636838"/>
                <a:ext cx="157562" cy="287551"/>
              </a:xfrm>
              <a:custGeom>
                <a:avLst/>
                <a:gdLst>
                  <a:gd name="T0" fmla="*/ 0 w 351"/>
                  <a:gd name="T1" fmla="*/ 629 h 643"/>
                  <a:gd name="T2" fmla="*/ 142 w 351"/>
                  <a:gd name="T3" fmla="*/ 569 h 643"/>
                  <a:gd name="T4" fmla="*/ 324 w 351"/>
                  <a:gd name="T5" fmla="*/ 255 h 643"/>
                  <a:gd name="T6" fmla="*/ 350 w 351"/>
                  <a:gd name="T7" fmla="*/ 157 h 643"/>
                  <a:gd name="T8" fmla="*/ 193 w 351"/>
                  <a:gd name="T9" fmla="*/ 0 h 643"/>
                  <a:gd name="T10" fmla="*/ 68 w 351"/>
                  <a:gd name="T11" fmla="*/ 125 h 643"/>
                  <a:gd name="T12" fmla="*/ 168 w 351"/>
                  <a:gd name="T13" fmla="*/ 226 h 643"/>
                  <a:gd name="T14" fmla="*/ 225 w 351"/>
                  <a:gd name="T15" fmla="*/ 202 h 6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1" h="643">
                    <a:moveTo>
                      <a:pt x="0" y="629"/>
                    </a:moveTo>
                    <a:cubicBezTo>
                      <a:pt x="54" y="642"/>
                      <a:pt x="113" y="620"/>
                      <a:pt x="142" y="569"/>
                    </a:cubicBezTo>
                    <a:cubicBezTo>
                      <a:pt x="202" y="464"/>
                      <a:pt x="263" y="360"/>
                      <a:pt x="324" y="255"/>
                    </a:cubicBezTo>
                    <a:cubicBezTo>
                      <a:pt x="340" y="226"/>
                      <a:pt x="350" y="192"/>
                      <a:pt x="350" y="157"/>
                    </a:cubicBezTo>
                    <a:cubicBezTo>
                      <a:pt x="350" y="70"/>
                      <a:pt x="280" y="0"/>
                      <a:pt x="193" y="0"/>
                    </a:cubicBezTo>
                    <a:cubicBezTo>
                      <a:pt x="124" y="0"/>
                      <a:pt x="68" y="56"/>
                      <a:pt x="68" y="125"/>
                    </a:cubicBezTo>
                    <a:cubicBezTo>
                      <a:pt x="68" y="181"/>
                      <a:pt x="113" y="226"/>
                      <a:pt x="168" y="226"/>
                    </a:cubicBezTo>
                    <a:cubicBezTo>
                      <a:pt x="190" y="226"/>
                      <a:pt x="210" y="217"/>
                      <a:pt x="225" y="202"/>
                    </a:cubicBezTo>
                  </a:path>
                </a:pathLst>
              </a:custGeom>
              <a:noFill/>
              <a:ln w="15875" cap="rnd">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5" name="TextBox 4">
              <a:extLst>
                <a:ext uri="{FF2B5EF4-FFF2-40B4-BE49-F238E27FC236}">
                  <a16:creationId xmlns:a16="http://schemas.microsoft.com/office/drawing/2014/main" id="{8F1CF231-A33E-1EBB-A82B-ED7C313536A7}"/>
                </a:ext>
              </a:extLst>
            </p:cNvPr>
            <p:cNvSpPr txBox="1"/>
            <p:nvPr/>
          </p:nvSpPr>
          <p:spPr>
            <a:xfrm>
              <a:off x="8050794" y="5002092"/>
              <a:ext cx="2322463" cy="507831"/>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Feedback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Lessons Learnt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Project Review</a:t>
              </a:r>
            </a:p>
          </p:txBody>
        </p:sp>
        <p:sp>
          <p:nvSpPr>
            <p:cNvPr id="120" name="Rounded Rectangle 119">
              <a:extLst>
                <a:ext uri="{FF2B5EF4-FFF2-40B4-BE49-F238E27FC236}">
                  <a16:creationId xmlns:a16="http://schemas.microsoft.com/office/drawing/2014/main" id="{1EF44CAF-47FD-6A9B-48A3-C20514BEB02E}"/>
                </a:ext>
              </a:extLst>
            </p:cNvPr>
            <p:cNvSpPr/>
            <p:nvPr/>
          </p:nvSpPr>
          <p:spPr>
            <a:xfrm>
              <a:off x="7916619" y="4021327"/>
              <a:ext cx="1719906" cy="973157"/>
            </a:xfrm>
            <a:prstGeom prst="roundRect">
              <a:avLst/>
            </a:prstGeom>
            <a:noFill/>
            <a:ln w="34925" cap="rnd" cmpd="dbl">
              <a:solidFill>
                <a:schemeClr val="accent1">
                  <a:lumMod val="75000"/>
                </a:schemeClr>
              </a:solidFill>
              <a:prstDash val="lgDashDotDot"/>
              <a:extLst>
                <a:ext uri="{C807C97D-BFC1-408E-A445-0C87EB9F89A2}">
                  <ask:lineSketchStyleProps xmlns:ask="http://schemas.microsoft.com/office/drawing/2018/sketchyshapes" sd="981765707">
                    <a:custGeom>
                      <a:avLst/>
                      <a:gdLst>
                        <a:gd name="connsiteX0" fmla="*/ 0 w 3891201"/>
                        <a:gd name="connsiteY0" fmla="*/ 211840 h 1271016"/>
                        <a:gd name="connsiteX1" fmla="*/ 211840 w 3891201"/>
                        <a:gd name="connsiteY1" fmla="*/ 0 h 1271016"/>
                        <a:gd name="connsiteX2" fmla="*/ 789760 w 3891201"/>
                        <a:gd name="connsiteY2" fmla="*/ 0 h 1271016"/>
                        <a:gd name="connsiteX3" fmla="*/ 1437031 w 3891201"/>
                        <a:gd name="connsiteY3" fmla="*/ 0 h 1271016"/>
                        <a:gd name="connsiteX4" fmla="*/ 2084301 w 3891201"/>
                        <a:gd name="connsiteY4" fmla="*/ 0 h 1271016"/>
                        <a:gd name="connsiteX5" fmla="*/ 2592871 w 3891201"/>
                        <a:gd name="connsiteY5" fmla="*/ 0 h 1271016"/>
                        <a:gd name="connsiteX6" fmla="*/ 3066766 w 3891201"/>
                        <a:gd name="connsiteY6" fmla="*/ 0 h 1271016"/>
                        <a:gd name="connsiteX7" fmla="*/ 3679361 w 3891201"/>
                        <a:gd name="connsiteY7" fmla="*/ 0 h 1271016"/>
                        <a:gd name="connsiteX8" fmla="*/ 3891201 w 3891201"/>
                        <a:gd name="connsiteY8" fmla="*/ 211840 h 1271016"/>
                        <a:gd name="connsiteX9" fmla="*/ 3891201 w 3891201"/>
                        <a:gd name="connsiteY9" fmla="*/ 627035 h 1271016"/>
                        <a:gd name="connsiteX10" fmla="*/ 3891201 w 3891201"/>
                        <a:gd name="connsiteY10" fmla="*/ 1059176 h 1271016"/>
                        <a:gd name="connsiteX11" fmla="*/ 3679361 w 3891201"/>
                        <a:gd name="connsiteY11" fmla="*/ 1271016 h 1271016"/>
                        <a:gd name="connsiteX12" fmla="*/ 3066766 w 3891201"/>
                        <a:gd name="connsiteY12" fmla="*/ 1271016 h 1271016"/>
                        <a:gd name="connsiteX13" fmla="*/ 2523521 w 3891201"/>
                        <a:gd name="connsiteY13" fmla="*/ 1271016 h 1271016"/>
                        <a:gd name="connsiteX14" fmla="*/ 1910925 w 3891201"/>
                        <a:gd name="connsiteY14" fmla="*/ 1271016 h 1271016"/>
                        <a:gd name="connsiteX15" fmla="*/ 1263655 w 3891201"/>
                        <a:gd name="connsiteY15" fmla="*/ 1271016 h 1271016"/>
                        <a:gd name="connsiteX16" fmla="*/ 211840 w 3891201"/>
                        <a:gd name="connsiteY16" fmla="*/ 1271016 h 1271016"/>
                        <a:gd name="connsiteX17" fmla="*/ 0 w 3891201"/>
                        <a:gd name="connsiteY17" fmla="*/ 1059176 h 1271016"/>
                        <a:gd name="connsiteX18" fmla="*/ 0 w 3891201"/>
                        <a:gd name="connsiteY18" fmla="*/ 652455 h 1271016"/>
                        <a:gd name="connsiteX19" fmla="*/ 0 w 3891201"/>
                        <a:gd name="connsiteY19" fmla="*/ 211840 h 127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91201" h="1271016" extrusionOk="0">
                          <a:moveTo>
                            <a:pt x="0" y="211840"/>
                          </a:moveTo>
                          <a:cubicBezTo>
                            <a:pt x="-1724" y="97869"/>
                            <a:pt x="85073" y="-4035"/>
                            <a:pt x="211840" y="0"/>
                          </a:cubicBezTo>
                          <a:cubicBezTo>
                            <a:pt x="352813" y="-66347"/>
                            <a:pt x="644289" y="64141"/>
                            <a:pt x="789760" y="0"/>
                          </a:cubicBezTo>
                          <a:cubicBezTo>
                            <a:pt x="935231" y="-64141"/>
                            <a:pt x="1135764" y="36819"/>
                            <a:pt x="1437031" y="0"/>
                          </a:cubicBezTo>
                          <a:cubicBezTo>
                            <a:pt x="1738298" y="-36819"/>
                            <a:pt x="1919312" y="25"/>
                            <a:pt x="2084301" y="0"/>
                          </a:cubicBezTo>
                          <a:cubicBezTo>
                            <a:pt x="2249290" y="-25"/>
                            <a:pt x="2412211" y="24788"/>
                            <a:pt x="2592871" y="0"/>
                          </a:cubicBezTo>
                          <a:cubicBezTo>
                            <a:pt x="2773531" y="-24788"/>
                            <a:pt x="2963621" y="44805"/>
                            <a:pt x="3066766" y="0"/>
                          </a:cubicBezTo>
                          <a:cubicBezTo>
                            <a:pt x="3169912" y="-44805"/>
                            <a:pt x="3497062" y="44876"/>
                            <a:pt x="3679361" y="0"/>
                          </a:cubicBezTo>
                          <a:cubicBezTo>
                            <a:pt x="3821363" y="3626"/>
                            <a:pt x="3878954" y="89255"/>
                            <a:pt x="3891201" y="211840"/>
                          </a:cubicBezTo>
                          <a:cubicBezTo>
                            <a:pt x="3920093" y="301511"/>
                            <a:pt x="3842349" y="475407"/>
                            <a:pt x="3891201" y="627035"/>
                          </a:cubicBezTo>
                          <a:cubicBezTo>
                            <a:pt x="3940053" y="778664"/>
                            <a:pt x="3863357" y="934958"/>
                            <a:pt x="3891201" y="1059176"/>
                          </a:cubicBezTo>
                          <a:cubicBezTo>
                            <a:pt x="3868850" y="1182099"/>
                            <a:pt x="3789568" y="1249049"/>
                            <a:pt x="3679361" y="1271016"/>
                          </a:cubicBezTo>
                          <a:cubicBezTo>
                            <a:pt x="3519371" y="1276183"/>
                            <a:pt x="3229389" y="1233492"/>
                            <a:pt x="3066766" y="1271016"/>
                          </a:cubicBezTo>
                          <a:cubicBezTo>
                            <a:pt x="2904143" y="1308540"/>
                            <a:pt x="2785129" y="1263928"/>
                            <a:pt x="2523521" y="1271016"/>
                          </a:cubicBezTo>
                          <a:cubicBezTo>
                            <a:pt x="2261914" y="1278104"/>
                            <a:pt x="2153174" y="1239646"/>
                            <a:pt x="1910925" y="1271016"/>
                          </a:cubicBezTo>
                          <a:cubicBezTo>
                            <a:pt x="1668676" y="1302386"/>
                            <a:pt x="1513616" y="1267310"/>
                            <a:pt x="1263655" y="1271016"/>
                          </a:cubicBezTo>
                          <a:cubicBezTo>
                            <a:pt x="1013694" y="1274722"/>
                            <a:pt x="608536" y="1219037"/>
                            <a:pt x="211840" y="1271016"/>
                          </a:cubicBezTo>
                          <a:cubicBezTo>
                            <a:pt x="77910" y="1284644"/>
                            <a:pt x="25439" y="1186323"/>
                            <a:pt x="0" y="1059176"/>
                          </a:cubicBezTo>
                          <a:cubicBezTo>
                            <a:pt x="-36452" y="957017"/>
                            <a:pt x="48746" y="797152"/>
                            <a:pt x="0" y="652455"/>
                          </a:cubicBezTo>
                          <a:cubicBezTo>
                            <a:pt x="-48746" y="507758"/>
                            <a:pt x="1772" y="362414"/>
                            <a:pt x="0" y="21184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130" name="TextBox 129">
              <a:extLst>
                <a:ext uri="{FF2B5EF4-FFF2-40B4-BE49-F238E27FC236}">
                  <a16:creationId xmlns:a16="http://schemas.microsoft.com/office/drawing/2014/main" id="{975EE44B-D3E4-188B-9B96-D21B94A07D88}"/>
                </a:ext>
              </a:extLst>
            </p:cNvPr>
            <p:cNvSpPr txBox="1"/>
            <p:nvPr/>
          </p:nvSpPr>
          <p:spPr>
            <a:xfrm>
              <a:off x="8413817" y="3669768"/>
              <a:ext cx="74892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Close</a:t>
              </a:r>
            </a:p>
          </p:txBody>
        </p:sp>
      </p:grpSp>
      <p:cxnSp>
        <p:nvCxnSpPr>
          <p:cNvPr id="86" name="Elbow Connector 163">
            <a:extLst>
              <a:ext uri="{FF2B5EF4-FFF2-40B4-BE49-F238E27FC236}">
                <a16:creationId xmlns:a16="http://schemas.microsoft.com/office/drawing/2014/main" id="{376DDF66-EC46-4D02-4224-D0107DBA324B}"/>
              </a:ext>
            </a:extLst>
          </p:cNvPr>
          <p:cNvCxnSpPr>
            <a:cxnSpLocks/>
            <a:stCxn id="93" idx="3"/>
          </p:cNvCxnSpPr>
          <p:nvPr/>
        </p:nvCxnSpPr>
        <p:spPr>
          <a:xfrm>
            <a:off x="3267183" y="2005567"/>
            <a:ext cx="924989" cy="0"/>
          </a:xfrm>
          <a:prstGeom prst="straightConnector1">
            <a:avLst/>
          </a:prstGeom>
          <a:ln w="63500">
            <a:solidFill>
              <a:schemeClr val="accent1">
                <a:lumMod val="75000"/>
                <a:alpha val="68000"/>
              </a:schemeClr>
            </a:solidFill>
            <a:round/>
            <a:tailEnd type="triangle" w="sm" len="med"/>
          </a:ln>
        </p:spPr>
        <p:style>
          <a:lnRef idx="1">
            <a:schemeClr val="accent1"/>
          </a:lnRef>
          <a:fillRef idx="0">
            <a:schemeClr val="accent1"/>
          </a:fillRef>
          <a:effectRef idx="0">
            <a:schemeClr val="accent1"/>
          </a:effectRef>
          <a:fontRef idx="minor">
            <a:schemeClr val="tx1"/>
          </a:fontRef>
        </p:style>
      </p:cxnSp>
      <p:cxnSp>
        <p:nvCxnSpPr>
          <p:cNvPr id="90" name="Elbow Connector 163">
            <a:extLst>
              <a:ext uri="{FF2B5EF4-FFF2-40B4-BE49-F238E27FC236}">
                <a16:creationId xmlns:a16="http://schemas.microsoft.com/office/drawing/2014/main" id="{0FEC8E87-734B-4B4C-5750-3D368517A712}"/>
              </a:ext>
            </a:extLst>
          </p:cNvPr>
          <p:cNvCxnSpPr>
            <a:cxnSpLocks/>
            <a:endCxn id="93" idx="1"/>
          </p:cNvCxnSpPr>
          <p:nvPr/>
        </p:nvCxnSpPr>
        <p:spPr>
          <a:xfrm>
            <a:off x="-28059" y="2005567"/>
            <a:ext cx="1277556" cy="0"/>
          </a:xfrm>
          <a:prstGeom prst="straightConnector1">
            <a:avLst/>
          </a:prstGeom>
          <a:ln w="63500">
            <a:solidFill>
              <a:schemeClr val="accent1">
                <a:lumMod val="75000"/>
                <a:alpha val="68000"/>
              </a:schemeClr>
            </a:solidFill>
            <a:round/>
            <a:tailEnd type="triangle" w="sm" len="med"/>
          </a:ln>
        </p:spPr>
        <p:style>
          <a:lnRef idx="1">
            <a:schemeClr val="accent1"/>
          </a:lnRef>
          <a:fillRef idx="0">
            <a:schemeClr val="accent1"/>
          </a:fillRef>
          <a:effectRef idx="0">
            <a:schemeClr val="accent1"/>
          </a:effectRef>
          <a:fontRef idx="minor">
            <a:schemeClr val="tx1"/>
          </a:fontRef>
        </p:style>
      </p:cxnSp>
      <p:cxnSp>
        <p:nvCxnSpPr>
          <p:cNvPr id="133" name="Elbow Connector 163">
            <a:extLst>
              <a:ext uri="{FF2B5EF4-FFF2-40B4-BE49-F238E27FC236}">
                <a16:creationId xmlns:a16="http://schemas.microsoft.com/office/drawing/2014/main" id="{28606E9C-E8EF-FC80-48C2-5B0A96659B2D}"/>
              </a:ext>
            </a:extLst>
          </p:cNvPr>
          <p:cNvCxnSpPr>
            <a:cxnSpLocks/>
            <a:stCxn id="96" idx="3"/>
            <a:endCxn id="103" idx="3"/>
          </p:cNvCxnSpPr>
          <p:nvPr/>
        </p:nvCxnSpPr>
        <p:spPr>
          <a:xfrm flipH="1">
            <a:off x="9340843" y="1994681"/>
            <a:ext cx="1854336" cy="2767257"/>
          </a:xfrm>
          <a:prstGeom prst="bentConnector3">
            <a:avLst>
              <a:gd name="adj1" fmla="val -25225"/>
            </a:avLst>
          </a:prstGeom>
          <a:ln w="63500">
            <a:solidFill>
              <a:schemeClr val="accent1">
                <a:lumMod val="75000"/>
                <a:alpha val="68000"/>
              </a:schemeClr>
            </a:solidFill>
            <a:round/>
            <a:tailEnd type="triangle" w="sm" len="med"/>
          </a:ln>
        </p:spPr>
        <p:style>
          <a:lnRef idx="1">
            <a:schemeClr val="accent1"/>
          </a:lnRef>
          <a:fillRef idx="0">
            <a:schemeClr val="accent1"/>
          </a:fillRef>
          <a:effectRef idx="0">
            <a:schemeClr val="accent1"/>
          </a:effectRef>
          <a:fontRef idx="minor">
            <a:schemeClr val="tx1"/>
          </a:fontRef>
        </p:style>
      </p:cxnSp>
      <p:cxnSp>
        <p:nvCxnSpPr>
          <p:cNvPr id="138" name="Elbow Connector 163">
            <a:extLst>
              <a:ext uri="{FF2B5EF4-FFF2-40B4-BE49-F238E27FC236}">
                <a16:creationId xmlns:a16="http://schemas.microsoft.com/office/drawing/2014/main" id="{9ADDE2EF-7C68-E149-6099-8493936A8BB3}"/>
              </a:ext>
            </a:extLst>
          </p:cNvPr>
          <p:cNvCxnSpPr>
            <a:cxnSpLocks/>
            <a:stCxn id="120" idx="3"/>
            <a:endCxn id="103" idx="1"/>
          </p:cNvCxnSpPr>
          <p:nvPr/>
        </p:nvCxnSpPr>
        <p:spPr>
          <a:xfrm flipV="1">
            <a:off x="2902162" y="4761938"/>
            <a:ext cx="2481341" cy="9207"/>
          </a:xfrm>
          <a:prstGeom prst="straightConnector1">
            <a:avLst/>
          </a:prstGeom>
          <a:ln w="63500">
            <a:solidFill>
              <a:schemeClr val="accent1">
                <a:lumMod val="75000"/>
                <a:alpha val="68000"/>
              </a:schemeClr>
            </a:solidFill>
            <a:round/>
            <a:headEnd type="triangle" w="sm" len="med"/>
            <a:tailEnd type="none" w="sm" len="med"/>
          </a:ln>
        </p:spPr>
        <p:style>
          <a:lnRef idx="1">
            <a:schemeClr val="accent1"/>
          </a:lnRef>
          <a:fillRef idx="0">
            <a:schemeClr val="accent1"/>
          </a:fillRef>
          <a:effectRef idx="0">
            <a:schemeClr val="accent1"/>
          </a:effectRef>
          <a:fontRef idx="minor">
            <a:schemeClr val="tx1"/>
          </a:fontRef>
        </p:style>
      </p:cxnSp>
      <p:grpSp>
        <p:nvGrpSpPr>
          <p:cNvPr id="82" name="Group 81">
            <a:extLst>
              <a:ext uri="{FF2B5EF4-FFF2-40B4-BE49-F238E27FC236}">
                <a16:creationId xmlns:a16="http://schemas.microsoft.com/office/drawing/2014/main" id="{B8C41E60-E37F-DCFB-E2C3-A9929AE0A933}"/>
              </a:ext>
            </a:extLst>
          </p:cNvPr>
          <p:cNvGrpSpPr/>
          <p:nvPr/>
        </p:nvGrpSpPr>
        <p:grpSpPr>
          <a:xfrm>
            <a:off x="5966033" y="1609484"/>
            <a:ext cx="571678" cy="571678"/>
            <a:chOff x="1124743" y="5461001"/>
            <a:chExt cx="619125" cy="619125"/>
          </a:xfrm>
        </p:grpSpPr>
        <p:sp>
          <p:nvSpPr>
            <p:cNvPr id="84" name="Freeform 234">
              <a:extLst>
                <a:ext uri="{FF2B5EF4-FFF2-40B4-BE49-F238E27FC236}">
                  <a16:creationId xmlns:a16="http://schemas.microsoft.com/office/drawing/2014/main" id="{2FCDBF31-90BD-236B-C009-6D55D2BA4652}"/>
                </a:ext>
              </a:extLst>
            </p:cNvPr>
            <p:cNvSpPr>
              <a:spLocks noChangeArrowheads="1"/>
            </p:cNvSpPr>
            <p:nvPr/>
          </p:nvSpPr>
          <p:spPr bwMode="auto">
            <a:xfrm>
              <a:off x="1256506" y="5592763"/>
              <a:ext cx="266700" cy="266700"/>
            </a:xfrm>
            <a:custGeom>
              <a:avLst/>
              <a:gdLst>
                <a:gd name="T0" fmla="*/ 273 w 739"/>
                <a:gd name="T1" fmla="*/ 138 h 739"/>
                <a:gd name="T2" fmla="*/ 310 w 739"/>
                <a:gd name="T3" fmla="*/ 82 h 739"/>
                <a:gd name="T4" fmla="*/ 310 w 739"/>
                <a:gd name="T5" fmla="*/ 60 h 739"/>
                <a:gd name="T6" fmla="*/ 369 w 739"/>
                <a:gd name="T7" fmla="*/ 0 h 739"/>
                <a:gd name="T8" fmla="*/ 428 w 739"/>
                <a:gd name="T9" fmla="*/ 60 h 739"/>
                <a:gd name="T10" fmla="*/ 428 w 739"/>
                <a:gd name="T11" fmla="*/ 82 h 739"/>
                <a:gd name="T12" fmla="*/ 465 w 739"/>
                <a:gd name="T13" fmla="*/ 138 h 739"/>
                <a:gd name="T14" fmla="*/ 530 w 739"/>
                <a:gd name="T15" fmla="*/ 125 h 739"/>
                <a:gd name="T16" fmla="*/ 546 w 739"/>
                <a:gd name="T17" fmla="*/ 109 h 739"/>
                <a:gd name="T18" fmla="*/ 630 w 739"/>
                <a:gd name="T19" fmla="*/ 108 h 739"/>
                <a:gd name="T20" fmla="*/ 630 w 739"/>
                <a:gd name="T21" fmla="*/ 192 h 739"/>
                <a:gd name="T22" fmla="*/ 614 w 739"/>
                <a:gd name="T23" fmla="*/ 208 h 739"/>
                <a:gd name="T24" fmla="*/ 601 w 739"/>
                <a:gd name="T25" fmla="*/ 273 h 739"/>
                <a:gd name="T26" fmla="*/ 656 w 739"/>
                <a:gd name="T27" fmla="*/ 310 h 739"/>
                <a:gd name="T28" fmla="*/ 679 w 739"/>
                <a:gd name="T29" fmla="*/ 310 h 739"/>
                <a:gd name="T30" fmla="*/ 738 w 739"/>
                <a:gd name="T31" fmla="*/ 369 h 739"/>
                <a:gd name="T32" fmla="*/ 679 w 739"/>
                <a:gd name="T33" fmla="*/ 428 h 739"/>
                <a:gd name="T34" fmla="*/ 656 w 739"/>
                <a:gd name="T35" fmla="*/ 428 h 739"/>
                <a:gd name="T36" fmla="*/ 601 w 739"/>
                <a:gd name="T37" fmla="*/ 465 h 739"/>
                <a:gd name="T38" fmla="*/ 614 w 739"/>
                <a:gd name="T39" fmla="*/ 530 h 739"/>
                <a:gd name="T40" fmla="*/ 630 w 739"/>
                <a:gd name="T41" fmla="*/ 547 h 739"/>
                <a:gd name="T42" fmla="*/ 630 w 739"/>
                <a:gd name="T43" fmla="*/ 630 h 739"/>
                <a:gd name="T44" fmla="*/ 546 w 739"/>
                <a:gd name="T45" fmla="*/ 630 h 739"/>
                <a:gd name="T46" fmla="*/ 530 w 739"/>
                <a:gd name="T47" fmla="*/ 614 h 739"/>
                <a:gd name="T48" fmla="*/ 465 w 739"/>
                <a:gd name="T49" fmla="*/ 601 h 739"/>
                <a:gd name="T50" fmla="*/ 428 w 739"/>
                <a:gd name="T51" fmla="*/ 656 h 739"/>
                <a:gd name="T52" fmla="*/ 428 w 739"/>
                <a:gd name="T53" fmla="*/ 679 h 739"/>
                <a:gd name="T54" fmla="*/ 369 w 739"/>
                <a:gd name="T55" fmla="*/ 738 h 739"/>
                <a:gd name="T56" fmla="*/ 310 w 739"/>
                <a:gd name="T57" fmla="*/ 679 h 739"/>
                <a:gd name="T58" fmla="*/ 310 w 739"/>
                <a:gd name="T59" fmla="*/ 656 h 739"/>
                <a:gd name="T60" fmla="*/ 273 w 739"/>
                <a:gd name="T61" fmla="*/ 601 h 739"/>
                <a:gd name="T62" fmla="*/ 208 w 739"/>
                <a:gd name="T63" fmla="*/ 614 h 739"/>
                <a:gd name="T64" fmla="*/ 192 w 739"/>
                <a:gd name="T65" fmla="*/ 630 h 739"/>
                <a:gd name="T66" fmla="*/ 108 w 739"/>
                <a:gd name="T67" fmla="*/ 630 h 739"/>
                <a:gd name="T68" fmla="*/ 108 w 739"/>
                <a:gd name="T69" fmla="*/ 547 h 739"/>
                <a:gd name="T70" fmla="*/ 124 w 739"/>
                <a:gd name="T71" fmla="*/ 530 h 739"/>
                <a:gd name="T72" fmla="*/ 137 w 739"/>
                <a:gd name="T73" fmla="*/ 465 h 739"/>
                <a:gd name="T74" fmla="*/ 82 w 739"/>
                <a:gd name="T75" fmla="*/ 428 h 739"/>
                <a:gd name="T76" fmla="*/ 59 w 739"/>
                <a:gd name="T77" fmla="*/ 428 h 739"/>
                <a:gd name="T78" fmla="*/ 0 w 739"/>
                <a:gd name="T79" fmla="*/ 369 h 739"/>
                <a:gd name="T80" fmla="*/ 59 w 739"/>
                <a:gd name="T81" fmla="*/ 310 h 739"/>
                <a:gd name="T82" fmla="*/ 82 w 739"/>
                <a:gd name="T83" fmla="*/ 310 h 739"/>
                <a:gd name="T84" fmla="*/ 137 w 739"/>
                <a:gd name="T85" fmla="*/ 273 h 739"/>
                <a:gd name="T86" fmla="*/ 124 w 739"/>
                <a:gd name="T87" fmla="*/ 208 h 739"/>
                <a:gd name="T88" fmla="*/ 108 w 739"/>
                <a:gd name="T89" fmla="*/ 192 h 739"/>
                <a:gd name="T90" fmla="*/ 108 w 739"/>
                <a:gd name="T91" fmla="*/ 108 h 739"/>
                <a:gd name="T92" fmla="*/ 192 w 739"/>
                <a:gd name="T93" fmla="*/ 109 h 739"/>
                <a:gd name="T94" fmla="*/ 208 w 739"/>
                <a:gd name="T95" fmla="*/ 125 h 739"/>
                <a:gd name="T96" fmla="*/ 273 w 739"/>
                <a:gd name="T97" fmla="*/ 138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39" h="739">
                  <a:moveTo>
                    <a:pt x="273" y="138"/>
                  </a:moveTo>
                  <a:cubicBezTo>
                    <a:pt x="295" y="128"/>
                    <a:pt x="310" y="106"/>
                    <a:pt x="310" y="82"/>
                  </a:cubicBezTo>
                  <a:cubicBezTo>
                    <a:pt x="310" y="75"/>
                    <a:pt x="310" y="67"/>
                    <a:pt x="310" y="60"/>
                  </a:cubicBezTo>
                  <a:cubicBezTo>
                    <a:pt x="310" y="27"/>
                    <a:pt x="336" y="0"/>
                    <a:pt x="369" y="0"/>
                  </a:cubicBezTo>
                  <a:cubicBezTo>
                    <a:pt x="402" y="0"/>
                    <a:pt x="428" y="27"/>
                    <a:pt x="428" y="60"/>
                  </a:cubicBezTo>
                  <a:cubicBezTo>
                    <a:pt x="428" y="67"/>
                    <a:pt x="428" y="75"/>
                    <a:pt x="428" y="82"/>
                  </a:cubicBezTo>
                  <a:cubicBezTo>
                    <a:pt x="428" y="106"/>
                    <a:pt x="443" y="128"/>
                    <a:pt x="465" y="138"/>
                  </a:cubicBezTo>
                  <a:cubicBezTo>
                    <a:pt x="487" y="147"/>
                    <a:pt x="513" y="142"/>
                    <a:pt x="530" y="125"/>
                  </a:cubicBezTo>
                  <a:cubicBezTo>
                    <a:pt x="535" y="120"/>
                    <a:pt x="541" y="114"/>
                    <a:pt x="546" y="109"/>
                  </a:cubicBezTo>
                  <a:cubicBezTo>
                    <a:pt x="569" y="85"/>
                    <a:pt x="607" y="85"/>
                    <a:pt x="630" y="108"/>
                  </a:cubicBezTo>
                  <a:cubicBezTo>
                    <a:pt x="653" y="132"/>
                    <a:pt x="653" y="169"/>
                    <a:pt x="630" y="192"/>
                  </a:cubicBezTo>
                  <a:cubicBezTo>
                    <a:pt x="625" y="197"/>
                    <a:pt x="619" y="203"/>
                    <a:pt x="614" y="208"/>
                  </a:cubicBezTo>
                  <a:cubicBezTo>
                    <a:pt x="596" y="225"/>
                    <a:pt x="591" y="251"/>
                    <a:pt x="601" y="273"/>
                  </a:cubicBezTo>
                  <a:cubicBezTo>
                    <a:pt x="610" y="296"/>
                    <a:pt x="632" y="310"/>
                    <a:pt x="656" y="310"/>
                  </a:cubicBezTo>
                  <a:cubicBezTo>
                    <a:pt x="664" y="310"/>
                    <a:pt x="671" y="310"/>
                    <a:pt x="679" y="310"/>
                  </a:cubicBezTo>
                  <a:cubicBezTo>
                    <a:pt x="711" y="310"/>
                    <a:pt x="738" y="337"/>
                    <a:pt x="738" y="369"/>
                  </a:cubicBezTo>
                  <a:cubicBezTo>
                    <a:pt x="738" y="402"/>
                    <a:pt x="711" y="428"/>
                    <a:pt x="679" y="428"/>
                  </a:cubicBezTo>
                  <a:cubicBezTo>
                    <a:pt x="671" y="428"/>
                    <a:pt x="664" y="428"/>
                    <a:pt x="656" y="428"/>
                  </a:cubicBezTo>
                  <a:cubicBezTo>
                    <a:pt x="632" y="428"/>
                    <a:pt x="610" y="443"/>
                    <a:pt x="601" y="465"/>
                  </a:cubicBezTo>
                  <a:cubicBezTo>
                    <a:pt x="591" y="488"/>
                    <a:pt x="596" y="513"/>
                    <a:pt x="614" y="530"/>
                  </a:cubicBezTo>
                  <a:cubicBezTo>
                    <a:pt x="619" y="536"/>
                    <a:pt x="625" y="541"/>
                    <a:pt x="630" y="547"/>
                  </a:cubicBezTo>
                  <a:cubicBezTo>
                    <a:pt x="653" y="570"/>
                    <a:pt x="653" y="607"/>
                    <a:pt x="630" y="630"/>
                  </a:cubicBezTo>
                  <a:cubicBezTo>
                    <a:pt x="607" y="653"/>
                    <a:pt x="569" y="653"/>
                    <a:pt x="546" y="630"/>
                  </a:cubicBezTo>
                  <a:cubicBezTo>
                    <a:pt x="541" y="625"/>
                    <a:pt x="535" y="619"/>
                    <a:pt x="530" y="614"/>
                  </a:cubicBezTo>
                  <a:cubicBezTo>
                    <a:pt x="513" y="597"/>
                    <a:pt x="487" y="592"/>
                    <a:pt x="465" y="601"/>
                  </a:cubicBezTo>
                  <a:cubicBezTo>
                    <a:pt x="443" y="610"/>
                    <a:pt x="428" y="632"/>
                    <a:pt x="428" y="656"/>
                  </a:cubicBezTo>
                  <a:cubicBezTo>
                    <a:pt x="428" y="664"/>
                    <a:pt x="428" y="671"/>
                    <a:pt x="428" y="679"/>
                  </a:cubicBezTo>
                  <a:cubicBezTo>
                    <a:pt x="428" y="712"/>
                    <a:pt x="402" y="738"/>
                    <a:pt x="369" y="738"/>
                  </a:cubicBezTo>
                  <a:cubicBezTo>
                    <a:pt x="336" y="738"/>
                    <a:pt x="310" y="712"/>
                    <a:pt x="310" y="679"/>
                  </a:cubicBezTo>
                  <a:cubicBezTo>
                    <a:pt x="310" y="671"/>
                    <a:pt x="310" y="664"/>
                    <a:pt x="310" y="656"/>
                  </a:cubicBezTo>
                  <a:cubicBezTo>
                    <a:pt x="310" y="632"/>
                    <a:pt x="295" y="610"/>
                    <a:pt x="273" y="601"/>
                  </a:cubicBezTo>
                  <a:cubicBezTo>
                    <a:pt x="251" y="592"/>
                    <a:pt x="225" y="597"/>
                    <a:pt x="208" y="614"/>
                  </a:cubicBezTo>
                  <a:cubicBezTo>
                    <a:pt x="203" y="619"/>
                    <a:pt x="197" y="625"/>
                    <a:pt x="192" y="630"/>
                  </a:cubicBezTo>
                  <a:cubicBezTo>
                    <a:pt x="169" y="653"/>
                    <a:pt x="131" y="653"/>
                    <a:pt x="108" y="630"/>
                  </a:cubicBezTo>
                  <a:cubicBezTo>
                    <a:pt x="85" y="607"/>
                    <a:pt x="85" y="570"/>
                    <a:pt x="108" y="547"/>
                  </a:cubicBezTo>
                  <a:cubicBezTo>
                    <a:pt x="113" y="541"/>
                    <a:pt x="119" y="536"/>
                    <a:pt x="124" y="530"/>
                  </a:cubicBezTo>
                  <a:cubicBezTo>
                    <a:pt x="142" y="513"/>
                    <a:pt x="147" y="488"/>
                    <a:pt x="137" y="465"/>
                  </a:cubicBezTo>
                  <a:cubicBezTo>
                    <a:pt x="128" y="443"/>
                    <a:pt x="106" y="428"/>
                    <a:pt x="82" y="428"/>
                  </a:cubicBezTo>
                  <a:cubicBezTo>
                    <a:pt x="74" y="428"/>
                    <a:pt x="67" y="428"/>
                    <a:pt x="59" y="428"/>
                  </a:cubicBezTo>
                  <a:cubicBezTo>
                    <a:pt x="27" y="428"/>
                    <a:pt x="0" y="402"/>
                    <a:pt x="0" y="369"/>
                  </a:cubicBezTo>
                  <a:cubicBezTo>
                    <a:pt x="0" y="337"/>
                    <a:pt x="27" y="310"/>
                    <a:pt x="59" y="310"/>
                  </a:cubicBezTo>
                  <a:cubicBezTo>
                    <a:pt x="67" y="310"/>
                    <a:pt x="74" y="310"/>
                    <a:pt x="82" y="310"/>
                  </a:cubicBezTo>
                  <a:cubicBezTo>
                    <a:pt x="106" y="310"/>
                    <a:pt x="128" y="296"/>
                    <a:pt x="137" y="273"/>
                  </a:cubicBezTo>
                  <a:cubicBezTo>
                    <a:pt x="147" y="251"/>
                    <a:pt x="142" y="225"/>
                    <a:pt x="124" y="208"/>
                  </a:cubicBezTo>
                  <a:cubicBezTo>
                    <a:pt x="119" y="203"/>
                    <a:pt x="113" y="197"/>
                    <a:pt x="108" y="192"/>
                  </a:cubicBezTo>
                  <a:cubicBezTo>
                    <a:pt x="85" y="169"/>
                    <a:pt x="85" y="132"/>
                    <a:pt x="108" y="108"/>
                  </a:cubicBezTo>
                  <a:cubicBezTo>
                    <a:pt x="131" y="85"/>
                    <a:pt x="169" y="85"/>
                    <a:pt x="192" y="109"/>
                  </a:cubicBezTo>
                  <a:cubicBezTo>
                    <a:pt x="197" y="114"/>
                    <a:pt x="203" y="120"/>
                    <a:pt x="208" y="125"/>
                  </a:cubicBezTo>
                  <a:cubicBezTo>
                    <a:pt x="225" y="142"/>
                    <a:pt x="251" y="147"/>
                    <a:pt x="273" y="13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Freeform 235">
              <a:extLst>
                <a:ext uri="{FF2B5EF4-FFF2-40B4-BE49-F238E27FC236}">
                  <a16:creationId xmlns:a16="http://schemas.microsoft.com/office/drawing/2014/main" id="{B3E9E7D0-8F3F-BDEF-1777-9F4F45BCB751}"/>
                </a:ext>
              </a:extLst>
            </p:cNvPr>
            <p:cNvSpPr>
              <a:spLocks noChangeArrowheads="1"/>
            </p:cNvSpPr>
            <p:nvPr/>
          </p:nvSpPr>
          <p:spPr bwMode="auto">
            <a:xfrm>
              <a:off x="1353343" y="5689601"/>
              <a:ext cx="73025" cy="73025"/>
            </a:xfrm>
            <a:custGeom>
              <a:avLst/>
              <a:gdLst>
                <a:gd name="T0" fmla="*/ 202 w 203"/>
                <a:gd name="T1" fmla="*/ 100 h 202"/>
                <a:gd name="T2" fmla="*/ 188 w 203"/>
                <a:gd name="T3" fmla="*/ 151 h 202"/>
                <a:gd name="T4" fmla="*/ 151 w 203"/>
                <a:gd name="T5" fmla="*/ 187 h 202"/>
                <a:gd name="T6" fmla="*/ 101 w 203"/>
                <a:gd name="T7" fmla="*/ 201 h 202"/>
                <a:gd name="T8" fmla="*/ 51 w 203"/>
                <a:gd name="T9" fmla="*/ 187 h 202"/>
                <a:gd name="T10" fmla="*/ 14 w 203"/>
                <a:gd name="T11" fmla="*/ 151 h 202"/>
                <a:gd name="T12" fmla="*/ 0 w 203"/>
                <a:gd name="T13" fmla="*/ 100 h 202"/>
                <a:gd name="T14" fmla="*/ 14 w 203"/>
                <a:gd name="T15" fmla="*/ 50 h 202"/>
                <a:gd name="T16" fmla="*/ 51 w 203"/>
                <a:gd name="T17" fmla="*/ 13 h 202"/>
                <a:gd name="T18" fmla="*/ 101 w 203"/>
                <a:gd name="T19" fmla="*/ 0 h 202"/>
                <a:gd name="T20" fmla="*/ 151 w 203"/>
                <a:gd name="T21" fmla="*/ 13 h 202"/>
                <a:gd name="T22" fmla="*/ 188 w 203"/>
                <a:gd name="T23" fmla="*/ 50 h 202"/>
                <a:gd name="T24" fmla="*/ 202 w 203"/>
                <a:gd name="T25" fmla="*/ 10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3" h="202">
                  <a:moveTo>
                    <a:pt x="202" y="100"/>
                  </a:moveTo>
                  <a:cubicBezTo>
                    <a:pt x="202" y="119"/>
                    <a:pt x="197" y="135"/>
                    <a:pt x="188" y="151"/>
                  </a:cubicBezTo>
                  <a:cubicBezTo>
                    <a:pt x="179" y="168"/>
                    <a:pt x="167" y="178"/>
                    <a:pt x="151" y="187"/>
                  </a:cubicBezTo>
                  <a:cubicBezTo>
                    <a:pt x="135" y="197"/>
                    <a:pt x="119" y="201"/>
                    <a:pt x="101" y="201"/>
                  </a:cubicBezTo>
                  <a:cubicBezTo>
                    <a:pt x="82" y="201"/>
                    <a:pt x="67" y="197"/>
                    <a:pt x="51" y="187"/>
                  </a:cubicBezTo>
                  <a:cubicBezTo>
                    <a:pt x="35" y="178"/>
                    <a:pt x="23" y="168"/>
                    <a:pt x="14" y="151"/>
                  </a:cubicBezTo>
                  <a:cubicBezTo>
                    <a:pt x="5" y="135"/>
                    <a:pt x="0" y="119"/>
                    <a:pt x="0" y="100"/>
                  </a:cubicBezTo>
                  <a:cubicBezTo>
                    <a:pt x="0" y="82"/>
                    <a:pt x="5" y="66"/>
                    <a:pt x="14" y="50"/>
                  </a:cubicBezTo>
                  <a:cubicBezTo>
                    <a:pt x="23" y="34"/>
                    <a:pt x="35" y="22"/>
                    <a:pt x="51" y="13"/>
                  </a:cubicBezTo>
                  <a:cubicBezTo>
                    <a:pt x="67" y="4"/>
                    <a:pt x="83" y="0"/>
                    <a:pt x="101" y="0"/>
                  </a:cubicBezTo>
                  <a:cubicBezTo>
                    <a:pt x="120" y="0"/>
                    <a:pt x="135" y="4"/>
                    <a:pt x="151" y="13"/>
                  </a:cubicBezTo>
                  <a:cubicBezTo>
                    <a:pt x="167" y="22"/>
                    <a:pt x="179" y="34"/>
                    <a:pt x="188" y="50"/>
                  </a:cubicBezTo>
                  <a:cubicBezTo>
                    <a:pt x="197" y="66"/>
                    <a:pt x="202" y="82"/>
                    <a:pt x="202" y="10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Freeform 237">
              <a:extLst>
                <a:ext uri="{FF2B5EF4-FFF2-40B4-BE49-F238E27FC236}">
                  <a16:creationId xmlns:a16="http://schemas.microsoft.com/office/drawing/2014/main" id="{A30D05DE-C817-DE88-652F-66E364EDBB8C}"/>
                </a:ext>
              </a:extLst>
            </p:cNvPr>
            <p:cNvSpPr>
              <a:spLocks noChangeArrowheads="1"/>
            </p:cNvSpPr>
            <p:nvPr/>
          </p:nvSpPr>
          <p:spPr bwMode="auto">
            <a:xfrm>
              <a:off x="1189831" y="5526088"/>
              <a:ext cx="398462" cy="398463"/>
            </a:xfrm>
            <a:custGeom>
              <a:avLst/>
              <a:gdLst>
                <a:gd name="T0" fmla="*/ 1106 w 1107"/>
                <a:gd name="T1" fmla="*/ 553 h 1107"/>
                <a:gd name="T2" fmla="*/ 1032 w 1107"/>
                <a:gd name="T3" fmla="*/ 830 h 1107"/>
                <a:gd name="T4" fmla="*/ 830 w 1107"/>
                <a:gd name="T5" fmla="*/ 1032 h 1107"/>
                <a:gd name="T6" fmla="*/ 553 w 1107"/>
                <a:gd name="T7" fmla="*/ 1106 h 1107"/>
                <a:gd name="T8" fmla="*/ 277 w 1107"/>
                <a:gd name="T9" fmla="*/ 1032 h 1107"/>
                <a:gd name="T10" fmla="*/ 74 w 1107"/>
                <a:gd name="T11" fmla="*/ 830 h 1107"/>
                <a:gd name="T12" fmla="*/ 0 w 1107"/>
                <a:gd name="T13" fmla="*/ 553 h 1107"/>
                <a:gd name="T14" fmla="*/ 74 w 1107"/>
                <a:gd name="T15" fmla="*/ 277 h 1107"/>
                <a:gd name="T16" fmla="*/ 277 w 1107"/>
                <a:gd name="T17" fmla="*/ 74 h 1107"/>
                <a:gd name="T18" fmla="*/ 553 w 1107"/>
                <a:gd name="T19" fmla="*/ 0 h 1107"/>
                <a:gd name="T20" fmla="*/ 830 w 1107"/>
                <a:gd name="T21" fmla="*/ 74 h 1107"/>
                <a:gd name="T22" fmla="*/ 1032 w 1107"/>
                <a:gd name="T23" fmla="*/ 277 h 1107"/>
                <a:gd name="T24" fmla="*/ 1106 w 1107"/>
                <a:gd name="T25" fmla="*/ 553 h 1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7" h="1107">
                  <a:moveTo>
                    <a:pt x="1106" y="553"/>
                  </a:moveTo>
                  <a:cubicBezTo>
                    <a:pt x="1106" y="655"/>
                    <a:pt x="1083" y="742"/>
                    <a:pt x="1032" y="830"/>
                  </a:cubicBezTo>
                  <a:cubicBezTo>
                    <a:pt x="981" y="918"/>
                    <a:pt x="918" y="981"/>
                    <a:pt x="830" y="1032"/>
                  </a:cubicBezTo>
                  <a:cubicBezTo>
                    <a:pt x="741" y="1083"/>
                    <a:pt x="655" y="1106"/>
                    <a:pt x="553" y="1106"/>
                  </a:cubicBezTo>
                  <a:cubicBezTo>
                    <a:pt x="451" y="1106"/>
                    <a:pt x="365" y="1083"/>
                    <a:pt x="277" y="1032"/>
                  </a:cubicBezTo>
                  <a:cubicBezTo>
                    <a:pt x="188" y="981"/>
                    <a:pt x="125" y="918"/>
                    <a:pt x="74" y="830"/>
                  </a:cubicBezTo>
                  <a:cubicBezTo>
                    <a:pt x="23" y="742"/>
                    <a:pt x="0" y="655"/>
                    <a:pt x="0" y="553"/>
                  </a:cubicBezTo>
                  <a:cubicBezTo>
                    <a:pt x="0" y="451"/>
                    <a:pt x="23" y="366"/>
                    <a:pt x="74" y="277"/>
                  </a:cubicBezTo>
                  <a:cubicBezTo>
                    <a:pt x="125" y="189"/>
                    <a:pt x="188" y="125"/>
                    <a:pt x="277" y="74"/>
                  </a:cubicBezTo>
                  <a:cubicBezTo>
                    <a:pt x="365" y="23"/>
                    <a:pt x="451" y="0"/>
                    <a:pt x="553" y="0"/>
                  </a:cubicBezTo>
                  <a:cubicBezTo>
                    <a:pt x="655" y="0"/>
                    <a:pt x="741" y="23"/>
                    <a:pt x="830" y="74"/>
                  </a:cubicBezTo>
                  <a:cubicBezTo>
                    <a:pt x="918" y="125"/>
                    <a:pt x="981" y="189"/>
                    <a:pt x="1032" y="277"/>
                  </a:cubicBezTo>
                  <a:cubicBezTo>
                    <a:pt x="1083" y="366"/>
                    <a:pt x="1106" y="451"/>
                    <a:pt x="1106" y="55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Freeform 238">
              <a:extLst>
                <a:ext uri="{FF2B5EF4-FFF2-40B4-BE49-F238E27FC236}">
                  <a16:creationId xmlns:a16="http://schemas.microsoft.com/office/drawing/2014/main" id="{A70B0AD3-7688-C2D1-9751-24700BADD4D7}"/>
                </a:ext>
              </a:extLst>
            </p:cNvPr>
            <p:cNvSpPr>
              <a:spLocks noChangeArrowheads="1"/>
            </p:cNvSpPr>
            <p:nvPr/>
          </p:nvSpPr>
          <p:spPr bwMode="auto">
            <a:xfrm>
              <a:off x="1124743" y="5461001"/>
              <a:ext cx="619125" cy="619125"/>
            </a:xfrm>
            <a:custGeom>
              <a:avLst/>
              <a:gdLst>
                <a:gd name="T0" fmla="*/ 1718 w 1719"/>
                <a:gd name="T1" fmla="*/ 1624 h 1720"/>
                <a:gd name="T2" fmla="*/ 1275 w 1719"/>
                <a:gd name="T3" fmla="*/ 1181 h 1720"/>
                <a:gd name="T4" fmla="*/ 1272 w 1719"/>
                <a:gd name="T5" fmla="*/ 1137 h 1720"/>
                <a:gd name="T6" fmla="*/ 1209 w 1719"/>
                <a:gd name="T7" fmla="*/ 261 h 1720"/>
                <a:gd name="T8" fmla="*/ 261 w 1719"/>
                <a:gd name="T9" fmla="*/ 261 h 1720"/>
                <a:gd name="T10" fmla="*/ 261 w 1719"/>
                <a:gd name="T11" fmla="*/ 1209 h 1720"/>
                <a:gd name="T12" fmla="*/ 1136 w 1719"/>
                <a:gd name="T13" fmla="*/ 1272 h 1720"/>
                <a:gd name="T14" fmla="*/ 1180 w 1719"/>
                <a:gd name="T15" fmla="*/ 1275 h 1720"/>
                <a:gd name="T16" fmla="*/ 1623 w 1719"/>
                <a:gd name="T17" fmla="*/ 1719 h 1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19" h="1720">
                  <a:moveTo>
                    <a:pt x="1718" y="1624"/>
                  </a:moveTo>
                  <a:cubicBezTo>
                    <a:pt x="1570" y="1476"/>
                    <a:pt x="1423" y="1329"/>
                    <a:pt x="1275" y="1181"/>
                  </a:cubicBezTo>
                  <a:cubicBezTo>
                    <a:pt x="1263" y="1169"/>
                    <a:pt x="1262" y="1150"/>
                    <a:pt x="1272" y="1137"/>
                  </a:cubicBezTo>
                  <a:cubicBezTo>
                    <a:pt x="1468" y="874"/>
                    <a:pt x="1447" y="500"/>
                    <a:pt x="1209" y="261"/>
                  </a:cubicBezTo>
                  <a:cubicBezTo>
                    <a:pt x="948" y="0"/>
                    <a:pt x="522" y="0"/>
                    <a:pt x="261" y="261"/>
                  </a:cubicBezTo>
                  <a:cubicBezTo>
                    <a:pt x="0" y="523"/>
                    <a:pt x="0" y="948"/>
                    <a:pt x="261" y="1209"/>
                  </a:cubicBezTo>
                  <a:cubicBezTo>
                    <a:pt x="499" y="1448"/>
                    <a:pt x="874" y="1469"/>
                    <a:pt x="1136" y="1272"/>
                  </a:cubicBezTo>
                  <a:cubicBezTo>
                    <a:pt x="1150" y="1262"/>
                    <a:pt x="1168" y="1264"/>
                    <a:pt x="1180" y="1275"/>
                  </a:cubicBezTo>
                  <a:cubicBezTo>
                    <a:pt x="1328" y="1423"/>
                    <a:pt x="1475" y="1571"/>
                    <a:pt x="1623" y="171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9" name="TextBox 88">
            <a:extLst>
              <a:ext uri="{FF2B5EF4-FFF2-40B4-BE49-F238E27FC236}">
                <a16:creationId xmlns:a16="http://schemas.microsoft.com/office/drawing/2014/main" id="{35CD77BF-F228-94FA-4DFC-B971D9341B6F}"/>
              </a:ext>
            </a:extLst>
          </p:cNvPr>
          <p:cNvSpPr txBox="1"/>
          <p:nvPr/>
        </p:nvSpPr>
        <p:spPr>
          <a:xfrm>
            <a:off x="5428220" y="2186104"/>
            <a:ext cx="1659430"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Fira Sans" panose="020B0503050000020004" pitchFamily="34" charset="0"/>
                <a:ea typeface="+mn-ea"/>
                <a:cs typeface="+mn-cs"/>
              </a:rPr>
              <a:t>Portfolio Assessment</a:t>
            </a:r>
          </a:p>
        </p:txBody>
      </p:sp>
      <p:sp>
        <p:nvSpPr>
          <p:cNvPr id="102" name="TextBox 101">
            <a:extLst>
              <a:ext uri="{FF2B5EF4-FFF2-40B4-BE49-F238E27FC236}">
                <a16:creationId xmlns:a16="http://schemas.microsoft.com/office/drawing/2014/main" id="{D6593379-CD76-96FA-24D4-EA3FAA13E0DE}"/>
              </a:ext>
            </a:extLst>
          </p:cNvPr>
          <p:cNvSpPr txBox="1"/>
          <p:nvPr/>
        </p:nvSpPr>
        <p:spPr>
          <a:xfrm>
            <a:off x="7335627" y="2092687"/>
            <a:ext cx="134477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Fira Sans Light" panose="020B0403050000020004" pitchFamily="34" charset="0"/>
                <a:ea typeface="+mn-ea"/>
                <a:cs typeface="+mn-cs"/>
              </a:rPr>
              <a:t>Application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Fira Sans Light" panose="020B0403050000020004" pitchFamily="34" charset="0"/>
                <a:ea typeface="+mn-ea"/>
                <a:cs typeface="+mn-cs"/>
              </a:rPr>
              <a:t> Profiling</a:t>
            </a:r>
          </a:p>
        </p:txBody>
      </p:sp>
      <p:grpSp>
        <p:nvGrpSpPr>
          <p:cNvPr id="105" name="Group 104">
            <a:extLst>
              <a:ext uri="{FF2B5EF4-FFF2-40B4-BE49-F238E27FC236}">
                <a16:creationId xmlns:a16="http://schemas.microsoft.com/office/drawing/2014/main" id="{D3F79C59-95A9-66E4-67C0-56C58F21CCDB}"/>
              </a:ext>
            </a:extLst>
          </p:cNvPr>
          <p:cNvGrpSpPr/>
          <p:nvPr/>
        </p:nvGrpSpPr>
        <p:grpSpPr>
          <a:xfrm>
            <a:off x="9173284" y="1603891"/>
            <a:ext cx="491103" cy="488796"/>
            <a:chOff x="6899352" y="667786"/>
            <a:chExt cx="422819" cy="420831"/>
          </a:xfrm>
        </p:grpSpPr>
        <p:sp>
          <p:nvSpPr>
            <p:cNvPr id="121" name="Freeform 120">
              <a:extLst>
                <a:ext uri="{FF2B5EF4-FFF2-40B4-BE49-F238E27FC236}">
                  <a16:creationId xmlns:a16="http://schemas.microsoft.com/office/drawing/2014/main" id="{9932DD60-3E80-CACE-A4D9-D6DFD1815ED3}"/>
                </a:ext>
              </a:extLst>
            </p:cNvPr>
            <p:cNvSpPr>
              <a:spLocks noChangeArrowheads="1"/>
            </p:cNvSpPr>
            <p:nvPr/>
          </p:nvSpPr>
          <p:spPr bwMode="auto">
            <a:xfrm>
              <a:off x="7199097" y="745202"/>
              <a:ext cx="45656" cy="45657"/>
            </a:xfrm>
            <a:custGeom>
              <a:avLst/>
              <a:gdLst>
                <a:gd name="T0" fmla="*/ 0 w 101"/>
                <a:gd name="T1" fmla="*/ 0 h 100"/>
                <a:gd name="T2" fmla="*/ 100 w 101"/>
                <a:gd name="T3" fmla="*/ 99 h 100"/>
              </a:gdLst>
              <a:ahLst/>
              <a:cxnLst>
                <a:cxn ang="0">
                  <a:pos x="T0" y="T1"/>
                </a:cxn>
                <a:cxn ang="0">
                  <a:pos x="T2" y="T3"/>
                </a:cxn>
              </a:cxnLst>
              <a:rect l="0" t="0" r="r" b="b"/>
              <a:pathLst>
                <a:path w="101" h="100">
                  <a:moveTo>
                    <a:pt x="0" y="0"/>
                  </a:moveTo>
                  <a:cubicBezTo>
                    <a:pt x="34" y="33"/>
                    <a:pt x="67" y="66"/>
                    <a:pt x="100" y="9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 name="Freeform 123">
              <a:extLst>
                <a:ext uri="{FF2B5EF4-FFF2-40B4-BE49-F238E27FC236}">
                  <a16:creationId xmlns:a16="http://schemas.microsoft.com/office/drawing/2014/main" id="{5ED6879C-0EE0-A96D-246D-CFEE058A52C1}"/>
                </a:ext>
              </a:extLst>
            </p:cNvPr>
            <p:cNvSpPr>
              <a:spLocks noChangeArrowheads="1"/>
            </p:cNvSpPr>
            <p:nvPr/>
          </p:nvSpPr>
          <p:spPr bwMode="auto">
            <a:xfrm>
              <a:off x="7234828" y="709471"/>
              <a:ext cx="45656" cy="45657"/>
            </a:xfrm>
            <a:custGeom>
              <a:avLst/>
              <a:gdLst>
                <a:gd name="T0" fmla="*/ 0 w 101"/>
                <a:gd name="T1" fmla="*/ 0 h 101"/>
                <a:gd name="T2" fmla="*/ 100 w 101"/>
                <a:gd name="T3" fmla="*/ 100 h 101"/>
              </a:gdLst>
              <a:ahLst/>
              <a:cxnLst>
                <a:cxn ang="0">
                  <a:pos x="T0" y="T1"/>
                </a:cxn>
                <a:cxn ang="0">
                  <a:pos x="T2" y="T3"/>
                </a:cxn>
              </a:cxnLst>
              <a:rect l="0" t="0" r="r" b="b"/>
              <a:pathLst>
                <a:path w="101" h="101">
                  <a:moveTo>
                    <a:pt x="0" y="0"/>
                  </a:moveTo>
                  <a:cubicBezTo>
                    <a:pt x="34" y="33"/>
                    <a:pt x="67" y="67"/>
                    <a:pt x="100" y="10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 name="Freeform 125">
              <a:extLst>
                <a:ext uri="{FF2B5EF4-FFF2-40B4-BE49-F238E27FC236}">
                  <a16:creationId xmlns:a16="http://schemas.microsoft.com/office/drawing/2014/main" id="{082E7E7E-F79E-C367-E320-58DC33616DD3}"/>
                </a:ext>
              </a:extLst>
            </p:cNvPr>
            <p:cNvSpPr>
              <a:spLocks noChangeArrowheads="1"/>
            </p:cNvSpPr>
            <p:nvPr/>
          </p:nvSpPr>
          <p:spPr bwMode="auto">
            <a:xfrm>
              <a:off x="7006546" y="667786"/>
              <a:ext cx="315625" cy="315624"/>
            </a:xfrm>
            <a:custGeom>
              <a:avLst/>
              <a:gdLst>
                <a:gd name="T0" fmla="*/ 83 w 703"/>
                <a:gd name="T1" fmla="*/ 519 h 703"/>
                <a:gd name="T2" fmla="*/ 591 w 703"/>
                <a:gd name="T3" fmla="*/ 11 h 703"/>
                <a:gd name="T4" fmla="*/ 631 w 703"/>
                <a:gd name="T5" fmla="*/ 11 h 703"/>
                <a:gd name="T6" fmla="*/ 691 w 703"/>
                <a:gd name="T7" fmla="*/ 71 h 703"/>
                <a:gd name="T8" fmla="*/ 691 w 703"/>
                <a:gd name="T9" fmla="*/ 111 h 703"/>
                <a:gd name="T10" fmla="*/ 182 w 703"/>
                <a:gd name="T11" fmla="*/ 619 h 703"/>
                <a:gd name="T12" fmla="*/ 21 w 703"/>
                <a:gd name="T13" fmla="*/ 699 h 703"/>
                <a:gd name="T14" fmla="*/ 5 w 703"/>
                <a:gd name="T15" fmla="*/ 697 h 703"/>
                <a:gd name="T16" fmla="*/ 2 w 703"/>
                <a:gd name="T17" fmla="*/ 680 h 703"/>
                <a:gd name="T18" fmla="*/ 83 w 703"/>
                <a:gd name="T19" fmla="*/ 519 h 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3" h="703">
                  <a:moveTo>
                    <a:pt x="83" y="519"/>
                  </a:moveTo>
                  <a:cubicBezTo>
                    <a:pt x="253" y="350"/>
                    <a:pt x="422" y="180"/>
                    <a:pt x="591" y="11"/>
                  </a:cubicBezTo>
                  <a:cubicBezTo>
                    <a:pt x="602" y="0"/>
                    <a:pt x="620" y="0"/>
                    <a:pt x="631" y="11"/>
                  </a:cubicBezTo>
                  <a:cubicBezTo>
                    <a:pt x="651" y="31"/>
                    <a:pt x="671" y="51"/>
                    <a:pt x="691" y="71"/>
                  </a:cubicBezTo>
                  <a:cubicBezTo>
                    <a:pt x="702" y="82"/>
                    <a:pt x="702" y="100"/>
                    <a:pt x="691" y="111"/>
                  </a:cubicBezTo>
                  <a:cubicBezTo>
                    <a:pt x="522" y="280"/>
                    <a:pt x="352" y="450"/>
                    <a:pt x="182" y="619"/>
                  </a:cubicBezTo>
                  <a:cubicBezTo>
                    <a:pt x="129" y="646"/>
                    <a:pt x="75" y="672"/>
                    <a:pt x="21" y="699"/>
                  </a:cubicBezTo>
                  <a:cubicBezTo>
                    <a:pt x="16" y="702"/>
                    <a:pt x="9" y="701"/>
                    <a:pt x="5" y="697"/>
                  </a:cubicBezTo>
                  <a:cubicBezTo>
                    <a:pt x="1" y="692"/>
                    <a:pt x="0" y="686"/>
                    <a:pt x="2" y="680"/>
                  </a:cubicBezTo>
                  <a:cubicBezTo>
                    <a:pt x="29" y="626"/>
                    <a:pt x="56" y="573"/>
                    <a:pt x="83" y="51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 name="Freeform 133">
              <a:extLst>
                <a:ext uri="{FF2B5EF4-FFF2-40B4-BE49-F238E27FC236}">
                  <a16:creationId xmlns:a16="http://schemas.microsoft.com/office/drawing/2014/main" id="{0A1F77A2-4B2A-52FB-CE2C-B0B6A4EFF39E}"/>
                </a:ext>
              </a:extLst>
            </p:cNvPr>
            <p:cNvSpPr>
              <a:spLocks noChangeArrowheads="1"/>
            </p:cNvSpPr>
            <p:nvPr/>
          </p:nvSpPr>
          <p:spPr bwMode="auto">
            <a:xfrm>
              <a:off x="6899352" y="685650"/>
              <a:ext cx="402967" cy="402967"/>
            </a:xfrm>
            <a:custGeom>
              <a:avLst/>
              <a:gdLst>
                <a:gd name="T0" fmla="*/ 416 w 897"/>
                <a:gd name="T1" fmla="*/ 379 h 897"/>
                <a:gd name="T2" fmla="*/ 48 w 897"/>
                <a:gd name="T3" fmla="*/ 11 h 897"/>
                <a:gd name="T4" fmla="*/ 17 w 897"/>
                <a:gd name="T5" fmla="*/ 5 h 897"/>
                <a:gd name="T6" fmla="*/ 0 w 897"/>
                <a:gd name="T7" fmla="*/ 31 h 897"/>
                <a:gd name="T8" fmla="*/ 0 w 897"/>
                <a:gd name="T9" fmla="*/ 868 h 897"/>
                <a:gd name="T10" fmla="*/ 28 w 897"/>
                <a:gd name="T11" fmla="*/ 896 h 897"/>
                <a:gd name="T12" fmla="*/ 865 w 897"/>
                <a:gd name="T13" fmla="*/ 896 h 897"/>
                <a:gd name="T14" fmla="*/ 891 w 897"/>
                <a:gd name="T15" fmla="*/ 878 h 897"/>
                <a:gd name="T16" fmla="*/ 885 w 897"/>
                <a:gd name="T17" fmla="*/ 848 h 897"/>
                <a:gd name="T18" fmla="*/ 516 w 897"/>
                <a:gd name="T19" fmla="*/ 479 h 8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7" h="897">
                  <a:moveTo>
                    <a:pt x="416" y="379"/>
                  </a:moveTo>
                  <a:cubicBezTo>
                    <a:pt x="294" y="256"/>
                    <a:pt x="171" y="134"/>
                    <a:pt x="48" y="11"/>
                  </a:cubicBezTo>
                  <a:cubicBezTo>
                    <a:pt x="40" y="3"/>
                    <a:pt x="28" y="0"/>
                    <a:pt x="17" y="5"/>
                  </a:cubicBezTo>
                  <a:cubicBezTo>
                    <a:pt x="7" y="9"/>
                    <a:pt x="0" y="19"/>
                    <a:pt x="0" y="31"/>
                  </a:cubicBezTo>
                  <a:cubicBezTo>
                    <a:pt x="0" y="310"/>
                    <a:pt x="0" y="589"/>
                    <a:pt x="0" y="868"/>
                  </a:cubicBezTo>
                  <a:cubicBezTo>
                    <a:pt x="0" y="883"/>
                    <a:pt x="12" y="896"/>
                    <a:pt x="28" y="896"/>
                  </a:cubicBezTo>
                  <a:cubicBezTo>
                    <a:pt x="307" y="896"/>
                    <a:pt x="586" y="896"/>
                    <a:pt x="865" y="896"/>
                  </a:cubicBezTo>
                  <a:cubicBezTo>
                    <a:pt x="876" y="896"/>
                    <a:pt x="887" y="888"/>
                    <a:pt x="891" y="878"/>
                  </a:cubicBezTo>
                  <a:cubicBezTo>
                    <a:pt x="896" y="867"/>
                    <a:pt x="893" y="856"/>
                    <a:pt x="885" y="848"/>
                  </a:cubicBezTo>
                  <a:cubicBezTo>
                    <a:pt x="762" y="725"/>
                    <a:pt x="639" y="602"/>
                    <a:pt x="516" y="47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a16="http://schemas.microsoft.com/office/drawing/2014/main" id="{9C2FB798-77F2-7259-70D0-86AD43BEAAB7}"/>
                </a:ext>
              </a:extLst>
            </p:cNvPr>
            <p:cNvSpPr>
              <a:spLocks noChangeArrowheads="1"/>
            </p:cNvSpPr>
            <p:nvPr/>
          </p:nvSpPr>
          <p:spPr bwMode="auto">
            <a:xfrm>
              <a:off x="6962874" y="830560"/>
              <a:ext cx="194536" cy="194536"/>
            </a:xfrm>
            <a:custGeom>
              <a:avLst/>
              <a:gdLst>
                <a:gd name="T0" fmla="*/ 14 w 433"/>
                <a:gd name="T1" fmla="*/ 433 h 434"/>
                <a:gd name="T2" fmla="*/ 0 w 433"/>
                <a:gd name="T3" fmla="*/ 419 h 434"/>
                <a:gd name="T4" fmla="*/ 0 w 433"/>
                <a:gd name="T5" fmla="*/ 15 h 434"/>
                <a:gd name="T6" fmla="*/ 9 w 433"/>
                <a:gd name="T7" fmla="*/ 2 h 434"/>
                <a:gd name="T8" fmla="*/ 24 w 433"/>
                <a:gd name="T9" fmla="*/ 6 h 434"/>
                <a:gd name="T10" fmla="*/ 427 w 433"/>
                <a:gd name="T11" fmla="*/ 409 h 434"/>
                <a:gd name="T12" fmla="*/ 430 w 433"/>
                <a:gd name="T13" fmla="*/ 424 h 434"/>
                <a:gd name="T14" fmla="*/ 417 w 433"/>
                <a:gd name="T15" fmla="*/ 433 h 434"/>
                <a:gd name="T16" fmla="*/ 14 w 433"/>
                <a:gd name="T17" fmla="*/ 433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3" h="434">
                  <a:moveTo>
                    <a:pt x="14" y="433"/>
                  </a:moveTo>
                  <a:cubicBezTo>
                    <a:pt x="6" y="433"/>
                    <a:pt x="0" y="426"/>
                    <a:pt x="0" y="419"/>
                  </a:cubicBezTo>
                  <a:cubicBezTo>
                    <a:pt x="0" y="284"/>
                    <a:pt x="0" y="150"/>
                    <a:pt x="0" y="15"/>
                  </a:cubicBezTo>
                  <a:cubicBezTo>
                    <a:pt x="0" y="10"/>
                    <a:pt x="3" y="5"/>
                    <a:pt x="9" y="2"/>
                  </a:cubicBezTo>
                  <a:cubicBezTo>
                    <a:pt x="14" y="0"/>
                    <a:pt x="20" y="1"/>
                    <a:pt x="24" y="6"/>
                  </a:cubicBezTo>
                  <a:cubicBezTo>
                    <a:pt x="159" y="140"/>
                    <a:pt x="293" y="275"/>
                    <a:pt x="427" y="409"/>
                  </a:cubicBezTo>
                  <a:cubicBezTo>
                    <a:pt x="431" y="413"/>
                    <a:pt x="432" y="419"/>
                    <a:pt x="430" y="424"/>
                  </a:cubicBezTo>
                  <a:cubicBezTo>
                    <a:pt x="428" y="429"/>
                    <a:pt x="423" y="433"/>
                    <a:pt x="417" y="433"/>
                  </a:cubicBezTo>
                  <a:cubicBezTo>
                    <a:pt x="283" y="433"/>
                    <a:pt x="149" y="433"/>
                    <a:pt x="14" y="43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36" name="TextBox 135">
            <a:extLst>
              <a:ext uri="{FF2B5EF4-FFF2-40B4-BE49-F238E27FC236}">
                <a16:creationId xmlns:a16="http://schemas.microsoft.com/office/drawing/2014/main" id="{AE94BBB2-A1A2-A0BB-17D5-D0B45BF190D2}"/>
              </a:ext>
            </a:extLst>
          </p:cNvPr>
          <p:cNvSpPr txBox="1"/>
          <p:nvPr/>
        </p:nvSpPr>
        <p:spPr>
          <a:xfrm>
            <a:off x="8953873" y="2105217"/>
            <a:ext cx="816249"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Fira Sans Light" panose="020B0403050000020004" pitchFamily="34" charset="0"/>
                <a:ea typeface="+mn-ea"/>
                <a:cs typeface="+mn-cs"/>
              </a:rPr>
              <a:t>Architecture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Fira Sans Light" panose="020B0403050000020004" pitchFamily="34" charset="0"/>
                <a:ea typeface="+mn-ea"/>
                <a:cs typeface="+mn-cs"/>
              </a:rPr>
              <a:t>Review</a:t>
            </a:r>
          </a:p>
        </p:txBody>
      </p:sp>
      <p:grpSp>
        <p:nvGrpSpPr>
          <p:cNvPr id="137" name="Group 136">
            <a:extLst>
              <a:ext uri="{FF2B5EF4-FFF2-40B4-BE49-F238E27FC236}">
                <a16:creationId xmlns:a16="http://schemas.microsoft.com/office/drawing/2014/main" id="{C561A456-7923-9107-6892-A6967D7A646B}"/>
              </a:ext>
            </a:extLst>
          </p:cNvPr>
          <p:cNvGrpSpPr/>
          <p:nvPr/>
        </p:nvGrpSpPr>
        <p:grpSpPr>
          <a:xfrm>
            <a:off x="7831499" y="1592760"/>
            <a:ext cx="356709" cy="509582"/>
            <a:chOff x="4349232" y="4268797"/>
            <a:chExt cx="574505" cy="820721"/>
          </a:xfrm>
        </p:grpSpPr>
        <p:grpSp>
          <p:nvGrpSpPr>
            <p:cNvPr id="139" name="Group 138">
              <a:extLst>
                <a:ext uri="{FF2B5EF4-FFF2-40B4-BE49-F238E27FC236}">
                  <a16:creationId xmlns:a16="http://schemas.microsoft.com/office/drawing/2014/main" id="{83FCB94F-E602-E0EE-E451-5342F9370CBE}"/>
                </a:ext>
              </a:extLst>
            </p:cNvPr>
            <p:cNvGrpSpPr/>
            <p:nvPr/>
          </p:nvGrpSpPr>
          <p:grpSpPr>
            <a:xfrm>
              <a:off x="4349232" y="4268797"/>
              <a:ext cx="574505" cy="820721"/>
              <a:chOff x="8910638" y="695325"/>
              <a:chExt cx="355600" cy="508000"/>
            </a:xfrm>
          </p:grpSpPr>
          <p:sp>
            <p:nvSpPr>
              <p:cNvPr id="145" name="Freeform 143">
                <a:extLst>
                  <a:ext uri="{FF2B5EF4-FFF2-40B4-BE49-F238E27FC236}">
                    <a16:creationId xmlns:a16="http://schemas.microsoft.com/office/drawing/2014/main" id="{9428B00F-6765-F04E-4D86-7C342B2C2B76}"/>
                  </a:ext>
                </a:extLst>
              </p:cNvPr>
              <p:cNvSpPr>
                <a:spLocks noChangeArrowheads="1"/>
              </p:cNvSpPr>
              <p:nvPr/>
            </p:nvSpPr>
            <p:spPr bwMode="auto">
              <a:xfrm>
                <a:off x="8910638" y="746125"/>
                <a:ext cx="355600" cy="457200"/>
              </a:xfrm>
              <a:custGeom>
                <a:avLst/>
                <a:gdLst>
                  <a:gd name="T0" fmla="*/ 704 w 987"/>
                  <a:gd name="T1" fmla="*/ 0 h 1269"/>
                  <a:gd name="T2" fmla="*/ 915 w 987"/>
                  <a:gd name="T3" fmla="*/ 0 h 1269"/>
                  <a:gd name="T4" fmla="*/ 986 w 987"/>
                  <a:gd name="T5" fmla="*/ 71 h 1269"/>
                  <a:gd name="T6" fmla="*/ 986 w 987"/>
                  <a:gd name="T7" fmla="*/ 1198 h 1269"/>
                  <a:gd name="T8" fmla="*/ 915 w 987"/>
                  <a:gd name="T9" fmla="*/ 1268 h 1269"/>
                  <a:gd name="T10" fmla="*/ 70 w 987"/>
                  <a:gd name="T11" fmla="*/ 1268 h 1269"/>
                  <a:gd name="T12" fmla="*/ 0 w 987"/>
                  <a:gd name="T13" fmla="*/ 1198 h 1269"/>
                  <a:gd name="T14" fmla="*/ 0 w 987"/>
                  <a:gd name="T15" fmla="*/ 71 h 1269"/>
                  <a:gd name="T16" fmla="*/ 70 w 987"/>
                  <a:gd name="T17" fmla="*/ 0 h 1269"/>
                  <a:gd name="T18" fmla="*/ 281 w 987"/>
                  <a:gd name="T19" fmla="*/ 0 h 1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7" h="1269">
                    <a:moveTo>
                      <a:pt x="704" y="0"/>
                    </a:moveTo>
                    <a:cubicBezTo>
                      <a:pt x="775" y="0"/>
                      <a:pt x="845" y="0"/>
                      <a:pt x="915" y="0"/>
                    </a:cubicBezTo>
                    <a:cubicBezTo>
                      <a:pt x="954" y="0"/>
                      <a:pt x="986" y="32"/>
                      <a:pt x="986" y="71"/>
                    </a:cubicBezTo>
                    <a:cubicBezTo>
                      <a:pt x="986" y="447"/>
                      <a:pt x="986" y="822"/>
                      <a:pt x="986" y="1198"/>
                    </a:cubicBezTo>
                    <a:cubicBezTo>
                      <a:pt x="986" y="1236"/>
                      <a:pt x="954" y="1268"/>
                      <a:pt x="915" y="1268"/>
                    </a:cubicBezTo>
                    <a:cubicBezTo>
                      <a:pt x="634" y="1268"/>
                      <a:pt x="352" y="1268"/>
                      <a:pt x="70" y="1268"/>
                    </a:cubicBezTo>
                    <a:cubicBezTo>
                      <a:pt x="32" y="1268"/>
                      <a:pt x="0" y="1236"/>
                      <a:pt x="0" y="1198"/>
                    </a:cubicBezTo>
                    <a:cubicBezTo>
                      <a:pt x="0" y="822"/>
                      <a:pt x="0" y="447"/>
                      <a:pt x="0" y="71"/>
                    </a:cubicBezTo>
                    <a:cubicBezTo>
                      <a:pt x="0" y="32"/>
                      <a:pt x="32" y="0"/>
                      <a:pt x="70" y="0"/>
                    </a:cubicBezTo>
                    <a:cubicBezTo>
                      <a:pt x="141" y="0"/>
                      <a:pt x="211" y="0"/>
                      <a:pt x="281"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 name="Freeform 144">
                <a:extLst>
                  <a:ext uri="{FF2B5EF4-FFF2-40B4-BE49-F238E27FC236}">
                    <a16:creationId xmlns:a16="http://schemas.microsoft.com/office/drawing/2014/main" id="{A525AF35-0A43-ACF1-E265-B4B49FAD8E30}"/>
                  </a:ext>
                </a:extLst>
              </p:cNvPr>
              <p:cNvSpPr>
                <a:spLocks noChangeArrowheads="1"/>
              </p:cNvSpPr>
              <p:nvPr/>
            </p:nvSpPr>
            <p:spPr bwMode="auto">
              <a:xfrm>
                <a:off x="8974138" y="695325"/>
                <a:ext cx="228600" cy="114300"/>
              </a:xfrm>
              <a:custGeom>
                <a:avLst/>
                <a:gdLst>
                  <a:gd name="T0" fmla="*/ 634 w 635"/>
                  <a:gd name="T1" fmla="*/ 247 h 318"/>
                  <a:gd name="T2" fmla="*/ 528 w 635"/>
                  <a:gd name="T3" fmla="*/ 141 h 318"/>
                  <a:gd name="T4" fmla="*/ 475 w 635"/>
                  <a:gd name="T5" fmla="*/ 141 h 318"/>
                  <a:gd name="T6" fmla="*/ 458 w 635"/>
                  <a:gd name="T7" fmla="*/ 127 h 318"/>
                  <a:gd name="T8" fmla="*/ 317 w 635"/>
                  <a:gd name="T9" fmla="*/ 0 h 318"/>
                  <a:gd name="T10" fmla="*/ 176 w 635"/>
                  <a:gd name="T11" fmla="*/ 127 h 318"/>
                  <a:gd name="T12" fmla="*/ 158 w 635"/>
                  <a:gd name="T13" fmla="*/ 141 h 318"/>
                  <a:gd name="T14" fmla="*/ 105 w 635"/>
                  <a:gd name="T15" fmla="*/ 141 h 318"/>
                  <a:gd name="T16" fmla="*/ 0 w 635"/>
                  <a:gd name="T17" fmla="*/ 247 h 318"/>
                  <a:gd name="T18" fmla="*/ 0 w 635"/>
                  <a:gd name="T19" fmla="*/ 282 h 318"/>
                  <a:gd name="T20" fmla="*/ 35 w 635"/>
                  <a:gd name="T21" fmla="*/ 317 h 318"/>
                  <a:gd name="T22" fmla="*/ 598 w 635"/>
                  <a:gd name="T23" fmla="*/ 317 h 318"/>
                  <a:gd name="T24" fmla="*/ 634 w 635"/>
                  <a:gd name="T25" fmla="*/ 282 h 318"/>
                  <a:gd name="T26" fmla="*/ 634 w 635"/>
                  <a:gd name="T27" fmla="*/ 247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5" h="318">
                    <a:moveTo>
                      <a:pt x="634" y="247"/>
                    </a:moveTo>
                    <a:cubicBezTo>
                      <a:pt x="634" y="187"/>
                      <a:pt x="588" y="141"/>
                      <a:pt x="528" y="141"/>
                    </a:cubicBezTo>
                    <a:cubicBezTo>
                      <a:pt x="511" y="141"/>
                      <a:pt x="493" y="141"/>
                      <a:pt x="475" y="141"/>
                    </a:cubicBezTo>
                    <a:cubicBezTo>
                      <a:pt x="465" y="141"/>
                      <a:pt x="458" y="134"/>
                      <a:pt x="458" y="127"/>
                    </a:cubicBezTo>
                    <a:cubicBezTo>
                      <a:pt x="450" y="57"/>
                      <a:pt x="384" y="0"/>
                      <a:pt x="317" y="0"/>
                    </a:cubicBezTo>
                    <a:cubicBezTo>
                      <a:pt x="250" y="0"/>
                      <a:pt x="186" y="57"/>
                      <a:pt x="176" y="127"/>
                    </a:cubicBezTo>
                    <a:cubicBezTo>
                      <a:pt x="176" y="138"/>
                      <a:pt x="169" y="141"/>
                      <a:pt x="158" y="141"/>
                    </a:cubicBezTo>
                    <a:cubicBezTo>
                      <a:pt x="141" y="141"/>
                      <a:pt x="123" y="141"/>
                      <a:pt x="105" y="141"/>
                    </a:cubicBezTo>
                    <a:cubicBezTo>
                      <a:pt x="46" y="141"/>
                      <a:pt x="0" y="187"/>
                      <a:pt x="0" y="247"/>
                    </a:cubicBezTo>
                    <a:cubicBezTo>
                      <a:pt x="0" y="259"/>
                      <a:pt x="0" y="270"/>
                      <a:pt x="0" y="282"/>
                    </a:cubicBezTo>
                    <a:cubicBezTo>
                      <a:pt x="0" y="303"/>
                      <a:pt x="14" y="317"/>
                      <a:pt x="35" y="317"/>
                    </a:cubicBezTo>
                    <a:cubicBezTo>
                      <a:pt x="223" y="317"/>
                      <a:pt x="411" y="317"/>
                      <a:pt x="598" y="317"/>
                    </a:cubicBezTo>
                    <a:cubicBezTo>
                      <a:pt x="619" y="317"/>
                      <a:pt x="634" y="303"/>
                      <a:pt x="634" y="282"/>
                    </a:cubicBezTo>
                    <a:cubicBezTo>
                      <a:pt x="634" y="270"/>
                      <a:pt x="634" y="259"/>
                      <a:pt x="634" y="247"/>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 name="Freeform 146">
                <a:extLst>
                  <a:ext uri="{FF2B5EF4-FFF2-40B4-BE49-F238E27FC236}">
                    <a16:creationId xmlns:a16="http://schemas.microsoft.com/office/drawing/2014/main" id="{9FA1E536-3DAB-F80D-CD32-B1844033D9EC}"/>
                  </a:ext>
                </a:extLst>
              </p:cNvPr>
              <p:cNvSpPr>
                <a:spLocks noChangeArrowheads="1"/>
              </p:cNvSpPr>
              <p:nvPr/>
            </p:nvSpPr>
            <p:spPr bwMode="auto">
              <a:xfrm>
                <a:off x="9075738" y="733425"/>
                <a:ext cx="25400" cy="25400"/>
              </a:xfrm>
              <a:custGeom>
                <a:avLst/>
                <a:gdLst>
                  <a:gd name="T0" fmla="*/ 70 w 71"/>
                  <a:gd name="T1" fmla="*/ 35 h 72"/>
                  <a:gd name="T2" fmla="*/ 35 w 71"/>
                  <a:gd name="T3" fmla="*/ 71 h 72"/>
                  <a:gd name="T4" fmla="*/ 0 w 71"/>
                  <a:gd name="T5" fmla="*/ 35 h 72"/>
                  <a:gd name="T6" fmla="*/ 35 w 71"/>
                  <a:gd name="T7" fmla="*/ 0 h 72"/>
                  <a:gd name="T8" fmla="*/ 70 w 71"/>
                  <a:gd name="T9" fmla="*/ 35 h 72"/>
                </a:gdLst>
                <a:ahLst/>
                <a:cxnLst>
                  <a:cxn ang="0">
                    <a:pos x="T0" y="T1"/>
                  </a:cxn>
                  <a:cxn ang="0">
                    <a:pos x="T2" y="T3"/>
                  </a:cxn>
                  <a:cxn ang="0">
                    <a:pos x="T4" y="T5"/>
                  </a:cxn>
                  <a:cxn ang="0">
                    <a:pos x="T6" y="T7"/>
                  </a:cxn>
                  <a:cxn ang="0">
                    <a:pos x="T8" y="T9"/>
                  </a:cxn>
                </a:cxnLst>
                <a:rect l="0" t="0" r="r" b="b"/>
                <a:pathLst>
                  <a:path w="71" h="72">
                    <a:moveTo>
                      <a:pt x="70" y="35"/>
                    </a:moveTo>
                    <a:cubicBezTo>
                      <a:pt x="70" y="56"/>
                      <a:pt x="56" y="71"/>
                      <a:pt x="35" y="71"/>
                    </a:cubicBezTo>
                    <a:cubicBezTo>
                      <a:pt x="14" y="71"/>
                      <a:pt x="0" y="56"/>
                      <a:pt x="0" y="35"/>
                    </a:cubicBezTo>
                    <a:cubicBezTo>
                      <a:pt x="0" y="14"/>
                      <a:pt x="14" y="0"/>
                      <a:pt x="35" y="0"/>
                    </a:cubicBezTo>
                    <a:cubicBezTo>
                      <a:pt x="56" y="0"/>
                      <a:pt x="70" y="14"/>
                      <a:pt x="70" y="35"/>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40" name="Group 139">
              <a:extLst>
                <a:ext uri="{FF2B5EF4-FFF2-40B4-BE49-F238E27FC236}">
                  <a16:creationId xmlns:a16="http://schemas.microsoft.com/office/drawing/2014/main" id="{0FFCC87E-6507-BB1F-BFB2-A475FBFA6A3A}"/>
                </a:ext>
              </a:extLst>
            </p:cNvPr>
            <p:cNvGrpSpPr/>
            <p:nvPr/>
          </p:nvGrpSpPr>
          <p:grpSpPr>
            <a:xfrm>
              <a:off x="4476399" y="4633507"/>
              <a:ext cx="330993" cy="263621"/>
              <a:chOff x="4503811" y="4642651"/>
              <a:chExt cx="224312" cy="178655"/>
            </a:xfrm>
          </p:grpSpPr>
          <p:sp>
            <p:nvSpPr>
              <p:cNvPr id="142" name="Freeform 141">
                <a:extLst>
                  <a:ext uri="{FF2B5EF4-FFF2-40B4-BE49-F238E27FC236}">
                    <a16:creationId xmlns:a16="http://schemas.microsoft.com/office/drawing/2014/main" id="{8F704B53-BF90-5E59-43E7-93DF5BC366E0}"/>
                  </a:ext>
                </a:extLst>
              </p:cNvPr>
              <p:cNvSpPr>
                <a:spLocks noChangeArrowheads="1"/>
              </p:cNvSpPr>
              <p:nvPr/>
            </p:nvSpPr>
            <p:spPr bwMode="auto">
              <a:xfrm>
                <a:off x="4684451" y="4674412"/>
                <a:ext cx="43672" cy="117117"/>
              </a:xfrm>
              <a:custGeom>
                <a:avLst/>
                <a:gdLst>
                  <a:gd name="T0" fmla="*/ 0 w 95"/>
                  <a:gd name="T1" fmla="*/ 257 h 258"/>
                  <a:gd name="T2" fmla="*/ 90 w 95"/>
                  <a:gd name="T3" fmla="*/ 137 h 258"/>
                  <a:gd name="T4" fmla="*/ 90 w 95"/>
                  <a:gd name="T5" fmla="*/ 120 h 258"/>
                  <a:gd name="T6" fmla="*/ 0 w 95"/>
                  <a:gd name="T7" fmla="*/ 0 h 258"/>
                </a:gdLst>
                <a:ahLst/>
                <a:cxnLst>
                  <a:cxn ang="0">
                    <a:pos x="T0" y="T1"/>
                  </a:cxn>
                  <a:cxn ang="0">
                    <a:pos x="T2" y="T3"/>
                  </a:cxn>
                  <a:cxn ang="0">
                    <a:pos x="T4" y="T5"/>
                  </a:cxn>
                  <a:cxn ang="0">
                    <a:pos x="T6" y="T7"/>
                  </a:cxn>
                </a:cxnLst>
                <a:rect l="0" t="0" r="r" b="b"/>
                <a:pathLst>
                  <a:path w="95" h="258">
                    <a:moveTo>
                      <a:pt x="0" y="257"/>
                    </a:moveTo>
                    <a:cubicBezTo>
                      <a:pt x="30" y="217"/>
                      <a:pt x="60" y="177"/>
                      <a:pt x="90" y="137"/>
                    </a:cubicBezTo>
                    <a:cubicBezTo>
                      <a:pt x="94" y="132"/>
                      <a:pt x="94" y="125"/>
                      <a:pt x="90" y="120"/>
                    </a:cubicBezTo>
                    <a:cubicBezTo>
                      <a:pt x="60" y="80"/>
                      <a:pt x="30" y="4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 name="Freeform 142">
                <a:extLst>
                  <a:ext uri="{FF2B5EF4-FFF2-40B4-BE49-F238E27FC236}">
                    <a16:creationId xmlns:a16="http://schemas.microsoft.com/office/drawing/2014/main" id="{35167FF5-155C-F543-8F19-724CE648C5A5}"/>
                  </a:ext>
                </a:extLst>
              </p:cNvPr>
              <p:cNvSpPr>
                <a:spLocks noChangeArrowheads="1"/>
              </p:cNvSpPr>
              <p:nvPr/>
            </p:nvSpPr>
            <p:spPr bwMode="auto">
              <a:xfrm>
                <a:off x="4503811" y="4674412"/>
                <a:ext cx="43672" cy="117117"/>
              </a:xfrm>
              <a:custGeom>
                <a:avLst/>
                <a:gdLst>
                  <a:gd name="T0" fmla="*/ 94 w 95"/>
                  <a:gd name="T1" fmla="*/ 0 h 258"/>
                  <a:gd name="T2" fmla="*/ 4 w 95"/>
                  <a:gd name="T3" fmla="*/ 120 h 258"/>
                  <a:gd name="T4" fmla="*/ 4 w 95"/>
                  <a:gd name="T5" fmla="*/ 137 h 258"/>
                  <a:gd name="T6" fmla="*/ 94 w 95"/>
                  <a:gd name="T7" fmla="*/ 257 h 258"/>
                </a:gdLst>
                <a:ahLst/>
                <a:cxnLst>
                  <a:cxn ang="0">
                    <a:pos x="T0" y="T1"/>
                  </a:cxn>
                  <a:cxn ang="0">
                    <a:pos x="T2" y="T3"/>
                  </a:cxn>
                  <a:cxn ang="0">
                    <a:pos x="T4" y="T5"/>
                  </a:cxn>
                  <a:cxn ang="0">
                    <a:pos x="T6" y="T7"/>
                  </a:cxn>
                </a:cxnLst>
                <a:rect l="0" t="0" r="r" b="b"/>
                <a:pathLst>
                  <a:path w="95" h="258">
                    <a:moveTo>
                      <a:pt x="94" y="0"/>
                    </a:moveTo>
                    <a:cubicBezTo>
                      <a:pt x="64" y="40"/>
                      <a:pt x="34" y="80"/>
                      <a:pt x="4" y="120"/>
                    </a:cubicBezTo>
                    <a:cubicBezTo>
                      <a:pt x="0" y="125"/>
                      <a:pt x="0" y="132"/>
                      <a:pt x="4" y="137"/>
                    </a:cubicBezTo>
                    <a:cubicBezTo>
                      <a:pt x="34" y="177"/>
                      <a:pt x="64" y="217"/>
                      <a:pt x="94" y="25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Freeform 143">
                <a:extLst>
                  <a:ext uri="{FF2B5EF4-FFF2-40B4-BE49-F238E27FC236}">
                    <a16:creationId xmlns:a16="http://schemas.microsoft.com/office/drawing/2014/main" id="{AA082F8C-2D5A-2FB7-B2D6-E2824F619B1D}"/>
                  </a:ext>
                </a:extLst>
              </p:cNvPr>
              <p:cNvSpPr>
                <a:spLocks noChangeArrowheads="1"/>
              </p:cNvSpPr>
              <p:nvPr/>
            </p:nvSpPr>
            <p:spPr bwMode="auto">
              <a:xfrm>
                <a:off x="4593138" y="4642651"/>
                <a:ext cx="45655" cy="178655"/>
              </a:xfrm>
              <a:custGeom>
                <a:avLst/>
                <a:gdLst>
                  <a:gd name="T0" fmla="*/ 99 w 100"/>
                  <a:gd name="T1" fmla="*/ 0 h 396"/>
                  <a:gd name="T2" fmla="*/ 0 w 100"/>
                  <a:gd name="T3" fmla="*/ 395 h 396"/>
                </a:gdLst>
                <a:ahLst/>
                <a:cxnLst>
                  <a:cxn ang="0">
                    <a:pos x="T0" y="T1"/>
                  </a:cxn>
                  <a:cxn ang="0">
                    <a:pos x="T2" y="T3"/>
                  </a:cxn>
                </a:cxnLst>
                <a:rect l="0" t="0" r="r" b="b"/>
                <a:pathLst>
                  <a:path w="100" h="396">
                    <a:moveTo>
                      <a:pt x="99" y="0"/>
                    </a:moveTo>
                    <a:cubicBezTo>
                      <a:pt x="66" y="132"/>
                      <a:pt x="33" y="263"/>
                      <a:pt x="0" y="39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48" name="Group 147">
            <a:extLst>
              <a:ext uri="{FF2B5EF4-FFF2-40B4-BE49-F238E27FC236}">
                <a16:creationId xmlns:a16="http://schemas.microsoft.com/office/drawing/2014/main" id="{10937E0E-29B0-E3FB-1023-01BA3BD190A9}"/>
              </a:ext>
            </a:extLst>
          </p:cNvPr>
          <p:cNvGrpSpPr/>
          <p:nvPr/>
        </p:nvGrpSpPr>
        <p:grpSpPr>
          <a:xfrm>
            <a:off x="10397631" y="1578046"/>
            <a:ext cx="595121" cy="595121"/>
            <a:chOff x="876841" y="1324443"/>
            <a:chExt cx="957204" cy="957202"/>
          </a:xfrm>
        </p:grpSpPr>
        <p:grpSp>
          <p:nvGrpSpPr>
            <p:cNvPr id="149" name="Group 148">
              <a:extLst>
                <a:ext uri="{FF2B5EF4-FFF2-40B4-BE49-F238E27FC236}">
                  <a16:creationId xmlns:a16="http://schemas.microsoft.com/office/drawing/2014/main" id="{D5468D3B-34F7-FE95-0176-8F21C8444F8B}"/>
                </a:ext>
              </a:extLst>
            </p:cNvPr>
            <p:cNvGrpSpPr/>
            <p:nvPr/>
          </p:nvGrpSpPr>
          <p:grpSpPr>
            <a:xfrm>
              <a:off x="1019307" y="1477231"/>
              <a:ext cx="406068" cy="419840"/>
              <a:chOff x="9472613" y="2347913"/>
              <a:chExt cx="325437" cy="336550"/>
            </a:xfrm>
          </p:grpSpPr>
          <p:sp>
            <p:nvSpPr>
              <p:cNvPr id="151" name="Freeform 177">
                <a:extLst>
                  <a:ext uri="{FF2B5EF4-FFF2-40B4-BE49-F238E27FC236}">
                    <a16:creationId xmlns:a16="http://schemas.microsoft.com/office/drawing/2014/main" id="{B59AAE84-C9ED-EFDA-05DB-A3DF9A24A4FC}"/>
                  </a:ext>
                </a:extLst>
              </p:cNvPr>
              <p:cNvSpPr>
                <a:spLocks noChangeArrowheads="1"/>
              </p:cNvSpPr>
              <p:nvPr/>
            </p:nvSpPr>
            <p:spPr bwMode="auto">
              <a:xfrm>
                <a:off x="9621838" y="2638425"/>
                <a:ext cx="74612" cy="1588"/>
              </a:xfrm>
              <a:custGeom>
                <a:avLst/>
                <a:gdLst>
                  <a:gd name="T0" fmla="*/ 205 w 206"/>
                  <a:gd name="T1" fmla="*/ 0 h 1"/>
                  <a:gd name="T2" fmla="*/ 0 w 206"/>
                  <a:gd name="T3" fmla="*/ 0 h 1"/>
                </a:gdLst>
                <a:ahLst/>
                <a:cxnLst>
                  <a:cxn ang="0">
                    <a:pos x="T0" y="T1"/>
                  </a:cxn>
                  <a:cxn ang="0">
                    <a:pos x="T2" y="T3"/>
                  </a:cxn>
                </a:cxnLst>
                <a:rect l="0" t="0" r="r" b="b"/>
                <a:pathLst>
                  <a:path w="206" h="1">
                    <a:moveTo>
                      <a:pt x="205" y="0"/>
                    </a:moveTo>
                    <a:cubicBezTo>
                      <a:pt x="137" y="0"/>
                      <a:pt x="6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 name="Freeform 178">
                <a:extLst>
                  <a:ext uri="{FF2B5EF4-FFF2-40B4-BE49-F238E27FC236}">
                    <a16:creationId xmlns:a16="http://schemas.microsoft.com/office/drawing/2014/main" id="{9944C5D6-CAF8-C4A3-D5D0-75552EB0F18A}"/>
                  </a:ext>
                </a:extLst>
              </p:cNvPr>
              <p:cNvSpPr>
                <a:spLocks noChangeArrowheads="1"/>
              </p:cNvSpPr>
              <p:nvPr/>
            </p:nvSpPr>
            <p:spPr bwMode="auto">
              <a:xfrm>
                <a:off x="9472613" y="2592388"/>
                <a:ext cx="325437" cy="92075"/>
              </a:xfrm>
              <a:custGeom>
                <a:avLst/>
                <a:gdLst>
                  <a:gd name="T0" fmla="*/ 0 w 904"/>
                  <a:gd name="T1" fmla="*/ 198 h 255"/>
                  <a:gd name="T2" fmla="*/ 56 w 904"/>
                  <a:gd name="T3" fmla="*/ 254 h 255"/>
                  <a:gd name="T4" fmla="*/ 846 w 904"/>
                  <a:gd name="T5" fmla="*/ 254 h 255"/>
                  <a:gd name="T6" fmla="*/ 903 w 904"/>
                  <a:gd name="T7" fmla="*/ 198 h 255"/>
                  <a:gd name="T8" fmla="*/ 903 w 904"/>
                  <a:gd name="T9" fmla="*/ 57 h 255"/>
                  <a:gd name="T10" fmla="*/ 846 w 904"/>
                  <a:gd name="T11" fmla="*/ 0 h 255"/>
                  <a:gd name="T12" fmla="*/ 56 w 904"/>
                  <a:gd name="T13" fmla="*/ 0 h 255"/>
                  <a:gd name="T14" fmla="*/ 0 w 904"/>
                  <a:gd name="T15" fmla="*/ 57 h 255"/>
                  <a:gd name="T16" fmla="*/ 0 w 904"/>
                  <a:gd name="T17" fmla="*/ 19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4" h="255">
                    <a:moveTo>
                      <a:pt x="0" y="198"/>
                    </a:moveTo>
                    <a:cubicBezTo>
                      <a:pt x="0" y="229"/>
                      <a:pt x="25" y="254"/>
                      <a:pt x="56" y="254"/>
                    </a:cubicBezTo>
                    <a:cubicBezTo>
                      <a:pt x="319" y="254"/>
                      <a:pt x="583" y="254"/>
                      <a:pt x="846" y="254"/>
                    </a:cubicBezTo>
                    <a:cubicBezTo>
                      <a:pt x="878" y="254"/>
                      <a:pt x="903" y="229"/>
                      <a:pt x="903" y="198"/>
                    </a:cubicBezTo>
                    <a:cubicBezTo>
                      <a:pt x="903" y="151"/>
                      <a:pt x="903" y="104"/>
                      <a:pt x="903" y="57"/>
                    </a:cubicBezTo>
                    <a:cubicBezTo>
                      <a:pt x="903" y="26"/>
                      <a:pt x="878" y="0"/>
                      <a:pt x="846" y="0"/>
                    </a:cubicBezTo>
                    <a:cubicBezTo>
                      <a:pt x="583" y="0"/>
                      <a:pt x="319" y="0"/>
                      <a:pt x="56" y="0"/>
                    </a:cubicBezTo>
                    <a:cubicBezTo>
                      <a:pt x="25" y="0"/>
                      <a:pt x="0" y="26"/>
                      <a:pt x="0" y="57"/>
                    </a:cubicBezTo>
                    <a:cubicBezTo>
                      <a:pt x="0" y="104"/>
                      <a:pt x="0" y="151"/>
                      <a:pt x="0" y="19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4" name="Freeform 179">
                <a:extLst>
                  <a:ext uri="{FF2B5EF4-FFF2-40B4-BE49-F238E27FC236}">
                    <a16:creationId xmlns:a16="http://schemas.microsoft.com/office/drawing/2014/main" id="{F81B62EF-65BE-0603-18B8-DB72D3652A65}"/>
                  </a:ext>
                </a:extLst>
              </p:cNvPr>
              <p:cNvSpPr>
                <a:spLocks noChangeArrowheads="1"/>
              </p:cNvSpPr>
              <p:nvPr/>
            </p:nvSpPr>
            <p:spPr bwMode="auto">
              <a:xfrm>
                <a:off x="9621838" y="2516188"/>
                <a:ext cx="74612" cy="1587"/>
              </a:xfrm>
              <a:custGeom>
                <a:avLst/>
                <a:gdLst>
                  <a:gd name="T0" fmla="*/ 205 w 206"/>
                  <a:gd name="T1" fmla="*/ 0 h 1"/>
                  <a:gd name="T2" fmla="*/ 0 w 206"/>
                  <a:gd name="T3" fmla="*/ 0 h 1"/>
                </a:gdLst>
                <a:ahLst/>
                <a:cxnLst>
                  <a:cxn ang="0">
                    <a:pos x="T0" y="T1"/>
                  </a:cxn>
                  <a:cxn ang="0">
                    <a:pos x="T2" y="T3"/>
                  </a:cxn>
                </a:cxnLst>
                <a:rect l="0" t="0" r="r" b="b"/>
                <a:pathLst>
                  <a:path w="206" h="1">
                    <a:moveTo>
                      <a:pt x="205" y="0"/>
                    </a:moveTo>
                    <a:cubicBezTo>
                      <a:pt x="137" y="0"/>
                      <a:pt x="6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 name="Freeform 180">
                <a:extLst>
                  <a:ext uri="{FF2B5EF4-FFF2-40B4-BE49-F238E27FC236}">
                    <a16:creationId xmlns:a16="http://schemas.microsoft.com/office/drawing/2014/main" id="{07365B8B-7E5A-3E5C-A9C6-A201BE5E7038}"/>
                  </a:ext>
                </a:extLst>
              </p:cNvPr>
              <p:cNvSpPr>
                <a:spLocks noChangeArrowheads="1"/>
              </p:cNvSpPr>
              <p:nvPr/>
            </p:nvSpPr>
            <p:spPr bwMode="auto">
              <a:xfrm>
                <a:off x="9472613" y="2470150"/>
                <a:ext cx="325437" cy="92075"/>
              </a:xfrm>
              <a:custGeom>
                <a:avLst/>
                <a:gdLst>
                  <a:gd name="T0" fmla="*/ 0 w 904"/>
                  <a:gd name="T1" fmla="*/ 197 h 255"/>
                  <a:gd name="T2" fmla="*/ 56 w 904"/>
                  <a:gd name="T3" fmla="*/ 254 h 255"/>
                  <a:gd name="T4" fmla="*/ 846 w 904"/>
                  <a:gd name="T5" fmla="*/ 254 h 255"/>
                  <a:gd name="T6" fmla="*/ 903 w 904"/>
                  <a:gd name="T7" fmla="*/ 197 h 255"/>
                  <a:gd name="T8" fmla="*/ 903 w 904"/>
                  <a:gd name="T9" fmla="*/ 56 h 255"/>
                  <a:gd name="T10" fmla="*/ 846 w 904"/>
                  <a:gd name="T11" fmla="*/ 0 h 255"/>
                  <a:gd name="T12" fmla="*/ 56 w 904"/>
                  <a:gd name="T13" fmla="*/ 0 h 255"/>
                  <a:gd name="T14" fmla="*/ 0 w 904"/>
                  <a:gd name="T15" fmla="*/ 56 h 255"/>
                  <a:gd name="T16" fmla="*/ 0 w 904"/>
                  <a:gd name="T17" fmla="*/ 19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4" h="255">
                    <a:moveTo>
                      <a:pt x="0" y="197"/>
                    </a:moveTo>
                    <a:cubicBezTo>
                      <a:pt x="0" y="228"/>
                      <a:pt x="25" y="254"/>
                      <a:pt x="56" y="254"/>
                    </a:cubicBezTo>
                    <a:cubicBezTo>
                      <a:pt x="319" y="254"/>
                      <a:pt x="583" y="254"/>
                      <a:pt x="846" y="254"/>
                    </a:cubicBezTo>
                    <a:cubicBezTo>
                      <a:pt x="878" y="254"/>
                      <a:pt x="903" y="228"/>
                      <a:pt x="903" y="197"/>
                    </a:cubicBezTo>
                    <a:cubicBezTo>
                      <a:pt x="903" y="150"/>
                      <a:pt x="903" y="103"/>
                      <a:pt x="903" y="56"/>
                    </a:cubicBezTo>
                    <a:cubicBezTo>
                      <a:pt x="903" y="25"/>
                      <a:pt x="878" y="0"/>
                      <a:pt x="846" y="0"/>
                    </a:cubicBezTo>
                    <a:cubicBezTo>
                      <a:pt x="583" y="0"/>
                      <a:pt x="319" y="0"/>
                      <a:pt x="56" y="0"/>
                    </a:cubicBezTo>
                    <a:cubicBezTo>
                      <a:pt x="25" y="0"/>
                      <a:pt x="0" y="25"/>
                      <a:pt x="0" y="56"/>
                    </a:cubicBezTo>
                    <a:cubicBezTo>
                      <a:pt x="0" y="103"/>
                      <a:pt x="0" y="150"/>
                      <a:pt x="0" y="197"/>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Freeform 181">
                <a:extLst>
                  <a:ext uri="{FF2B5EF4-FFF2-40B4-BE49-F238E27FC236}">
                    <a16:creationId xmlns:a16="http://schemas.microsoft.com/office/drawing/2014/main" id="{BE74162A-82CB-526C-AE8C-F6FEC7441DE7}"/>
                  </a:ext>
                </a:extLst>
              </p:cNvPr>
              <p:cNvSpPr>
                <a:spLocks noChangeArrowheads="1"/>
              </p:cNvSpPr>
              <p:nvPr/>
            </p:nvSpPr>
            <p:spPr bwMode="auto">
              <a:xfrm>
                <a:off x="9621838" y="2393950"/>
                <a:ext cx="74612" cy="1588"/>
              </a:xfrm>
              <a:custGeom>
                <a:avLst/>
                <a:gdLst>
                  <a:gd name="T0" fmla="*/ 205 w 206"/>
                  <a:gd name="T1" fmla="*/ 0 h 1"/>
                  <a:gd name="T2" fmla="*/ 0 w 206"/>
                  <a:gd name="T3" fmla="*/ 0 h 1"/>
                </a:gdLst>
                <a:ahLst/>
                <a:cxnLst>
                  <a:cxn ang="0">
                    <a:pos x="T0" y="T1"/>
                  </a:cxn>
                  <a:cxn ang="0">
                    <a:pos x="T2" y="T3"/>
                  </a:cxn>
                </a:cxnLst>
                <a:rect l="0" t="0" r="r" b="b"/>
                <a:pathLst>
                  <a:path w="206" h="1">
                    <a:moveTo>
                      <a:pt x="205" y="0"/>
                    </a:moveTo>
                    <a:cubicBezTo>
                      <a:pt x="137" y="0"/>
                      <a:pt x="6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 name="Freeform 182">
                <a:extLst>
                  <a:ext uri="{FF2B5EF4-FFF2-40B4-BE49-F238E27FC236}">
                    <a16:creationId xmlns:a16="http://schemas.microsoft.com/office/drawing/2014/main" id="{00220529-477C-6E26-05B5-B6F193EFA823}"/>
                  </a:ext>
                </a:extLst>
              </p:cNvPr>
              <p:cNvSpPr>
                <a:spLocks noChangeArrowheads="1"/>
              </p:cNvSpPr>
              <p:nvPr/>
            </p:nvSpPr>
            <p:spPr bwMode="auto">
              <a:xfrm>
                <a:off x="9734550" y="2393950"/>
                <a:ext cx="23813" cy="1588"/>
              </a:xfrm>
              <a:custGeom>
                <a:avLst/>
                <a:gdLst>
                  <a:gd name="T0" fmla="*/ 63 w 64"/>
                  <a:gd name="T1" fmla="*/ 0 h 1"/>
                  <a:gd name="T2" fmla="*/ 0 w 64"/>
                  <a:gd name="T3" fmla="*/ 0 h 1"/>
                </a:gdLst>
                <a:ahLst/>
                <a:cxnLst>
                  <a:cxn ang="0">
                    <a:pos x="T0" y="T1"/>
                  </a:cxn>
                  <a:cxn ang="0">
                    <a:pos x="T2" y="T3"/>
                  </a:cxn>
                </a:cxnLst>
                <a:rect l="0" t="0" r="r" b="b"/>
                <a:pathLst>
                  <a:path w="64" h="1">
                    <a:moveTo>
                      <a:pt x="63" y="0"/>
                    </a:moveTo>
                    <a:cubicBezTo>
                      <a:pt x="42" y="0"/>
                      <a:pt x="21"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 name="Freeform 183">
                <a:extLst>
                  <a:ext uri="{FF2B5EF4-FFF2-40B4-BE49-F238E27FC236}">
                    <a16:creationId xmlns:a16="http://schemas.microsoft.com/office/drawing/2014/main" id="{C78AC13F-51E6-20E0-C7A2-D4132424E217}"/>
                  </a:ext>
                </a:extLst>
              </p:cNvPr>
              <p:cNvSpPr>
                <a:spLocks noChangeArrowheads="1"/>
              </p:cNvSpPr>
              <p:nvPr/>
            </p:nvSpPr>
            <p:spPr bwMode="auto">
              <a:xfrm>
                <a:off x="9734550" y="2516188"/>
                <a:ext cx="23813" cy="1587"/>
              </a:xfrm>
              <a:custGeom>
                <a:avLst/>
                <a:gdLst>
                  <a:gd name="T0" fmla="*/ 63 w 64"/>
                  <a:gd name="T1" fmla="*/ 0 h 1"/>
                  <a:gd name="T2" fmla="*/ 0 w 64"/>
                  <a:gd name="T3" fmla="*/ 0 h 1"/>
                </a:gdLst>
                <a:ahLst/>
                <a:cxnLst>
                  <a:cxn ang="0">
                    <a:pos x="T0" y="T1"/>
                  </a:cxn>
                  <a:cxn ang="0">
                    <a:pos x="T2" y="T3"/>
                  </a:cxn>
                </a:cxnLst>
                <a:rect l="0" t="0" r="r" b="b"/>
                <a:pathLst>
                  <a:path w="64" h="1">
                    <a:moveTo>
                      <a:pt x="63" y="0"/>
                    </a:moveTo>
                    <a:cubicBezTo>
                      <a:pt x="42" y="0"/>
                      <a:pt x="21"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Freeform 184">
                <a:extLst>
                  <a:ext uri="{FF2B5EF4-FFF2-40B4-BE49-F238E27FC236}">
                    <a16:creationId xmlns:a16="http://schemas.microsoft.com/office/drawing/2014/main" id="{DFAC7CFD-F70F-6DF5-0FCB-5E8555047266}"/>
                  </a:ext>
                </a:extLst>
              </p:cNvPr>
              <p:cNvSpPr>
                <a:spLocks noChangeArrowheads="1"/>
              </p:cNvSpPr>
              <p:nvPr/>
            </p:nvSpPr>
            <p:spPr bwMode="auto">
              <a:xfrm>
                <a:off x="9734550" y="2638425"/>
                <a:ext cx="23813" cy="1588"/>
              </a:xfrm>
              <a:custGeom>
                <a:avLst/>
                <a:gdLst>
                  <a:gd name="T0" fmla="*/ 63 w 64"/>
                  <a:gd name="T1" fmla="*/ 0 h 1"/>
                  <a:gd name="T2" fmla="*/ 0 w 64"/>
                  <a:gd name="T3" fmla="*/ 0 h 1"/>
                </a:gdLst>
                <a:ahLst/>
                <a:cxnLst>
                  <a:cxn ang="0">
                    <a:pos x="T0" y="T1"/>
                  </a:cxn>
                  <a:cxn ang="0">
                    <a:pos x="T2" y="T3"/>
                  </a:cxn>
                </a:cxnLst>
                <a:rect l="0" t="0" r="r" b="b"/>
                <a:pathLst>
                  <a:path w="64" h="1">
                    <a:moveTo>
                      <a:pt x="63" y="0"/>
                    </a:moveTo>
                    <a:cubicBezTo>
                      <a:pt x="42" y="0"/>
                      <a:pt x="21"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 name="Freeform 185">
                <a:extLst>
                  <a:ext uri="{FF2B5EF4-FFF2-40B4-BE49-F238E27FC236}">
                    <a16:creationId xmlns:a16="http://schemas.microsoft.com/office/drawing/2014/main" id="{9AA77ACD-7C50-DF8E-83C0-767621B2DB46}"/>
                  </a:ext>
                </a:extLst>
              </p:cNvPr>
              <p:cNvSpPr>
                <a:spLocks noChangeArrowheads="1"/>
              </p:cNvSpPr>
              <p:nvPr/>
            </p:nvSpPr>
            <p:spPr bwMode="auto">
              <a:xfrm>
                <a:off x="9472613" y="2347913"/>
                <a:ext cx="325437" cy="92075"/>
              </a:xfrm>
              <a:custGeom>
                <a:avLst/>
                <a:gdLst>
                  <a:gd name="T0" fmla="*/ 0 w 904"/>
                  <a:gd name="T1" fmla="*/ 198 h 255"/>
                  <a:gd name="T2" fmla="*/ 56 w 904"/>
                  <a:gd name="T3" fmla="*/ 254 h 255"/>
                  <a:gd name="T4" fmla="*/ 846 w 904"/>
                  <a:gd name="T5" fmla="*/ 254 h 255"/>
                  <a:gd name="T6" fmla="*/ 903 w 904"/>
                  <a:gd name="T7" fmla="*/ 198 h 255"/>
                  <a:gd name="T8" fmla="*/ 903 w 904"/>
                  <a:gd name="T9" fmla="*/ 56 h 255"/>
                  <a:gd name="T10" fmla="*/ 846 w 904"/>
                  <a:gd name="T11" fmla="*/ 0 h 255"/>
                  <a:gd name="T12" fmla="*/ 56 w 904"/>
                  <a:gd name="T13" fmla="*/ 0 h 255"/>
                  <a:gd name="T14" fmla="*/ 0 w 904"/>
                  <a:gd name="T15" fmla="*/ 56 h 255"/>
                  <a:gd name="T16" fmla="*/ 0 w 904"/>
                  <a:gd name="T17" fmla="*/ 19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4" h="255">
                    <a:moveTo>
                      <a:pt x="0" y="198"/>
                    </a:moveTo>
                    <a:cubicBezTo>
                      <a:pt x="0" y="229"/>
                      <a:pt x="25" y="254"/>
                      <a:pt x="56" y="254"/>
                    </a:cubicBezTo>
                    <a:cubicBezTo>
                      <a:pt x="319" y="254"/>
                      <a:pt x="583" y="254"/>
                      <a:pt x="846" y="254"/>
                    </a:cubicBezTo>
                    <a:cubicBezTo>
                      <a:pt x="878" y="254"/>
                      <a:pt x="903" y="229"/>
                      <a:pt x="903" y="198"/>
                    </a:cubicBezTo>
                    <a:cubicBezTo>
                      <a:pt x="903" y="150"/>
                      <a:pt x="903" y="103"/>
                      <a:pt x="903" y="56"/>
                    </a:cubicBezTo>
                    <a:cubicBezTo>
                      <a:pt x="903" y="25"/>
                      <a:pt x="878" y="0"/>
                      <a:pt x="846" y="0"/>
                    </a:cubicBezTo>
                    <a:cubicBezTo>
                      <a:pt x="583" y="0"/>
                      <a:pt x="319" y="0"/>
                      <a:pt x="56" y="0"/>
                    </a:cubicBezTo>
                    <a:cubicBezTo>
                      <a:pt x="25" y="0"/>
                      <a:pt x="0" y="25"/>
                      <a:pt x="0" y="56"/>
                    </a:cubicBezTo>
                    <a:cubicBezTo>
                      <a:pt x="0" y="103"/>
                      <a:pt x="0" y="150"/>
                      <a:pt x="0" y="19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50" name="Freeform 241">
              <a:extLst>
                <a:ext uri="{FF2B5EF4-FFF2-40B4-BE49-F238E27FC236}">
                  <a16:creationId xmlns:a16="http://schemas.microsoft.com/office/drawing/2014/main" id="{11019AE7-1310-F3BC-2C17-04554919AA09}"/>
                </a:ext>
              </a:extLst>
            </p:cNvPr>
            <p:cNvSpPr>
              <a:spLocks noChangeArrowheads="1"/>
            </p:cNvSpPr>
            <p:nvPr/>
          </p:nvSpPr>
          <p:spPr bwMode="auto">
            <a:xfrm>
              <a:off x="876841" y="1324443"/>
              <a:ext cx="957204" cy="957202"/>
            </a:xfrm>
            <a:custGeom>
              <a:avLst/>
              <a:gdLst>
                <a:gd name="T0" fmla="*/ 1275 w 1302"/>
                <a:gd name="T1" fmla="*/ 1276 h 1303"/>
                <a:gd name="T2" fmla="*/ 1275 w 1302"/>
                <a:gd name="T3" fmla="*/ 1181 h 1303"/>
                <a:gd name="T4" fmla="*/ 865 w 1302"/>
                <a:gd name="T5" fmla="*/ 771 h 1303"/>
                <a:gd name="T6" fmla="*/ 861 w 1302"/>
                <a:gd name="T7" fmla="*/ 728 h 1303"/>
                <a:gd name="T8" fmla="*/ 939 w 1302"/>
                <a:gd name="T9" fmla="*/ 470 h 1303"/>
                <a:gd name="T10" fmla="*/ 469 w 1302"/>
                <a:gd name="T11" fmla="*/ 0 h 1303"/>
                <a:gd name="T12" fmla="*/ 0 w 1302"/>
                <a:gd name="T13" fmla="*/ 470 h 1303"/>
                <a:gd name="T14" fmla="*/ 469 w 1302"/>
                <a:gd name="T15" fmla="*/ 939 h 1303"/>
                <a:gd name="T16" fmla="*/ 728 w 1302"/>
                <a:gd name="T17" fmla="*/ 861 h 1303"/>
                <a:gd name="T18" fmla="*/ 770 w 1302"/>
                <a:gd name="T19" fmla="*/ 865 h 1303"/>
                <a:gd name="T20" fmla="*/ 1180 w 1302"/>
                <a:gd name="T21" fmla="*/ 1276 h 1303"/>
                <a:gd name="T22" fmla="*/ 1275 w 1302"/>
                <a:gd name="T23" fmla="*/ 1276 h 1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02" h="1303">
                  <a:moveTo>
                    <a:pt x="1275" y="1276"/>
                  </a:moveTo>
                  <a:cubicBezTo>
                    <a:pt x="1301" y="1249"/>
                    <a:pt x="1301" y="1207"/>
                    <a:pt x="1275" y="1181"/>
                  </a:cubicBezTo>
                  <a:cubicBezTo>
                    <a:pt x="1138" y="1044"/>
                    <a:pt x="1001" y="907"/>
                    <a:pt x="865" y="771"/>
                  </a:cubicBezTo>
                  <a:cubicBezTo>
                    <a:pt x="854" y="759"/>
                    <a:pt x="852" y="742"/>
                    <a:pt x="861" y="728"/>
                  </a:cubicBezTo>
                  <a:cubicBezTo>
                    <a:pt x="910" y="654"/>
                    <a:pt x="939" y="565"/>
                    <a:pt x="939" y="470"/>
                  </a:cubicBezTo>
                  <a:cubicBezTo>
                    <a:pt x="939" y="211"/>
                    <a:pt x="728" y="0"/>
                    <a:pt x="469" y="0"/>
                  </a:cubicBezTo>
                  <a:cubicBezTo>
                    <a:pt x="210" y="0"/>
                    <a:pt x="0" y="211"/>
                    <a:pt x="0" y="470"/>
                  </a:cubicBezTo>
                  <a:cubicBezTo>
                    <a:pt x="0" y="728"/>
                    <a:pt x="210" y="939"/>
                    <a:pt x="469" y="939"/>
                  </a:cubicBezTo>
                  <a:cubicBezTo>
                    <a:pt x="565" y="939"/>
                    <a:pt x="654" y="910"/>
                    <a:pt x="728" y="861"/>
                  </a:cubicBezTo>
                  <a:cubicBezTo>
                    <a:pt x="741" y="852"/>
                    <a:pt x="759" y="854"/>
                    <a:pt x="770" y="865"/>
                  </a:cubicBezTo>
                  <a:cubicBezTo>
                    <a:pt x="906" y="1002"/>
                    <a:pt x="1043" y="1139"/>
                    <a:pt x="1180" y="1276"/>
                  </a:cubicBezTo>
                  <a:cubicBezTo>
                    <a:pt x="1206" y="1302"/>
                    <a:pt x="1249" y="1302"/>
                    <a:pt x="1275" y="127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1" name="TextBox 160">
            <a:extLst>
              <a:ext uri="{FF2B5EF4-FFF2-40B4-BE49-F238E27FC236}">
                <a16:creationId xmlns:a16="http://schemas.microsoft.com/office/drawing/2014/main" id="{B8B7C31F-7E98-1DE0-3862-ED77C9319A34}"/>
              </a:ext>
            </a:extLst>
          </p:cNvPr>
          <p:cNvSpPr txBox="1"/>
          <p:nvPr/>
        </p:nvSpPr>
        <p:spPr>
          <a:xfrm>
            <a:off x="10229948" y="2139053"/>
            <a:ext cx="898002"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Fira Sans Light" panose="020B0403050000020004" pitchFamily="34" charset="0"/>
                <a:ea typeface="+mn-ea"/>
                <a:cs typeface="+mn-cs"/>
              </a:rPr>
              <a:t>Infrastructure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Fira Sans Light" panose="020B0403050000020004" pitchFamily="34" charset="0"/>
                <a:ea typeface="+mn-ea"/>
                <a:cs typeface="+mn-cs"/>
              </a:rPr>
              <a:t>Discovery</a:t>
            </a:r>
          </a:p>
        </p:txBody>
      </p:sp>
      <p:sp>
        <p:nvSpPr>
          <p:cNvPr id="332" name="TextBox 331">
            <a:extLst>
              <a:ext uri="{FF2B5EF4-FFF2-40B4-BE49-F238E27FC236}">
                <a16:creationId xmlns:a16="http://schemas.microsoft.com/office/drawing/2014/main" id="{828FC5D2-8220-A8CB-264A-188BC58649F5}"/>
              </a:ext>
            </a:extLst>
          </p:cNvPr>
          <p:cNvSpPr txBox="1"/>
          <p:nvPr/>
        </p:nvSpPr>
        <p:spPr>
          <a:xfrm>
            <a:off x="5391635" y="5340878"/>
            <a:ext cx="2322463" cy="1477328"/>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High Level Release Plan*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High Level Target Platform Design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Cost of Migration &amp; Operation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CRA playback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PA Playback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p:txBody>
      </p:sp>
      <p:grpSp>
        <p:nvGrpSpPr>
          <p:cNvPr id="163" name="Group 162">
            <a:extLst>
              <a:ext uri="{FF2B5EF4-FFF2-40B4-BE49-F238E27FC236}">
                <a16:creationId xmlns:a16="http://schemas.microsoft.com/office/drawing/2014/main" id="{294EB0FE-3309-485C-2497-19236CFA7207}"/>
              </a:ext>
            </a:extLst>
          </p:cNvPr>
          <p:cNvGrpSpPr/>
          <p:nvPr/>
        </p:nvGrpSpPr>
        <p:grpSpPr>
          <a:xfrm>
            <a:off x="6107487" y="4337646"/>
            <a:ext cx="426322" cy="612094"/>
            <a:chOff x="7947025" y="2292350"/>
            <a:chExt cx="284163" cy="407988"/>
          </a:xfrm>
        </p:grpSpPr>
        <p:sp>
          <p:nvSpPr>
            <p:cNvPr id="164" name="Freeform 201">
              <a:extLst>
                <a:ext uri="{FF2B5EF4-FFF2-40B4-BE49-F238E27FC236}">
                  <a16:creationId xmlns:a16="http://schemas.microsoft.com/office/drawing/2014/main" id="{22F87E92-9D48-EAC5-52BD-B3F2971B3D42}"/>
                </a:ext>
              </a:extLst>
            </p:cNvPr>
            <p:cNvSpPr>
              <a:spLocks noChangeArrowheads="1"/>
            </p:cNvSpPr>
            <p:nvPr/>
          </p:nvSpPr>
          <p:spPr bwMode="auto">
            <a:xfrm>
              <a:off x="7947025" y="2333625"/>
              <a:ext cx="284163" cy="366713"/>
            </a:xfrm>
            <a:custGeom>
              <a:avLst/>
              <a:gdLst>
                <a:gd name="T0" fmla="*/ 564 w 791"/>
                <a:gd name="T1" fmla="*/ 0 h 1017"/>
                <a:gd name="T2" fmla="*/ 734 w 791"/>
                <a:gd name="T3" fmla="*/ 0 h 1017"/>
                <a:gd name="T4" fmla="*/ 790 w 791"/>
                <a:gd name="T5" fmla="*/ 56 h 1017"/>
                <a:gd name="T6" fmla="*/ 790 w 791"/>
                <a:gd name="T7" fmla="*/ 959 h 1017"/>
                <a:gd name="T8" fmla="*/ 734 w 791"/>
                <a:gd name="T9" fmla="*/ 1016 h 1017"/>
                <a:gd name="T10" fmla="*/ 56 w 791"/>
                <a:gd name="T11" fmla="*/ 1016 h 1017"/>
                <a:gd name="T12" fmla="*/ 0 w 791"/>
                <a:gd name="T13" fmla="*/ 959 h 1017"/>
                <a:gd name="T14" fmla="*/ 0 w 791"/>
                <a:gd name="T15" fmla="*/ 56 h 1017"/>
                <a:gd name="T16" fmla="*/ 56 w 791"/>
                <a:gd name="T17" fmla="*/ 0 h 1017"/>
                <a:gd name="T18" fmla="*/ 226 w 791"/>
                <a:gd name="T19" fmla="*/ 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1" h="1017">
                  <a:moveTo>
                    <a:pt x="564" y="0"/>
                  </a:moveTo>
                  <a:cubicBezTo>
                    <a:pt x="621" y="0"/>
                    <a:pt x="678" y="0"/>
                    <a:pt x="734" y="0"/>
                  </a:cubicBezTo>
                  <a:cubicBezTo>
                    <a:pt x="765" y="0"/>
                    <a:pt x="790" y="25"/>
                    <a:pt x="790" y="56"/>
                  </a:cubicBezTo>
                  <a:cubicBezTo>
                    <a:pt x="790" y="357"/>
                    <a:pt x="790" y="658"/>
                    <a:pt x="790" y="959"/>
                  </a:cubicBezTo>
                  <a:cubicBezTo>
                    <a:pt x="790" y="990"/>
                    <a:pt x="765" y="1016"/>
                    <a:pt x="734" y="1016"/>
                  </a:cubicBezTo>
                  <a:cubicBezTo>
                    <a:pt x="508" y="1016"/>
                    <a:pt x="282" y="1016"/>
                    <a:pt x="56" y="1016"/>
                  </a:cubicBezTo>
                  <a:cubicBezTo>
                    <a:pt x="25" y="1016"/>
                    <a:pt x="0" y="990"/>
                    <a:pt x="0" y="959"/>
                  </a:cubicBezTo>
                  <a:cubicBezTo>
                    <a:pt x="0" y="658"/>
                    <a:pt x="0" y="357"/>
                    <a:pt x="0" y="56"/>
                  </a:cubicBezTo>
                  <a:cubicBezTo>
                    <a:pt x="0" y="25"/>
                    <a:pt x="25" y="0"/>
                    <a:pt x="56" y="0"/>
                  </a:cubicBezTo>
                  <a:cubicBezTo>
                    <a:pt x="113" y="0"/>
                    <a:pt x="170" y="0"/>
                    <a:pt x="226"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 name="Freeform 202">
              <a:extLst>
                <a:ext uri="{FF2B5EF4-FFF2-40B4-BE49-F238E27FC236}">
                  <a16:creationId xmlns:a16="http://schemas.microsoft.com/office/drawing/2014/main" id="{643C983C-023B-A5C0-8152-F4FDE1C12A2D}"/>
                </a:ext>
              </a:extLst>
            </p:cNvPr>
            <p:cNvSpPr>
              <a:spLocks noChangeArrowheads="1"/>
            </p:cNvSpPr>
            <p:nvPr/>
          </p:nvSpPr>
          <p:spPr bwMode="auto">
            <a:xfrm>
              <a:off x="7997825" y="2292350"/>
              <a:ext cx="182563" cy="92075"/>
            </a:xfrm>
            <a:custGeom>
              <a:avLst/>
              <a:gdLst>
                <a:gd name="T0" fmla="*/ 508 w 509"/>
                <a:gd name="T1" fmla="*/ 197 h 255"/>
                <a:gd name="T2" fmla="*/ 423 w 509"/>
                <a:gd name="T3" fmla="*/ 113 h 255"/>
                <a:gd name="T4" fmla="*/ 380 w 509"/>
                <a:gd name="T5" fmla="*/ 113 h 255"/>
                <a:gd name="T6" fmla="*/ 366 w 509"/>
                <a:gd name="T7" fmla="*/ 100 h 255"/>
                <a:gd name="T8" fmla="*/ 254 w 509"/>
                <a:gd name="T9" fmla="*/ 0 h 255"/>
                <a:gd name="T10" fmla="*/ 142 w 509"/>
                <a:gd name="T11" fmla="*/ 100 h 255"/>
                <a:gd name="T12" fmla="*/ 128 w 509"/>
                <a:gd name="T13" fmla="*/ 113 h 255"/>
                <a:gd name="T14" fmla="*/ 85 w 509"/>
                <a:gd name="T15" fmla="*/ 113 h 255"/>
                <a:gd name="T16" fmla="*/ 0 w 509"/>
                <a:gd name="T17" fmla="*/ 197 h 255"/>
                <a:gd name="T18" fmla="*/ 0 w 509"/>
                <a:gd name="T19" fmla="*/ 226 h 255"/>
                <a:gd name="T20" fmla="*/ 28 w 509"/>
                <a:gd name="T21" fmla="*/ 254 h 255"/>
                <a:gd name="T22" fmla="*/ 480 w 509"/>
                <a:gd name="T23" fmla="*/ 254 h 255"/>
                <a:gd name="T24" fmla="*/ 508 w 509"/>
                <a:gd name="T25" fmla="*/ 226 h 255"/>
                <a:gd name="T26" fmla="*/ 508 w 509"/>
                <a:gd name="T27" fmla="*/ 19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9" h="255">
                  <a:moveTo>
                    <a:pt x="508" y="197"/>
                  </a:moveTo>
                  <a:cubicBezTo>
                    <a:pt x="508" y="151"/>
                    <a:pt x="470" y="113"/>
                    <a:pt x="423" y="113"/>
                  </a:cubicBezTo>
                  <a:cubicBezTo>
                    <a:pt x="409" y="113"/>
                    <a:pt x="395" y="113"/>
                    <a:pt x="380" y="113"/>
                  </a:cubicBezTo>
                  <a:cubicBezTo>
                    <a:pt x="373" y="113"/>
                    <a:pt x="367" y="107"/>
                    <a:pt x="366" y="100"/>
                  </a:cubicBezTo>
                  <a:cubicBezTo>
                    <a:pt x="359" y="44"/>
                    <a:pt x="308" y="0"/>
                    <a:pt x="254" y="0"/>
                  </a:cubicBezTo>
                  <a:cubicBezTo>
                    <a:pt x="200" y="0"/>
                    <a:pt x="149" y="44"/>
                    <a:pt x="142" y="100"/>
                  </a:cubicBezTo>
                  <a:cubicBezTo>
                    <a:pt x="141" y="107"/>
                    <a:pt x="135" y="113"/>
                    <a:pt x="128" y="113"/>
                  </a:cubicBezTo>
                  <a:cubicBezTo>
                    <a:pt x="114" y="113"/>
                    <a:pt x="100" y="113"/>
                    <a:pt x="85" y="113"/>
                  </a:cubicBezTo>
                  <a:cubicBezTo>
                    <a:pt x="38" y="113"/>
                    <a:pt x="0" y="151"/>
                    <a:pt x="0" y="197"/>
                  </a:cubicBezTo>
                  <a:cubicBezTo>
                    <a:pt x="0" y="206"/>
                    <a:pt x="0" y="216"/>
                    <a:pt x="0" y="226"/>
                  </a:cubicBezTo>
                  <a:cubicBezTo>
                    <a:pt x="0" y="241"/>
                    <a:pt x="13" y="254"/>
                    <a:pt x="28" y="254"/>
                  </a:cubicBezTo>
                  <a:cubicBezTo>
                    <a:pt x="179" y="254"/>
                    <a:pt x="330" y="254"/>
                    <a:pt x="480" y="254"/>
                  </a:cubicBezTo>
                  <a:cubicBezTo>
                    <a:pt x="495" y="254"/>
                    <a:pt x="508" y="241"/>
                    <a:pt x="508" y="226"/>
                  </a:cubicBezTo>
                  <a:cubicBezTo>
                    <a:pt x="508" y="216"/>
                    <a:pt x="508" y="206"/>
                    <a:pt x="508" y="197"/>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 name="Freeform 203">
              <a:extLst>
                <a:ext uri="{FF2B5EF4-FFF2-40B4-BE49-F238E27FC236}">
                  <a16:creationId xmlns:a16="http://schemas.microsoft.com/office/drawing/2014/main" id="{4D8ABCD6-20DD-3DAE-1622-214456964FF5}"/>
                </a:ext>
              </a:extLst>
            </p:cNvPr>
            <p:cNvSpPr>
              <a:spLocks noChangeArrowheads="1"/>
            </p:cNvSpPr>
            <p:nvPr/>
          </p:nvSpPr>
          <p:spPr bwMode="auto">
            <a:xfrm>
              <a:off x="8080375" y="2444750"/>
              <a:ext cx="92075" cy="1588"/>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 name="Freeform 204">
              <a:extLst>
                <a:ext uri="{FF2B5EF4-FFF2-40B4-BE49-F238E27FC236}">
                  <a16:creationId xmlns:a16="http://schemas.microsoft.com/office/drawing/2014/main" id="{C22A283D-C227-3B74-7E31-00F26AC382B6}"/>
                </a:ext>
              </a:extLst>
            </p:cNvPr>
            <p:cNvSpPr>
              <a:spLocks noChangeArrowheads="1"/>
            </p:cNvSpPr>
            <p:nvPr/>
          </p:nvSpPr>
          <p:spPr bwMode="auto">
            <a:xfrm>
              <a:off x="8080375" y="2322513"/>
              <a:ext cx="20638" cy="20637"/>
            </a:xfrm>
            <a:custGeom>
              <a:avLst/>
              <a:gdLst>
                <a:gd name="T0" fmla="*/ 56 w 57"/>
                <a:gd name="T1" fmla="*/ 29 h 58"/>
                <a:gd name="T2" fmla="*/ 28 w 57"/>
                <a:gd name="T3" fmla="*/ 57 h 58"/>
                <a:gd name="T4" fmla="*/ 0 w 57"/>
                <a:gd name="T5" fmla="*/ 29 h 58"/>
                <a:gd name="T6" fmla="*/ 28 w 57"/>
                <a:gd name="T7" fmla="*/ 0 h 58"/>
                <a:gd name="T8" fmla="*/ 56 w 57"/>
                <a:gd name="T9" fmla="*/ 29 h 58"/>
              </a:gdLst>
              <a:ahLst/>
              <a:cxnLst>
                <a:cxn ang="0">
                  <a:pos x="T0" y="T1"/>
                </a:cxn>
                <a:cxn ang="0">
                  <a:pos x="T2" y="T3"/>
                </a:cxn>
                <a:cxn ang="0">
                  <a:pos x="T4" y="T5"/>
                </a:cxn>
                <a:cxn ang="0">
                  <a:pos x="T6" y="T7"/>
                </a:cxn>
                <a:cxn ang="0">
                  <a:pos x="T8" y="T9"/>
                </a:cxn>
              </a:cxnLst>
              <a:rect l="0" t="0" r="r" b="b"/>
              <a:pathLst>
                <a:path w="57" h="58">
                  <a:moveTo>
                    <a:pt x="56" y="29"/>
                  </a:moveTo>
                  <a:cubicBezTo>
                    <a:pt x="56" y="44"/>
                    <a:pt x="44" y="57"/>
                    <a:pt x="28" y="57"/>
                  </a:cubicBezTo>
                  <a:cubicBezTo>
                    <a:pt x="12" y="57"/>
                    <a:pt x="0" y="44"/>
                    <a:pt x="0" y="29"/>
                  </a:cubicBezTo>
                  <a:cubicBezTo>
                    <a:pt x="0" y="13"/>
                    <a:pt x="12" y="0"/>
                    <a:pt x="28" y="0"/>
                  </a:cubicBezTo>
                  <a:cubicBezTo>
                    <a:pt x="44" y="0"/>
                    <a:pt x="56" y="13"/>
                    <a:pt x="56" y="2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Freeform 205">
              <a:extLst>
                <a:ext uri="{FF2B5EF4-FFF2-40B4-BE49-F238E27FC236}">
                  <a16:creationId xmlns:a16="http://schemas.microsoft.com/office/drawing/2014/main" id="{52E3C967-2971-C284-FB24-F0241EA16063}"/>
                </a:ext>
              </a:extLst>
            </p:cNvPr>
            <p:cNvSpPr>
              <a:spLocks noChangeArrowheads="1"/>
            </p:cNvSpPr>
            <p:nvPr/>
          </p:nvSpPr>
          <p:spPr bwMode="auto">
            <a:xfrm>
              <a:off x="8008938" y="2430463"/>
              <a:ext cx="31750" cy="30162"/>
            </a:xfrm>
            <a:custGeom>
              <a:avLst/>
              <a:gdLst>
                <a:gd name="T0" fmla="*/ 85 w 86"/>
                <a:gd name="T1" fmla="*/ 42 h 85"/>
                <a:gd name="T2" fmla="*/ 43 w 86"/>
                <a:gd name="T3" fmla="*/ 84 h 85"/>
                <a:gd name="T4" fmla="*/ 0 w 86"/>
                <a:gd name="T5" fmla="*/ 42 h 85"/>
                <a:gd name="T6" fmla="*/ 43 w 86"/>
                <a:gd name="T7" fmla="*/ 0 h 85"/>
                <a:gd name="T8" fmla="*/ 85 w 86"/>
                <a:gd name="T9" fmla="*/ 42 h 85"/>
              </a:gdLst>
              <a:ahLst/>
              <a:cxnLst>
                <a:cxn ang="0">
                  <a:pos x="T0" y="T1"/>
                </a:cxn>
                <a:cxn ang="0">
                  <a:pos x="T2" y="T3"/>
                </a:cxn>
                <a:cxn ang="0">
                  <a:pos x="T4" y="T5"/>
                </a:cxn>
                <a:cxn ang="0">
                  <a:pos x="T6" y="T7"/>
                </a:cxn>
                <a:cxn ang="0">
                  <a:pos x="T8" y="T9"/>
                </a:cxn>
              </a:cxnLst>
              <a:rect l="0" t="0" r="r" b="b"/>
              <a:pathLst>
                <a:path w="86" h="85">
                  <a:moveTo>
                    <a:pt x="85" y="42"/>
                  </a:moveTo>
                  <a:cubicBezTo>
                    <a:pt x="85" y="66"/>
                    <a:pt x="66" y="84"/>
                    <a:pt x="43" y="84"/>
                  </a:cubicBezTo>
                  <a:cubicBezTo>
                    <a:pt x="19" y="84"/>
                    <a:pt x="0" y="66"/>
                    <a:pt x="0" y="42"/>
                  </a:cubicBezTo>
                  <a:cubicBezTo>
                    <a:pt x="0" y="19"/>
                    <a:pt x="19" y="0"/>
                    <a:pt x="43" y="0"/>
                  </a:cubicBezTo>
                  <a:cubicBezTo>
                    <a:pt x="66" y="0"/>
                    <a:pt x="85" y="19"/>
                    <a:pt x="85" y="42"/>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 name="Freeform 206">
              <a:extLst>
                <a:ext uri="{FF2B5EF4-FFF2-40B4-BE49-F238E27FC236}">
                  <a16:creationId xmlns:a16="http://schemas.microsoft.com/office/drawing/2014/main" id="{41934FCC-5621-2FED-4259-3A13BB05CF89}"/>
                </a:ext>
              </a:extLst>
            </p:cNvPr>
            <p:cNvSpPr>
              <a:spLocks noChangeArrowheads="1"/>
            </p:cNvSpPr>
            <p:nvPr/>
          </p:nvSpPr>
          <p:spPr bwMode="auto">
            <a:xfrm>
              <a:off x="8008938" y="2490788"/>
              <a:ext cx="31750" cy="31750"/>
            </a:xfrm>
            <a:custGeom>
              <a:avLst/>
              <a:gdLst>
                <a:gd name="T0" fmla="*/ 85 w 86"/>
                <a:gd name="T1" fmla="*/ 42 h 86"/>
                <a:gd name="T2" fmla="*/ 43 w 86"/>
                <a:gd name="T3" fmla="*/ 85 h 86"/>
                <a:gd name="T4" fmla="*/ 0 w 86"/>
                <a:gd name="T5" fmla="*/ 42 h 86"/>
                <a:gd name="T6" fmla="*/ 43 w 86"/>
                <a:gd name="T7" fmla="*/ 0 h 86"/>
                <a:gd name="T8" fmla="*/ 85 w 86"/>
                <a:gd name="T9" fmla="*/ 42 h 86"/>
              </a:gdLst>
              <a:ahLst/>
              <a:cxnLst>
                <a:cxn ang="0">
                  <a:pos x="T0" y="T1"/>
                </a:cxn>
                <a:cxn ang="0">
                  <a:pos x="T2" y="T3"/>
                </a:cxn>
                <a:cxn ang="0">
                  <a:pos x="T4" y="T5"/>
                </a:cxn>
                <a:cxn ang="0">
                  <a:pos x="T6" y="T7"/>
                </a:cxn>
                <a:cxn ang="0">
                  <a:pos x="T8" y="T9"/>
                </a:cxn>
              </a:cxnLst>
              <a:rect l="0" t="0" r="r" b="b"/>
              <a:pathLst>
                <a:path w="86" h="86">
                  <a:moveTo>
                    <a:pt x="85" y="42"/>
                  </a:moveTo>
                  <a:cubicBezTo>
                    <a:pt x="85" y="66"/>
                    <a:pt x="66" y="85"/>
                    <a:pt x="43" y="85"/>
                  </a:cubicBezTo>
                  <a:cubicBezTo>
                    <a:pt x="19" y="85"/>
                    <a:pt x="0" y="66"/>
                    <a:pt x="0" y="42"/>
                  </a:cubicBezTo>
                  <a:cubicBezTo>
                    <a:pt x="0" y="19"/>
                    <a:pt x="19" y="0"/>
                    <a:pt x="43" y="0"/>
                  </a:cubicBezTo>
                  <a:cubicBezTo>
                    <a:pt x="66" y="0"/>
                    <a:pt x="85" y="19"/>
                    <a:pt x="85" y="42"/>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 name="Freeform 207">
              <a:extLst>
                <a:ext uri="{FF2B5EF4-FFF2-40B4-BE49-F238E27FC236}">
                  <a16:creationId xmlns:a16="http://schemas.microsoft.com/office/drawing/2014/main" id="{1E48AB13-4954-19BF-CFEB-0C477BDC685E}"/>
                </a:ext>
              </a:extLst>
            </p:cNvPr>
            <p:cNvSpPr>
              <a:spLocks noChangeArrowheads="1"/>
            </p:cNvSpPr>
            <p:nvPr/>
          </p:nvSpPr>
          <p:spPr bwMode="auto">
            <a:xfrm>
              <a:off x="8008938" y="2551113"/>
              <a:ext cx="31750" cy="31750"/>
            </a:xfrm>
            <a:custGeom>
              <a:avLst/>
              <a:gdLst>
                <a:gd name="T0" fmla="*/ 85 w 86"/>
                <a:gd name="T1" fmla="*/ 43 h 86"/>
                <a:gd name="T2" fmla="*/ 43 w 86"/>
                <a:gd name="T3" fmla="*/ 85 h 86"/>
                <a:gd name="T4" fmla="*/ 0 w 86"/>
                <a:gd name="T5" fmla="*/ 43 h 86"/>
                <a:gd name="T6" fmla="*/ 43 w 86"/>
                <a:gd name="T7" fmla="*/ 0 h 86"/>
                <a:gd name="T8" fmla="*/ 85 w 86"/>
                <a:gd name="T9" fmla="*/ 43 h 86"/>
              </a:gdLst>
              <a:ahLst/>
              <a:cxnLst>
                <a:cxn ang="0">
                  <a:pos x="T0" y="T1"/>
                </a:cxn>
                <a:cxn ang="0">
                  <a:pos x="T2" y="T3"/>
                </a:cxn>
                <a:cxn ang="0">
                  <a:pos x="T4" y="T5"/>
                </a:cxn>
                <a:cxn ang="0">
                  <a:pos x="T6" y="T7"/>
                </a:cxn>
                <a:cxn ang="0">
                  <a:pos x="T8" y="T9"/>
                </a:cxn>
              </a:cxnLst>
              <a:rect l="0" t="0" r="r" b="b"/>
              <a:pathLst>
                <a:path w="86" h="86">
                  <a:moveTo>
                    <a:pt x="85" y="43"/>
                  </a:moveTo>
                  <a:cubicBezTo>
                    <a:pt x="85" y="66"/>
                    <a:pt x="66" y="85"/>
                    <a:pt x="43" y="85"/>
                  </a:cubicBezTo>
                  <a:cubicBezTo>
                    <a:pt x="19" y="85"/>
                    <a:pt x="0" y="66"/>
                    <a:pt x="0" y="43"/>
                  </a:cubicBezTo>
                  <a:cubicBezTo>
                    <a:pt x="0" y="19"/>
                    <a:pt x="19" y="0"/>
                    <a:pt x="43" y="0"/>
                  </a:cubicBezTo>
                  <a:cubicBezTo>
                    <a:pt x="66" y="0"/>
                    <a:pt x="85" y="19"/>
                    <a:pt x="85" y="4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 name="Freeform 208">
              <a:extLst>
                <a:ext uri="{FF2B5EF4-FFF2-40B4-BE49-F238E27FC236}">
                  <a16:creationId xmlns:a16="http://schemas.microsoft.com/office/drawing/2014/main" id="{FA97CD3F-1551-06B3-85F3-A9CA52C69FB5}"/>
                </a:ext>
              </a:extLst>
            </p:cNvPr>
            <p:cNvSpPr>
              <a:spLocks noChangeArrowheads="1"/>
            </p:cNvSpPr>
            <p:nvPr/>
          </p:nvSpPr>
          <p:spPr bwMode="auto">
            <a:xfrm>
              <a:off x="8008938" y="2613025"/>
              <a:ext cx="31750" cy="30163"/>
            </a:xfrm>
            <a:custGeom>
              <a:avLst/>
              <a:gdLst>
                <a:gd name="T0" fmla="*/ 85 w 86"/>
                <a:gd name="T1" fmla="*/ 42 h 85"/>
                <a:gd name="T2" fmla="*/ 43 w 86"/>
                <a:gd name="T3" fmla="*/ 84 h 85"/>
                <a:gd name="T4" fmla="*/ 0 w 86"/>
                <a:gd name="T5" fmla="*/ 42 h 85"/>
                <a:gd name="T6" fmla="*/ 43 w 86"/>
                <a:gd name="T7" fmla="*/ 0 h 85"/>
                <a:gd name="T8" fmla="*/ 85 w 86"/>
                <a:gd name="T9" fmla="*/ 42 h 85"/>
              </a:gdLst>
              <a:ahLst/>
              <a:cxnLst>
                <a:cxn ang="0">
                  <a:pos x="T0" y="T1"/>
                </a:cxn>
                <a:cxn ang="0">
                  <a:pos x="T2" y="T3"/>
                </a:cxn>
                <a:cxn ang="0">
                  <a:pos x="T4" y="T5"/>
                </a:cxn>
                <a:cxn ang="0">
                  <a:pos x="T6" y="T7"/>
                </a:cxn>
                <a:cxn ang="0">
                  <a:pos x="T8" y="T9"/>
                </a:cxn>
              </a:cxnLst>
              <a:rect l="0" t="0" r="r" b="b"/>
              <a:pathLst>
                <a:path w="86" h="85">
                  <a:moveTo>
                    <a:pt x="85" y="42"/>
                  </a:moveTo>
                  <a:cubicBezTo>
                    <a:pt x="85" y="65"/>
                    <a:pt x="66" y="84"/>
                    <a:pt x="43" y="84"/>
                  </a:cubicBezTo>
                  <a:cubicBezTo>
                    <a:pt x="19" y="84"/>
                    <a:pt x="0" y="65"/>
                    <a:pt x="0" y="42"/>
                  </a:cubicBezTo>
                  <a:cubicBezTo>
                    <a:pt x="0" y="19"/>
                    <a:pt x="19" y="0"/>
                    <a:pt x="43" y="0"/>
                  </a:cubicBezTo>
                  <a:cubicBezTo>
                    <a:pt x="66" y="0"/>
                    <a:pt x="85" y="19"/>
                    <a:pt x="85" y="42"/>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 name="Freeform 209">
              <a:extLst>
                <a:ext uri="{FF2B5EF4-FFF2-40B4-BE49-F238E27FC236}">
                  <a16:creationId xmlns:a16="http://schemas.microsoft.com/office/drawing/2014/main" id="{F29751F2-2472-10B7-2B63-F64747824700}"/>
                </a:ext>
              </a:extLst>
            </p:cNvPr>
            <p:cNvSpPr>
              <a:spLocks noChangeArrowheads="1"/>
            </p:cNvSpPr>
            <p:nvPr/>
          </p:nvSpPr>
          <p:spPr bwMode="auto">
            <a:xfrm>
              <a:off x="8080375" y="2506663"/>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 name="Freeform 210">
              <a:extLst>
                <a:ext uri="{FF2B5EF4-FFF2-40B4-BE49-F238E27FC236}">
                  <a16:creationId xmlns:a16="http://schemas.microsoft.com/office/drawing/2014/main" id="{CE37FE3B-8266-BE66-54BC-199D63CA6D5B}"/>
                </a:ext>
              </a:extLst>
            </p:cNvPr>
            <p:cNvSpPr>
              <a:spLocks noChangeArrowheads="1"/>
            </p:cNvSpPr>
            <p:nvPr/>
          </p:nvSpPr>
          <p:spPr bwMode="auto">
            <a:xfrm>
              <a:off x="8080375" y="2566988"/>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Freeform 211">
              <a:extLst>
                <a:ext uri="{FF2B5EF4-FFF2-40B4-BE49-F238E27FC236}">
                  <a16:creationId xmlns:a16="http://schemas.microsoft.com/office/drawing/2014/main" id="{FDECFAA9-C93E-9E45-C041-E89B495CAE7E}"/>
                </a:ext>
              </a:extLst>
            </p:cNvPr>
            <p:cNvSpPr>
              <a:spLocks noChangeArrowheads="1"/>
            </p:cNvSpPr>
            <p:nvPr/>
          </p:nvSpPr>
          <p:spPr bwMode="auto">
            <a:xfrm>
              <a:off x="8080375" y="2627313"/>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5" name="TextBox 174">
            <a:extLst>
              <a:ext uri="{FF2B5EF4-FFF2-40B4-BE49-F238E27FC236}">
                <a16:creationId xmlns:a16="http://schemas.microsoft.com/office/drawing/2014/main" id="{221ABD2B-2D45-0143-75CA-C0D8035263E3}"/>
              </a:ext>
            </a:extLst>
          </p:cNvPr>
          <p:cNvSpPr txBox="1"/>
          <p:nvPr/>
        </p:nvSpPr>
        <p:spPr>
          <a:xfrm>
            <a:off x="5924467" y="4965175"/>
            <a:ext cx="80502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Fira Sans" panose="020B0503050000020004" pitchFamily="34" charset="0"/>
                <a:ea typeface="+mn-ea"/>
                <a:cs typeface="+mn-cs"/>
              </a:rPr>
              <a:t>Playback</a:t>
            </a:r>
          </a:p>
        </p:txBody>
      </p:sp>
      <p:sp>
        <p:nvSpPr>
          <p:cNvPr id="76" name="TextBox 75">
            <a:extLst>
              <a:ext uri="{FF2B5EF4-FFF2-40B4-BE49-F238E27FC236}">
                <a16:creationId xmlns:a16="http://schemas.microsoft.com/office/drawing/2014/main" id="{70B197B0-5BB5-33B2-018F-CE9DF019F3CE}"/>
              </a:ext>
            </a:extLst>
          </p:cNvPr>
          <p:cNvSpPr txBox="1"/>
          <p:nvPr/>
        </p:nvSpPr>
        <p:spPr>
          <a:xfrm>
            <a:off x="4950576" y="1122906"/>
            <a:ext cx="147348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Assessment </a:t>
            </a:r>
          </a:p>
        </p:txBody>
      </p:sp>
      <p:grpSp>
        <p:nvGrpSpPr>
          <p:cNvPr id="79" name="Group 78">
            <a:extLst>
              <a:ext uri="{FF2B5EF4-FFF2-40B4-BE49-F238E27FC236}">
                <a16:creationId xmlns:a16="http://schemas.microsoft.com/office/drawing/2014/main" id="{441A0A95-0781-8E5E-4CDD-8B40C6A2526B}"/>
              </a:ext>
            </a:extLst>
          </p:cNvPr>
          <p:cNvGrpSpPr/>
          <p:nvPr/>
        </p:nvGrpSpPr>
        <p:grpSpPr>
          <a:xfrm>
            <a:off x="4668902" y="1669583"/>
            <a:ext cx="600846" cy="545789"/>
            <a:chOff x="3072606" y="838201"/>
            <a:chExt cx="398462" cy="361950"/>
          </a:xfrm>
        </p:grpSpPr>
        <p:sp>
          <p:nvSpPr>
            <p:cNvPr id="80" name="Freeform 50">
              <a:extLst>
                <a:ext uri="{FF2B5EF4-FFF2-40B4-BE49-F238E27FC236}">
                  <a16:creationId xmlns:a16="http://schemas.microsoft.com/office/drawing/2014/main" id="{0680B5A0-BB3D-1CA8-D0F4-79F6A4C57BEE}"/>
                </a:ext>
              </a:extLst>
            </p:cNvPr>
            <p:cNvSpPr>
              <a:spLocks noChangeArrowheads="1"/>
            </p:cNvSpPr>
            <p:nvPr/>
          </p:nvSpPr>
          <p:spPr bwMode="auto">
            <a:xfrm>
              <a:off x="3150393" y="838201"/>
              <a:ext cx="96838" cy="44450"/>
            </a:xfrm>
            <a:custGeom>
              <a:avLst/>
              <a:gdLst>
                <a:gd name="T0" fmla="*/ 25 w 267"/>
                <a:gd name="T1" fmla="*/ 0 h 122"/>
                <a:gd name="T2" fmla="*/ 7 w 267"/>
                <a:gd name="T3" fmla="*/ 29 h 122"/>
                <a:gd name="T4" fmla="*/ 53 w 267"/>
                <a:gd name="T5" fmla="*/ 121 h 122"/>
                <a:gd name="T6" fmla="*/ 214 w 267"/>
                <a:gd name="T7" fmla="*/ 121 h 122"/>
                <a:gd name="T8" fmla="*/ 259 w 267"/>
                <a:gd name="T9" fmla="*/ 29 h 122"/>
                <a:gd name="T10" fmla="*/ 241 w 267"/>
                <a:gd name="T11" fmla="*/ 0 h 122"/>
                <a:gd name="T12" fmla="*/ 25 w 267"/>
                <a:gd name="T13" fmla="*/ 0 h 122"/>
              </a:gdLst>
              <a:ahLst/>
              <a:cxnLst>
                <a:cxn ang="0">
                  <a:pos x="T0" y="T1"/>
                </a:cxn>
                <a:cxn ang="0">
                  <a:pos x="T2" y="T3"/>
                </a:cxn>
                <a:cxn ang="0">
                  <a:pos x="T4" y="T5"/>
                </a:cxn>
                <a:cxn ang="0">
                  <a:pos x="T6" y="T7"/>
                </a:cxn>
                <a:cxn ang="0">
                  <a:pos x="T8" y="T9"/>
                </a:cxn>
                <a:cxn ang="0">
                  <a:pos x="T10" y="T11"/>
                </a:cxn>
                <a:cxn ang="0">
                  <a:pos x="T12" y="T13"/>
                </a:cxn>
              </a:cxnLst>
              <a:rect l="0" t="0" r="r" b="b"/>
              <a:pathLst>
                <a:path w="267" h="122">
                  <a:moveTo>
                    <a:pt x="25" y="0"/>
                  </a:moveTo>
                  <a:cubicBezTo>
                    <a:pt x="10" y="0"/>
                    <a:pt x="0" y="16"/>
                    <a:pt x="7" y="29"/>
                  </a:cubicBezTo>
                  <a:cubicBezTo>
                    <a:pt x="22" y="60"/>
                    <a:pt x="37" y="90"/>
                    <a:pt x="53" y="121"/>
                  </a:cubicBezTo>
                  <a:cubicBezTo>
                    <a:pt x="106" y="121"/>
                    <a:pt x="160" y="121"/>
                    <a:pt x="214" y="121"/>
                  </a:cubicBezTo>
                  <a:cubicBezTo>
                    <a:pt x="229" y="90"/>
                    <a:pt x="244" y="60"/>
                    <a:pt x="259" y="29"/>
                  </a:cubicBezTo>
                  <a:cubicBezTo>
                    <a:pt x="266" y="16"/>
                    <a:pt x="256" y="0"/>
                    <a:pt x="241" y="0"/>
                  </a:cubicBezTo>
                  <a:cubicBezTo>
                    <a:pt x="169" y="0"/>
                    <a:pt x="97" y="0"/>
                    <a:pt x="25"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1" name="Freeform 51">
              <a:extLst>
                <a:ext uri="{FF2B5EF4-FFF2-40B4-BE49-F238E27FC236}">
                  <a16:creationId xmlns:a16="http://schemas.microsoft.com/office/drawing/2014/main" id="{73E48863-667F-D6A4-B5AC-8B11BFC77081}"/>
                </a:ext>
              </a:extLst>
            </p:cNvPr>
            <p:cNvSpPr>
              <a:spLocks noChangeArrowheads="1"/>
            </p:cNvSpPr>
            <p:nvPr/>
          </p:nvSpPr>
          <p:spPr bwMode="auto">
            <a:xfrm>
              <a:off x="3296443" y="838201"/>
              <a:ext cx="96838" cy="44450"/>
            </a:xfrm>
            <a:custGeom>
              <a:avLst/>
              <a:gdLst>
                <a:gd name="T0" fmla="*/ 25 w 267"/>
                <a:gd name="T1" fmla="*/ 0 h 122"/>
                <a:gd name="T2" fmla="*/ 7 w 267"/>
                <a:gd name="T3" fmla="*/ 29 h 122"/>
                <a:gd name="T4" fmla="*/ 53 w 267"/>
                <a:gd name="T5" fmla="*/ 121 h 122"/>
                <a:gd name="T6" fmla="*/ 214 w 267"/>
                <a:gd name="T7" fmla="*/ 121 h 122"/>
                <a:gd name="T8" fmla="*/ 260 w 267"/>
                <a:gd name="T9" fmla="*/ 29 h 122"/>
                <a:gd name="T10" fmla="*/ 242 w 267"/>
                <a:gd name="T11" fmla="*/ 0 h 122"/>
                <a:gd name="T12" fmla="*/ 25 w 267"/>
                <a:gd name="T13" fmla="*/ 0 h 122"/>
              </a:gdLst>
              <a:ahLst/>
              <a:cxnLst>
                <a:cxn ang="0">
                  <a:pos x="T0" y="T1"/>
                </a:cxn>
                <a:cxn ang="0">
                  <a:pos x="T2" y="T3"/>
                </a:cxn>
                <a:cxn ang="0">
                  <a:pos x="T4" y="T5"/>
                </a:cxn>
                <a:cxn ang="0">
                  <a:pos x="T6" y="T7"/>
                </a:cxn>
                <a:cxn ang="0">
                  <a:pos x="T8" y="T9"/>
                </a:cxn>
                <a:cxn ang="0">
                  <a:pos x="T10" y="T11"/>
                </a:cxn>
                <a:cxn ang="0">
                  <a:pos x="T12" y="T13"/>
                </a:cxn>
              </a:cxnLst>
              <a:rect l="0" t="0" r="r" b="b"/>
              <a:pathLst>
                <a:path w="267" h="122">
                  <a:moveTo>
                    <a:pt x="25" y="0"/>
                  </a:moveTo>
                  <a:cubicBezTo>
                    <a:pt x="10" y="0"/>
                    <a:pt x="0" y="16"/>
                    <a:pt x="7" y="29"/>
                  </a:cubicBezTo>
                  <a:cubicBezTo>
                    <a:pt x="22" y="60"/>
                    <a:pt x="37" y="90"/>
                    <a:pt x="53" y="121"/>
                  </a:cubicBezTo>
                  <a:cubicBezTo>
                    <a:pt x="106" y="121"/>
                    <a:pt x="160" y="121"/>
                    <a:pt x="214" y="121"/>
                  </a:cubicBezTo>
                  <a:cubicBezTo>
                    <a:pt x="229" y="90"/>
                    <a:pt x="244" y="60"/>
                    <a:pt x="260" y="29"/>
                  </a:cubicBezTo>
                  <a:cubicBezTo>
                    <a:pt x="266" y="16"/>
                    <a:pt x="256" y="0"/>
                    <a:pt x="242" y="0"/>
                  </a:cubicBezTo>
                  <a:cubicBezTo>
                    <a:pt x="169" y="0"/>
                    <a:pt x="97" y="0"/>
                    <a:pt x="25"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3" name="Freeform 52">
              <a:extLst>
                <a:ext uri="{FF2B5EF4-FFF2-40B4-BE49-F238E27FC236}">
                  <a16:creationId xmlns:a16="http://schemas.microsoft.com/office/drawing/2014/main" id="{984ED785-8FED-9122-9D32-E646EE902DF8}"/>
                </a:ext>
              </a:extLst>
            </p:cNvPr>
            <p:cNvSpPr>
              <a:spLocks noChangeArrowheads="1"/>
            </p:cNvSpPr>
            <p:nvPr/>
          </p:nvSpPr>
          <p:spPr bwMode="auto">
            <a:xfrm>
              <a:off x="3242468" y="946151"/>
              <a:ext cx="1588" cy="49212"/>
            </a:xfrm>
            <a:custGeom>
              <a:avLst/>
              <a:gdLst>
                <a:gd name="T0" fmla="*/ 0 w 1"/>
                <a:gd name="T1" fmla="*/ 0 h 135"/>
                <a:gd name="T2" fmla="*/ 0 w 1"/>
                <a:gd name="T3" fmla="*/ 134 h 135"/>
              </a:gdLst>
              <a:ahLst/>
              <a:cxnLst>
                <a:cxn ang="0">
                  <a:pos x="T0" y="T1"/>
                </a:cxn>
                <a:cxn ang="0">
                  <a:pos x="T2" y="T3"/>
                </a:cxn>
              </a:cxnLst>
              <a:rect l="0" t="0" r="r" b="b"/>
              <a:pathLst>
                <a:path w="1" h="135">
                  <a:moveTo>
                    <a:pt x="0" y="0"/>
                  </a:moveTo>
                  <a:cubicBezTo>
                    <a:pt x="0" y="45"/>
                    <a:pt x="0" y="89"/>
                    <a:pt x="0" y="13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4" name="Freeform 53">
              <a:extLst>
                <a:ext uri="{FF2B5EF4-FFF2-40B4-BE49-F238E27FC236}">
                  <a16:creationId xmlns:a16="http://schemas.microsoft.com/office/drawing/2014/main" id="{2F8EBFA3-26CC-FD87-E610-5C7FA0A83772}"/>
                </a:ext>
              </a:extLst>
            </p:cNvPr>
            <p:cNvSpPr>
              <a:spLocks noChangeArrowheads="1"/>
            </p:cNvSpPr>
            <p:nvPr/>
          </p:nvSpPr>
          <p:spPr bwMode="auto">
            <a:xfrm>
              <a:off x="3301206" y="946151"/>
              <a:ext cx="1587" cy="49212"/>
            </a:xfrm>
            <a:custGeom>
              <a:avLst/>
              <a:gdLst>
                <a:gd name="T0" fmla="*/ 0 w 1"/>
                <a:gd name="T1" fmla="*/ 0 h 135"/>
                <a:gd name="T2" fmla="*/ 0 w 1"/>
                <a:gd name="T3" fmla="*/ 134 h 135"/>
              </a:gdLst>
              <a:ahLst/>
              <a:cxnLst>
                <a:cxn ang="0">
                  <a:pos x="T0" y="T1"/>
                </a:cxn>
                <a:cxn ang="0">
                  <a:pos x="T2" y="T3"/>
                </a:cxn>
              </a:cxnLst>
              <a:rect l="0" t="0" r="r" b="b"/>
              <a:pathLst>
                <a:path w="1" h="135">
                  <a:moveTo>
                    <a:pt x="0" y="0"/>
                  </a:moveTo>
                  <a:cubicBezTo>
                    <a:pt x="0" y="45"/>
                    <a:pt x="0" y="89"/>
                    <a:pt x="0" y="13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5" name="Freeform 54">
              <a:extLst>
                <a:ext uri="{FF2B5EF4-FFF2-40B4-BE49-F238E27FC236}">
                  <a16:creationId xmlns:a16="http://schemas.microsoft.com/office/drawing/2014/main" id="{B2D65DF8-04D0-0EAE-D9A7-FC604E47DD8F}"/>
                </a:ext>
              </a:extLst>
            </p:cNvPr>
            <p:cNvSpPr>
              <a:spLocks noChangeArrowheads="1"/>
            </p:cNvSpPr>
            <p:nvPr/>
          </p:nvSpPr>
          <p:spPr bwMode="auto">
            <a:xfrm>
              <a:off x="3204368" y="909638"/>
              <a:ext cx="133350" cy="36513"/>
            </a:xfrm>
            <a:custGeom>
              <a:avLst/>
              <a:gdLst>
                <a:gd name="T0" fmla="*/ 0 w 370"/>
                <a:gd name="T1" fmla="*/ 0 h 101"/>
                <a:gd name="T2" fmla="*/ 0 w 370"/>
                <a:gd name="T3" fmla="*/ 60 h 101"/>
                <a:gd name="T4" fmla="*/ 40 w 370"/>
                <a:gd name="T5" fmla="*/ 100 h 101"/>
                <a:gd name="T6" fmla="*/ 328 w 370"/>
                <a:gd name="T7" fmla="*/ 100 h 101"/>
                <a:gd name="T8" fmla="*/ 369 w 370"/>
                <a:gd name="T9" fmla="*/ 60 h 101"/>
                <a:gd name="T10" fmla="*/ 369 w 370"/>
                <a:gd name="T11" fmla="*/ 0 h 101"/>
              </a:gdLst>
              <a:ahLst/>
              <a:cxnLst>
                <a:cxn ang="0">
                  <a:pos x="T0" y="T1"/>
                </a:cxn>
                <a:cxn ang="0">
                  <a:pos x="T2" y="T3"/>
                </a:cxn>
                <a:cxn ang="0">
                  <a:pos x="T4" y="T5"/>
                </a:cxn>
                <a:cxn ang="0">
                  <a:pos x="T6" y="T7"/>
                </a:cxn>
                <a:cxn ang="0">
                  <a:pos x="T8" y="T9"/>
                </a:cxn>
                <a:cxn ang="0">
                  <a:pos x="T10" y="T11"/>
                </a:cxn>
              </a:cxnLst>
              <a:rect l="0" t="0" r="r" b="b"/>
              <a:pathLst>
                <a:path w="370" h="101">
                  <a:moveTo>
                    <a:pt x="0" y="0"/>
                  </a:moveTo>
                  <a:cubicBezTo>
                    <a:pt x="0" y="20"/>
                    <a:pt x="0" y="40"/>
                    <a:pt x="0" y="60"/>
                  </a:cubicBezTo>
                  <a:cubicBezTo>
                    <a:pt x="0" y="82"/>
                    <a:pt x="18" y="100"/>
                    <a:pt x="40" y="100"/>
                  </a:cubicBezTo>
                  <a:cubicBezTo>
                    <a:pt x="136" y="100"/>
                    <a:pt x="232" y="100"/>
                    <a:pt x="328" y="100"/>
                  </a:cubicBezTo>
                  <a:cubicBezTo>
                    <a:pt x="351" y="100"/>
                    <a:pt x="369" y="82"/>
                    <a:pt x="369" y="60"/>
                  </a:cubicBezTo>
                  <a:cubicBezTo>
                    <a:pt x="369" y="40"/>
                    <a:pt x="369" y="20"/>
                    <a:pt x="369"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8" name="Freeform 55">
              <a:extLst>
                <a:ext uri="{FF2B5EF4-FFF2-40B4-BE49-F238E27FC236}">
                  <a16:creationId xmlns:a16="http://schemas.microsoft.com/office/drawing/2014/main" id="{B591B862-7CC4-EB19-D47A-A8B64584D964}"/>
                </a:ext>
              </a:extLst>
            </p:cNvPr>
            <p:cNvSpPr>
              <a:spLocks noChangeArrowheads="1"/>
            </p:cNvSpPr>
            <p:nvPr/>
          </p:nvSpPr>
          <p:spPr bwMode="auto">
            <a:xfrm>
              <a:off x="3077368" y="909638"/>
              <a:ext cx="387350" cy="157163"/>
            </a:xfrm>
            <a:custGeom>
              <a:avLst/>
              <a:gdLst>
                <a:gd name="T0" fmla="*/ 618 w 1076"/>
                <a:gd name="T1" fmla="*/ 335 h 436"/>
                <a:gd name="T2" fmla="*/ 618 w 1076"/>
                <a:gd name="T3" fmla="*/ 395 h 436"/>
                <a:gd name="T4" fmla="*/ 658 w 1076"/>
                <a:gd name="T5" fmla="*/ 435 h 436"/>
                <a:gd name="T6" fmla="*/ 1040 w 1076"/>
                <a:gd name="T7" fmla="*/ 435 h 436"/>
                <a:gd name="T8" fmla="*/ 1066 w 1076"/>
                <a:gd name="T9" fmla="*/ 423 h 436"/>
                <a:gd name="T10" fmla="*/ 1073 w 1076"/>
                <a:gd name="T11" fmla="*/ 394 h 436"/>
                <a:gd name="T12" fmla="*/ 1003 w 1076"/>
                <a:gd name="T13" fmla="*/ 93 h 436"/>
                <a:gd name="T14" fmla="*/ 886 w 1076"/>
                <a:gd name="T15" fmla="*/ 0 h 436"/>
                <a:gd name="T16" fmla="*/ 189 w 1076"/>
                <a:gd name="T17" fmla="*/ 0 h 436"/>
                <a:gd name="T18" fmla="*/ 71 w 1076"/>
                <a:gd name="T19" fmla="*/ 93 h 436"/>
                <a:gd name="T20" fmla="*/ 2 w 1076"/>
                <a:gd name="T21" fmla="*/ 394 h 436"/>
                <a:gd name="T22" fmla="*/ 8 w 1076"/>
                <a:gd name="T23" fmla="*/ 423 h 436"/>
                <a:gd name="T24" fmla="*/ 35 w 1076"/>
                <a:gd name="T25" fmla="*/ 435 h 436"/>
                <a:gd name="T26" fmla="*/ 417 w 1076"/>
                <a:gd name="T27" fmla="*/ 435 h 436"/>
                <a:gd name="T28" fmla="*/ 457 w 1076"/>
                <a:gd name="T29" fmla="*/ 395 h 436"/>
                <a:gd name="T30" fmla="*/ 457 w 1076"/>
                <a:gd name="T31" fmla="*/ 335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76" h="436">
                  <a:moveTo>
                    <a:pt x="618" y="335"/>
                  </a:moveTo>
                  <a:cubicBezTo>
                    <a:pt x="618" y="355"/>
                    <a:pt x="618" y="375"/>
                    <a:pt x="618" y="395"/>
                  </a:cubicBezTo>
                  <a:cubicBezTo>
                    <a:pt x="618" y="417"/>
                    <a:pt x="636" y="435"/>
                    <a:pt x="658" y="435"/>
                  </a:cubicBezTo>
                  <a:cubicBezTo>
                    <a:pt x="785" y="435"/>
                    <a:pt x="912" y="435"/>
                    <a:pt x="1040" y="435"/>
                  </a:cubicBezTo>
                  <a:cubicBezTo>
                    <a:pt x="1050" y="435"/>
                    <a:pt x="1059" y="431"/>
                    <a:pt x="1066" y="423"/>
                  </a:cubicBezTo>
                  <a:cubicBezTo>
                    <a:pt x="1072" y="415"/>
                    <a:pt x="1075" y="404"/>
                    <a:pt x="1073" y="394"/>
                  </a:cubicBezTo>
                  <a:cubicBezTo>
                    <a:pt x="1049" y="294"/>
                    <a:pt x="1026" y="193"/>
                    <a:pt x="1003" y="93"/>
                  </a:cubicBezTo>
                  <a:cubicBezTo>
                    <a:pt x="990" y="38"/>
                    <a:pt x="942" y="0"/>
                    <a:pt x="886" y="0"/>
                  </a:cubicBezTo>
                  <a:cubicBezTo>
                    <a:pt x="653" y="0"/>
                    <a:pt x="421" y="0"/>
                    <a:pt x="189" y="0"/>
                  </a:cubicBezTo>
                  <a:cubicBezTo>
                    <a:pt x="133" y="0"/>
                    <a:pt x="84" y="38"/>
                    <a:pt x="71" y="93"/>
                  </a:cubicBezTo>
                  <a:cubicBezTo>
                    <a:pt x="48" y="193"/>
                    <a:pt x="25" y="294"/>
                    <a:pt x="2" y="394"/>
                  </a:cubicBezTo>
                  <a:cubicBezTo>
                    <a:pt x="0" y="404"/>
                    <a:pt x="2" y="415"/>
                    <a:pt x="8" y="423"/>
                  </a:cubicBezTo>
                  <a:cubicBezTo>
                    <a:pt x="15" y="431"/>
                    <a:pt x="24" y="435"/>
                    <a:pt x="35" y="435"/>
                  </a:cubicBezTo>
                  <a:cubicBezTo>
                    <a:pt x="162" y="435"/>
                    <a:pt x="289" y="435"/>
                    <a:pt x="417" y="435"/>
                  </a:cubicBezTo>
                  <a:cubicBezTo>
                    <a:pt x="439" y="435"/>
                    <a:pt x="457" y="417"/>
                    <a:pt x="457" y="395"/>
                  </a:cubicBezTo>
                  <a:cubicBezTo>
                    <a:pt x="457" y="375"/>
                    <a:pt x="457" y="355"/>
                    <a:pt x="457" y="335"/>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9" name="Freeform 56">
              <a:extLst>
                <a:ext uri="{FF2B5EF4-FFF2-40B4-BE49-F238E27FC236}">
                  <a16:creationId xmlns:a16="http://schemas.microsoft.com/office/drawing/2014/main" id="{D2EA9FEA-F62C-F31F-E559-821A82D2A671}"/>
                </a:ext>
              </a:extLst>
            </p:cNvPr>
            <p:cNvSpPr>
              <a:spLocks noChangeArrowheads="1"/>
            </p:cNvSpPr>
            <p:nvPr/>
          </p:nvSpPr>
          <p:spPr bwMode="auto">
            <a:xfrm>
              <a:off x="3301206" y="1150938"/>
              <a:ext cx="169862" cy="1588"/>
            </a:xfrm>
            <a:custGeom>
              <a:avLst/>
              <a:gdLst>
                <a:gd name="T0" fmla="*/ 0 w 470"/>
                <a:gd name="T1" fmla="*/ 0 h 1"/>
                <a:gd name="T2" fmla="*/ 469 w 470"/>
                <a:gd name="T3" fmla="*/ 0 h 1"/>
              </a:gdLst>
              <a:ahLst/>
              <a:cxnLst>
                <a:cxn ang="0">
                  <a:pos x="T0" y="T1"/>
                </a:cxn>
                <a:cxn ang="0">
                  <a:pos x="T2" y="T3"/>
                </a:cxn>
              </a:cxnLst>
              <a:rect l="0" t="0" r="r" b="b"/>
              <a:pathLst>
                <a:path w="470" h="1">
                  <a:moveTo>
                    <a:pt x="0" y="0"/>
                  </a:moveTo>
                  <a:cubicBezTo>
                    <a:pt x="156" y="0"/>
                    <a:pt x="312" y="0"/>
                    <a:pt x="469"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0" name="Freeform 57">
              <a:extLst>
                <a:ext uri="{FF2B5EF4-FFF2-40B4-BE49-F238E27FC236}">
                  <a16:creationId xmlns:a16="http://schemas.microsoft.com/office/drawing/2014/main" id="{232C63C8-5617-DF91-280E-724F32DB634B}"/>
                </a:ext>
              </a:extLst>
            </p:cNvPr>
            <p:cNvSpPr>
              <a:spLocks noChangeArrowheads="1"/>
            </p:cNvSpPr>
            <p:nvPr/>
          </p:nvSpPr>
          <p:spPr bwMode="auto">
            <a:xfrm>
              <a:off x="3301206" y="1066801"/>
              <a:ext cx="169862" cy="133350"/>
            </a:xfrm>
            <a:custGeom>
              <a:avLst/>
              <a:gdLst>
                <a:gd name="T0" fmla="*/ 389 w 470"/>
                <a:gd name="T1" fmla="*/ 0 h 370"/>
                <a:gd name="T2" fmla="*/ 469 w 470"/>
                <a:gd name="T3" fmla="*/ 235 h 370"/>
                <a:gd name="T4" fmla="*/ 469 w 470"/>
                <a:gd name="T5" fmla="*/ 349 h 370"/>
                <a:gd name="T6" fmla="*/ 449 w 470"/>
                <a:gd name="T7" fmla="*/ 369 h 370"/>
                <a:gd name="T8" fmla="*/ 20 w 470"/>
                <a:gd name="T9" fmla="*/ 369 h 370"/>
                <a:gd name="T10" fmla="*/ 0 w 470"/>
                <a:gd name="T11" fmla="*/ 349 h 370"/>
                <a:gd name="T12" fmla="*/ 0 w 470"/>
                <a:gd name="T13" fmla="*/ 235 h 370"/>
                <a:gd name="T14" fmla="*/ 80 w 470"/>
                <a:gd name="T15" fmla="*/ 0 h 3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0" h="370">
                  <a:moveTo>
                    <a:pt x="389" y="0"/>
                  </a:moveTo>
                  <a:cubicBezTo>
                    <a:pt x="415" y="78"/>
                    <a:pt x="442" y="157"/>
                    <a:pt x="469" y="235"/>
                  </a:cubicBezTo>
                  <a:cubicBezTo>
                    <a:pt x="469" y="273"/>
                    <a:pt x="469" y="311"/>
                    <a:pt x="469" y="349"/>
                  </a:cubicBezTo>
                  <a:cubicBezTo>
                    <a:pt x="469" y="360"/>
                    <a:pt x="460" y="369"/>
                    <a:pt x="449" y="369"/>
                  </a:cubicBezTo>
                  <a:cubicBezTo>
                    <a:pt x="306" y="369"/>
                    <a:pt x="163" y="369"/>
                    <a:pt x="20" y="369"/>
                  </a:cubicBezTo>
                  <a:cubicBezTo>
                    <a:pt x="9" y="369"/>
                    <a:pt x="0" y="360"/>
                    <a:pt x="0" y="349"/>
                  </a:cubicBezTo>
                  <a:cubicBezTo>
                    <a:pt x="0" y="311"/>
                    <a:pt x="0" y="273"/>
                    <a:pt x="0" y="235"/>
                  </a:cubicBezTo>
                  <a:cubicBezTo>
                    <a:pt x="26" y="157"/>
                    <a:pt x="53" y="78"/>
                    <a:pt x="8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1" name="Freeform 58">
              <a:extLst>
                <a:ext uri="{FF2B5EF4-FFF2-40B4-BE49-F238E27FC236}">
                  <a16:creationId xmlns:a16="http://schemas.microsoft.com/office/drawing/2014/main" id="{CD50BDFB-0703-BB28-70F9-17DE706E90F1}"/>
                </a:ext>
              </a:extLst>
            </p:cNvPr>
            <p:cNvSpPr>
              <a:spLocks noChangeArrowheads="1"/>
            </p:cNvSpPr>
            <p:nvPr/>
          </p:nvSpPr>
          <p:spPr bwMode="auto">
            <a:xfrm>
              <a:off x="3072606" y="1150938"/>
              <a:ext cx="169862" cy="1588"/>
            </a:xfrm>
            <a:custGeom>
              <a:avLst/>
              <a:gdLst>
                <a:gd name="T0" fmla="*/ 0 w 470"/>
                <a:gd name="T1" fmla="*/ 0 h 1"/>
                <a:gd name="T2" fmla="*/ 469 w 470"/>
                <a:gd name="T3" fmla="*/ 0 h 1"/>
              </a:gdLst>
              <a:ahLst/>
              <a:cxnLst>
                <a:cxn ang="0">
                  <a:pos x="T0" y="T1"/>
                </a:cxn>
                <a:cxn ang="0">
                  <a:pos x="T2" y="T3"/>
                </a:cxn>
              </a:cxnLst>
              <a:rect l="0" t="0" r="r" b="b"/>
              <a:pathLst>
                <a:path w="470" h="1">
                  <a:moveTo>
                    <a:pt x="0" y="0"/>
                  </a:moveTo>
                  <a:cubicBezTo>
                    <a:pt x="156" y="0"/>
                    <a:pt x="312" y="0"/>
                    <a:pt x="469"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7" name="Freeform 59">
              <a:extLst>
                <a:ext uri="{FF2B5EF4-FFF2-40B4-BE49-F238E27FC236}">
                  <a16:creationId xmlns:a16="http://schemas.microsoft.com/office/drawing/2014/main" id="{B9EE176B-609D-855C-CE2F-1C91EC6F300C}"/>
                </a:ext>
              </a:extLst>
            </p:cNvPr>
            <p:cNvSpPr>
              <a:spLocks noChangeArrowheads="1"/>
            </p:cNvSpPr>
            <p:nvPr/>
          </p:nvSpPr>
          <p:spPr bwMode="auto">
            <a:xfrm>
              <a:off x="3072606" y="1066801"/>
              <a:ext cx="169862" cy="133350"/>
            </a:xfrm>
            <a:custGeom>
              <a:avLst/>
              <a:gdLst>
                <a:gd name="T0" fmla="*/ 389 w 470"/>
                <a:gd name="T1" fmla="*/ 0 h 370"/>
                <a:gd name="T2" fmla="*/ 469 w 470"/>
                <a:gd name="T3" fmla="*/ 235 h 370"/>
                <a:gd name="T4" fmla="*/ 469 w 470"/>
                <a:gd name="T5" fmla="*/ 349 h 370"/>
                <a:gd name="T6" fmla="*/ 449 w 470"/>
                <a:gd name="T7" fmla="*/ 369 h 370"/>
                <a:gd name="T8" fmla="*/ 20 w 470"/>
                <a:gd name="T9" fmla="*/ 369 h 370"/>
                <a:gd name="T10" fmla="*/ 0 w 470"/>
                <a:gd name="T11" fmla="*/ 349 h 370"/>
                <a:gd name="T12" fmla="*/ 0 w 470"/>
                <a:gd name="T13" fmla="*/ 235 h 370"/>
                <a:gd name="T14" fmla="*/ 81 w 470"/>
                <a:gd name="T15" fmla="*/ 0 h 3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0" h="370">
                  <a:moveTo>
                    <a:pt x="389" y="0"/>
                  </a:moveTo>
                  <a:cubicBezTo>
                    <a:pt x="415" y="78"/>
                    <a:pt x="442" y="157"/>
                    <a:pt x="469" y="235"/>
                  </a:cubicBezTo>
                  <a:cubicBezTo>
                    <a:pt x="469" y="273"/>
                    <a:pt x="469" y="311"/>
                    <a:pt x="469" y="349"/>
                  </a:cubicBezTo>
                  <a:cubicBezTo>
                    <a:pt x="469" y="360"/>
                    <a:pt x="460" y="369"/>
                    <a:pt x="449" y="369"/>
                  </a:cubicBezTo>
                  <a:cubicBezTo>
                    <a:pt x="306" y="369"/>
                    <a:pt x="163" y="369"/>
                    <a:pt x="20" y="369"/>
                  </a:cubicBezTo>
                  <a:cubicBezTo>
                    <a:pt x="9" y="369"/>
                    <a:pt x="0" y="360"/>
                    <a:pt x="0" y="349"/>
                  </a:cubicBezTo>
                  <a:cubicBezTo>
                    <a:pt x="0" y="311"/>
                    <a:pt x="0" y="273"/>
                    <a:pt x="0" y="235"/>
                  </a:cubicBezTo>
                  <a:cubicBezTo>
                    <a:pt x="27" y="157"/>
                    <a:pt x="54" y="78"/>
                    <a:pt x="81"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8" name="Freeform 60">
              <a:extLst>
                <a:ext uri="{FF2B5EF4-FFF2-40B4-BE49-F238E27FC236}">
                  <a16:creationId xmlns:a16="http://schemas.microsoft.com/office/drawing/2014/main" id="{80A766FB-B3E4-6918-154C-8E97059DF1AA}"/>
                </a:ext>
              </a:extLst>
            </p:cNvPr>
            <p:cNvSpPr>
              <a:spLocks noChangeArrowheads="1"/>
            </p:cNvSpPr>
            <p:nvPr/>
          </p:nvSpPr>
          <p:spPr bwMode="auto">
            <a:xfrm>
              <a:off x="3169443" y="881063"/>
              <a:ext cx="1588" cy="30163"/>
            </a:xfrm>
            <a:custGeom>
              <a:avLst/>
              <a:gdLst>
                <a:gd name="T0" fmla="*/ 0 w 1"/>
                <a:gd name="T1" fmla="*/ 81 h 82"/>
                <a:gd name="T2" fmla="*/ 0 w 1"/>
                <a:gd name="T3" fmla="*/ 0 h 82"/>
              </a:gdLst>
              <a:ahLst/>
              <a:cxnLst>
                <a:cxn ang="0">
                  <a:pos x="T0" y="T1"/>
                </a:cxn>
                <a:cxn ang="0">
                  <a:pos x="T2" y="T3"/>
                </a:cxn>
              </a:cxnLst>
              <a:rect l="0" t="0" r="r" b="b"/>
              <a:pathLst>
                <a:path w="1" h="82">
                  <a:moveTo>
                    <a:pt x="0" y="81"/>
                  </a:moveTo>
                  <a:cubicBezTo>
                    <a:pt x="0" y="54"/>
                    <a:pt x="0" y="27"/>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9" name="Freeform 61">
              <a:extLst>
                <a:ext uri="{FF2B5EF4-FFF2-40B4-BE49-F238E27FC236}">
                  <a16:creationId xmlns:a16="http://schemas.microsoft.com/office/drawing/2014/main" id="{A620C3D3-1C62-69B2-D920-A48056EE44DA}"/>
                </a:ext>
              </a:extLst>
            </p:cNvPr>
            <p:cNvSpPr>
              <a:spLocks noChangeArrowheads="1"/>
            </p:cNvSpPr>
            <p:nvPr/>
          </p:nvSpPr>
          <p:spPr bwMode="auto">
            <a:xfrm>
              <a:off x="3228181" y="881063"/>
              <a:ext cx="1587" cy="30163"/>
            </a:xfrm>
            <a:custGeom>
              <a:avLst/>
              <a:gdLst>
                <a:gd name="T0" fmla="*/ 0 w 1"/>
                <a:gd name="T1" fmla="*/ 81 h 82"/>
                <a:gd name="T2" fmla="*/ 0 w 1"/>
                <a:gd name="T3" fmla="*/ 0 h 82"/>
              </a:gdLst>
              <a:ahLst/>
              <a:cxnLst>
                <a:cxn ang="0">
                  <a:pos x="T0" y="T1"/>
                </a:cxn>
                <a:cxn ang="0">
                  <a:pos x="T2" y="T3"/>
                </a:cxn>
              </a:cxnLst>
              <a:rect l="0" t="0" r="r" b="b"/>
              <a:pathLst>
                <a:path w="1" h="82">
                  <a:moveTo>
                    <a:pt x="0" y="81"/>
                  </a:moveTo>
                  <a:cubicBezTo>
                    <a:pt x="0" y="54"/>
                    <a:pt x="0" y="27"/>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0" name="Freeform 62">
              <a:extLst>
                <a:ext uri="{FF2B5EF4-FFF2-40B4-BE49-F238E27FC236}">
                  <a16:creationId xmlns:a16="http://schemas.microsoft.com/office/drawing/2014/main" id="{A8434411-FB78-38EA-7BC8-785B5FC3C4B4}"/>
                </a:ext>
              </a:extLst>
            </p:cNvPr>
            <p:cNvSpPr>
              <a:spLocks noChangeArrowheads="1"/>
            </p:cNvSpPr>
            <p:nvPr/>
          </p:nvSpPr>
          <p:spPr bwMode="auto">
            <a:xfrm>
              <a:off x="3315493" y="881063"/>
              <a:ext cx="1588" cy="30163"/>
            </a:xfrm>
            <a:custGeom>
              <a:avLst/>
              <a:gdLst>
                <a:gd name="T0" fmla="*/ 0 w 1"/>
                <a:gd name="T1" fmla="*/ 81 h 82"/>
                <a:gd name="T2" fmla="*/ 0 w 1"/>
                <a:gd name="T3" fmla="*/ 0 h 82"/>
              </a:gdLst>
              <a:ahLst/>
              <a:cxnLst>
                <a:cxn ang="0">
                  <a:pos x="T0" y="T1"/>
                </a:cxn>
                <a:cxn ang="0">
                  <a:pos x="T2" y="T3"/>
                </a:cxn>
              </a:cxnLst>
              <a:rect l="0" t="0" r="r" b="b"/>
              <a:pathLst>
                <a:path w="1" h="82">
                  <a:moveTo>
                    <a:pt x="0" y="81"/>
                  </a:moveTo>
                  <a:cubicBezTo>
                    <a:pt x="0" y="54"/>
                    <a:pt x="0" y="27"/>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1" name="Freeform 63">
              <a:extLst>
                <a:ext uri="{FF2B5EF4-FFF2-40B4-BE49-F238E27FC236}">
                  <a16:creationId xmlns:a16="http://schemas.microsoft.com/office/drawing/2014/main" id="{A155AC1B-A00E-92F7-8383-77CB1CFAE2C1}"/>
                </a:ext>
              </a:extLst>
            </p:cNvPr>
            <p:cNvSpPr>
              <a:spLocks noChangeArrowheads="1"/>
            </p:cNvSpPr>
            <p:nvPr/>
          </p:nvSpPr>
          <p:spPr bwMode="auto">
            <a:xfrm>
              <a:off x="3372643" y="881063"/>
              <a:ext cx="1588" cy="30163"/>
            </a:xfrm>
            <a:custGeom>
              <a:avLst/>
              <a:gdLst>
                <a:gd name="T0" fmla="*/ 0 w 1"/>
                <a:gd name="T1" fmla="*/ 81 h 82"/>
                <a:gd name="T2" fmla="*/ 0 w 1"/>
                <a:gd name="T3" fmla="*/ 0 h 82"/>
              </a:gdLst>
              <a:ahLst/>
              <a:cxnLst>
                <a:cxn ang="0">
                  <a:pos x="T0" y="T1"/>
                </a:cxn>
                <a:cxn ang="0">
                  <a:pos x="T2" y="T3"/>
                </a:cxn>
              </a:cxnLst>
              <a:rect l="0" t="0" r="r" b="b"/>
              <a:pathLst>
                <a:path w="1" h="82">
                  <a:moveTo>
                    <a:pt x="0" y="81"/>
                  </a:moveTo>
                  <a:cubicBezTo>
                    <a:pt x="0" y="54"/>
                    <a:pt x="0" y="27"/>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2" name="Freeform 64">
              <a:extLst>
                <a:ext uri="{FF2B5EF4-FFF2-40B4-BE49-F238E27FC236}">
                  <a16:creationId xmlns:a16="http://schemas.microsoft.com/office/drawing/2014/main" id="{F1D37B79-7355-3EAB-8567-4E6FF50E3F6D}"/>
                </a:ext>
              </a:extLst>
            </p:cNvPr>
            <p:cNvSpPr>
              <a:spLocks noChangeArrowheads="1"/>
            </p:cNvSpPr>
            <p:nvPr/>
          </p:nvSpPr>
          <p:spPr bwMode="auto">
            <a:xfrm>
              <a:off x="3204368" y="993776"/>
              <a:ext cx="133350" cy="36512"/>
            </a:xfrm>
            <a:custGeom>
              <a:avLst/>
              <a:gdLst>
                <a:gd name="T0" fmla="*/ 318 w 370"/>
                <a:gd name="T1" fmla="*/ 0 h 102"/>
                <a:gd name="T2" fmla="*/ 50 w 370"/>
                <a:gd name="T3" fmla="*/ 0 h 102"/>
                <a:gd name="T4" fmla="*/ 0 w 370"/>
                <a:gd name="T5" fmla="*/ 50 h 102"/>
                <a:gd name="T6" fmla="*/ 50 w 370"/>
                <a:gd name="T7" fmla="*/ 101 h 102"/>
                <a:gd name="T8" fmla="*/ 318 w 370"/>
                <a:gd name="T9" fmla="*/ 101 h 102"/>
                <a:gd name="T10" fmla="*/ 369 w 370"/>
                <a:gd name="T11" fmla="*/ 50 h 102"/>
                <a:gd name="T12" fmla="*/ 318 w 370"/>
                <a:gd name="T13" fmla="*/ 0 h 102"/>
              </a:gdLst>
              <a:ahLst/>
              <a:cxnLst>
                <a:cxn ang="0">
                  <a:pos x="T0" y="T1"/>
                </a:cxn>
                <a:cxn ang="0">
                  <a:pos x="T2" y="T3"/>
                </a:cxn>
                <a:cxn ang="0">
                  <a:pos x="T4" y="T5"/>
                </a:cxn>
                <a:cxn ang="0">
                  <a:pos x="T6" y="T7"/>
                </a:cxn>
                <a:cxn ang="0">
                  <a:pos x="T8" y="T9"/>
                </a:cxn>
                <a:cxn ang="0">
                  <a:pos x="T10" y="T11"/>
                </a:cxn>
                <a:cxn ang="0">
                  <a:pos x="T12" y="T13"/>
                </a:cxn>
              </a:cxnLst>
              <a:rect l="0" t="0" r="r" b="b"/>
              <a:pathLst>
                <a:path w="370" h="102">
                  <a:moveTo>
                    <a:pt x="318" y="0"/>
                  </a:moveTo>
                  <a:cubicBezTo>
                    <a:pt x="312" y="0"/>
                    <a:pt x="57" y="0"/>
                    <a:pt x="50" y="0"/>
                  </a:cubicBezTo>
                  <a:cubicBezTo>
                    <a:pt x="22" y="0"/>
                    <a:pt x="0" y="23"/>
                    <a:pt x="0" y="50"/>
                  </a:cubicBezTo>
                  <a:cubicBezTo>
                    <a:pt x="0" y="78"/>
                    <a:pt x="22" y="101"/>
                    <a:pt x="50" y="101"/>
                  </a:cubicBezTo>
                  <a:cubicBezTo>
                    <a:pt x="57" y="101"/>
                    <a:pt x="312" y="101"/>
                    <a:pt x="318" y="101"/>
                  </a:cubicBezTo>
                  <a:cubicBezTo>
                    <a:pt x="346" y="101"/>
                    <a:pt x="369" y="78"/>
                    <a:pt x="369" y="50"/>
                  </a:cubicBezTo>
                  <a:cubicBezTo>
                    <a:pt x="369" y="23"/>
                    <a:pt x="346" y="0"/>
                    <a:pt x="318"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sp>
        <p:nvSpPr>
          <p:cNvPr id="113" name="TextBox 112">
            <a:extLst>
              <a:ext uri="{FF2B5EF4-FFF2-40B4-BE49-F238E27FC236}">
                <a16:creationId xmlns:a16="http://schemas.microsoft.com/office/drawing/2014/main" id="{DC6CA1AD-6706-588C-6786-DD7B3426CB43}"/>
              </a:ext>
            </a:extLst>
          </p:cNvPr>
          <p:cNvSpPr txBox="1"/>
          <p:nvPr/>
        </p:nvSpPr>
        <p:spPr>
          <a:xfrm>
            <a:off x="4542372" y="2200943"/>
            <a:ext cx="851516"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Fira Sans" panose="020B0503050000020004" pitchFamily="34" charset="0"/>
                <a:ea typeface="+mn-ea"/>
                <a:cs typeface="+mn-cs"/>
              </a:rPr>
              <a:t>CRA (Lite)</a:t>
            </a:r>
          </a:p>
        </p:txBody>
      </p:sp>
      <p:sp>
        <p:nvSpPr>
          <p:cNvPr id="114" name="TextBox 113">
            <a:extLst>
              <a:ext uri="{FF2B5EF4-FFF2-40B4-BE49-F238E27FC236}">
                <a16:creationId xmlns:a16="http://schemas.microsoft.com/office/drawing/2014/main" id="{17A64262-1AEB-411A-F1B7-6FE1028BDD34}"/>
              </a:ext>
            </a:extLst>
          </p:cNvPr>
          <p:cNvSpPr txBox="1"/>
          <p:nvPr/>
        </p:nvSpPr>
        <p:spPr>
          <a:xfrm>
            <a:off x="4177691" y="2523299"/>
            <a:ext cx="1632263" cy="784830"/>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Pre-questionnaire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CRA Workshops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Focus on Cloud Readiness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p:txBody>
      </p:sp>
      <p:sp>
        <p:nvSpPr>
          <p:cNvPr id="48" name="TextBox 47">
            <a:extLst>
              <a:ext uri="{FF2B5EF4-FFF2-40B4-BE49-F238E27FC236}">
                <a16:creationId xmlns:a16="http://schemas.microsoft.com/office/drawing/2014/main" id="{5237DBB6-1A78-91B8-E2E4-B7FCEEA5559B}"/>
              </a:ext>
            </a:extLst>
          </p:cNvPr>
          <p:cNvSpPr txBox="1"/>
          <p:nvPr/>
        </p:nvSpPr>
        <p:spPr>
          <a:xfrm>
            <a:off x="5383503" y="2507139"/>
            <a:ext cx="1792801" cy="1061829"/>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Defining assessment scope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      (up to 5 Business apps)*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PA workshops validating data collection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Arial"/>
                <a:ea typeface="+mn-ea"/>
                <a:cs typeface="+mn-cs"/>
              </a:rPr>
              <a:t>Documentation Review</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p:txBody>
      </p:sp>
      <p:sp>
        <p:nvSpPr>
          <p:cNvPr id="49" name="TextBox 48">
            <a:extLst>
              <a:ext uri="{FF2B5EF4-FFF2-40B4-BE49-F238E27FC236}">
                <a16:creationId xmlns:a16="http://schemas.microsoft.com/office/drawing/2014/main" id="{7AEFFA89-FCF4-327E-B5FE-DA9F7A0A248F}"/>
              </a:ext>
            </a:extLst>
          </p:cNvPr>
          <p:cNvSpPr txBox="1"/>
          <p:nvPr/>
        </p:nvSpPr>
        <p:spPr>
          <a:xfrm>
            <a:off x="7102567" y="2504663"/>
            <a:ext cx="1628871" cy="784830"/>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Arial"/>
                <a:ea typeface="+mn-ea"/>
                <a:cs typeface="+mn-cs"/>
              </a:rPr>
              <a:t>App Profiling Workshops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Arial" charset="0"/>
                <a:ea typeface="+mn-ea"/>
                <a:cs typeface="Arial" charset="0"/>
              </a:rPr>
              <a:t>Complexity Assessment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Arial" charset="0"/>
                <a:ea typeface="+mn-ea"/>
                <a:cs typeface="Arial" charset="0"/>
              </a:rPr>
              <a:t>Business Context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Arial" charset="0"/>
                <a:ea typeface="+mn-ea"/>
                <a:cs typeface="Arial" charset="0"/>
              </a:rPr>
              <a:t>Key App data points captured</a:t>
            </a:r>
          </a:p>
        </p:txBody>
      </p:sp>
      <p:sp>
        <p:nvSpPr>
          <p:cNvPr id="51" name="TextBox 50">
            <a:extLst>
              <a:ext uri="{FF2B5EF4-FFF2-40B4-BE49-F238E27FC236}">
                <a16:creationId xmlns:a16="http://schemas.microsoft.com/office/drawing/2014/main" id="{15449858-6502-4B7B-D0B0-0EB9253CCAE1}"/>
              </a:ext>
            </a:extLst>
          </p:cNvPr>
          <p:cNvSpPr txBox="1"/>
          <p:nvPr/>
        </p:nvSpPr>
        <p:spPr>
          <a:xfrm>
            <a:off x="10166951" y="2506981"/>
            <a:ext cx="1623565" cy="507831"/>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Arial"/>
                <a:ea typeface="+mn-ea"/>
                <a:cs typeface="+mn-cs"/>
              </a:rPr>
              <a:t>Tool Deployment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Arial"/>
                <a:ea typeface="+mn-ea"/>
                <a:cs typeface="+mn-cs"/>
              </a:rPr>
              <a:t>Infrastructure Data Capture</a:t>
            </a:r>
          </a:p>
        </p:txBody>
      </p:sp>
      <p:sp>
        <p:nvSpPr>
          <p:cNvPr id="55" name="TextBox 54">
            <a:extLst>
              <a:ext uri="{FF2B5EF4-FFF2-40B4-BE49-F238E27FC236}">
                <a16:creationId xmlns:a16="http://schemas.microsoft.com/office/drawing/2014/main" id="{66C19A76-3809-02C5-C99B-99D25AFC2777}"/>
              </a:ext>
            </a:extLst>
          </p:cNvPr>
          <p:cNvSpPr txBox="1"/>
          <p:nvPr/>
        </p:nvSpPr>
        <p:spPr>
          <a:xfrm>
            <a:off x="8619522" y="2501541"/>
            <a:ext cx="1715354" cy="507831"/>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Arial"/>
                <a:ea typeface="+mn-ea"/>
                <a:cs typeface="+mn-cs"/>
              </a:rPr>
              <a:t>Architecture &amp; Eco-System Workshops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Arial"/>
                <a:ea typeface="+mn-ea"/>
                <a:cs typeface="+mn-cs"/>
              </a:rPr>
              <a:t>Landing Zone Workshops</a:t>
            </a:r>
            <a:endParaRPr kumimoji="0" lang="en-GB" sz="900" b="0" i="0" u="none" strike="noStrike" kern="1200" cap="none" spc="0" normalizeH="0" baseline="0" noProof="0">
              <a:ln>
                <a:noFill/>
              </a:ln>
              <a:solidFill>
                <a:srgbClr val="FFFFFF"/>
              </a:solidFill>
              <a:effectLst/>
              <a:uLnTx/>
              <a:uFillTx/>
              <a:latin typeface="Arial" charset="0"/>
              <a:ea typeface="+mn-ea"/>
              <a:cs typeface="Arial" charset="0"/>
            </a:endParaRPr>
          </a:p>
        </p:txBody>
      </p:sp>
      <p:grpSp>
        <p:nvGrpSpPr>
          <p:cNvPr id="42" name="Group 41">
            <a:extLst>
              <a:ext uri="{FF2B5EF4-FFF2-40B4-BE49-F238E27FC236}">
                <a16:creationId xmlns:a16="http://schemas.microsoft.com/office/drawing/2014/main" id="{CA08C01F-6260-E49B-4638-D949C10ABD3A}"/>
              </a:ext>
            </a:extLst>
          </p:cNvPr>
          <p:cNvGrpSpPr/>
          <p:nvPr/>
        </p:nvGrpSpPr>
        <p:grpSpPr>
          <a:xfrm>
            <a:off x="7455372" y="4412629"/>
            <a:ext cx="2138934" cy="2243117"/>
            <a:chOff x="5605777" y="4412629"/>
            <a:chExt cx="2138934" cy="2243117"/>
          </a:xfrm>
        </p:grpSpPr>
        <p:sp>
          <p:nvSpPr>
            <p:cNvPr id="59" name="TextBox 58">
              <a:extLst>
                <a:ext uri="{FF2B5EF4-FFF2-40B4-BE49-F238E27FC236}">
                  <a16:creationId xmlns:a16="http://schemas.microsoft.com/office/drawing/2014/main" id="{2645E8D5-57EF-F632-EB2B-AC9D245BCEBD}"/>
                </a:ext>
              </a:extLst>
            </p:cNvPr>
            <p:cNvSpPr txBox="1"/>
            <p:nvPr/>
          </p:nvSpPr>
          <p:spPr>
            <a:xfrm>
              <a:off x="5957093" y="4963808"/>
              <a:ext cx="75373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Fira Sans" panose="020B0503050000020004" pitchFamily="34" charset="0"/>
                  <a:ea typeface="+mn-ea"/>
                  <a:cs typeface="+mn-cs"/>
                </a:rPr>
                <a:t>Analysis</a:t>
              </a:r>
            </a:p>
          </p:txBody>
        </p:sp>
        <p:sp>
          <p:nvSpPr>
            <p:cNvPr id="60" name="TextBox 59">
              <a:extLst>
                <a:ext uri="{FF2B5EF4-FFF2-40B4-BE49-F238E27FC236}">
                  <a16:creationId xmlns:a16="http://schemas.microsoft.com/office/drawing/2014/main" id="{15ED2A24-5BC1-D22B-B242-282892AC9188}"/>
                </a:ext>
              </a:extLst>
            </p:cNvPr>
            <p:cNvSpPr txBox="1"/>
            <p:nvPr/>
          </p:nvSpPr>
          <p:spPr>
            <a:xfrm>
              <a:off x="5605777" y="5316918"/>
              <a:ext cx="2138934" cy="1338828"/>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Migration Scope Recommendations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Migration Strategy per Application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Complexity Scoring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Move Groups*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p:txBody>
        </p:sp>
        <p:grpSp>
          <p:nvGrpSpPr>
            <p:cNvPr id="66" name="Group 65">
              <a:extLst>
                <a:ext uri="{FF2B5EF4-FFF2-40B4-BE49-F238E27FC236}">
                  <a16:creationId xmlns:a16="http://schemas.microsoft.com/office/drawing/2014/main" id="{44497588-2439-6C49-630E-FEDE57608400}"/>
                </a:ext>
              </a:extLst>
            </p:cNvPr>
            <p:cNvGrpSpPr/>
            <p:nvPr/>
          </p:nvGrpSpPr>
          <p:grpSpPr>
            <a:xfrm>
              <a:off x="6047210" y="4412629"/>
              <a:ext cx="535966" cy="508175"/>
              <a:chOff x="8793097" y="2299503"/>
              <a:chExt cx="535966" cy="508175"/>
            </a:xfrm>
          </p:grpSpPr>
          <p:sp>
            <p:nvSpPr>
              <p:cNvPr id="68" name="Freeform 168">
                <a:extLst>
                  <a:ext uri="{FF2B5EF4-FFF2-40B4-BE49-F238E27FC236}">
                    <a16:creationId xmlns:a16="http://schemas.microsoft.com/office/drawing/2014/main" id="{86CC8A33-9D21-3B70-345A-4B19C58C0517}"/>
                  </a:ext>
                </a:extLst>
              </p:cNvPr>
              <p:cNvSpPr>
                <a:spLocks noChangeArrowheads="1"/>
              </p:cNvSpPr>
              <p:nvPr/>
            </p:nvSpPr>
            <p:spPr bwMode="auto">
              <a:xfrm>
                <a:off x="8846693" y="2678648"/>
                <a:ext cx="134984" cy="79402"/>
              </a:xfrm>
              <a:custGeom>
                <a:avLst/>
                <a:gdLst>
                  <a:gd name="T0" fmla="*/ 299 w 300"/>
                  <a:gd name="T1" fmla="*/ 102 h 177"/>
                  <a:gd name="T2" fmla="*/ 167 w 300"/>
                  <a:gd name="T3" fmla="*/ 176 h 177"/>
                  <a:gd name="T4" fmla="*/ 13 w 300"/>
                  <a:gd name="T5" fmla="*/ 0 h 177"/>
                </a:gdLst>
                <a:ahLst/>
                <a:cxnLst>
                  <a:cxn ang="0">
                    <a:pos x="T0" y="T1"/>
                  </a:cxn>
                  <a:cxn ang="0">
                    <a:pos x="T2" y="T3"/>
                  </a:cxn>
                  <a:cxn ang="0">
                    <a:pos x="T4" y="T5"/>
                  </a:cxn>
                </a:cxnLst>
                <a:rect l="0" t="0" r="r" b="b"/>
                <a:pathLst>
                  <a:path w="300" h="177">
                    <a:moveTo>
                      <a:pt x="299" y="102"/>
                    </a:moveTo>
                    <a:cubicBezTo>
                      <a:pt x="272" y="146"/>
                      <a:pt x="223" y="176"/>
                      <a:pt x="167" y="176"/>
                    </a:cubicBezTo>
                    <a:cubicBezTo>
                      <a:pt x="74" y="176"/>
                      <a:pt x="0" y="94"/>
                      <a:pt x="13"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9" name="Freeform 169">
                <a:extLst>
                  <a:ext uri="{FF2B5EF4-FFF2-40B4-BE49-F238E27FC236}">
                    <a16:creationId xmlns:a16="http://schemas.microsoft.com/office/drawing/2014/main" id="{8CF492DF-9F20-5E37-09D6-273D04457914}"/>
                  </a:ext>
                </a:extLst>
              </p:cNvPr>
              <p:cNvSpPr>
                <a:spLocks noChangeArrowheads="1"/>
              </p:cNvSpPr>
              <p:nvPr/>
            </p:nvSpPr>
            <p:spPr bwMode="auto">
              <a:xfrm>
                <a:off x="8955872" y="2299503"/>
                <a:ext cx="111163" cy="57566"/>
              </a:xfrm>
              <a:custGeom>
                <a:avLst/>
                <a:gdLst>
                  <a:gd name="T0" fmla="*/ 0 w 249"/>
                  <a:gd name="T1" fmla="*/ 89 h 128"/>
                  <a:gd name="T2" fmla="*/ 121 w 249"/>
                  <a:gd name="T3" fmla="*/ 0 h 128"/>
                  <a:gd name="T4" fmla="*/ 248 w 249"/>
                  <a:gd name="T5" fmla="*/ 127 h 128"/>
                </a:gdLst>
                <a:ahLst/>
                <a:cxnLst>
                  <a:cxn ang="0">
                    <a:pos x="T0" y="T1"/>
                  </a:cxn>
                  <a:cxn ang="0">
                    <a:pos x="T2" y="T3"/>
                  </a:cxn>
                  <a:cxn ang="0">
                    <a:pos x="T4" y="T5"/>
                  </a:cxn>
                </a:cxnLst>
                <a:rect l="0" t="0" r="r" b="b"/>
                <a:pathLst>
                  <a:path w="249" h="128">
                    <a:moveTo>
                      <a:pt x="0" y="89"/>
                    </a:moveTo>
                    <a:cubicBezTo>
                      <a:pt x="17" y="37"/>
                      <a:pt x="65" y="0"/>
                      <a:pt x="121" y="0"/>
                    </a:cubicBezTo>
                    <a:cubicBezTo>
                      <a:pt x="191" y="0"/>
                      <a:pt x="248" y="57"/>
                      <a:pt x="248" y="12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0" name="Freeform 170">
                <a:extLst>
                  <a:ext uri="{FF2B5EF4-FFF2-40B4-BE49-F238E27FC236}">
                    <a16:creationId xmlns:a16="http://schemas.microsoft.com/office/drawing/2014/main" id="{E98842AA-C942-19DD-0416-58FA62BCFC9B}"/>
                  </a:ext>
                </a:extLst>
              </p:cNvPr>
              <p:cNvSpPr>
                <a:spLocks noChangeArrowheads="1"/>
              </p:cNvSpPr>
              <p:nvPr/>
            </p:nvSpPr>
            <p:spPr bwMode="auto">
              <a:xfrm>
                <a:off x="8812948" y="2561530"/>
                <a:ext cx="99253" cy="119103"/>
              </a:xfrm>
              <a:custGeom>
                <a:avLst/>
                <a:gdLst>
                  <a:gd name="T0" fmla="*/ 218 w 219"/>
                  <a:gd name="T1" fmla="*/ 224 h 264"/>
                  <a:gd name="T2" fmla="*/ 127 w 219"/>
                  <a:gd name="T3" fmla="*/ 263 h 264"/>
                  <a:gd name="T4" fmla="*/ 0 w 219"/>
                  <a:gd name="T5" fmla="*/ 136 h 264"/>
                  <a:gd name="T6" fmla="*/ 142 w 219"/>
                  <a:gd name="T7" fmla="*/ 10 h 264"/>
                </a:gdLst>
                <a:ahLst/>
                <a:cxnLst>
                  <a:cxn ang="0">
                    <a:pos x="T0" y="T1"/>
                  </a:cxn>
                  <a:cxn ang="0">
                    <a:pos x="T2" y="T3"/>
                  </a:cxn>
                  <a:cxn ang="0">
                    <a:pos x="T4" y="T5"/>
                  </a:cxn>
                  <a:cxn ang="0">
                    <a:pos x="T6" y="T7"/>
                  </a:cxn>
                </a:cxnLst>
                <a:rect l="0" t="0" r="r" b="b"/>
                <a:pathLst>
                  <a:path w="219" h="264">
                    <a:moveTo>
                      <a:pt x="218" y="224"/>
                    </a:moveTo>
                    <a:cubicBezTo>
                      <a:pt x="195" y="248"/>
                      <a:pt x="163" y="263"/>
                      <a:pt x="127" y="263"/>
                    </a:cubicBezTo>
                    <a:cubicBezTo>
                      <a:pt x="57" y="263"/>
                      <a:pt x="0" y="206"/>
                      <a:pt x="0" y="136"/>
                    </a:cubicBezTo>
                    <a:cubicBezTo>
                      <a:pt x="0" y="60"/>
                      <a:pt x="66" y="0"/>
                      <a:pt x="142" y="1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1" name="Freeform 171">
                <a:extLst>
                  <a:ext uri="{FF2B5EF4-FFF2-40B4-BE49-F238E27FC236}">
                    <a16:creationId xmlns:a16="http://schemas.microsoft.com/office/drawing/2014/main" id="{42774469-080D-D0BF-6B0A-2AB2B423A487}"/>
                  </a:ext>
                </a:extLst>
              </p:cNvPr>
              <p:cNvSpPr>
                <a:spLocks noChangeArrowheads="1"/>
              </p:cNvSpPr>
              <p:nvPr/>
            </p:nvSpPr>
            <p:spPr bwMode="auto">
              <a:xfrm>
                <a:off x="8920141" y="2744155"/>
                <a:ext cx="146894" cy="63522"/>
              </a:xfrm>
              <a:custGeom>
                <a:avLst/>
                <a:gdLst>
                  <a:gd name="T0" fmla="*/ 326 w 327"/>
                  <a:gd name="T1" fmla="*/ 0 h 142"/>
                  <a:gd name="T2" fmla="*/ 159 w 327"/>
                  <a:gd name="T3" fmla="*/ 141 h 142"/>
                  <a:gd name="T4" fmla="*/ 0 w 327"/>
                  <a:gd name="T5" fmla="*/ 28 h 142"/>
                </a:gdLst>
                <a:ahLst/>
                <a:cxnLst>
                  <a:cxn ang="0">
                    <a:pos x="T0" y="T1"/>
                  </a:cxn>
                  <a:cxn ang="0">
                    <a:pos x="T2" y="T3"/>
                  </a:cxn>
                  <a:cxn ang="0">
                    <a:pos x="T4" y="T5"/>
                  </a:cxn>
                </a:cxnLst>
                <a:rect l="0" t="0" r="r" b="b"/>
                <a:pathLst>
                  <a:path w="327" h="142">
                    <a:moveTo>
                      <a:pt x="326" y="0"/>
                    </a:moveTo>
                    <a:cubicBezTo>
                      <a:pt x="313" y="80"/>
                      <a:pt x="243" y="141"/>
                      <a:pt x="159" y="141"/>
                    </a:cubicBezTo>
                    <a:cubicBezTo>
                      <a:pt x="86" y="141"/>
                      <a:pt x="23" y="94"/>
                      <a:pt x="0" y="2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2" name="Freeform 172">
                <a:extLst>
                  <a:ext uri="{FF2B5EF4-FFF2-40B4-BE49-F238E27FC236}">
                    <a16:creationId xmlns:a16="http://schemas.microsoft.com/office/drawing/2014/main" id="{05F9B8C6-D105-9688-6282-8BB44618171C}"/>
                  </a:ext>
                </a:extLst>
              </p:cNvPr>
              <p:cNvSpPr>
                <a:spLocks noChangeArrowheads="1"/>
              </p:cNvSpPr>
              <p:nvPr/>
            </p:nvSpPr>
            <p:spPr bwMode="auto">
              <a:xfrm>
                <a:off x="9067035" y="2357069"/>
                <a:ext cx="1984" cy="387087"/>
              </a:xfrm>
              <a:custGeom>
                <a:avLst/>
                <a:gdLst>
                  <a:gd name="T0" fmla="*/ 0 w 1"/>
                  <a:gd name="T1" fmla="*/ 0 h 862"/>
                  <a:gd name="T2" fmla="*/ 0 w 1"/>
                  <a:gd name="T3" fmla="*/ 861 h 862"/>
                </a:gdLst>
                <a:ahLst/>
                <a:cxnLst>
                  <a:cxn ang="0">
                    <a:pos x="T0" y="T1"/>
                  </a:cxn>
                  <a:cxn ang="0">
                    <a:pos x="T2" y="T3"/>
                  </a:cxn>
                </a:cxnLst>
                <a:rect l="0" t="0" r="r" b="b"/>
                <a:pathLst>
                  <a:path w="1" h="862">
                    <a:moveTo>
                      <a:pt x="0" y="0"/>
                    </a:moveTo>
                    <a:cubicBezTo>
                      <a:pt x="0" y="287"/>
                      <a:pt x="0" y="574"/>
                      <a:pt x="0" y="86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3" name="Freeform 173">
                <a:extLst>
                  <a:ext uri="{FF2B5EF4-FFF2-40B4-BE49-F238E27FC236}">
                    <a16:creationId xmlns:a16="http://schemas.microsoft.com/office/drawing/2014/main" id="{7C741F4C-1102-1D46-4AB5-1329ACF1941A}"/>
                  </a:ext>
                </a:extLst>
              </p:cNvPr>
              <p:cNvSpPr>
                <a:spLocks noChangeArrowheads="1"/>
              </p:cNvSpPr>
              <p:nvPr/>
            </p:nvSpPr>
            <p:spPr bwMode="auto">
              <a:xfrm>
                <a:off x="8872500" y="2337218"/>
                <a:ext cx="119103" cy="71462"/>
              </a:xfrm>
              <a:custGeom>
                <a:avLst/>
                <a:gdLst>
                  <a:gd name="T0" fmla="*/ 9 w 263"/>
                  <a:gd name="T1" fmla="*/ 156 h 157"/>
                  <a:gd name="T2" fmla="*/ 149 w 263"/>
                  <a:gd name="T3" fmla="*/ 0 h 157"/>
                  <a:gd name="T4" fmla="*/ 262 w 263"/>
                  <a:gd name="T5" fmla="*/ 56 h 157"/>
                </a:gdLst>
                <a:ahLst/>
                <a:cxnLst>
                  <a:cxn ang="0">
                    <a:pos x="T0" y="T1"/>
                  </a:cxn>
                  <a:cxn ang="0">
                    <a:pos x="T2" y="T3"/>
                  </a:cxn>
                  <a:cxn ang="0">
                    <a:pos x="T4" y="T5"/>
                  </a:cxn>
                </a:cxnLst>
                <a:rect l="0" t="0" r="r" b="b"/>
                <a:pathLst>
                  <a:path w="263" h="157">
                    <a:moveTo>
                      <a:pt x="9" y="156"/>
                    </a:moveTo>
                    <a:cubicBezTo>
                      <a:pt x="0" y="72"/>
                      <a:pt x="66" y="0"/>
                      <a:pt x="149" y="0"/>
                    </a:cubicBezTo>
                    <a:cubicBezTo>
                      <a:pt x="195" y="0"/>
                      <a:pt x="236" y="22"/>
                      <a:pt x="262" y="56"/>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4" name="Freeform 174">
                <a:extLst>
                  <a:ext uri="{FF2B5EF4-FFF2-40B4-BE49-F238E27FC236}">
                    <a16:creationId xmlns:a16="http://schemas.microsoft.com/office/drawing/2014/main" id="{6403EDE1-A19E-5E17-F047-C314DE3AF072}"/>
                  </a:ext>
                </a:extLst>
              </p:cNvPr>
              <p:cNvSpPr>
                <a:spLocks noChangeArrowheads="1"/>
              </p:cNvSpPr>
              <p:nvPr/>
            </p:nvSpPr>
            <p:spPr bwMode="auto">
              <a:xfrm>
                <a:off x="8818903" y="2386845"/>
                <a:ext cx="113149" cy="111163"/>
              </a:xfrm>
              <a:custGeom>
                <a:avLst/>
                <a:gdLst>
                  <a:gd name="T0" fmla="*/ 35 w 250"/>
                  <a:gd name="T1" fmla="*/ 244 h 245"/>
                  <a:gd name="T2" fmla="*/ 249 w 250"/>
                  <a:gd name="T3" fmla="*/ 39 h 245"/>
                </a:gdLst>
                <a:ahLst/>
                <a:cxnLst>
                  <a:cxn ang="0">
                    <a:pos x="T0" y="T1"/>
                  </a:cxn>
                  <a:cxn ang="0">
                    <a:pos x="T2" y="T3"/>
                  </a:cxn>
                </a:cxnLst>
                <a:rect l="0" t="0" r="r" b="b"/>
                <a:pathLst>
                  <a:path w="250" h="245">
                    <a:moveTo>
                      <a:pt x="35" y="244"/>
                    </a:moveTo>
                    <a:cubicBezTo>
                      <a:pt x="0" y="112"/>
                      <a:pt x="127" y="0"/>
                      <a:pt x="249" y="3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5" name="Freeform 175">
                <a:extLst>
                  <a:ext uri="{FF2B5EF4-FFF2-40B4-BE49-F238E27FC236}">
                    <a16:creationId xmlns:a16="http://schemas.microsoft.com/office/drawing/2014/main" id="{8558B477-A793-BD00-573C-2D29F324C568}"/>
                  </a:ext>
                </a:extLst>
              </p:cNvPr>
              <p:cNvSpPr>
                <a:spLocks noChangeArrowheads="1"/>
              </p:cNvSpPr>
              <p:nvPr/>
            </p:nvSpPr>
            <p:spPr bwMode="auto">
              <a:xfrm>
                <a:off x="8793097" y="2474188"/>
                <a:ext cx="95283" cy="113148"/>
              </a:xfrm>
              <a:custGeom>
                <a:avLst/>
                <a:gdLst>
                  <a:gd name="T0" fmla="*/ 74 w 210"/>
                  <a:gd name="T1" fmla="*/ 252 h 253"/>
                  <a:gd name="T2" fmla="*/ 209 w 210"/>
                  <a:gd name="T3" fmla="*/ 7 h 253"/>
                </a:gdLst>
                <a:ahLst/>
                <a:cxnLst>
                  <a:cxn ang="0">
                    <a:pos x="T0" y="T1"/>
                  </a:cxn>
                  <a:cxn ang="0">
                    <a:pos x="T2" y="T3"/>
                  </a:cxn>
                </a:cxnLst>
                <a:rect l="0" t="0" r="r" b="b"/>
                <a:pathLst>
                  <a:path w="210" h="253">
                    <a:moveTo>
                      <a:pt x="74" y="252"/>
                    </a:moveTo>
                    <a:cubicBezTo>
                      <a:pt x="0" y="146"/>
                      <a:pt x="81" y="0"/>
                      <a:pt x="209" y="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7" name="Freeform 176">
                <a:extLst>
                  <a:ext uri="{FF2B5EF4-FFF2-40B4-BE49-F238E27FC236}">
                    <a16:creationId xmlns:a16="http://schemas.microsoft.com/office/drawing/2014/main" id="{9DDA5A81-927B-CAC8-E63C-15675EFBEF5A}"/>
                  </a:ext>
                </a:extLst>
              </p:cNvPr>
              <p:cNvSpPr>
                <a:spLocks noChangeArrowheads="1"/>
              </p:cNvSpPr>
              <p:nvPr/>
            </p:nvSpPr>
            <p:spPr bwMode="auto">
              <a:xfrm>
                <a:off x="8938006" y="2432501"/>
                <a:ext cx="97268" cy="57567"/>
              </a:xfrm>
              <a:custGeom>
                <a:avLst/>
                <a:gdLst>
                  <a:gd name="T0" fmla="*/ 217 w 218"/>
                  <a:gd name="T1" fmla="*/ 0 h 128"/>
                  <a:gd name="T2" fmla="*/ 90 w 218"/>
                  <a:gd name="T3" fmla="*/ 127 h 128"/>
                  <a:gd name="T4" fmla="*/ 0 w 218"/>
                  <a:gd name="T5" fmla="*/ 90 h 128"/>
                </a:gdLst>
                <a:ahLst/>
                <a:cxnLst>
                  <a:cxn ang="0">
                    <a:pos x="T0" y="T1"/>
                  </a:cxn>
                  <a:cxn ang="0">
                    <a:pos x="T2" y="T3"/>
                  </a:cxn>
                  <a:cxn ang="0">
                    <a:pos x="T4" y="T5"/>
                  </a:cxn>
                </a:cxnLst>
                <a:rect l="0" t="0" r="r" b="b"/>
                <a:pathLst>
                  <a:path w="218" h="128">
                    <a:moveTo>
                      <a:pt x="217" y="0"/>
                    </a:moveTo>
                    <a:cubicBezTo>
                      <a:pt x="217" y="70"/>
                      <a:pt x="160" y="127"/>
                      <a:pt x="90" y="127"/>
                    </a:cubicBezTo>
                    <a:cubicBezTo>
                      <a:pt x="55" y="127"/>
                      <a:pt x="23" y="113"/>
                      <a:pt x="0" y="9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177">
                <a:extLst>
                  <a:ext uri="{FF2B5EF4-FFF2-40B4-BE49-F238E27FC236}">
                    <a16:creationId xmlns:a16="http://schemas.microsoft.com/office/drawing/2014/main" id="{AAD70F64-9D02-E270-1082-7548BB57AAE9}"/>
                  </a:ext>
                </a:extLst>
              </p:cNvPr>
              <p:cNvSpPr>
                <a:spLocks noChangeArrowheads="1"/>
              </p:cNvSpPr>
              <p:nvPr/>
            </p:nvSpPr>
            <p:spPr bwMode="auto">
              <a:xfrm>
                <a:off x="8930066" y="2623066"/>
                <a:ext cx="57567" cy="57567"/>
              </a:xfrm>
              <a:custGeom>
                <a:avLst/>
                <a:gdLst>
                  <a:gd name="T0" fmla="*/ 127 w 128"/>
                  <a:gd name="T1" fmla="*/ 127 h 128"/>
                  <a:gd name="T2" fmla="*/ 0 w 128"/>
                  <a:gd name="T3" fmla="*/ 0 h 128"/>
                </a:gdLst>
                <a:ahLst/>
                <a:cxnLst>
                  <a:cxn ang="0">
                    <a:pos x="T0" y="T1"/>
                  </a:cxn>
                  <a:cxn ang="0">
                    <a:pos x="T2" y="T3"/>
                  </a:cxn>
                </a:cxnLst>
                <a:rect l="0" t="0" r="r" b="b"/>
                <a:pathLst>
                  <a:path w="128" h="128">
                    <a:moveTo>
                      <a:pt x="127" y="127"/>
                    </a:moveTo>
                    <a:cubicBezTo>
                      <a:pt x="127" y="57"/>
                      <a:pt x="70"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5" name="Freeform 178">
                <a:extLst>
                  <a:ext uri="{FF2B5EF4-FFF2-40B4-BE49-F238E27FC236}">
                    <a16:creationId xmlns:a16="http://schemas.microsoft.com/office/drawing/2014/main" id="{0C0FDE19-F593-A441-32BE-513724B94A52}"/>
                  </a:ext>
                </a:extLst>
              </p:cNvPr>
              <p:cNvSpPr>
                <a:spLocks noChangeArrowheads="1"/>
              </p:cNvSpPr>
              <p:nvPr/>
            </p:nvSpPr>
            <p:spPr bwMode="auto">
              <a:xfrm>
                <a:off x="9029319" y="2382875"/>
                <a:ext cx="37717" cy="39701"/>
              </a:xfrm>
              <a:custGeom>
                <a:avLst/>
                <a:gdLst>
                  <a:gd name="T0" fmla="*/ 84 w 85"/>
                  <a:gd name="T1" fmla="*/ 85 h 86"/>
                  <a:gd name="T2" fmla="*/ 0 w 85"/>
                  <a:gd name="T3" fmla="*/ 0 h 86"/>
                </a:gdLst>
                <a:ahLst/>
                <a:cxnLst>
                  <a:cxn ang="0">
                    <a:pos x="T0" y="T1"/>
                  </a:cxn>
                  <a:cxn ang="0">
                    <a:pos x="T2" y="T3"/>
                  </a:cxn>
                </a:cxnLst>
                <a:rect l="0" t="0" r="r" b="b"/>
                <a:pathLst>
                  <a:path w="85" h="86">
                    <a:moveTo>
                      <a:pt x="84" y="85"/>
                    </a:moveTo>
                    <a:cubicBezTo>
                      <a:pt x="84" y="38"/>
                      <a:pt x="46"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6" name="Freeform 179">
                <a:extLst>
                  <a:ext uri="{FF2B5EF4-FFF2-40B4-BE49-F238E27FC236}">
                    <a16:creationId xmlns:a16="http://schemas.microsoft.com/office/drawing/2014/main" id="{99B9B230-3D5C-8A02-AA28-E5E45657D174}"/>
                  </a:ext>
                </a:extLst>
              </p:cNvPr>
              <p:cNvSpPr>
                <a:spLocks noChangeArrowheads="1"/>
              </p:cNvSpPr>
              <p:nvPr/>
            </p:nvSpPr>
            <p:spPr bwMode="auto">
              <a:xfrm>
                <a:off x="8939992" y="2490068"/>
                <a:ext cx="45656" cy="45656"/>
              </a:xfrm>
              <a:custGeom>
                <a:avLst/>
                <a:gdLst>
                  <a:gd name="T0" fmla="*/ 0 w 100"/>
                  <a:gd name="T1" fmla="*/ 99 h 100"/>
                  <a:gd name="T2" fmla="*/ 99 w 100"/>
                  <a:gd name="T3" fmla="*/ 0 h 100"/>
                </a:gdLst>
                <a:ahLst/>
                <a:cxnLst>
                  <a:cxn ang="0">
                    <a:pos x="T0" y="T1"/>
                  </a:cxn>
                  <a:cxn ang="0">
                    <a:pos x="T2" y="T3"/>
                  </a:cxn>
                </a:cxnLst>
                <a:rect l="0" t="0" r="r" b="b"/>
                <a:pathLst>
                  <a:path w="100" h="100">
                    <a:moveTo>
                      <a:pt x="0" y="99"/>
                    </a:moveTo>
                    <a:cubicBezTo>
                      <a:pt x="55" y="99"/>
                      <a:pt x="99" y="54"/>
                      <a:pt x="99"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7" name="Freeform 180">
                <a:extLst>
                  <a:ext uri="{FF2B5EF4-FFF2-40B4-BE49-F238E27FC236}">
                    <a16:creationId xmlns:a16="http://schemas.microsoft.com/office/drawing/2014/main" id="{39A0608C-BD07-536C-37D6-4F144E3982BA}"/>
                  </a:ext>
                </a:extLst>
              </p:cNvPr>
              <p:cNvSpPr>
                <a:spLocks noChangeArrowheads="1"/>
              </p:cNvSpPr>
              <p:nvPr/>
            </p:nvSpPr>
            <p:spPr bwMode="auto">
              <a:xfrm>
                <a:off x="8961827" y="2573440"/>
                <a:ext cx="63522" cy="61536"/>
              </a:xfrm>
              <a:custGeom>
                <a:avLst/>
                <a:gdLst>
                  <a:gd name="T0" fmla="*/ 141 w 142"/>
                  <a:gd name="T1" fmla="*/ 0 h 135"/>
                  <a:gd name="T2" fmla="*/ 0 w 142"/>
                  <a:gd name="T3" fmla="*/ 134 h 135"/>
                </a:gdLst>
                <a:ahLst/>
                <a:cxnLst>
                  <a:cxn ang="0">
                    <a:pos x="T0" y="T1"/>
                  </a:cxn>
                  <a:cxn ang="0">
                    <a:pos x="T2" y="T3"/>
                  </a:cxn>
                </a:cxnLst>
                <a:rect l="0" t="0" r="r" b="b"/>
                <a:pathLst>
                  <a:path w="142" h="135">
                    <a:moveTo>
                      <a:pt x="141" y="0"/>
                    </a:moveTo>
                    <a:cubicBezTo>
                      <a:pt x="65" y="0"/>
                      <a:pt x="3" y="59"/>
                      <a:pt x="0" y="13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8" name="Freeform 181">
                <a:extLst>
                  <a:ext uri="{FF2B5EF4-FFF2-40B4-BE49-F238E27FC236}">
                    <a16:creationId xmlns:a16="http://schemas.microsoft.com/office/drawing/2014/main" id="{F7E93652-6F9F-9581-AE89-0BA40C9F68D5}"/>
                  </a:ext>
                </a:extLst>
              </p:cNvPr>
              <p:cNvSpPr>
                <a:spLocks noChangeArrowheads="1"/>
              </p:cNvSpPr>
              <p:nvPr/>
            </p:nvSpPr>
            <p:spPr bwMode="auto">
              <a:xfrm>
                <a:off x="9029319" y="2660783"/>
                <a:ext cx="37717" cy="39701"/>
              </a:xfrm>
              <a:custGeom>
                <a:avLst/>
                <a:gdLst>
                  <a:gd name="T0" fmla="*/ 84 w 85"/>
                  <a:gd name="T1" fmla="*/ 0 h 86"/>
                  <a:gd name="T2" fmla="*/ 0 w 85"/>
                  <a:gd name="T3" fmla="*/ 85 h 86"/>
                </a:gdLst>
                <a:ahLst/>
                <a:cxnLst>
                  <a:cxn ang="0">
                    <a:pos x="T0" y="T1"/>
                  </a:cxn>
                  <a:cxn ang="0">
                    <a:pos x="T2" y="T3"/>
                  </a:cxn>
                </a:cxnLst>
                <a:rect l="0" t="0" r="r" b="b"/>
                <a:pathLst>
                  <a:path w="85" h="86">
                    <a:moveTo>
                      <a:pt x="84" y="0"/>
                    </a:moveTo>
                    <a:cubicBezTo>
                      <a:pt x="84" y="47"/>
                      <a:pt x="46" y="85"/>
                      <a:pt x="0" y="8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9" name="Freeform 182">
                <a:extLst>
                  <a:ext uri="{FF2B5EF4-FFF2-40B4-BE49-F238E27FC236}">
                    <a16:creationId xmlns:a16="http://schemas.microsoft.com/office/drawing/2014/main" id="{2EB66387-22D6-9080-1298-8F8B1A6B57B1}"/>
                  </a:ext>
                </a:extLst>
              </p:cNvPr>
              <p:cNvSpPr>
                <a:spLocks noChangeArrowheads="1"/>
              </p:cNvSpPr>
              <p:nvPr/>
            </p:nvSpPr>
            <p:spPr bwMode="auto">
              <a:xfrm>
                <a:off x="9067035" y="2299503"/>
                <a:ext cx="262028" cy="508175"/>
              </a:xfrm>
              <a:custGeom>
                <a:avLst/>
                <a:gdLst>
                  <a:gd name="T0" fmla="*/ 0 w 584"/>
                  <a:gd name="T1" fmla="*/ 988 h 1130"/>
                  <a:gd name="T2" fmla="*/ 167 w 584"/>
                  <a:gd name="T3" fmla="*/ 1129 h 1130"/>
                  <a:gd name="T4" fmla="*/ 325 w 584"/>
                  <a:gd name="T5" fmla="*/ 1020 h 1130"/>
                  <a:gd name="T6" fmla="*/ 332 w 584"/>
                  <a:gd name="T7" fmla="*/ 1016 h 1130"/>
                  <a:gd name="T8" fmla="*/ 479 w 584"/>
                  <a:gd name="T9" fmla="*/ 845 h 1130"/>
                  <a:gd name="T10" fmla="*/ 484 w 584"/>
                  <a:gd name="T11" fmla="*/ 838 h 1130"/>
                  <a:gd name="T12" fmla="*/ 565 w 584"/>
                  <a:gd name="T13" fmla="*/ 720 h 1130"/>
                  <a:gd name="T14" fmla="*/ 539 w 584"/>
                  <a:gd name="T15" fmla="*/ 644 h 1130"/>
                  <a:gd name="T16" fmla="*/ 539 w 584"/>
                  <a:gd name="T17" fmla="*/ 636 h 1130"/>
                  <a:gd name="T18" fmla="*/ 520 w 584"/>
                  <a:gd name="T19" fmla="*/ 441 h 1130"/>
                  <a:gd name="T20" fmla="*/ 518 w 584"/>
                  <a:gd name="T21" fmla="*/ 434 h 1130"/>
                  <a:gd name="T22" fmla="*/ 427 w 584"/>
                  <a:gd name="T23" fmla="*/ 243 h 1130"/>
                  <a:gd name="T24" fmla="*/ 423 w 584"/>
                  <a:gd name="T25" fmla="*/ 236 h 1130"/>
                  <a:gd name="T26" fmla="*/ 283 w 584"/>
                  <a:gd name="T27" fmla="*/ 85 h 1130"/>
                  <a:gd name="T28" fmla="*/ 254 w 584"/>
                  <a:gd name="T29" fmla="*/ 87 h 1130"/>
                  <a:gd name="T30" fmla="*/ 246 w 584"/>
                  <a:gd name="T31" fmla="*/ 83 h 1130"/>
                  <a:gd name="T32" fmla="*/ 127 w 584"/>
                  <a:gd name="T33" fmla="*/ 0 h 1130"/>
                  <a:gd name="T34" fmla="*/ 0 w 584"/>
                  <a:gd name="T35" fmla="*/ 127 h 1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84" h="1130">
                    <a:moveTo>
                      <a:pt x="0" y="988"/>
                    </a:moveTo>
                    <a:cubicBezTo>
                      <a:pt x="14" y="1068"/>
                      <a:pt x="84" y="1129"/>
                      <a:pt x="167" y="1129"/>
                    </a:cubicBezTo>
                    <a:cubicBezTo>
                      <a:pt x="239" y="1129"/>
                      <a:pt x="301" y="1084"/>
                      <a:pt x="325" y="1020"/>
                    </a:cubicBezTo>
                    <a:cubicBezTo>
                      <a:pt x="326" y="1018"/>
                      <a:pt x="329" y="1016"/>
                      <a:pt x="332" y="1016"/>
                    </a:cubicBezTo>
                    <a:cubicBezTo>
                      <a:pt x="420" y="1012"/>
                      <a:pt x="488" y="935"/>
                      <a:pt x="479" y="845"/>
                    </a:cubicBezTo>
                    <a:cubicBezTo>
                      <a:pt x="479" y="842"/>
                      <a:pt x="481" y="839"/>
                      <a:pt x="484" y="838"/>
                    </a:cubicBezTo>
                    <a:cubicBezTo>
                      <a:pt x="531" y="820"/>
                      <a:pt x="565" y="773"/>
                      <a:pt x="565" y="720"/>
                    </a:cubicBezTo>
                    <a:cubicBezTo>
                      <a:pt x="565" y="691"/>
                      <a:pt x="555" y="665"/>
                      <a:pt x="539" y="644"/>
                    </a:cubicBezTo>
                    <a:cubicBezTo>
                      <a:pt x="538" y="641"/>
                      <a:pt x="537" y="638"/>
                      <a:pt x="539" y="636"/>
                    </a:cubicBezTo>
                    <a:cubicBezTo>
                      <a:pt x="583" y="570"/>
                      <a:pt x="567" y="490"/>
                      <a:pt x="520" y="441"/>
                    </a:cubicBezTo>
                    <a:cubicBezTo>
                      <a:pt x="518" y="439"/>
                      <a:pt x="517" y="437"/>
                      <a:pt x="518" y="434"/>
                    </a:cubicBezTo>
                    <a:cubicBezTo>
                      <a:pt x="538" y="351"/>
                      <a:pt x="493" y="276"/>
                      <a:pt x="427" y="243"/>
                    </a:cubicBezTo>
                    <a:cubicBezTo>
                      <a:pt x="425" y="242"/>
                      <a:pt x="423" y="239"/>
                      <a:pt x="423" y="236"/>
                    </a:cubicBezTo>
                    <a:cubicBezTo>
                      <a:pt x="429" y="154"/>
                      <a:pt x="364" y="85"/>
                      <a:pt x="283" y="85"/>
                    </a:cubicBezTo>
                    <a:cubicBezTo>
                      <a:pt x="273" y="85"/>
                      <a:pt x="264" y="86"/>
                      <a:pt x="254" y="87"/>
                    </a:cubicBezTo>
                    <a:cubicBezTo>
                      <a:pt x="251" y="88"/>
                      <a:pt x="248" y="86"/>
                      <a:pt x="246" y="83"/>
                    </a:cubicBezTo>
                    <a:cubicBezTo>
                      <a:pt x="229" y="35"/>
                      <a:pt x="182" y="0"/>
                      <a:pt x="127" y="0"/>
                    </a:cubicBezTo>
                    <a:cubicBezTo>
                      <a:pt x="57" y="0"/>
                      <a:pt x="0" y="57"/>
                      <a:pt x="0" y="127"/>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2" name="Freeform 183">
                <a:extLst>
                  <a:ext uri="{FF2B5EF4-FFF2-40B4-BE49-F238E27FC236}">
                    <a16:creationId xmlns:a16="http://schemas.microsoft.com/office/drawing/2014/main" id="{ADD2F683-BDA3-9832-D5F2-F71ED4539477}"/>
                  </a:ext>
                </a:extLst>
              </p:cNvPr>
              <p:cNvSpPr>
                <a:spLocks noChangeArrowheads="1"/>
              </p:cNvSpPr>
              <p:nvPr/>
            </p:nvSpPr>
            <p:spPr bwMode="auto">
              <a:xfrm>
                <a:off x="9118647" y="2394785"/>
                <a:ext cx="51611" cy="51611"/>
              </a:xfrm>
              <a:custGeom>
                <a:avLst/>
                <a:gdLst>
                  <a:gd name="T0" fmla="*/ 57 w 114"/>
                  <a:gd name="T1" fmla="*/ 113 h 114"/>
                  <a:gd name="T2" fmla="*/ 0 w 114"/>
                  <a:gd name="T3" fmla="*/ 56 h 114"/>
                  <a:gd name="T4" fmla="*/ 57 w 114"/>
                  <a:gd name="T5" fmla="*/ 0 h 114"/>
                  <a:gd name="T6" fmla="*/ 113 w 114"/>
                  <a:gd name="T7" fmla="*/ 56 h 114"/>
                  <a:gd name="T8" fmla="*/ 57 w 114"/>
                  <a:gd name="T9" fmla="*/ 113 h 114"/>
                </a:gdLst>
                <a:ahLst/>
                <a:cxnLst>
                  <a:cxn ang="0">
                    <a:pos x="T0" y="T1"/>
                  </a:cxn>
                  <a:cxn ang="0">
                    <a:pos x="T2" y="T3"/>
                  </a:cxn>
                  <a:cxn ang="0">
                    <a:pos x="T4" y="T5"/>
                  </a:cxn>
                  <a:cxn ang="0">
                    <a:pos x="T6" y="T7"/>
                  </a:cxn>
                  <a:cxn ang="0">
                    <a:pos x="T8" y="T9"/>
                  </a:cxn>
                </a:cxnLst>
                <a:rect l="0" t="0" r="r" b="b"/>
                <a:pathLst>
                  <a:path w="114" h="114">
                    <a:moveTo>
                      <a:pt x="57" y="113"/>
                    </a:moveTo>
                    <a:cubicBezTo>
                      <a:pt x="26" y="113"/>
                      <a:pt x="0" y="87"/>
                      <a:pt x="0" y="56"/>
                    </a:cubicBezTo>
                    <a:cubicBezTo>
                      <a:pt x="0" y="25"/>
                      <a:pt x="26" y="0"/>
                      <a:pt x="57" y="0"/>
                    </a:cubicBezTo>
                    <a:cubicBezTo>
                      <a:pt x="88" y="0"/>
                      <a:pt x="113" y="25"/>
                      <a:pt x="113" y="56"/>
                    </a:cubicBezTo>
                    <a:cubicBezTo>
                      <a:pt x="113" y="87"/>
                      <a:pt x="88" y="113"/>
                      <a:pt x="57" y="113"/>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3" name="Freeform 184">
                <a:extLst>
                  <a:ext uri="{FF2B5EF4-FFF2-40B4-BE49-F238E27FC236}">
                    <a16:creationId xmlns:a16="http://schemas.microsoft.com/office/drawing/2014/main" id="{E2E56535-81CD-4A7C-CA9A-56A21C6B57D8}"/>
                  </a:ext>
                </a:extLst>
              </p:cNvPr>
              <p:cNvSpPr>
                <a:spLocks noChangeArrowheads="1"/>
              </p:cNvSpPr>
              <p:nvPr/>
            </p:nvSpPr>
            <p:spPr bwMode="auto">
              <a:xfrm>
                <a:off x="9118647" y="2533739"/>
                <a:ext cx="51611" cy="51611"/>
              </a:xfrm>
              <a:custGeom>
                <a:avLst/>
                <a:gdLst>
                  <a:gd name="T0" fmla="*/ 57 w 114"/>
                  <a:gd name="T1" fmla="*/ 113 h 114"/>
                  <a:gd name="T2" fmla="*/ 0 w 114"/>
                  <a:gd name="T3" fmla="*/ 57 h 114"/>
                  <a:gd name="T4" fmla="*/ 57 w 114"/>
                  <a:gd name="T5" fmla="*/ 0 h 114"/>
                  <a:gd name="T6" fmla="*/ 113 w 114"/>
                  <a:gd name="T7" fmla="*/ 57 h 114"/>
                  <a:gd name="T8" fmla="*/ 57 w 114"/>
                  <a:gd name="T9" fmla="*/ 113 h 114"/>
                </a:gdLst>
                <a:ahLst/>
                <a:cxnLst>
                  <a:cxn ang="0">
                    <a:pos x="T0" y="T1"/>
                  </a:cxn>
                  <a:cxn ang="0">
                    <a:pos x="T2" y="T3"/>
                  </a:cxn>
                  <a:cxn ang="0">
                    <a:pos x="T4" y="T5"/>
                  </a:cxn>
                  <a:cxn ang="0">
                    <a:pos x="T6" y="T7"/>
                  </a:cxn>
                  <a:cxn ang="0">
                    <a:pos x="T8" y="T9"/>
                  </a:cxn>
                </a:cxnLst>
                <a:rect l="0" t="0" r="r" b="b"/>
                <a:pathLst>
                  <a:path w="114" h="114">
                    <a:moveTo>
                      <a:pt x="57" y="113"/>
                    </a:moveTo>
                    <a:cubicBezTo>
                      <a:pt x="26" y="113"/>
                      <a:pt x="0" y="88"/>
                      <a:pt x="0" y="57"/>
                    </a:cubicBezTo>
                    <a:cubicBezTo>
                      <a:pt x="0" y="25"/>
                      <a:pt x="26" y="0"/>
                      <a:pt x="57" y="0"/>
                    </a:cubicBezTo>
                    <a:cubicBezTo>
                      <a:pt x="88" y="0"/>
                      <a:pt x="113" y="25"/>
                      <a:pt x="113" y="57"/>
                    </a:cubicBezTo>
                    <a:cubicBezTo>
                      <a:pt x="113" y="88"/>
                      <a:pt x="88" y="113"/>
                      <a:pt x="57" y="113"/>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5" name="Freeform 185">
                <a:extLst>
                  <a:ext uri="{FF2B5EF4-FFF2-40B4-BE49-F238E27FC236}">
                    <a16:creationId xmlns:a16="http://schemas.microsoft.com/office/drawing/2014/main" id="{AC9CAB9A-6281-1CA3-CF7F-426EA659CDF6}"/>
                  </a:ext>
                </a:extLst>
              </p:cNvPr>
              <p:cNvSpPr>
                <a:spLocks noChangeArrowheads="1"/>
              </p:cNvSpPr>
              <p:nvPr/>
            </p:nvSpPr>
            <p:spPr bwMode="auto">
              <a:xfrm>
                <a:off x="9118647" y="2674678"/>
                <a:ext cx="51611" cy="51611"/>
              </a:xfrm>
              <a:custGeom>
                <a:avLst/>
                <a:gdLst>
                  <a:gd name="T0" fmla="*/ 57 w 114"/>
                  <a:gd name="T1" fmla="*/ 112 h 113"/>
                  <a:gd name="T2" fmla="*/ 0 w 114"/>
                  <a:gd name="T3" fmla="*/ 56 h 113"/>
                  <a:gd name="T4" fmla="*/ 57 w 114"/>
                  <a:gd name="T5" fmla="*/ 0 h 113"/>
                  <a:gd name="T6" fmla="*/ 113 w 114"/>
                  <a:gd name="T7" fmla="*/ 56 h 113"/>
                  <a:gd name="T8" fmla="*/ 57 w 114"/>
                  <a:gd name="T9" fmla="*/ 112 h 113"/>
                </a:gdLst>
                <a:ahLst/>
                <a:cxnLst>
                  <a:cxn ang="0">
                    <a:pos x="T0" y="T1"/>
                  </a:cxn>
                  <a:cxn ang="0">
                    <a:pos x="T2" y="T3"/>
                  </a:cxn>
                  <a:cxn ang="0">
                    <a:pos x="T4" y="T5"/>
                  </a:cxn>
                  <a:cxn ang="0">
                    <a:pos x="T6" y="T7"/>
                  </a:cxn>
                  <a:cxn ang="0">
                    <a:pos x="T8" y="T9"/>
                  </a:cxn>
                </a:cxnLst>
                <a:rect l="0" t="0" r="r" b="b"/>
                <a:pathLst>
                  <a:path w="114" h="113">
                    <a:moveTo>
                      <a:pt x="57" y="112"/>
                    </a:moveTo>
                    <a:cubicBezTo>
                      <a:pt x="26" y="112"/>
                      <a:pt x="0" y="87"/>
                      <a:pt x="0" y="56"/>
                    </a:cubicBezTo>
                    <a:cubicBezTo>
                      <a:pt x="0" y="25"/>
                      <a:pt x="26" y="0"/>
                      <a:pt x="57" y="0"/>
                    </a:cubicBezTo>
                    <a:cubicBezTo>
                      <a:pt x="88" y="0"/>
                      <a:pt x="113" y="25"/>
                      <a:pt x="113" y="56"/>
                    </a:cubicBezTo>
                    <a:cubicBezTo>
                      <a:pt x="113" y="87"/>
                      <a:pt x="88" y="112"/>
                      <a:pt x="57" y="112"/>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7" name="Freeform 186">
                <a:extLst>
                  <a:ext uri="{FF2B5EF4-FFF2-40B4-BE49-F238E27FC236}">
                    <a16:creationId xmlns:a16="http://schemas.microsoft.com/office/drawing/2014/main" id="{AB1671D4-8807-6EA9-6DEC-C5D78BB6E725}"/>
                  </a:ext>
                </a:extLst>
              </p:cNvPr>
              <p:cNvSpPr>
                <a:spLocks noChangeArrowheads="1"/>
              </p:cNvSpPr>
              <p:nvPr/>
            </p:nvSpPr>
            <p:spPr bwMode="auto">
              <a:xfrm>
                <a:off x="9194079" y="2464262"/>
                <a:ext cx="51611" cy="51611"/>
              </a:xfrm>
              <a:custGeom>
                <a:avLst/>
                <a:gdLst>
                  <a:gd name="T0" fmla="*/ 56 w 113"/>
                  <a:gd name="T1" fmla="*/ 113 h 114"/>
                  <a:gd name="T2" fmla="*/ 0 w 113"/>
                  <a:gd name="T3" fmla="*/ 56 h 114"/>
                  <a:gd name="T4" fmla="*/ 56 w 113"/>
                  <a:gd name="T5" fmla="*/ 0 h 114"/>
                  <a:gd name="T6" fmla="*/ 112 w 113"/>
                  <a:gd name="T7" fmla="*/ 56 h 114"/>
                  <a:gd name="T8" fmla="*/ 56 w 113"/>
                  <a:gd name="T9" fmla="*/ 113 h 114"/>
                </a:gdLst>
                <a:ahLst/>
                <a:cxnLst>
                  <a:cxn ang="0">
                    <a:pos x="T0" y="T1"/>
                  </a:cxn>
                  <a:cxn ang="0">
                    <a:pos x="T2" y="T3"/>
                  </a:cxn>
                  <a:cxn ang="0">
                    <a:pos x="T4" y="T5"/>
                  </a:cxn>
                  <a:cxn ang="0">
                    <a:pos x="T6" y="T7"/>
                  </a:cxn>
                  <a:cxn ang="0">
                    <a:pos x="T8" y="T9"/>
                  </a:cxn>
                </a:cxnLst>
                <a:rect l="0" t="0" r="r" b="b"/>
                <a:pathLst>
                  <a:path w="113" h="114">
                    <a:moveTo>
                      <a:pt x="56" y="113"/>
                    </a:moveTo>
                    <a:cubicBezTo>
                      <a:pt x="25" y="113"/>
                      <a:pt x="0" y="87"/>
                      <a:pt x="0" y="56"/>
                    </a:cubicBezTo>
                    <a:cubicBezTo>
                      <a:pt x="0" y="25"/>
                      <a:pt x="25" y="0"/>
                      <a:pt x="56" y="0"/>
                    </a:cubicBezTo>
                    <a:cubicBezTo>
                      <a:pt x="87" y="0"/>
                      <a:pt x="112" y="25"/>
                      <a:pt x="112" y="56"/>
                    </a:cubicBezTo>
                    <a:cubicBezTo>
                      <a:pt x="112" y="87"/>
                      <a:pt x="87" y="113"/>
                      <a:pt x="56" y="113"/>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8" name="Freeform 187">
                <a:extLst>
                  <a:ext uri="{FF2B5EF4-FFF2-40B4-BE49-F238E27FC236}">
                    <a16:creationId xmlns:a16="http://schemas.microsoft.com/office/drawing/2014/main" id="{DF7D211B-9A1C-A025-4F07-8AFB06DAC193}"/>
                  </a:ext>
                </a:extLst>
              </p:cNvPr>
              <p:cNvSpPr>
                <a:spLocks noChangeArrowheads="1"/>
              </p:cNvSpPr>
              <p:nvPr/>
            </p:nvSpPr>
            <p:spPr bwMode="auto">
              <a:xfrm>
                <a:off x="9194079" y="2605201"/>
                <a:ext cx="51611" cy="51611"/>
              </a:xfrm>
              <a:custGeom>
                <a:avLst/>
                <a:gdLst>
                  <a:gd name="T0" fmla="*/ 56 w 113"/>
                  <a:gd name="T1" fmla="*/ 113 h 114"/>
                  <a:gd name="T2" fmla="*/ 0 w 113"/>
                  <a:gd name="T3" fmla="*/ 57 h 114"/>
                  <a:gd name="T4" fmla="*/ 56 w 113"/>
                  <a:gd name="T5" fmla="*/ 0 h 114"/>
                  <a:gd name="T6" fmla="*/ 112 w 113"/>
                  <a:gd name="T7" fmla="*/ 57 h 114"/>
                  <a:gd name="T8" fmla="*/ 56 w 113"/>
                  <a:gd name="T9" fmla="*/ 113 h 114"/>
                </a:gdLst>
                <a:ahLst/>
                <a:cxnLst>
                  <a:cxn ang="0">
                    <a:pos x="T0" y="T1"/>
                  </a:cxn>
                  <a:cxn ang="0">
                    <a:pos x="T2" y="T3"/>
                  </a:cxn>
                  <a:cxn ang="0">
                    <a:pos x="T4" y="T5"/>
                  </a:cxn>
                  <a:cxn ang="0">
                    <a:pos x="T6" y="T7"/>
                  </a:cxn>
                  <a:cxn ang="0">
                    <a:pos x="T8" y="T9"/>
                  </a:cxn>
                </a:cxnLst>
                <a:rect l="0" t="0" r="r" b="b"/>
                <a:pathLst>
                  <a:path w="113" h="114">
                    <a:moveTo>
                      <a:pt x="56" y="113"/>
                    </a:moveTo>
                    <a:cubicBezTo>
                      <a:pt x="25" y="113"/>
                      <a:pt x="0" y="88"/>
                      <a:pt x="0" y="57"/>
                    </a:cubicBezTo>
                    <a:cubicBezTo>
                      <a:pt x="0" y="26"/>
                      <a:pt x="25" y="0"/>
                      <a:pt x="56" y="0"/>
                    </a:cubicBezTo>
                    <a:cubicBezTo>
                      <a:pt x="87" y="0"/>
                      <a:pt x="112" y="26"/>
                      <a:pt x="112" y="57"/>
                    </a:cubicBezTo>
                    <a:cubicBezTo>
                      <a:pt x="112" y="88"/>
                      <a:pt x="87" y="113"/>
                      <a:pt x="56" y="113"/>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9" name="Freeform 188">
                <a:extLst>
                  <a:ext uri="{FF2B5EF4-FFF2-40B4-BE49-F238E27FC236}">
                    <a16:creationId xmlns:a16="http://schemas.microsoft.com/office/drawing/2014/main" id="{E7D9A6EA-FCC9-23C6-4C1D-EC6C338A1A19}"/>
                  </a:ext>
                </a:extLst>
              </p:cNvPr>
              <p:cNvSpPr>
                <a:spLocks noChangeArrowheads="1"/>
              </p:cNvSpPr>
              <p:nvPr/>
            </p:nvSpPr>
            <p:spPr bwMode="auto">
              <a:xfrm>
                <a:off x="9067035" y="2420590"/>
                <a:ext cx="51611" cy="1986"/>
              </a:xfrm>
              <a:custGeom>
                <a:avLst/>
                <a:gdLst>
                  <a:gd name="T0" fmla="*/ 113 w 114"/>
                  <a:gd name="T1" fmla="*/ 0 h 1"/>
                  <a:gd name="T2" fmla="*/ 0 w 114"/>
                  <a:gd name="T3" fmla="*/ 0 h 1"/>
                </a:gdLst>
                <a:ahLst/>
                <a:cxnLst>
                  <a:cxn ang="0">
                    <a:pos x="T0" y="T1"/>
                  </a:cxn>
                  <a:cxn ang="0">
                    <a:pos x="T2" y="T3"/>
                  </a:cxn>
                </a:cxnLst>
                <a:rect l="0" t="0" r="r" b="b"/>
                <a:pathLst>
                  <a:path w="114" h="1">
                    <a:moveTo>
                      <a:pt x="113" y="0"/>
                    </a:moveTo>
                    <a:cubicBezTo>
                      <a:pt x="76" y="0"/>
                      <a:pt x="38"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31" name="Freeform 189">
                <a:extLst>
                  <a:ext uri="{FF2B5EF4-FFF2-40B4-BE49-F238E27FC236}">
                    <a16:creationId xmlns:a16="http://schemas.microsoft.com/office/drawing/2014/main" id="{F99E734E-DED6-623D-7441-BA769CD68DE6}"/>
                  </a:ext>
                </a:extLst>
              </p:cNvPr>
              <p:cNvSpPr>
                <a:spLocks noChangeArrowheads="1"/>
              </p:cNvSpPr>
              <p:nvPr/>
            </p:nvSpPr>
            <p:spPr bwMode="auto">
              <a:xfrm>
                <a:off x="9067035" y="2559544"/>
                <a:ext cx="51611" cy="1986"/>
              </a:xfrm>
              <a:custGeom>
                <a:avLst/>
                <a:gdLst>
                  <a:gd name="T0" fmla="*/ 113 w 114"/>
                  <a:gd name="T1" fmla="*/ 0 h 1"/>
                  <a:gd name="T2" fmla="*/ 0 w 114"/>
                  <a:gd name="T3" fmla="*/ 0 h 1"/>
                </a:gdLst>
                <a:ahLst/>
                <a:cxnLst>
                  <a:cxn ang="0">
                    <a:pos x="T0" y="T1"/>
                  </a:cxn>
                  <a:cxn ang="0">
                    <a:pos x="T2" y="T3"/>
                  </a:cxn>
                </a:cxnLst>
                <a:rect l="0" t="0" r="r" b="b"/>
                <a:pathLst>
                  <a:path w="114" h="1">
                    <a:moveTo>
                      <a:pt x="113" y="0"/>
                    </a:moveTo>
                    <a:cubicBezTo>
                      <a:pt x="76" y="0"/>
                      <a:pt x="38"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32" name="Freeform 190">
                <a:extLst>
                  <a:ext uri="{FF2B5EF4-FFF2-40B4-BE49-F238E27FC236}">
                    <a16:creationId xmlns:a16="http://schemas.microsoft.com/office/drawing/2014/main" id="{FFB89992-4C2B-5368-985B-0DD7A3AE58F3}"/>
                  </a:ext>
                </a:extLst>
              </p:cNvPr>
              <p:cNvSpPr>
                <a:spLocks noChangeArrowheads="1"/>
              </p:cNvSpPr>
              <p:nvPr/>
            </p:nvSpPr>
            <p:spPr bwMode="auto">
              <a:xfrm>
                <a:off x="9067035" y="2700484"/>
                <a:ext cx="51611" cy="1984"/>
              </a:xfrm>
              <a:custGeom>
                <a:avLst/>
                <a:gdLst>
                  <a:gd name="T0" fmla="*/ 113 w 114"/>
                  <a:gd name="T1" fmla="*/ 0 h 1"/>
                  <a:gd name="T2" fmla="*/ 0 w 114"/>
                  <a:gd name="T3" fmla="*/ 0 h 1"/>
                </a:gdLst>
                <a:ahLst/>
                <a:cxnLst>
                  <a:cxn ang="0">
                    <a:pos x="T0" y="T1"/>
                  </a:cxn>
                  <a:cxn ang="0">
                    <a:pos x="T2" y="T3"/>
                  </a:cxn>
                </a:cxnLst>
                <a:rect l="0" t="0" r="r" b="b"/>
                <a:pathLst>
                  <a:path w="114" h="1">
                    <a:moveTo>
                      <a:pt x="113" y="0"/>
                    </a:moveTo>
                    <a:cubicBezTo>
                      <a:pt x="76" y="0"/>
                      <a:pt x="38"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41" name="Freeform 191">
                <a:extLst>
                  <a:ext uri="{FF2B5EF4-FFF2-40B4-BE49-F238E27FC236}">
                    <a16:creationId xmlns:a16="http://schemas.microsoft.com/office/drawing/2014/main" id="{E7522D8F-FDCC-DE27-1DB2-F25BD104ACFE}"/>
                  </a:ext>
                </a:extLst>
              </p:cNvPr>
              <p:cNvSpPr>
                <a:spLocks noChangeArrowheads="1"/>
              </p:cNvSpPr>
              <p:nvPr/>
            </p:nvSpPr>
            <p:spPr bwMode="auto">
              <a:xfrm>
                <a:off x="9067035" y="2629022"/>
                <a:ext cx="127044" cy="1984"/>
              </a:xfrm>
              <a:custGeom>
                <a:avLst/>
                <a:gdLst>
                  <a:gd name="T0" fmla="*/ 283 w 284"/>
                  <a:gd name="T1" fmla="*/ 0 h 1"/>
                  <a:gd name="T2" fmla="*/ 0 w 284"/>
                  <a:gd name="T3" fmla="*/ 0 h 1"/>
                </a:gdLst>
                <a:ahLst/>
                <a:cxnLst>
                  <a:cxn ang="0">
                    <a:pos x="T0" y="T1"/>
                  </a:cxn>
                  <a:cxn ang="0">
                    <a:pos x="T2" y="T3"/>
                  </a:cxn>
                </a:cxnLst>
                <a:rect l="0" t="0" r="r" b="b"/>
                <a:pathLst>
                  <a:path w="284" h="1">
                    <a:moveTo>
                      <a:pt x="283" y="0"/>
                    </a:moveTo>
                    <a:cubicBezTo>
                      <a:pt x="189" y="0"/>
                      <a:pt x="95"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52" name="Freeform 192">
                <a:extLst>
                  <a:ext uri="{FF2B5EF4-FFF2-40B4-BE49-F238E27FC236}">
                    <a16:creationId xmlns:a16="http://schemas.microsoft.com/office/drawing/2014/main" id="{D1D6DCF0-A8FD-BD1A-1699-FFAFFF84DDEC}"/>
                  </a:ext>
                </a:extLst>
              </p:cNvPr>
              <p:cNvSpPr>
                <a:spLocks noChangeArrowheads="1"/>
              </p:cNvSpPr>
              <p:nvPr/>
            </p:nvSpPr>
            <p:spPr bwMode="auto">
              <a:xfrm>
                <a:off x="9067035" y="2490068"/>
                <a:ext cx="127044" cy="1984"/>
              </a:xfrm>
              <a:custGeom>
                <a:avLst/>
                <a:gdLst>
                  <a:gd name="T0" fmla="*/ 283 w 284"/>
                  <a:gd name="T1" fmla="*/ 0 h 1"/>
                  <a:gd name="T2" fmla="*/ 0 w 284"/>
                  <a:gd name="T3" fmla="*/ 0 h 1"/>
                </a:gdLst>
                <a:ahLst/>
                <a:cxnLst>
                  <a:cxn ang="0">
                    <a:pos x="T0" y="T1"/>
                  </a:cxn>
                  <a:cxn ang="0">
                    <a:pos x="T2" y="T3"/>
                  </a:cxn>
                </a:cxnLst>
                <a:rect l="0" t="0" r="r" b="b"/>
                <a:pathLst>
                  <a:path w="284" h="1">
                    <a:moveTo>
                      <a:pt x="283" y="0"/>
                    </a:moveTo>
                    <a:cubicBezTo>
                      <a:pt x="189" y="0"/>
                      <a:pt x="95"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grpSp>
      <p:sp>
        <p:nvSpPr>
          <p:cNvPr id="43" name="TextBox 42">
            <a:extLst>
              <a:ext uri="{FF2B5EF4-FFF2-40B4-BE49-F238E27FC236}">
                <a16:creationId xmlns:a16="http://schemas.microsoft.com/office/drawing/2014/main" id="{2EA34002-C488-F56A-2632-30CE152CF1A0}"/>
              </a:ext>
            </a:extLst>
          </p:cNvPr>
          <p:cNvSpPr txBox="1"/>
          <p:nvPr/>
        </p:nvSpPr>
        <p:spPr>
          <a:xfrm>
            <a:off x="9742171" y="3171594"/>
            <a:ext cx="2113453"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Arial"/>
                <a:ea typeface="+mn-ea"/>
                <a:cs typeface="+mn-cs"/>
              </a:rPr>
              <a:t>Dependant on assessment type*</a:t>
            </a:r>
          </a:p>
        </p:txBody>
      </p:sp>
      <p:sp>
        <p:nvSpPr>
          <p:cNvPr id="44" name="TextBox 43">
            <a:extLst>
              <a:ext uri="{FF2B5EF4-FFF2-40B4-BE49-F238E27FC236}">
                <a16:creationId xmlns:a16="http://schemas.microsoft.com/office/drawing/2014/main" id="{E8EB4C74-5AF6-E064-0169-8F85FF3207D9}"/>
              </a:ext>
            </a:extLst>
          </p:cNvPr>
          <p:cNvSpPr txBox="1"/>
          <p:nvPr/>
        </p:nvSpPr>
        <p:spPr>
          <a:xfrm>
            <a:off x="8372753" y="6139519"/>
            <a:ext cx="2113453"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Arial"/>
                <a:ea typeface="+mn-ea"/>
                <a:cs typeface="+mn-cs"/>
              </a:rPr>
              <a:t>Dependant on assessment type*</a:t>
            </a:r>
          </a:p>
        </p:txBody>
      </p:sp>
    </p:spTree>
    <p:extLst>
      <p:ext uri="{BB962C8B-B14F-4D97-AF65-F5344CB8AC3E}">
        <p14:creationId xmlns:p14="http://schemas.microsoft.com/office/powerpoint/2010/main" val="1644011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C30581-B6F4-D8B2-61B2-9DC2D1747BDF}"/>
              </a:ext>
            </a:extLst>
          </p:cNvPr>
          <p:cNvSpPr>
            <a:spLocks noGrp="1"/>
          </p:cNvSpPr>
          <p:nvPr>
            <p:ph type="body" sz="quarter" idx="12"/>
          </p:nvPr>
        </p:nvSpPr>
        <p:spPr>
          <a:xfrm>
            <a:off x="3238500" y="310896"/>
            <a:ext cx="8580120" cy="6027291"/>
          </a:xfrm>
        </p:spPr>
        <p:txBody>
          <a:bodyPr/>
          <a:lstStyle/>
          <a:p>
            <a:pPr marL="0" indent="0" algn="l">
              <a:buNone/>
            </a:pPr>
            <a:r>
              <a:rPr lang="en-GB" sz="1300" b="0" i="0">
                <a:effectLst/>
              </a:rPr>
              <a:t>‘From business planning to training to security and governance, find out what you need to do to prepare for your Microsoft Azure migration with the Strategic Migration Assessment and Readiness Tool (SMART).</a:t>
            </a:r>
          </a:p>
          <a:p>
            <a:pPr marL="0" indent="0" algn="l">
              <a:buNone/>
            </a:pPr>
            <a:r>
              <a:rPr lang="en-GB" sz="1300" b="0" i="0">
                <a:effectLst/>
              </a:rPr>
              <a:t>The assessment walks you through a series of questions to help assess your readiness in regards to:</a:t>
            </a:r>
          </a:p>
          <a:p>
            <a:pPr algn="l">
              <a:buFont typeface="Arial" panose="020B0604020202020204" pitchFamily="34" charset="0"/>
              <a:buChar char="•"/>
            </a:pPr>
            <a:r>
              <a:rPr lang="en-GB" sz="1300" b="0" i="0">
                <a:effectLst/>
              </a:rPr>
              <a:t>Your current business strategy</a:t>
            </a:r>
          </a:p>
          <a:p>
            <a:pPr algn="l">
              <a:buFont typeface="Arial" panose="020B0604020202020204" pitchFamily="34" charset="0"/>
              <a:buChar char="•"/>
            </a:pPr>
            <a:r>
              <a:rPr lang="en-GB" sz="1300" b="0" i="0">
                <a:effectLst/>
              </a:rPr>
              <a:t>Your partner support system</a:t>
            </a:r>
          </a:p>
          <a:p>
            <a:pPr algn="l">
              <a:buFont typeface="Arial" panose="020B0604020202020204" pitchFamily="34" charset="0"/>
              <a:buChar char="•"/>
            </a:pPr>
            <a:r>
              <a:rPr lang="en-GB" sz="1300" b="0" i="0">
                <a:effectLst/>
              </a:rPr>
              <a:t>Your inventory and assets</a:t>
            </a:r>
          </a:p>
          <a:p>
            <a:pPr algn="l">
              <a:buFont typeface="Arial" panose="020B0604020202020204" pitchFamily="34" charset="0"/>
              <a:buChar char="•"/>
            </a:pPr>
            <a:r>
              <a:rPr lang="en-GB" sz="1300" b="0" i="0">
                <a:effectLst/>
              </a:rPr>
              <a:t>Your business goals</a:t>
            </a:r>
          </a:p>
          <a:p>
            <a:pPr algn="l">
              <a:buFont typeface="Arial" panose="020B0604020202020204" pitchFamily="34" charset="0"/>
              <a:buChar char="•"/>
            </a:pPr>
            <a:r>
              <a:rPr lang="en-GB" sz="1300" b="0" i="0">
                <a:effectLst/>
              </a:rPr>
              <a:t>Your migration plan</a:t>
            </a:r>
          </a:p>
          <a:p>
            <a:pPr algn="l">
              <a:buFont typeface="Arial" panose="020B0604020202020204" pitchFamily="34" charset="0"/>
              <a:buChar char="•"/>
            </a:pPr>
            <a:r>
              <a:rPr lang="en-GB" sz="1300" b="0" i="0">
                <a:effectLst/>
              </a:rPr>
              <a:t>Your organizations technical and migration skills</a:t>
            </a:r>
          </a:p>
          <a:p>
            <a:pPr algn="l">
              <a:buFont typeface="Arial" panose="020B0604020202020204" pitchFamily="34" charset="0"/>
              <a:buChar char="•"/>
            </a:pPr>
            <a:r>
              <a:rPr lang="en-GB" sz="1300" b="0" i="0">
                <a:effectLst/>
              </a:rPr>
              <a:t>Your landing zone environment</a:t>
            </a:r>
          </a:p>
          <a:p>
            <a:pPr algn="l">
              <a:buFont typeface="Arial" panose="020B0604020202020204" pitchFamily="34" charset="0"/>
              <a:buChar char="•"/>
            </a:pPr>
            <a:r>
              <a:rPr lang="en-GB" sz="1300" b="0" i="0">
                <a:effectLst/>
              </a:rPr>
              <a:t>The governance you have in place</a:t>
            </a:r>
          </a:p>
          <a:p>
            <a:pPr algn="l">
              <a:buFont typeface="Arial" panose="020B0604020202020204" pitchFamily="34" charset="0"/>
              <a:buChar char="•"/>
            </a:pPr>
            <a:r>
              <a:rPr lang="en-GB" sz="1300" b="0" i="0">
                <a:effectLst/>
              </a:rPr>
              <a:t>How you will manage assets and services in the cloud</a:t>
            </a:r>
          </a:p>
          <a:p>
            <a:pPr marL="0" indent="0" algn="l">
              <a:buNone/>
            </a:pPr>
            <a:r>
              <a:rPr lang="en-GB" sz="1300" b="0" i="0">
                <a:effectLst/>
              </a:rPr>
              <a:t>You have the ability to pick an area of focus, or answer all the assessment questions. When you finish, you'll receive a report that identifies areas for improvement and resources that can help you make those improvements. After you make improvements, you can come back and take the assessment again to gage your progress toward migration readiness’</a:t>
            </a:r>
          </a:p>
          <a:p>
            <a:pPr marL="0" indent="0" algn="l">
              <a:buNone/>
            </a:pPr>
            <a:endParaRPr lang="en-GB" sz="1300"/>
          </a:p>
          <a:p>
            <a:pPr marL="0" indent="0">
              <a:buNone/>
            </a:pPr>
            <a:r>
              <a:rPr lang="en-GB" sz="1300" b="0" i="0">
                <a:effectLst/>
              </a:rPr>
              <a:t>Above is from Microsoft’s Website. The goal of the SMART assessment is to spot areas of weakness within the business when it comes to the migration, simple things such as knowing what teams woul</a:t>
            </a:r>
            <a:r>
              <a:rPr lang="en-GB" sz="1300"/>
              <a:t>d be part of the migration, has security and backups been considered in the cloud etc that the client may not have thought about. The recommendations can then help gear them up prior to the execution of migrations. The topics that are covered should be talking points and really pull out a good understanding of the customers current situation so a good analysis can be done on their readiness journey. </a:t>
            </a:r>
          </a:p>
          <a:p>
            <a:pPr marL="0" indent="0" algn="l">
              <a:buNone/>
            </a:pPr>
            <a:endParaRPr lang="en-GB" sz="1300" b="0" i="0">
              <a:effectLst/>
            </a:endParaRPr>
          </a:p>
        </p:txBody>
      </p:sp>
      <p:sp>
        <p:nvSpPr>
          <p:cNvPr id="4" name="Title 3">
            <a:extLst>
              <a:ext uri="{FF2B5EF4-FFF2-40B4-BE49-F238E27FC236}">
                <a16:creationId xmlns:a16="http://schemas.microsoft.com/office/drawing/2014/main" id="{01B674CB-9B43-E58A-1C36-F1A5BF55CA3C}"/>
              </a:ext>
            </a:extLst>
          </p:cNvPr>
          <p:cNvSpPr>
            <a:spLocks noGrp="1"/>
          </p:cNvSpPr>
          <p:nvPr>
            <p:ph type="title"/>
          </p:nvPr>
        </p:nvSpPr>
        <p:spPr>
          <a:xfrm>
            <a:off x="334497" y="268589"/>
            <a:ext cx="2620793" cy="1023678"/>
          </a:xfrm>
        </p:spPr>
        <p:txBody>
          <a:bodyPr/>
          <a:lstStyle/>
          <a:p>
            <a:r>
              <a:rPr lang="en-GB"/>
              <a:t>SMART Assessments</a:t>
            </a:r>
            <a:endParaRPr lang="en-GB" sz="1800"/>
          </a:p>
        </p:txBody>
      </p:sp>
      <p:sp>
        <p:nvSpPr>
          <p:cNvPr id="5" name="Slide Number Placeholder 4">
            <a:extLst>
              <a:ext uri="{FF2B5EF4-FFF2-40B4-BE49-F238E27FC236}">
                <a16:creationId xmlns:a16="http://schemas.microsoft.com/office/drawing/2014/main" id="{419EFDFE-613E-9B98-AD22-378D3613C948}"/>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10</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520269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C37994-F088-A449-93E9-79F7A17B299C}"/>
              </a:ext>
            </a:extLst>
          </p:cNvPr>
          <p:cNvSpPr>
            <a:spLocks noGrp="1"/>
          </p:cNvSpPr>
          <p:nvPr>
            <p:ph type="title"/>
          </p:nvPr>
        </p:nvSpPr>
        <p:spPr>
          <a:xfrm>
            <a:off x="334497" y="268589"/>
            <a:ext cx="2620793" cy="1548437"/>
          </a:xfrm>
        </p:spPr>
        <p:txBody>
          <a:bodyPr/>
          <a:lstStyle/>
          <a:p>
            <a:r>
              <a:rPr lang="en-GB"/>
              <a:t>SMART Assessment Results</a:t>
            </a:r>
          </a:p>
        </p:txBody>
      </p:sp>
      <p:sp>
        <p:nvSpPr>
          <p:cNvPr id="5" name="Slide Number Placeholder 4">
            <a:extLst>
              <a:ext uri="{FF2B5EF4-FFF2-40B4-BE49-F238E27FC236}">
                <a16:creationId xmlns:a16="http://schemas.microsoft.com/office/drawing/2014/main" id="{089B16FB-1273-0949-E097-94F950603A24}"/>
              </a:ext>
            </a:extLst>
          </p:cNvPr>
          <p:cNvSpPr>
            <a:spLocks noGrp="1"/>
          </p:cNvSpPr>
          <p:nvPr>
            <p:ph type="sldNum" sz="quarter" idx="4"/>
          </p:nvPr>
        </p:nvSpPr>
        <p:spPr>
          <a:xfrm>
            <a:off x="11228295" y="6635750"/>
            <a:ext cx="617402" cy="107722"/>
          </a:xfrm>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11</a:t>
            </a:fld>
            <a:endParaRPr kumimoji="0" lang="en-US" sz="700" b="0" i="0" u="none" strike="noStrike" kern="1200" cap="none" spc="0" normalizeH="0" baseline="0" noProof="0">
              <a:ln>
                <a:noFill/>
              </a:ln>
              <a:solidFill>
                <a:srgbClr val="FFFFFF"/>
              </a:solidFill>
              <a:effectLst/>
              <a:uLnTx/>
              <a:uFillTx/>
              <a:latin typeface="Arial"/>
              <a:ea typeface="+mn-ea"/>
              <a:cs typeface="+mn-cs"/>
            </a:endParaRPr>
          </a:p>
        </p:txBody>
      </p:sp>
      <p:pic>
        <p:nvPicPr>
          <p:cNvPr id="3" name="Picture 2">
            <a:extLst>
              <a:ext uri="{FF2B5EF4-FFF2-40B4-BE49-F238E27FC236}">
                <a16:creationId xmlns:a16="http://schemas.microsoft.com/office/drawing/2014/main" id="{0E8243D7-9FE7-D671-430C-5BCE99DF3995}"/>
              </a:ext>
            </a:extLst>
          </p:cNvPr>
          <p:cNvPicPr>
            <a:picLocks noChangeAspect="1"/>
          </p:cNvPicPr>
          <p:nvPr/>
        </p:nvPicPr>
        <p:blipFill>
          <a:blip r:embed="rId2"/>
          <a:stretch>
            <a:fillRect/>
          </a:stretch>
        </p:blipFill>
        <p:spPr>
          <a:xfrm>
            <a:off x="4471308" y="0"/>
            <a:ext cx="5766673" cy="6858000"/>
          </a:xfrm>
          <a:prstGeom prst="rect">
            <a:avLst/>
          </a:prstGeom>
        </p:spPr>
      </p:pic>
    </p:spTree>
    <p:extLst>
      <p:ext uri="{BB962C8B-B14F-4D97-AF65-F5344CB8AC3E}">
        <p14:creationId xmlns:p14="http://schemas.microsoft.com/office/powerpoint/2010/main" val="4242003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145A3-970F-F954-7541-3B874CC52441}"/>
              </a:ext>
            </a:extLst>
          </p:cNvPr>
          <p:cNvSpPr>
            <a:spLocks noGrp="1"/>
          </p:cNvSpPr>
          <p:nvPr>
            <p:ph type="title"/>
          </p:nvPr>
        </p:nvSpPr>
        <p:spPr>
          <a:xfrm>
            <a:off x="334496" y="171506"/>
            <a:ext cx="11495554" cy="498919"/>
          </a:xfrm>
        </p:spPr>
        <p:txBody>
          <a:bodyPr/>
          <a:lstStyle/>
          <a:p>
            <a:r>
              <a:rPr lang="en-GB"/>
              <a:t>Tasks Timeline</a:t>
            </a:r>
          </a:p>
        </p:txBody>
      </p:sp>
      <p:sp>
        <p:nvSpPr>
          <p:cNvPr id="3" name="Slide Number Placeholder 2">
            <a:extLst>
              <a:ext uri="{FF2B5EF4-FFF2-40B4-BE49-F238E27FC236}">
                <a16:creationId xmlns:a16="http://schemas.microsoft.com/office/drawing/2014/main" id="{A415B8CC-1EFF-F9FC-2ECA-1EF66B8ED869}"/>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Fira Sans" panose="020B0503050000020004" pitchFamily="34" charset="0"/>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12</a:t>
            </a:fld>
            <a:endParaRPr kumimoji="0" lang="en-US" sz="7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grpSp>
        <p:nvGrpSpPr>
          <p:cNvPr id="67" name="Group 66">
            <a:extLst>
              <a:ext uri="{FF2B5EF4-FFF2-40B4-BE49-F238E27FC236}">
                <a16:creationId xmlns:a16="http://schemas.microsoft.com/office/drawing/2014/main" id="{8614D5EA-B811-7745-05B6-5045E75867EA}"/>
              </a:ext>
            </a:extLst>
          </p:cNvPr>
          <p:cNvGrpSpPr/>
          <p:nvPr/>
        </p:nvGrpSpPr>
        <p:grpSpPr>
          <a:xfrm>
            <a:off x="408822" y="876300"/>
            <a:ext cx="11374356" cy="5440437"/>
            <a:chOff x="101364" y="876300"/>
            <a:chExt cx="9562739" cy="5440437"/>
          </a:xfrm>
        </p:grpSpPr>
        <p:sp>
          <p:nvSpPr>
            <p:cNvPr id="45" name="TextBox 44">
              <a:extLst>
                <a:ext uri="{FF2B5EF4-FFF2-40B4-BE49-F238E27FC236}">
                  <a16:creationId xmlns:a16="http://schemas.microsoft.com/office/drawing/2014/main" id="{5A54DE02-93DC-F76B-2037-64AD824D0769}"/>
                </a:ext>
              </a:extLst>
            </p:cNvPr>
            <p:cNvSpPr txBox="1"/>
            <p:nvPr/>
          </p:nvSpPr>
          <p:spPr>
            <a:xfrm>
              <a:off x="163698" y="1604423"/>
              <a:ext cx="774051"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Fira Sans" panose="020B0503050000020004" pitchFamily="34" charset="0"/>
                  <a:ea typeface="+mn-ea"/>
                  <a:cs typeface="+mn-cs"/>
                </a:rPr>
                <a:t>Engage</a:t>
              </a:r>
            </a:p>
          </p:txBody>
        </p:sp>
        <p:sp>
          <p:nvSpPr>
            <p:cNvPr id="46" name="TextBox 45">
              <a:extLst>
                <a:ext uri="{FF2B5EF4-FFF2-40B4-BE49-F238E27FC236}">
                  <a16:creationId xmlns:a16="http://schemas.microsoft.com/office/drawing/2014/main" id="{22601599-5587-9606-2651-77511F4B3C83}"/>
                </a:ext>
              </a:extLst>
            </p:cNvPr>
            <p:cNvSpPr txBox="1"/>
            <p:nvPr/>
          </p:nvSpPr>
          <p:spPr>
            <a:xfrm>
              <a:off x="175985" y="2452484"/>
              <a:ext cx="774051"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Fira Sans" panose="020B0503050000020004" pitchFamily="34" charset="0"/>
                  <a:ea typeface="+mn-ea"/>
                  <a:cs typeface="+mn-cs"/>
                </a:rPr>
                <a:t>PA</a:t>
              </a:r>
            </a:p>
          </p:txBody>
        </p:sp>
        <p:sp>
          <p:nvSpPr>
            <p:cNvPr id="47" name="TextBox 46">
              <a:extLst>
                <a:ext uri="{FF2B5EF4-FFF2-40B4-BE49-F238E27FC236}">
                  <a16:creationId xmlns:a16="http://schemas.microsoft.com/office/drawing/2014/main" id="{67E93C47-6DCC-039A-3C2B-BD8CE759481E}"/>
                </a:ext>
              </a:extLst>
            </p:cNvPr>
            <p:cNvSpPr txBox="1"/>
            <p:nvPr/>
          </p:nvSpPr>
          <p:spPr>
            <a:xfrm>
              <a:off x="164016" y="4115985"/>
              <a:ext cx="774051"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Fira Sans" panose="020B0503050000020004" pitchFamily="34" charset="0"/>
                  <a:ea typeface="+mn-ea"/>
                  <a:cs typeface="+mn-cs"/>
                </a:rPr>
                <a:t>MRA</a:t>
              </a:r>
            </a:p>
          </p:txBody>
        </p:sp>
        <p:sp>
          <p:nvSpPr>
            <p:cNvPr id="48" name="TextBox 47">
              <a:extLst>
                <a:ext uri="{FF2B5EF4-FFF2-40B4-BE49-F238E27FC236}">
                  <a16:creationId xmlns:a16="http://schemas.microsoft.com/office/drawing/2014/main" id="{3168B57E-72C1-AAF9-FC51-AC2AEE5F1118}"/>
                </a:ext>
              </a:extLst>
            </p:cNvPr>
            <p:cNvSpPr txBox="1"/>
            <p:nvPr/>
          </p:nvSpPr>
          <p:spPr>
            <a:xfrm>
              <a:off x="141100" y="3165298"/>
              <a:ext cx="923291" cy="461665"/>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Fira Sans" panose="020B0503050000020004" pitchFamily="34" charset="0"/>
                  <a:ea typeface="+mn-ea"/>
                  <a:cs typeface="+mn-cs"/>
                </a:rPr>
                <a:t>Tool Discovery</a:t>
              </a:r>
            </a:p>
          </p:txBody>
        </p:sp>
        <p:cxnSp>
          <p:nvCxnSpPr>
            <p:cNvPr id="6" name="Straight Connector 5">
              <a:extLst>
                <a:ext uri="{FF2B5EF4-FFF2-40B4-BE49-F238E27FC236}">
                  <a16:creationId xmlns:a16="http://schemas.microsoft.com/office/drawing/2014/main" id="{E822C7CA-EBD8-1E98-0C99-DF092270E7E9}"/>
                </a:ext>
              </a:extLst>
            </p:cNvPr>
            <p:cNvCxnSpPr>
              <a:cxnSpLocks/>
            </p:cNvCxnSpPr>
            <p:nvPr/>
          </p:nvCxnSpPr>
          <p:spPr>
            <a:xfrm>
              <a:off x="1065079" y="876300"/>
              <a:ext cx="0" cy="544004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6FD27DA-3017-AFE6-126A-850D80F9F91D}"/>
                </a:ext>
              </a:extLst>
            </p:cNvPr>
            <p:cNvCxnSpPr>
              <a:cxnSpLocks/>
            </p:cNvCxnSpPr>
            <p:nvPr/>
          </p:nvCxnSpPr>
          <p:spPr>
            <a:xfrm>
              <a:off x="2422000" y="876300"/>
              <a:ext cx="0" cy="544004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8F4F5AD-8024-CC3B-0EE9-05222DDF2666}"/>
                </a:ext>
              </a:extLst>
            </p:cNvPr>
            <p:cNvCxnSpPr>
              <a:cxnSpLocks/>
            </p:cNvCxnSpPr>
            <p:nvPr/>
          </p:nvCxnSpPr>
          <p:spPr>
            <a:xfrm>
              <a:off x="3820963" y="876300"/>
              <a:ext cx="0" cy="544004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067E770-9F28-3DC4-662F-47A40C2371ED}"/>
                </a:ext>
              </a:extLst>
            </p:cNvPr>
            <p:cNvCxnSpPr>
              <a:cxnSpLocks/>
            </p:cNvCxnSpPr>
            <p:nvPr/>
          </p:nvCxnSpPr>
          <p:spPr>
            <a:xfrm>
              <a:off x="5177885" y="876300"/>
              <a:ext cx="0" cy="544004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1A8A2AF-CE70-A1E2-CF15-F981A87C677A}"/>
                </a:ext>
              </a:extLst>
            </p:cNvPr>
            <p:cNvCxnSpPr>
              <a:cxnSpLocks/>
            </p:cNvCxnSpPr>
            <p:nvPr/>
          </p:nvCxnSpPr>
          <p:spPr>
            <a:xfrm>
              <a:off x="6576848" y="876300"/>
              <a:ext cx="0" cy="544004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DD6295C6-8C93-E356-197E-9C5692187EA2}"/>
                </a:ext>
              </a:extLst>
            </p:cNvPr>
            <p:cNvSpPr/>
            <p:nvPr/>
          </p:nvSpPr>
          <p:spPr>
            <a:xfrm>
              <a:off x="1077220" y="919689"/>
              <a:ext cx="1342011" cy="28729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Week 1</a:t>
              </a:r>
            </a:p>
          </p:txBody>
        </p:sp>
        <p:sp>
          <p:nvSpPr>
            <p:cNvPr id="27" name="Rectangle 26">
              <a:extLst>
                <a:ext uri="{FF2B5EF4-FFF2-40B4-BE49-F238E27FC236}">
                  <a16:creationId xmlns:a16="http://schemas.microsoft.com/office/drawing/2014/main" id="{E9EE11A8-710C-ADED-EC6E-AC75BB70D8E3}"/>
                </a:ext>
              </a:extLst>
            </p:cNvPr>
            <p:cNvSpPr/>
            <p:nvPr/>
          </p:nvSpPr>
          <p:spPr>
            <a:xfrm>
              <a:off x="2438301" y="919689"/>
              <a:ext cx="1377862" cy="28729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Week 2</a:t>
              </a:r>
            </a:p>
          </p:txBody>
        </p:sp>
        <p:sp>
          <p:nvSpPr>
            <p:cNvPr id="28" name="Rectangle 27">
              <a:extLst>
                <a:ext uri="{FF2B5EF4-FFF2-40B4-BE49-F238E27FC236}">
                  <a16:creationId xmlns:a16="http://schemas.microsoft.com/office/drawing/2014/main" id="{2465F11E-6A1C-2E98-7A4F-4CE23094B99E}"/>
                </a:ext>
              </a:extLst>
            </p:cNvPr>
            <p:cNvSpPr/>
            <p:nvPr/>
          </p:nvSpPr>
          <p:spPr>
            <a:xfrm>
              <a:off x="3835234" y="919689"/>
              <a:ext cx="1342011" cy="28729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Week 3</a:t>
              </a:r>
            </a:p>
          </p:txBody>
        </p:sp>
        <p:sp>
          <p:nvSpPr>
            <p:cNvPr id="29" name="Rectangle 28">
              <a:extLst>
                <a:ext uri="{FF2B5EF4-FFF2-40B4-BE49-F238E27FC236}">
                  <a16:creationId xmlns:a16="http://schemas.microsoft.com/office/drawing/2014/main" id="{3D2D8F7C-DB49-5DD2-AA55-D6D4B545DBB2}"/>
                </a:ext>
              </a:extLst>
            </p:cNvPr>
            <p:cNvSpPr/>
            <p:nvPr/>
          </p:nvSpPr>
          <p:spPr>
            <a:xfrm>
              <a:off x="5196315" y="919689"/>
              <a:ext cx="1377862" cy="28729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Week 4</a:t>
              </a:r>
            </a:p>
          </p:txBody>
        </p:sp>
        <p:cxnSp>
          <p:nvCxnSpPr>
            <p:cNvPr id="33" name="Straight Connector 32">
              <a:extLst>
                <a:ext uri="{FF2B5EF4-FFF2-40B4-BE49-F238E27FC236}">
                  <a16:creationId xmlns:a16="http://schemas.microsoft.com/office/drawing/2014/main" id="{E7F689EB-4129-4D31-231B-19BD43EDD9AD}"/>
                </a:ext>
              </a:extLst>
            </p:cNvPr>
            <p:cNvCxnSpPr>
              <a:cxnSpLocks/>
            </p:cNvCxnSpPr>
            <p:nvPr/>
          </p:nvCxnSpPr>
          <p:spPr>
            <a:xfrm>
              <a:off x="7984755" y="876690"/>
              <a:ext cx="0" cy="544004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007942BF-3579-83C4-EA8C-AF4A635F66E2}"/>
                </a:ext>
              </a:extLst>
            </p:cNvPr>
            <p:cNvSpPr/>
            <p:nvPr/>
          </p:nvSpPr>
          <p:spPr>
            <a:xfrm>
              <a:off x="6604223" y="919689"/>
              <a:ext cx="1377862" cy="28729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Week 5</a:t>
              </a:r>
            </a:p>
          </p:txBody>
        </p:sp>
        <p:sp>
          <p:nvSpPr>
            <p:cNvPr id="41" name="Rectangle 40">
              <a:extLst>
                <a:ext uri="{FF2B5EF4-FFF2-40B4-BE49-F238E27FC236}">
                  <a16:creationId xmlns:a16="http://schemas.microsoft.com/office/drawing/2014/main" id="{33EC924E-71C9-B68E-B986-EF34D9FEEAC0}"/>
                </a:ext>
              </a:extLst>
            </p:cNvPr>
            <p:cNvSpPr/>
            <p:nvPr/>
          </p:nvSpPr>
          <p:spPr>
            <a:xfrm>
              <a:off x="8004949" y="919689"/>
              <a:ext cx="1377862" cy="28729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Week 6</a:t>
              </a:r>
            </a:p>
          </p:txBody>
        </p:sp>
        <p:cxnSp>
          <p:nvCxnSpPr>
            <p:cNvPr id="5" name="Straight Connector 4">
              <a:extLst>
                <a:ext uri="{FF2B5EF4-FFF2-40B4-BE49-F238E27FC236}">
                  <a16:creationId xmlns:a16="http://schemas.microsoft.com/office/drawing/2014/main" id="{33370802-82DC-E259-FDB1-83D6D035FEA2}"/>
                </a:ext>
              </a:extLst>
            </p:cNvPr>
            <p:cNvCxnSpPr>
              <a:cxnSpLocks/>
            </p:cNvCxnSpPr>
            <p:nvPr/>
          </p:nvCxnSpPr>
          <p:spPr>
            <a:xfrm>
              <a:off x="4090309" y="1206979"/>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2A0A641-C8DF-1781-15C9-D2BE9985D520}"/>
                </a:ext>
              </a:extLst>
            </p:cNvPr>
            <p:cNvCxnSpPr>
              <a:cxnSpLocks/>
            </p:cNvCxnSpPr>
            <p:nvPr/>
          </p:nvCxnSpPr>
          <p:spPr>
            <a:xfrm>
              <a:off x="1340668" y="1206979"/>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A62FED1-02CF-EB5B-84DB-4F0AD0168B7E}"/>
                </a:ext>
              </a:extLst>
            </p:cNvPr>
            <p:cNvCxnSpPr>
              <a:cxnSpLocks/>
            </p:cNvCxnSpPr>
            <p:nvPr/>
          </p:nvCxnSpPr>
          <p:spPr>
            <a:xfrm>
              <a:off x="1616256" y="1206979"/>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99D9139-BF9E-A019-B64E-704B4F0E4D60}"/>
                </a:ext>
              </a:extLst>
            </p:cNvPr>
            <p:cNvCxnSpPr>
              <a:cxnSpLocks/>
            </p:cNvCxnSpPr>
            <p:nvPr/>
          </p:nvCxnSpPr>
          <p:spPr>
            <a:xfrm>
              <a:off x="1891845" y="1206979"/>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0952A5D-1DDF-53A6-477D-BC9C85DFD4ED}"/>
                </a:ext>
              </a:extLst>
            </p:cNvPr>
            <p:cNvCxnSpPr>
              <a:cxnSpLocks/>
            </p:cNvCxnSpPr>
            <p:nvPr/>
          </p:nvCxnSpPr>
          <p:spPr>
            <a:xfrm>
              <a:off x="2167432" y="1206979"/>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4209DF6-4182-5307-1B02-2469515D9347}"/>
                </a:ext>
              </a:extLst>
            </p:cNvPr>
            <p:cNvCxnSpPr>
              <a:cxnSpLocks/>
            </p:cNvCxnSpPr>
            <p:nvPr/>
          </p:nvCxnSpPr>
          <p:spPr>
            <a:xfrm>
              <a:off x="2718609" y="1206979"/>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10B958E-B751-63F9-D7F4-9C5B214CA9AD}"/>
                </a:ext>
              </a:extLst>
            </p:cNvPr>
            <p:cNvCxnSpPr>
              <a:cxnSpLocks/>
            </p:cNvCxnSpPr>
            <p:nvPr/>
          </p:nvCxnSpPr>
          <p:spPr>
            <a:xfrm>
              <a:off x="2994198" y="1206979"/>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07ED5D9-5CEC-01CE-B7E4-B1671AE9DE33}"/>
                </a:ext>
              </a:extLst>
            </p:cNvPr>
            <p:cNvCxnSpPr>
              <a:cxnSpLocks/>
            </p:cNvCxnSpPr>
            <p:nvPr/>
          </p:nvCxnSpPr>
          <p:spPr>
            <a:xfrm>
              <a:off x="3545375" y="1206979"/>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766D8D0-B5D8-835D-7953-B5882426DAE9}"/>
                </a:ext>
              </a:extLst>
            </p:cNvPr>
            <p:cNvCxnSpPr>
              <a:cxnSpLocks/>
            </p:cNvCxnSpPr>
            <p:nvPr/>
          </p:nvCxnSpPr>
          <p:spPr>
            <a:xfrm>
              <a:off x="3269787" y="1206979"/>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02A288C-F639-2EBF-B601-A89BA12BB034}"/>
                </a:ext>
              </a:extLst>
            </p:cNvPr>
            <p:cNvCxnSpPr>
              <a:cxnSpLocks/>
            </p:cNvCxnSpPr>
            <p:nvPr/>
          </p:nvCxnSpPr>
          <p:spPr>
            <a:xfrm>
              <a:off x="4647728" y="1206979"/>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C4830A2-3F27-6787-E05C-802A38014764}"/>
                </a:ext>
              </a:extLst>
            </p:cNvPr>
            <p:cNvCxnSpPr>
              <a:cxnSpLocks/>
            </p:cNvCxnSpPr>
            <p:nvPr/>
          </p:nvCxnSpPr>
          <p:spPr>
            <a:xfrm>
              <a:off x="4923317" y="1206979"/>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D1C60E9-CA7E-4F22-D439-6F6A2147A1E4}"/>
                </a:ext>
              </a:extLst>
            </p:cNvPr>
            <p:cNvCxnSpPr>
              <a:cxnSpLocks/>
            </p:cNvCxnSpPr>
            <p:nvPr/>
          </p:nvCxnSpPr>
          <p:spPr>
            <a:xfrm>
              <a:off x="4372140" y="1206979"/>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93692B1-41E2-300D-4923-B8BB172D0617}"/>
                </a:ext>
              </a:extLst>
            </p:cNvPr>
            <p:cNvCxnSpPr>
              <a:cxnSpLocks/>
            </p:cNvCxnSpPr>
            <p:nvPr/>
          </p:nvCxnSpPr>
          <p:spPr>
            <a:xfrm>
              <a:off x="5750081" y="1206979"/>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A9FFD9-F676-A258-3119-D0A820292D22}"/>
                </a:ext>
              </a:extLst>
            </p:cNvPr>
            <p:cNvCxnSpPr>
              <a:cxnSpLocks/>
            </p:cNvCxnSpPr>
            <p:nvPr/>
          </p:nvCxnSpPr>
          <p:spPr>
            <a:xfrm>
              <a:off x="6025670" y="1206979"/>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74150E8-E594-1BF1-2E99-2C59CCB616BC}"/>
                </a:ext>
              </a:extLst>
            </p:cNvPr>
            <p:cNvCxnSpPr>
              <a:cxnSpLocks/>
            </p:cNvCxnSpPr>
            <p:nvPr/>
          </p:nvCxnSpPr>
          <p:spPr>
            <a:xfrm>
              <a:off x="6301259" y="1206979"/>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980AF92-DD61-D584-2873-1A61304776EE}"/>
                </a:ext>
              </a:extLst>
            </p:cNvPr>
            <p:cNvCxnSpPr>
              <a:cxnSpLocks/>
            </p:cNvCxnSpPr>
            <p:nvPr/>
          </p:nvCxnSpPr>
          <p:spPr>
            <a:xfrm>
              <a:off x="5474494" y="1206979"/>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CD72AC8-7F33-C6AF-0551-FA4C83C5BC38}"/>
                </a:ext>
              </a:extLst>
            </p:cNvPr>
            <p:cNvCxnSpPr>
              <a:cxnSpLocks/>
            </p:cNvCxnSpPr>
            <p:nvPr/>
          </p:nvCxnSpPr>
          <p:spPr>
            <a:xfrm>
              <a:off x="7157990" y="1207406"/>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92E9835-7F97-E8F4-6DF3-009CACD136B2}"/>
                </a:ext>
              </a:extLst>
            </p:cNvPr>
            <p:cNvCxnSpPr>
              <a:cxnSpLocks/>
            </p:cNvCxnSpPr>
            <p:nvPr/>
          </p:nvCxnSpPr>
          <p:spPr>
            <a:xfrm>
              <a:off x="7433578" y="1207406"/>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19BFD89-10AF-C1FF-F0C2-6B2558CDE02A}"/>
                </a:ext>
              </a:extLst>
            </p:cNvPr>
            <p:cNvCxnSpPr>
              <a:cxnSpLocks/>
            </p:cNvCxnSpPr>
            <p:nvPr/>
          </p:nvCxnSpPr>
          <p:spPr>
            <a:xfrm>
              <a:off x="7709167" y="1207406"/>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C4841A2-9A81-0F0A-462C-86D28B98CE19}"/>
                </a:ext>
              </a:extLst>
            </p:cNvPr>
            <p:cNvCxnSpPr>
              <a:cxnSpLocks/>
            </p:cNvCxnSpPr>
            <p:nvPr/>
          </p:nvCxnSpPr>
          <p:spPr>
            <a:xfrm>
              <a:off x="6882402" y="1207406"/>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8E250A2-DA79-4F4D-C9A6-B811D2363C1B}"/>
                </a:ext>
              </a:extLst>
            </p:cNvPr>
            <p:cNvCxnSpPr>
              <a:cxnSpLocks/>
            </p:cNvCxnSpPr>
            <p:nvPr/>
          </p:nvCxnSpPr>
          <p:spPr>
            <a:xfrm>
              <a:off x="8558716" y="1207406"/>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AB6B70B-463A-4215-B85B-EF94DD94C339}"/>
                </a:ext>
              </a:extLst>
            </p:cNvPr>
            <p:cNvCxnSpPr>
              <a:cxnSpLocks/>
            </p:cNvCxnSpPr>
            <p:nvPr/>
          </p:nvCxnSpPr>
          <p:spPr>
            <a:xfrm>
              <a:off x="8834305" y="1207406"/>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42C1452-A893-4593-600C-D6CBD41BCECD}"/>
                </a:ext>
              </a:extLst>
            </p:cNvPr>
            <p:cNvCxnSpPr>
              <a:cxnSpLocks/>
            </p:cNvCxnSpPr>
            <p:nvPr/>
          </p:nvCxnSpPr>
          <p:spPr>
            <a:xfrm>
              <a:off x="9109893" y="1207406"/>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71F02BB-2F7B-DB05-2025-550B2EB39981}"/>
                </a:ext>
              </a:extLst>
            </p:cNvPr>
            <p:cNvCxnSpPr>
              <a:cxnSpLocks/>
            </p:cNvCxnSpPr>
            <p:nvPr/>
          </p:nvCxnSpPr>
          <p:spPr>
            <a:xfrm>
              <a:off x="8283129" y="1207406"/>
              <a:ext cx="0" cy="51093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66" name="Group 65">
              <a:extLst>
                <a:ext uri="{FF2B5EF4-FFF2-40B4-BE49-F238E27FC236}">
                  <a16:creationId xmlns:a16="http://schemas.microsoft.com/office/drawing/2014/main" id="{E8F0BF22-A88B-BBFF-7A45-5B76DFF9A4C0}"/>
                </a:ext>
              </a:extLst>
            </p:cNvPr>
            <p:cNvGrpSpPr/>
            <p:nvPr/>
          </p:nvGrpSpPr>
          <p:grpSpPr>
            <a:xfrm>
              <a:off x="168546" y="2142263"/>
              <a:ext cx="9214266" cy="3365908"/>
              <a:chOff x="168545" y="2142263"/>
              <a:chExt cx="12023455" cy="3365908"/>
            </a:xfrm>
          </p:grpSpPr>
          <p:cxnSp>
            <p:nvCxnSpPr>
              <p:cNvPr id="42" name="Straight Connector 41">
                <a:extLst>
                  <a:ext uri="{FF2B5EF4-FFF2-40B4-BE49-F238E27FC236}">
                    <a16:creationId xmlns:a16="http://schemas.microsoft.com/office/drawing/2014/main" id="{9036ECB3-AB71-A67A-922B-AB127A373990}"/>
                  </a:ext>
                </a:extLst>
              </p:cNvPr>
              <p:cNvCxnSpPr>
                <a:cxnSpLocks/>
              </p:cNvCxnSpPr>
              <p:nvPr/>
            </p:nvCxnSpPr>
            <p:spPr>
              <a:xfrm flipH="1">
                <a:off x="170434" y="2142263"/>
                <a:ext cx="12021566"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9F8697D-C64E-39BC-BD0B-E092EE8D0A1C}"/>
                  </a:ext>
                </a:extLst>
              </p:cNvPr>
              <p:cNvCxnSpPr>
                <a:cxnSpLocks/>
              </p:cNvCxnSpPr>
              <p:nvPr/>
            </p:nvCxnSpPr>
            <p:spPr>
              <a:xfrm flipH="1">
                <a:off x="170434" y="2982401"/>
                <a:ext cx="12021566"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3705781-84B0-B828-964E-A491A986E0D0}"/>
                  </a:ext>
                </a:extLst>
              </p:cNvPr>
              <p:cNvCxnSpPr>
                <a:cxnSpLocks/>
              </p:cNvCxnSpPr>
              <p:nvPr/>
            </p:nvCxnSpPr>
            <p:spPr>
              <a:xfrm flipH="1">
                <a:off x="168545" y="3807571"/>
                <a:ext cx="1202078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AB50DB0-C247-3F36-549E-5964C4B3FF3F}"/>
                  </a:ext>
                </a:extLst>
              </p:cNvPr>
              <p:cNvCxnSpPr>
                <a:cxnSpLocks/>
              </p:cNvCxnSpPr>
              <p:nvPr/>
            </p:nvCxnSpPr>
            <p:spPr>
              <a:xfrm flipH="1">
                <a:off x="168545" y="4659086"/>
                <a:ext cx="1202078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FEEBA4D-18AE-B0A7-E3CF-880C667CDF45}"/>
                  </a:ext>
                </a:extLst>
              </p:cNvPr>
              <p:cNvCxnSpPr>
                <a:cxnSpLocks/>
              </p:cNvCxnSpPr>
              <p:nvPr/>
            </p:nvCxnSpPr>
            <p:spPr>
              <a:xfrm flipH="1">
                <a:off x="168545" y="5508171"/>
                <a:ext cx="1202078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sp>
          <p:nvSpPr>
            <p:cNvPr id="71" name="TextBox 70">
              <a:extLst>
                <a:ext uri="{FF2B5EF4-FFF2-40B4-BE49-F238E27FC236}">
                  <a16:creationId xmlns:a16="http://schemas.microsoft.com/office/drawing/2014/main" id="{D03E6388-8F32-D885-7D01-F0D2E5BAEC73}"/>
                </a:ext>
              </a:extLst>
            </p:cNvPr>
            <p:cNvSpPr txBox="1"/>
            <p:nvPr/>
          </p:nvSpPr>
          <p:spPr>
            <a:xfrm>
              <a:off x="135547" y="4924675"/>
              <a:ext cx="923291" cy="276999"/>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Fira Sans" panose="020B0503050000020004" pitchFamily="34" charset="0"/>
                  <a:ea typeface="+mn-ea"/>
                  <a:cs typeface="+mn-cs"/>
                </a:rPr>
                <a:t>LZ Design</a:t>
              </a:r>
            </a:p>
          </p:txBody>
        </p:sp>
        <p:sp>
          <p:nvSpPr>
            <p:cNvPr id="72" name="TextBox 71">
              <a:extLst>
                <a:ext uri="{FF2B5EF4-FFF2-40B4-BE49-F238E27FC236}">
                  <a16:creationId xmlns:a16="http://schemas.microsoft.com/office/drawing/2014/main" id="{DF63743E-E8B4-EAC8-DFBC-5168E187AEDA}"/>
                </a:ext>
              </a:extLst>
            </p:cNvPr>
            <p:cNvSpPr txBox="1"/>
            <p:nvPr/>
          </p:nvSpPr>
          <p:spPr>
            <a:xfrm>
              <a:off x="101364" y="5583836"/>
              <a:ext cx="923291" cy="646331"/>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Fira Sans" panose="020B0503050000020004" pitchFamily="34" charset="0"/>
                  <a:ea typeface="+mn-ea"/>
                  <a:cs typeface="+mn-cs"/>
                </a:rPr>
                <a:t>Business Case &amp; Playback</a:t>
              </a:r>
            </a:p>
          </p:txBody>
        </p:sp>
        <p:sp>
          <p:nvSpPr>
            <p:cNvPr id="107" name="Rectangle 106">
              <a:extLst>
                <a:ext uri="{FF2B5EF4-FFF2-40B4-BE49-F238E27FC236}">
                  <a16:creationId xmlns:a16="http://schemas.microsoft.com/office/drawing/2014/main" id="{16673F41-56F1-BFC6-FE95-4A6BFB5B88C2}"/>
                </a:ext>
              </a:extLst>
            </p:cNvPr>
            <p:cNvSpPr/>
            <p:nvPr/>
          </p:nvSpPr>
          <p:spPr>
            <a:xfrm>
              <a:off x="1067464" y="1293962"/>
              <a:ext cx="1360393" cy="18978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solidFill>
                  <a:effectLst/>
                  <a:uLnTx/>
                  <a:uFillTx/>
                  <a:latin typeface="Fira Sans" panose="020B0503050000020004" pitchFamily="34" charset="0"/>
                  <a:ea typeface="+mn-ea"/>
                  <a:cs typeface="+mn-cs"/>
                </a:rPr>
                <a:t>High level Project Plan</a:t>
              </a:r>
            </a:p>
          </p:txBody>
        </p:sp>
        <p:sp>
          <p:nvSpPr>
            <p:cNvPr id="108" name="Rectangle 107">
              <a:extLst>
                <a:ext uri="{FF2B5EF4-FFF2-40B4-BE49-F238E27FC236}">
                  <a16:creationId xmlns:a16="http://schemas.microsoft.com/office/drawing/2014/main" id="{D8658686-10CB-FA64-C6FE-1152842CD56C}"/>
                </a:ext>
              </a:extLst>
            </p:cNvPr>
            <p:cNvSpPr/>
            <p:nvPr/>
          </p:nvSpPr>
          <p:spPr>
            <a:xfrm>
              <a:off x="1063296" y="1682840"/>
              <a:ext cx="1360393" cy="18978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solidFill>
                  <a:effectLst/>
                  <a:uLnTx/>
                  <a:uFillTx/>
                  <a:latin typeface="Fira Sans" panose="020B0503050000020004" pitchFamily="34" charset="0"/>
                  <a:ea typeface="+mn-ea"/>
                  <a:cs typeface="+mn-cs"/>
                </a:rPr>
                <a:t>Workshop Calendar</a:t>
              </a:r>
            </a:p>
          </p:txBody>
        </p:sp>
        <p:sp>
          <p:nvSpPr>
            <p:cNvPr id="109" name="Rectangle 108">
              <a:extLst>
                <a:ext uri="{FF2B5EF4-FFF2-40B4-BE49-F238E27FC236}">
                  <a16:creationId xmlns:a16="http://schemas.microsoft.com/office/drawing/2014/main" id="{5193F5CD-5BB6-F280-234A-D1E4A7F1D811}"/>
                </a:ext>
              </a:extLst>
            </p:cNvPr>
            <p:cNvSpPr/>
            <p:nvPr/>
          </p:nvSpPr>
          <p:spPr>
            <a:xfrm>
              <a:off x="1613871" y="2173991"/>
              <a:ext cx="839022" cy="244595"/>
            </a:xfrm>
            <a:prstGeom prst="rect">
              <a:avLst/>
            </a:prstGeom>
            <a:solidFill>
              <a:srgbClr val="E97A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solidFill>
                  <a:effectLst/>
                  <a:uLnTx/>
                  <a:uFillTx/>
                  <a:latin typeface="Fira Sans" panose="020B0503050000020004" pitchFamily="34" charset="0"/>
                  <a:ea typeface="+mn-ea"/>
                  <a:cs typeface="+mn-cs"/>
                </a:rPr>
                <a:t>Scope Confirmation</a:t>
              </a:r>
            </a:p>
          </p:txBody>
        </p:sp>
        <p:sp>
          <p:nvSpPr>
            <p:cNvPr id="111" name="Rectangle 110">
              <a:extLst>
                <a:ext uri="{FF2B5EF4-FFF2-40B4-BE49-F238E27FC236}">
                  <a16:creationId xmlns:a16="http://schemas.microsoft.com/office/drawing/2014/main" id="{6DCE0ACC-7304-FB31-BC82-41DA371122EE}"/>
                </a:ext>
              </a:extLst>
            </p:cNvPr>
            <p:cNvSpPr/>
            <p:nvPr/>
          </p:nvSpPr>
          <p:spPr>
            <a:xfrm>
              <a:off x="2180410" y="2490342"/>
              <a:ext cx="2995632" cy="183646"/>
            </a:xfrm>
            <a:prstGeom prst="rect">
              <a:avLst/>
            </a:prstGeom>
            <a:solidFill>
              <a:srgbClr val="E97A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solidFill>
                  <a:effectLst/>
                  <a:uLnTx/>
                  <a:uFillTx/>
                  <a:latin typeface="Fira Sans" panose="020B0503050000020004" pitchFamily="34" charset="0"/>
                  <a:ea typeface="+mn-ea"/>
                  <a:cs typeface="+mn-cs"/>
                </a:rPr>
                <a:t>Application Portfolio Scoping and Profiling Workshops</a:t>
              </a:r>
            </a:p>
          </p:txBody>
        </p:sp>
        <p:sp>
          <p:nvSpPr>
            <p:cNvPr id="112" name="Rectangle 111">
              <a:extLst>
                <a:ext uri="{FF2B5EF4-FFF2-40B4-BE49-F238E27FC236}">
                  <a16:creationId xmlns:a16="http://schemas.microsoft.com/office/drawing/2014/main" id="{1D1DDF5E-BD58-29B4-0E8B-6FA336C234B0}"/>
                </a:ext>
              </a:extLst>
            </p:cNvPr>
            <p:cNvSpPr/>
            <p:nvPr/>
          </p:nvSpPr>
          <p:spPr>
            <a:xfrm>
              <a:off x="4663795" y="2750222"/>
              <a:ext cx="1926953" cy="183646"/>
            </a:xfrm>
            <a:prstGeom prst="rect">
              <a:avLst/>
            </a:prstGeom>
            <a:solidFill>
              <a:srgbClr val="E97A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solidFill>
                  <a:effectLst/>
                  <a:uLnTx/>
                  <a:uFillTx/>
                  <a:latin typeface="Fira Sans" panose="020B0503050000020004" pitchFamily="34" charset="0"/>
                  <a:ea typeface="+mn-ea"/>
                  <a:cs typeface="+mn-cs"/>
                </a:rPr>
                <a:t>Migration Strategy and Release Plan </a:t>
              </a:r>
            </a:p>
          </p:txBody>
        </p:sp>
        <p:sp>
          <p:nvSpPr>
            <p:cNvPr id="113" name="Rectangle 112">
              <a:extLst>
                <a:ext uri="{FF2B5EF4-FFF2-40B4-BE49-F238E27FC236}">
                  <a16:creationId xmlns:a16="http://schemas.microsoft.com/office/drawing/2014/main" id="{8B6F9F95-90A6-BB8D-39BB-E9D96974AEB0}"/>
                </a:ext>
              </a:extLst>
            </p:cNvPr>
            <p:cNvSpPr/>
            <p:nvPr/>
          </p:nvSpPr>
          <p:spPr>
            <a:xfrm>
              <a:off x="1895318" y="3297846"/>
              <a:ext cx="5260194" cy="183646"/>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solidFill>
                  <a:effectLst/>
                  <a:uLnTx/>
                  <a:uFillTx/>
                  <a:latin typeface="Fira Sans" panose="020B0503050000020004" pitchFamily="34" charset="0"/>
                  <a:ea typeface="+mn-ea"/>
                  <a:cs typeface="+mn-cs"/>
                </a:rPr>
                <a:t>Tool Based Discovery</a:t>
              </a:r>
            </a:p>
          </p:txBody>
        </p:sp>
        <p:sp>
          <p:nvSpPr>
            <p:cNvPr id="114" name="Rectangle 113">
              <a:extLst>
                <a:ext uri="{FF2B5EF4-FFF2-40B4-BE49-F238E27FC236}">
                  <a16:creationId xmlns:a16="http://schemas.microsoft.com/office/drawing/2014/main" id="{D3FE234B-9788-4E6A-BB98-3CDE3DCE13EF}"/>
                </a:ext>
              </a:extLst>
            </p:cNvPr>
            <p:cNvSpPr/>
            <p:nvPr/>
          </p:nvSpPr>
          <p:spPr>
            <a:xfrm>
              <a:off x="1888740" y="3976713"/>
              <a:ext cx="2758988" cy="183646"/>
            </a:xfrm>
            <a:prstGeom prst="rect">
              <a:avLst/>
            </a:prstGeom>
            <a:solidFill>
              <a:srgbClr val="008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solidFill>
                  <a:effectLst/>
                  <a:uLnTx/>
                  <a:uFillTx/>
                  <a:latin typeface="Fira Sans" panose="020B0503050000020004" pitchFamily="34" charset="0"/>
                  <a:ea typeface="+mn-ea"/>
                  <a:cs typeface="+mn-cs"/>
                </a:rPr>
                <a:t>MRA / Smart Assessment Workshops</a:t>
              </a:r>
            </a:p>
          </p:txBody>
        </p:sp>
        <p:sp>
          <p:nvSpPr>
            <p:cNvPr id="115" name="Rectangle 114">
              <a:extLst>
                <a:ext uri="{FF2B5EF4-FFF2-40B4-BE49-F238E27FC236}">
                  <a16:creationId xmlns:a16="http://schemas.microsoft.com/office/drawing/2014/main" id="{A18BA5D7-FFDE-7553-B043-CEE6104058AE}"/>
                </a:ext>
              </a:extLst>
            </p:cNvPr>
            <p:cNvSpPr/>
            <p:nvPr/>
          </p:nvSpPr>
          <p:spPr>
            <a:xfrm>
              <a:off x="4659508" y="4741029"/>
              <a:ext cx="1651601" cy="18364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solidFill>
                  <a:effectLst/>
                  <a:uLnTx/>
                  <a:uFillTx/>
                  <a:latin typeface="Fira Sans" panose="020B0503050000020004" pitchFamily="34" charset="0"/>
                  <a:ea typeface="+mn-ea"/>
                  <a:cs typeface="+mn-cs"/>
                </a:rPr>
                <a:t>LZ Design Workshops</a:t>
              </a:r>
            </a:p>
          </p:txBody>
        </p:sp>
        <p:sp>
          <p:nvSpPr>
            <p:cNvPr id="116" name="Rectangle 115">
              <a:extLst>
                <a:ext uri="{FF2B5EF4-FFF2-40B4-BE49-F238E27FC236}">
                  <a16:creationId xmlns:a16="http://schemas.microsoft.com/office/drawing/2014/main" id="{668FE757-C50D-C4E0-6987-9C6ABA1E677C}"/>
                </a:ext>
              </a:extLst>
            </p:cNvPr>
            <p:cNvSpPr/>
            <p:nvPr/>
          </p:nvSpPr>
          <p:spPr>
            <a:xfrm>
              <a:off x="6298589" y="5052279"/>
              <a:ext cx="1686165" cy="18364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solidFill>
                  <a:effectLst/>
                  <a:uLnTx/>
                  <a:uFillTx/>
                  <a:latin typeface="Fira Sans" panose="020B0503050000020004" pitchFamily="34" charset="0"/>
                  <a:ea typeface="+mn-ea"/>
                  <a:cs typeface="+mn-cs"/>
                </a:rPr>
                <a:t>LZ High Level Design</a:t>
              </a:r>
            </a:p>
          </p:txBody>
        </p:sp>
        <p:sp>
          <p:nvSpPr>
            <p:cNvPr id="117" name="Rectangle 116">
              <a:extLst>
                <a:ext uri="{FF2B5EF4-FFF2-40B4-BE49-F238E27FC236}">
                  <a16:creationId xmlns:a16="http://schemas.microsoft.com/office/drawing/2014/main" id="{01D1E9A0-588C-577C-B2A3-97CD58C13E30}"/>
                </a:ext>
              </a:extLst>
            </p:cNvPr>
            <p:cNvSpPr/>
            <p:nvPr/>
          </p:nvSpPr>
          <p:spPr>
            <a:xfrm>
              <a:off x="3816163" y="5515955"/>
              <a:ext cx="1359759" cy="243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solidFill>
                  <a:effectLst/>
                  <a:uLnTx/>
                  <a:uFillTx/>
                  <a:latin typeface="Fira Sans" panose="020B0503050000020004" pitchFamily="34" charset="0"/>
                  <a:ea typeface="+mn-ea"/>
                  <a:cs typeface="+mn-cs"/>
                </a:rPr>
                <a:t>Business Case Workshops (Optional)</a:t>
              </a:r>
            </a:p>
          </p:txBody>
        </p:sp>
        <p:sp>
          <p:nvSpPr>
            <p:cNvPr id="118" name="Rectangle 117">
              <a:extLst>
                <a:ext uri="{FF2B5EF4-FFF2-40B4-BE49-F238E27FC236}">
                  <a16:creationId xmlns:a16="http://schemas.microsoft.com/office/drawing/2014/main" id="{AF3E4A82-879D-56A1-739B-B8A6C600A60C}"/>
                </a:ext>
              </a:extLst>
            </p:cNvPr>
            <p:cNvSpPr/>
            <p:nvPr/>
          </p:nvSpPr>
          <p:spPr>
            <a:xfrm>
              <a:off x="5163265" y="5824523"/>
              <a:ext cx="2823454" cy="18364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solidFill>
                  <a:effectLst/>
                  <a:uLnTx/>
                  <a:uFillTx/>
                  <a:latin typeface="Fira Sans" panose="020B0503050000020004" pitchFamily="34" charset="0"/>
                  <a:ea typeface="+mn-ea"/>
                  <a:cs typeface="+mn-cs"/>
                </a:rPr>
                <a:t>Business Case Prep and Build</a:t>
              </a:r>
            </a:p>
          </p:txBody>
        </p:sp>
        <p:sp>
          <p:nvSpPr>
            <p:cNvPr id="119" name="Rectangle 118">
              <a:extLst>
                <a:ext uri="{FF2B5EF4-FFF2-40B4-BE49-F238E27FC236}">
                  <a16:creationId xmlns:a16="http://schemas.microsoft.com/office/drawing/2014/main" id="{29F2EA2B-FA1A-7FD3-9EEF-280EBD8F8767}"/>
                </a:ext>
              </a:extLst>
            </p:cNvPr>
            <p:cNvSpPr/>
            <p:nvPr/>
          </p:nvSpPr>
          <p:spPr>
            <a:xfrm>
              <a:off x="7145780" y="6095992"/>
              <a:ext cx="2227490" cy="18364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solidFill>
                  <a:effectLst/>
                  <a:uLnTx/>
                  <a:uFillTx/>
                  <a:latin typeface="Fira Sans" panose="020B0503050000020004" pitchFamily="34" charset="0"/>
                  <a:ea typeface="+mn-ea"/>
                  <a:cs typeface="+mn-cs"/>
                </a:rPr>
                <a:t>Project Playback Build &amp; Showcase</a:t>
              </a:r>
            </a:p>
          </p:txBody>
        </p:sp>
        <p:sp>
          <p:nvSpPr>
            <p:cNvPr id="120" name="Rectangle 119">
              <a:extLst>
                <a:ext uri="{FF2B5EF4-FFF2-40B4-BE49-F238E27FC236}">
                  <a16:creationId xmlns:a16="http://schemas.microsoft.com/office/drawing/2014/main" id="{A9A1A88A-8859-F6B7-B9DA-654518ED8ADE}"/>
                </a:ext>
              </a:extLst>
            </p:cNvPr>
            <p:cNvSpPr/>
            <p:nvPr/>
          </p:nvSpPr>
          <p:spPr>
            <a:xfrm>
              <a:off x="4654509" y="4342734"/>
              <a:ext cx="2779067" cy="171487"/>
            </a:xfrm>
            <a:prstGeom prst="rect">
              <a:avLst/>
            </a:prstGeom>
            <a:solidFill>
              <a:srgbClr val="008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solidFill>
                  <a:effectLst/>
                  <a:uLnTx/>
                  <a:uFillTx/>
                  <a:latin typeface="Fira Sans" panose="020B0503050000020004" pitchFamily="34" charset="0"/>
                  <a:ea typeface="+mn-ea"/>
                  <a:cs typeface="+mn-cs"/>
                </a:rPr>
                <a:t>MRA Playback Build &amp; Showcase*</a:t>
              </a:r>
            </a:p>
          </p:txBody>
        </p:sp>
        <p:sp>
          <p:nvSpPr>
            <p:cNvPr id="121" name="TextBox 120">
              <a:extLst>
                <a:ext uri="{FF2B5EF4-FFF2-40B4-BE49-F238E27FC236}">
                  <a16:creationId xmlns:a16="http://schemas.microsoft.com/office/drawing/2014/main" id="{96C1AC09-C5E0-C7A9-7393-0A7E2DC55764}"/>
                </a:ext>
              </a:extLst>
            </p:cNvPr>
            <p:cNvSpPr txBox="1"/>
            <p:nvPr/>
          </p:nvSpPr>
          <p:spPr>
            <a:xfrm>
              <a:off x="7369885" y="4270079"/>
              <a:ext cx="2294218" cy="230832"/>
            </a:xfrm>
            <a:prstGeom prst="rect">
              <a:avLst/>
            </a:prstGeom>
            <a:noFill/>
          </p:spPr>
          <p:txBody>
            <a:bodyPr wrap="non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*Can be combined with Project Playback</a:t>
              </a:r>
            </a:p>
          </p:txBody>
        </p:sp>
      </p:grpSp>
    </p:spTree>
    <p:extLst>
      <p:ext uri="{BB962C8B-B14F-4D97-AF65-F5344CB8AC3E}">
        <p14:creationId xmlns:p14="http://schemas.microsoft.com/office/powerpoint/2010/main" val="1867109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A0150D-1458-9022-7AFC-7666917BFB76}"/>
              </a:ext>
            </a:extLst>
          </p:cNvPr>
          <p:cNvSpPr>
            <a:spLocks noGrp="1"/>
          </p:cNvSpPr>
          <p:nvPr>
            <p:ph type="body" sz="quarter" idx="12"/>
          </p:nvPr>
        </p:nvSpPr>
        <p:spPr>
          <a:xfrm>
            <a:off x="3194956" y="887840"/>
            <a:ext cx="8580120" cy="5393784"/>
          </a:xfrm>
        </p:spPr>
        <p:txBody>
          <a:bodyPr/>
          <a:lstStyle/>
          <a:p>
            <a:pPr marL="0" indent="0">
              <a:buNone/>
            </a:pPr>
            <a:r>
              <a:rPr lang="en-GB"/>
              <a:t>Prior to kick off an internal kick off should be carried out, utilise this kick off call to:</a:t>
            </a:r>
          </a:p>
          <a:p>
            <a:r>
              <a:rPr lang="en-GB"/>
              <a:t>Gain a better idea of the customer from the pre-sales team or customer success manager. </a:t>
            </a:r>
            <a:endParaRPr lang="en-GB" sz="800"/>
          </a:p>
          <a:p>
            <a:r>
              <a:rPr lang="en-GB"/>
              <a:t>Ensure all roles and responsibilities are clearly outlined and each resource knows their part to play in the assessment.</a:t>
            </a:r>
          </a:p>
          <a:p>
            <a:pPr marL="0" indent="0">
              <a:buNone/>
            </a:pPr>
            <a:endParaRPr lang="en-GB" sz="100"/>
          </a:p>
          <a:p>
            <a:r>
              <a:rPr lang="en-GB"/>
              <a:t>Share information about the customer between resources, this could include an application list that has already been sent by the customer, any concerns from the customer, any issues the team feels they’ll face. </a:t>
            </a:r>
          </a:p>
          <a:p>
            <a:pPr marL="0" indent="0">
              <a:buNone/>
            </a:pPr>
            <a:endParaRPr lang="en-GB" sz="100"/>
          </a:p>
          <a:p>
            <a:r>
              <a:rPr lang="en-GB"/>
              <a:t>Decide (and if possible deploy) the tooling of choice (this will be usually </a:t>
            </a:r>
            <a:r>
              <a:rPr lang="en-GB" err="1"/>
              <a:t>Dr.Migrate</a:t>
            </a:r>
            <a:r>
              <a:rPr lang="en-GB"/>
              <a:t>)</a:t>
            </a:r>
          </a:p>
          <a:p>
            <a:pPr marL="0" indent="0">
              <a:buNone/>
            </a:pPr>
            <a:endParaRPr lang="en-GB" sz="100">
              <a:solidFill>
                <a:schemeClr val="bg2"/>
              </a:solidFill>
            </a:endParaRPr>
          </a:p>
          <a:p>
            <a:r>
              <a:rPr lang="en-GB"/>
              <a:t>Share Workshop Guidelines, respective teams may have different templates or workshop plans, be sure to check internally if you are unsure how workshops should be structured. </a:t>
            </a:r>
          </a:p>
          <a:p>
            <a:r>
              <a:rPr lang="en-GB"/>
              <a:t>Plan the customer kick off deck and date. Ensure there’s enough time for all teams to be happy with the deck that will be presented to the customer. </a:t>
            </a:r>
          </a:p>
        </p:txBody>
      </p:sp>
      <p:sp>
        <p:nvSpPr>
          <p:cNvPr id="4" name="Title 3">
            <a:extLst>
              <a:ext uri="{FF2B5EF4-FFF2-40B4-BE49-F238E27FC236}">
                <a16:creationId xmlns:a16="http://schemas.microsoft.com/office/drawing/2014/main" id="{69E33631-D873-0182-C36F-BA4E203A3C53}"/>
              </a:ext>
            </a:extLst>
          </p:cNvPr>
          <p:cNvSpPr>
            <a:spLocks noGrp="1"/>
          </p:cNvSpPr>
          <p:nvPr>
            <p:ph type="title"/>
          </p:nvPr>
        </p:nvSpPr>
        <p:spPr>
          <a:xfrm>
            <a:off x="334497" y="268589"/>
            <a:ext cx="2620793" cy="1023678"/>
          </a:xfrm>
        </p:spPr>
        <p:txBody>
          <a:bodyPr/>
          <a:lstStyle/>
          <a:p>
            <a:r>
              <a:rPr lang="en-GB"/>
              <a:t>Pre-Engage / Pre-Kick Off</a:t>
            </a:r>
          </a:p>
        </p:txBody>
      </p:sp>
      <p:sp>
        <p:nvSpPr>
          <p:cNvPr id="5" name="Slide Number Placeholder 4">
            <a:extLst>
              <a:ext uri="{FF2B5EF4-FFF2-40B4-BE49-F238E27FC236}">
                <a16:creationId xmlns:a16="http://schemas.microsoft.com/office/drawing/2014/main" id="{7751E08B-33A7-6D7C-2CD5-D1747D1F3775}"/>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13</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grpSp>
        <p:nvGrpSpPr>
          <p:cNvPr id="6" name="Group 5">
            <a:extLst>
              <a:ext uri="{FF2B5EF4-FFF2-40B4-BE49-F238E27FC236}">
                <a16:creationId xmlns:a16="http://schemas.microsoft.com/office/drawing/2014/main" id="{A75590D7-D653-2C59-9F11-3AD04F212FC3}"/>
              </a:ext>
            </a:extLst>
          </p:cNvPr>
          <p:cNvGrpSpPr>
            <a:grpSpLocks noChangeAspect="1"/>
          </p:cNvGrpSpPr>
          <p:nvPr/>
        </p:nvGrpSpPr>
        <p:grpSpPr>
          <a:xfrm>
            <a:off x="2623299" y="2959557"/>
            <a:ext cx="497091" cy="497091"/>
            <a:chOff x="5370513" y="1992313"/>
            <a:chExt cx="628650" cy="628650"/>
          </a:xfrm>
        </p:grpSpPr>
        <p:sp>
          <p:nvSpPr>
            <p:cNvPr id="7" name="Freeform 20">
              <a:extLst>
                <a:ext uri="{FF2B5EF4-FFF2-40B4-BE49-F238E27FC236}">
                  <a16:creationId xmlns:a16="http://schemas.microsoft.com/office/drawing/2014/main" id="{6FD1EE2C-CD8F-820A-1EA4-FC4AB1C1CA19}"/>
                </a:ext>
              </a:extLst>
            </p:cNvPr>
            <p:cNvSpPr>
              <a:spLocks noChangeArrowheads="1"/>
            </p:cNvSpPr>
            <p:nvPr/>
          </p:nvSpPr>
          <p:spPr bwMode="auto">
            <a:xfrm>
              <a:off x="5370513" y="1992313"/>
              <a:ext cx="628650" cy="628650"/>
            </a:xfrm>
            <a:custGeom>
              <a:avLst/>
              <a:gdLst>
                <a:gd name="T0" fmla="*/ 1468 w 1751"/>
                <a:gd name="T1" fmla="*/ 1750 h 1751"/>
                <a:gd name="T2" fmla="*/ 1750 w 1751"/>
                <a:gd name="T3" fmla="*/ 1468 h 1751"/>
                <a:gd name="T4" fmla="*/ 1750 w 1751"/>
                <a:gd name="T5" fmla="*/ 282 h 1751"/>
                <a:gd name="T6" fmla="*/ 1468 w 1751"/>
                <a:gd name="T7" fmla="*/ 0 h 1751"/>
                <a:gd name="T8" fmla="*/ 282 w 1751"/>
                <a:gd name="T9" fmla="*/ 0 h 1751"/>
                <a:gd name="T10" fmla="*/ 0 w 1751"/>
                <a:gd name="T11" fmla="*/ 282 h 1751"/>
                <a:gd name="T12" fmla="*/ 0 w 1751"/>
                <a:gd name="T13" fmla="*/ 1468 h 1751"/>
                <a:gd name="T14" fmla="*/ 282 w 1751"/>
                <a:gd name="T15" fmla="*/ 1750 h 1751"/>
                <a:gd name="T16" fmla="*/ 1468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8" y="1750"/>
                  </a:moveTo>
                  <a:cubicBezTo>
                    <a:pt x="1623" y="1750"/>
                    <a:pt x="1750" y="1623"/>
                    <a:pt x="1750" y="1468"/>
                  </a:cubicBezTo>
                  <a:cubicBezTo>
                    <a:pt x="1750" y="1072"/>
                    <a:pt x="1750" y="677"/>
                    <a:pt x="1750" y="282"/>
                  </a:cubicBezTo>
                  <a:cubicBezTo>
                    <a:pt x="1750" y="127"/>
                    <a:pt x="1623" y="0"/>
                    <a:pt x="1468" y="0"/>
                  </a:cubicBezTo>
                  <a:cubicBezTo>
                    <a:pt x="1072" y="0"/>
                    <a:pt x="677" y="0"/>
                    <a:pt x="282" y="0"/>
                  </a:cubicBezTo>
                  <a:cubicBezTo>
                    <a:pt x="127" y="0"/>
                    <a:pt x="0" y="127"/>
                    <a:pt x="0" y="282"/>
                  </a:cubicBezTo>
                  <a:cubicBezTo>
                    <a:pt x="0" y="677"/>
                    <a:pt x="0" y="1072"/>
                    <a:pt x="0" y="1468"/>
                  </a:cubicBezTo>
                  <a:cubicBezTo>
                    <a:pt x="0" y="1623"/>
                    <a:pt x="127" y="1750"/>
                    <a:pt x="282" y="1750"/>
                  </a:cubicBezTo>
                  <a:cubicBezTo>
                    <a:pt x="677" y="1750"/>
                    <a:pt x="1072" y="1750"/>
                    <a:pt x="1468" y="175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nvGrpSpPr>
            <p:cNvPr id="8" name="Group 7">
              <a:extLst>
                <a:ext uri="{FF2B5EF4-FFF2-40B4-BE49-F238E27FC236}">
                  <a16:creationId xmlns:a16="http://schemas.microsoft.com/office/drawing/2014/main" id="{4F1BA2D9-6A3F-1794-02A2-97D7059AAC5E}"/>
                </a:ext>
              </a:extLst>
            </p:cNvPr>
            <p:cNvGrpSpPr/>
            <p:nvPr/>
          </p:nvGrpSpPr>
          <p:grpSpPr>
            <a:xfrm>
              <a:off x="5465763" y="2103438"/>
              <a:ext cx="439738" cy="404813"/>
              <a:chOff x="5465763" y="2103438"/>
              <a:chExt cx="439738" cy="404813"/>
            </a:xfrm>
          </p:grpSpPr>
          <p:sp>
            <p:nvSpPr>
              <p:cNvPr id="9" name="Freeform 21">
                <a:extLst>
                  <a:ext uri="{FF2B5EF4-FFF2-40B4-BE49-F238E27FC236}">
                    <a16:creationId xmlns:a16="http://schemas.microsoft.com/office/drawing/2014/main" id="{DF2A28F9-D19B-9BA1-C9A8-A265788A05A2}"/>
                  </a:ext>
                </a:extLst>
              </p:cNvPr>
              <p:cNvSpPr>
                <a:spLocks noChangeArrowheads="1"/>
              </p:cNvSpPr>
              <p:nvPr/>
            </p:nvSpPr>
            <p:spPr bwMode="auto">
              <a:xfrm>
                <a:off x="5510213" y="2406651"/>
                <a:ext cx="106363" cy="61913"/>
              </a:xfrm>
              <a:custGeom>
                <a:avLst/>
                <a:gdLst>
                  <a:gd name="T0" fmla="*/ 299 w 300"/>
                  <a:gd name="T1" fmla="*/ 101 h 177"/>
                  <a:gd name="T2" fmla="*/ 167 w 300"/>
                  <a:gd name="T3" fmla="*/ 176 h 177"/>
                  <a:gd name="T4" fmla="*/ 13 w 300"/>
                  <a:gd name="T5" fmla="*/ 0 h 177"/>
                </a:gdLst>
                <a:ahLst/>
                <a:cxnLst>
                  <a:cxn ang="0">
                    <a:pos x="T0" y="T1"/>
                  </a:cxn>
                  <a:cxn ang="0">
                    <a:pos x="T2" y="T3"/>
                  </a:cxn>
                  <a:cxn ang="0">
                    <a:pos x="T4" y="T5"/>
                  </a:cxn>
                </a:cxnLst>
                <a:rect l="0" t="0" r="r" b="b"/>
                <a:pathLst>
                  <a:path w="300" h="177">
                    <a:moveTo>
                      <a:pt x="299" y="101"/>
                    </a:moveTo>
                    <a:cubicBezTo>
                      <a:pt x="272" y="146"/>
                      <a:pt x="222" y="176"/>
                      <a:pt x="167" y="176"/>
                    </a:cubicBezTo>
                    <a:cubicBezTo>
                      <a:pt x="73" y="176"/>
                      <a:pt x="0" y="93"/>
                      <a:pt x="13"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 name="Freeform 22">
                <a:extLst>
                  <a:ext uri="{FF2B5EF4-FFF2-40B4-BE49-F238E27FC236}">
                    <a16:creationId xmlns:a16="http://schemas.microsoft.com/office/drawing/2014/main" id="{30019038-11A3-E850-459C-164A0B764025}"/>
                  </a:ext>
                </a:extLst>
              </p:cNvPr>
              <p:cNvSpPr>
                <a:spLocks noChangeArrowheads="1"/>
              </p:cNvSpPr>
              <p:nvPr/>
            </p:nvSpPr>
            <p:spPr bwMode="auto">
              <a:xfrm>
                <a:off x="5483226" y="2314576"/>
                <a:ext cx="77788" cy="93663"/>
              </a:xfrm>
              <a:custGeom>
                <a:avLst/>
                <a:gdLst>
                  <a:gd name="T0" fmla="*/ 218 w 219"/>
                  <a:gd name="T1" fmla="*/ 223 h 263"/>
                  <a:gd name="T2" fmla="*/ 127 w 219"/>
                  <a:gd name="T3" fmla="*/ 262 h 263"/>
                  <a:gd name="T4" fmla="*/ 0 w 219"/>
                  <a:gd name="T5" fmla="*/ 135 h 263"/>
                  <a:gd name="T6" fmla="*/ 142 w 219"/>
                  <a:gd name="T7" fmla="*/ 9 h 263"/>
                </a:gdLst>
                <a:ahLst/>
                <a:cxnLst>
                  <a:cxn ang="0">
                    <a:pos x="T0" y="T1"/>
                  </a:cxn>
                  <a:cxn ang="0">
                    <a:pos x="T2" y="T3"/>
                  </a:cxn>
                  <a:cxn ang="0">
                    <a:pos x="T4" y="T5"/>
                  </a:cxn>
                  <a:cxn ang="0">
                    <a:pos x="T6" y="T7"/>
                  </a:cxn>
                </a:cxnLst>
                <a:rect l="0" t="0" r="r" b="b"/>
                <a:pathLst>
                  <a:path w="219" h="263">
                    <a:moveTo>
                      <a:pt x="218" y="223"/>
                    </a:moveTo>
                    <a:cubicBezTo>
                      <a:pt x="195" y="247"/>
                      <a:pt x="162" y="262"/>
                      <a:pt x="127" y="262"/>
                    </a:cubicBezTo>
                    <a:cubicBezTo>
                      <a:pt x="57" y="262"/>
                      <a:pt x="0" y="205"/>
                      <a:pt x="0" y="135"/>
                    </a:cubicBezTo>
                    <a:cubicBezTo>
                      <a:pt x="0" y="60"/>
                      <a:pt x="66" y="0"/>
                      <a:pt x="142" y="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 name="Freeform 23">
                <a:extLst>
                  <a:ext uri="{FF2B5EF4-FFF2-40B4-BE49-F238E27FC236}">
                    <a16:creationId xmlns:a16="http://schemas.microsoft.com/office/drawing/2014/main" id="{BDFD4B7D-83C2-FBA3-B4D2-CF8AA221F9A7}"/>
                  </a:ext>
                </a:extLst>
              </p:cNvPr>
              <p:cNvSpPr>
                <a:spLocks noChangeArrowheads="1"/>
              </p:cNvSpPr>
              <p:nvPr/>
            </p:nvSpPr>
            <p:spPr bwMode="auto">
              <a:xfrm>
                <a:off x="5568951" y="2103438"/>
                <a:ext cx="115888" cy="404813"/>
              </a:xfrm>
              <a:custGeom>
                <a:avLst/>
                <a:gdLst>
                  <a:gd name="T0" fmla="*/ 79 w 328"/>
                  <a:gd name="T1" fmla="*/ 89 h 1129"/>
                  <a:gd name="T2" fmla="*/ 200 w 328"/>
                  <a:gd name="T3" fmla="*/ 0 h 1129"/>
                  <a:gd name="T4" fmla="*/ 327 w 328"/>
                  <a:gd name="T5" fmla="*/ 127 h 1129"/>
                  <a:gd name="T6" fmla="*/ 327 w 328"/>
                  <a:gd name="T7" fmla="*/ 987 h 1129"/>
                  <a:gd name="T8" fmla="*/ 160 w 328"/>
                  <a:gd name="T9" fmla="*/ 1128 h 1129"/>
                  <a:gd name="T10" fmla="*/ 0 w 328"/>
                  <a:gd name="T11" fmla="*/ 1016 h 1129"/>
                </a:gdLst>
                <a:ahLst/>
                <a:cxnLst>
                  <a:cxn ang="0">
                    <a:pos x="T0" y="T1"/>
                  </a:cxn>
                  <a:cxn ang="0">
                    <a:pos x="T2" y="T3"/>
                  </a:cxn>
                  <a:cxn ang="0">
                    <a:pos x="T4" y="T5"/>
                  </a:cxn>
                  <a:cxn ang="0">
                    <a:pos x="T6" y="T7"/>
                  </a:cxn>
                  <a:cxn ang="0">
                    <a:pos x="T8" y="T9"/>
                  </a:cxn>
                  <a:cxn ang="0">
                    <a:pos x="T10" y="T11"/>
                  </a:cxn>
                </a:cxnLst>
                <a:rect l="0" t="0" r="r" b="b"/>
                <a:pathLst>
                  <a:path w="328" h="1129">
                    <a:moveTo>
                      <a:pt x="79" y="89"/>
                    </a:moveTo>
                    <a:cubicBezTo>
                      <a:pt x="95" y="37"/>
                      <a:pt x="143" y="0"/>
                      <a:pt x="200" y="0"/>
                    </a:cubicBezTo>
                    <a:cubicBezTo>
                      <a:pt x="270" y="0"/>
                      <a:pt x="327" y="57"/>
                      <a:pt x="327" y="127"/>
                    </a:cubicBezTo>
                    <a:cubicBezTo>
                      <a:pt x="327" y="413"/>
                      <a:pt x="327" y="700"/>
                      <a:pt x="327" y="987"/>
                    </a:cubicBezTo>
                    <a:cubicBezTo>
                      <a:pt x="314" y="1067"/>
                      <a:pt x="244" y="1128"/>
                      <a:pt x="160" y="1128"/>
                    </a:cubicBezTo>
                    <a:cubicBezTo>
                      <a:pt x="87" y="1128"/>
                      <a:pt x="24" y="1081"/>
                      <a:pt x="0" y="1016"/>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 name="Freeform 24">
                <a:extLst>
                  <a:ext uri="{FF2B5EF4-FFF2-40B4-BE49-F238E27FC236}">
                    <a16:creationId xmlns:a16="http://schemas.microsoft.com/office/drawing/2014/main" id="{B2D7915D-768A-3A2C-B254-3A15C5DDCBE6}"/>
                  </a:ext>
                </a:extLst>
              </p:cNvPr>
              <p:cNvSpPr>
                <a:spLocks noChangeArrowheads="1"/>
              </p:cNvSpPr>
              <p:nvPr/>
            </p:nvSpPr>
            <p:spPr bwMode="auto">
              <a:xfrm>
                <a:off x="5530851" y="2133601"/>
                <a:ext cx="93663" cy="55563"/>
              </a:xfrm>
              <a:custGeom>
                <a:avLst/>
                <a:gdLst>
                  <a:gd name="T0" fmla="*/ 9 w 263"/>
                  <a:gd name="T1" fmla="*/ 156 h 157"/>
                  <a:gd name="T2" fmla="*/ 149 w 263"/>
                  <a:gd name="T3" fmla="*/ 0 h 157"/>
                  <a:gd name="T4" fmla="*/ 262 w 263"/>
                  <a:gd name="T5" fmla="*/ 57 h 157"/>
                </a:gdLst>
                <a:ahLst/>
                <a:cxnLst>
                  <a:cxn ang="0">
                    <a:pos x="T0" y="T1"/>
                  </a:cxn>
                  <a:cxn ang="0">
                    <a:pos x="T2" y="T3"/>
                  </a:cxn>
                  <a:cxn ang="0">
                    <a:pos x="T4" y="T5"/>
                  </a:cxn>
                </a:cxnLst>
                <a:rect l="0" t="0" r="r" b="b"/>
                <a:pathLst>
                  <a:path w="263" h="157">
                    <a:moveTo>
                      <a:pt x="9" y="156"/>
                    </a:moveTo>
                    <a:cubicBezTo>
                      <a:pt x="0" y="73"/>
                      <a:pt x="66" y="0"/>
                      <a:pt x="149" y="0"/>
                    </a:cubicBezTo>
                    <a:cubicBezTo>
                      <a:pt x="195" y="0"/>
                      <a:pt x="236" y="23"/>
                      <a:pt x="262" y="5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3" name="Freeform 25">
                <a:extLst>
                  <a:ext uri="{FF2B5EF4-FFF2-40B4-BE49-F238E27FC236}">
                    <a16:creationId xmlns:a16="http://schemas.microsoft.com/office/drawing/2014/main" id="{EF16A6B5-63D3-85CC-583C-65C01D3F6BF8}"/>
                  </a:ext>
                </a:extLst>
              </p:cNvPr>
              <p:cNvSpPr>
                <a:spLocks noChangeArrowheads="1"/>
              </p:cNvSpPr>
              <p:nvPr/>
            </p:nvSpPr>
            <p:spPr bwMode="auto">
              <a:xfrm>
                <a:off x="5487988" y="2173288"/>
                <a:ext cx="88900" cy="87313"/>
              </a:xfrm>
              <a:custGeom>
                <a:avLst/>
                <a:gdLst>
                  <a:gd name="T0" fmla="*/ 35 w 250"/>
                  <a:gd name="T1" fmla="*/ 244 h 245"/>
                  <a:gd name="T2" fmla="*/ 249 w 250"/>
                  <a:gd name="T3" fmla="*/ 39 h 245"/>
                </a:gdLst>
                <a:ahLst/>
                <a:cxnLst>
                  <a:cxn ang="0">
                    <a:pos x="T0" y="T1"/>
                  </a:cxn>
                  <a:cxn ang="0">
                    <a:pos x="T2" y="T3"/>
                  </a:cxn>
                </a:cxnLst>
                <a:rect l="0" t="0" r="r" b="b"/>
                <a:pathLst>
                  <a:path w="250" h="245">
                    <a:moveTo>
                      <a:pt x="35" y="244"/>
                    </a:moveTo>
                    <a:cubicBezTo>
                      <a:pt x="0" y="112"/>
                      <a:pt x="127" y="0"/>
                      <a:pt x="249" y="3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4" name="Freeform 26">
                <a:extLst>
                  <a:ext uri="{FF2B5EF4-FFF2-40B4-BE49-F238E27FC236}">
                    <a16:creationId xmlns:a16="http://schemas.microsoft.com/office/drawing/2014/main" id="{E25A641A-08CA-B661-11CA-E2E9B07646C4}"/>
                  </a:ext>
                </a:extLst>
              </p:cNvPr>
              <p:cNvSpPr>
                <a:spLocks noChangeArrowheads="1"/>
              </p:cNvSpPr>
              <p:nvPr/>
            </p:nvSpPr>
            <p:spPr bwMode="auto">
              <a:xfrm>
                <a:off x="5465763" y="2243138"/>
                <a:ext cx="74613" cy="88900"/>
              </a:xfrm>
              <a:custGeom>
                <a:avLst/>
                <a:gdLst>
                  <a:gd name="T0" fmla="*/ 75 w 210"/>
                  <a:gd name="T1" fmla="*/ 251 h 252"/>
                  <a:gd name="T2" fmla="*/ 209 w 210"/>
                  <a:gd name="T3" fmla="*/ 7 h 252"/>
                </a:gdLst>
                <a:ahLst/>
                <a:cxnLst>
                  <a:cxn ang="0">
                    <a:pos x="T0" y="T1"/>
                  </a:cxn>
                  <a:cxn ang="0">
                    <a:pos x="T2" y="T3"/>
                  </a:cxn>
                </a:cxnLst>
                <a:rect l="0" t="0" r="r" b="b"/>
                <a:pathLst>
                  <a:path w="210" h="252">
                    <a:moveTo>
                      <a:pt x="75" y="251"/>
                    </a:moveTo>
                    <a:cubicBezTo>
                      <a:pt x="0" y="146"/>
                      <a:pt x="82" y="0"/>
                      <a:pt x="209" y="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5" name="Freeform 27">
                <a:extLst>
                  <a:ext uri="{FF2B5EF4-FFF2-40B4-BE49-F238E27FC236}">
                    <a16:creationId xmlns:a16="http://schemas.microsoft.com/office/drawing/2014/main" id="{99E4EA8F-51FF-21E8-C946-8C99DD416D99}"/>
                  </a:ext>
                </a:extLst>
              </p:cNvPr>
              <p:cNvSpPr>
                <a:spLocks noChangeArrowheads="1"/>
              </p:cNvSpPr>
              <p:nvPr/>
            </p:nvSpPr>
            <p:spPr bwMode="auto">
              <a:xfrm>
                <a:off x="5754688" y="2406651"/>
                <a:ext cx="106363" cy="61913"/>
              </a:xfrm>
              <a:custGeom>
                <a:avLst/>
                <a:gdLst>
                  <a:gd name="T0" fmla="*/ 0 w 300"/>
                  <a:gd name="T1" fmla="*/ 101 h 177"/>
                  <a:gd name="T2" fmla="*/ 132 w 300"/>
                  <a:gd name="T3" fmla="*/ 176 h 177"/>
                  <a:gd name="T4" fmla="*/ 286 w 300"/>
                  <a:gd name="T5" fmla="*/ 0 h 177"/>
                </a:gdLst>
                <a:ahLst/>
                <a:cxnLst>
                  <a:cxn ang="0">
                    <a:pos x="T0" y="T1"/>
                  </a:cxn>
                  <a:cxn ang="0">
                    <a:pos x="T2" y="T3"/>
                  </a:cxn>
                  <a:cxn ang="0">
                    <a:pos x="T4" y="T5"/>
                  </a:cxn>
                </a:cxnLst>
                <a:rect l="0" t="0" r="r" b="b"/>
                <a:pathLst>
                  <a:path w="300" h="177">
                    <a:moveTo>
                      <a:pt x="0" y="101"/>
                    </a:moveTo>
                    <a:cubicBezTo>
                      <a:pt x="27" y="146"/>
                      <a:pt x="77" y="176"/>
                      <a:pt x="132" y="176"/>
                    </a:cubicBezTo>
                    <a:cubicBezTo>
                      <a:pt x="226" y="176"/>
                      <a:pt x="299" y="93"/>
                      <a:pt x="286"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6" name="Freeform 28">
                <a:extLst>
                  <a:ext uri="{FF2B5EF4-FFF2-40B4-BE49-F238E27FC236}">
                    <a16:creationId xmlns:a16="http://schemas.microsoft.com/office/drawing/2014/main" id="{9C247937-1CF1-89F1-E212-B07A02AEEA4D}"/>
                  </a:ext>
                </a:extLst>
              </p:cNvPr>
              <p:cNvSpPr>
                <a:spLocks noChangeArrowheads="1"/>
              </p:cNvSpPr>
              <p:nvPr/>
            </p:nvSpPr>
            <p:spPr bwMode="auto">
              <a:xfrm>
                <a:off x="5686426" y="2103438"/>
                <a:ext cx="87313" cy="44450"/>
              </a:xfrm>
              <a:custGeom>
                <a:avLst/>
                <a:gdLst>
                  <a:gd name="T0" fmla="*/ 248 w 249"/>
                  <a:gd name="T1" fmla="*/ 89 h 128"/>
                  <a:gd name="T2" fmla="*/ 127 w 249"/>
                  <a:gd name="T3" fmla="*/ 0 h 128"/>
                  <a:gd name="T4" fmla="*/ 0 w 249"/>
                  <a:gd name="T5" fmla="*/ 127 h 128"/>
                </a:gdLst>
                <a:ahLst/>
                <a:cxnLst>
                  <a:cxn ang="0">
                    <a:pos x="T0" y="T1"/>
                  </a:cxn>
                  <a:cxn ang="0">
                    <a:pos x="T2" y="T3"/>
                  </a:cxn>
                  <a:cxn ang="0">
                    <a:pos x="T4" y="T5"/>
                  </a:cxn>
                </a:cxnLst>
                <a:rect l="0" t="0" r="r" b="b"/>
                <a:pathLst>
                  <a:path w="249" h="128">
                    <a:moveTo>
                      <a:pt x="248" y="89"/>
                    </a:moveTo>
                    <a:cubicBezTo>
                      <a:pt x="232" y="37"/>
                      <a:pt x="184" y="0"/>
                      <a:pt x="127" y="0"/>
                    </a:cubicBezTo>
                    <a:cubicBezTo>
                      <a:pt x="57" y="0"/>
                      <a:pt x="0" y="57"/>
                      <a:pt x="0" y="12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7" name="Freeform 29">
                <a:extLst>
                  <a:ext uri="{FF2B5EF4-FFF2-40B4-BE49-F238E27FC236}">
                    <a16:creationId xmlns:a16="http://schemas.microsoft.com/office/drawing/2014/main" id="{D2182340-BBAA-A963-7BD3-4106EDCE71A2}"/>
                  </a:ext>
                </a:extLst>
              </p:cNvPr>
              <p:cNvSpPr>
                <a:spLocks noChangeArrowheads="1"/>
              </p:cNvSpPr>
              <p:nvPr/>
            </p:nvSpPr>
            <p:spPr bwMode="auto">
              <a:xfrm>
                <a:off x="5810251" y="2314576"/>
                <a:ext cx="77788" cy="93663"/>
              </a:xfrm>
              <a:custGeom>
                <a:avLst/>
                <a:gdLst>
                  <a:gd name="T0" fmla="*/ 0 w 219"/>
                  <a:gd name="T1" fmla="*/ 223 h 263"/>
                  <a:gd name="T2" fmla="*/ 91 w 219"/>
                  <a:gd name="T3" fmla="*/ 262 h 263"/>
                  <a:gd name="T4" fmla="*/ 218 w 219"/>
                  <a:gd name="T5" fmla="*/ 135 h 263"/>
                  <a:gd name="T6" fmla="*/ 76 w 219"/>
                  <a:gd name="T7" fmla="*/ 9 h 263"/>
                </a:gdLst>
                <a:ahLst/>
                <a:cxnLst>
                  <a:cxn ang="0">
                    <a:pos x="T0" y="T1"/>
                  </a:cxn>
                  <a:cxn ang="0">
                    <a:pos x="T2" y="T3"/>
                  </a:cxn>
                  <a:cxn ang="0">
                    <a:pos x="T4" y="T5"/>
                  </a:cxn>
                  <a:cxn ang="0">
                    <a:pos x="T6" y="T7"/>
                  </a:cxn>
                </a:cxnLst>
                <a:rect l="0" t="0" r="r" b="b"/>
                <a:pathLst>
                  <a:path w="219" h="263">
                    <a:moveTo>
                      <a:pt x="0" y="223"/>
                    </a:moveTo>
                    <a:cubicBezTo>
                      <a:pt x="23" y="247"/>
                      <a:pt x="56" y="262"/>
                      <a:pt x="91" y="262"/>
                    </a:cubicBezTo>
                    <a:cubicBezTo>
                      <a:pt x="161" y="262"/>
                      <a:pt x="218" y="205"/>
                      <a:pt x="218" y="135"/>
                    </a:cubicBezTo>
                    <a:cubicBezTo>
                      <a:pt x="218" y="60"/>
                      <a:pt x="152" y="0"/>
                      <a:pt x="76" y="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8" name="Freeform 30">
                <a:extLst>
                  <a:ext uri="{FF2B5EF4-FFF2-40B4-BE49-F238E27FC236}">
                    <a16:creationId xmlns:a16="http://schemas.microsoft.com/office/drawing/2014/main" id="{FEBF80DB-D8AE-A676-F83E-CAF052141457}"/>
                  </a:ext>
                </a:extLst>
              </p:cNvPr>
              <p:cNvSpPr>
                <a:spLocks noChangeArrowheads="1"/>
              </p:cNvSpPr>
              <p:nvPr/>
            </p:nvSpPr>
            <p:spPr bwMode="auto">
              <a:xfrm>
                <a:off x="5686426" y="2459038"/>
                <a:ext cx="115888" cy="49213"/>
              </a:xfrm>
              <a:custGeom>
                <a:avLst/>
                <a:gdLst>
                  <a:gd name="T0" fmla="*/ 0 w 328"/>
                  <a:gd name="T1" fmla="*/ 0 h 142"/>
                  <a:gd name="T2" fmla="*/ 167 w 328"/>
                  <a:gd name="T3" fmla="*/ 141 h 142"/>
                  <a:gd name="T4" fmla="*/ 327 w 328"/>
                  <a:gd name="T5" fmla="*/ 29 h 142"/>
                </a:gdLst>
                <a:ahLst/>
                <a:cxnLst>
                  <a:cxn ang="0">
                    <a:pos x="T0" y="T1"/>
                  </a:cxn>
                  <a:cxn ang="0">
                    <a:pos x="T2" y="T3"/>
                  </a:cxn>
                  <a:cxn ang="0">
                    <a:pos x="T4" y="T5"/>
                  </a:cxn>
                </a:cxnLst>
                <a:rect l="0" t="0" r="r" b="b"/>
                <a:pathLst>
                  <a:path w="328" h="142">
                    <a:moveTo>
                      <a:pt x="0" y="0"/>
                    </a:moveTo>
                    <a:cubicBezTo>
                      <a:pt x="13" y="80"/>
                      <a:pt x="83" y="141"/>
                      <a:pt x="167" y="141"/>
                    </a:cubicBezTo>
                    <a:cubicBezTo>
                      <a:pt x="240" y="141"/>
                      <a:pt x="303" y="94"/>
                      <a:pt x="327" y="2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9" name="Freeform 31">
                <a:extLst>
                  <a:ext uri="{FF2B5EF4-FFF2-40B4-BE49-F238E27FC236}">
                    <a16:creationId xmlns:a16="http://schemas.microsoft.com/office/drawing/2014/main" id="{DE21461B-2E5A-CCB0-3255-2E8F99036E81}"/>
                  </a:ext>
                </a:extLst>
              </p:cNvPr>
              <p:cNvSpPr>
                <a:spLocks noChangeArrowheads="1"/>
              </p:cNvSpPr>
              <p:nvPr/>
            </p:nvSpPr>
            <p:spPr bwMode="auto">
              <a:xfrm>
                <a:off x="5746751" y="2133601"/>
                <a:ext cx="93663" cy="55563"/>
              </a:xfrm>
              <a:custGeom>
                <a:avLst/>
                <a:gdLst>
                  <a:gd name="T0" fmla="*/ 253 w 263"/>
                  <a:gd name="T1" fmla="*/ 156 h 157"/>
                  <a:gd name="T2" fmla="*/ 113 w 263"/>
                  <a:gd name="T3" fmla="*/ 0 h 157"/>
                  <a:gd name="T4" fmla="*/ 0 w 263"/>
                  <a:gd name="T5" fmla="*/ 57 h 157"/>
                </a:gdLst>
                <a:ahLst/>
                <a:cxnLst>
                  <a:cxn ang="0">
                    <a:pos x="T0" y="T1"/>
                  </a:cxn>
                  <a:cxn ang="0">
                    <a:pos x="T2" y="T3"/>
                  </a:cxn>
                  <a:cxn ang="0">
                    <a:pos x="T4" y="T5"/>
                  </a:cxn>
                </a:cxnLst>
                <a:rect l="0" t="0" r="r" b="b"/>
                <a:pathLst>
                  <a:path w="263" h="157">
                    <a:moveTo>
                      <a:pt x="253" y="156"/>
                    </a:moveTo>
                    <a:cubicBezTo>
                      <a:pt x="262" y="73"/>
                      <a:pt x="196" y="0"/>
                      <a:pt x="113" y="0"/>
                    </a:cubicBezTo>
                    <a:cubicBezTo>
                      <a:pt x="67" y="0"/>
                      <a:pt x="26" y="23"/>
                      <a:pt x="0" y="5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0" name="Freeform 32">
                <a:extLst>
                  <a:ext uri="{FF2B5EF4-FFF2-40B4-BE49-F238E27FC236}">
                    <a16:creationId xmlns:a16="http://schemas.microsoft.com/office/drawing/2014/main" id="{BC43836F-B286-F721-D6AD-9A6E80820DA8}"/>
                  </a:ext>
                </a:extLst>
              </p:cNvPr>
              <p:cNvSpPr>
                <a:spLocks noChangeArrowheads="1"/>
              </p:cNvSpPr>
              <p:nvPr/>
            </p:nvSpPr>
            <p:spPr bwMode="auto">
              <a:xfrm>
                <a:off x="5794376" y="2173288"/>
                <a:ext cx="88900" cy="87313"/>
              </a:xfrm>
              <a:custGeom>
                <a:avLst/>
                <a:gdLst>
                  <a:gd name="T0" fmla="*/ 214 w 250"/>
                  <a:gd name="T1" fmla="*/ 244 h 245"/>
                  <a:gd name="T2" fmla="*/ 0 w 250"/>
                  <a:gd name="T3" fmla="*/ 39 h 245"/>
                </a:gdLst>
                <a:ahLst/>
                <a:cxnLst>
                  <a:cxn ang="0">
                    <a:pos x="T0" y="T1"/>
                  </a:cxn>
                  <a:cxn ang="0">
                    <a:pos x="T2" y="T3"/>
                  </a:cxn>
                </a:cxnLst>
                <a:rect l="0" t="0" r="r" b="b"/>
                <a:pathLst>
                  <a:path w="250" h="245">
                    <a:moveTo>
                      <a:pt x="214" y="244"/>
                    </a:moveTo>
                    <a:cubicBezTo>
                      <a:pt x="249" y="112"/>
                      <a:pt x="122" y="0"/>
                      <a:pt x="0" y="3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1" name="Freeform 33">
                <a:extLst>
                  <a:ext uri="{FF2B5EF4-FFF2-40B4-BE49-F238E27FC236}">
                    <a16:creationId xmlns:a16="http://schemas.microsoft.com/office/drawing/2014/main" id="{419E09BB-8645-1E8D-E13B-BDCCAD68D7A8}"/>
                  </a:ext>
                </a:extLst>
              </p:cNvPr>
              <p:cNvSpPr>
                <a:spLocks noChangeArrowheads="1"/>
              </p:cNvSpPr>
              <p:nvPr/>
            </p:nvSpPr>
            <p:spPr bwMode="auto">
              <a:xfrm>
                <a:off x="5830888" y="2243138"/>
                <a:ext cx="74613" cy="88900"/>
              </a:xfrm>
              <a:custGeom>
                <a:avLst/>
                <a:gdLst>
                  <a:gd name="T0" fmla="*/ 134 w 210"/>
                  <a:gd name="T1" fmla="*/ 251 h 252"/>
                  <a:gd name="T2" fmla="*/ 0 w 210"/>
                  <a:gd name="T3" fmla="*/ 7 h 252"/>
                </a:gdLst>
                <a:ahLst/>
                <a:cxnLst>
                  <a:cxn ang="0">
                    <a:pos x="T0" y="T1"/>
                  </a:cxn>
                  <a:cxn ang="0">
                    <a:pos x="T2" y="T3"/>
                  </a:cxn>
                </a:cxnLst>
                <a:rect l="0" t="0" r="r" b="b"/>
                <a:pathLst>
                  <a:path w="210" h="252">
                    <a:moveTo>
                      <a:pt x="134" y="251"/>
                    </a:moveTo>
                    <a:cubicBezTo>
                      <a:pt x="209" y="146"/>
                      <a:pt x="127" y="0"/>
                      <a:pt x="0" y="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2" name="Freeform 34">
                <a:extLst>
                  <a:ext uri="{FF2B5EF4-FFF2-40B4-BE49-F238E27FC236}">
                    <a16:creationId xmlns:a16="http://schemas.microsoft.com/office/drawing/2014/main" id="{D61D9B60-279E-8AA8-A854-D7B57594D07B}"/>
                  </a:ext>
                </a:extLst>
              </p:cNvPr>
              <p:cNvSpPr>
                <a:spLocks noChangeArrowheads="1"/>
              </p:cNvSpPr>
              <p:nvPr/>
            </p:nvSpPr>
            <p:spPr bwMode="auto">
              <a:xfrm>
                <a:off x="5583238" y="2209801"/>
                <a:ext cx="76200" cy="44450"/>
              </a:xfrm>
              <a:custGeom>
                <a:avLst/>
                <a:gdLst>
                  <a:gd name="T0" fmla="*/ 216 w 217"/>
                  <a:gd name="T1" fmla="*/ 0 h 128"/>
                  <a:gd name="T2" fmla="*/ 89 w 217"/>
                  <a:gd name="T3" fmla="*/ 127 h 128"/>
                  <a:gd name="T4" fmla="*/ 0 w 217"/>
                  <a:gd name="T5" fmla="*/ 90 h 128"/>
                </a:gdLst>
                <a:ahLst/>
                <a:cxnLst>
                  <a:cxn ang="0">
                    <a:pos x="T0" y="T1"/>
                  </a:cxn>
                  <a:cxn ang="0">
                    <a:pos x="T2" y="T3"/>
                  </a:cxn>
                  <a:cxn ang="0">
                    <a:pos x="T4" y="T5"/>
                  </a:cxn>
                </a:cxnLst>
                <a:rect l="0" t="0" r="r" b="b"/>
                <a:pathLst>
                  <a:path w="217" h="128">
                    <a:moveTo>
                      <a:pt x="216" y="0"/>
                    </a:moveTo>
                    <a:cubicBezTo>
                      <a:pt x="216" y="70"/>
                      <a:pt x="159" y="127"/>
                      <a:pt x="89" y="127"/>
                    </a:cubicBezTo>
                    <a:cubicBezTo>
                      <a:pt x="54" y="127"/>
                      <a:pt x="23" y="113"/>
                      <a:pt x="0" y="9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3" name="Freeform 35">
                <a:extLst>
                  <a:ext uri="{FF2B5EF4-FFF2-40B4-BE49-F238E27FC236}">
                    <a16:creationId xmlns:a16="http://schemas.microsoft.com/office/drawing/2014/main" id="{3386551B-4D6B-C41E-2000-40FCF6E33BFD}"/>
                  </a:ext>
                </a:extLst>
              </p:cNvPr>
              <p:cNvSpPr>
                <a:spLocks noChangeArrowheads="1"/>
              </p:cNvSpPr>
              <p:nvPr/>
            </p:nvSpPr>
            <p:spPr bwMode="auto">
              <a:xfrm>
                <a:off x="5576888" y="2362201"/>
                <a:ext cx="44450" cy="44450"/>
              </a:xfrm>
              <a:custGeom>
                <a:avLst/>
                <a:gdLst>
                  <a:gd name="T0" fmla="*/ 127 w 128"/>
                  <a:gd name="T1" fmla="*/ 127 h 128"/>
                  <a:gd name="T2" fmla="*/ 0 w 128"/>
                  <a:gd name="T3" fmla="*/ 0 h 128"/>
                </a:gdLst>
                <a:ahLst/>
                <a:cxnLst>
                  <a:cxn ang="0">
                    <a:pos x="T0" y="T1"/>
                  </a:cxn>
                  <a:cxn ang="0">
                    <a:pos x="T2" y="T3"/>
                  </a:cxn>
                </a:cxnLst>
                <a:rect l="0" t="0" r="r" b="b"/>
                <a:pathLst>
                  <a:path w="128" h="128">
                    <a:moveTo>
                      <a:pt x="127" y="127"/>
                    </a:moveTo>
                    <a:cubicBezTo>
                      <a:pt x="127" y="57"/>
                      <a:pt x="70"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36">
                <a:extLst>
                  <a:ext uri="{FF2B5EF4-FFF2-40B4-BE49-F238E27FC236}">
                    <a16:creationId xmlns:a16="http://schemas.microsoft.com/office/drawing/2014/main" id="{08C0D6FC-E188-8C61-17E5-17C1CC427272}"/>
                  </a:ext>
                </a:extLst>
              </p:cNvPr>
              <p:cNvSpPr>
                <a:spLocks noChangeArrowheads="1"/>
              </p:cNvSpPr>
              <p:nvPr/>
            </p:nvSpPr>
            <p:spPr bwMode="auto">
              <a:xfrm>
                <a:off x="5656263" y="2170113"/>
                <a:ext cx="30163" cy="30163"/>
              </a:xfrm>
              <a:custGeom>
                <a:avLst/>
                <a:gdLst>
                  <a:gd name="T0" fmla="*/ 85 w 86"/>
                  <a:gd name="T1" fmla="*/ 85 h 86"/>
                  <a:gd name="T2" fmla="*/ 0 w 86"/>
                  <a:gd name="T3" fmla="*/ 0 h 86"/>
                </a:gdLst>
                <a:ahLst/>
                <a:cxnLst>
                  <a:cxn ang="0">
                    <a:pos x="T0" y="T1"/>
                  </a:cxn>
                  <a:cxn ang="0">
                    <a:pos x="T2" y="T3"/>
                  </a:cxn>
                </a:cxnLst>
                <a:rect l="0" t="0" r="r" b="b"/>
                <a:pathLst>
                  <a:path w="86" h="86">
                    <a:moveTo>
                      <a:pt x="85" y="85"/>
                    </a:moveTo>
                    <a:cubicBezTo>
                      <a:pt x="85" y="38"/>
                      <a:pt x="47"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5" name="Freeform 37">
                <a:extLst>
                  <a:ext uri="{FF2B5EF4-FFF2-40B4-BE49-F238E27FC236}">
                    <a16:creationId xmlns:a16="http://schemas.microsoft.com/office/drawing/2014/main" id="{3D1620E1-FD6B-1576-5297-D45587A31EAD}"/>
                  </a:ext>
                </a:extLst>
              </p:cNvPr>
              <p:cNvSpPr>
                <a:spLocks noChangeArrowheads="1"/>
              </p:cNvSpPr>
              <p:nvPr/>
            </p:nvSpPr>
            <p:spPr bwMode="auto">
              <a:xfrm>
                <a:off x="5584826" y="2255838"/>
                <a:ext cx="34925" cy="34925"/>
              </a:xfrm>
              <a:custGeom>
                <a:avLst/>
                <a:gdLst>
                  <a:gd name="T0" fmla="*/ 0 w 100"/>
                  <a:gd name="T1" fmla="*/ 100 h 101"/>
                  <a:gd name="T2" fmla="*/ 99 w 100"/>
                  <a:gd name="T3" fmla="*/ 0 h 101"/>
                </a:gdLst>
                <a:ahLst/>
                <a:cxnLst>
                  <a:cxn ang="0">
                    <a:pos x="T0" y="T1"/>
                  </a:cxn>
                  <a:cxn ang="0">
                    <a:pos x="T2" y="T3"/>
                  </a:cxn>
                </a:cxnLst>
                <a:rect l="0" t="0" r="r" b="b"/>
                <a:pathLst>
                  <a:path w="100" h="101">
                    <a:moveTo>
                      <a:pt x="0" y="100"/>
                    </a:moveTo>
                    <a:cubicBezTo>
                      <a:pt x="55" y="100"/>
                      <a:pt x="99" y="55"/>
                      <a:pt x="99"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6" name="Freeform 38">
                <a:extLst>
                  <a:ext uri="{FF2B5EF4-FFF2-40B4-BE49-F238E27FC236}">
                    <a16:creationId xmlns:a16="http://schemas.microsoft.com/office/drawing/2014/main" id="{001DB7DC-CBDC-A72B-15AE-B0BA75BC2446}"/>
                  </a:ext>
                </a:extLst>
              </p:cNvPr>
              <p:cNvSpPr>
                <a:spLocks noChangeArrowheads="1"/>
              </p:cNvSpPr>
              <p:nvPr/>
            </p:nvSpPr>
            <p:spPr bwMode="auto">
              <a:xfrm>
                <a:off x="5602288" y="2322513"/>
                <a:ext cx="49213" cy="47625"/>
              </a:xfrm>
              <a:custGeom>
                <a:avLst/>
                <a:gdLst>
                  <a:gd name="T0" fmla="*/ 141 w 142"/>
                  <a:gd name="T1" fmla="*/ 0 h 136"/>
                  <a:gd name="T2" fmla="*/ 0 w 142"/>
                  <a:gd name="T3" fmla="*/ 135 h 136"/>
                </a:gdLst>
                <a:ahLst/>
                <a:cxnLst>
                  <a:cxn ang="0">
                    <a:pos x="T0" y="T1"/>
                  </a:cxn>
                  <a:cxn ang="0">
                    <a:pos x="T2" y="T3"/>
                  </a:cxn>
                </a:cxnLst>
                <a:rect l="0" t="0" r="r" b="b"/>
                <a:pathLst>
                  <a:path w="142" h="136">
                    <a:moveTo>
                      <a:pt x="141" y="0"/>
                    </a:moveTo>
                    <a:cubicBezTo>
                      <a:pt x="66" y="0"/>
                      <a:pt x="4" y="60"/>
                      <a:pt x="0" y="13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7" name="Freeform 39">
                <a:extLst>
                  <a:ext uri="{FF2B5EF4-FFF2-40B4-BE49-F238E27FC236}">
                    <a16:creationId xmlns:a16="http://schemas.microsoft.com/office/drawing/2014/main" id="{7184E2C3-DAD3-8056-75E6-A7182165B1BB}"/>
                  </a:ext>
                </a:extLst>
              </p:cNvPr>
              <p:cNvSpPr>
                <a:spLocks noChangeArrowheads="1"/>
              </p:cNvSpPr>
              <p:nvPr/>
            </p:nvSpPr>
            <p:spPr bwMode="auto">
              <a:xfrm>
                <a:off x="5749926" y="2362201"/>
                <a:ext cx="44450" cy="44450"/>
              </a:xfrm>
              <a:custGeom>
                <a:avLst/>
                <a:gdLst>
                  <a:gd name="T0" fmla="*/ 0 w 128"/>
                  <a:gd name="T1" fmla="*/ 127 h 128"/>
                  <a:gd name="T2" fmla="*/ 127 w 128"/>
                  <a:gd name="T3" fmla="*/ 0 h 128"/>
                </a:gdLst>
                <a:ahLst/>
                <a:cxnLst>
                  <a:cxn ang="0">
                    <a:pos x="T0" y="T1"/>
                  </a:cxn>
                  <a:cxn ang="0">
                    <a:pos x="T2" y="T3"/>
                  </a:cxn>
                </a:cxnLst>
                <a:rect l="0" t="0" r="r" b="b"/>
                <a:pathLst>
                  <a:path w="128" h="128">
                    <a:moveTo>
                      <a:pt x="0" y="127"/>
                    </a:moveTo>
                    <a:cubicBezTo>
                      <a:pt x="0" y="57"/>
                      <a:pt x="57" y="0"/>
                      <a:pt x="127"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8" name="Freeform 40">
                <a:extLst>
                  <a:ext uri="{FF2B5EF4-FFF2-40B4-BE49-F238E27FC236}">
                    <a16:creationId xmlns:a16="http://schemas.microsoft.com/office/drawing/2014/main" id="{AA69DCCF-0022-CA9F-3055-9D632E3AE1C6}"/>
                  </a:ext>
                </a:extLst>
              </p:cNvPr>
              <p:cNvSpPr>
                <a:spLocks noChangeArrowheads="1"/>
              </p:cNvSpPr>
              <p:nvPr/>
            </p:nvSpPr>
            <p:spPr bwMode="auto">
              <a:xfrm>
                <a:off x="5719763" y="2322513"/>
                <a:ext cx="49213" cy="47625"/>
              </a:xfrm>
              <a:custGeom>
                <a:avLst/>
                <a:gdLst>
                  <a:gd name="T0" fmla="*/ 0 w 142"/>
                  <a:gd name="T1" fmla="*/ 0 h 136"/>
                  <a:gd name="T2" fmla="*/ 141 w 142"/>
                  <a:gd name="T3" fmla="*/ 135 h 136"/>
                </a:gdLst>
                <a:ahLst/>
                <a:cxnLst>
                  <a:cxn ang="0">
                    <a:pos x="T0" y="T1"/>
                  </a:cxn>
                  <a:cxn ang="0">
                    <a:pos x="T2" y="T3"/>
                  </a:cxn>
                </a:cxnLst>
                <a:rect l="0" t="0" r="r" b="b"/>
                <a:pathLst>
                  <a:path w="142" h="136">
                    <a:moveTo>
                      <a:pt x="0" y="0"/>
                    </a:moveTo>
                    <a:cubicBezTo>
                      <a:pt x="75" y="0"/>
                      <a:pt x="137" y="60"/>
                      <a:pt x="141" y="13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29" name="Freeform 41">
                <a:extLst>
                  <a:ext uri="{FF2B5EF4-FFF2-40B4-BE49-F238E27FC236}">
                    <a16:creationId xmlns:a16="http://schemas.microsoft.com/office/drawing/2014/main" id="{82ED1398-3D97-8E59-E822-F4C01625EFCA}"/>
                  </a:ext>
                </a:extLst>
              </p:cNvPr>
              <p:cNvSpPr>
                <a:spLocks noChangeArrowheads="1"/>
              </p:cNvSpPr>
              <p:nvPr/>
            </p:nvSpPr>
            <p:spPr bwMode="auto">
              <a:xfrm>
                <a:off x="5711826" y="2209801"/>
                <a:ext cx="76200" cy="44450"/>
              </a:xfrm>
              <a:custGeom>
                <a:avLst/>
                <a:gdLst>
                  <a:gd name="T0" fmla="*/ 0 w 217"/>
                  <a:gd name="T1" fmla="*/ 0 h 128"/>
                  <a:gd name="T2" fmla="*/ 127 w 217"/>
                  <a:gd name="T3" fmla="*/ 127 h 128"/>
                  <a:gd name="T4" fmla="*/ 216 w 217"/>
                  <a:gd name="T5" fmla="*/ 90 h 128"/>
                </a:gdLst>
                <a:ahLst/>
                <a:cxnLst>
                  <a:cxn ang="0">
                    <a:pos x="T0" y="T1"/>
                  </a:cxn>
                  <a:cxn ang="0">
                    <a:pos x="T2" y="T3"/>
                  </a:cxn>
                  <a:cxn ang="0">
                    <a:pos x="T4" y="T5"/>
                  </a:cxn>
                </a:cxnLst>
                <a:rect l="0" t="0" r="r" b="b"/>
                <a:pathLst>
                  <a:path w="217" h="128">
                    <a:moveTo>
                      <a:pt x="0" y="0"/>
                    </a:moveTo>
                    <a:cubicBezTo>
                      <a:pt x="0" y="70"/>
                      <a:pt x="57" y="127"/>
                      <a:pt x="127" y="127"/>
                    </a:cubicBezTo>
                    <a:cubicBezTo>
                      <a:pt x="162" y="127"/>
                      <a:pt x="193" y="113"/>
                      <a:pt x="216" y="9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0" name="Freeform 42">
                <a:extLst>
                  <a:ext uri="{FF2B5EF4-FFF2-40B4-BE49-F238E27FC236}">
                    <a16:creationId xmlns:a16="http://schemas.microsoft.com/office/drawing/2014/main" id="{DE3785AE-2730-FFD1-CE82-6544FCDECDBE}"/>
                  </a:ext>
                </a:extLst>
              </p:cNvPr>
              <p:cNvSpPr>
                <a:spLocks noChangeArrowheads="1"/>
              </p:cNvSpPr>
              <p:nvPr/>
            </p:nvSpPr>
            <p:spPr bwMode="auto">
              <a:xfrm>
                <a:off x="5751513" y="2255838"/>
                <a:ext cx="34925" cy="34925"/>
              </a:xfrm>
              <a:custGeom>
                <a:avLst/>
                <a:gdLst>
                  <a:gd name="T0" fmla="*/ 99 w 100"/>
                  <a:gd name="T1" fmla="*/ 100 h 101"/>
                  <a:gd name="T2" fmla="*/ 0 w 100"/>
                  <a:gd name="T3" fmla="*/ 0 h 101"/>
                </a:gdLst>
                <a:ahLst/>
                <a:cxnLst>
                  <a:cxn ang="0">
                    <a:pos x="T0" y="T1"/>
                  </a:cxn>
                  <a:cxn ang="0">
                    <a:pos x="T2" y="T3"/>
                  </a:cxn>
                </a:cxnLst>
                <a:rect l="0" t="0" r="r" b="b"/>
                <a:pathLst>
                  <a:path w="100" h="101">
                    <a:moveTo>
                      <a:pt x="99" y="100"/>
                    </a:moveTo>
                    <a:cubicBezTo>
                      <a:pt x="44" y="100"/>
                      <a:pt x="0" y="5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1" name="Freeform 43">
                <a:extLst>
                  <a:ext uri="{FF2B5EF4-FFF2-40B4-BE49-F238E27FC236}">
                    <a16:creationId xmlns:a16="http://schemas.microsoft.com/office/drawing/2014/main" id="{ED31D7B3-1039-AEFF-0C08-C8209CBB4337}"/>
                  </a:ext>
                </a:extLst>
              </p:cNvPr>
              <p:cNvSpPr>
                <a:spLocks noChangeArrowheads="1"/>
              </p:cNvSpPr>
              <p:nvPr/>
            </p:nvSpPr>
            <p:spPr bwMode="auto">
              <a:xfrm>
                <a:off x="5686426" y="2286001"/>
                <a:ext cx="30163" cy="28575"/>
              </a:xfrm>
              <a:custGeom>
                <a:avLst/>
                <a:gdLst>
                  <a:gd name="T0" fmla="*/ 0 w 86"/>
                  <a:gd name="T1" fmla="*/ 84 h 85"/>
                  <a:gd name="T2" fmla="*/ 85 w 86"/>
                  <a:gd name="T3" fmla="*/ 0 h 85"/>
                </a:gdLst>
                <a:ahLst/>
                <a:cxnLst>
                  <a:cxn ang="0">
                    <a:pos x="T0" y="T1"/>
                  </a:cxn>
                  <a:cxn ang="0">
                    <a:pos x="T2" y="T3"/>
                  </a:cxn>
                </a:cxnLst>
                <a:rect l="0" t="0" r="r" b="b"/>
                <a:pathLst>
                  <a:path w="86" h="85">
                    <a:moveTo>
                      <a:pt x="0" y="84"/>
                    </a:moveTo>
                    <a:cubicBezTo>
                      <a:pt x="0" y="38"/>
                      <a:pt x="38" y="0"/>
                      <a:pt x="8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2" name="Freeform 44">
                <a:extLst>
                  <a:ext uri="{FF2B5EF4-FFF2-40B4-BE49-F238E27FC236}">
                    <a16:creationId xmlns:a16="http://schemas.microsoft.com/office/drawing/2014/main" id="{91A7F08A-47DE-F400-6F04-175DF6B430B0}"/>
                  </a:ext>
                </a:extLst>
              </p:cNvPr>
              <p:cNvSpPr>
                <a:spLocks noChangeArrowheads="1"/>
              </p:cNvSpPr>
              <p:nvPr/>
            </p:nvSpPr>
            <p:spPr bwMode="auto">
              <a:xfrm>
                <a:off x="5656263" y="2393951"/>
                <a:ext cx="30163" cy="30163"/>
              </a:xfrm>
              <a:custGeom>
                <a:avLst/>
                <a:gdLst>
                  <a:gd name="T0" fmla="*/ 85 w 86"/>
                  <a:gd name="T1" fmla="*/ 0 h 86"/>
                  <a:gd name="T2" fmla="*/ 0 w 86"/>
                  <a:gd name="T3" fmla="*/ 85 h 86"/>
                </a:gdLst>
                <a:ahLst/>
                <a:cxnLst>
                  <a:cxn ang="0">
                    <a:pos x="T0" y="T1"/>
                  </a:cxn>
                  <a:cxn ang="0">
                    <a:pos x="T2" y="T3"/>
                  </a:cxn>
                </a:cxnLst>
                <a:rect l="0" t="0" r="r" b="b"/>
                <a:pathLst>
                  <a:path w="86" h="86">
                    <a:moveTo>
                      <a:pt x="85" y="0"/>
                    </a:moveTo>
                    <a:cubicBezTo>
                      <a:pt x="85" y="47"/>
                      <a:pt x="47" y="85"/>
                      <a:pt x="0" y="8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33" name="Group 32">
            <a:extLst>
              <a:ext uri="{FF2B5EF4-FFF2-40B4-BE49-F238E27FC236}">
                <a16:creationId xmlns:a16="http://schemas.microsoft.com/office/drawing/2014/main" id="{6D581F74-7367-73BC-268F-32F1DCB681DC}"/>
              </a:ext>
            </a:extLst>
          </p:cNvPr>
          <p:cNvGrpSpPr>
            <a:grpSpLocks noChangeAspect="1"/>
          </p:cNvGrpSpPr>
          <p:nvPr/>
        </p:nvGrpSpPr>
        <p:grpSpPr>
          <a:xfrm>
            <a:off x="2612629" y="2247503"/>
            <a:ext cx="497092" cy="497091"/>
            <a:chOff x="7775575" y="2201863"/>
            <a:chExt cx="630238" cy="630237"/>
          </a:xfrm>
        </p:grpSpPr>
        <p:sp>
          <p:nvSpPr>
            <p:cNvPr id="34" name="Freeform 200">
              <a:extLst>
                <a:ext uri="{FF2B5EF4-FFF2-40B4-BE49-F238E27FC236}">
                  <a16:creationId xmlns:a16="http://schemas.microsoft.com/office/drawing/2014/main" id="{FBD2304C-62A7-5697-A694-571129E558E6}"/>
                </a:ext>
              </a:extLst>
            </p:cNvPr>
            <p:cNvSpPr>
              <a:spLocks noChangeArrowheads="1"/>
            </p:cNvSpPr>
            <p:nvPr/>
          </p:nvSpPr>
          <p:spPr bwMode="auto">
            <a:xfrm>
              <a:off x="7775575" y="2201863"/>
              <a:ext cx="630238" cy="630237"/>
            </a:xfrm>
            <a:custGeom>
              <a:avLst/>
              <a:gdLst>
                <a:gd name="T0" fmla="*/ 1468 w 1751"/>
                <a:gd name="T1" fmla="*/ 1749 h 1750"/>
                <a:gd name="T2" fmla="*/ 1750 w 1751"/>
                <a:gd name="T3" fmla="*/ 1467 h 1750"/>
                <a:gd name="T4" fmla="*/ 1750 w 1751"/>
                <a:gd name="T5" fmla="*/ 282 h 1750"/>
                <a:gd name="T6" fmla="*/ 1468 w 1751"/>
                <a:gd name="T7" fmla="*/ 0 h 1750"/>
                <a:gd name="T8" fmla="*/ 282 w 1751"/>
                <a:gd name="T9" fmla="*/ 0 h 1750"/>
                <a:gd name="T10" fmla="*/ 0 w 1751"/>
                <a:gd name="T11" fmla="*/ 282 h 1750"/>
                <a:gd name="T12" fmla="*/ 0 w 1751"/>
                <a:gd name="T13" fmla="*/ 1467 h 1750"/>
                <a:gd name="T14" fmla="*/ 282 w 1751"/>
                <a:gd name="T15" fmla="*/ 1749 h 1750"/>
                <a:gd name="T16" fmla="*/ 1468 w 1751"/>
                <a:gd name="T17" fmla="*/ 1749 h 1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0">
                  <a:moveTo>
                    <a:pt x="1468" y="1749"/>
                  </a:moveTo>
                  <a:cubicBezTo>
                    <a:pt x="1623" y="1749"/>
                    <a:pt x="1750" y="1623"/>
                    <a:pt x="1750" y="1467"/>
                  </a:cubicBezTo>
                  <a:cubicBezTo>
                    <a:pt x="1750" y="1072"/>
                    <a:pt x="1750" y="677"/>
                    <a:pt x="1750" y="282"/>
                  </a:cubicBezTo>
                  <a:cubicBezTo>
                    <a:pt x="1750" y="127"/>
                    <a:pt x="1623" y="0"/>
                    <a:pt x="1468" y="0"/>
                  </a:cubicBezTo>
                  <a:cubicBezTo>
                    <a:pt x="1073" y="0"/>
                    <a:pt x="678" y="0"/>
                    <a:pt x="282" y="0"/>
                  </a:cubicBezTo>
                  <a:cubicBezTo>
                    <a:pt x="127" y="0"/>
                    <a:pt x="0" y="127"/>
                    <a:pt x="0" y="282"/>
                  </a:cubicBezTo>
                  <a:cubicBezTo>
                    <a:pt x="0" y="677"/>
                    <a:pt x="0" y="1072"/>
                    <a:pt x="0" y="1467"/>
                  </a:cubicBezTo>
                  <a:cubicBezTo>
                    <a:pt x="0" y="1623"/>
                    <a:pt x="127" y="1749"/>
                    <a:pt x="282" y="1749"/>
                  </a:cubicBezTo>
                  <a:cubicBezTo>
                    <a:pt x="678" y="1749"/>
                    <a:pt x="1073" y="1749"/>
                    <a:pt x="1468" y="174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nvGrpSpPr>
            <p:cNvPr id="35" name="Group 34">
              <a:extLst>
                <a:ext uri="{FF2B5EF4-FFF2-40B4-BE49-F238E27FC236}">
                  <a16:creationId xmlns:a16="http://schemas.microsoft.com/office/drawing/2014/main" id="{E423E418-827B-26F3-69BF-C593A3A1547A}"/>
                </a:ext>
              </a:extLst>
            </p:cNvPr>
            <p:cNvGrpSpPr/>
            <p:nvPr/>
          </p:nvGrpSpPr>
          <p:grpSpPr>
            <a:xfrm>
              <a:off x="7947025" y="2292350"/>
              <a:ext cx="284163" cy="407988"/>
              <a:chOff x="7947025" y="2292350"/>
              <a:chExt cx="284163" cy="407988"/>
            </a:xfrm>
          </p:grpSpPr>
          <p:sp>
            <p:nvSpPr>
              <p:cNvPr id="36" name="Freeform 201">
                <a:extLst>
                  <a:ext uri="{FF2B5EF4-FFF2-40B4-BE49-F238E27FC236}">
                    <a16:creationId xmlns:a16="http://schemas.microsoft.com/office/drawing/2014/main" id="{293E2F51-51AB-9BB9-563F-8F28D9DC9CDB}"/>
                  </a:ext>
                </a:extLst>
              </p:cNvPr>
              <p:cNvSpPr>
                <a:spLocks noChangeArrowheads="1"/>
              </p:cNvSpPr>
              <p:nvPr/>
            </p:nvSpPr>
            <p:spPr bwMode="auto">
              <a:xfrm>
                <a:off x="7947025" y="2333625"/>
                <a:ext cx="284163" cy="366713"/>
              </a:xfrm>
              <a:custGeom>
                <a:avLst/>
                <a:gdLst>
                  <a:gd name="T0" fmla="*/ 564 w 791"/>
                  <a:gd name="T1" fmla="*/ 0 h 1017"/>
                  <a:gd name="T2" fmla="*/ 734 w 791"/>
                  <a:gd name="T3" fmla="*/ 0 h 1017"/>
                  <a:gd name="T4" fmla="*/ 790 w 791"/>
                  <a:gd name="T5" fmla="*/ 56 h 1017"/>
                  <a:gd name="T6" fmla="*/ 790 w 791"/>
                  <a:gd name="T7" fmla="*/ 959 h 1017"/>
                  <a:gd name="T8" fmla="*/ 734 w 791"/>
                  <a:gd name="T9" fmla="*/ 1016 h 1017"/>
                  <a:gd name="T10" fmla="*/ 56 w 791"/>
                  <a:gd name="T11" fmla="*/ 1016 h 1017"/>
                  <a:gd name="T12" fmla="*/ 0 w 791"/>
                  <a:gd name="T13" fmla="*/ 959 h 1017"/>
                  <a:gd name="T14" fmla="*/ 0 w 791"/>
                  <a:gd name="T15" fmla="*/ 56 h 1017"/>
                  <a:gd name="T16" fmla="*/ 56 w 791"/>
                  <a:gd name="T17" fmla="*/ 0 h 1017"/>
                  <a:gd name="T18" fmla="*/ 226 w 791"/>
                  <a:gd name="T19" fmla="*/ 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1" h="1017">
                    <a:moveTo>
                      <a:pt x="564" y="0"/>
                    </a:moveTo>
                    <a:cubicBezTo>
                      <a:pt x="621" y="0"/>
                      <a:pt x="678" y="0"/>
                      <a:pt x="734" y="0"/>
                    </a:cubicBezTo>
                    <a:cubicBezTo>
                      <a:pt x="765" y="0"/>
                      <a:pt x="790" y="25"/>
                      <a:pt x="790" y="56"/>
                    </a:cubicBezTo>
                    <a:cubicBezTo>
                      <a:pt x="790" y="357"/>
                      <a:pt x="790" y="658"/>
                      <a:pt x="790" y="959"/>
                    </a:cubicBezTo>
                    <a:cubicBezTo>
                      <a:pt x="790" y="990"/>
                      <a:pt x="765" y="1016"/>
                      <a:pt x="734" y="1016"/>
                    </a:cubicBezTo>
                    <a:cubicBezTo>
                      <a:pt x="508" y="1016"/>
                      <a:pt x="282" y="1016"/>
                      <a:pt x="56" y="1016"/>
                    </a:cubicBezTo>
                    <a:cubicBezTo>
                      <a:pt x="25" y="1016"/>
                      <a:pt x="0" y="990"/>
                      <a:pt x="0" y="959"/>
                    </a:cubicBezTo>
                    <a:cubicBezTo>
                      <a:pt x="0" y="658"/>
                      <a:pt x="0" y="357"/>
                      <a:pt x="0" y="56"/>
                    </a:cubicBezTo>
                    <a:cubicBezTo>
                      <a:pt x="0" y="25"/>
                      <a:pt x="25" y="0"/>
                      <a:pt x="56" y="0"/>
                    </a:cubicBezTo>
                    <a:cubicBezTo>
                      <a:pt x="113" y="0"/>
                      <a:pt x="170" y="0"/>
                      <a:pt x="226"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7" name="Freeform 202">
                <a:extLst>
                  <a:ext uri="{FF2B5EF4-FFF2-40B4-BE49-F238E27FC236}">
                    <a16:creationId xmlns:a16="http://schemas.microsoft.com/office/drawing/2014/main" id="{7AF47742-82A5-7873-C847-727608B96C8D}"/>
                  </a:ext>
                </a:extLst>
              </p:cNvPr>
              <p:cNvSpPr>
                <a:spLocks noChangeArrowheads="1"/>
              </p:cNvSpPr>
              <p:nvPr/>
            </p:nvSpPr>
            <p:spPr bwMode="auto">
              <a:xfrm>
                <a:off x="7997825" y="2292350"/>
                <a:ext cx="182563" cy="92075"/>
              </a:xfrm>
              <a:custGeom>
                <a:avLst/>
                <a:gdLst>
                  <a:gd name="T0" fmla="*/ 508 w 509"/>
                  <a:gd name="T1" fmla="*/ 197 h 255"/>
                  <a:gd name="T2" fmla="*/ 423 w 509"/>
                  <a:gd name="T3" fmla="*/ 113 h 255"/>
                  <a:gd name="T4" fmla="*/ 380 w 509"/>
                  <a:gd name="T5" fmla="*/ 113 h 255"/>
                  <a:gd name="T6" fmla="*/ 366 w 509"/>
                  <a:gd name="T7" fmla="*/ 100 h 255"/>
                  <a:gd name="T8" fmla="*/ 254 w 509"/>
                  <a:gd name="T9" fmla="*/ 0 h 255"/>
                  <a:gd name="T10" fmla="*/ 142 w 509"/>
                  <a:gd name="T11" fmla="*/ 100 h 255"/>
                  <a:gd name="T12" fmla="*/ 128 w 509"/>
                  <a:gd name="T13" fmla="*/ 113 h 255"/>
                  <a:gd name="T14" fmla="*/ 85 w 509"/>
                  <a:gd name="T15" fmla="*/ 113 h 255"/>
                  <a:gd name="T16" fmla="*/ 0 w 509"/>
                  <a:gd name="T17" fmla="*/ 197 h 255"/>
                  <a:gd name="T18" fmla="*/ 0 w 509"/>
                  <a:gd name="T19" fmla="*/ 226 h 255"/>
                  <a:gd name="T20" fmla="*/ 28 w 509"/>
                  <a:gd name="T21" fmla="*/ 254 h 255"/>
                  <a:gd name="T22" fmla="*/ 480 w 509"/>
                  <a:gd name="T23" fmla="*/ 254 h 255"/>
                  <a:gd name="T24" fmla="*/ 508 w 509"/>
                  <a:gd name="T25" fmla="*/ 226 h 255"/>
                  <a:gd name="T26" fmla="*/ 508 w 509"/>
                  <a:gd name="T27" fmla="*/ 19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9" h="255">
                    <a:moveTo>
                      <a:pt x="508" y="197"/>
                    </a:moveTo>
                    <a:cubicBezTo>
                      <a:pt x="508" y="151"/>
                      <a:pt x="470" y="113"/>
                      <a:pt x="423" y="113"/>
                    </a:cubicBezTo>
                    <a:cubicBezTo>
                      <a:pt x="409" y="113"/>
                      <a:pt x="395" y="113"/>
                      <a:pt x="380" y="113"/>
                    </a:cubicBezTo>
                    <a:cubicBezTo>
                      <a:pt x="373" y="113"/>
                      <a:pt x="367" y="107"/>
                      <a:pt x="366" y="100"/>
                    </a:cubicBezTo>
                    <a:cubicBezTo>
                      <a:pt x="359" y="44"/>
                      <a:pt x="308" y="0"/>
                      <a:pt x="254" y="0"/>
                    </a:cubicBezTo>
                    <a:cubicBezTo>
                      <a:pt x="200" y="0"/>
                      <a:pt x="149" y="44"/>
                      <a:pt x="142" y="100"/>
                    </a:cubicBezTo>
                    <a:cubicBezTo>
                      <a:pt x="141" y="107"/>
                      <a:pt x="135" y="113"/>
                      <a:pt x="128" y="113"/>
                    </a:cubicBezTo>
                    <a:cubicBezTo>
                      <a:pt x="114" y="113"/>
                      <a:pt x="100" y="113"/>
                      <a:pt x="85" y="113"/>
                    </a:cubicBezTo>
                    <a:cubicBezTo>
                      <a:pt x="38" y="113"/>
                      <a:pt x="0" y="151"/>
                      <a:pt x="0" y="197"/>
                    </a:cubicBezTo>
                    <a:cubicBezTo>
                      <a:pt x="0" y="206"/>
                      <a:pt x="0" y="216"/>
                      <a:pt x="0" y="226"/>
                    </a:cubicBezTo>
                    <a:cubicBezTo>
                      <a:pt x="0" y="241"/>
                      <a:pt x="13" y="254"/>
                      <a:pt x="28" y="254"/>
                    </a:cubicBezTo>
                    <a:cubicBezTo>
                      <a:pt x="179" y="254"/>
                      <a:pt x="330" y="254"/>
                      <a:pt x="480" y="254"/>
                    </a:cubicBezTo>
                    <a:cubicBezTo>
                      <a:pt x="495" y="254"/>
                      <a:pt x="508" y="241"/>
                      <a:pt x="508" y="226"/>
                    </a:cubicBezTo>
                    <a:cubicBezTo>
                      <a:pt x="508" y="216"/>
                      <a:pt x="508" y="206"/>
                      <a:pt x="508" y="197"/>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8" name="Freeform 203">
                <a:extLst>
                  <a:ext uri="{FF2B5EF4-FFF2-40B4-BE49-F238E27FC236}">
                    <a16:creationId xmlns:a16="http://schemas.microsoft.com/office/drawing/2014/main" id="{25F5185E-D449-8903-4D5D-E6C9C9E30AF0}"/>
                  </a:ext>
                </a:extLst>
              </p:cNvPr>
              <p:cNvSpPr>
                <a:spLocks noChangeArrowheads="1"/>
              </p:cNvSpPr>
              <p:nvPr/>
            </p:nvSpPr>
            <p:spPr bwMode="auto">
              <a:xfrm>
                <a:off x="8080375" y="2444750"/>
                <a:ext cx="92075" cy="1588"/>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39" name="Freeform 204">
                <a:extLst>
                  <a:ext uri="{FF2B5EF4-FFF2-40B4-BE49-F238E27FC236}">
                    <a16:creationId xmlns:a16="http://schemas.microsoft.com/office/drawing/2014/main" id="{ABA1B402-CA28-E1EF-B031-61D055A1E0B3}"/>
                  </a:ext>
                </a:extLst>
              </p:cNvPr>
              <p:cNvSpPr>
                <a:spLocks noChangeArrowheads="1"/>
              </p:cNvSpPr>
              <p:nvPr/>
            </p:nvSpPr>
            <p:spPr bwMode="auto">
              <a:xfrm>
                <a:off x="8080375" y="2322513"/>
                <a:ext cx="20638" cy="20637"/>
              </a:xfrm>
              <a:custGeom>
                <a:avLst/>
                <a:gdLst>
                  <a:gd name="T0" fmla="*/ 56 w 57"/>
                  <a:gd name="T1" fmla="*/ 29 h 58"/>
                  <a:gd name="T2" fmla="*/ 28 w 57"/>
                  <a:gd name="T3" fmla="*/ 57 h 58"/>
                  <a:gd name="T4" fmla="*/ 0 w 57"/>
                  <a:gd name="T5" fmla="*/ 29 h 58"/>
                  <a:gd name="T6" fmla="*/ 28 w 57"/>
                  <a:gd name="T7" fmla="*/ 0 h 58"/>
                  <a:gd name="T8" fmla="*/ 56 w 57"/>
                  <a:gd name="T9" fmla="*/ 29 h 58"/>
                </a:gdLst>
                <a:ahLst/>
                <a:cxnLst>
                  <a:cxn ang="0">
                    <a:pos x="T0" y="T1"/>
                  </a:cxn>
                  <a:cxn ang="0">
                    <a:pos x="T2" y="T3"/>
                  </a:cxn>
                  <a:cxn ang="0">
                    <a:pos x="T4" y="T5"/>
                  </a:cxn>
                  <a:cxn ang="0">
                    <a:pos x="T6" y="T7"/>
                  </a:cxn>
                  <a:cxn ang="0">
                    <a:pos x="T8" y="T9"/>
                  </a:cxn>
                </a:cxnLst>
                <a:rect l="0" t="0" r="r" b="b"/>
                <a:pathLst>
                  <a:path w="57" h="58">
                    <a:moveTo>
                      <a:pt x="56" y="29"/>
                    </a:moveTo>
                    <a:cubicBezTo>
                      <a:pt x="56" y="44"/>
                      <a:pt x="44" y="57"/>
                      <a:pt x="28" y="57"/>
                    </a:cubicBezTo>
                    <a:cubicBezTo>
                      <a:pt x="12" y="57"/>
                      <a:pt x="0" y="44"/>
                      <a:pt x="0" y="29"/>
                    </a:cubicBezTo>
                    <a:cubicBezTo>
                      <a:pt x="0" y="13"/>
                      <a:pt x="12" y="0"/>
                      <a:pt x="28" y="0"/>
                    </a:cubicBezTo>
                    <a:cubicBezTo>
                      <a:pt x="44" y="0"/>
                      <a:pt x="56" y="13"/>
                      <a:pt x="56" y="2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0" name="Freeform 205">
                <a:extLst>
                  <a:ext uri="{FF2B5EF4-FFF2-40B4-BE49-F238E27FC236}">
                    <a16:creationId xmlns:a16="http://schemas.microsoft.com/office/drawing/2014/main" id="{847A3FDA-C49A-8C37-ED9C-92157FFE43ED}"/>
                  </a:ext>
                </a:extLst>
              </p:cNvPr>
              <p:cNvSpPr>
                <a:spLocks noChangeArrowheads="1"/>
              </p:cNvSpPr>
              <p:nvPr/>
            </p:nvSpPr>
            <p:spPr bwMode="auto">
              <a:xfrm>
                <a:off x="8008938" y="2430463"/>
                <a:ext cx="31750" cy="30162"/>
              </a:xfrm>
              <a:custGeom>
                <a:avLst/>
                <a:gdLst>
                  <a:gd name="T0" fmla="*/ 85 w 86"/>
                  <a:gd name="T1" fmla="*/ 42 h 85"/>
                  <a:gd name="T2" fmla="*/ 43 w 86"/>
                  <a:gd name="T3" fmla="*/ 84 h 85"/>
                  <a:gd name="T4" fmla="*/ 0 w 86"/>
                  <a:gd name="T5" fmla="*/ 42 h 85"/>
                  <a:gd name="T6" fmla="*/ 43 w 86"/>
                  <a:gd name="T7" fmla="*/ 0 h 85"/>
                  <a:gd name="T8" fmla="*/ 85 w 86"/>
                  <a:gd name="T9" fmla="*/ 42 h 85"/>
                </a:gdLst>
                <a:ahLst/>
                <a:cxnLst>
                  <a:cxn ang="0">
                    <a:pos x="T0" y="T1"/>
                  </a:cxn>
                  <a:cxn ang="0">
                    <a:pos x="T2" y="T3"/>
                  </a:cxn>
                  <a:cxn ang="0">
                    <a:pos x="T4" y="T5"/>
                  </a:cxn>
                  <a:cxn ang="0">
                    <a:pos x="T6" y="T7"/>
                  </a:cxn>
                  <a:cxn ang="0">
                    <a:pos x="T8" y="T9"/>
                  </a:cxn>
                </a:cxnLst>
                <a:rect l="0" t="0" r="r" b="b"/>
                <a:pathLst>
                  <a:path w="86" h="85">
                    <a:moveTo>
                      <a:pt x="85" y="42"/>
                    </a:moveTo>
                    <a:cubicBezTo>
                      <a:pt x="85" y="66"/>
                      <a:pt x="66" y="84"/>
                      <a:pt x="43" y="84"/>
                    </a:cubicBezTo>
                    <a:cubicBezTo>
                      <a:pt x="19" y="84"/>
                      <a:pt x="0" y="66"/>
                      <a:pt x="0" y="42"/>
                    </a:cubicBezTo>
                    <a:cubicBezTo>
                      <a:pt x="0" y="19"/>
                      <a:pt x="19" y="0"/>
                      <a:pt x="43" y="0"/>
                    </a:cubicBezTo>
                    <a:cubicBezTo>
                      <a:pt x="66" y="0"/>
                      <a:pt x="85" y="19"/>
                      <a:pt x="85" y="42"/>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1" name="Freeform 206">
                <a:extLst>
                  <a:ext uri="{FF2B5EF4-FFF2-40B4-BE49-F238E27FC236}">
                    <a16:creationId xmlns:a16="http://schemas.microsoft.com/office/drawing/2014/main" id="{6DD13277-1DC0-CC0B-A99A-CEA19E23A8E8}"/>
                  </a:ext>
                </a:extLst>
              </p:cNvPr>
              <p:cNvSpPr>
                <a:spLocks noChangeArrowheads="1"/>
              </p:cNvSpPr>
              <p:nvPr/>
            </p:nvSpPr>
            <p:spPr bwMode="auto">
              <a:xfrm>
                <a:off x="8008938" y="2490788"/>
                <a:ext cx="31750" cy="31750"/>
              </a:xfrm>
              <a:custGeom>
                <a:avLst/>
                <a:gdLst>
                  <a:gd name="T0" fmla="*/ 85 w 86"/>
                  <a:gd name="T1" fmla="*/ 42 h 86"/>
                  <a:gd name="T2" fmla="*/ 43 w 86"/>
                  <a:gd name="T3" fmla="*/ 85 h 86"/>
                  <a:gd name="T4" fmla="*/ 0 w 86"/>
                  <a:gd name="T5" fmla="*/ 42 h 86"/>
                  <a:gd name="T6" fmla="*/ 43 w 86"/>
                  <a:gd name="T7" fmla="*/ 0 h 86"/>
                  <a:gd name="T8" fmla="*/ 85 w 86"/>
                  <a:gd name="T9" fmla="*/ 42 h 86"/>
                </a:gdLst>
                <a:ahLst/>
                <a:cxnLst>
                  <a:cxn ang="0">
                    <a:pos x="T0" y="T1"/>
                  </a:cxn>
                  <a:cxn ang="0">
                    <a:pos x="T2" y="T3"/>
                  </a:cxn>
                  <a:cxn ang="0">
                    <a:pos x="T4" y="T5"/>
                  </a:cxn>
                  <a:cxn ang="0">
                    <a:pos x="T6" y="T7"/>
                  </a:cxn>
                  <a:cxn ang="0">
                    <a:pos x="T8" y="T9"/>
                  </a:cxn>
                </a:cxnLst>
                <a:rect l="0" t="0" r="r" b="b"/>
                <a:pathLst>
                  <a:path w="86" h="86">
                    <a:moveTo>
                      <a:pt x="85" y="42"/>
                    </a:moveTo>
                    <a:cubicBezTo>
                      <a:pt x="85" y="66"/>
                      <a:pt x="66" y="85"/>
                      <a:pt x="43" y="85"/>
                    </a:cubicBezTo>
                    <a:cubicBezTo>
                      <a:pt x="19" y="85"/>
                      <a:pt x="0" y="66"/>
                      <a:pt x="0" y="42"/>
                    </a:cubicBezTo>
                    <a:cubicBezTo>
                      <a:pt x="0" y="19"/>
                      <a:pt x="19" y="0"/>
                      <a:pt x="43" y="0"/>
                    </a:cubicBezTo>
                    <a:cubicBezTo>
                      <a:pt x="66" y="0"/>
                      <a:pt x="85" y="19"/>
                      <a:pt x="85" y="42"/>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2" name="Freeform 207">
                <a:extLst>
                  <a:ext uri="{FF2B5EF4-FFF2-40B4-BE49-F238E27FC236}">
                    <a16:creationId xmlns:a16="http://schemas.microsoft.com/office/drawing/2014/main" id="{4EAAAFC1-EB70-21E0-F400-31CC8D9121B2}"/>
                  </a:ext>
                </a:extLst>
              </p:cNvPr>
              <p:cNvSpPr>
                <a:spLocks noChangeArrowheads="1"/>
              </p:cNvSpPr>
              <p:nvPr/>
            </p:nvSpPr>
            <p:spPr bwMode="auto">
              <a:xfrm>
                <a:off x="8008938" y="2551113"/>
                <a:ext cx="31750" cy="31750"/>
              </a:xfrm>
              <a:custGeom>
                <a:avLst/>
                <a:gdLst>
                  <a:gd name="T0" fmla="*/ 85 w 86"/>
                  <a:gd name="T1" fmla="*/ 43 h 86"/>
                  <a:gd name="T2" fmla="*/ 43 w 86"/>
                  <a:gd name="T3" fmla="*/ 85 h 86"/>
                  <a:gd name="T4" fmla="*/ 0 w 86"/>
                  <a:gd name="T5" fmla="*/ 43 h 86"/>
                  <a:gd name="T6" fmla="*/ 43 w 86"/>
                  <a:gd name="T7" fmla="*/ 0 h 86"/>
                  <a:gd name="T8" fmla="*/ 85 w 86"/>
                  <a:gd name="T9" fmla="*/ 43 h 86"/>
                </a:gdLst>
                <a:ahLst/>
                <a:cxnLst>
                  <a:cxn ang="0">
                    <a:pos x="T0" y="T1"/>
                  </a:cxn>
                  <a:cxn ang="0">
                    <a:pos x="T2" y="T3"/>
                  </a:cxn>
                  <a:cxn ang="0">
                    <a:pos x="T4" y="T5"/>
                  </a:cxn>
                  <a:cxn ang="0">
                    <a:pos x="T6" y="T7"/>
                  </a:cxn>
                  <a:cxn ang="0">
                    <a:pos x="T8" y="T9"/>
                  </a:cxn>
                </a:cxnLst>
                <a:rect l="0" t="0" r="r" b="b"/>
                <a:pathLst>
                  <a:path w="86" h="86">
                    <a:moveTo>
                      <a:pt x="85" y="43"/>
                    </a:moveTo>
                    <a:cubicBezTo>
                      <a:pt x="85" y="66"/>
                      <a:pt x="66" y="85"/>
                      <a:pt x="43" y="85"/>
                    </a:cubicBezTo>
                    <a:cubicBezTo>
                      <a:pt x="19" y="85"/>
                      <a:pt x="0" y="66"/>
                      <a:pt x="0" y="43"/>
                    </a:cubicBezTo>
                    <a:cubicBezTo>
                      <a:pt x="0" y="19"/>
                      <a:pt x="19" y="0"/>
                      <a:pt x="43" y="0"/>
                    </a:cubicBezTo>
                    <a:cubicBezTo>
                      <a:pt x="66" y="0"/>
                      <a:pt x="85" y="19"/>
                      <a:pt x="85" y="4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3" name="Freeform 208">
                <a:extLst>
                  <a:ext uri="{FF2B5EF4-FFF2-40B4-BE49-F238E27FC236}">
                    <a16:creationId xmlns:a16="http://schemas.microsoft.com/office/drawing/2014/main" id="{DC9DEB3F-7852-CF5E-BC8E-FC84F1465968}"/>
                  </a:ext>
                </a:extLst>
              </p:cNvPr>
              <p:cNvSpPr>
                <a:spLocks noChangeArrowheads="1"/>
              </p:cNvSpPr>
              <p:nvPr/>
            </p:nvSpPr>
            <p:spPr bwMode="auto">
              <a:xfrm>
                <a:off x="8008938" y="2613025"/>
                <a:ext cx="31750" cy="30163"/>
              </a:xfrm>
              <a:custGeom>
                <a:avLst/>
                <a:gdLst>
                  <a:gd name="T0" fmla="*/ 85 w 86"/>
                  <a:gd name="T1" fmla="*/ 42 h 85"/>
                  <a:gd name="T2" fmla="*/ 43 w 86"/>
                  <a:gd name="T3" fmla="*/ 84 h 85"/>
                  <a:gd name="T4" fmla="*/ 0 w 86"/>
                  <a:gd name="T5" fmla="*/ 42 h 85"/>
                  <a:gd name="T6" fmla="*/ 43 w 86"/>
                  <a:gd name="T7" fmla="*/ 0 h 85"/>
                  <a:gd name="T8" fmla="*/ 85 w 86"/>
                  <a:gd name="T9" fmla="*/ 42 h 85"/>
                </a:gdLst>
                <a:ahLst/>
                <a:cxnLst>
                  <a:cxn ang="0">
                    <a:pos x="T0" y="T1"/>
                  </a:cxn>
                  <a:cxn ang="0">
                    <a:pos x="T2" y="T3"/>
                  </a:cxn>
                  <a:cxn ang="0">
                    <a:pos x="T4" y="T5"/>
                  </a:cxn>
                  <a:cxn ang="0">
                    <a:pos x="T6" y="T7"/>
                  </a:cxn>
                  <a:cxn ang="0">
                    <a:pos x="T8" y="T9"/>
                  </a:cxn>
                </a:cxnLst>
                <a:rect l="0" t="0" r="r" b="b"/>
                <a:pathLst>
                  <a:path w="86" h="85">
                    <a:moveTo>
                      <a:pt x="85" y="42"/>
                    </a:moveTo>
                    <a:cubicBezTo>
                      <a:pt x="85" y="65"/>
                      <a:pt x="66" y="84"/>
                      <a:pt x="43" y="84"/>
                    </a:cubicBezTo>
                    <a:cubicBezTo>
                      <a:pt x="19" y="84"/>
                      <a:pt x="0" y="65"/>
                      <a:pt x="0" y="42"/>
                    </a:cubicBezTo>
                    <a:cubicBezTo>
                      <a:pt x="0" y="19"/>
                      <a:pt x="19" y="0"/>
                      <a:pt x="43" y="0"/>
                    </a:cubicBezTo>
                    <a:cubicBezTo>
                      <a:pt x="66" y="0"/>
                      <a:pt x="85" y="19"/>
                      <a:pt x="85" y="42"/>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4" name="Freeform 209">
                <a:extLst>
                  <a:ext uri="{FF2B5EF4-FFF2-40B4-BE49-F238E27FC236}">
                    <a16:creationId xmlns:a16="http://schemas.microsoft.com/office/drawing/2014/main" id="{4DF12E85-991E-EF1A-0913-780BC8038933}"/>
                  </a:ext>
                </a:extLst>
              </p:cNvPr>
              <p:cNvSpPr>
                <a:spLocks noChangeArrowheads="1"/>
              </p:cNvSpPr>
              <p:nvPr/>
            </p:nvSpPr>
            <p:spPr bwMode="auto">
              <a:xfrm>
                <a:off x="8080375" y="2506663"/>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5" name="Freeform 210">
                <a:extLst>
                  <a:ext uri="{FF2B5EF4-FFF2-40B4-BE49-F238E27FC236}">
                    <a16:creationId xmlns:a16="http://schemas.microsoft.com/office/drawing/2014/main" id="{43FC7E6C-D2D5-6A45-170F-89A83C419482}"/>
                  </a:ext>
                </a:extLst>
              </p:cNvPr>
              <p:cNvSpPr>
                <a:spLocks noChangeArrowheads="1"/>
              </p:cNvSpPr>
              <p:nvPr/>
            </p:nvSpPr>
            <p:spPr bwMode="auto">
              <a:xfrm>
                <a:off x="8080375" y="2566988"/>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46" name="Freeform 211">
                <a:extLst>
                  <a:ext uri="{FF2B5EF4-FFF2-40B4-BE49-F238E27FC236}">
                    <a16:creationId xmlns:a16="http://schemas.microsoft.com/office/drawing/2014/main" id="{1CE22D48-FA25-61A7-C5D0-9BEEB333E981}"/>
                  </a:ext>
                </a:extLst>
              </p:cNvPr>
              <p:cNvSpPr>
                <a:spLocks noChangeArrowheads="1"/>
              </p:cNvSpPr>
              <p:nvPr/>
            </p:nvSpPr>
            <p:spPr bwMode="auto">
              <a:xfrm>
                <a:off x="8080375" y="2627313"/>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47" name="Group 46">
            <a:extLst>
              <a:ext uri="{FF2B5EF4-FFF2-40B4-BE49-F238E27FC236}">
                <a16:creationId xmlns:a16="http://schemas.microsoft.com/office/drawing/2014/main" id="{E433AC91-C90B-CCD5-A6FD-925B423B2F09}"/>
              </a:ext>
            </a:extLst>
          </p:cNvPr>
          <p:cNvGrpSpPr>
            <a:grpSpLocks noChangeAspect="1"/>
          </p:cNvGrpSpPr>
          <p:nvPr/>
        </p:nvGrpSpPr>
        <p:grpSpPr>
          <a:xfrm>
            <a:off x="2623299" y="1559993"/>
            <a:ext cx="497092" cy="497093"/>
            <a:chOff x="10655081" y="510378"/>
            <a:chExt cx="788067" cy="788068"/>
          </a:xfrm>
        </p:grpSpPr>
        <p:sp>
          <p:nvSpPr>
            <p:cNvPr id="48" name="Freeform 63">
              <a:extLst>
                <a:ext uri="{FF2B5EF4-FFF2-40B4-BE49-F238E27FC236}">
                  <a16:creationId xmlns:a16="http://schemas.microsoft.com/office/drawing/2014/main" id="{1158CECC-0DC7-9F12-9BAC-8FAE16D6CA74}"/>
                </a:ext>
              </a:extLst>
            </p:cNvPr>
            <p:cNvSpPr>
              <a:spLocks noChangeArrowheads="1"/>
            </p:cNvSpPr>
            <p:nvPr/>
          </p:nvSpPr>
          <p:spPr bwMode="auto">
            <a:xfrm>
              <a:off x="10655081" y="510378"/>
              <a:ext cx="788067" cy="788068"/>
            </a:xfrm>
            <a:custGeom>
              <a:avLst/>
              <a:gdLst>
                <a:gd name="T0" fmla="*/ 1468 w 1751"/>
                <a:gd name="T1" fmla="*/ 1750 h 1751"/>
                <a:gd name="T2" fmla="*/ 1750 w 1751"/>
                <a:gd name="T3" fmla="*/ 1467 h 1751"/>
                <a:gd name="T4" fmla="*/ 1750 w 1751"/>
                <a:gd name="T5" fmla="*/ 282 h 1751"/>
                <a:gd name="T6" fmla="*/ 1468 w 1751"/>
                <a:gd name="T7" fmla="*/ 0 h 1751"/>
                <a:gd name="T8" fmla="*/ 282 w 1751"/>
                <a:gd name="T9" fmla="*/ 0 h 1751"/>
                <a:gd name="T10" fmla="*/ 0 w 1751"/>
                <a:gd name="T11" fmla="*/ 282 h 1751"/>
                <a:gd name="T12" fmla="*/ 0 w 1751"/>
                <a:gd name="T13" fmla="*/ 1467 h 1751"/>
                <a:gd name="T14" fmla="*/ 282 w 1751"/>
                <a:gd name="T15" fmla="*/ 1750 h 1751"/>
                <a:gd name="T16" fmla="*/ 1468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8" y="1750"/>
                  </a:moveTo>
                  <a:cubicBezTo>
                    <a:pt x="1623" y="1750"/>
                    <a:pt x="1750" y="1623"/>
                    <a:pt x="1750" y="1467"/>
                  </a:cubicBezTo>
                  <a:cubicBezTo>
                    <a:pt x="1750" y="1072"/>
                    <a:pt x="1750" y="677"/>
                    <a:pt x="1750" y="282"/>
                  </a:cubicBezTo>
                  <a:cubicBezTo>
                    <a:pt x="1750" y="127"/>
                    <a:pt x="1623" y="0"/>
                    <a:pt x="1468" y="0"/>
                  </a:cubicBezTo>
                  <a:cubicBezTo>
                    <a:pt x="1073" y="0"/>
                    <a:pt x="677" y="0"/>
                    <a:pt x="282" y="0"/>
                  </a:cubicBezTo>
                  <a:cubicBezTo>
                    <a:pt x="127" y="0"/>
                    <a:pt x="0" y="127"/>
                    <a:pt x="0" y="282"/>
                  </a:cubicBezTo>
                  <a:cubicBezTo>
                    <a:pt x="0" y="677"/>
                    <a:pt x="0" y="1072"/>
                    <a:pt x="0" y="1467"/>
                  </a:cubicBezTo>
                  <a:cubicBezTo>
                    <a:pt x="0" y="1623"/>
                    <a:pt x="127" y="1750"/>
                    <a:pt x="282" y="1750"/>
                  </a:cubicBezTo>
                  <a:cubicBezTo>
                    <a:pt x="677" y="1750"/>
                    <a:pt x="1073" y="1750"/>
                    <a:pt x="1468" y="175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nvGrpSpPr>
            <p:cNvPr id="49" name="Group 48">
              <a:extLst>
                <a:ext uri="{FF2B5EF4-FFF2-40B4-BE49-F238E27FC236}">
                  <a16:creationId xmlns:a16="http://schemas.microsoft.com/office/drawing/2014/main" id="{BDECEDE5-FB4F-0909-2B39-8B615D385014}"/>
                </a:ext>
              </a:extLst>
            </p:cNvPr>
            <p:cNvGrpSpPr/>
            <p:nvPr/>
          </p:nvGrpSpPr>
          <p:grpSpPr>
            <a:xfrm>
              <a:off x="10744408" y="603676"/>
              <a:ext cx="609413" cy="601472"/>
              <a:chOff x="10744408" y="603676"/>
              <a:chExt cx="609413" cy="601472"/>
            </a:xfrm>
          </p:grpSpPr>
          <p:sp>
            <p:nvSpPr>
              <p:cNvPr id="50" name="Freeform 64">
                <a:extLst>
                  <a:ext uri="{FF2B5EF4-FFF2-40B4-BE49-F238E27FC236}">
                    <a16:creationId xmlns:a16="http://schemas.microsoft.com/office/drawing/2014/main" id="{157B7216-5F2F-AE13-6B19-CAA000A469E0}"/>
                  </a:ext>
                </a:extLst>
              </p:cNvPr>
              <p:cNvSpPr>
                <a:spLocks noChangeArrowheads="1"/>
              </p:cNvSpPr>
              <p:nvPr/>
            </p:nvSpPr>
            <p:spPr bwMode="auto">
              <a:xfrm>
                <a:off x="10841676" y="625510"/>
                <a:ext cx="89327" cy="89328"/>
              </a:xfrm>
              <a:custGeom>
                <a:avLst/>
                <a:gdLst>
                  <a:gd name="T0" fmla="*/ 198 w 199"/>
                  <a:gd name="T1" fmla="*/ 98 h 198"/>
                  <a:gd name="T2" fmla="*/ 184 w 199"/>
                  <a:gd name="T3" fmla="*/ 148 h 198"/>
                  <a:gd name="T4" fmla="*/ 148 w 199"/>
                  <a:gd name="T5" fmla="*/ 184 h 198"/>
                  <a:gd name="T6" fmla="*/ 99 w 199"/>
                  <a:gd name="T7" fmla="*/ 197 h 198"/>
                  <a:gd name="T8" fmla="*/ 49 w 199"/>
                  <a:gd name="T9" fmla="*/ 184 h 198"/>
                  <a:gd name="T10" fmla="*/ 13 w 199"/>
                  <a:gd name="T11" fmla="*/ 148 h 198"/>
                  <a:gd name="T12" fmla="*/ 0 w 199"/>
                  <a:gd name="T13" fmla="*/ 98 h 198"/>
                  <a:gd name="T14" fmla="*/ 13 w 199"/>
                  <a:gd name="T15" fmla="*/ 49 h 198"/>
                  <a:gd name="T16" fmla="*/ 49 w 199"/>
                  <a:gd name="T17" fmla="*/ 13 h 198"/>
                  <a:gd name="T18" fmla="*/ 99 w 199"/>
                  <a:gd name="T19" fmla="*/ 0 h 198"/>
                  <a:gd name="T20" fmla="*/ 148 w 199"/>
                  <a:gd name="T21" fmla="*/ 13 h 198"/>
                  <a:gd name="T22" fmla="*/ 184 w 199"/>
                  <a:gd name="T23" fmla="*/ 49 h 198"/>
                  <a:gd name="T24" fmla="*/ 198 w 199"/>
                  <a:gd name="T25" fmla="*/ 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9" h="198">
                    <a:moveTo>
                      <a:pt x="198" y="98"/>
                    </a:moveTo>
                    <a:cubicBezTo>
                      <a:pt x="198" y="117"/>
                      <a:pt x="193" y="132"/>
                      <a:pt x="184" y="148"/>
                    </a:cubicBezTo>
                    <a:cubicBezTo>
                      <a:pt x="175" y="164"/>
                      <a:pt x="164" y="175"/>
                      <a:pt x="148" y="184"/>
                    </a:cubicBezTo>
                    <a:cubicBezTo>
                      <a:pt x="132" y="193"/>
                      <a:pt x="117" y="197"/>
                      <a:pt x="99" y="197"/>
                    </a:cubicBezTo>
                    <a:cubicBezTo>
                      <a:pt x="81" y="197"/>
                      <a:pt x="65" y="193"/>
                      <a:pt x="49" y="184"/>
                    </a:cubicBezTo>
                    <a:cubicBezTo>
                      <a:pt x="34" y="175"/>
                      <a:pt x="22" y="164"/>
                      <a:pt x="13" y="148"/>
                    </a:cubicBezTo>
                    <a:cubicBezTo>
                      <a:pt x="4" y="132"/>
                      <a:pt x="0" y="116"/>
                      <a:pt x="0" y="98"/>
                    </a:cubicBezTo>
                    <a:cubicBezTo>
                      <a:pt x="0" y="79"/>
                      <a:pt x="4" y="65"/>
                      <a:pt x="13" y="49"/>
                    </a:cubicBezTo>
                    <a:cubicBezTo>
                      <a:pt x="22" y="33"/>
                      <a:pt x="34" y="22"/>
                      <a:pt x="49" y="13"/>
                    </a:cubicBezTo>
                    <a:cubicBezTo>
                      <a:pt x="65" y="4"/>
                      <a:pt x="81" y="0"/>
                      <a:pt x="99" y="0"/>
                    </a:cubicBezTo>
                    <a:cubicBezTo>
                      <a:pt x="117" y="0"/>
                      <a:pt x="132" y="4"/>
                      <a:pt x="148" y="13"/>
                    </a:cubicBezTo>
                    <a:cubicBezTo>
                      <a:pt x="164" y="22"/>
                      <a:pt x="175" y="33"/>
                      <a:pt x="184" y="49"/>
                    </a:cubicBezTo>
                    <a:cubicBezTo>
                      <a:pt x="193" y="65"/>
                      <a:pt x="198" y="80"/>
                      <a:pt x="198" y="9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1" name="Freeform 65">
                <a:extLst>
                  <a:ext uri="{FF2B5EF4-FFF2-40B4-BE49-F238E27FC236}">
                    <a16:creationId xmlns:a16="http://schemas.microsoft.com/office/drawing/2014/main" id="{F9B29F1C-7082-0FED-3818-9A021B5C9FD8}"/>
                  </a:ext>
                </a:extLst>
              </p:cNvPr>
              <p:cNvSpPr>
                <a:spLocks noChangeArrowheads="1"/>
              </p:cNvSpPr>
              <p:nvPr/>
            </p:nvSpPr>
            <p:spPr bwMode="auto">
              <a:xfrm>
                <a:off x="10744408" y="603676"/>
                <a:ext cx="325549" cy="601471"/>
              </a:xfrm>
              <a:custGeom>
                <a:avLst/>
                <a:gdLst>
                  <a:gd name="T0" fmla="*/ 453 w 725"/>
                  <a:gd name="T1" fmla="*/ 1284 h 1335"/>
                  <a:gd name="T2" fmla="*/ 403 w 725"/>
                  <a:gd name="T3" fmla="*/ 1334 h 1335"/>
                  <a:gd name="T4" fmla="*/ 354 w 725"/>
                  <a:gd name="T5" fmla="*/ 1284 h 1335"/>
                  <a:gd name="T6" fmla="*/ 354 w 725"/>
                  <a:gd name="T7" fmla="*/ 865 h 1335"/>
                  <a:gd name="T8" fmla="*/ 313 w 725"/>
                  <a:gd name="T9" fmla="*/ 823 h 1335"/>
                  <a:gd name="T10" fmla="*/ 272 w 725"/>
                  <a:gd name="T11" fmla="*/ 865 h 1335"/>
                  <a:gd name="T12" fmla="*/ 272 w 725"/>
                  <a:gd name="T13" fmla="*/ 1284 h 1335"/>
                  <a:gd name="T14" fmla="*/ 222 w 725"/>
                  <a:gd name="T15" fmla="*/ 1334 h 1335"/>
                  <a:gd name="T16" fmla="*/ 173 w 725"/>
                  <a:gd name="T17" fmla="*/ 1284 h 1335"/>
                  <a:gd name="T18" fmla="*/ 173 w 725"/>
                  <a:gd name="T19" fmla="*/ 489 h 1335"/>
                  <a:gd name="T20" fmla="*/ 170 w 725"/>
                  <a:gd name="T21" fmla="*/ 484 h 1335"/>
                  <a:gd name="T22" fmla="*/ 164 w 725"/>
                  <a:gd name="T23" fmla="*/ 485 h 1335"/>
                  <a:gd name="T24" fmla="*/ 99 w 725"/>
                  <a:gd name="T25" fmla="*/ 642 h 1335"/>
                  <a:gd name="T26" fmla="*/ 99 w 725"/>
                  <a:gd name="T27" fmla="*/ 766 h 1335"/>
                  <a:gd name="T28" fmla="*/ 49 w 725"/>
                  <a:gd name="T29" fmla="*/ 815 h 1335"/>
                  <a:gd name="T30" fmla="*/ 0 w 725"/>
                  <a:gd name="T31" fmla="*/ 766 h 1335"/>
                  <a:gd name="T32" fmla="*/ 0 w 725"/>
                  <a:gd name="T33" fmla="*/ 634 h 1335"/>
                  <a:gd name="T34" fmla="*/ 313 w 725"/>
                  <a:gd name="T35" fmla="*/ 321 h 1335"/>
                  <a:gd name="T36" fmla="*/ 428 w 725"/>
                  <a:gd name="T37" fmla="*/ 321 h 1335"/>
                  <a:gd name="T38" fmla="*/ 626 w 725"/>
                  <a:gd name="T39" fmla="*/ 123 h 1335"/>
                  <a:gd name="T40" fmla="*/ 626 w 725"/>
                  <a:gd name="T41" fmla="*/ 49 h 1335"/>
                  <a:gd name="T42" fmla="*/ 675 w 725"/>
                  <a:gd name="T43" fmla="*/ 0 h 1335"/>
                  <a:gd name="T44" fmla="*/ 724 w 725"/>
                  <a:gd name="T45" fmla="*/ 49 h 1335"/>
                  <a:gd name="T46" fmla="*/ 724 w 725"/>
                  <a:gd name="T47" fmla="*/ 123 h 1335"/>
                  <a:gd name="T48" fmla="*/ 470 w 725"/>
                  <a:gd name="T49" fmla="*/ 417 h 1335"/>
                  <a:gd name="T50" fmla="*/ 463 w 725"/>
                  <a:gd name="T51" fmla="*/ 418 h 1335"/>
                  <a:gd name="T52" fmla="*/ 453 w 725"/>
                  <a:gd name="T53" fmla="*/ 430 h 1335"/>
                  <a:gd name="T54" fmla="*/ 453 w 725"/>
                  <a:gd name="T55" fmla="*/ 1284 h 1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5" h="1335">
                    <a:moveTo>
                      <a:pt x="453" y="1284"/>
                    </a:moveTo>
                    <a:cubicBezTo>
                      <a:pt x="453" y="1312"/>
                      <a:pt x="431" y="1334"/>
                      <a:pt x="403" y="1334"/>
                    </a:cubicBezTo>
                    <a:cubicBezTo>
                      <a:pt x="376" y="1334"/>
                      <a:pt x="354" y="1312"/>
                      <a:pt x="354" y="1284"/>
                    </a:cubicBezTo>
                    <a:cubicBezTo>
                      <a:pt x="354" y="1144"/>
                      <a:pt x="354" y="1005"/>
                      <a:pt x="354" y="865"/>
                    </a:cubicBezTo>
                    <a:cubicBezTo>
                      <a:pt x="354" y="842"/>
                      <a:pt x="335" y="823"/>
                      <a:pt x="313" y="823"/>
                    </a:cubicBezTo>
                    <a:cubicBezTo>
                      <a:pt x="290" y="823"/>
                      <a:pt x="272" y="842"/>
                      <a:pt x="272" y="865"/>
                    </a:cubicBezTo>
                    <a:cubicBezTo>
                      <a:pt x="272" y="1005"/>
                      <a:pt x="272" y="1144"/>
                      <a:pt x="272" y="1284"/>
                    </a:cubicBezTo>
                    <a:cubicBezTo>
                      <a:pt x="272" y="1312"/>
                      <a:pt x="249" y="1334"/>
                      <a:pt x="222" y="1334"/>
                    </a:cubicBezTo>
                    <a:cubicBezTo>
                      <a:pt x="195" y="1334"/>
                      <a:pt x="173" y="1312"/>
                      <a:pt x="173" y="1284"/>
                    </a:cubicBezTo>
                    <a:cubicBezTo>
                      <a:pt x="173" y="1019"/>
                      <a:pt x="173" y="754"/>
                      <a:pt x="173" y="489"/>
                    </a:cubicBezTo>
                    <a:cubicBezTo>
                      <a:pt x="173" y="487"/>
                      <a:pt x="172" y="485"/>
                      <a:pt x="170" y="484"/>
                    </a:cubicBezTo>
                    <a:cubicBezTo>
                      <a:pt x="168" y="483"/>
                      <a:pt x="165" y="484"/>
                      <a:pt x="164" y="485"/>
                    </a:cubicBezTo>
                    <a:cubicBezTo>
                      <a:pt x="122" y="527"/>
                      <a:pt x="99" y="583"/>
                      <a:pt x="99" y="642"/>
                    </a:cubicBezTo>
                    <a:cubicBezTo>
                      <a:pt x="99" y="683"/>
                      <a:pt x="99" y="725"/>
                      <a:pt x="99" y="766"/>
                    </a:cubicBezTo>
                    <a:cubicBezTo>
                      <a:pt x="99" y="793"/>
                      <a:pt x="77" y="815"/>
                      <a:pt x="49" y="815"/>
                    </a:cubicBezTo>
                    <a:cubicBezTo>
                      <a:pt x="22" y="815"/>
                      <a:pt x="0" y="793"/>
                      <a:pt x="0" y="766"/>
                    </a:cubicBezTo>
                    <a:cubicBezTo>
                      <a:pt x="0" y="722"/>
                      <a:pt x="0" y="678"/>
                      <a:pt x="0" y="634"/>
                    </a:cubicBezTo>
                    <a:cubicBezTo>
                      <a:pt x="0" y="462"/>
                      <a:pt x="140" y="321"/>
                      <a:pt x="313" y="321"/>
                    </a:cubicBezTo>
                    <a:cubicBezTo>
                      <a:pt x="351" y="321"/>
                      <a:pt x="390" y="321"/>
                      <a:pt x="428" y="321"/>
                    </a:cubicBezTo>
                    <a:cubicBezTo>
                      <a:pt x="537" y="321"/>
                      <a:pt x="626" y="232"/>
                      <a:pt x="626" y="123"/>
                    </a:cubicBezTo>
                    <a:cubicBezTo>
                      <a:pt x="626" y="98"/>
                      <a:pt x="626" y="74"/>
                      <a:pt x="626" y="49"/>
                    </a:cubicBezTo>
                    <a:cubicBezTo>
                      <a:pt x="626" y="22"/>
                      <a:pt x="648" y="0"/>
                      <a:pt x="675" y="0"/>
                    </a:cubicBezTo>
                    <a:cubicBezTo>
                      <a:pt x="702" y="0"/>
                      <a:pt x="724" y="22"/>
                      <a:pt x="724" y="49"/>
                    </a:cubicBezTo>
                    <a:cubicBezTo>
                      <a:pt x="724" y="74"/>
                      <a:pt x="724" y="98"/>
                      <a:pt x="724" y="123"/>
                    </a:cubicBezTo>
                    <a:cubicBezTo>
                      <a:pt x="724" y="273"/>
                      <a:pt x="614" y="396"/>
                      <a:pt x="470" y="417"/>
                    </a:cubicBezTo>
                    <a:cubicBezTo>
                      <a:pt x="468" y="417"/>
                      <a:pt x="465" y="418"/>
                      <a:pt x="463" y="418"/>
                    </a:cubicBezTo>
                    <a:cubicBezTo>
                      <a:pt x="457" y="418"/>
                      <a:pt x="453" y="424"/>
                      <a:pt x="453" y="430"/>
                    </a:cubicBezTo>
                    <a:cubicBezTo>
                      <a:pt x="453" y="715"/>
                      <a:pt x="453" y="999"/>
                      <a:pt x="453" y="128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2" name="Freeform 66">
                <a:extLst>
                  <a:ext uri="{FF2B5EF4-FFF2-40B4-BE49-F238E27FC236}">
                    <a16:creationId xmlns:a16="http://schemas.microsoft.com/office/drawing/2014/main" id="{2EA967DC-B8AD-7DEA-EB59-FB2A02D758D4}"/>
                  </a:ext>
                </a:extLst>
              </p:cNvPr>
              <p:cNvSpPr>
                <a:spLocks noChangeArrowheads="1"/>
              </p:cNvSpPr>
              <p:nvPr/>
            </p:nvSpPr>
            <p:spPr bwMode="auto">
              <a:xfrm>
                <a:off x="11167225" y="625510"/>
                <a:ext cx="89327" cy="89328"/>
              </a:xfrm>
              <a:custGeom>
                <a:avLst/>
                <a:gdLst>
                  <a:gd name="T0" fmla="*/ 198 w 199"/>
                  <a:gd name="T1" fmla="*/ 98 h 198"/>
                  <a:gd name="T2" fmla="*/ 185 w 199"/>
                  <a:gd name="T3" fmla="*/ 148 h 198"/>
                  <a:gd name="T4" fmla="*/ 149 w 199"/>
                  <a:gd name="T5" fmla="*/ 184 h 198"/>
                  <a:gd name="T6" fmla="*/ 99 w 199"/>
                  <a:gd name="T7" fmla="*/ 197 h 198"/>
                  <a:gd name="T8" fmla="*/ 50 w 199"/>
                  <a:gd name="T9" fmla="*/ 184 h 198"/>
                  <a:gd name="T10" fmla="*/ 14 w 199"/>
                  <a:gd name="T11" fmla="*/ 148 h 198"/>
                  <a:gd name="T12" fmla="*/ 0 w 199"/>
                  <a:gd name="T13" fmla="*/ 98 h 198"/>
                  <a:gd name="T14" fmla="*/ 14 w 199"/>
                  <a:gd name="T15" fmla="*/ 49 h 198"/>
                  <a:gd name="T16" fmla="*/ 50 w 199"/>
                  <a:gd name="T17" fmla="*/ 13 h 198"/>
                  <a:gd name="T18" fmla="*/ 99 w 199"/>
                  <a:gd name="T19" fmla="*/ 0 h 198"/>
                  <a:gd name="T20" fmla="*/ 149 w 199"/>
                  <a:gd name="T21" fmla="*/ 13 h 198"/>
                  <a:gd name="T22" fmla="*/ 185 w 199"/>
                  <a:gd name="T23" fmla="*/ 49 h 198"/>
                  <a:gd name="T24" fmla="*/ 198 w 199"/>
                  <a:gd name="T25" fmla="*/ 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9" h="198">
                    <a:moveTo>
                      <a:pt x="198" y="98"/>
                    </a:moveTo>
                    <a:cubicBezTo>
                      <a:pt x="198" y="117"/>
                      <a:pt x="194" y="132"/>
                      <a:pt x="185" y="148"/>
                    </a:cubicBezTo>
                    <a:cubicBezTo>
                      <a:pt x="176" y="164"/>
                      <a:pt x="165" y="175"/>
                      <a:pt x="149" y="184"/>
                    </a:cubicBezTo>
                    <a:cubicBezTo>
                      <a:pt x="134" y="193"/>
                      <a:pt x="117" y="197"/>
                      <a:pt x="99" y="197"/>
                    </a:cubicBezTo>
                    <a:cubicBezTo>
                      <a:pt x="81" y="197"/>
                      <a:pt x="66" y="193"/>
                      <a:pt x="50" y="184"/>
                    </a:cubicBezTo>
                    <a:cubicBezTo>
                      <a:pt x="35" y="175"/>
                      <a:pt x="24" y="164"/>
                      <a:pt x="14" y="148"/>
                    </a:cubicBezTo>
                    <a:cubicBezTo>
                      <a:pt x="5" y="132"/>
                      <a:pt x="0" y="116"/>
                      <a:pt x="0" y="98"/>
                    </a:cubicBezTo>
                    <a:cubicBezTo>
                      <a:pt x="0" y="79"/>
                      <a:pt x="5" y="65"/>
                      <a:pt x="14" y="49"/>
                    </a:cubicBezTo>
                    <a:cubicBezTo>
                      <a:pt x="24" y="33"/>
                      <a:pt x="35" y="22"/>
                      <a:pt x="50" y="13"/>
                    </a:cubicBezTo>
                    <a:cubicBezTo>
                      <a:pt x="66" y="4"/>
                      <a:pt x="81" y="0"/>
                      <a:pt x="99" y="0"/>
                    </a:cubicBezTo>
                    <a:cubicBezTo>
                      <a:pt x="117" y="0"/>
                      <a:pt x="134" y="4"/>
                      <a:pt x="149" y="13"/>
                    </a:cubicBezTo>
                    <a:cubicBezTo>
                      <a:pt x="165" y="22"/>
                      <a:pt x="176" y="33"/>
                      <a:pt x="185" y="49"/>
                    </a:cubicBezTo>
                    <a:cubicBezTo>
                      <a:pt x="194" y="65"/>
                      <a:pt x="198" y="80"/>
                      <a:pt x="198" y="9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3" name="Freeform 67">
                <a:extLst>
                  <a:ext uri="{FF2B5EF4-FFF2-40B4-BE49-F238E27FC236}">
                    <a16:creationId xmlns:a16="http://schemas.microsoft.com/office/drawing/2014/main" id="{AED0B419-7028-95A8-E3CB-052256F7B60D}"/>
                  </a:ext>
                </a:extLst>
              </p:cNvPr>
              <p:cNvSpPr>
                <a:spLocks noChangeArrowheads="1"/>
              </p:cNvSpPr>
              <p:nvPr/>
            </p:nvSpPr>
            <p:spPr bwMode="auto">
              <a:xfrm>
                <a:off x="11050107" y="659258"/>
                <a:ext cx="303714" cy="545890"/>
              </a:xfrm>
              <a:custGeom>
                <a:avLst/>
                <a:gdLst>
                  <a:gd name="T0" fmla="*/ 0 w 676"/>
                  <a:gd name="T1" fmla="*/ 164 h 1212"/>
                  <a:gd name="T2" fmla="*/ 205 w 676"/>
                  <a:gd name="T3" fmla="*/ 294 h 1212"/>
                  <a:gd name="T4" fmla="*/ 212 w 676"/>
                  <a:gd name="T5" fmla="*/ 295 h 1212"/>
                  <a:gd name="T6" fmla="*/ 222 w 676"/>
                  <a:gd name="T7" fmla="*/ 307 h 1212"/>
                  <a:gd name="T8" fmla="*/ 222 w 676"/>
                  <a:gd name="T9" fmla="*/ 1161 h 1212"/>
                  <a:gd name="T10" fmla="*/ 272 w 676"/>
                  <a:gd name="T11" fmla="*/ 1211 h 1212"/>
                  <a:gd name="T12" fmla="*/ 321 w 676"/>
                  <a:gd name="T13" fmla="*/ 1161 h 1212"/>
                  <a:gd name="T14" fmla="*/ 321 w 676"/>
                  <a:gd name="T15" fmla="*/ 742 h 1212"/>
                  <a:gd name="T16" fmla="*/ 362 w 676"/>
                  <a:gd name="T17" fmla="*/ 700 h 1212"/>
                  <a:gd name="T18" fmla="*/ 403 w 676"/>
                  <a:gd name="T19" fmla="*/ 742 h 1212"/>
                  <a:gd name="T20" fmla="*/ 403 w 676"/>
                  <a:gd name="T21" fmla="*/ 1161 h 1212"/>
                  <a:gd name="T22" fmla="*/ 453 w 676"/>
                  <a:gd name="T23" fmla="*/ 1211 h 1212"/>
                  <a:gd name="T24" fmla="*/ 502 w 676"/>
                  <a:gd name="T25" fmla="*/ 1161 h 1212"/>
                  <a:gd name="T26" fmla="*/ 502 w 676"/>
                  <a:gd name="T27" fmla="*/ 366 h 1212"/>
                  <a:gd name="T28" fmla="*/ 505 w 676"/>
                  <a:gd name="T29" fmla="*/ 361 h 1212"/>
                  <a:gd name="T30" fmla="*/ 511 w 676"/>
                  <a:gd name="T31" fmla="*/ 362 h 1212"/>
                  <a:gd name="T32" fmla="*/ 576 w 676"/>
                  <a:gd name="T33" fmla="*/ 519 h 1212"/>
                  <a:gd name="T34" fmla="*/ 576 w 676"/>
                  <a:gd name="T35" fmla="*/ 643 h 1212"/>
                  <a:gd name="T36" fmla="*/ 626 w 676"/>
                  <a:gd name="T37" fmla="*/ 692 h 1212"/>
                  <a:gd name="T38" fmla="*/ 675 w 676"/>
                  <a:gd name="T39" fmla="*/ 643 h 1212"/>
                  <a:gd name="T40" fmla="*/ 675 w 676"/>
                  <a:gd name="T41" fmla="*/ 511 h 1212"/>
                  <a:gd name="T42" fmla="*/ 362 w 676"/>
                  <a:gd name="T43" fmla="*/ 198 h 1212"/>
                  <a:gd name="T44" fmla="*/ 247 w 676"/>
                  <a:gd name="T45" fmla="*/ 198 h 1212"/>
                  <a:gd name="T46" fmla="*/ 49 w 676"/>
                  <a:gd name="T47" fmla="*/ 0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6" h="1212">
                    <a:moveTo>
                      <a:pt x="0" y="164"/>
                    </a:moveTo>
                    <a:cubicBezTo>
                      <a:pt x="46" y="233"/>
                      <a:pt x="119" y="281"/>
                      <a:pt x="205" y="294"/>
                    </a:cubicBezTo>
                    <a:cubicBezTo>
                      <a:pt x="207" y="294"/>
                      <a:pt x="210" y="295"/>
                      <a:pt x="212" y="295"/>
                    </a:cubicBezTo>
                    <a:cubicBezTo>
                      <a:pt x="218" y="295"/>
                      <a:pt x="222" y="301"/>
                      <a:pt x="222" y="307"/>
                    </a:cubicBezTo>
                    <a:cubicBezTo>
                      <a:pt x="222" y="592"/>
                      <a:pt x="222" y="876"/>
                      <a:pt x="222" y="1161"/>
                    </a:cubicBezTo>
                    <a:cubicBezTo>
                      <a:pt x="222" y="1189"/>
                      <a:pt x="244" y="1211"/>
                      <a:pt x="272" y="1211"/>
                    </a:cubicBezTo>
                    <a:cubicBezTo>
                      <a:pt x="299" y="1211"/>
                      <a:pt x="321" y="1189"/>
                      <a:pt x="321" y="1161"/>
                    </a:cubicBezTo>
                    <a:cubicBezTo>
                      <a:pt x="321" y="1021"/>
                      <a:pt x="321" y="882"/>
                      <a:pt x="321" y="742"/>
                    </a:cubicBezTo>
                    <a:cubicBezTo>
                      <a:pt x="321" y="719"/>
                      <a:pt x="339" y="700"/>
                      <a:pt x="362" y="700"/>
                    </a:cubicBezTo>
                    <a:cubicBezTo>
                      <a:pt x="385" y="700"/>
                      <a:pt x="403" y="719"/>
                      <a:pt x="403" y="742"/>
                    </a:cubicBezTo>
                    <a:cubicBezTo>
                      <a:pt x="403" y="882"/>
                      <a:pt x="403" y="1021"/>
                      <a:pt x="403" y="1161"/>
                    </a:cubicBezTo>
                    <a:cubicBezTo>
                      <a:pt x="403" y="1189"/>
                      <a:pt x="425" y="1211"/>
                      <a:pt x="453" y="1211"/>
                    </a:cubicBezTo>
                    <a:cubicBezTo>
                      <a:pt x="480" y="1211"/>
                      <a:pt x="502" y="1189"/>
                      <a:pt x="502" y="1161"/>
                    </a:cubicBezTo>
                    <a:cubicBezTo>
                      <a:pt x="502" y="896"/>
                      <a:pt x="502" y="631"/>
                      <a:pt x="502" y="366"/>
                    </a:cubicBezTo>
                    <a:cubicBezTo>
                      <a:pt x="502" y="364"/>
                      <a:pt x="503" y="362"/>
                      <a:pt x="505" y="361"/>
                    </a:cubicBezTo>
                    <a:cubicBezTo>
                      <a:pt x="507" y="360"/>
                      <a:pt x="510" y="361"/>
                      <a:pt x="511" y="362"/>
                    </a:cubicBezTo>
                    <a:cubicBezTo>
                      <a:pt x="553" y="404"/>
                      <a:pt x="576" y="460"/>
                      <a:pt x="576" y="519"/>
                    </a:cubicBezTo>
                    <a:cubicBezTo>
                      <a:pt x="576" y="560"/>
                      <a:pt x="576" y="602"/>
                      <a:pt x="576" y="643"/>
                    </a:cubicBezTo>
                    <a:cubicBezTo>
                      <a:pt x="576" y="670"/>
                      <a:pt x="598" y="692"/>
                      <a:pt x="626" y="692"/>
                    </a:cubicBezTo>
                    <a:cubicBezTo>
                      <a:pt x="653" y="692"/>
                      <a:pt x="675" y="670"/>
                      <a:pt x="675" y="643"/>
                    </a:cubicBezTo>
                    <a:cubicBezTo>
                      <a:pt x="675" y="599"/>
                      <a:pt x="675" y="555"/>
                      <a:pt x="675" y="511"/>
                    </a:cubicBezTo>
                    <a:cubicBezTo>
                      <a:pt x="675" y="339"/>
                      <a:pt x="535" y="198"/>
                      <a:pt x="362" y="198"/>
                    </a:cubicBezTo>
                    <a:cubicBezTo>
                      <a:pt x="324" y="198"/>
                      <a:pt x="285" y="198"/>
                      <a:pt x="247" y="198"/>
                    </a:cubicBezTo>
                    <a:cubicBezTo>
                      <a:pt x="138" y="198"/>
                      <a:pt x="49" y="109"/>
                      <a:pt x="49"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54" name="Group 53">
            <a:extLst>
              <a:ext uri="{FF2B5EF4-FFF2-40B4-BE49-F238E27FC236}">
                <a16:creationId xmlns:a16="http://schemas.microsoft.com/office/drawing/2014/main" id="{C00946AF-B4F0-924F-E591-4EA1DAA87213}"/>
              </a:ext>
            </a:extLst>
          </p:cNvPr>
          <p:cNvGrpSpPr>
            <a:grpSpLocks noChangeAspect="1"/>
          </p:cNvGrpSpPr>
          <p:nvPr/>
        </p:nvGrpSpPr>
        <p:grpSpPr>
          <a:xfrm>
            <a:off x="2616132" y="3773323"/>
            <a:ext cx="497091" cy="497091"/>
            <a:chOff x="6661943" y="5351463"/>
            <a:chExt cx="747713" cy="747713"/>
          </a:xfrm>
        </p:grpSpPr>
        <p:sp>
          <p:nvSpPr>
            <p:cNvPr id="55" name="Freeform 274">
              <a:extLst>
                <a:ext uri="{FF2B5EF4-FFF2-40B4-BE49-F238E27FC236}">
                  <a16:creationId xmlns:a16="http://schemas.microsoft.com/office/drawing/2014/main" id="{E3C23BB2-3E1D-228B-2D8E-FD9A4506051E}"/>
                </a:ext>
              </a:extLst>
            </p:cNvPr>
            <p:cNvSpPr>
              <a:spLocks noChangeArrowheads="1"/>
            </p:cNvSpPr>
            <p:nvPr/>
          </p:nvSpPr>
          <p:spPr bwMode="auto">
            <a:xfrm>
              <a:off x="6661943" y="5351463"/>
              <a:ext cx="747713" cy="747713"/>
            </a:xfrm>
            <a:custGeom>
              <a:avLst/>
              <a:gdLst>
                <a:gd name="T0" fmla="*/ 1742 w 2079"/>
                <a:gd name="T1" fmla="*/ 2078 h 2079"/>
                <a:gd name="T2" fmla="*/ 2078 w 2079"/>
                <a:gd name="T3" fmla="*/ 1743 h 2079"/>
                <a:gd name="T4" fmla="*/ 2078 w 2079"/>
                <a:gd name="T5" fmla="*/ 335 h 2079"/>
                <a:gd name="T6" fmla="*/ 1742 w 2079"/>
                <a:gd name="T7" fmla="*/ 0 h 2079"/>
                <a:gd name="T8" fmla="*/ 335 w 2079"/>
                <a:gd name="T9" fmla="*/ 0 h 2079"/>
                <a:gd name="T10" fmla="*/ 0 w 2079"/>
                <a:gd name="T11" fmla="*/ 335 h 2079"/>
                <a:gd name="T12" fmla="*/ 0 w 2079"/>
                <a:gd name="T13" fmla="*/ 1743 h 2079"/>
                <a:gd name="T14" fmla="*/ 335 w 2079"/>
                <a:gd name="T15" fmla="*/ 2078 h 2079"/>
                <a:gd name="T16" fmla="*/ 1742 w 2079"/>
                <a:gd name="T17" fmla="*/ 2078 h 20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79" h="2079">
                  <a:moveTo>
                    <a:pt x="1742" y="2078"/>
                  </a:moveTo>
                  <a:cubicBezTo>
                    <a:pt x="1927" y="2078"/>
                    <a:pt x="2078" y="1928"/>
                    <a:pt x="2078" y="1743"/>
                  </a:cubicBezTo>
                  <a:cubicBezTo>
                    <a:pt x="2078" y="1274"/>
                    <a:pt x="2078" y="804"/>
                    <a:pt x="2078" y="335"/>
                  </a:cubicBezTo>
                  <a:cubicBezTo>
                    <a:pt x="2078" y="151"/>
                    <a:pt x="1927" y="0"/>
                    <a:pt x="1742" y="0"/>
                  </a:cubicBezTo>
                  <a:cubicBezTo>
                    <a:pt x="1273" y="0"/>
                    <a:pt x="804" y="0"/>
                    <a:pt x="335" y="0"/>
                  </a:cubicBezTo>
                  <a:cubicBezTo>
                    <a:pt x="150" y="0"/>
                    <a:pt x="0" y="151"/>
                    <a:pt x="0" y="335"/>
                  </a:cubicBezTo>
                  <a:cubicBezTo>
                    <a:pt x="0" y="804"/>
                    <a:pt x="0" y="1274"/>
                    <a:pt x="0" y="1743"/>
                  </a:cubicBezTo>
                  <a:cubicBezTo>
                    <a:pt x="0" y="1928"/>
                    <a:pt x="150" y="2078"/>
                    <a:pt x="335" y="2078"/>
                  </a:cubicBezTo>
                  <a:cubicBezTo>
                    <a:pt x="804" y="2078"/>
                    <a:pt x="1273" y="2078"/>
                    <a:pt x="1742" y="207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nvGrpSpPr>
            <p:cNvPr id="56" name="Group 55">
              <a:extLst>
                <a:ext uri="{FF2B5EF4-FFF2-40B4-BE49-F238E27FC236}">
                  <a16:creationId xmlns:a16="http://schemas.microsoft.com/office/drawing/2014/main" id="{65462CF3-2716-C55C-6CD9-22A00A558542}"/>
                </a:ext>
              </a:extLst>
            </p:cNvPr>
            <p:cNvGrpSpPr/>
            <p:nvPr/>
          </p:nvGrpSpPr>
          <p:grpSpPr>
            <a:xfrm>
              <a:off x="6793706" y="5513388"/>
              <a:ext cx="482600" cy="385763"/>
              <a:chOff x="6793706" y="5513388"/>
              <a:chExt cx="482600" cy="385763"/>
            </a:xfrm>
          </p:grpSpPr>
          <p:sp>
            <p:nvSpPr>
              <p:cNvPr id="57" name="Freeform 275">
                <a:extLst>
                  <a:ext uri="{FF2B5EF4-FFF2-40B4-BE49-F238E27FC236}">
                    <a16:creationId xmlns:a16="http://schemas.microsoft.com/office/drawing/2014/main" id="{3039A84D-105C-322A-28B5-BFD6F270EF77}"/>
                  </a:ext>
                </a:extLst>
              </p:cNvPr>
              <p:cNvSpPr>
                <a:spLocks noChangeArrowheads="1"/>
              </p:cNvSpPr>
              <p:nvPr/>
            </p:nvSpPr>
            <p:spPr bwMode="auto">
              <a:xfrm>
                <a:off x="6793706" y="5597526"/>
                <a:ext cx="482600" cy="301625"/>
              </a:xfrm>
              <a:custGeom>
                <a:avLst/>
                <a:gdLst>
                  <a:gd name="T0" fmla="*/ 0 w 1342"/>
                  <a:gd name="T1" fmla="*/ 738 h 839"/>
                  <a:gd name="T2" fmla="*/ 101 w 1342"/>
                  <a:gd name="T3" fmla="*/ 838 h 839"/>
                  <a:gd name="T4" fmla="*/ 1240 w 1342"/>
                  <a:gd name="T5" fmla="*/ 838 h 839"/>
                  <a:gd name="T6" fmla="*/ 1341 w 1342"/>
                  <a:gd name="T7" fmla="*/ 738 h 839"/>
                  <a:gd name="T8" fmla="*/ 1341 w 1342"/>
                  <a:gd name="T9" fmla="*/ 101 h 839"/>
                  <a:gd name="T10" fmla="*/ 1240 w 1342"/>
                  <a:gd name="T11" fmla="*/ 0 h 839"/>
                  <a:gd name="T12" fmla="*/ 101 w 1342"/>
                  <a:gd name="T13" fmla="*/ 0 h 839"/>
                  <a:gd name="T14" fmla="*/ 0 w 1342"/>
                  <a:gd name="T15" fmla="*/ 101 h 839"/>
                  <a:gd name="T16" fmla="*/ 0 w 1342"/>
                  <a:gd name="T17" fmla="*/ 738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42" h="839">
                    <a:moveTo>
                      <a:pt x="0" y="738"/>
                    </a:moveTo>
                    <a:cubicBezTo>
                      <a:pt x="0" y="793"/>
                      <a:pt x="45" y="838"/>
                      <a:pt x="101" y="838"/>
                    </a:cubicBezTo>
                    <a:cubicBezTo>
                      <a:pt x="481" y="838"/>
                      <a:pt x="861" y="838"/>
                      <a:pt x="1240" y="838"/>
                    </a:cubicBezTo>
                    <a:cubicBezTo>
                      <a:pt x="1296" y="838"/>
                      <a:pt x="1341" y="793"/>
                      <a:pt x="1341" y="738"/>
                    </a:cubicBezTo>
                    <a:cubicBezTo>
                      <a:pt x="1341" y="526"/>
                      <a:pt x="1341" y="313"/>
                      <a:pt x="1341" y="101"/>
                    </a:cubicBezTo>
                    <a:cubicBezTo>
                      <a:pt x="1341" y="45"/>
                      <a:pt x="1296" y="0"/>
                      <a:pt x="1240" y="0"/>
                    </a:cubicBezTo>
                    <a:cubicBezTo>
                      <a:pt x="861" y="0"/>
                      <a:pt x="481" y="0"/>
                      <a:pt x="101" y="0"/>
                    </a:cubicBezTo>
                    <a:cubicBezTo>
                      <a:pt x="45" y="0"/>
                      <a:pt x="0" y="45"/>
                      <a:pt x="0" y="101"/>
                    </a:cubicBezTo>
                    <a:cubicBezTo>
                      <a:pt x="0" y="313"/>
                      <a:pt x="0" y="526"/>
                      <a:pt x="0" y="73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8" name="Freeform 276">
                <a:extLst>
                  <a:ext uri="{FF2B5EF4-FFF2-40B4-BE49-F238E27FC236}">
                    <a16:creationId xmlns:a16="http://schemas.microsoft.com/office/drawing/2014/main" id="{6BE7F5E1-820A-497B-2DD0-231389760D4D}"/>
                  </a:ext>
                </a:extLst>
              </p:cNvPr>
              <p:cNvSpPr>
                <a:spLocks noChangeArrowheads="1"/>
              </p:cNvSpPr>
              <p:nvPr/>
            </p:nvSpPr>
            <p:spPr bwMode="auto">
              <a:xfrm>
                <a:off x="6938168" y="5513388"/>
                <a:ext cx="193675" cy="84138"/>
              </a:xfrm>
              <a:custGeom>
                <a:avLst/>
                <a:gdLst>
                  <a:gd name="T0" fmla="*/ 0 w 538"/>
                  <a:gd name="T1" fmla="*/ 234 h 235"/>
                  <a:gd name="T2" fmla="*/ 0 w 538"/>
                  <a:gd name="T3" fmla="*/ 134 h 235"/>
                  <a:gd name="T4" fmla="*/ 135 w 538"/>
                  <a:gd name="T5" fmla="*/ 0 h 235"/>
                  <a:gd name="T6" fmla="*/ 403 w 538"/>
                  <a:gd name="T7" fmla="*/ 0 h 235"/>
                  <a:gd name="T8" fmla="*/ 537 w 538"/>
                  <a:gd name="T9" fmla="*/ 134 h 235"/>
                  <a:gd name="T10" fmla="*/ 537 w 538"/>
                  <a:gd name="T11" fmla="*/ 234 h 235"/>
                </a:gdLst>
                <a:ahLst/>
                <a:cxnLst>
                  <a:cxn ang="0">
                    <a:pos x="T0" y="T1"/>
                  </a:cxn>
                  <a:cxn ang="0">
                    <a:pos x="T2" y="T3"/>
                  </a:cxn>
                  <a:cxn ang="0">
                    <a:pos x="T4" y="T5"/>
                  </a:cxn>
                  <a:cxn ang="0">
                    <a:pos x="T6" y="T7"/>
                  </a:cxn>
                  <a:cxn ang="0">
                    <a:pos x="T8" y="T9"/>
                  </a:cxn>
                  <a:cxn ang="0">
                    <a:pos x="T10" y="T11"/>
                  </a:cxn>
                </a:cxnLst>
                <a:rect l="0" t="0" r="r" b="b"/>
                <a:pathLst>
                  <a:path w="538" h="235">
                    <a:moveTo>
                      <a:pt x="0" y="234"/>
                    </a:moveTo>
                    <a:cubicBezTo>
                      <a:pt x="0" y="201"/>
                      <a:pt x="0" y="167"/>
                      <a:pt x="0" y="134"/>
                    </a:cubicBezTo>
                    <a:cubicBezTo>
                      <a:pt x="0" y="60"/>
                      <a:pt x="61" y="0"/>
                      <a:pt x="135" y="0"/>
                    </a:cubicBezTo>
                    <a:cubicBezTo>
                      <a:pt x="225" y="0"/>
                      <a:pt x="314" y="0"/>
                      <a:pt x="403" y="0"/>
                    </a:cubicBezTo>
                    <a:cubicBezTo>
                      <a:pt x="477" y="0"/>
                      <a:pt x="537" y="60"/>
                      <a:pt x="537" y="134"/>
                    </a:cubicBezTo>
                    <a:cubicBezTo>
                      <a:pt x="537" y="167"/>
                      <a:pt x="537" y="201"/>
                      <a:pt x="537" y="23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9" name="Freeform 277">
                <a:extLst>
                  <a:ext uri="{FF2B5EF4-FFF2-40B4-BE49-F238E27FC236}">
                    <a16:creationId xmlns:a16="http://schemas.microsoft.com/office/drawing/2014/main" id="{D2F6A9C0-416B-271D-EB7B-393881BC5CFB}"/>
                  </a:ext>
                </a:extLst>
              </p:cNvPr>
              <p:cNvSpPr>
                <a:spLocks noChangeArrowheads="1"/>
              </p:cNvSpPr>
              <p:nvPr/>
            </p:nvSpPr>
            <p:spPr bwMode="auto">
              <a:xfrm>
                <a:off x="6974681" y="5549901"/>
                <a:ext cx="120650" cy="49212"/>
              </a:xfrm>
              <a:custGeom>
                <a:avLst/>
                <a:gdLst>
                  <a:gd name="T0" fmla="*/ 335 w 336"/>
                  <a:gd name="T1" fmla="*/ 134 h 135"/>
                  <a:gd name="T2" fmla="*/ 335 w 336"/>
                  <a:gd name="T3" fmla="*/ 34 h 135"/>
                  <a:gd name="T4" fmla="*/ 302 w 336"/>
                  <a:gd name="T5" fmla="*/ 0 h 135"/>
                  <a:gd name="T6" fmla="*/ 34 w 336"/>
                  <a:gd name="T7" fmla="*/ 0 h 135"/>
                  <a:gd name="T8" fmla="*/ 0 w 336"/>
                  <a:gd name="T9" fmla="*/ 34 h 135"/>
                  <a:gd name="T10" fmla="*/ 0 w 336"/>
                  <a:gd name="T11" fmla="*/ 134 h 135"/>
                </a:gdLst>
                <a:ahLst/>
                <a:cxnLst>
                  <a:cxn ang="0">
                    <a:pos x="T0" y="T1"/>
                  </a:cxn>
                  <a:cxn ang="0">
                    <a:pos x="T2" y="T3"/>
                  </a:cxn>
                  <a:cxn ang="0">
                    <a:pos x="T4" y="T5"/>
                  </a:cxn>
                  <a:cxn ang="0">
                    <a:pos x="T6" y="T7"/>
                  </a:cxn>
                  <a:cxn ang="0">
                    <a:pos x="T8" y="T9"/>
                  </a:cxn>
                  <a:cxn ang="0">
                    <a:pos x="T10" y="T11"/>
                  </a:cxn>
                </a:cxnLst>
                <a:rect l="0" t="0" r="r" b="b"/>
                <a:pathLst>
                  <a:path w="336" h="135">
                    <a:moveTo>
                      <a:pt x="335" y="134"/>
                    </a:moveTo>
                    <a:cubicBezTo>
                      <a:pt x="335" y="101"/>
                      <a:pt x="335" y="67"/>
                      <a:pt x="335" y="34"/>
                    </a:cubicBezTo>
                    <a:cubicBezTo>
                      <a:pt x="335" y="15"/>
                      <a:pt x="320" y="0"/>
                      <a:pt x="302" y="0"/>
                    </a:cubicBezTo>
                    <a:cubicBezTo>
                      <a:pt x="213" y="0"/>
                      <a:pt x="124" y="0"/>
                      <a:pt x="34" y="0"/>
                    </a:cubicBezTo>
                    <a:cubicBezTo>
                      <a:pt x="15" y="0"/>
                      <a:pt x="0" y="15"/>
                      <a:pt x="0" y="34"/>
                    </a:cubicBezTo>
                    <a:cubicBezTo>
                      <a:pt x="0" y="67"/>
                      <a:pt x="0" y="101"/>
                      <a:pt x="0" y="13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0" name="Freeform 278">
                <a:extLst>
                  <a:ext uri="{FF2B5EF4-FFF2-40B4-BE49-F238E27FC236}">
                    <a16:creationId xmlns:a16="http://schemas.microsoft.com/office/drawing/2014/main" id="{7A8030B4-5A28-E046-60CC-9B54C459CB0A}"/>
                  </a:ext>
                </a:extLst>
              </p:cNvPr>
              <p:cNvSpPr>
                <a:spLocks noChangeArrowheads="1"/>
              </p:cNvSpPr>
              <p:nvPr/>
            </p:nvSpPr>
            <p:spPr bwMode="auto">
              <a:xfrm>
                <a:off x="7017597" y="5659438"/>
                <a:ext cx="73025" cy="85725"/>
              </a:xfrm>
              <a:custGeom>
                <a:avLst/>
                <a:gdLst>
                  <a:gd name="T0" fmla="*/ 101 w 202"/>
                  <a:gd name="T1" fmla="*/ 235 h 236"/>
                  <a:gd name="T2" fmla="*/ 0 w 202"/>
                  <a:gd name="T3" fmla="*/ 134 h 236"/>
                  <a:gd name="T4" fmla="*/ 0 w 202"/>
                  <a:gd name="T5" fmla="*/ 17 h 236"/>
                  <a:gd name="T6" fmla="*/ 17 w 202"/>
                  <a:gd name="T7" fmla="*/ 0 h 236"/>
                  <a:gd name="T8" fmla="*/ 184 w 202"/>
                  <a:gd name="T9" fmla="*/ 0 h 236"/>
                  <a:gd name="T10" fmla="*/ 201 w 202"/>
                  <a:gd name="T11" fmla="*/ 17 h 236"/>
                  <a:gd name="T12" fmla="*/ 201 w 202"/>
                  <a:gd name="T13" fmla="*/ 134 h 236"/>
                  <a:gd name="T14" fmla="*/ 101 w 202"/>
                  <a:gd name="T15" fmla="*/ 235 h 2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2" h="236">
                    <a:moveTo>
                      <a:pt x="101" y="235"/>
                    </a:moveTo>
                    <a:cubicBezTo>
                      <a:pt x="45" y="235"/>
                      <a:pt x="0" y="189"/>
                      <a:pt x="0" y="134"/>
                    </a:cubicBezTo>
                    <a:cubicBezTo>
                      <a:pt x="0" y="95"/>
                      <a:pt x="0" y="56"/>
                      <a:pt x="0" y="17"/>
                    </a:cubicBezTo>
                    <a:cubicBezTo>
                      <a:pt x="0" y="7"/>
                      <a:pt x="8" y="0"/>
                      <a:pt x="17" y="0"/>
                    </a:cubicBezTo>
                    <a:cubicBezTo>
                      <a:pt x="73" y="0"/>
                      <a:pt x="129" y="0"/>
                      <a:pt x="184" y="0"/>
                    </a:cubicBezTo>
                    <a:cubicBezTo>
                      <a:pt x="194" y="0"/>
                      <a:pt x="201" y="7"/>
                      <a:pt x="201" y="17"/>
                    </a:cubicBezTo>
                    <a:cubicBezTo>
                      <a:pt x="201" y="56"/>
                      <a:pt x="201" y="95"/>
                      <a:pt x="201" y="134"/>
                    </a:cubicBezTo>
                    <a:cubicBezTo>
                      <a:pt x="201" y="189"/>
                      <a:pt x="156" y="235"/>
                      <a:pt x="101" y="235"/>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1" name="Freeform 279">
                <a:extLst>
                  <a:ext uri="{FF2B5EF4-FFF2-40B4-BE49-F238E27FC236}">
                    <a16:creationId xmlns:a16="http://schemas.microsoft.com/office/drawing/2014/main" id="{AABEDE04-7A90-385B-CF29-C6103460D07F}"/>
                  </a:ext>
                </a:extLst>
              </p:cNvPr>
              <p:cNvSpPr>
                <a:spLocks noChangeArrowheads="1"/>
              </p:cNvSpPr>
              <p:nvPr/>
            </p:nvSpPr>
            <p:spPr bwMode="auto">
              <a:xfrm>
                <a:off x="7071518" y="5694363"/>
                <a:ext cx="204788" cy="1588"/>
              </a:xfrm>
              <a:custGeom>
                <a:avLst/>
                <a:gdLst>
                  <a:gd name="T0" fmla="*/ 0 w 571"/>
                  <a:gd name="T1" fmla="*/ 0 h 1"/>
                  <a:gd name="T2" fmla="*/ 570 w 571"/>
                  <a:gd name="T3" fmla="*/ 0 h 1"/>
                </a:gdLst>
                <a:ahLst/>
                <a:cxnLst>
                  <a:cxn ang="0">
                    <a:pos x="T0" y="T1"/>
                  </a:cxn>
                  <a:cxn ang="0">
                    <a:pos x="T2" y="T3"/>
                  </a:cxn>
                </a:cxnLst>
                <a:rect l="0" t="0" r="r" b="b"/>
                <a:pathLst>
                  <a:path w="571" h="1">
                    <a:moveTo>
                      <a:pt x="0" y="0"/>
                    </a:moveTo>
                    <a:cubicBezTo>
                      <a:pt x="190" y="0"/>
                      <a:pt x="380" y="0"/>
                      <a:pt x="57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2" name="Freeform 280">
                <a:extLst>
                  <a:ext uri="{FF2B5EF4-FFF2-40B4-BE49-F238E27FC236}">
                    <a16:creationId xmlns:a16="http://schemas.microsoft.com/office/drawing/2014/main" id="{16A978C6-98ED-CB38-9AF3-B6EADD56E19E}"/>
                  </a:ext>
                </a:extLst>
              </p:cNvPr>
              <p:cNvSpPr>
                <a:spLocks noChangeArrowheads="1"/>
              </p:cNvSpPr>
              <p:nvPr/>
            </p:nvSpPr>
            <p:spPr bwMode="auto">
              <a:xfrm>
                <a:off x="6793706" y="5694363"/>
                <a:ext cx="204787" cy="1588"/>
              </a:xfrm>
              <a:custGeom>
                <a:avLst/>
                <a:gdLst>
                  <a:gd name="T0" fmla="*/ 0 w 571"/>
                  <a:gd name="T1" fmla="*/ 0 h 1"/>
                  <a:gd name="T2" fmla="*/ 570 w 571"/>
                  <a:gd name="T3" fmla="*/ 0 h 1"/>
                </a:gdLst>
                <a:ahLst/>
                <a:cxnLst>
                  <a:cxn ang="0">
                    <a:pos x="T0" y="T1"/>
                  </a:cxn>
                  <a:cxn ang="0">
                    <a:pos x="T2" y="T3"/>
                  </a:cxn>
                </a:cxnLst>
                <a:rect l="0" t="0" r="r" b="b"/>
                <a:pathLst>
                  <a:path w="571" h="1">
                    <a:moveTo>
                      <a:pt x="0" y="0"/>
                    </a:moveTo>
                    <a:cubicBezTo>
                      <a:pt x="190" y="0"/>
                      <a:pt x="380" y="0"/>
                      <a:pt x="57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63" name="Group 62">
            <a:extLst>
              <a:ext uri="{FF2B5EF4-FFF2-40B4-BE49-F238E27FC236}">
                <a16:creationId xmlns:a16="http://schemas.microsoft.com/office/drawing/2014/main" id="{9FE014C3-7FF0-EDD0-A617-5A26C54EF36F}"/>
              </a:ext>
            </a:extLst>
          </p:cNvPr>
          <p:cNvGrpSpPr>
            <a:grpSpLocks noChangeAspect="1"/>
          </p:cNvGrpSpPr>
          <p:nvPr/>
        </p:nvGrpSpPr>
        <p:grpSpPr>
          <a:xfrm>
            <a:off x="2613404" y="4605409"/>
            <a:ext cx="497091" cy="497091"/>
            <a:chOff x="787528" y="3801241"/>
            <a:chExt cx="781901" cy="781901"/>
          </a:xfrm>
        </p:grpSpPr>
        <p:sp>
          <p:nvSpPr>
            <p:cNvPr id="64" name="Freeform 202">
              <a:extLst>
                <a:ext uri="{FF2B5EF4-FFF2-40B4-BE49-F238E27FC236}">
                  <a16:creationId xmlns:a16="http://schemas.microsoft.com/office/drawing/2014/main" id="{593A8D92-CCED-57A5-0AEC-3FB30E34C48F}"/>
                </a:ext>
              </a:extLst>
            </p:cNvPr>
            <p:cNvSpPr>
              <a:spLocks noChangeArrowheads="1"/>
            </p:cNvSpPr>
            <p:nvPr/>
          </p:nvSpPr>
          <p:spPr bwMode="auto">
            <a:xfrm>
              <a:off x="787528" y="3801241"/>
              <a:ext cx="781901" cy="781901"/>
            </a:xfrm>
            <a:custGeom>
              <a:avLst/>
              <a:gdLst>
                <a:gd name="T0" fmla="*/ 1468 w 1751"/>
                <a:gd name="T1" fmla="*/ 1750 h 1751"/>
                <a:gd name="T2" fmla="*/ 1750 w 1751"/>
                <a:gd name="T3" fmla="*/ 1468 h 1751"/>
                <a:gd name="T4" fmla="*/ 1750 w 1751"/>
                <a:gd name="T5" fmla="*/ 282 h 1751"/>
                <a:gd name="T6" fmla="*/ 1468 w 1751"/>
                <a:gd name="T7" fmla="*/ 0 h 1751"/>
                <a:gd name="T8" fmla="*/ 282 w 1751"/>
                <a:gd name="T9" fmla="*/ 0 h 1751"/>
                <a:gd name="T10" fmla="*/ 0 w 1751"/>
                <a:gd name="T11" fmla="*/ 282 h 1751"/>
                <a:gd name="T12" fmla="*/ 0 w 1751"/>
                <a:gd name="T13" fmla="*/ 1468 h 1751"/>
                <a:gd name="T14" fmla="*/ 282 w 1751"/>
                <a:gd name="T15" fmla="*/ 1750 h 1751"/>
                <a:gd name="T16" fmla="*/ 1468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8" y="1750"/>
                  </a:moveTo>
                  <a:cubicBezTo>
                    <a:pt x="1623" y="1750"/>
                    <a:pt x="1750" y="1623"/>
                    <a:pt x="1750" y="1468"/>
                  </a:cubicBezTo>
                  <a:cubicBezTo>
                    <a:pt x="1750" y="1073"/>
                    <a:pt x="1750" y="678"/>
                    <a:pt x="1750" y="282"/>
                  </a:cubicBezTo>
                  <a:cubicBezTo>
                    <a:pt x="1750" y="127"/>
                    <a:pt x="1623" y="0"/>
                    <a:pt x="1468" y="0"/>
                  </a:cubicBezTo>
                  <a:cubicBezTo>
                    <a:pt x="1073" y="0"/>
                    <a:pt x="677" y="0"/>
                    <a:pt x="282" y="0"/>
                  </a:cubicBezTo>
                  <a:cubicBezTo>
                    <a:pt x="127" y="0"/>
                    <a:pt x="0" y="127"/>
                    <a:pt x="0" y="282"/>
                  </a:cubicBezTo>
                  <a:cubicBezTo>
                    <a:pt x="0" y="678"/>
                    <a:pt x="0" y="1073"/>
                    <a:pt x="0" y="1468"/>
                  </a:cubicBezTo>
                  <a:cubicBezTo>
                    <a:pt x="0" y="1623"/>
                    <a:pt x="127" y="1750"/>
                    <a:pt x="282" y="1750"/>
                  </a:cubicBezTo>
                  <a:cubicBezTo>
                    <a:pt x="677" y="1750"/>
                    <a:pt x="1073" y="1750"/>
                    <a:pt x="1468" y="175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nvGrpSpPr>
            <p:cNvPr id="65" name="Group 64">
              <a:extLst>
                <a:ext uri="{FF2B5EF4-FFF2-40B4-BE49-F238E27FC236}">
                  <a16:creationId xmlns:a16="http://schemas.microsoft.com/office/drawing/2014/main" id="{33C32C80-8ABD-13DD-D084-F3942AFCB298}"/>
                </a:ext>
              </a:extLst>
            </p:cNvPr>
            <p:cNvGrpSpPr/>
            <p:nvPr/>
          </p:nvGrpSpPr>
          <p:grpSpPr>
            <a:xfrm>
              <a:off x="931303" y="3958803"/>
              <a:ext cx="496320" cy="624338"/>
              <a:chOff x="931303" y="3958803"/>
              <a:chExt cx="496320" cy="624338"/>
            </a:xfrm>
          </p:grpSpPr>
          <p:sp>
            <p:nvSpPr>
              <p:cNvPr id="66" name="Freeform 203">
                <a:extLst>
                  <a:ext uri="{FF2B5EF4-FFF2-40B4-BE49-F238E27FC236}">
                    <a16:creationId xmlns:a16="http://schemas.microsoft.com/office/drawing/2014/main" id="{560C044E-D215-A809-CBAD-1C7911548C8D}"/>
                  </a:ext>
                </a:extLst>
              </p:cNvPr>
              <p:cNvSpPr>
                <a:spLocks noChangeArrowheads="1"/>
              </p:cNvSpPr>
              <p:nvPr/>
            </p:nvSpPr>
            <p:spPr bwMode="auto">
              <a:xfrm>
                <a:off x="1041596" y="4482696"/>
                <a:ext cx="275733" cy="100445"/>
              </a:xfrm>
              <a:custGeom>
                <a:avLst/>
                <a:gdLst>
                  <a:gd name="T0" fmla="*/ 616 w 617"/>
                  <a:gd name="T1" fmla="*/ 226 h 227"/>
                  <a:gd name="T2" fmla="*/ 308 w 617"/>
                  <a:gd name="T3" fmla="*/ 0 h 227"/>
                  <a:gd name="T4" fmla="*/ 0 w 617"/>
                  <a:gd name="T5" fmla="*/ 226 h 227"/>
                </a:gdLst>
                <a:ahLst/>
                <a:cxnLst>
                  <a:cxn ang="0">
                    <a:pos x="T0" y="T1"/>
                  </a:cxn>
                  <a:cxn ang="0">
                    <a:pos x="T2" y="T3"/>
                  </a:cxn>
                  <a:cxn ang="0">
                    <a:pos x="T4" y="T5"/>
                  </a:cxn>
                </a:cxnLst>
                <a:rect l="0" t="0" r="r" b="b"/>
                <a:pathLst>
                  <a:path w="617" h="227">
                    <a:moveTo>
                      <a:pt x="616" y="226"/>
                    </a:moveTo>
                    <a:cubicBezTo>
                      <a:pt x="575" y="95"/>
                      <a:pt x="452" y="0"/>
                      <a:pt x="308" y="0"/>
                    </a:cubicBezTo>
                    <a:cubicBezTo>
                      <a:pt x="164" y="0"/>
                      <a:pt x="41" y="95"/>
                      <a:pt x="0" y="22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7" name="Freeform 204">
                <a:extLst>
                  <a:ext uri="{FF2B5EF4-FFF2-40B4-BE49-F238E27FC236}">
                    <a16:creationId xmlns:a16="http://schemas.microsoft.com/office/drawing/2014/main" id="{18EC5E19-972D-45B5-779E-BC7982048F9A}"/>
                  </a:ext>
                </a:extLst>
              </p:cNvPr>
              <p:cNvSpPr>
                <a:spLocks noChangeArrowheads="1"/>
              </p:cNvSpPr>
              <p:nvPr/>
            </p:nvSpPr>
            <p:spPr bwMode="auto">
              <a:xfrm>
                <a:off x="1153860" y="3958803"/>
                <a:ext cx="51208" cy="523894"/>
              </a:xfrm>
              <a:custGeom>
                <a:avLst/>
                <a:gdLst>
                  <a:gd name="T0" fmla="*/ 0 w 114"/>
                  <a:gd name="T1" fmla="*/ 1171 h 1172"/>
                  <a:gd name="T2" fmla="*/ 0 w 114"/>
                  <a:gd name="T3" fmla="*/ 56 h 1172"/>
                  <a:gd name="T4" fmla="*/ 56 w 114"/>
                  <a:gd name="T5" fmla="*/ 0 h 1172"/>
                  <a:gd name="T6" fmla="*/ 113 w 114"/>
                  <a:gd name="T7" fmla="*/ 56 h 1172"/>
                  <a:gd name="T8" fmla="*/ 113 w 114"/>
                  <a:gd name="T9" fmla="*/ 1171 h 1172"/>
                </a:gdLst>
                <a:ahLst/>
                <a:cxnLst>
                  <a:cxn ang="0">
                    <a:pos x="T0" y="T1"/>
                  </a:cxn>
                  <a:cxn ang="0">
                    <a:pos x="T2" y="T3"/>
                  </a:cxn>
                  <a:cxn ang="0">
                    <a:pos x="T4" y="T5"/>
                  </a:cxn>
                  <a:cxn ang="0">
                    <a:pos x="T6" y="T7"/>
                  </a:cxn>
                  <a:cxn ang="0">
                    <a:pos x="T8" y="T9"/>
                  </a:cxn>
                </a:cxnLst>
                <a:rect l="0" t="0" r="r" b="b"/>
                <a:pathLst>
                  <a:path w="114" h="1172">
                    <a:moveTo>
                      <a:pt x="0" y="1171"/>
                    </a:moveTo>
                    <a:cubicBezTo>
                      <a:pt x="0" y="800"/>
                      <a:pt x="0" y="428"/>
                      <a:pt x="0" y="56"/>
                    </a:cubicBezTo>
                    <a:cubicBezTo>
                      <a:pt x="0" y="25"/>
                      <a:pt x="25" y="0"/>
                      <a:pt x="56" y="0"/>
                    </a:cubicBezTo>
                    <a:cubicBezTo>
                      <a:pt x="87" y="0"/>
                      <a:pt x="113" y="25"/>
                      <a:pt x="113" y="56"/>
                    </a:cubicBezTo>
                    <a:cubicBezTo>
                      <a:pt x="113" y="428"/>
                      <a:pt x="113" y="800"/>
                      <a:pt x="113" y="117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8" name="Freeform 205">
                <a:extLst>
                  <a:ext uri="{FF2B5EF4-FFF2-40B4-BE49-F238E27FC236}">
                    <a16:creationId xmlns:a16="http://schemas.microsoft.com/office/drawing/2014/main" id="{97335F3F-D250-85FE-5929-2C0EA18F5D8B}"/>
                  </a:ext>
                </a:extLst>
              </p:cNvPr>
              <p:cNvSpPr>
                <a:spLocks noChangeArrowheads="1"/>
              </p:cNvSpPr>
              <p:nvPr/>
            </p:nvSpPr>
            <p:spPr bwMode="auto">
              <a:xfrm>
                <a:off x="1205067" y="4010010"/>
                <a:ext cx="222556" cy="88628"/>
              </a:xfrm>
              <a:custGeom>
                <a:avLst/>
                <a:gdLst>
                  <a:gd name="T0" fmla="*/ 0 w 499"/>
                  <a:gd name="T1" fmla="*/ 197 h 198"/>
                  <a:gd name="T2" fmla="*/ 361 w 499"/>
                  <a:gd name="T3" fmla="*/ 197 h 198"/>
                  <a:gd name="T4" fmla="*/ 411 w 499"/>
                  <a:gd name="T5" fmla="*/ 179 h 198"/>
                  <a:gd name="T6" fmla="*/ 486 w 499"/>
                  <a:gd name="T7" fmla="*/ 117 h 198"/>
                  <a:gd name="T8" fmla="*/ 486 w 499"/>
                  <a:gd name="T9" fmla="*/ 81 h 198"/>
                  <a:gd name="T10" fmla="*/ 411 w 499"/>
                  <a:gd name="T11" fmla="*/ 18 h 198"/>
                  <a:gd name="T12" fmla="*/ 361 w 499"/>
                  <a:gd name="T13" fmla="*/ 0 h 198"/>
                  <a:gd name="T14" fmla="*/ 0 w 499"/>
                  <a:gd name="T15" fmla="*/ 0 h 1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9" h="198">
                    <a:moveTo>
                      <a:pt x="0" y="197"/>
                    </a:moveTo>
                    <a:cubicBezTo>
                      <a:pt x="120" y="197"/>
                      <a:pt x="241" y="197"/>
                      <a:pt x="361" y="197"/>
                    </a:cubicBezTo>
                    <a:cubicBezTo>
                      <a:pt x="376" y="197"/>
                      <a:pt x="399" y="189"/>
                      <a:pt x="411" y="179"/>
                    </a:cubicBezTo>
                    <a:cubicBezTo>
                      <a:pt x="436" y="159"/>
                      <a:pt x="461" y="138"/>
                      <a:pt x="486" y="117"/>
                    </a:cubicBezTo>
                    <a:cubicBezTo>
                      <a:pt x="498" y="107"/>
                      <a:pt x="498" y="91"/>
                      <a:pt x="486" y="81"/>
                    </a:cubicBezTo>
                    <a:cubicBezTo>
                      <a:pt x="461" y="60"/>
                      <a:pt x="436" y="39"/>
                      <a:pt x="411" y="18"/>
                    </a:cubicBezTo>
                    <a:cubicBezTo>
                      <a:pt x="399" y="8"/>
                      <a:pt x="376" y="0"/>
                      <a:pt x="361" y="0"/>
                    </a:cubicBezTo>
                    <a:cubicBezTo>
                      <a:pt x="241" y="0"/>
                      <a:pt x="120"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9" name="Freeform 206">
                <a:extLst>
                  <a:ext uri="{FF2B5EF4-FFF2-40B4-BE49-F238E27FC236}">
                    <a16:creationId xmlns:a16="http://schemas.microsoft.com/office/drawing/2014/main" id="{A0EA18C2-54F7-26A2-33AF-9DFDE040C0F8}"/>
                  </a:ext>
                </a:extLst>
              </p:cNvPr>
              <p:cNvSpPr>
                <a:spLocks noChangeArrowheads="1"/>
              </p:cNvSpPr>
              <p:nvPr/>
            </p:nvSpPr>
            <p:spPr bwMode="auto">
              <a:xfrm>
                <a:off x="931303" y="4096669"/>
                <a:ext cx="222557" cy="88628"/>
              </a:xfrm>
              <a:custGeom>
                <a:avLst/>
                <a:gdLst>
                  <a:gd name="T0" fmla="*/ 499 w 500"/>
                  <a:gd name="T1" fmla="*/ 198 h 199"/>
                  <a:gd name="T2" fmla="*/ 137 w 500"/>
                  <a:gd name="T3" fmla="*/ 198 h 199"/>
                  <a:gd name="T4" fmla="*/ 87 w 500"/>
                  <a:gd name="T5" fmla="*/ 180 h 199"/>
                  <a:gd name="T6" fmla="*/ 12 w 500"/>
                  <a:gd name="T7" fmla="*/ 117 h 199"/>
                  <a:gd name="T8" fmla="*/ 12 w 500"/>
                  <a:gd name="T9" fmla="*/ 81 h 199"/>
                  <a:gd name="T10" fmla="*/ 87 w 500"/>
                  <a:gd name="T11" fmla="*/ 19 h 199"/>
                  <a:gd name="T12" fmla="*/ 137 w 500"/>
                  <a:gd name="T13" fmla="*/ 0 h 199"/>
                  <a:gd name="T14" fmla="*/ 499 w 500"/>
                  <a:gd name="T15" fmla="*/ 0 h 1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0" h="199">
                    <a:moveTo>
                      <a:pt x="499" y="198"/>
                    </a:moveTo>
                    <a:cubicBezTo>
                      <a:pt x="378" y="198"/>
                      <a:pt x="258" y="198"/>
                      <a:pt x="137" y="198"/>
                    </a:cubicBezTo>
                    <a:cubicBezTo>
                      <a:pt x="122" y="198"/>
                      <a:pt x="99" y="190"/>
                      <a:pt x="87" y="180"/>
                    </a:cubicBezTo>
                    <a:cubicBezTo>
                      <a:pt x="62" y="159"/>
                      <a:pt x="37" y="138"/>
                      <a:pt x="12" y="117"/>
                    </a:cubicBezTo>
                    <a:cubicBezTo>
                      <a:pt x="0" y="107"/>
                      <a:pt x="0" y="91"/>
                      <a:pt x="12" y="81"/>
                    </a:cubicBezTo>
                    <a:cubicBezTo>
                      <a:pt x="37" y="61"/>
                      <a:pt x="62" y="40"/>
                      <a:pt x="87" y="19"/>
                    </a:cubicBezTo>
                    <a:cubicBezTo>
                      <a:pt x="99" y="9"/>
                      <a:pt x="122" y="0"/>
                      <a:pt x="137" y="0"/>
                    </a:cubicBezTo>
                    <a:cubicBezTo>
                      <a:pt x="258" y="0"/>
                      <a:pt x="378" y="0"/>
                      <a:pt x="499"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0" name="Freeform 207">
                <a:extLst>
                  <a:ext uri="{FF2B5EF4-FFF2-40B4-BE49-F238E27FC236}">
                    <a16:creationId xmlns:a16="http://schemas.microsoft.com/office/drawing/2014/main" id="{15126C6C-E3F4-C968-9C81-8CA83F8D7729}"/>
                  </a:ext>
                </a:extLst>
              </p:cNvPr>
              <p:cNvSpPr>
                <a:spLocks noChangeArrowheads="1"/>
              </p:cNvSpPr>
              <p:nvPr/>
            </p:nvSpPr>
            <p:spPr bwMode="auto">
              <a:xfrm>
                <a:off x="1205067" y="4185297"/>
                <a:ext cx="222556" cy="88629"/>
              </a:xfrm>
              <a:custGeom>
                <a:avLst/>
                <a:gdLst>
                  <a:gd name="T0" fmla="*/ 0 w 499"/>
                  <a:gd name="T1" fmla="*/ 198 h 199"/>
                  <a:gd name="T2" fmla="*/ 361 w 499"/>
                  <a:gd name="T3" fmla="*/ 198 h 199"/>
                  <a:gd name="T4" fmla="*/ 411 w 499"/>
                  <a:gd name="T5" fmla="*/ 179 h 199"/>
                  <a:gd name="T6" fmla="*/ 486 w 499"/>
                  <a:gd name="T7" fmla="*/ 117 h 199"/>
                  <a:gd name="T8" fmla="*/ 486 w 499"/>
                  <a:gd name="T9" fmla="*/ 81 h 199"/>
                  <a:gd name="T10" fmla="*/ 411 w 499"/>
                  <a:gd name="T11" fmla="*/ 18 h 199"/>
                  <a:gd name="T12" fmla="*/ 361 w 499"/>
                  <a:gd name="T13" fmla="*/ 0 h 199"/>
                  <a:gd name="T14" fmla="*/ 0 w 499"/>
                  <a:gd name="T15" fmla="*/ 0 h 1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9" h="199">
                    <a:moveTo>
                      <a:pt x="0" y="198"/>
                    </a:moveTo>
                    <a:cubicBezTo>
                      <a:pt x="120" y="198"/>
                      <a:pt x="241" y="198"/>
                      <a:pt x="361" y="198"/>
                    </a:cubicBezTo>
                    <a:cubicBezTo>
                      <a:pt x="376" y="198"/>
                      <a:pt x="399" y="189"/>
                      <a:pt x="411" y="179"/>
                    </a:cubicBezTo>
                    <a:cubicBezTo>
                      <a:pt x="436" y="159"/>
                      <a:pt x="461" y="138"/>
                      <a:pt x="486" y="117"/>
                    </a:cubicBezTo>
                    <a:cubicBezTo>
                      <a:pt x="498" y="107"/>
                      <a:pt x="498" y="91"/>
                      <a:pt x="486" y="81"/>
                    </a:cubicBezTo>
                    <a:cubicBezTo>
                      <a:pt x="461" y="60"/>
                      <a:pt x="436" y="39"/>
                      <a:pt x="411" y="18"/>
                    </a:cubicBezTo>
                    <a:cubicBezTo>
                      <a:pt x="399" y="8"/>
                      <a:pt x="376" y="0"/>
                      <a:pt x="361" y="0"/>
                    </a:cubicBezTo>
                    <a:cubicBezTo>
                      <a:pt x="241" y="0"/>
                      <a:pt x="120"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71" name="Group 70">
            <a:extLst>
              <a:ext uri="{FF2B5EF4-FFF2-40B4-BE49-F238E27FC236}">
                <a16:creationId xmlns:a16="http://schemas.microsoft.com/office/drawing/2014/main" id="{4C4E3D6E-A9E9-D824-0C81-A24AE3D81787}"/>
              </a:ext>
            </a:extLst>
          </p:cNvPr>
          <p:cNvGrpSpPr>
            <a:grpSpLocks noChangeAspect="1"/>
          </p:cNvGrpSpPr>
          <p:nvPr/>
        </p:nvGrpSpPr>
        <p:grpSpPr>
          <a:xfrm>
            <a:off x="2623152" y="5438041"/>
            <a:ext cx="497092" cy="497091"/>
            <a:chOff x="2728747" y="2164519"/>
            <a:chExt cx="788068" cy="788067"/>
          </a:xfrm>
        </p:grpSpPr>
        <p:sp>
          <p:nvSpPr>
            <p:cNvPr id="72" name="Freeform 147">
              <a:extLst>
                <a:ext uri="{FF2B5EF4-FFF2-40B4-BE49-F238E27FC236}">
                  <a16:creationId xmlns:a16="http://schemas.microsoft.com/office/drawing/2014/main" id="{FCD2D7CC-C73D-23E7-75E8-DFB0940F6075}"/>
                </a:ext>
              </a:extLst>
            </p:cNvPr>
            <p:cNvSpPr>
              <a:spLocks noChangeArrowheads="1"/>
            </p:cNvSpPr>
            <p:nvPr/>
          </p:nvSpPr>
          <p:spPr bwMode="auto">
            <a:xfrm>
              <a:off x="2728747" y="2164519"/>
              <a:ext cx="788068" cy="788067"/>
            </a:xfrm>
            <a:custGeom>
              <a:avLst/>
              <a:gdLst>
                <a:gd name="T0" fmla="*/ 1467 w 1751"/>
                <a:gd name="T1" fmla="*/ 1750 h 1751"/>
                <a:gd name="T2" fmla="*/ 1750 w 1751"/>
                <a:gd name="T3" fmla="*/ 1468 h 1751"/>
                <a:gd name="T4" fmla="*/ 1750 w 1751"/>
                <a:gd name="T5" fmla="*/ 282 h 1751"/>
                <a:gd name="T6" fmla="*/ 1467 w 1751"/>
                <a:gd name="T7" fmla="*/ 0 h 1751"/>
                <a:gd name="T8" fmla="*/ 282 w 1751"/>
                <a:gd name="T9" fmla="*/ 0 h 1751"/>
                <a:gd name="T10" fmla="*/ 0 w 1751"/>
                <a:gd name="T11" fmla="*/ 282 h 1751"/>
                <a:gd name="T12" fmla="*/ 0 w 1751"/>
                <a:gd name="T13" fmla="*/ 1468 h 1751"/>
                <a:gd name="T14" fmla="*/ 282 w 1751"/>
                <a:gd name="T15" fmla="*/ 1750 h 1751"/>
                <a:gd name="T16" fmla="*/ 1467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7" y="1750"/>
                  </a:moveTo>
                  <a:cubicBezTo>
                    <a:pt x="1623" y="1750"/>
                    <a:pt x="1750" y="1623"/>
                    <a:pt x="1750" y="1468"/>
                  </a:cubicBezTo>
                  <a:cubicBezTo>
                    <a:pt x="1750" y="1072"/>
                    <a:pt x="1750" y="677"/>
                    <a:pt x="1750" y="282"/>
                  </a:cubicBezTo>
                  <a:cubicBezTo>
                    <a:pt x="1750" y="127"/>
                    <a:pt x="1623" y="0"/>
                    <a:pt x="1467" y="0"/>
                  </a:cubicBezTo>
                  <a:cubicBezTo>
                    <a:pt x="1072" y="0"/>
                    <a:pt x="677" y="0"/>
                    <a:pt x="282" y="0"/>
                  </a:cubicBezTo>
                  <a:cubicBezTo>
                    <a:pt x="127" y="0"/>
                    <a:pt x="0" y="127"/>
                    <a:pt x="0" y="282"/>
                  </a:cubicBezTo>
                  <a:cubicBezTo>
                    <a:pt x="0" y="677"/>
                    <a:pt x="0" y="1072"/>
                    <a:pt x="0" y="1468"/>
                  </a:cubicBezTo>
                  <a:cubicBezTo>
                    <a:pt x="0" y="1623"/>
                    <a:pt x="127" y="1750"/>
                    <a:pt x="282" y="1750"/>
                  </a:cubicBezTo>
                  <a:cubicBezTo>
                    <a:pt x="677" y="1750"/>
                    <a:pt x="1072" y="1750"/>
                    <a:pt x="1467" y="175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nvGrpSpPr>
            <p:cNvPr id="73" name="Group 72">
              <a:extLst>
                <a:ext uri="{FF2B5EF4-FFF2-40B4-BE49-F238E27FC236}">
                  <a16:creationId xmlns:a16="http://schemas.microsoft.com/office/drawing/2014/main" id="{2D191FD5-02C6-0C3D-0AA4-DF5D5811420C}"/>
                </a:ext>
              </a:extLst>
            </p:cNvPr>
            <p:cNvGrpSpPr/>
            <p:nvPr/>
          </p:nvGrpSpPr>
          <p:grpSpPr>
            <a:xfrm>
              <a:off x="2901448" y="2271712"/>
              <a:ext cx="442667" cy="551846"/>
              <a:chOff x="2901448" y="2271712"/>
              <a:chExt cx="442667" cy="551846"/>
            </a:xfrm>
          </p:grpSpPr>
          <p:sp>
            <p:nvSpPr>
              <p:cNvPr id="74" name="Freeform 151">
                <a:extLst>
                  <a:ext uri="{FF2B5EF4-FFF2-40B4-BE49-F238E27FC236}">
                    <a16:creationId xmlns:a16="http://schemas.microsoft.com/office/drawing/2014/main" id="{FE004FF4-5E0F-E4D0-BB98-9150C196865D}"/>
                  </a:ext>
                </a:extLst>
              </p:cNvPr>
              <p:cNvSpPr>
                <a:spLocks noChangeArrowheads="1"/>
              </p:cNvSpPr>
              <p:nvPr/>
            </p:nvSpPr>
            <p:spPr bwMode="auto">
              <a:xfrm>
                <a:off x="2901448" y="2271712"/>
                <a:ext cx="442667" cy="333490"/>
              </a:xfrm>
              <a:custGeom>
                <a:avLst/>
                <a:gdLst>
                  <a:gd name="T0" fmla="*/ 49 w 985"/>
                  <a:gd name="T1" fmla="*/ 738 h 739"/>
                  <a:gd name="T2" fmla="*/ 72 w 985"/>
                  <a:gd name="T3" fmla="*/ 277 h 739"/>
                  <a:gd name="T4" fmla="*/ 690 w 985"/>
                  <a:gd name="T5" fmla="*/ 140 h 739"/>
                  <a:gd name="T6" fmla="*/ 698 w 985"/>
                  <a:gd name="T7" fmla="*/ 143 h 739"/>
                  <a:gd name="T8" fmla="*/ 912 w 985"/>
                  <a:gd name="T9" fmla="*/ 277 h 739"/>
                  <a:gd name="T10" fmla="*/ 935 w 985"/>
                  <a:gd name="T11" fmla="*/ 738 h 739"/>
                </a:gdLst>
                <a:ahLst/>
                <a:cxnLst>
                  <a:cxn ang="0">
                    <a:pos x="T0" y="T1"/>
                  </a:cxn>
                  <a:cxn ang="0">
                    <a:pos x="T2" y="T3"/>
                  </a:cxn>
                  <a:cxn ang="0">
                    <a:pos x="T4" y="T5"/>
                  </a:cxn>
                  <a:cxn ang="0">
                    <a:pos x="T6" y="T7"/>
                  </a:cxn>
                  <a:cxn ang="0">
                    <a:pos x="T8" y="T9"/>
                  </a:cxn>
                  <a:cxn ang="0">
                    <a:pos x="T10" y="T11"/>
                  </a:cxn>
                </a:cxnLst>
                <a:rect l="0" t="0" r="r" b="b"/>
                <a:pathLst>
                  <a:path w="985" h="739">
                    <a:moveTo>
                      <a:pt x="49" y="738"/>
                    </a:moveTo>
                    <a:cubicBezTo>
                      <a:pt x="26" y="624"/>
                      <a:pt x="0" y="415"/>
                      <a:pt x="72" y="277"/>
                    </a:cubicBezTo>
                    <a:cubicBezTo>
                      <a:pt x="202" y="27"/>
                      <a:pt x="533" y="0"/>
                      <a:pt x="690" y="140"/>
                    </a:cubicBezTo>
                    <a:cubicBezTo>
                      <a:pt x="692" y="142"/>
                      <a:pt x="695" y="143"/>
                      <a:pt x="698" y="143"/>
                    </a:cubicBezTo>
                    <a:cubicBezTo>
                      <a:pt x="784" y="144"/>
                      <a:pt x="861" y="181"/>
                      <a:pt x="912" y="277"/>
                    </a:cubicBezTo>
                    <a:cubicBezTo>
                      <a:pt x="984" y="415"/>
                      <a:pt x="957" y="625"/>
                      <a:pt x="935" y="73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5" name="Freeform 148">
                <a:extLst>
                  <a:ext uri="{FF2B5EF4-FFF2-40B4-BE49-F238E27FC236}">
                    <a16:creationId xmlns:a16="http://schemas.microsoft.com/office/drawing/2014/main" id="{5294D7CB-97EC-F690-1D22-A6315AF6AE94}"/>
                  </a:ext>
                </a:extLst>
              </p:cNvPr>
              <p:cNvSpPr>
                <a:spLocks noChangeArrowheads="1"/>
              </p:cNvSpPr>
              <p:nvPr/>
            </p:nvSpPr>
            <p:spPr bwMode="auto">
              <a:xfrm>
                <a:off x="3068193" y="2698498"/>
                <a:ext cx="109178" cy="13896"/>
              </a:xfrm>
              <a:custGeom>
                <a:avLst/>
                <a:gdLst>
                  <a:gd name="T0" fmla="*/ 0 w 241"/>
                  <a:gd name="T1" fmla="*/ 0 h 32"/>
                  <a:gd name="T2" fmla="*/ 120 w 241"/>
                  <a:gd name="T3" fmla="*/ 31 h 32"/>
                  <a:gd name="T4" fmla="*/ 240 w 241"/>
                  <a:gd name="T5" fmla="*/ 0 h 32"/>
                </a:gdLst>
                <a:ahLst/>
                <a:cxnLst>
                  <a:cxn ang="0">
                    <a:pos x="T0" y="T1"/>
                  </a:cxn>
                  <a:cxn ang="0">
                    <a:pos x="T2" y="T3"/>
                  </a:cxn>
                  <a:cxn ang="0">
                    <a:pos x="T4" y="T5"/>
                  </a:cxn>
                </a:cxnLst>
                <a:rect l="0" t="0" r="r" b="b"/>
                <a:pathLst>
                  <a:path w="241" h="32">
                    <a:moveTo>
                      <a:pt x="0" y="0"/>
                    </a:moveTo>
                    <a:cubicBezTo>
                      <a:pt x="35" y="20"/>
                      <a:pt x="76" y="31"/>
                      <a:pt x="120" y="31"/>
                    </a:cubicBezTo>
                    <a:cubicBezTo>
                      <a:pt x="163" y="31"/>
                      <a:pt x="204" y="20"/>
                      <a:pt x="24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6" name="Freeform 149">
                <a:extLst>
                  <a:ext uri="{FF2B5EF4-FFF2-40B4-BE49-F238E27FC236}">
                    <a16:creationId xmlns:a16="http://schemas.microsoft.com/office/drawing/2014/main" id="{9CDDDF65-FFCF-F8FB-B1D5-8373445CB7A6}"/>
                  </a:ext>
                </a:extLst>
              </p:cNvPr>
              <p:cNvSpPr>
                <a:spLocks noChangeArrowheads="1"/>
              </p:cNvSpPr>
              <p:nvPr/>
            </p:nvSpPr>
            <p:spPr bwMode="auto">
              <a:xfrm>
                <a:off x="2905418" y="2593291"/>
                <a:ext cx="45656" cy="91313"/>
              </a:xfrm>
              <a:custGeom>
                <a:avLst/>
                <a:gdLst>
                  <a:gd name="T0" fmla="*/ 102 w 103"/>
                  <a:gd name="T1" fmla="*/ 0 h 204"/>
                  <a:gd name="T2" fmla="*/ 0 w 103"/>
                  <a:gd name="T3" fmla="*/ 102 h 204"/>
                  <a:gd name="T4" fmla="*/ 102 w 103"/>
                  <a:gd name="T5" fmla="*/ 203 h 204"/>
                </a:gdLst>
                <a:ahLst/>
                <a:cxnLst>
                  <a:cxn ang="0">
                    <a:pos x="T0" y="T1"/>
                  </a:cxn>
                  <a:cxn ang="0">
                    <a:pos x="T2" y="T3"/>
                  </a:cxn>
                  <a:cxn ang="0">
                    <a:pos x="T4" y="T5"/>
                  </a:cxn>
                </a:cxnLst>
                <a:rect l="0" t="0" r="r" b="b"/>
                <a:pathLst>
                  <a:path w="103" h="204">
                    <a:moveTo>
                      <a:pt x="102" y="0"/>
                    </a:moveTo>
                    <a:cubicBezTo>
                      <a:pt x="46" y="0"/>
                      <a:pt x="0" y="45"/>
                      <a:pt x="0" y="102"/>
                    </a:cubicBezTo>
                    <a:cubicBezTo>
                      <a:pt x="0" y="158"/>
                      <a:pt x="46" y="203"/>
                      <a:pt x="102" y="20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7" name="Freeform 150">
                <a:extLst>
                  <a:ext uri="{FF2B5EF4-FFF2-40B4-BE49-F238E27FC236}">
                    <a16:creationId xmlns:a16="http://schemas.microsoft.com/office/drawing/2014/main" id="{1FF9796A-DB24-A5C0-E98B-D781A0791BAB}"/>
                  </a:ext>
                </a:extLst>
              </p:cNvPr>
              <p:cNvSpPr>
                <a:spLocks noChangeArrowheads="1"/>
              </p:cNvSpPr>
              <p:nvPr/>
            </p:nvSpPr>
            <p:spPr bwMode="auto">
              <a:xfrm>
                <a:off x="3292504" y="2593291"/>
                <a:ext cx="45657" cy="91313"/>
              </a:xfrm>
              <a:custGeom>
                <a:avLst/>
                <a:gdLst>
                  <a:gd name="T0" fmla="*/ 0 w 102"/>
                  <a:gd name="T1" fmla="*/ 0 h 204"/>
                  <a:gd name="T2" fmla="*/ 101 w 102"/>
                  <a:gd name="T3" fmla="*/ 102 h 204"/>
                  <a:gd name="T4" fmla="*/ 0 w 102"/>
                  <a:gd name="T5" fmla="*/ 203 h 204"/>
                </a:gdLst>
                <a:ahLst/>
                <a:cxnLst>
                  <a:cxn ang="0">
                    <a:pos x="T0" y="T1"/>
                  </a:cxn>
                  <a:cxn ang="0">
                    <a:pos x="T2" y="T3"/>
                  </a:cxn>
                  <a:cxn ang="0">
                    <a:pos x="T4" y="T5"/>
                  </a:cxn>
                </a:cxnLst>
                <a:rect l="0" t="0" r="r" b="b"/>
                <a:pathLst>
                  <a:path w="102" h="204">
                    <a:moveTo>
                      <a:pt x="0" y="0"/>
                    </a:moveTo>
                    <a:cubicBezTo>
                      <a:pt x="56" y="0"/>
                      <a:pt x="101" y="45"/>
                      <a:pt x="101" y="102"/>
                    </a:cubicBezTo>
                    <a:cubicBezTo>
                      <a:pt x="101" y="158"/>
                      <a:pt x="56" y="203"/>
                      <a:pt x="0" y="20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152">
                <a:extLst>
                  <a:ext uri="{FF2B5EF4-FFF2-40B4-BE49-F238E27FC236}">
                    <a16:creationId xmlns:a16="http://schemas.microsoft.com/office/drawing/2014/main" id="{4405B74B-1C13-A0D8-DAEE-C966944C707C}"/>
                  </a:ext>
                </a:extLst>
              </p:cNvPr>
              <p:cNvSpPr>
                <a:spLocks noChangeArrowheads="1"/>
              </p:cNvSpPr>
              <p:nvPr/>
            </p:nvSpPr>
            <p:spPr bwMode="auto">
              <a:xfrm>
                <a:off x="3042386" y="2595275"/>
                <a:ext cx="13896" cy="13896"/>
              </a:xfrm>
              <a:custGeom>
                <a:avLst/>
                <a:gdLst>
                  <a:gd name="T0" fmla="*/ 14 w 29"/>
                  <a:gd name="T1" fmla="*/ 28 h 29"/>
                  <a:gd name="T2" fmla="*/ 28 w 29"/>
                  <a:gd name="T3" fmla="*/ 14 h 29"/>
                  <a:gd name="T4" fmla="*/ 14 w 29"/>
                  <a:gd name="T5" fmla="*/ 0 h 29"/>
                  <a:gd name="T6" fmla="*/ 0 w 29"/>
                  <a:gd name="T7" fmla="*/ 14 h 29"/>
                  <a:gd name="T8" fmla="*/ 14 w 29"/>
                  <a:gd name="T9" fmla="*/ 28 h 29"/>
                </a:gdLst>
                <a:ahLst/>
                <a:cxnLst>
                  <a:cxn ang="0">
                    <a:pos x="T0" y="T1"/>
                  </a:cxn>
                  <a:cxn ang="0">
                    <a:pos x="T2" y="T3"/>
                  </a:cxn>
                  <a:cxn ang="0">
                    <a:pos x="T4" y="T5"/>
                  </a:cxn>
                  <a:cxn ang="0">
                    <a:pos x="T6" y="T7"/>
                  </a:cxn>
                  <a:cxn ang="0">
                    <a:pos x="T8" y="T9"/>
                  </a:cxn>
                </a:cxnLst>
                <a:rect l="0" t="0" r="r" b="b"/>
                <a:pathLst>
                  <a:path w="29" h="29">
                    <a:moveTo>
                      <a:pt x="14" y="28"/>
                    </a:moveTo>
                    <a:cubicBezTo>
                      <a:pt x="22" y="28"/>
                      <a:pt x="28" y="22"/>
                      <a:pt x="28" y="14"/>
                    </a:cubicBezTo>
                    <a:cubicBezTo>
                      <a:pt x="28" y="6"/>
                      <a:pt x="22" y="0"/>
                      <a:pt x="14" y="0"/>
                    </a:cubicBezTo>
                    <a:cubicBezTo>
                      <a:pt x="6" y="0"/>
                      <a:pt x="0" y="6"/>
                      <a:pt x="0" y="14"/>
                    </a:cubicBezTo>
                    <a:cubicBezTo>
                      <a:pt x="0" y="22"/>
                      <a:pt x="6" y="28"/>
                      <a:pt x="14" y="2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9" name="Freeform 153">
                <a:extLst>
                  <a:ext uri="{FF2B5EF4-FFF2-40B4-BE49-F238E27FC236}">
                    <a16:creationId xmlns:a16="http://schemas.microsoft.com/office/drawing/2014/main" id="{F941CEE9-A92C-43F4-BB5A-C11EAE68CAD9}"/>
                  </a:ext>
                </a:extLst>
              </p:cNvPr>
              <p:cNvSpPr>
                <a:spLocks noChangeArrowheads="1"/>
              </p:cNvSpPr>
              <p:nvPr/>
            </p:nvSpPr>
            <p:spPr bwMode="auto">
              <a:xfrm>
                <a:off x="3042386" y="2595275"/>
                <a:ext cx="13896" cy="13896"/>
              </a:xfrm>
              <a:custGeom>
                <a:avLst/>
                <a:gdLst>
                  <a:gd name="T0" fmla="*/ 14 w 29"/>
                  <a:gd name="T1" fmla="*/ 28 h 29"/>
                  <a:gd name="T2" fmla="*/ 28 w 29"/>
                  <a:gd name="T3" fmla="*/ 14 h 29"/>
                  <a:gd name="T4" fmla="*/ 14 w 29"/>
                  <a:gd name="T5" fmla="*/ 0 h 29"/>
                  <a:gd name="T6" fmla="*/ 0 w 29"/>
                  <a:gd name="T7" fmla="*/ 14 h 29"/>
                  <a:gd name="T8" fmla="*/ 14 w 29"/>
                  <a:gd name="T9" fmla="*/ 28 h 29"/>
                </a:gdLst>
                <a:ahLst/>
                <a:cxnLst>
                  <a:cxn ang="0">
                    <a:pos x="T0" y="T1"/>
                  </a:cxn>
                  <a:cxn ang="0">
                    <a:pos x="T2" y="T3"/>
                  </a:cxn>
                  <a:cxn ang="0">
                    <a:pos x="T4" y="T5"/>
                  </a:cxn>
                  <a:cxn ang="0">
                    <a:pos x="T6" y="T7"/>
                  </a:cxn>
                  <a:cxn ang="0">
                    <a:pos x="T8" y="T9"/>
                  </a:cxn>
                </a:cxnLst>
                <a:rect l="0" t="0" r="r" b="b"/>
                <a:pathLst>
                  <a:path w="29" h="29">
                    <a:moveTo>
                      <a:pt x="14" y="28"/>
                    </a:moveTo>
                    <a:cubicBezTo>
                      <a:pt x="22" y="28"/>
                      <a:pt x="28" y="22"/>
                      <a:pt x="28" y="14"/>
                    </a:cubicBezTo>
                    <a:cubicBezTo>
                      <a:pt x="28" y="6"/>
                      <a:pt x="22" y="0"/>
                      <a:pt x="14" y="0"/>
                    </a:cubicBezTo>
                    <a:cubicBezTo>
                      <a:pt x="6" y="0"/>
                      <a:pt x="0" y="6"/>
                      <a:pt x="0" y="14"/>
                    </a:cubicBezTo>
                    <a:cubicBezTo>
                      <a:pt x="0" y="22"/>
                      <a:pt x="6" y="28"/>
                      <a:pt x="14" y="2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0" name="Freeform 154">
                <a:extLst>
                  <a:ext uri="{FF2B5EF4-FFF2-40B4-BE49-F238E27FC236}">
                    <a16:creationId xmlns:a16="http://schemas.microsoft.com/office/drawing/2014/main" id="{54DFD850-5E21-114D-4E47-233BA3CADB41}"/>
                  </a:ext>
                </a:extLst>
              </p:cNvPr>
              <p:cNvSpPr>
                <a:spLocks noChangeArrowheads="1"/>
              </p:cNvSpPr>
              <p:nvPr/>
            </p:nvSpPr>
            <p:spPr bwMode="auto">
              <a:xfrm>
                <a:off x="3189281" y="2595275"/>
                <a:ext cx="13896" cy="13896"/>
              </a:xfrm>
              <a:custGeom>
                <a:avLst/>
                <a:gdLst>
                  <a:gd name="T0" fmla="*/ 14 w 30"/>
                  <a:gd name="T1" fmla="*/ 28 h 29"/>
                  <a:gd name="T2" fmla="*/ 29 w 30"/>
                  <a:gd name="T3" fmla="*/ 14 h 29"/>
                  <a:gd name="T4" fmla="*/ 14 w 30"/>
                  <a:gd name="T5" fmla="*/ 0 h 29"/>
                  <a:gd name="T6" fmla="*/ 0 w 30"/>
                  <a:gd name="T7" fmla="*/ 14 h 29"/>
                  <a:gd name="T8" fmla="*/ 14 w 30"/>
                  <a:gd name="T9" fmla="*/ 28 h 29"/>
                </a:gdLst>
                <a:ahLst/>
                <a:cxnLst>
                  <a:cxn ang="0">
                    <a:pos x="T0" y="T1"/>
                  </a:cxn>
                  <a:cxn ang="0">
                    <a:pos x="T2" y="T3"/>
                  </a:cxn>
                  <a:cxn ang="0">
                    <a:pos x="T4" y="T5"/>
                  </a:cxn>
                  <a:cxn ang="0">
                    <a:pos x="T6" y="T7"/>
                  </a:cxn>
                  <a:cxn ang="0">
                    <a:pos x="T8" y="T9"/>
                  </a:cxn>
                </a:cxnLst>
                <a:rect l="0" t="0" r="r" b="b"/>
                <a:pathLst>
                  <a:path w="30" h="29">
                    <a:moveTo>
                      <a:pt x="14" y="28"/>
                    </a:moveTo>
                    <a:cubicBezTo>
                      <a:pt x="22" y="28"/>
                      <a:pt x="29" y="22"/>
                      <a:pt x="29" y="14"/>
                    </a:cubicBezTo>
                    <a:cubicBezTo>
                      <a:pt x="29" y="6"/>
                      <a:pt x="21" y="0"/>
                      <a:pt x="14" y="0"/>
                    </a:cubicBezTo>
                    <a:cubicBezTo>
                      <a:pt x="6" y="0"/>
                      <a:pt x="0" y="6"/>
                      <a:pt x="0" y="14"/>
                    </a:cubicBezTo>
                    <a:cubicBezTo>
                      <a:pt x="0" y="22"/>
                      <a:pt x="7" y="28"/>
                      <a:pt x="14" y="2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1" name="Freeform 155">
                <a:extLst>
                  <a:ext uri="{FF2B5EF4-FFF2-40B4-BE49-F238E27FC236}">
                    <a16:creationId xmlns:a16="http://schemas.microsoft.com/office/drawing/2014/main" id="{B288152C-E6FF-FBC5-17F4-F5BD5B63A019}"/>
                  </a:ext>
                </a:extLst>
              </p:cNvPr>
              <p:cNvSpPr>
                <a:spLocks noChangeArrowheads="1"/>
              </p:cNvSpPr>
              <p:nvPr/>
            </p:nvSpPr>
            <p:spPr bwMode="auto">
              <a:xfrm>
                <a:off x="2953059" y="2446397"/>
                <a:ext cx="341430" cy="377161"/>
              </a:xfrm>
              <a:custGeom>
                <a:avLst/>
                <a:gdLst>
                  <a:gd name="T0" fmla="*/ 25 w 757"/>
                  <a:gd name="T1" fmla="*/ 671 h 836"/>
                  <a:gd name="T2" fmla="*/ 0 w 757"/>
                  <a:gd name="T3" fmla="*/ 602 h 836"/>
                  <a:gd name="T4" fmla="*/ 0 w 757"/>
                  <a:gd name="T5" fmla="*/ 232 h 836"/>
                  <a:gd name="T6" fmla="*/ 34 w 757"/>
                  <a:gd name="T7" fmla="*/ 183 h 836"/>
                  <a:gd name="T8" fmla="*/ 497 w 757"/>
                  <a:gd name="T9" fmla="*/ 13 h 836"/>
                  <a:gd name="T10" fmla="*/ 605 w 757"/>
                  <a:gd name="T11" fmla="*/ 38 h 836"/>
                  <a:gd name="T12" fmla="*/ 719 w 757"/>
                  <a:gd name="T13" fmla="*/ 157 h 836"/>
                  <a:gd name="T14" fmla="*/ 756 w 757"/>
                  <a:gd name="T15" fmla="*/ 248 h 836"/>
                  <a:gd name="T16" fmla="*/ 756 w 757"/>
                  <a:gd name="T17" fmla="*/ 602 h 836"/>
                  <a:gd name="T18" fmla="*/ 731 w 757"/>
                  <a:gd name="T19" fmla="*/ 671 h 836"/>
                  <a:gd name="T20" fmla="*/ 378 w 757"/>
                  <a:gd name="T21" fmla="*/ 835 h 836"/>
                  <a:gd name="T22" fmla="*/ 25 w 757"/>
                  <a:gd name="T23" fmla="*/ 671 h 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57" h="836">
                    <a:moveTo>
                      <a:pt x="25" y="671"/>
                    </a:moveTo>
                    <a:cubicBezTo>
                      <a:pt x="9" y="652"/>
                      <a:pt x="0" y="628"/>
                      <a:pt x="0" y="602"/>
                    </a:cubicBezTo>
                    <a:cubicBezTo>
                      <a:pt x="0" y="478"/>
                      <a:pt x="0" y="355"/>
                      <a:pt x="0" y="232"/>
                    </a:cubicBezTo>
                    <a:cubicBezTo>
                      <a:pt x="0" y="210"/>
                      <a:pt x="14" y="190"/>
                      <a:pt x="34" y="183"/>
                    </a:cubicBezTo>
                    <a:cubicBezTo>
                      <a:pt x="188" y="126"/>
                      <a:pt x="342" y="69"/>
                      <a:pt x="497" y="13"/>
                    </a:cubicBezTo>
                    <a:cubicBezTo>
                      <a:pt x="531" y="0"/>
                      <a:pt x="580" y="11"/>
                      <a:pt x="605" y="38"/>
                    </a:cubicBezTo>
                    <a:cubicBezTo>
                      <a:pt x="643" y="77"/>
                      <a:pt x="681" y="117"/>
                      <a:pt x="719" y="157"/>
                    </a:cubicBezTo>
                    <a:cubicBezTo>
                      <a:pt x="739" y="178"/>
                      <a:pt x="756" y="219"/>
                      <a:pt x="756" y="248"/>
                    </a:cubicBezTo>
                    <a:cubicBezTo>
                      <a:pt x="756" y="366"/>
                      <a:pt x="756" y="484"/>
                      <a:pt x="756" y="602"/>
                    </a:cubicBezTo>
                    <a:cubicBezTo>
                      <a:pt x="756" y="628"/>
                      <a:pt x="747" y="652"/>
                      <a:pt x="731" y="671"/>
                    </a:cubicBezTo>
                    <a:cubicBezTo>
                      <a:pt x="646" y="771"/>
                      <a:pt x="519" y="835"/>
                      <a:pt x="378" y="835"/>
                    </a:cubicBezTo>
                    <a:cubicBezTo>
                      <a:pt x="236" y="835"/>
                      <a:pt x="110" y="771"/>
                      <a:pt x="25" y="67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2" name="Freeform 156">
                <a:extLst>
                  <a:ext uri="{FF2B5EF4-FFF2-40B4-BE49-F238E27FC236}">
                    <a16:creationId xmlns:a16="http://schemas.microsoft.com/office/drawing/2014/main" id="{8C22998A-17D3-77F3-B2C6-87215CB7CE37}"/>
                  </a:ext>
                </a:extLst>
              </p:cNvPr>
              <p:cNvSpPr>
                <a:spLocks noChangeArrowheads="1"/>
              </p:cNvSpPr>
              <p:nvPr/>
            </p:nvSpPr>
            <p:spPr bwMode="auto">
              <a:xfrm>
                <a:off x="2921298" y="2372949"/>
                <a:ext cx="402966" cy="230267"/>
              </a:xfrm>
              <a:custGeom>
                <a:avLst/>
                <a:gdLst>
                  <a:gd name="T0" fmla="*/ 891 w 896"/>
                  <a:gd name="T1" fmla="*/ 510 h 511"/>
                  <a:gd name="T2" fmla="*/ 895 w 896"/>
                  <a:gd name="T3" fmla="*/ 447 h 511"/>
                  <a:gd name="T4" fmla="*/ 448 w 896"/>
                  <a:gd name="T5" fmla="*/ 0 h 511"/>
                  <a:gd name="T6" fmla="*/ 0 w 896"/>
                  <a:gd name="T7" fmla="*/ 447 h 511"/>
                  <a:gd name="T8" fmla="*/ 5 w 896"/>
                  <a:gd name="T9" fmla="*/ 510 h 511"/>
                </a:gdLst>
                <a:ahLst/>
                <a:cxnLst>
                  <a:cxn ang="0">
                    <a:pos x="T0" y="T1"/>
                  </a:cxn>
                  <a:cxn ang="0">
                    <a:pos x="T2" y="T3"/>
                  </a:cxn>
                  <a:cxn ang="0">
                    <a:pos x="T4" y="T5"/>
                  </a:cxn>
                  <a:cxn ang="0">
                    <a:pos x="T6" y="T7"/>
                  </a:cxn>
                  <a:cxn ang="0">
                    <a:pos x="T8" y="T9"/>
                  </a:cxn>
                </a:cxnLst>
                <a:rect l="0" t="0" r="r" b="b"/>
                <a:pathLst>
                  <a:path w="896" h="511">
                    <a:moveTo>
                      <a:pt x="891" y="510"/>
                    </a:moveTo>
                    <a:cubicBezTo>
                      <a:pt x="894" y="490"/>
                      <a:pt x="895" y="469"/>
                      <a:pt x="895" y="447"/>
                    </a:cubicBezTo>
                    <a:cubicBezTo>
                      <a:pt x="895" y="201"/>
                      <a:pt x="694" y="0"/>
                      <a:pt x="448" y="0"/>
                    </a:cubicBezTo>
                    <a:cubicBezTo>
                      <a:pt x="201" y="0"/>
                      <a:pt x="0" y="201"/>
                      <a:pt x="0" y="447"/>
                    </a:cubicBezTo>
                    <a:cubicBezTo>
                      <a:pt x="0" y="469"/>
                      <a:pt x="2" y="490"/>
                      <a:pt x="5" y="51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3" name="Freeform 157">
                <a:extLst>
                  <a:ext uri="{FF2B5EF4-FFF2-40B4-BE49-F238E27FC236}">
                    <a16:creationId xmlns:a16="http://schemas.microsoft.com/office/drawing/2014/main" id="{D610C526-90B6-151D-7F26-DDE193FA6E23}"/>
                  </a:ext>
                </a:extLst>
              </p:cNvPr>
              <p:cNvSpPr>
                <a:spLocks noChangeArrowheads="1"/>
              </p:cNvSpPr>
              <p:nvPr/>
            </p:nvSpPr>
            <p:spPr bwMode="auto">
              <a:xfrm>
                <a:off x="3036432" y="2740185"/>
                <a:ext cx="25805" cy="25805"/>
              </a:xfrm>
              <a:custGeom>
                <a:avLst/>
                <a:gdLst>
                  <a:gd name="T0" fmla="*/ 28 w 57"/>
                  <a:gd name="T1" fmla="*/ 57 h 58"/>
                  <a:gd name="T2" fmla="*/ 56 w 57"/>
                  <a:gd name="T3" fmla="*/ 29 h 58"/>
                  <a:gd name="T4" fmla="*/ 28 w 57"/>
                  <a:gd name="T5" fmla="*/ 0 h 58"/>
                  <a:gd name="T6" fmla="*/ 0 w 57"/>
                  <a:gd name="T7" fmla="*/ 29 h 58"/>
                  <a:gd name="T8" fmla="*/ 28 w 57"/>
                  <a:gd name="T9" fmla="*/ 57 h 58"/>
                </a:gdLst>
                <a:ahLst/>
                <a:cxnLst>
                  <a:cxn ang="0">
                    <a:pos x="T0" y="T1"/>
                  </a:cxn>
                  <a:cxn ang="0">
                    <a:pos x="T2" y="T3"/>
                  </a:cxn>
                  <a:cxn ang="0">
                    <a:pos x="T4" y="T5"/>
                  </a:cxn>
                  <a:cxn ang="0">
                    <a:pos x="T6" y="T7"/>
                  </a:cxn>
                  <a:cxn ang="0">
                    <a:pos x="T8" y="T9"/>
                  </a:cxn>
                </a:cxnLst>
                <a:rect l="0" t="0" r="r" b="b"/>
                <a:pathLst>
                  <a:path w="57" h="58">
                    <a:moveTo>
                      <a:pt x="28" y="57"/>
                    </a:moveTo>
                    <a:cubicBezTo>
                      <a:pt x="44" y="57"/>
                      <a:pt x="56" y="44"/>
                      <a:pt x="56" y="29"/>
                    </a:cubicBezTo>
                    <a:cubicBezTo>
                      <a:pt x="56" y="13"/>
                      <a:pt x="44" y="0"/>
                      <a:pt x="28" y="0"/>
                    </a:cubicBezTo>
                    <a:cubicBezTo>
                      <a:pt x="12" y="0"/>
                      <a:pt x="0" y="13"/>
                      <a:pt x="0" y="29"/>
                    </a:cubicBezTo>
                    <a:cubicBezTo>
                      <a:pt x="0" y="44"/>
                      <a:pt x="12" y="57"/>
                      <a:pt x="28" y="57"/>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4" name="Freeform 158">
                <a:extLst>
                  <a:ext uri="{FF2B5EF4-FFF2-40B4-BE49-F238E27FC236}">
                    <a16:creationId xmlns:a16="http://schemas.microsoft.com/office/drawing/2014/main" id="{9E98CB17-6611-D8DD-17F2-C5CA39928296}"/>
                  </a:ext>
                </a:extLst>
              </p:cNvPr>
              <p:cNvSpPr>
                <a:spLocks noChangeArrowheads="1"/>
              </p:cNvSpPr>
              <p:nvPr/>
            </p:nvSpPr>
            <p:spPr bwMode="auto">
              <a:xfrm>
                <a:off x="2953059" y="2632992"/>
                <a:ext cx="97267" cy="121088"/>
              </a:xfrm>
              <a:custGeom>
                <a:avLst/>
                <a:gdLst>
                  <a:gd name="T0" fmla="*/ 0 w 216"/>
                  <a:gd name="T1" fmla="*/ 0 h 267"/>
                  <a:gd name="T2" fmla="*/ 215 w 216"/>
                  <a:gd name="T3" fmla="*/ 266 h 267"/>
                </a:gdLst>
                <a:ahLst/>
                <a:cxnLst>
                  <a:cxn ang="0">
                    <a:pos x="T0" y="T1"/>
                  </a:cxn>
                  <a:cxn ang="0">
                    <a:pos x="T2" y="T3"/>
                  </a:cxn>
                </a:cxnLst>
                <a:rect l="0" t="0" r="r" b="b"/>
                <a:pathLst>
                  <a:path w="216" h="267">
                    <a:moveTo>
                      <a:pt x="0" y="0"/>
                    </a:moveTo>
                    <a:cubicBezTo>
                      <a:pt x="0" y="130"/>
                      <a:pt x="92" y="239"/>
                      <a:pt x="215" y="266"/>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grpSp>
    </p:spTree>
    <p:extLst>
      <p:ext uri="{BB962C8B-B14F-4D97-AF65-F5344CB8AC3E}">
        <p14:creationId xmlns:p14="http://schemas.microsoft.com/office/powerpoint/2010/main" val="1612310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915EF-801E-43D5-E8A3-449208A9745B}"/>
              </a:ext>
            </a:extLst>
          </p:cNvPr>
          <p:cNvSpPr>
            <a:spLocks noGrp="1"/>
          </p:cNvSpPr>
          <p:nvPr>
            <p:ph type="title"/>
          </p:nvPr>
        </p:nvSpPr>
        <p:spPr>
          <a:xfrm>
            <a:off x="333756" y="269748"/>
            <a:ext cx="3242201" cy="498919"/>
          </a:xfrm>
        </p:spPr>
        <p:txBody>
          <a:bodyPr/>
          <a:lstStyle/>
          <a:p>
            <a:r>
              <a:rPr lang="en-GB"/>
              <a:t>Preparation</a:t>
            </a:r>
          </a:p>
        </p:txBody>
      </p:sp>
      <p:sp>
        <p:nvSpPr>
          <p:cNvPr id="3" name="Text Placeholder 2">
            <a:extLst>
              <a:ext uri="{FF2B5EF4-FFF2-40B4-BE49-F238E27FC236}">
                <a16:creationId xmlns:a16="http://schemas.microsoft.com/office/drawing/2014/main" id="{25375F78-A37C-DA68-7068-F4BC07D2845E}"/>
              </a:ext>
            </a:extLst>
          </p:cNvPr>
          <p:cNvSpPr>
            <a:spLocks noGrp="1"/>
          </p:cNvSpPr>
          <p:nvPr>
            <p:ph type="body" sz="quarter" idx="12"/>
          </p:nvPr>
        </p:nvSpPr>
        <p:spPr>
          <a:xfrm>
            <a:off x="348146" y="2430924"/>
            <a:ext cx="2604228" cy="4103688"/>
          </a:xfrm>
        </p:spPr>
        <p:txBody>
          <a:bodyPr/>
          <a:lstStyle/>
          <a:p>
            <a:r>
              <a:rPr lang="en-GB" sz="1100" dirty="0"/>
              <a:t>Familiarise yourself with the questions to be asked to customer – there are 6 pillars to understand: Platform, Security, Ways of working, Operations, Cost Management and Data Management. </a:t>
            </a:r>
          </a:p>
          <a:p>
            <a:r>
              <a:rPr lang="en-GB" sz="1100" dirty="0"/>
              <a:t>Feel free to send the questions to the customer ahead of the workshop so they can start to prepare their answers, or even fill out the sheet and validate answers on the call. The goal is to create conversation and gauge where the customer is on their cloud journey. </a:t>
            </a:r>
          </a:p>
          <a:p>
            <a:pPr marL="0" indent="0">
              <a:buNone/>
            </a:pPr>
            <a:endParaRPr lang="en-GB" sz="1100" dirty="0"/>
          </a:p>
          <a:p>
            <a:r>
              <a:rPr lang="en-GB" sz="1100" dirty="0"/>
              <a:t>The CRA template can be found </a:t>
            </a:r>
            <a:r>
              <a:rPr lang="en-GB" sz="1100" dirty="0">
                <a:hlinkClick r:id="rId2"/>
              </a:rPr>
              <a:t>here.</a:t>
            </a:r>
            <a:r>
              <a:rPr lang="en-GB" sz="1100" dirty="0"/>
              <a:t> </a:t>
            </a:r>
          </a:p>
          <a:p>
            <a:r>
              <a:rPr lang="en-GB" sz="1000" dirty="0"/>
              <a:t>A SMART Assessment may also be carried out alongside MRA – more info on following slides.</a:t>
            </a:r>
          </a:p>
          <a:p>
            <a:pPr marL="0" indent="0">
              <a:buNone/>
            </a:pPr>
            <a:endParaRPr lang="en-GB" sz="200" dirty="0"/>
          </a:p>
          <a:p>
            <a:endParaRPr lang="en-GB" sz="200" dirty="0"/>
          </a:p>
          <a:p>
            <a:r>
              <a:rPr lang="en-GB" sz="800" dirty="0"/>
              <a:t>TC / SA responsibility.</a:t>
            </a:r>
          </a:p>
        </p:txBody>
      </p:sp>
      <p:sp>
        <p:nvSpPr>
          <p:cNvPr id="4" name="Text Placeholder 3">
            <a:extLst>
              <a:ext uri="{FF2B5EF4-FFF2-40B4-BE49-F238E27FC236}">
                <a16:creationId xmlns:a16="http://schemas.microsoft.com/office/drawing/2014/main" id="{EC205BCB-D9CB-CBA0-A22E-B6C7CD576518}"/>
              </a:ext>
            </a:extLst>
          </p:cNvPr>
          <p:cNvSpPr>
            <a:spLocks noGrp="1"/>
          </p:cNvSpPr>
          <p:nvPr>
            <p:ph type="body" sz="quarter" idx="14"/>
          </p:nvPr>
        </p:nvSpPr>
        <p:spPr>
          <a:xfrm>
            <a:off x="344487" y="2083532"/>
            <a:ext cx="2608263" cy="292388"/>
          </a:xfrm>
        </p:spPr>
        <p:txBody>
          <a:bodyPr/>
          <a:lstStyle/>
          <a:p>
            <a:r>
              <a:rPr lang="en-GB"/>
              <a:t>MRA Assessment</a:t>
            </a:r>
          </a:p>
        </p:txBody>
      </p:sp>
      <p:sp>
        <p:nvSpPr>
          <p:cNvPr id="5" name="Text Placeholder 4">
            <a:extLst>
              <a:ext uri="{FF2B5EF4-FFF2-40B4-BE49-F238E27FC236}">
                <a16:creationId xmlns:a16="http://schemas.microsoft.com/office/drawing/2014/main" id="{AB551E5F-5AEB-8083-F190-E229DFB84292}"/>
              </a:ext>
            </a:extLst>
          </p:cNvPr>
          <p:cNvSpPr>
            <a:spLocks noGrp="1"/>
          </p:cNvSpPr>
          <p:nvPr>
            <p:ph type="body" sz="quarter" idx="15"/>
          </p:nvPr>
        </p:nvSpPr>
        <p:spPr/>
        <p:txBody>
          <a:bodyPr/>
          <a:lstStyle/>
          <a:p>
            <a:r>
              <a:rPr lang="en-GB"/>
              <a:t>Portfolio Assessment</a:t>
            </a:r>
          </a:p>
        </p:txBody>
      </p:sp>
      <p:sp>
        <p:nvSpPr>
          <p:cNvPr id="6" name="Text Placeholder 5">
            <a:extLst>
              <a:ext uri="{FF2B5EF4-FFF2-40B4-BE49-F238E27FC236}">
                <a16:creationId xmlns:a16="http://schemas.microsoft.com/office/drawing/2014/main" id="{E4C000F0-4829-832E-1503-076937D874F9}"/>
              </a:ext>
            </a:extLst>
          </p:cNvPr>
          <p:cNvSpPr>
            <a:spLocks noGrp="1"/>
          </p:cNvSpPr>
          <p:nvPr>
            <p:ph type="body" sz="quarter" idx="16"/>
          </p:nvPr>
        </p:nvSpPr>
        <p:spPr/>
        <p:txBody>
          <a:bodyPr/>
          <a:lstStyle/>
          <a:p>
            <a:r>
              <a:rPr lang="en-GB"/>
              <a:t>Discovery Tooling</a:t>
            </a:r>
          </a:p>
        </p:txBody>
      </p:sp>
      <p:sp>
        <p:nvSpPr>
          <p:cNvPr id="7" name="Text Placeholder 6">
            <a:extLst>
              <a:ext uri="{FF2B5EF4-FFF2-40B4-BE49-F238E27FC236}">
                <a16:creationId xmlns:a16="http://schemas.microsoft.com/office/drawing/2014/main" id="{B8B0532A-4986-369B-6109-11294CE2B1D7}"/>
              </a:ext>
            </a:extLst>
          </p:cNvPr>
          <p:cNvSpPr>
            <a:spLocks noGrp="1"/>
          </p:cNvSpPr>
          <p:nvPr>
            <p:ph type="body" sz="quarter" idx="17"/>
          </p:nvPr>
        </p:nvSpPr>
        <p:spPr>
          <a:xfrm>
            <a:off x="8972550" y="2082928"/>
            <a:ext cx="2608322" cy="292388"/>
          </a:xfrm>
        </p:spPr>
        <p:txBody>
          <a:bodyPr/>
          <a:lstStyle/>
          <a:p>
            <a:r>
              <a:rPr lang="en-GB"/>
              <a:t>Business Case</a:t>
            </a:r>
          </a:p>
        </p:txBody>
      </p:sp>
      <p:sp>
        <p:nvSpPr>
          <p:cNvPr id="8" name="Text Placeholder 7">
            <a:extLst>
              <a:ext uri="{FF2B5EF4-FFF2-40B4-BE49-F238E27FC236}">
                <a16:creationId xmlns:a16="http://schemas.microsoft.com/office/drawing/2014/main" id="{9A7533D9-11CC-FCC6-C649-FB5C6FB22E90}"/>
              </a:ext>
            </a:extLst>
          </p:cNvPr>
          <p:cNvSpPr>
            <a:spLocks noGrp="1"/>
          </p:cNvSpPr>
          <p:nvPr>
            <p:ph type="body" sz="quarter" idx="18"/>
          </p:nvPr>
        </p:nvSpPr>
        <p:spPr>
          <a:xfrm>
            <a:off x="3241239" y="2430401"/>
            <a:ext cx="2605524" cy="4588436"/>
          </a:xfrm>
        </p:spPr>
        <p:txBody>
          <a:bodyPr/>
          <a:lstStyle/>
          <a:p>
            <a:r>
              <a:rPr lang="en-GB" sz="1100" dirty="0"/>
              <a:t>MPA is Rackspace’s version of scoping and profiling. There is a reduced scoping and profiling template to be used that can be found </a:t>
            </a:r>
            <a:r>
              <a:rPr lang="en-GB" sz="1100" dirty="0">
                <a:solidFill>
                  <a:schemeClr val="bg2"/>
                </a:solidFill>
                <a:hlinkClick r:id="rId3"/>
              </a:rPr>
              <a:t>here</a:t>
            </a:r>
            <a:r>
              <a:rPr lang="en-GB" sz="1100" dirty="0">
                <a:solidFill>
                  <a:schemeClr val="bg2"/>
                </a:solidFill>
              </a:rPr>
              <a:t> for Rapid Assess </a:t>
            </a:r>
            <a:r>
              <a:rPr lang="en-GB" sz="1100" dirty="0"/>
              <a:t>or full scoping and profiling template can be found </a:t>
            </a:r>
            <a:r>
              <a:rPr lang="en-GB" sz="1100" dirty="0">
                <a:hlinkClick r:id="rId4"/>
              </a:rPr>
              <a:t>here</a:t>
            </a:r>
            <a:r>
              <a:rPr lang="en-GB" sz="1100" dirty="0"/>
              <a:t> </a:t>
            </a:r>
            <a:r>
              <a:rPr lang="en-GB" sz="1100" dirty="0">
                <a:solidFill>
                  <a:schemeClr val="tx2"/>
                </a:solidFill>
              </a:rPr>
              <a:t>for Adv &amp; CRA Assessments.</a:t>
            </a:r>
          </a:p>
          <a:p>
            <a:r>
              <a:rPr lang="en-GB" sz="1100" dirty="0"/>
              <a:t>To be able to start scoping and profiling properly an application list needs to be provided. Really push for this from day 1 of meeting the customer. </a:t>
            </a:r>
          </a:p>
          <a:p>
            <a:r>
              <a:rPr lang="en-GB" sz="1100" dirty="0"/>
              <a:t>If Dr. Migrate is used as a discovery tool of choice (Licensing requirements) then a lot of assessment may be carried out by the tool and give a great base for the TC to work off of.  </a:t>
            </a:r>
            <a:r>
              <a:rPr lang="en-GB" sz="1100" dirty="0">
                <a:solidFill>
                  <a:srgbClr val="FF0000"/>
                </a:solidFill>
                <a:hlinkClick r:id="rId5"/>
              </a:rPr>
              <a:t>[Example of Exports] </a:t>
            </a:r>
            <a:endParaRPr lang="en-GB" sz="1100" dirty="0">
              <a:solidFill>
                <a:srgbClr val="FF0000"/>
              </a:solidFill>
            </a:endParaRPr>
          </a:p>
          <a:p>
            <a:r>
              <a:rPr lang="en-GB" sz="1100" dirty="0"/>
              <a:t>Prepare a demonstration deck or a way to showcase how the workshops will run or how the template can be filled out offline. </a:t>
            </a:r>
          </a:p>
          <a:p>
            <a:endParaRPr lang="en-GB" sz="800" dirty="0"/>
          </a:p>
          <a:p>
            <a:r>
              <a:rPr lang="en-GB" sz="800" dirty="0"/>
              <a:t>TC Responsibility.</a:t>
            </a:r>
          </a:p>
        </p:txBody>
      </p:sp>
      <p:sp>
        <p:nvSpPr>
          <p:cNvPr id="9" name="Text Placeholder 8">
            <a:extLst>
              <a:ext uri="{FF2B5EF4-FFF2-40B4-BE49-F238E27FC236}">
                <a16:creationId xmlns:a16="http://schemas.microsoft.com/office/drawing/2014/main" id="{544675E4-1EB3-61BF-EC1A-2A869D23EFC5}"/>
              </a:ext>
            </a:extLst>
          </p:cNvPr>
          <p:cNvSpPr>
            <a:spLocks noGrp="1"/>
          </p:cNvSpPr>
          <p:nvPr>
            <p:ph type="body" sz="quarter" idx="19"/>
          </p:nvPr>
        </p:nvSpPr>
        <p:spPr>
          <a:xfrm>
            <a:off x="6099204" y="2430401"/>
            <a:ext cx="2604669" cy="4329390"/>
          </a:xfrm>
        </p:spPr>
        <p:txBody>
          <a:bodyPr/>
          <a:lstStyle/>
          <a:p>
            <a:r>
              <a:rPr lang="en-GB" sz="1100"/>
              <a:t>If a discovery tool isn’t decided by customer or partner then you have 3 main options within Azure. Azure Migrate, Movere &amp; </a:t>
            </a:r>
            <a:r>
              <a:rPr lang="en-GB" sz="1100" err="1"/>
              <a:t>Dr.</a:t>
            </a:r>
            <a:r>
              <a:rPr lang="en-GB" sz="1100"/>
              <a:t> Migrate. </a:t>
            </a:r>
          </a:p>
          <a:p>
            <a:r>
              <a:rPr lang="en-GB" sz="1100"/>
              <a:t>Azure Migrate – Azures own discovery and migration tool, which can be deployed both agent or agentless. Both Movere and </a:t>
            </a:r>
            <a:r>
              <a:rPr lang="en-GB" sz="1100" err="1"/>
              <a:t>Dr.Migrate</a:t>
            </a:r>
            <a:r>
              <a:rPr lang="en-GB" sz="1100"/>
              <a:t> can integrate closely with it – </a:t>
            </a:r>
            <a:r>
              <a:rPr lang="en-GB" sz="1100">
                <a:hlinkClick r:id="rId6"/>
              </a:rPr>
              <a:t>More info</a:t>
            </a:r>
            <a:endParaRPr lang="en-GB" sz="1100"/>
          </a:p>
          <a:p>
            <a:r>
              <a:rPr lang="en-GB" sz="1100"/>
              <a:t>Movere – Only available via </a:t>
            </a:r>
            <a:r>
              <a:rPr lang="en-GB" sz="1100">
                <a:hlinkClick r:id="rId7"/>
              </a:rPr>
              <a:t>Solution assessments (by Microsoft)</a:t>
            </a:r>
            <a:r>
              <a:rPr lang="en-GB" sz="1100"/>
              <a:t>, this is SaaS based product used only for assessments (Azure migrate recommended for migrations) – </a:t>
            </a:r>
            <a:r>
              <a:rPr lang="en-GB" sz="1100">
                <a:hlinkClick r:id="rId8"/>
              </a:rPr>
              <a:t>More info</a:t>
            </a:r>
            <a:endParaRPr lang="en-GB" sz="1100"/>
          </a:p>
          <a:p>
            <a:r>
              <a:rPr lang="en-GB" sz="1100" err="1"/>
              <a:t>Dr.Migrate</a:t>
            </a:r>
            <a:r>
              <a:rPr lang="en-GB" sz="1100"/>
              <a:t> – From LAB3, this utilises Azure Migrate and is an added ‘layer’ that uses AI to pull a lot more insights than Azure Migrate alone. At time of writing RXT has become a </a:t>
            </a:r>
            <a:r>
              <a:rPr lang="en-GB" sz="1100" err="1"/>
              <a:t>Dr.</a:t>
            </a:r>
            <a:r>
              <a:rPr lang="en-GB" sz="1100"/>
              <a:t> Migrate Partner and is pushing this tool heavily - </a:t>
            </a:r>
            <a:r>
              <a:rPr lang="en-GB" sz="1100">
                <a:hlinkClick r:id="rId9"/>
              </a:rPr>
              <a:t>More info</a:t>
            </a:r>
            <a:endParaRPr lang="en-GB" sz="1100"/>
          </a:p>
          <a:p>
            <a:r>
              <a:rPr lang="en-GB" sz="800"/>
              <a:t>Engineer / SA responsibility – TC will help utilise the data.</a:t>
            </a:r>
          </a:p>
        </p:txBody>
      </p:sp>
      <p:sp>
        <p:nvSpPr>
          <p:cNvPr id="10" name="Text Placeholder 9">
            <a:extLst>
              <a:ext uri="{FF2B5EF4-FFF2-40B4-BE49-F238E27FC236}">
                <a16:creationId xmlns:a16="http://schemas.microsoft.com/office/drawing/2014/main" id="{341AD66C-9D10-01FB-2064-775416477E27}"/>
              </a:ext>
            </a:extLst>
          </p:cNvPr>
          <p:cNvSpPr>
            <a:spLocks noGrp="1"/>
          </p:cNvSpPr>
          <p:nvPr>
            <p:ph type="body" sz="quarter" idx="20"/>
          </p:nvPr>
        </p:nvSpPr>
        <p:spPr>
          <a:xfrm>
            <a:off x="8976204" y="2430401"/>
            <a:ext cx="2604669" cy="3970318"/>
          </a:xfrm>
        </p:spPr>
        <p:txBody>
          <a:bodyPr/>
          <a:lstStyle/>
          <a:p>
            <a:r>
              <a:rPr lang="en-GB" sz="1100"/>
              <a:t>Business case hinges heavily on the Portfolio Assessment and Discovery tooling outputs. Therefore it’s vital to ensure the tooling is deployed quickly, if possible even before the engagement properly kicks off. Delays in tooling deployment or MPA completion means the business case becomes harder to complete on time and will be rushed towards the end of the engagement. </a:t>
            </a:r>
          </a:p>
          <a:p>
            <a:r>
              <a:rPr lang="en-GB" sz="1100"/>
              <a:t>Business creates a case for change within the company that can also be utilised to take to relevant stakeholders to convince the migration to go ahead, this is a vital deliverable that needs plenty of attention. </a:t>
            </a:r>
          </a:p>
          <a:p>
            <a:endParaRPr lang="en-GB" sz="1100"/>
          </a:p>
          <a:p>
            <a:pPr marL="0" indent="0">
              <a:buNone/>
            </a:pPr>
            <a:endParaRPr lang="en-GB" sz="200"/>
          </a:p>
          <a:p>
            <a:pPr marL="0" indent="0">
              <a:buNone/>
            </a:pPr>
            <a:endParaRPr lang="en-GB" sz="200"/>
          </a:p>
          <a:p>
            <a:pPr marL="0" indent="0">
              <a:buNone/>
            </a:pPr>
            <a:endParaRPr lang="en-GB" sz="200"/>
          </a:p>
          <a:p>
            <a:r>
              <a:rPr lang="en-GB" sz="800"/>
              <a:t>SA / Customer Success Manager Responsibility.</a:t>
            </a:r>
          </a:p>
        </p:txBody>
      </p:sp>
      <p:sp>
        <p:nvSpPr>
          <p:cNvPr id="11" name="Slide Number Placeholder 10">
            <a:extLst>
              <a:ext uri="{FF2B5EF4-FFF2-40B4-BE49-F238E27FC236}">
                <a16:creationId xmlns:a16="http://schemas.microsoft.com/office/drawing/2014/main" id="{40B606B5-847C-B4E4-63E8-60D9FCB12ECD}"/>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14</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836526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43C0-33AC-3B90-F259-A68B4E9E5CE5}"/>
              </a:ext>
            </a:extLst>
          </p:cNvPr>
          <p:cNvSpPr>
            <a:spLocks noGrp="1"/>
          </p:cNvSpPr>
          <p:nvPr>
            <p:ph type="title"/>
          </p:nvPr>
        </p:nvSpPr>
        <p:spPr>
          <a:xfrm>
            <a:off x="333756" y="269748"/>
            <a:ext cx="3242201" cy="498919"/>
          </a:xfrm>
        </p:spPr>
        <p:txBody>
          <a:bodyPr/>
          <a:lstStyle/>
          <a:p>
            <a:r>
              <a:rPr lang="en-GB"/>
              <a:t>Workshops</a:t>
            </a:r>
          </a:p>
        </p:txBody>
      </p:sp>
      <p:sp>
        <p:nvSpPr>
          <p:cNvPr id="3" name="Text Placeholder 2">
            <a:extLst>
              <a:ext uri="{FF2B5EF4-FFF2-40B4-BE49-F238E27FC236}">
                <a16:creationId xmlns:a16="http://schemas.microsoft.com/office/drawing/2014/main" id="{02227D2C-3AC7-EEA7-3F7D-92965305AEA6}"/>
              </a:ext>
            </a:extLst>
          </p:cNvPr>
          <p:cNvSpPr>
            <a:spLocks noGrp="1"/>
          </p:cNvSpPr>
          <p:nvPr>
            <p:ph type="body" sz="quarter" idx="12"/>
          </p:nvPr>
        </p:nvSpPr>
        <p:spPr>
          <a:xfrm>
            <a:off x="348146" y="2430924"/>
            <a:ext cx="2604228" cy="3911327"/>
          </a:xfrm>
        </p:spPr>
        <p:txBody>
          <a:bodyPr/>
          <a:lstStyle/>
          <a:p>
            <a:endParaRPr lang="en-GB" sz="1100"/>
          </a:p>
          <a:p>
            <a:r>
              <a:rPr lang="en-GB" sz="1100"/>
              <a:t>Workshops should be 1-2 hours and have at least two workshops on this. If you chose to give the questions to the customer to fill in, still validate the answers and obtain any further information / allow the CA to also ask relevant questions. Capture any additional notes. </a:t>
            </a:r>
          </a:p>
          <a:p>
            <a:r>
              <a:rPr lang="en-GB" sz="1100"/>
              <a:t>After tallying all the scores you’ll  be able to produce a radar chart and show this back to customer or include in your playback to customer. Areas that need work will be highlighted and explained to the customer what will need to be considered when moving into the next phases.</a:t>
            </a:r>
          </a:p>
          <a:p>
            <a:r>
              <a:rPr lang="en-GB" sz="1100">
                <a:hlinkClick r:id="rId2"/>
              </a:rPr>
              <a:t>Workshop Guide Found Here</a:t>
            </a:r>
            <a:endParaRPr lang="en-GB" sz="1100"/>
          </a:p>
          <a:p>
            <a:endParaRPr lang="en-GB" sz="900"/>
          </a:p>
          <a:p>
            <a:r>
              <a:rPr lang="en-GB" sz="900"/>
              <a:t>TC/CA Responsibility – Heavy customer involvement.</a:t>
            </a:r>
          </a:p>
        </p:txBody>
      </p:sp>
      <p:sp>
        <p:nvSpPr>
          <p:cNvPr id="4" name="Text Placeholder 3">
            <a:extLst>
              <a:ext uri="{FF2B5EF4-FFF2-40B4-BE49-F238E27FC236}">
                <a16:creationId xmlns:a16="http://schemas.microsoft.com/office/drawing/2014/main" id="{73B927D4-5961-C1D2-EA03-1081D46857A7}"/>
              </a:ext>
            </a:extLst>
          </p:cNvPr>
          <p:cNvSpPr>
            <a:spLocks noGrp="1"/>
          </p:cNvSpPr>
          <p:nvPr>
            <p:ph type="body" sz="quarter" idx="14"/>
          </p:nvPr>
        </p:nvSpPr>
        <p:spPr/>
        <p:txBody>
          <a:bodyPr/>
          <a:lstStyle/>
          <a:p>
            <a:r>
              <a:rPr lang="en-GB"/>
              <a:t>MRA Assessment</a:t>
            </a:r>
          </a:p>
        </p:txBody>
      </p:sp>
      <p:sp>
        <p:nvSpPr>
          <p:cNvPr id="5" name="Text Placeholder 4">
            <a:extLst>
              <a:ext uri="{FF2B5EF4-FFF2-40B4-BE49-F238E27FC236}">
                <a16:creationId xmlns:a16="http://schemas.microsoft.com/office/drawing/2014/main" id="{0F658152-18C5-A743-EEC1-8F83B4E8F0AD}"/>
              </a:ext>
            </a:extLst>
          </p:cNvPr>
          <p:cNvSpPr>
            <a:spLocks noGrp="1"/>
          </p:cNvSpPr>
          <p:nvPr>
            <p:ph type="body" sz="quarter" idx="15"/>
          </p:nvPr>
        </p:nvSpPr>
        <p:spPr/>
        <p:txBody>
          <a:bodyPr/>
          <a:lstStyle/>
          <a:p>
            <a:r>
              <a:rPr lang="en-GB"/>
              <a:t>Portfolio Assessment</a:t>
            </a:r>
          </a:p>
        </p:txBody>
      </p:sp>
      <p:sp>
        <p:nvSpPr>
          <p:cNvPr id="6" name="Text Placeholder 5">
            <a:extLst>
              <a:ext uri="{FF2B5EF4-FFF2-40B4-BE49-F238E27FC236}">
                <a16:creationId xmlns:a16="http://schemas.microsoft.com/office/drawing/2014/main" id="{3A44E2E7-A7F5-738D-9273-88CC904744F6}"/>
              </a:ext>
            </a:extLst>
          </p:cNvPr>
          <p:cNvSpPr>
            <a:spLocks noGrp="1"/>
          </p:cNvSpPr>
          <p:nvPr>
            <p:ph type="body" sz="quarter" idx="16"/>
          </p:nvPr>
        </p:nvSpPr>
        <p:spPr/>
        <p:txBody>
          <a:bodyPr/>
          <a:lstStyle/>
          <a:p>
            <a:r>
              <a:rPr lang="en-GB"/>
              <a:t>Discovery Tooling</a:t>
            </a:r>
          </a:p>
        </p:txBody>
      </p:sp>
      <p:sp>
        <p:nvSpPr>
          <p:cNvPr id="7" name="Text Placeholder 6">
            <a:extLst>
              <a:ext uri="{FF2B5EF4-FFF2-40B4-BE49-F238E27FC236}">
                <a16:creationId xmlns:a16="http://schemas.microsoft.com/office/drawing/2014/main" id="{C88CBF2E-D91F-0940-0632-489009348238}"/>
              </a:ext>
            </a:extLst>
          </p:cNvPr>
          <p:cNvSpPr>
            <a:spLocks noGrp="1"/>
          </p:cNvSpPr>
          <p:nvPr>
            <p:ph type="body" sz="quarter" idx="17"/>
          </p:nvPr>
        </p:nvSpPr>
        <p:spPr/>
        <p:txBody>
          <a:bodyPr/>
          <a:lstStyle/>
          <a:p>
            <a:r>
              <a:rPr lang="en-GB"/>
              <a:t>Business Case</a:t>
            </a:r>
          </a:p>
        </p:txBody>
      </p:sp>
      <p:sp>
        <p:nvSpPr>
          <p:cNvPr id="8" name="Text Placeholder 7">
            <a:extLst>
              <a:ext uri="{FF2B5EF4-FFF2-40B4-BE49-F238E27FC236}">
                <a16:creationId xmlns:a16="http://schemas.microsoft.com/office/drawing/2014/main" id="{EB312994-33CA-5D66-DB46-43C03EE08DDB}"/>
              </a:ext>
            </a:extLst>
          </p:cNvPr>
          <p:cNvSpPr>
            <a:spLocks noGrp="1"/>
          </p:cNvSpPr>
          <p:nvPr>
            <p:ph type="body" sz="quarter" idx="18"/>
          </p:nvPr>
        </p:nvSpPr>
        <p:spPr>
          <a:xfrm>
            <a:off x="3241239" y="2430401"/>
            <a:ext cx="2605524" cy="4249881"/>
          </a:xfrm>
        </p:spPr>
        <p:txBody>
          <a:bodyPr/>
          <a:lstStyle/>
          <a:p>
            <a:r>
              <a:rPr lang="en-GB" sz="1100"/>
              <a:t>Portfolio Assessment workshops are going through the template (on previous slide) on the call and getting a better understanding of the applications in the env, this also gives the SA an opportunity to ask any other questions during the data gathering phase.</a:t>
            </a:r>
          </a:p>
          <a:p>
            <a:r>
              <a:rPr lang="en-GB" sz="1100"/>
              <a:t>Some customers will ask to do this offline, due to various reasons. Such as application owners being busy or the company is sub divided into multiple businesses, this is possible, however schedule regular check ins to see how the data gathering is going. It’s vital to highlight which areas are required for us to perform our assessment. </a:t>
            </a:r>
          </a:p>
          <a:p>
            <a:r>
              <a:rPr lang="en-GB" sz="1100">
                <a:hlinkClick r:id="rId3"/>
              </a:rPr>
              <a:t>MPA Workshop Agenda</a:t>
            </a:r>
            <a:endParaRPr lang="en-GB" sz="1100"/>
          </a:p>
          <a:p>
            <a:endParaRPr lang="en-GB" sz="1100"/>
          </a:p>
          <a:p>
            <a:endParaRPr lang="en-GB" sz="900"/>
          </a:p>
          <a:p>
            <a:r>
              <a:rPr lang="en-GB" sz="900"/>
              <a:t>TC Responsibility – Heavy customer involvement.</a:t>
            </a:r>
          </a:p>
        </p:txBody>
      </p:sp>
      <p:sp>
        <p:nvSpPr>
          <p:cNvPr id="9" name="Text Placeholder 8">
            <a:extLst>
              <a:ext uri="{FF2B5EF4-FFF2-40B4-BE49-F238E27FC236}">
                <a16:creationId xmlns:a16="http://schemas.microsoft.com/office/drawing/2014/main" id="{B0920D99-C34C-A1B5-A37B-A9134895425B}"/>
              </a:ext>
            </a:extLst>
          </p:cNvPr>
          <p:cNvSpPr>
            <a:spLocks noGrp="1"/>
          </p:cNvSpPr>
          <p:nvPr>
            <p:ph type="body" sz="quarter" idx="19"/>
          </p:nvPr>
        </p:nvSpPr>
        <p:spPr>
          <a:xfrm>
            <a:off x="6099204" y="2430401"/>
            <a:ext cx="2604669" cy="4160113"/>
          </a:xfrm>
        </p:spPr>
        <p:txBody>
          <a:bodyPr/>
          <a:lstStyle/>
          <a:p>
            <a:r>
              <a:rPr lang="en-GB" sz="1100"/>
              <a:t>Discovery tooling workshops will primarily be used to help customers install and troubleshoot any issues with the tooling.</a:t>
            </a:r>
          </a:p>
          <a:p>
            <a:r>
              <a:rPr lang="en-GB" sz="1100"/>
              <a:t>Internal workshops or meetings should be held to review findings / what to feedback to customer if findings aren’t coming back as expected. </a:t>
            </a:r>
          </a:p>
          <a:p>
            <a:r>
              <a:rPr lang="en-GB" sz="1100" err="1"/>
              <a:t>Dr.</a:t>
            </a:r>
            <a:r>
              <a:rPr lang="en-GB" sz="1100"/>
              <a:t> Migrate is a very powerful tool that will do a lot of heavy lifting / validating findings, there are license requirements therefore will require valid use case in order to get approval. Dr Migrate will require both Azure Migrate and then Dr. Migrate deployed on top, this will need to be considered when it comes to timelines. If </a:t>
            </a:r>
            <a:r>
              <a:rPr lang="en-GB" sz="1100" err="1"/>
              <a:t>Dr.</a:t>
            </a:r>
            <a:r>
              <a:rPr lang="en-GB" sz="1100"/>
              <a:t> Migrate is the tool of choice to get these deployed ASAP. </a:t>
            </a:r>
            <a:endParaRPr lang="en-GB" sz="900"/>
          </a:p>
          <a:p>
            <a:endParaRPr lang="en-GB" sz="900"/>
          </a:p>
          <a:p>
            <a:r>
              <a:rPr lang="en-GB" sz="900"/>
              <a:t>Engineer/Tooling partner responsibility – Some customer involvement </a:t>
            </a:r>
          </a:p>
        </p:txBody>
      </p:sp>
      <p:sp>
        <p:nvSpPr>
          <p:cNvPr id="10" name="Text Placeholder 9">
            <a:extLst>
              <a:ext uri="{FF2B5EF4-FFF2-40B4-BE49-F238E27FC236}">
                <a16:creationId xmlns:a16="http://schemas.microsoft.com/office/drawing/2014/main" id="{44DB2649-4424-7646-AA8E-E33CBB7E4FA9}"/>
              </a:ext>
            </a:extLst>
          </p:cNvPr>
          <p:cNvSpPr>
            <a:spLocks noGrp="1"/>
          </p:cNvSpPr>
          <p:nvPr>
            <p:ph type="body" sz="quarter" idx="20"/>
          </p:nvPr>
        </p:nvSpPr>
        <p:spPr>
          <a:xfrm>
            <a:off x="8976204" y="2430401"/>
            <a:ext cx="2604669" cy="4311437"/>
          </a:xfrm>
        </p:spPr>
        <p:txBody>
          <a:bodyPr/>
          <a:lstStyle/>
          <a:p>
            <a:r>
              <a:rPr lang="en-GB" sz="1100"/>
              <a:t>Business case workshops will be held in order to get a better understanding of what the customers' needs are and how we can help them on their cloud journey. There may be some cross over with the MRA assessment.</a:t>
            </a:r>
          </a:p>
          <a:p>
            <a:r>
              <a:rPr lang="en-GB" sz="1100"/>
              <a:t>All teams will need to help provide info to build the business case, this exercise will also help build the SoW</a:t>
            </a:r>
          </a:p>
          <a:p>
            <a:pPr marL="0" indent="0">
              <a:buNone/>
            </a:pPr>
            <a:endParaRPr lang="en-GB" sz="1100"/>
          </a:p>
          <a:p>
            <a:pPr marL="0" indent="0">
              <a:buNone/>
            </a:pPr>
            <a:endParaRPr lang="en-GB" sz="1100"/>
          </a:p>
          <a:p>
            <a:endParaRPr lang="en-GB" sz="1100"/>
          </a:p>
          <a:p>
            <a:endParaRPr lang="en-GB" sz="1100"/>
          </a:p>
          <a:p>
            <a:endParaRPr lang="en-GB" sz="1100"/>
          </a:p>
          <a:p>
            <a:endParaRPr lang="en-GB" sz="1100"/>
          </a:p>
          <a:p>
            <a:endParaRPr lang="en-GB" sz="1100"/>
          </a:p>
          <a:p>
            <a:endParaRPr lang="en-GB" sz="1100"/>
          </a:p>
          <a:p>
            <a:endParaRPr lang="en-GB" sz="1100"/>
          </a:p>
          <a:p>
            <a:r>
              <a:rPr lang="en-GB" sz="900"/>
              <a:t>SA/Customer success manager responsibility – Some customer involvement.</a:t>
            </a:r>
          </a:p>
        </p:txBody>
      </p:sp>
      <p:sp>
        <p:nvSpPr>
          <p:cNvPr id="11" name="Slide Number Placeholder 10">
            <a:extLst>
              <a:ext uri="{FF2B5EF4-FFF2-40B4-BE49-F238E27FC236}">
                <a16:creationId xmlns:a16="http://schemas.microsoft.com/office/drawing/2014/main" id="{A8977A46-514A-36B5-FC0B-03E22B0E859D}"/>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15</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786185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0ACC04-5E1E-775E-8442-A3D24AD96FB9}"/>
              </a:ext>
            </a:extLst>
          </p:cNvPr>
          <p:cNvSpPr>
            <a:spLocks noGrp="1"/>
          </p:cNvSpPr>
          <p:nvPr>
            <p:ph type="body" sz="quarter" idx="12"/>
          </p:nvPr>
        </p:nvSpPr>
        <p:spPr>
          <a:xfrm>
            <a:off x="3238500" y="310896"/>
            <a:ext cx="8580120" cy="4880823"/>
          </a:xfrm>
        </p:spPr>
        <p:txBody>
          <a:bodyPr/>
          <a:lstStyle/>
          <a:p>
            <a:r>
              <a:rPr lang="en-GB" dirty="0"/>
              <a:t>The MRA Assessment is designed to get a baseline level idea of the customers estate and how prepared they are to move into cloud. It’s to be used as a dialogue with the customer, rather than simple question and answer, meaning both CA and TC should be present on the calls, in order to cover all areas and get a better understanding for the customer. </a:t>
            </a:r>
          </a:p>
          <a:p>
            <a:r>
              <a:rPr lang="en-GB" dirty="0"/>
              <a:t>We want to utilise this to gain the customers confidence in us, that we’ve not only thought of the migration of the actual applications, but the impacts surrounding the actual event. </a:t>
            </a:r>
          </a:p>
          <a:p>
            <a:r>
              <a:rPr lang="en-GB" dirty="0"/>
              <a:t>The questions here will provide a strong framework, however they are not rigid. Every customer is unique and has variety in their estate, ask relevant or more probing questions where it seems fit. Notes can be made to refer back to and carry on throughout the project. Remember knowledge is power! </a:t>
            </a:r>
          </a:p>
          <a:p>
            <a:r>
              <a:rPr lang="en-GB" dirty="0"/>
              <a:t>When the </a:t>
            </a:r>
            <a:r>
              <a:rPr lang="en-GB" dirty="0">
                <a:hlinkClick r:id="rId2"/>
              </a:rPr>
              <a:t>template</a:t>
            </a:r>
            <a:r>
              <a:rPr lang="en-GB" dirty="0"/>
              <a:t> is complete, you will get a radar and bar chart as shown below, showing the customers goal vs current state env. </a:t>
            </a:r>
          </a:p>
          <a:p>
            <a:endParaRPr lang="en-GB" dirty="0"/>
          </a:p>
          <a:p>
            <a:endParaRPr lang="en-GB" dirty="0"/>
          </a:p>
        </p:txBody>
      </p:sp>
      <p:sp>
        <p:nvSpPr>
          <p:cNvPr id="4" name="Title 3">
            <a:extLst>
              <a:ext uri="{FF2B5EF4-FFF2-40B4-BE49-F238E27FC236}">
                <a16:creationId xmlns:a16="http://schemas.microsoft.com/office/drawing/2014/main" id="{4ABB2E07-237C-6937-1D37-C9485EC45E54}"/>
              </a:ext>
            </a:extLst>
          </p:cNvPr>
          <p:cNvSpPr>
            <a:spLocks noGrp="1"/>
          </p:cNvSpPr>
          <p:nvPr>
            <p:ph type="title"/>
          </p:nvPr>
        </p:nvSpPr>
        <p:spPr>
          <a:xfrm>
            <a:off x="334497" y="268589"/>
            <a:ext cx="2620793" cy="1023678"/>
          </a:xfrm>
        </p:spPr>
        <p:txBody>
          <a:bodyPr/>
          <a:lstStyle/>
          <a:p>
            <a:r>
              <a:rPr lang="en-GB"/>
              <a:t>MRA Assessment</a:t>
            </a:r>
          </a:p>
        </p:txBody>
      </p:sp>
      <p:sp>
        <p:nvSpPr>
          <p:cNvPr id="5" name="Slide Number Placeholder 4">
            <a:extLst>
              <a:ext uri="{FF2B5EF4-FFF2-40B4-BE49-F238E27FC236}">
                <a16:creationId xmlns:a16="http://schemas.microsoft.com/office/drawing/2014/main" id="{46067122-5F38-5AE1-F024-02A21B78A3A5}"/>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16</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pic>
        <p:nvPicPr>
          <p:cNvPr id="7" name="Picture 6" descr="A graph on a graph paper&#10;&#10;Description automatically generated">
            <a:extLst>
              <a:ext uri="{FF2B5EF4-FFF2-40B4-BE49-F238E27FC236}">
                <a16:creationId xmlns:a16="http://schemas.microsoft.com/office/drawing/2014/main" id="{CA41C93B-2F62-E2C4-E50D-A0605B0BBFE0}"/>
              </a:ext>
            </a:extLst>
          </p:cNvPr>
          <p:cNvPicPr>
            <a:picLocks noChangeAspect="1"/>
          </p:cNvPicPr>
          <p:nvPr/>
        </p:nvPicPr>
        <p:blipFill>
          <a:blip r:embed="rId3"/>
          <a:stretch>
            <a:fillRect/>
          </a:stretch>
        </p:blipFill>
        <p:spPr>
          <a:xfrm>
            <a:off x="4766595" y="4538319"/>
            <a:ext cx="5179686" cy="2269700"/>
          </a:xfrm>
          <a:prstGeom prst="rect">
            <a:avLst/>
          </a:prstGeom>
        </p:spPr>
      </p:pic>
    </p:spTree>
    <p:extLst>
      <p:ext uri="{BB962C8B-B14F-4D97-AF65-F5344CB8AC3E}">
        <p14:creationId xmlns:p14="http://schemas.microsoft.com/office/powerpoint/2010/main" val="2779708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C30581-B6F4-D8B2-61B2-9DC2D1747BDF}"/>
              </a:ext>
            </a:extLst>
          </p:cNvPr>
          <p:cNvSpPr>
            <a:spLocks noGrp="1"/>
          </p:cNvSpPr>
          <p:nvPr>
            <p:ph type="body" sz="quarter" idx="12"/>
          </p:nvPr>
        </p:nvSpPr>
        <p:spPr>
          <a:xfrm>
            <a:off x="3238683" y="114528"/>
            <a:ext cx="8580120" cy="6748001"/>
          </a:xfrm>
        </p:spPr>
        <p:txBody>
          <a:bodyPr/>
          <a:lstStyle/>
          <a:p>
            <a:pPr marL="0" indent="0" algn="l">
              <a:buNone/>
            </a:pPr>
            <a:r>
              <a:rPr lang="en-GB" sz="1300" b="0" i="0" dirty="0">
                <a:effectLst/>
              </a:rPr>
              <a:t>SMART Assessments are a tool from Microsoft – This could be used for Rapid Assessments</a:t>
            </a:r>
            <a:r>
              <a:rPr lang="en-GB" sz="1300" dirty="0"/>
              <a:t> or</a:t>
            </a:r>
            <a:r>
              <a:rPr lang="en-GB" sz="1300" b="0" i="0" dirty="0">
                <a:effectLst/>
              </a:rPr>
              <a:t> </a:t>
            </a:r>
            <a:r>
              <a:rPr lang="en-GB" sz="1300" dirty="0"/>
              <a:t>a</a:t>
            </a:r>
            <a:r>
              <a:rPr lang="en-GB" sz="1300" b="0" i="0" dirty="0">
                <a:effectLst/>
              </a:rPr>
              <a:t>longside MRA’s. This provides a high level overview and </a:t>
            </a:r>
            <a:r>
              <a:rPr lang="en-GB" sz="1300" b="0" i="0" dirty="0" err="1">
                <a:effectLst/>
              </a:rPr>
              <a:t>reccomendations</a:t>
            </a:r>
            <a:r>
              <a:rPr lang="en-GB" sz="1300" b="0" i="0" dirty="0">
                <a:effectLst/>
              </a:rPr>
              <a:t> from Microsoft based on the answers given to their questions.</a:t>
            </a:r>
          </a:p>
          <a:p>
            <a:pPr marL="0" indent="0" algn="l">
              <a:buNone/>
            </a:pPr>
            <a:r>
              <a:rPr lang="en-GB" sz="1300" b="0" i="0" dirty="0">
                <a:effectLst/>
              </a:rPr>
              <a:t>‘From business planning to training to security and governance, find out what you need to do to prepare for your Microsoft Azure migration with the Strategic Migration Assessment and Readiness Tool (SMART).</a:t>
            </a:r>
          </a:p>
          <a:p>
            <a:pPr marL="0" indent="0" algn="l">
              <a:buNone/>
            </a:pPr>
            <a:r>
              <a:rPr lang="en-GB" sz="1300" b="0" i="0" dirty="0">
                <a:effectLst/>
              </a:rPr>
              <a:t>The assessment walks you through a series of questions to help assess your readiness in regards to:</a:t>
            </a:r>
          </a:p>
          <a:p>
            <a:pPr algn="l">
              <a:buFont typeface="Arial" panose="020B0604020202020204" pitchFamily="34" charset="0"/>
              <a:buChar char="•"/>
            </a:pPr>
            <a:r>
              <a:rPr lang="en-GB" sz="1300" b="0" i="0" dirty="0">
                <a:effectLst/>
              </a:rPr>
              <a:t>Your current business strategy</a:t>
            </a:r>
          </a:p>
          <a:p>
            <a:pPr algn="l">
              <a:buFont typeface="Arial" panose="020B0604020202020204" pitchFamily="34" charset="0"/>
              <a:buChar char="•"/>
            </a:pPr>
            <a:r>
              <a:rPr lang="en-GB" sz="1300" b="0" i="0" dirty="0">
                <a:effectLst/>
              </a:rPr>
              <a:t>Your partner support system</a:t>
            </a:r>
          </a:p>
          <a:p>
            <a:pPr algn="l">
              <a:buFont typeface="Arial" panose="020B0604020202020204" pitchFamily="34" charset="0"/>
              <a:buChar char="•"/>
            </a:pPr>
            <a:r>
              <a:rPr lang="en-GB" sz="1300" b="0" i="0" dirty="0">
                <a:effectLst/>
              </a:rPr>
              <a:t>Your inventory and assets</a:t>
            </a:r>
          </a:p>
          <a:p>
            <a:pPr algn="l">
              <a:buFont typeface="Arial" panose="020B0604020202020204" pitchFamily="34" charset="0"/>
              <a:buChar char="•"/>
            </a:pPr>
            <a:r>
              <a:rPr lang="en-GB" sz="1300" b="0" i="0" dirty="0">
                <a:effectLst/>
              </a:rPr>
              <a:t>Your business goals</a:t>
            </a:r>
          </a:p>
          <a:p>
            <a:pPr algn="l">
              <a:buFont typeface="Arial" panose="020B0604020202020204" pitchFamily="34" charset="0"/>
              <a:buChar char="•"/>
            </a:pPr>
            <a:r>
              <a:rPr lang="en-GB" sz="1300" b="0" i="0" dirty="0">
                <a:effectLst/>
              </a:rPr>
              <a:t>Your migration plan</a:t>
            </a:r>
          </a:p>
          <a:p>
            <a:pPr algn="l">
              <a:buFont typeface="Arial" panose="020B0604020202020204" pitchFamily="34" charset="0"/>
              <a:buChar char="•"/>
            </a:pPr>
            <a:r>
              <a:rPr lang="en-GB" sz="1300" b="0" i="0" dirty="0">
                <a:effectLst/>
              </a:rPr>
              <a:t>Your organizations technical and migration skills</a:t>
            </a:r>
          </a:p>
          <a:p>
            <a:pPr algn="l">
              <a:buFont typeface="Arial" panose="020B0604020202020204" pitchFamily="34" charset="0"/>
              <a:buChar char="•"/>
            </a:pPr>
            <a:r>
              <a:rPr lang="en-GB" sz="1300" b="0" i="0" dirty="0">
                <a:effectLst/>
              </a:rPr>
              <a:t>Your landing zone environment</a:t>
            </a:r>
          </a:p>
          <a:p>
            <a:pPr algn="l">
              <a:buFont typeface="Arial" panose="020B0604020202020204" pitchFamily="34" charset="0"/>
              <a:buChar char="•"/>
            </a:pPr>
            <a:r>
              <a:rPr lang="en-GB" sz="1300" b="0" i="0" dirty="0">
                <a:effectLst/>
              </a:rPr>
              <a:t>The governance you have in place</a:t>
            </a:r>
          </a:p>
          <a:p>
            <a:pPr algn="l">
              <a:buFont typeface="Arial" panose="020B0604020202020204" pitchFamily="34" charset="0"/>
              <a:buChar char="•"/>
            </a:pPr>
            <a:r>
              <a:rPr lang="en-GB" sz="1300" b="0" i="0" dirty="0">
                <a:effectLst/>
              </a:rPr>
              <a:t>How you will manage assets and services in the cloud</a:t>
            </a:r>
          </a:p>
          <a:p>
            <a:pPr marL="0" indent="0" algn="l">
              <a:buNone/>
            </a:pPr>
            <a:r>
              <a:rPr lang="en-GB" sz="1300" b="0" i="0" dirty="0">
                <a:effectLst/>
              </a:rPr>
              <a:t>You have the ability to pick an area of focus, or answer all the assessment questions. When you finish, you'll receive a report that identifies areas for improvement and resources that can help you make those improvements. After you make improvements, you can come back and take the assessment again to gage your progress toward migration readiness’</a:t>
            </a:r>
          </a:p>
          <a:p>
            <a:pPr marL="0" indent="0" algn="l">
              <a:buNone/>
            </a:pPr>
            <a:endParaRPr lang="en-GB" sz="1300" dirty="0"/>
          </a:p>
          <a:p>
            <a:pPr marL="0" indent="0">
              <a:buNone/>
            </a:pPr>
            <a:r>
              <a:rPr lang="en-GB" sz="1300" b="0" i="0" dirty="0">
                <a:effectLst/>
              </a:rPr>
              <a:t>Above is from Microsoft’s Website. The goal of the SMART assessment is to spot areas of weakness within the business when it comes to the migration, simple things such as knowing what teams woul</a:t>
            </a:r>
            <a:r>
              <a:rPr lang="en-GB" sz="1300" dirty="0"/>
              <a:t>d be part of the migration, has security and backups been considered in the cloud etc that the client may not have thought about. The recommendations can then help gear them up prior to the execution of migrations. The topics that are covered should be talking points and really pull out a good understanding of the customers current situation so a good analysis can be done on their readiness journey. </a:t>
            </a:r>
          </a:p>
          <a:p>
            <a:pPr marL="0" indent="0" algn="l">
              <a:buNone/>
            </a:pPr>
            <a:r>
              <a:rPr lang="en-GB" sz="1300" dirty="0">
                <a:hlinkClick r:id="rId2"/>
              </a:rPr>
              <a:t>LINK TO SMART ASSESSMENT TOOL</a:t>
            </a:r>
            <a:endParaRPr lang="en-GB" sz="1300" b="0" i="0" dirty="0">
              <a:effectLst/>
            </a:endParaRPr>
          </a:p>
        </p:txBody>
      </p:sp>
      <p:sp>
        <p:nvSpPr>
          <p:cNvPr id="4" name="Title 3">
            <a:extLst>
              <a:ext uri="{FF2B5EF4-FFF2-40B4-BE49-F238E27FC236}">
                <a16:creationId xmlns:a16="http://schemas.microsoft.com/office/drawing/2014/main" id="{01B674CB-9B43-E58A-1C36-F1A5BF55CA3C}"/>
              </a:ext>
            </a:extLst>
          </p:cNvPr>
          <p:cNvSpPr>
            <a:spLocks noGrp="1"/>
          </p:cNvSpPr>
          <p:nvPr>
            <p:ph type="title"/>
          </p:nvPr>
        </p:nvSpPr>
        <p:spPr>
          <a:xfrm>
            <a:off x="334497" y="268589"/>
            <a:ext cx="2620793" cy="1023678"/>
          </a:xfrm>
        </p:spPr>
        <p:txBody>
          <a:bodyPr/>
          <a:lstStyle/>
          <a:p>
            <a:r>
              <a:rPr lang="en-GB"/>
              <a:t>SMART Assessments</a:t>
            </a:r>
            <a:endParaRPr lang="en-GB" sz="1800"/>
          </a:p>
        </p:txBody>
      </p:sp>
      <p:sp>
        <p:nvSpPr>
          <p:cNvPr id="5" name="Slide Number Placeholder 4">
            <a:extLst>
              <a:ext uri="{FF2B5EF4-FFF2-40B4-BE49-F238E27FC236}">
                <a16:creationId xmlns:a16="http://schemas.microsoft.com/office/drawing/2014/main" id="{419EFDFE-613E-9B98-AD22-378D3613C948}"/>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17</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530124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C37994-F088-A449-93E9-79F7A17B299C}"/>
              </a:ext>
            </a:extLst>
          </p:cNvPr>
          <p:cNvSpPr>
            <a:spLocks noGrp="1"/>
          </p:cNvSpPr>
          <p:nvPr>
            <p:ph type="title"/>
          </p:nvPr>
        </p:nvSpPr>
        <p:spPr>
          <a:xfrm>
            <a:off x="334497" y="268589"/>
            <a:ext cx="2620793" cy="1548437"/>
          </a:xfrm>
        </p:spPr>
        <p:txBody>
          <a:bodyPr/>
          <a:lstStyle/>
          <a:p>
            <a:r>
              <a:rPr lang="en-GB"/>
              <a:t>SMART Assessment Results</a:t>
            </a:r>
          </a:p>
        </p:txBody>
      </p:sp>
      <p:sp>
        <p:nvSpPr>
          <p:cNvPr id="5" name="Slide Number Placeholder 4">
            <a:extLst>
              <a:ext uri="{FF2B5EF4-FFF2-40B4-BE49-F238E27FC236}">
                <a16:creationId xmlns:a16="http://schemas.microsoft.com/office/drawing/2014/main" id="{089B16FB-1273-0949-E097-94F950603A24}"/>
              </a:ext>
            </a:extLst>
          </p:cNvPr>
          <p:cNvSpPr>
            <a:spLocks noGrp="1"/>
          </p:cNvSpPr>
          <p:nvPr>
            <p:ph type="sldNum" sz="quarter" idx="4"/>
          </p:nvPr>
        </p:nvSpPr>
        <p:spPr>
          <a:xfrm>
            <a:off x="11228295" y="6635750"/>
            <a:ext cx="617402" cy="107722"/>
          </a:xfrm>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18</a:t>
            </a:fld>
            <a:endParaRPr kumimoji="0" lang="en-US" sz="700" b="0" i="0" u="none" strike="noStrike" kern="1200" cap="none" spc="0" normalizeH="0" baseline="0" noProof="0">
              <a:ln>
                <a:noFill/>
              </a:ln>
              <a:solidFill>
                <a:srgbClr val="FFFFFF"/>
              </a:solidFill>
              <a:effectLst/>
              <a:uLnTx/>
              <a:uFillTx/>
              <a:latin typeface="Arial"/>
              <a:ea typeface="+mn-ea"/>
              <a:cs typeface="+mn-cs"/>
            </a:endParaRPr>
          </a:p>
        </p:txBody>
      </p:sp>
      <p:pic>
        <p:nvPicPr>
          <p:cNvPr id="3" name="Picture 2">
            <a:extLst>
              <a:ext uri="{FF2B5EF4-FFF2-40B4-BE49-F238E27FC236}">
                <a16:creationId xmlns:a16="http://schemas.microsoft.com/office/drawing/2014/main" id="{0E8243D7-9FE7-D671-430C-5BCE99DF3995}"/>
              </a:ext>
            </a:extLst>
          </p:cNvPr>
          <p:cNvPicPr>
            <a:picLocks noChangeAspect="1"/>
          </p:cNvPicPr>
          <p:nvPr/>
        </p:nvPicPr>
        <p:blipFill>
          <a:blip r:embed="rId2"/>
          <a:stretch>
            <a:fillRect/>
          </a:stretch>
        </p:blipFill>
        <p:spPr>
          <a:xfrm>
            <a:off x="3379108" y="0"/>
            <a:ext cx="5766673" cy="6858000"/>
          </a:xfrm>
          <a:prstGeom prst="rect">
            <a:avLst/>
          </a:prstGeom>
        </p:spPr>
      </p:pic>
      <p:sp>
        <p:nvSpPr>
          <p:cNvPr id="2" name="TextBox 1">
            <a:extLst>
              <a:ext uri="{FF2B5EF4-FFF2-40B4-BE49-F238E27FC236}">
                <a16:creationId xmlns:a16="http://schemas.microsoft.com/office/drawing/2014/main" id="{36BC5AFE-C6B0-1F4D-18C5-0319E6EBC87C}"/>
              </a:ext>
            </a:extLst>
          </p:cNvPr>
          <p:cNvSpPr txBox="1"/>
          <p:nvPr/>
        </p:nvSpPr>
        <p:spPr>
          <a:xfrm>
            <a:off x="9380702" y="2413337"/>
            <a:ext cx="2558128" cy="2031325"/>
          </a:xfrm>
          <a:prstGeom prst="rect">
            <a:avLst/>
          </a:prstGeom>
          <a:noFill/>
        </p:spPr>
        <p:txBody>
          <a:bodyPr wrap="square" rtlCol="0">
            <a:sp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Alongside these results customers can add milestones to show the progress they are making with the recommended actions.</a:t>
            </a:r>
          </a:p>
        </p:txBody>
      </p:sp>
    </p:spTree>
    <p:extLst>
      <p:ext uri="{BB962C8B-B14F-4D97-AF65-F5344CB8AC3E}">
        <p14:creationId xmlns:p14="http://schemas.microsoft.com/office/powerpoint/2010/main" val="14292502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C30581-B6F4-D8B2-61B2-9DC2D1747BDF}"/>
              </a:ext>
            </a:extLst>
          </p:cNvPr>
          <p:cNvSpPr>
            <a:spLocks noGrp="1"/>
          </p:cNvSpPr>
          <p:nvPr>
            <p:ph type="body" sz="quarter" idx="12"/>
          </p:nvPr>
        </p:nvSpPr>
        <p:spPr>
          <a:xfrm>
            <a:off x="3238500" y="333283"/>
            <a:ext cx="8580120" cy="6363280"/>
          </a:xfrm>
        </p:spPr>
        <p:txBody>
          <a:bodyPr/>
          <a:lstStyle/>
          <a:p>
            <a:r>
              <a:rPr lang="en-GB" sz="1200" dirty="0"/>
              <a:t>The Portfolio assessment is Rackspace’s scoping and profiling (however this may be a lighter version due to the rapid nature of some of these assessments), key details will need to be captured with the customer to be able to do a migration assessment on the applications. If the project is very rapid then first movers should be identified and assessed first, any extra time on other applications is a bonus, however other applications will most likely be covered in the next phase – MIGRATE.</a:t>
            </a:r>
          </a:p>
          <a:p>
            <a:r>
              <a:rPr lang="en-GB" sz="1200" dirty="0"/>
              <a:t>As mentioned before the application list is so important to get a rough idea of the estate the customer is looking to migrate, this then can also highlight any shared services that the solutions architect needs to consider as part of the high level design. </a:t>
            </a:r>
          </a:p>
          <a:p>
            <a:r>
              <a:rPr lang="en-GB" sz="1200" dirty="0"/>
              <a:t>Azure Migrate will help with TCO calculations, the PA will help narrow down the scope of work and potentially any modernisation opportunities if spotted by the CA or flagged by the customer. </a:t>
            </a:r>
          </a:p>
          <a:p>
            <a:r>
              <a:rPr lang="en-GB" sz="1200" dirty="0"/>
              <a:t>For this phase only 5 business applications will be application profiled, this is to keep us on track for margins with the funding from Microsoft. You will need to work with the customer to define these 5 apps and the rest of the assessment will be on the infrastructure. In the following phase we will then complete the scoping and profiling of the rest of the business apps, alongside the first movers being migrated and utilise the funding in that phase. </a:t>
            </a:r>
          </a:p>
          <a:p>
            <a:r>
              <a:rPr lang="en-GB" sz="1200" dirty="0"/>
              <a:t>However if Dr. Migrate is used this can give us a good high level wave plan and categorise apps and use as a base for cost estimations and timelines.</a:t>
            </a:r>
          </a:p>
          <a:p>
            <a:r>
              <a:rPr lang="en-GB" sz="1200" dirty="0">
                <a:hlinkClick r:id="rId2"/>
              </a:rPr>
              <a:t>Linked is a Data Gathering </a:t>
            </a:r>
            <a:r>
              <a:rPr lang="en-GB" sz="1200" dirty="0">
                <a:hlinkClick r:id="rId3"/>
              </a:rPr>
              <a:t>Template</a:t>
            </a:r>
            <a:r>
              <a:rPr lang="en-GB" sz="1200" dirty="0">
                <a:hlinkClick r:id="rId2"/>
              </a:rPr>
              <a:t> Guide </a:t>
            </a:r>
            <a:r>
              <a:rPr lang="en-GB" sz="1200" dirty="0"/>
              <a:t>– for what goes into the sheet (based off our scoping and profiling product)</a:t>
            </a:r>
          </a:p>
          <a:p>
            <a:r>
              <a:rPr lang="en-GB" sz="1200" dirty="0"/>
              <a:t>Deliverables from PA:</a:t>
            </a:r>
          </a:p>
          <a:p>
            <a:pPr>
              <a:buFont typeface="Wingdings" pitchFamily="2" charset="2"/>
              <a:buChar char="Ø"/>
            </a:pPr>
            <a:r>
              <a:rPr lang="en-GB" sz="1200" dirty="0"/>
              <a:t>Complexity Assessment (on each application) </a:t>
            </a:r>
          </a:p>
          <a:p>
            <a:pPr>
              <a:buFont typeface="Wingdings" pitchFamily="2" charset="2"/>
              <a:buChar char="Ø"/>
            </a:pPr>
            <a:r>
              <a:rPr lang="en-GB" sz="1200" dirty="0"/>
              <a:t>Migration Scope</a:t>
            </a:r>
          </a:p>
          <a:p>
            <a:pPr>
              <a:buFont typeface="Wingdings" pitchFamily="2" charset="2"/>
              <a:buChar char="Ø"/>
            </a:pPr>
            <a:r>
              <a:rPr lang="en-GB" sz="1200" dirty="0"/>
              <a:t>High Level release plan (first movers)</a:t>
            </a:r>
          </a:p>
          <a:p>
            <a:pPr>
              <a:buFont typeface="Wingdings" pitchFamily="2" charset="2"/>
              <a:buChar char="Ø"/>
            </a:pPr>
            <a:r>
              <a:rPr lang="en-GB" sz="1200" dirty="0"/>
              <a:t>First Movers Identified</a:t>
            </a:r>
          </a:p>
          <a:p>
            <a:pPr>
              <a:buFont typeface="Wingdings" pitchFamily="2" charset="2"/>
              <a:buChar char="Ø"/>
            </a:pPr>
            <a:r>
              <a:rPr lang="en-GB" sz="1200" dirty="0"/>
              <a:t>Estimated Cost of Migration (TC cost)</a:t>
            </a:r>
          </a:p>
          <a:p>
            <a:pPr>
              <a:buFont typeface="Wingdings" pitchFamily="2" charset="2"/>
              <a:buChar char="Ø"/>
            </a:pPr>
            <a:r>
              <a:rPr lang="en-GB" sz="1200" dirty="0"/>
              <a:t>Scoping and profiling / PA workbook</a:t>
            </a:r>
          </a:p>
          <a:p>
            <a:pPr>
              <a:buFont typeface="Wingdings" pitchFamily="2" charset="2"/>
              <a:buChar char="Ø"/>
            </a:pPr>
            <a:r>
              <a:rPr lang="en-GB" sz="1200" dirty="0"/>
              <a:t>PA Playback</a:t>
            </a:r>
          </a:p>
          <a:p>
            <a:pPr>
              <a:buFont typeface="Wingdings" pitchFamily="2" charset="2"/>
              <a:buChar char="Ø"/>
            </a:pPr>
            <a:r>
              <a:rPr lang="en-GB" sz="1200" dirty="0"/>
              <a:t>Migration Strategy per application (first movers)</a:t>
            </a:r>
          </a:p>
          <a:p>
            <a:endParaRPr lang="en-GB" sz="1400" dirty="0"/>
          </a:p>
        </p:txBody>
      </p:sp>
      <p:sp>
        <p:nvSpPr>
          <p:cNvPr id="4" name="Title 3">
            <a:extLst>
              <a:ext uri="{FF2B5EF4-FFF2-40B4-BE49-F238E27FC236}">
                <a16:creationId xmlns:a16="http://schemas.microsoft.com/office/drawing/2014/main" id="{01B674CB-9B43-E58A-1C36-F1A5BF55CA3C}"/>
              </a:ext>
            </a:extLst>
          </p:cNvPr>
          <p:cNvSpPr>
            <a:spLocks noGrp="1"/>
          </p:cNvSpPr>
          <p:nvPr>
            <p:ph type="title"/>
          </p:nvPr>
        </p:nvSpPr>
        <p:spPr>
          <a:xfrm>
            <a:off x="334497" y="268589"/>
            <a:ext cx="2620793" cy="814454"/>
          </a:xfrm>
        </p:spPr>
        <p:txBody>
          <a:bodyPr/>
          <a:lstStyle/>
          <a:p>
            <a:r>
              <a:rPr lang="en-GB"/>
              <a:t>PA </a:t>
            </a:r>
            <a:br>
              <a:rPr lang="en-GB"/>
            </a:br>
            <a:r>
              <a:rPr lang="en-GB" sz="1800"/>
              <a:t>Portfolio Assessment</a:t>
            </a:r>
          </a:p>
        </p:txBody>
      </p:sp>
      <p:sp>
        <p:nvSpPr>
          <p:cNvPr id="5" name="Slide Number Placeholder 4">
            <a:extLst>
              <a:ext uri="{FF2B5EF4-FFF2-40B4-BE49-F238E27FC236}">
                <a16:creationId xmlns:a16="http://schemas.microsoft.com/office/drawing/2014/main" id="{419EFDFE-613E-9B98-AD22-378D3613C948}"/>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19</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5338234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C30581-B6F4-D8B2-61B2-9DC2D1747BDF}"/>
              </a:ext>
            </a:extLst>
          </p:cNvPr>
          <p:cNvSpPr>
            <a:spLocks noGrp="1"/>
          </p:cNvSpPr>
          <p:nvPr>
            <p:ph type="body" sz="quarter" idx="12"/>
          </p:nvPr>
        </p:nvSpPr>
        <p:spPr>
          <a:xfrm>
            <a:off x="3238500" y="509798"/>
            <a:ext cx="8580120" cy="5637441"/>
          </a:xfrm>
        </p:spPr>
        <p:txBody>
          <a:bodyPr/>
          <a:lstStyle/>
          <a:p>
            <a:r>
              <a:rPr lang="en-GB" sz="1400" dirty="0"/>
              <a:t>The Discovery tooling will be vital to getting a good idea of the current estate the customer is working with, it’s utilised alongside MPA and MRA Assessment to really see the customers desires and any weak points or areas that need to be addressed early on, in preparation for the next phase. </a:t>
            </a:r>
          </a:p>
          <a:p>
            <a:r>
              <a:rPr lang="en-GB" sz="1400" dirty="0"/>
              <a:t>Using the tooling and workshop approach, we are able to really pin down how much of the estate is going to be migrated and give a more accurate TCO. </a:t>
            </a:r>
          </a:p>
          <a:p>
            <a:r>
              <a:rPr lang="en-GB" sz="1400" dirty="0"/>
              <a:t>Stress to the customer the importance of getting the tooling set up ASAP. If possible this should be pre-arranged or be in talks to prepare the customer to put in any requests that may be needed in order for this to be set up. Majority of projects delays are because tooling isn’t installed properly, or because of the customer, it’s best to mitigate any delays on our side by ensuring tooling is in place ASAP. </a:t>
            </a:r>
          </a:p>
          <a:p>
            <a:r>
              <a:rPr lang="en-GB" sz="1400" dirty="0"/>
              <a:t>Tooling also highlights early on any VM’s the customer may of forgotten and needs to decommission or needs to be excluded, on the flip side it’s the same for any VM’s that may have been forgotten and needs to be included. </a:t>
            </a:r>
          </a:p>
          <a:p>
            <a:r>
              <a:rPr lang="en-GB" sz="1400" dirty="0"/>
              <a:t>An engineer always needs to be lined up for these type of engagements, another delay is not having the resource to support the customer, if you notice an engineer is missing then flag it as early as possible!</a:t>
            </a:r>
          </a:p>
          <a:p>
            <a:r>
              <a:rPr lang="en-GB" sz="1400" dirty="0">
                <a:hlinkClick r:id="rId2"/>
              </a:rPr>
              <a:t>Azure Migrate Deployment Guide [Scenario dependant on website]</a:t>
            </a:r>
            <a:endParaRPr lang="en-GB" sz="1400" dirty="0"/>
          </a:p>
          <a:p>
            <a:r>
              <a:rPr lang="en-GB" sz="1400" dirty="0">
                <a:solidFill>
                  <a:srgbClr val="FF0000"/>
                </a:solidFill>
                <a:hlinkClick r:id="rId3"/>
              </a:rPr>
              <a:t>Dr. Migrate Deployment Guide [Azure Migrate needs to be installed first]</a:t>
            </a:r>
            <a:endParaRPr lang="en-GB" sz="1400" dirty="0">
              <a:solidFill>
                <a:srgbClr val="FF0000"/>
              </a:solidFill>
            </a:endParaRPr>
          </a:p>
          <a:p>
            <a:r>
              <a:rPr lang="en-GB" sz="1400" dirty="0">
                <a:solidFill>
                  <a:srgbClr val="FF0000"/>
                </a:solidFill>
                <a:hlinkClick r:id="rId4"/>
              </a:rPr>
              <a:t>Movere Deployment Guide [SaaS]</a:t>
            </a:r>
            <a:r>
              <a:rPr lang="en-GB" sz="1400" dirty="0">
                <a:solidFill>
                  <a:srgbClr val="FF0000"/>
                </a:solidFill>
              </a:rPr>
              <a:t> </a:t>
            </a:r>
          </a:p>
          <a:p>
            <a:r>
              <a:rPr lang="en-GB" sz="1400" dirty="0">
                <a:solidFill>
                  <a:srgbClr val="FF0000"/>
                </a:solidFill>
                <a:hlinkClick r:id="rId5"/>
              </a:rPr>
              <a:t>Azure Migrate and Dr. Migrate Deployment Guide</a:t>
            </a:r>
            <a:endParaRPr lang="en-GB" sz="1400" dirty="0">
              <a:solidFill>
                <a:srgbClr val="FF0000"/>
              </a:solidFill>
            </a:endParaRPr>
          </a:p>
          <a:p>
            <a:r>
              <a:rPr lang="en-GB" sz="1400" dirty="0"/>
              <a:t>The following deliverables will come out the Discovery tooling:</a:t>
            </a:r>
          </a:p>
          <a:p>
            <a:pPr>
              <a:buFont typeface="Wingdings" pitchFamily="2" charset="2"/>
              <a:buChar char="Ø"/>
            </a:pPr>
            <a:r>
              <a:rPr lang="en-GB" sz="1400" dirty="0"/>
              <a:t>Discovery tooling itinerary/report – (used to help app to server mapping and TCO)</a:t>
            </a:r>
          </a:p>
        </p:txBody>
      </p:sp>
      <p:sp>
        <p:nvSpPr>
          <p:cNvPr id="4" name="Title 3">
            <a:extLst>
              <a:ext uri="{FF2B5EF4-FFF2-40B4-BE49-F238E27FC236}">
                <a16:creationId xmlns:a16="http://schemas.microsoft.com/office/drawing/2014/main" id="{01B674CB-9B43-E58A-1C36-F1A5BF55CA3C}"/>
              </a:ext>
            </a:extLst>
          </p:cNvPr>
          <p:cNvSpPr>
            <a:spLocks noGrp="1"/>
          </p:cNvSpPr>
          <p:nvPr>
            <p:ph type="title"/>
          </p:nvPr>
        </p:nvSpPr>
        <p:spPr>
          <a:xfrm>
            <a:off x="334497" y="268589"/>
            <a:ext cx="2904003" cy="1339213"/>
          </a:xfrm>
        </p:spPr>
        <p:txBody>
          <a:bodyPr/>
          <a:lstStyle/>
          <a:p>
            <a:r>
              <a:rPr lang="en-GB"/>
              <a:t>Discovery Tooling </a:t>
            </a:r>
            <a:br>
              <a:rPr lang="en-GB"/>
            </a:br>
            <a:endParaRPr lang="en-GB" sz="1800"/>
          </a:p>
        </p:txBody>
      </p:sp>
      <p:sp>
        <p:nvSpPr>
          <p:cNvPr id="5" name="Slide Number Placeholder 4">
            <a:extLst>
              <a:ext uri="{FF2B5EF4-FFF2-40B4-BE49-F238E27FC236}">
                <a16:creationId xmlns:a16="http://schemas.microsoft.com/office/drawing/2014/main" id="{419EFDFE-613E-9B98-AD22-378D3613C948}"/>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20</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40807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C30581-B6F4-D8B2-61B2-9DC2D1747BDF}"/>
              </a:ext>
            </a:extLst>
          </p:cNvPr>
          <p:cNvSpPr>
            <a:spLocks noGrp="1"/>
          </p:cNvSpPr>
          <p:nvPr>
            <p:ph type="body" sz="quarter" idx="12"/>
          </p:nvPr>
        </p:nvSpPr>
        <p:spPr>
          <a:xfrm>
            <a:off x="3238500" y="509798"/>
            <a:ext cx="8580120" cy="4362733"/>
          </a:xfrm>
        </p:spPr>
        <p:txBody>
          <a:bodyPr/>
          <a:lstStyle/>
          <a:p>
            <a:r>
              <a:rPr lang="en-GB" sz="1400"/>
              <a:t>The Discovery tooling that Microsoft will prefer to use is Dr Migrate (Rackspace is now a Dr Migrate Partner as well) – This is due to the capabilities it has in extracting data and provide a great start for wave planning, migration strategies and even identify apps we may be utilising this output more than going via assessments with the customer. </a:t>
            </a:r>
          </a:p>
          <a:p>
            <a:r>
              <a:rPr lang="en-GB" sz="1400">
                <a:hlinkClick r:id="rId2"/>
              </a:rPr>
              <a:t>‘SuperCharged Low Down’ On Dr.Migrate Video (8 mins) </a:t>
            </a:r>
            <a:endParaRPr lang="en-GB" sz="1400"/>
          </a:p>
          <a:p>
            <a:r>
              <a:rPr lang="en-GB" sz="1400"/>
              <a:t>“Responding to the pain points, LAB3 has “supercharged Microsoft’s Azure Migrate appliance” by providing an agentless service. This means that customers don’t need to install agents on every virtual machine.</a:t>
            </a:r>
            <a:br>
              <a:rPr lang="en-GB" sz="1400"/>
            </a:br>
            <a:br>
              <a:rPr lang="en-GB" sz="1400"/>
            </a:br>
            <a:r>
              <a:rPr lang="en-GB" sz="1400"/>
              <a:t>The Microsoft approved tool automatically learns how the company’s applications relate, calculates the best applications to migrate and then cleanses the system of old applications using infrastructure-as-code. It then integrates the migrated virtual machine with native Azure services.</a:t>
            </a:r>
            <a:br>
              <a:rPr lang="en-GB" sz="1400"/>
            </a:br>
            <a:br>
              <a:rPr lang="en-GB" sz="1400"/>
            </a:br>
            <a:r>
              <a:rPr lang="en-GB" sz="1400"/>
              <a:t>“The technology shows an end-to-end report of what has migrated into Azure,” says Andy.</a:t>
            </a:r>
            <a:br>
              <a:rPr lang="en-GB" sz="1400"/>
            </a:br>
            <a:br>
              <a:rPr lang="en-GB" sz="1400"/>
            </a:br>
            <a:r>
              <a:rPr lang="en-GB" sz="1400"/>
              <a:t>Dr M’s algorithms know which app needs to move with another, as it automatically detects their network dependences. Traditionally, these plans would take weeks to build. Now they generate in an instant.”</a:t>
            </a:r>
          </a:p>
          <a:p>
            <a:endParaRPr lang="en-GB" sz="1400"/>
          </a:p>
        </p:txBody>
      </p:sp>
      <p:sp>
        <p:nvSpPr>
          <p:cNvPr id="4" name="Title 3">
            <a:extLst>
              <a:ext uri="{FF2B5EF4-FFF2-40B4-BE49-F238E27FC236}">
                <a16:creationId xmlns:a16="http://schemas.microsoft.com/office/drawing/2014/main" id="{01B674CB-9B43-E58A-1C36-F1A5BF55CA3C}"/>
              </a:ext>
            </a:extLst>
          </p:cNvPr>
          <p:cNvSpPr>
            <a:spLocks noGrp="1"/>
          </p:cNvSpPr>
          <p:nvPr>
            <p:ph type="title"/>
          </p:nvPr>
        </p:nvSpPr>
        <p:spPr>
          <a:xfrm>
            <a:off x="334497" y="268589"/>
            <a:ext cx="2904003" cy="1863972"/>
          </a:xfrm>
        </p:spPr>
        <p:txBody>
          <a:bodyPr/>
          <a:lstStyle/>
          <a:p>
            <a:r>
              <a:rPr lang="en-GB"/>
              <a:t>Discovery Tooling – </a:t>
            </a:r>
            <a:r>
              <a:rPr lang="en-GB" err="1"/>
              <a:t>Dr.</a:t>
            </a:r>
            <a:r>
              <a:rPr lang="en-GB"/>
              <a:t> Migrate</a:t>
            </a:r>
            <a:br>
              <a:rPr lang="en-GB"/>
            </a:br>
            <a:endParaRPr lang="en-GB" sz="1800"/>
          </a:p>
        </p:txBody>
      </p:sp>
      <p:sp>
        <p:nvSpPr>
          <p:cNvPr id="5" name="Slide Number Placeholder 4">
            <a:extLst>
              <a:ext uri="{FF2B5EF4-FFF2-40B4-BE49-F238E27FC236}">
                <a16:creationId xmlns:a16="http://schemas.microsoft.com/office/drawing/2014/main" id="{419EFDFE-613E-9B98-AD22-378D3613C948}"/>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21</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203821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C30581-B6F4-D8B2-61B2-9DC2D1747BDF}"/>
              </a:ext>
            </a:extLst>
          </p:cNvPr>
          <p:cNvSpPr>
            <a:spLocks noGrp="1"/>
          </p:cNvSpPr>
          <p:nvPr>
            <p:ph type="body" sz="quarter" idx="12"/>
          </p:nvPr>
        </p:nvSpPr>
        <p:spPr>
          <a:xfrm>
            <a:off x="3277383" y="632500"/>
            <a:ext cx="8580120" cy="1813317"/>
          </a:xfrm>
        </p:spPr>
        <p:txBody>
          <a:bodyPr/>
          <a:lstStyle/>
          <a:p>
            <a:r>
              <a:rPr lang="en-GB" sz="1400" dirty="0"/>
              <a:t>Why do we need a business case? – The Business case provides a baseline, and a projection of future value. It provides a comparison of continuing to operate as is (do nothing) against the value of transitioning into Azure (future change) – The final product of the business case will lead to a draft SoW being created ready for the mobilise phase.</a:t>
            </a:r>
          </a:p>
          <a:p>
            <a:r>
              <a:rPr lang="en-GB" sz="1400" dirty="0">
                <a:hlinkClick r:id="rId2"/>
              </a:rPr>
              <a:t>Business Case Template</a:t>
            </a:r>
            <a:r>
              <a:rPr lang="en-GB" sz="1400" dirty="0"/>
              <a:t> (Example) – This Document isn’t an ‘official’ creation, at time of writing there isn’t an Azure AMM specific Business Case Template. This is a generic business case that’s been tailored to Azure AMM. Screenshots or data from this exercise can be injected into the business case to support areas where needed. </a:t>
            </a:r>
            <a:endParaRPr lang="en-GB" sz="1400" dirty="0">
              <a:solidFill>
                <a:srgbClr val="FF0000"/>
              </a:solidFill>
            </a:endParaRPr>
          </a:p>
        </p:txBody>
      </p:sp>
      <p:sp>
        <p:nvSpPr>
          <p:cNvPr id="4" name="Title 3">
            <a:extLst>
              <a:ext uri="{FF2B5EF4-FFF2-40B4-BE49-F238E27FC236}">
                <a16:creationId xmlns:a16="http://schemas.microsoft.com/office/drawing/2014/main" id="{01B674CB-9B43-E58A-1C36-F1A5BF55CA3C}"/>
              </a:ext>
            </a:extLst>
          </p:cNvPr>
          <p:cNvSpPr>
            <a:spLocks noGrp="1"/>
          </p:cNvSpPr>
          <p:nvPr>
            <p:ph type="title"/>
          </p:nvPr>
        </p:nvSpPr>
        <p:spPr>
          <a:xfrm>
            <a:off x="334497" y="268589"/>
            <a:ext cx="2904003" cy="498919"/>
          </a:xfrm>
        </p:spPr>
        <p:txBody>
          <a:bodyPr/>
          <a:lstStyle/>
          <a:p>
            <a:r>
              <a:rPr lang="en-GB"/>
              <a:t>Business Case</a:t>
            </a:r>
            <a:endParaRPr lang="en-GB" sz="1800"/>
          </a:p>
        </p:txBody>
      </p:sp>
      <p:sp>
        <p:nvSpPr>
          <p:cNvPr id="5" name="Slide Number Placeholder 4">
            <a:extLst>
              <a:ext uri="{FF2B5EF4-FFF2-40B4-BE49-F238E27FC236}">
                <a16:creationId xmlns:a16="http://schemas.microsoft.com/office/drawing/2014/main" id="{419EFDFE-613E-9B98-AD22-378D3613C948}"/>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22</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pic>
        <p:nvPicPr>
          <p:cNvPr id="3" name="Picture 2">
            <a:extLst>
              <a:ext uri="{FF2B5EF4-FFF2-40B4-BE49-F238E27FC236}">
                <a16:creationId xmlns:a16="http://schemas.microsoft.com/office/drawing/2014/main" id="{AA5472C2-6C1B-7675-5F5D-2D0A83FECE2F}"/>
              </a:ext>
            </a:extLst>
          </p:cNvPr>
          <p:cNvPicPr>
            <a:picLocks noChangeAspect="1"/>
          </p:cNvPicPr>
          <p:nvPr/>
        </p:nvPicPr>
        <p:blipFill>
          <a:blip r:embed="rId3"/>
          <a:stretch>
            <a:fillRect/>
          </a:stretch>
        </p:blipFill>
        <p:spPr>
          <a:xfrm>
            <a:off x="3965096" y="2681559"/>
            <a:ext cx="7326853" cy="3061810"/>
          </a:xfrm>
          <a:prstGeom prst="rect">
            <a:avLst/>
          </a:prstGeom>
        </p:spPr>
      </p:pic>
      <p:sp>
        <p:nvSpPr>
          <p:cNvPr id="6" name="TextBox 5">
            <a:extLst>
              <a:ext uri="{FF2B5EF4-FFF2-40B4-BE49-F238E27FC236}">
                <a16:creationId xmlns:a16="http://schemas.microsoft.com/office/drawing/2014/main" id="{8808E004-5C3C-3C90-639D-A118A4403C55}"/>
              </a:ext>
            </a:extLst>
          </p:cNvPr>
          <p:cNvSpPr txBox="1"/>
          <p:nvPr/>
        </p:nvSpPr>
        <p:spPr>
          <a:xfrm>
            <a:off x="3352801" y="2484680"/>
            <a:ext cx="8732704" cy="369332"/>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Business Case inputs:</a:t>
            </a:r>
            <a:r>
              <a:rPr kumimoji="0" lang="en-GB" sz="1800" b="0" i="1" u="none" strike="noStrike" kern="1200" cap="none" spc="0" normalizeH="0" baseline="0" noProof="0">
                <a:ln>
                  <a:noFill/>
                </a:ln>
                <a:solidFill>
                  <a:srgbClr val="000000"/>
                </a:solidFill>
                <a:effectLst/>
                <a:uLnTx/>
                <a:uFillTx/>
                <a:latin typeface="Fira Sans" panose="020B0503050000020004" pitchFamily="34" charset="0"/>
                <a:ea typeface="+mn-ea"/>
                <a:cs typeface="+mn-cs"/>
              </a:rPr>
              <a:t> </a:t>
            </a:r>
            <a:r>
              <a:rPr kumimoji="0" lang="en-GB"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(These details will have to come from various members of the team / customer)</a:t>
            </a:r>
          </a:p>
        </p:txBody>
      </p:sp>
      <p:sp>
        <p:nvSpPr>
          <p:cNvPr id="9" name="TextBox 8">
            <a:extLst>
              <a:ext uri="{FF2B5EF4-FFF2-40B4-BE49-F238E27FC236}">
                <a16:creationId xmlns:a16="http://schemas.microsoft.com/office/drawing/2014/main" id="{1EBB86FF-06BE-A113-E028-187329B65602}"/>
              </a:ext>
            </a:extLst>
          </p:cNvPr>
          <p:cNvSpPr txBox="1"/>
          <p:nvPr/>
        </p:nvSpPr>
        <p:spPr>
          <a:xfrm>
            <a:off x="4965897" y="5782232"/>
            <a:ext cx="5521063" cy="646331"/>
          </a:xfrm>
          <a:prstGeom prst="rect">
            <a:avLst/>
          </a:prstGeom>
          <a:noFill/>
        </p:spPr>
        <p:txBody>
          <a:bodyPr wrap="none" lIns="91440" tIns="45720" rIns="91440" bIns="45720" rtlCol="0" anchor="t">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Fira Sans"/>
                <a:ea typeface="+mn-ea"/>
                <a:cs typeface="+mn-cs"/>
                <a:hlinkClick r:id="rId4"/>
              </a:rPr>
              <a:t>Azure key components for creating a business case</a:t>
            </a:r>
            <a:endParaRPr kumimoji="0" lang="en-GB" sz="1800" b="0" i="0" u="none" strike="noStrike" kern="1200" cap="none" spc="0" normalizeH="0" baseline="0" noProof="0" dirty="0">
              <a:ln>
                <a:noFill/>
              </a:ln>
              <a:solidFill>
                <a:srgbClr val="000000"/>
              </a:solidFill>
              <a:effectLst/>
              <a:uLnTx/>
              <a:uFillTx/>
              <a:latin typeface="Fira Sans"/>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Fira Sans"/>
                <a:ea typeface="+mn-ea"/>
                <a:cs typeface="+mn-cs"/>
              </a:rPr>
              <a:t>(Tools for TCO included in this link)</a:t>
            </a:r>
            <a:endParaRPr kumimoji="0" lang="en-GB" sz="1800" b="0" i="0" u="none" strike="noStrike" kern="1200" cap="none" spc="0" normalizeH="0" baseline="0" noProof="0" dirty="0">
              <a:ln>
                <a:noFill/>
              </a:ln>
              <a:solidFill>
                <a:srgbClr val="000000"/>
              </a:solidFill>
              <a:effectLst/>
              <a:uLnTx/>
              <a:uFillTx/>
              <a:latin typeface="Fira Sans" panose="020B0503050000020004" pitchFamily="34" charset="0"/>
              <a:ea typeface="+mn-ea"/>
              <a:cs typeface="+mn-cs"/>
            </a:endParaRPr>
          </a:p>
        </p:txBody>
      </p:sp>
    </p:spTree>
    <p:extLst>
      <p:ext uri="{BB962C8B-B14F-4D97-AF65-F5344CB8AC3E}">
        <p14:creationId xmlns:p14="http://schemas.microsoft.com/office/powerpoint/2010/main" val="1113370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B674CB-9B43-E58A-1C36-F1A5BF55CA3C}"/>
              </a:ext>
            </a:extLst>
          </p:cNvPr>
          <p:cNvSpPr>
            <a:spLocks noGrp="1"/>
          </p:cNvSpPr>
          <p:nvPr>
            <p:ph type="title"/>
          </p:nvPr>
        </p:nvSpPr>
        <p:spPr>
          <a:xfrm>
            <a:off x="334497" y="268589"/>
            <a:ext cx="2904003" cy="498919"/>
          </a:xfrm>
        </p:spPr>
        <p:txBody>
          <a:bodyPr/>
          <a:lstStyle/>
          <a:p>
            <a:r>
              <a:rPr lang="en-GB"/>
              <a:t>Business Case</a:t>
            </a:r>
            <a:endParaRPr lang="en-GB" sz="1800"/>
          </a:p>
        </p:txBody>
      </p:sp>
      <p:sp>
        <p:nvSpPr>
          <p:cNvPr id="8" name="Text Placeholder 7">
            <a:extLst>
              <a:ext uri="{FF2B5EF4-FFF2-40B4-BE49-F238E27FC236}">
                <a16:creationId xmlns:a16="http://schemas.microsoft.com/office/drawing/2014/main" id="{3A594614-67BE-FFDC-70CF-9B2AD89A4555}"/>
              </a:ext>
            </a:extLst>
          </p:cNvPr>
          <p:cNvSpPr>
            <a:spLocks noGrp="1"/>
          </p:cNvSpPr>
          <p:nvPr>
            <p:ph type="body" sz="quarter" idx="12"/>
          </p:nvPr>
        </p:nvSpPr>
        <p:spPr>
          <a:xfrm>
            <a:off x="3238500" y="518048"/>
            <a:ext cx="8580120" cy="6663363"/>
          </a:xfrm>
        </p:spPr>
        <p:txBody>
          <a:bodyPr/>
          <a:lstStyle/>
          <a:p>
            <a:r>
              <a:rPr lang="en-GB"/>
              <a:t>The business case covers the following topics:</a:t>
            </a:r>
            <a:br>
              <a:rPr lang="en-GB"/>
            </a:br>
            <a:br>
              <a:rPr lang="en-GB" sz="1400"/>
            </a:br>
            <a:r>
              <a:rPr lang="en-GB" sz="1400"/>
              <a:t>Executive Summary – </a:t>
            </a:r>
          </a:p>
          <a:p>
            <a:pPr lvl="1"/>
            <a:r>
              <a:rPr lang="en-GB" sz="1400"/>
              <a:t>Background on the engagement / client </a:t>
            </a:r>
          </a:p>
          <a:p>
            <a:pPr lvl="1"/>
            <a:r>
              <a:rPr lang="en-GB" sz="1400"/>
              <a:t>The Purpose of the Business case</a:t>
            </a:r>
          </a:p>
          <a:p>
            <a:pPr lvl="1"/>
            <a:r>
              <a:rPr lang="en-GB" sz="1400"/>
              <a:t>The intended audience </a:t>
            </a:r>
          </a:p>
          <a:p>
            <a:pPr lvl="1"/>
            <a:r>
              <a:rPr lang="en-GB" sz="1400"/>
              <a:t>References for the Business case</a:t>
            </a:r>
            <a:br>
              <a:rPr lang="en-GB" sz="1400"/>
            </a:br>
            <a:endParaRPr lang="en-GB" sz="1400"/>
          </a:p>
          <a:p>
            <a:pPr marL="285750" lvl="1" indent="0">
              <a:buNone/>
            </a:pPr>
            <a:r>
              <a:rPr lang="en-GB" sz="1400"/>
              <a:t>Migration Context – </a:t>
            </a:r>
          </a:p>
          <a:p>
            <a:pPr marL="571500" lvl="1" indent="-285750"/>
            <a:r>
              <a:rPr lang="en-GB" sz="1400"/>
              <a:t>An overview of organization and it’s technology landscape</a:t>
            </a:r>
          </a:p>
          <a:p>
            <a:pPr marL="571500" lvl="1" indent="-285750"/>
            <a:r>
              <a:rPr lang="en-GB" sz="1400"/>
              <a:t>Including Company Name, Relevant Business Units, Stakeholders and Data Centre Locations. </a:t>
            </a:r>
          </a:p>
          <a:p>
            <a:pPr marL="571500" lvl="1" indent="-285750"/>
            <a:endParaRPr lang="en-GB" sz="1400"/>
          </a:p>
          <a:p>
            <a:pPr marL="285750" lvl="1" indent="0">
              <a:buNone/>
            </a:pPr>
            <a:r>
              <a:rPr lang="en-GB" sz="1400"/>
              <a:t>Migration Assessment – </a:t>
            </a:r>
          </a:p>
          <a:p>
            <a:pPr marL="571500" lvl="1" indent="-285750"/>
            <a:r>
              <a:rPr lang="en-GB" sz="1400"/>
              <a:t>A summary of the infrastructure and applications in scope based on the discovery</a:t>
            </a:r>
          </a:p>
          <a:p>
            <a:pPr marL="571500" lvl="1" indent="-285750"/>
            <a:r>
              <a:rPr lang="en-GB" sz="1400"/>
              <a:t>Assets will be included (tables / graphs with info) around which applications are in scope, servers, and databases</a:t>
            </a:r>
          </a:p>
          <a:p>
            <a:pPr marL="285750" lvl="1" indent="0">
              <a:buNone/>
            </a:pPr>
            <a:endParaRPr lang="en-GB" sz="1400"/>
          </a:p>
          <a:p>
            <a:pPr marL="285750" lvl="1" indent="0">
              <a:buNone/>
            </a:pPr>
            <a:r>
              <a:rPr lang="en-GB" sz="1400"/>
              <a:t>Migration Strategy – </a:t>
            </a:r>
          </a:p>
          <a:p>
            <a:pPr marL="571500" lvl="1" indent="-285750"/>
            <a:r>
              <a:rPr lang="en-GB" sz="1400"/>
              <a:t>A summary MAP programme and how the various phases work</a:t>
            </a:r>
          </a:p>
          <a:p>
            <a:pPr marL="571500" lvl="1" indent="-285750"/>
            <a:r>
              <a:rPr lang="en-GB" sz="1400"/>
              <a:t>Overview of the 7 R’s</a:t>
            </a:r>
          </a:p>
          <a:p>
            <a:pPr marL="571500" lvl="1" indent="-285750"/>
            <a:r>
              <a:rPr lang="en-GB" sz="1400"/>
              <a:t>Migration recommendations per application assessed. </a:t>
            </a:r>
          </a:p>
          <a:p>
            <a:pPr marL="571500" lvl="1" indent="-285750"/>
            <a:endParaRPr lang="en-GB" sz="1200"/>
          </a:p>
          <a:p>
            <a:pPr marL="285750" lvl="1" indent="0">
              <a:buNone/>
            </a:pPr>
            <a:endParaRPr lang="en-GB"/>
          </a:p>
        </p:txBody>
      </p:sp>
    </p:spTree>
    <p:extLst>
      <p:ext uri="{BB962C8B-B14F-4D97-AF65-F5344CB8AC3E}">
        <p14:creationId xmlns:p14="http://schemas.microsoft.com/office/powerpoint/2010/main" val="35334463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B674CB-9B43-E58A-1C36-F1A5BF55CA3C}"/>
              </a:ext>
            </a:extLst>
          </p:cNvPr>
          <p:cNvSpPr>
            <a:spLocks noGrp="1"/>
          </p:cNvSpPr>
          <p:nvPr>
            <p:ph type="title"/>
          </p:nvPr>
        </p:nvSpPr>
        <p:spPr>
          <a:xfrm>
            <a:off x="334497" y="268589"/>
            <a:ext cx="2904003" cy="498919"/>
          </a:xfrm>
        </p:spPr>
        <p:txBody>
          <a:bodyPr/>
          <a:lstStyle/>
          <a:p>
            <a:r>
              <a:rPr lang="en-GB"/>
              <a:t>Business Case</a:t>
            </a:r>
            <a:endParaRPr lang="en-GB" sz="1800"/>
          </a:p>
        </p:txBody>
      </p:sp>
      <p:sp>
        <p:nvSpPr>
          <p:cNvPr id="8" name="Text Placeholder 7">
            <a:extLst>
              <a:ext uri="{FF2B5EF4-FFF2-40B4-BE49-F238E27FC236}">
                <a16:creationId xmlns:a16="http://schemas.microsoft.com/office/drawing/2014/main" id="{3A594614-67BE-FFDC-70CF-9B2AD89A4555}"/>
              </a:ext>
            </a:extLst>
          </p:cNvPr>
          <p:cNvSpPr>
            <a:spLocks noGrp="1"/>
          </p:cNvSpPr>
          <p:nvPr>
            <p:ph type="body" sz="quarter" idx="12"/>
          </p:nvPr>
        </p:nvSpPr>
        <p:spPr>
          <a:xfrm>
            <a:off x="3238500" y="518048"/>
            <a:ext cx="8683206" cy="6419706"/>
          </a:xfrm>
        </p:spPr>
        <p:txBody>
          <a:bodyPr/>
          <a:lstStyle/>
          <a:p>
            <a:r>
              <a:rPr lang="en-GB"/>
              <a:t>The business case covers the following topics:</a:t>
            </a:r>
            <a:br>
              <a:rPr lang="en-GB"/>
            </a:br>
            <a:br>
              <a:rPr lang="en-GB"/>
            </a:br>
            <a:r>
              <a:rPr lang="en-GB" sz="1400"/>
              <a:t>Total Cost of Ownership – </a:t>
            </a:r>
          </a:p>
          <a:p>
            <a:pPr lvl="1"/>
            <a:r>
              <a:rPr lang="en-GB" sz="1400"/>
              <a:t>A Comparison between staying as-is or migrating to cloud</a:t>
            </a:r>
          </a:p>
          <a:p>
            <a:pPr lvl="1"/>
            <a:r>
              <a:rPr lang="en-GB" sz="1400"/>
              <a:t>Estimated Savings</a:t>
            </a:r>
          </a:p>
          <a:p>
            <a:pPr lvl="1"/>
            <a:r>
              <a:rPr lang="en-GB" sz="1400"/>
              <a:t>Cost Breakdown</a:t>
            </a:r>
          </a:p>
          <a:p>
            <a:pPr lvl="1"/>
            <a:r>
              <a:rPr lang="en-GB" sz="1400"/>
              <a:t>Cost Flow Breakdown and Detailed Breakdown</a:t>
            </a:r>
          </a:p>
          <a:p>
            <a:pPr lvl="1"/>
            <a:r>
              <a:rPr lang="en-GB" sz="1400"/>
              <a:t>Migration Cost (into Azure)</a:t>
            </a:r>
          </a:p>
          <a:p>
            <a:pPr lvl="1"/>
            <a:r>
              <a:rPr lang="en-GB" sz="1400"/>
              <a:t>Benefits of Migration to Azure</a:t>
            </a:r>
          </a:p>
          <a:p>
            <a:pPr lvl="1"/>
            <a:r>
              <a:rPr lang="en-GB" sz="1400"/>
              <a:t>1-5 year cost breakdown and benefits year on year.</a:t>
            </a:r>
          </a:p>
          <a:p>
            <a:pPr lvl="1"/>
            <a:r>
              <a:rPr lang="en-GB" sz="1400"/>
              <a:t>*Optional – Sustainability calculations (Carbon Footprint) - Only available via Migration Evaluator</a:t>
            </a:r>
            <a:br>
              <a:rPr lang="en-GB" sz="1400"/>
            </a:br>
            <a:endParaRPr lang="en-GB" sz="1400"/>
          </a:p>
          <a:p>
            <a:pPr marL="285750" lvl="1" indent="0">
              <a:buNone/>
            </a:pPr>
            <a:r>
              <a:rPr lang="en-GB" sz="1400"/>
              <a:t>Migration Planning – </a:t>
            </a:r>
          </a:p>
          <a:p>
            <a:pPr marL="571500" lvl="1" indent="-285750"/>
            <a:r>
              <a:rPr lang="en-GB" sz="1400"/>
              <a:t>Overview of Application Profiling</a:t>
            </a:r>
          </a:p>
          <a:p>
            <a:pPr marL="571500" lvl="1" indent="-285750"/>
            <a:r>
              <a:rPr lang="en-GB" sz="1400"/>
              <a:t>High-Level Release Plan for assessed applications</a:t>
            </a:r>
          </a:p>
          <a:p>
            <a:pPr marL="571500" lvl="1" indent="-285750"/>
            <a:endParaRPr lang="en-GB" sz="1400"/>
          </a:p>
          <a:p>
            <a:pPr marL="285750" lvl="1" indent="0">
              <a:buNone/>
            </a:pPr>
            <a:r>
              <a:rPr lang="en-GB" sz="1400"/>
              <a:t>Conclusion – </a:t>
            </a:r>
          </a:p>
          <a:p>
            <a:pPr marL="571500" lvl="1" indent="-285750"/>
            <a:r>
              <a:rPr lang="en-GB" sz="1400"/>
              <a:t>Summary of Business Case and next steps</a:t>
            </a:r>
          </a:p>
          <a:p>
            <a:pPr marL="285750" lvl="1" indent="0">
              <a:buNone/>
            </a:pPr>
            <a:endParaRPr lang="en-GB" sz="1400"/>
          </a:p>
          <a:p>
            <a:pPr marL="571500" lvl="1" indent="-285750"/>
            <a:endParaRPr lang="en-GB" sz="1200"/>
          </a:p>
          <a:p>
            <a:pPr marL="285750" lvl="1" indent="0">
              <a:buNone/>
            </a:pPr>
            <a:endParaRPr lang="en-GB"/>
          </a:p>
        </p:txBody>
      </p:sp>
    </p:spTree>
    <p:extLst>
      <p:ext uri="{BB962C8B-B14F-4D97-AF65-F5344CB8AC3E}">
        <p14:creationId xmlns:p14="http://schemas.microsoft.com/office/powerpoint/2010/main" val="1497342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EF9285-0CAB-497B-8103-7962598B0D81}"/>
              </a:ext>
            </a:extLst>
          </p:cNvPr>
          <p:cNvSpPr>
            <a:spLocks noGrp="1"/>
          </p:cNvSpPr>
          <p:nvPr>
            <p:ph type="title"/>
          </p:nvPr>
        </p:nvSpPr>
        <p:spPr/>
        <p:txBody>
          <a:bodyPr/>
          <a:lstStyle/>
          <a:p>
            <a:r>
              <a:rPr lang="en-GB"/>
              <a:t>Types of business cases </a:t>
            </a:r>
          </a:p>
        </p:txBody>
      </p:sp>
      <p:sp>
        <p:nvSpPr>
          <p:cNvPr id="2" name="Slide Number Placeholder 1">
            <a:extLst>
              <a:ext uri="{FF2B5EF4-FFF2-40B4-BE49-F238E27FC236}">
                <a16:creationId xmlns:a16="http://schemas.microsoft.com/office/drawing/2014/main" id="{C538049A-F0B3-405E-9635-38DD80D9CC34}"/>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25</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graphicFrame>
        <p:nvGraphicFramePr>
          <p:cNvPr id="3" name="Diagram 2">
            <a:extLst>
              <a:ext uri="{FF2B5EF4-FFF2-40B4-BE49-F238E27FC236}">
                <a16:creationId xmlns:a16="http://schemas.microsoft.com/office/drawing/2014/main" id="{F69F44A7-EBCD-3F21-709C-A59A8025E455}"/>
              </a:ext>
            </a:extLst>
          </p:cNvPr>
          <p:cNvGraphicFramePr/>
          <p:nvPr/>
        </p:nvGraphicFramePr>
        <p:xfrm>
          <a:off x="2032000" y="1417320"/>
          <a:ext cx="8128000" cy="47210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D7003C5C-3F78-6933-9073-5ABB9C029139}"/>
              </a:ext>
            </a:extLst>
          </p:cNvPr>
          <p:cNvSpPr txBox="1"/>
          <p:nvPr/>
        </p:nvSpPr>
        <p:spPr>
          <a:xfrm>
            <a:off x="232896" y="4371558"/>
            <a:ext cx="2164864" cy="1538883"/>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End-to-end value comparison between a traditional IT environment and an Azure environment</a:t>
            </a:r>
          </a:p>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p:txBody>
      </p:sp>
      <p:sp>
        <p:nvSpPr>
          <p:cNvPr id="6" name="TextBox 5">
            <a:extLst>
              <a:ext uri="{FF2B5EF4-FFF2-40B4-BE49-F238E27FC236}">
                <a16:creationId xmlns:a16="http://schemas.microsoft.com/office/drawing/2014/main" id="{D8A45008-C252-B2A0-8C9C-96A49016016F}"/>
              </a:ext>
            </a:extLst>
          </p:cNvPr>
          <p:cNvSpPr txBox="1"/>
          <p:nvPr/>
        </p:nvSpPr>
        <p:spPr>
          <a:xfrm>
            <a:off x="8801678" y="3261740"/>
            <a:ext cx="2708424" cy="338554"/>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Includes migration costs.</a:t>
            </a:r>
          </a:p>
        </p:txBody>
      </p:sp>
      <p:sp>
        <p:nvSpPr>
          <p:cNvPr id="10" name="TextBox 9">
            <a:extLst>
              <a:ext uri="{FF2B5EF4-FFF2-40B4-BE49-F238E27FC236}">
                <a16:creationId xmlns:a16="http://schemas.microsoft.com/office/drawing/2014/main" id="{3B717782-802A-FD6F-2A4A-F5E1D9815893}"/>
              </a:ext>
            </a:extLst>
          </p:cNvPr>
          <p:cNvSpPr txBox="1"/>
          <p:nvPr/>
        </p:nvSpPr>
        <p:spPr>
          <a:xfrm>
            <a:off x="2397760" y="1274863"/>
            <a:ext cx="2708424" cy="830997"/>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Includes migration costs, application assessment, and migration plan.</a:t>
            </a:r>
          </a:p>
        </p:txBody>
      </p:sp>
      <p:cxnSp>
        <p:nvCxnSpPr>
          <p:cNvPr id="13" name="Straight Connector 12">
            <a:extLst>
              <a:ext uri="{FF2B5EF4-FFF2-40B4-BE49-F238E27FC236}">
                <a16:creationId xmlns:a16="http://schemas.microsoft.com/office/drawing/2014/main" id="{39E57FDA-E432-650F-F0D5-D00048ADC2A1}"/>
              </a:ext>
            </a:extLst>
          </p:cNvPr>
          <p:cNvCxnSpPr/>
          <p:nvPr/>
        </p:nvCxnSpPr>
        <p:spPr>
          <a:xfrm flipH="1">
            <a:off x="2397760" y="4770120"/>
            <a:ext cx="8178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2F3A8CB-919A-27ED-48BA-38ED3365CCEC}"/>
              </a:ext>
            </a:extLst>
          </p:cNvPr>
          <p:cNvCxnSpPr/>
          <p:nvPr/>
        </p:nvCxnSpPr>
        <p:spPr>
          <a:xfrm flipH="1">
            <a:off x="7797016" y="3398520"/>
            <a:ext cx="8178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816D57C-6481-E22C-04A8-41D664206192}"/>
              </a:ext>
            </a:extLst>
          </p:cNvPr>
          <p:cNvCxnSpPr>
            <a:cxnSpLocks/>
          </p:cNvCxnSpPr>
          <p:nvPr/>
        </p:nvCxnSpPr>
        <p:spPr>
          <a:xfrm flipH="1">
            <a:off x="5106184" y="1417320"/>
            <a:ext cx="9760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0EB4B77-ECDD-BACE-B769-E8C4D41E46E2}"/>
              </a:ext>
            </a:extLst>
          </p:cNvPr>
          <p:cNvCxnSpPr>
            <a:cxnSpLocks/>
          </p:cNvCxnSpPr>
          <p:nvPr/>
        </p:nvCxnSpPr>
        <p:spPr>
          <a:xfrm flipH="1">
            <a:off x="7983798" y="4084320"/>
            <a:ext cx="1134076" cy="0"/>
          </a:xfrm>
          <a:prstGeom prst="line">
            <a:avLst/>
          </a:prstGeom>
          <a:ln w="285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78EE22B-0183-EE1E-643C-993685A70352}"/>
              </a:ext>
            </a:extLst>
          </p:cNvPr>
          <p:cNvSpPr txBox="1"/>
          <p:nvPr/>
        </p:nvSpPr>
        <p:spPr>
          <a:xfrm>
            <a:off x="9157062" y="3736460"/>
            <a:ext cx="2969623" cy="830997"/>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Directional Business case is what is required for Azure AMM Assess</a:t>
            </a:r>
          </a:p>
        </p:txBody>
      </p:sp>
    </p:spTree>
    <p:extLst>
      <p:ext uri="{BB962C8B-B14F-4D97-AF65-F5344CB8AC3E}">
        <p14:creationId xmlns:p14="http://schemas.microsoft.com/office/powerpoint/2010/main" val="13828891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151CE8-3699-AC62-D9ED-D51D4ECEB539}"/>
              </a:ext>
            </a:extLst>
          </p:cNvPr>
          <p:cNvSpPr>
            <a:spLocks noGrp="1"/>
          </p:cNvSpPr>
          <p:nvPr>
            <p:ph type="body" sz="quarter" idx="12"/>
          </p:nvPr>
        </p:nvSpPr>
        <p:spPr>
          <a:xfrm>
            <a:off x="3238500" y="310896"/>
            <a:ext cx="8580120" cy="5239896"/>
          </a:xfrm>
        </p:spPr>
        <p:txBody>
          <a:bodyPr/>
          <a:lstStyle/>
          <a:p>
            <a:r>
              <a:rPr lang="en-GB"/>
              <a:t>Be Prepared for the playback – The playback will require the whole team to work together to have a coherent flow but also cover all the data points to the customer. A good rule of thumb to follow is –</a:t>
            </a:r>
          </a:p>
          <a:p>
            <a:pPr marL="0" indent="0">
              <a:buNone/>
            </a:pPr>
            <a:endParaRPr lang="en-GB"/>
          </a:p>
          <a:p>
            <a:pPr marL="342900" indent="-342900">
              <a:buFont typeface="+mj-lt"/>
              <a:buAutoNum type="arabicPeriod"/>
            </a:pPr>
            <a:r>
              <a:rPr lang="en-GB"/>
              <a:t>What have we done?</a:t>
            </a:r>
          </a:p>
          <a:p>
            <a:pPr marL="342900" indent="-342900">
              <a:buFont typeface="+mj-lt"/>
              <a:buAutoNum type="arabicPeriod"/>
            </a:pPr>
            <a:r>
              <a:rPr lang="en-GB"/>
              <a:t>What did we find?</a:t>
            </a:r>
          </a:p>
          <a:p>
            <a:pPr marL="342900" indent="-342900">
              <a:buFont typeface="+mj-lt"/>
              <a:buAutoNum type="arabicPeriod"/>
            </a:pPr>
            <a:r>
              <a:rPr lang="en-GB"/>
              <a:t>What are our recommendations?</a:t>
            </a:r>
          </a:p>
          <a:p>
            <a:pPr marL="342900" indent="-342900">
              <a:buFont typeface="+mj-lt"/>
              <a:buAutoNum type="arabicPeriod"/>
            </a:pPr>
            <a:r>
              <a:rPr lang="en-GB"/>
              <a:t>What are our solutions?</a:t>
            </a:r>
          </a:p>
          <a:p>
            <a:pPr marL="342900" indent="-342900">
              <a:buFont typeface="+mj-lt"/>
              <a:buAutoNum type="arabicPeriod"/>
            </a:pPr>
            <a:r>
              <a:rPr lang="en-GB"/>
              <a:t>How long will this take?</a:t>
            </a:r>
          </a:p>
          <a:p>
            <a:pPr marL="342900" indent="-342900">
              <a:buFont typeface="+mj-lt"/>
              <a:buAutoNum type="arabicPeriod"/>
            </a:pPr>
            <a:r>
              <a:rPr lang="en-GB"/>
              <a:t>How much will it cost? </a:t>
            </a:r>
          </a:p>
          <a:p>
            <a:pPr marL="342900" indent="-342900">
              <a:buFont typeface="+mj-lt"/>
              <a:buAutoNum type="arabicPeriod"/>
            </a:pPr>
            <a:endParaRPr lang="en-GB"/>
          </a:p>
          <a:p>
            <a:r>
              <a:rPr lang="en-GB"/>
              <a:t>The flow can be shifted around depending on the customer and what you feel is best suited to them, but as a guideline this can be helpful for steering the conversation. A reminder of all the work we’ve done to get to this point sets a good energy for the meeting, before getting into the more nitty gritty details further along the presentation. </a:t>
            </a:r>
          </a:p>
        </p:txBody>
      </p:sp>
      <p:sp>
        <p:nvSpPr>
          <p:cNvPr id="4" name="Title 3">
            <a:extLst>
              <a:ext uri="{FF2B5EF4-FFF2-40B4-BE49-F238E27FC236}">
                <a16:creationId xmlns:a16="http://schemas.microsoft.com/office/drawing/2014/main" id="{96CC5F85-73D8-8668-E79B-0685A9703A76}"/>
              </a:ext>
            </a:extLst>
          </p:cNvPr>
          <p:cNvSpPr>
            <a:spLocks noGrp="1"/>
          </p:cNvSpPr>
          <p:nvPr>
            <p:ph type="title"/>
          </p:nvPr>
        </p:nvSpPr>
        <p:spPr>
          <a:xfrm>
            <a:off x="334497" y="268589"/>
            <a:ext cx="2620793" cy="1023678"/>
          </a:xfrm>
        </p:spPr>
        <p:txBody>
          <a:bodyPr/>
          <a:lstStyle/>
          <a:p>
            <a:r>
              <a:rPr lang="en-GB"/>
              <a:t>Playback Prep</a:t>
            </a:r>
            <a:br>
              <a:rPr lang="en-GB"/>
            </a:br>
            <a:endParaRPr lang="en-GB"/>
          </a:p>
        </p:txBody>
      </p:sp>
      <p:sp>
        <p:nvSpPr>
          <p:cNvPr id="5" name="Slide Number Placeholder 4">
            <a:extLst>
              <a:ext uri="{FF2B5EF4-FFF2-40B4-BE49-F238E27FC236}">
                <a16:creationId xmlns:a16="http://schemas.microsoft.com/office/drawing/2014/main" id="{70CE2FE1-C7F6-D469-A09A-702EA2CE520A}"/>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26</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453D5EC8-EEB8-A759-EAB2-F015272B953D}"/>
              </a:ext>
            </a:extLst>
          </p:cNvPr>
          <p:cNvSpPr txBox="1"/>
          <p:nvPr/>
        </p:nvSpPr>
        <p:spPr>
          <a:xfrm>
            <a:off x="3470564" y="5721792"/>
            <a:ext cx="7730837" cy="1136208"/>
          </a:xfrm>
          <a:prstGeom prst="rect">
            <a:avLst/>
          </a:prstGeom>
          <a:noFill/>
        </p:spPr>
        <p:txBody>
          <a:bodyPr wrap="square" rtlCol="0">
            <a:spAutoFit/>
          </a:body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GB"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Key Metrics to include are – applications in scope, how many of each complexity, timelines for each wave/part of the migration, how many servers are in scope, how many shared services the customer has and need to be considered, total cost of ownership, how many servers are out of scope, how many apps are in each migration strategy (and why).</a:t>
            </a:r>
          </a:p>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5928632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21EF9A-89AB-F0EA-C562-999156C9904D}"/>
              </a:ext>
            </a:extLst>
          </p:cNvPr>
          <p:cNvSpPr>
            <a:spLocks noGrp="1"/>
          </p:cNvSpPr>
          <p:nvPr>
            <p:ph type="body" sz="quarter" idx="12"/>
          </p:nvPr>
        </p:nvSpPr>
        <p:spPr>
          <a:xfrm>
            <a:off x="3238500" y="730895"/>
            <a:ext cx="8580120" cy="5247590"/>
          </a:xfrm>
        </p:spPr>
        <p:txBody>
          <a:bodyPr/>
          <a:lstStyle/>
          <a:p>
            <a:r>
              <a:rPr lang="en-GB"/>
              <a:t>Playback with Dr. Migrate findings will also shape how we present back to the customer. A variety of reports are generated and help shape the decisions that can be made by customer when moving into the next phase. </a:t>
            </a:r>
          </a:p>
          <a:p>
            <a:endParaRPr lang="en-GB"/>
          </a:p>
          <a:p>
            <a:r>
              <a:rPr lang="en-GB"/>
              <a:t>The Data from Dr. Migrate needs to be verified and spoken through with the customer. Ensure all apps are tagged correctly with the R treatment plan, and if doing a Rapid Migration to focus on 5 first movers, and if there is time start validating the auto discovered apps as well. </a:t>
            </a:r>
          </a:p>
          <a:p>
            <a:endParaRPr lang="en-GB"/>
          </a:p>
          <a:p>
            <a:r>
              <a:rPr lang="en-GB"/>
              <a:t>Review the </a:t>
            </a:r>
            <a:r>
              <a:rPr lang="en-GB">
                <a:hlinkClick r:id="rId2"/>
              </a:rPr>
              <a:t>exports and reports</a:t>
            </a:r>
            <a:r>
              <a:rPr lang="en-GB"/>
              <a:t> from Dr. Migrate and familiarise yourself with what slides may be best suited for your customer case. Cherry pick the best slides / useful info to put into your playback deck. </a:t>
            </a:r>
          </a:p>
          <a:p>
            <a:endParaRPr lang="en-GB"/>
          </a:p>
          <a:p>
            <a:r>
              <a:rPr lang="en-GB"/>
              <a:t>Dr. Migrate have their own playback system that may be helpful in some engagements, the playback is ultimately how you best see fit to showcase the solution / findings to the customer. It’s worth reviewing the playback deck example on the next slide and see what baseline info should be included.  </a:t>
            </a:r>
          </a:p>
        </p:txBody>
      </p:sp>
      <p:sp>
        <p:nvSpPr>
          <p:cNvPr id="4" name="Title 3">
            <a:extLst>
              <a:ext uri="{FF2B5EF4-FFF2-40B4-BE49-F238E27FC236}">
                <a16:creationId xmlns:a16="http://schemas.microsoft.com/office/drawing/2014/main" id="{A62D9E7C-C5CC-8C51-46B2-91973E2C5D85}"/>
              </a:ext>
            </a:extLst>
          </p:cNvPr>
          <p:cNvSpPr>
            <a:spLocks noGrp="1"/>
          </p:cNvSpPr>
          <p:nvPr>
            <p:ph type="title"/>
          </p:nvPr>
        </p:nvSpPr>
        <p:spPr>
          <a:xfrm>
            <a:off x="334497" y="268589"/>
            <a:ext cx="2620793" cy="924612"/>
          </a:xfrm>
        </p:spPr>
        <p:txBody>
          <a:bodyPr/>
          <a:lstStyle/>
          <a:p>
            <a:r>
              <a:rPr lang="en-GB" sz="2800"/>
              <a:t>Playback Prep - With Dr. Migrate</a:t>
            </a:r>
          </a:p>
        </p:txBody>
      </p:sp>
      <p:sp>
        <p:nvSpPr>
          <p:cNvPr id="5" name="Slide Number Placeholder 4">
            <a:extLst>
              <a:ext uri="{FF2B5EF4-FFF2-40B4-BE49-F238E27FC236}">
                <a16:creationId xmlns:a16="http://schemas.microsoft.com/office/drawing/2014/main" id="{0C107E30-EAE6-A8CD-3D82-7AB8FFF313EB}"/>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27</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1882647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A30C6C-7C84-2AEC-8983-8C40207634DE}"/>
              </a:ext>
            </a:extLst>
          </p:cNvPr>
          <p:cNvSpPr>
            <a:spLocks noGrp="1"/>
          </p:cNvSpPr>
          <p:nvPr>
            <p:ph type="title"/>
          </p:nvPr>
        </p:nvSpPr>
        <p:spPr>
          <a:xfrm>
            <a:off x="334497" y="268589"/>
            <a:ext cx="2620793" cy="1548437"/>
          </a:xfrm>
        </p:spPr>
        <p:txBody>
          <a:bodyPr/>
          <a:lstStyle/>
          <a:p>
            <a:r>
              <a:rPr lang="en-GB"/>
              <a:t>Dr. Migrate Example Reports</a:t>
            </a:r>
          </a:p>
        </p:txBody>
      </p:sp>
      <p:sp>
        <p:nvSpPr>
          <p:cNvPr id="5" name="Slide Number Placeholder 4">
            <a:extLst>
              <a:ext uri="{FF2B5EF4-FFF2-40B4-BE49-F238E27FC236}">
                <a16:creationId xmlns:a16="http://schemas.microsoft.com/office/drawing/2014/main" id="{4487E461-668D-31CA-2F02-A3B7F1DF9AAD}"/>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28</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5">
            <a:extLst>
              <a:ext uri="{FF2B5EF4-FFF2-40B4-BE49-F238E27FC236}">
                <a16:creationId xmlns:a16="http://schemas.microsoft.com/office/drawing/2014/main" id="{945AB9DC-F1E2-33BD-6DF7-8469B186E706}"/>
              </a:ext>
            </a:extLst>
          </p:cNvPr>
          <p:cNvSpPr>
            <a:spLocks noGrp="1"/>
          </p:cNvSpPr>
          <p:nvPr>
            <p:ph type="body" sz="quarter" idx="12"/>
          </p:nvPr>
        </p:nvSpPr>
        <p:spPr>
          <a:xfrm>
            <a:off x="3238500" y="606318"/>
            <a:ext cx="8580120" cy="5427127"/>
          </a:xfrm>
        </p:spPr>
        <p:txBody>
          <a:bodyPr/>
          <a:lstStyle/>
          <a:p>
            <a:r>
              <a:rPr lang="en-GB"/>
              <a:t>Dr. Migrate has two types of reports ‘Rapid Migration insights’ and ‘Holistic insights’.</a:t>
            </a:r>
          </a:p>
          <a:p>
            <a:endParaRPr lang="en-GB"/>
          </a:p>
          <a:p>
            <a:r>
              <a:rPr lang="en-GB"/>
              <a:t>Rapid migration insights (also known as foundation report / insights) allows a same day insight into the customers estate and a very quick view of what their migration journey might look like from a high level. </a:t>
            </a:r>
          </a:p>
          <a:p>
            <a:endParaRPr lang="en-GB"/>
          </a:p>
          <a:p>
            <a:r>
              <a:rPr lang="en-GB"/>
              <a:t>Holistic insights are a lot more in-depth, and have a summary of the work that’s been done in the portal with the customer. This includes the R-Treatment plan, app complexity sizing, wave planning, TCO etc. The Holistic insights report is a version of a final playback deck, it would be wise to include some slides into the final playback, or follow a similar format for showcasing the data. Try to add ‘Rackspace Value’ vs simply ‘using the Dr. M deck’. </a:t>
            </a:r>
          </a:p>
          <a:p>
            <a:endParaRPr lang="en-GB"/>
          </a:p>
          <a:p>
            <a:r>
              <a:rPr lang="en-GB">
                <a:hlinkClick r:id="rId2"/>
              </a:rPr>
              <a:t>Example of ‘Rapid Migration Insights’</a:t>
            </a:r>
            <a:endParaRPr lang="en-GB"/>
          </a:p>
          <a:p>
            <a:r>
              <a:rPr lang="en-GB">
                <a:hlinkClick r:id="rId3"/>
              </a:rPr>
              <a:t>Example of ’Holistic Insights’ </a:t>
            </a:r>
            <a:endParaRPr lang="en-GB"/>
          </a:p>
          <a:p>
            <a:r>
              <a:rPr lang="en-GB">
                <a:hlinkClick r:id="rId4"/>
              </a:rPr>
              <a:t>Further Dr. M Example documents </a:t>
            </a:r>
            <a:endParaRPr lang="en-GB"/>
          </a:p>
        </p:txBody>
      </p:sp>
    </p:spTree>
    <p:extLst>
      <p:ext uri="{BB962C8B-B14F-4D97-AF65-F5344CB8AC3E}">
        <p14:creationId xmlns:p14="http://schemas.microsoft.com/office/powerpoint/2010/main" val="34147879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screen with colorful circles and text&#10;&#10;Description automatically generated">
            <a:extLst>
              <a:ext uri="{FF2B5EF4-FFF2-40B4-BE49-F238E27FC236}">
                <a16:creationId xmlns:a16="http://schemas.microsoft.com/office/drawing/2014/main" id="{9D95659C-2757-6376-F7AE-2A5A0DD81F7A}"/>
              </a:ext>
            </a:extLst>
          </p:cNvPr>
          <p:cNvPicPr>
            <a:picLocks noChangeAspect="1"/>
          </p:cNvPicPr>
          <p:nvPr/>
        </p:nvPicPr>
        <p:blipFill>
          <a:blip r:embed="rId2"/>
          <a:stretch>
            <a:fillRect/>
          </a:stretch>
        </p:blipFill>
        <p:spPr>
          <a:xfrm>
            <a:off x="3673533" y="2120597"/>
            <a:ext cx="5412474" cy="3063531"/>
          </a:xfrm>
          <a:prstGeom prst="rect">
            <a:avLst/>
          </a:prstGeom>
        </p:spPr>
      </p:pic>
      <p:sp>
        <p:nvSpPr>
          <p:cNvPr id="2" name="Text Placeholder 1">
            <a:extLst>
              <a:ext uri="{FF2B5EF4-FFF2-40B4-BE49-F238E27FC236}">
                <a16:creationId xmlns:a16="http://schemas.microsoft.com/office/drawing/2014/main" id="{8E7C1BD4-3028-E39A-E88B-49FF22CFC169}"/>
              </a:ext>
            </a:extLst>
          </p:cNvPr>
          <p:cNvSpPr>
            <a:spLocks noGrp="1"/>
          </p:cNvSpPr>
          <p:nvPr>
            <p:ph type="body" sz="quarter" idx="12"/>
          </p:nvPr>
        </p:nvSpPr>
        <p:spPr>
          <a:xfrm>
            <a:off x="3238500" y="310896"/>
            <a:ext cx="8580120" cy="1661993"/>
          </a:xfrm>
        </p:spPr>
        <p:txBody>
          <a:bodyPr/>
          <a:lstStyle/>
          <a:p>
            <a:r>
              <a:rPr lang="en-GB" dirty="0"/>
              <a:t>At the end of the engagement the playback of Rackspace’s findings will be vital to helping the customer see the value in the work we do. </a:t>
            </a:r>
            <a:r>
              <a:rPr lang="en-GB" dirty="0">
                <a:hlinkClick r:id="rId3"/>
              </a:rPr>
              <a:t>There is a template of the a scoping and profiling playback </a:t>
            </a:r>
            <a:r>
              <a:rPr lang="en-GB" dirty="0"/>
              <a:t>that can be tailored for Azure AMM. On occasion playbacks will be separated, into MRA, MPA, and Business case, or consolidated depending on if there’s delays or other factors. Do what feels best for you and the team to deliver the best for the customer. </a:t>
            </a:r>
          </a:p>
        </p:txBody>
      </p:sp>
      <p:sp>
        <p:nvSpPr>
          <p:cNvPr id="4" name="Title 3">
            <a:extLst>
              <a:ext uri="{FF2B5EF4-FFF2-40B4-BE49-F238E27FC236}">
                <a16:creationId xmlns:a16="http://schemas.microsoft.com/office/drawing/2014/main" id="{948C4695-8C3F-0FCD-5753-1690A8AB1C18}"/>
              </a:ext>
            </a:extLst>
          </p:cNvPr>
          <p:cNvSpPr>
            <a:spLocks noGrp="1"/>
          </p:cNvSpPr>
          <p:nvPr>
            <p:ph type="title"/>
          </p:nvPr>
        </p:nvSpPr>
        <p:spPr>
          <a:xfrm>
            <a:off x="334497" y="268589"/>
            <a:ext cx="2620793" cy="498919"/>
          </a:xfrm>
        </p:spPr>
        <p:txBody>
          <a:bodyPr/>
          <a:lstStyle/>
          <a:p>
            <a:r>
              <a:rPr lang="en-GB"/>
              <a:t>Playback </a:t>
            </a:r>
          </a:p>
        </p:txBody>
      </p:sp>
      <p:sp>
        <p:nvSpPr>
          <p:cNvPr id="5" name="Slide Number Placeholder 4">
            <a:extLst>
              <a:ext uri="{FF2B5EF4-FFF2-40B4-BE49-F238E27FC236}">
                <a16:creationId xmlns:a16="http://schemas.microsoft.com/office/drawing/2014/main" id="{E4A09895-AC54-942F-10B4-D9E21E1887E1}"/>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29</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pic>
        <p:nvPicPr>
          <p:cNvPr id="7" name="Picture 6" descr="A screenshot of a computer&#10;&#10;Description automatically generated">
            <a:extLst>
              <a:ext uri="{FF2B5EF4-FFF2-40B4-BE49-F238E27FC236}">
                <a16:creationId xmlns:a16="http://schemas.microsoft.com/office/drawing/2014/main" id="{8666F752-F43A-465A-4D08-E9B7F7258623}"/>
              </a:ext>
            </a:extLst>
          </p:cNvPr>
          <p:cNvPicPr>
            <a:picLocks noChangeAspect="1"/>
          </p:cNvPicPr>
          <p:nvPr/>
        </p:nvPicPr>
        <p:blipFill>
          <a:blip r:embed="rId4"/>
          <a:stretch>
            <a:fillRect/>
          </a:stretch>
        </p:blipFill>
        <p:spPr>
          <a:xfrm>
            <a:off x="5131531" y="2642338"/>
            <a:ext cx="5412474" cy="3039312"/>
          </a:xfrm>
          <a:prstGeom prst="rect">
            <a:avLst/>
          </a:prstGeom>
        </p:spPr>
      </p:pic>
      <p:pic>
        <p:nvPicPr>
          <p:cNvPr id="9" name="Picture 8" descr="A colorful circles on a black background&#10;&#10;Description automatically generated">
            <a:extLst>
              <a:ext uri="{FF2B5EF4-FFF2-40B4-BE49-F238E27FC236}">
                <a16:creationId xmlns:a16="http://schemas.microsoft.com/office/drawing/2014/main" id="{B1B9632C-A931-BD25-BE87-E2F8270472D0}"/>
              </a:ext>
            </a:extLst>
          </p:cNvPr>
          <p:cNvPicPr>
            <a:picLocks noChangeAspect="1"/>
          </p:cNvPicPr>
          <p:nvPr/>
        </p:nvPicPr>
        <p:blipFill>
          <a:blip r:embed="rId5"/>
          <a:stretch>
            <a:fillRect/>
          </a:stretch>
        </p:blipFill>
        <p:spPr>
          <a:xfrm>
            <a:off x="6379770" y="3312357"/>
            <a:ext cx="5412474" cy="3063796"/>
          </a:xfrm>
          <a:prstGeom prst="rect">
            <a:avLst/>
          </a:prstGeom>
        </p:spPr>
      </p:pic>
      <p:sp>
        <p:nvSpPr>
          <p:cNvPr id="3" name="TextBox 2">
            <a:extLst>
              <a:ext uri="{FF2B5EF4-FFF2-40B4-BE49-F238E27FC236}">
                <a16:creationId xmlns:a16="http://schemas.microsoft.com/office/drawing/2014/main" id="{4A229B8C-25C5-70B3-B0B4-91F5D7351FE7}"/>
              </a:ext>
            </a:extLst>
          </p:cNvPr>
          <p:cNvSpPr txBox="1"/>
          <p:nvPr/>
        </p:nvSpPr>
        <p:spPr>
          <a:xfrm>
            <a:off x="4023452" y="6376153"/>
            <a:ext cx="7486650" cy="523220"/>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Arial"/>
                <a:ea typeface="+mn-ea"/>
                <a:cs typeface="+mn-cs"/>
              </a:rPr>
              <a:t>Example Playback here. The order of the deck can be changed depending on customer or project requirements. [Azure Version to be added]</a:t>
            </a:r>
          </a:p>
        </p:txBody>
      </p:sp>
    </p:spTree>
    <p:extLst>
      <p:ext uri="{BB962C8B-B14F-4D97-AF65-F5344CB8AC3E}">
        <p14:creationId xmlns:p14="http://schemas.microsoft.com/office/powerpoint/2010/main" val="14436546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46FC2B-8F51-79CA-4880-D515F9666051}"/>
              </a:ext>
            </a:extLst>
          </p:cNvPr>
          <p:cNvSpPr>
            <a:spLocks noGrp="1"/>
          </p:cNvSpPr>
          <p:nvPr>
            <p:ph type="title"/>
          </p:nvPr>
        </p:nvSpPr>
        <p:spPr>
          <a:xfrm>
            <a:off x="334497" y="268589"/>
            <a:ext cx="5064817" cy="498919"/>
          </a:xfrm>
        </p:spPr>
        <p:txBody>
          <a:bodyPr/>
          <a:lstStyle/>
          <a:p>
            <a:r>
              <a:rPr lang="en-GB"/>
              <a:t>RACI for AMM Assess</a:t>
            </a:r>
          </a:p>
        </p:txBody>
      </p:sp>
      <p:sp>
        <p:nvSpPr>
          <p:cNvPr id="5" name="Slide Number Placeholder 4">
            <a:extLst>
              <a:ext uri="{FF2B5EF4-FFF2-40B4-BE49-F238E27FC236}">
                <a16:creationId xmlns:a16="http://schemas.microsoft.com/office/drawing/2014/main" id="{CEA875DC-284F-0BDE-7B61-89B94748114B}"/>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30</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graphicFrame>
        <p:nvGraphicFramePr>
          <p:cNvPr id="3" name="Table 5">
            <a:extLst>
              <a:ext uri="{FF2B5EF4-FFF2-40B4-BE49-F238E27FC236}">
                <a16:creationId xmlns:a16="http://schemas.microsoft.com/office/drawing/2014/main" id="{A0CEC524-5E0C-7F18-B891-E029876351BD}"/>
              </a:ext>
            </a:extLst>
          </p:cNvPr>
          <p:cNvGraphicFramePr>
            <a:graphicFrameLocks noGrp="1"/>
          </p:cNvGraphicFramePr>
          <p:nvPr/>
        </p:nvGraphicFramePr>
        <p:xfrm>
          <a:off x="946744" y="1033930"/>
          <a:ext cx="10298512" cy="4018280"/>
        </p:xfrm>
        <a:graphic>
          <a:graphicData uri="http://schemas.openxmlformats.org/drawingml/2006/table">
            <a:tbl>
              <a:tblPr firstRow="1" bandRow="1">
                <a:tableStyleId>{21E4AEA4-8DFA-4A89-87EB-49C32662AFE0}</a:tableStyleId>
              </a:tblPr>
              <a:tblGrid>
                <a:gridCol w="1471216">
                  <a:extLst>
                    <a:ext uri="{9D8B030D-6E8A-4147-A177-3AD203B41FA5}">
                      <a16:colId xmlns:a16="http://schemas.microsoft.com/office/drawing/2014/main" val="253125663"/>
                    </a:ext>
                  </a:extLst>
                </a:gridCol>
                <a:gridCol w="1471216">
                  <a:extLst>
                    <a:ext uri="{9D8B030D-6E8A-4147-A177-3AD203B41FA5}">
                      <a16:colId xmlns:a16="http://schemas.microsoft.com/office/drawing/2014/main" val="2871973893"/>
                    </a:ext>
                  </a:extLst>
                </a:gridCol>
                <a:gridCol w="1471216">
                  <a:extLst>
                    <a:ext uri="{9D8B030D-6E8A-4147-A177-3AD203B41FA5}">
                      <a16:colId xmlns:a16="http://schemas.microsoft.com/office/drawing/2014/main" val="493670529"/>
                    </a:ext>
                  </a:extLst>
                </a:gridCol>
                <a:gridCol w="1471216">
                  <a:extLst>
                    <a:ext uri="{9D8B030D-6E8A-4147-A177-3AD203B41FA5}">
                      <a16:colId xmlns:a16="http://schemas.microsoft.com/office/drawing/2014/main" val="196892589"/>
                    </a:ext>
                  </a:extLst>
                </a:gridCol>
                <a:gridCol w="1471216">
                  <a:extLst>
                    <a:ext uri="{9D8B030D-6E8A-4147-A177-3AD203B41FA5}">
                      <a16:colId xmlns:a16="http://schemas.microsoft.com/office/drawing/2014/main" val="1904935991"/>
                    </a:ext>
                  </a:extLst>
                </a:gridCol>
                <a:gridCol w="1244263">
                  <a:extLst>
                    <a:ext uri="{9D8B030D-6E8A-4147-A177-3AD203B41FA5}">
                      <a16:colId xmlns:a16="http://schemas.microsoft.com/office/drawing/2014/main" val="807001075"/>
                    </a:ext>
                  </a:extLst>
                </a:gridCol>
                <a:gridCol w="1698169">
                  <a:extLst>
                    <a:ext uri="{9D8B030D-6E8A-4147-A177-3AD203B41FA5}">
                      <a16:colId xmlns:a16="http://schemas.microsoft.com/office/drawing/2014/main" val="563325563"/>
                    </a:ext>
                  </a:extLst>
                </a:gridCol>
              </a:tblGrid>
              <a:tr h="370840">
                <a:tc>
                  <a:txBody>
                    <a:bodyPr/>
                    <a:lstStyle/>
                    <a:p>
                      <a:pPr algn="ctr"/>
                      <a:endParaRPr lang="en-GB" sz="1400">
                        <a:latin typeface="Fira Sans" panose="020B0503050000020004" pitchFamily="34" charset="0"/>
                      </a:endParaRPr>
                    </a:p>
                  </a:txBody>
                  <a:tcPr>
                    <a:lnL w="12700" cmpd="sng">
                      <a:noFill/>
                    </a:lnL>
                    <a:lnR w="38100" cap="flat" cmpd="sng" algn="ctr">
                      <a:solidFill>
                        <a:schemeClr val="bg1"/>
                      </a:solidFill>
                      <a:prstDash val="solid"/>
                      <a:round/>
                      <a:headEnd type="none" w="med" len="med"/>
                      <a:tailEnd type="none" w="med" len="med"/>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alpha val="47000"/>
                      </a:schemeClr>
                    </a:solidFill>
                  </a:tcPr>
                </a:tc>
                <a:tc>
                  <a:txBody>
                    <a:bodyPr/>
                    <a:lstStyle/>
                    <a:p>
                      <a:pPr algn="ctr"/>
                      <a:r>
                        <a:rPr lang="en-GB" sz="1400">
                          <a:solidFill>
                            <a:schemeClr val="bg1"/>
                          </a:solidFill>
                          <a:latin typeface="Fira Sans" panose="020B0503050000020004" pitchFamily="34" charset="0"/>
                        </a:rPr>
                        <a:t>Responsible</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Accountable</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Consultable</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Informed</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INPUTS</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OUTPUTS</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extLst>
                  <a:ext uri="{0D108BD9-81ED-4DB2-BD59-A6C34878D82A}">
                    <a16:rowId xmlns:a16="http://schemas.microsoft.com/office/drawing/2014/main" val="852859629"/>
                  </a:ext>
                </a:extLst>
              </a:tr>
              <a:tr h="370840">
                <a:tc>
                  <a:txBody>
                    <a:bodyPr/>
                    <a:lstStyle/>
                    <a:p>
                      <a:r>
                        <a:rPr lang="en-GB" sz="1400">
                          <a:solidFill>
                            <a:schemeClr val="bg1"/>
                          </a:solidFill>
                          <a:latin typeface="Fira Sans" panose="020B0503050000020004" pitchFamily="34" charset="0"/>
                        </a:rPr>
                        <a:t>Project Plan</a:t>
                      </a:r>
                    </a:p>
                  </a:txBody>
                  <a:tcP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PM</a:t>
                      </a: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PM</a:t>
                      </a: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All</a:t>
                      </a: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All</a:t>
                      </a: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All</a:t>
                      </a: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sz="1400">
                          <a:solidFill>
                            <a:schemeClr val="bg1"/>
                          </a:solidFill>
                          <a:latin typeface="Fira Sans" panose="020B0503050000020004" pitchFamily="34" charset="0"/>
                        </a:rPr>
                        <a:t>A guide of timelines to keep team on track</a:t>
                      </a:r>
                    </a:p>
                  </a:txBody>
                  <a:tcP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accent2">
                        <a:tint val="40000"/>
                        <a:alpha val="61000"/>
                      </a:schemeClr>
                    </a:solidFill>
                  </a:tcPr>
                </a:tc>
                <a:extLst>
                  <a:ext uri="{0D108BD9-81ED-4DB2-BD59-A6C34878D82A}">
                    <a16:rowId xmlns:a16="http://schemas.microsoft.com/office/drawing/2014/main" val="3093090858"/>
                  </a:ext>
                </a:extLst>
              </a:tr>
              <a:tr h="370840">
                <a:tc>
                  <a:txBody>
                    <a:bodyPr/>
                    <a:lstStyle/>
                    <a:p>
                      <a:r>
                        <a:rPr lang="en-GB" sz="1400">
                          <a:solidFill>
                            <a:schemeClr val="bg1"/>
                          </a:solidFill>
                          <a:latin typeface="Fira Sans" panose="020B0503050000020004" pitchFamily="34" charset="0"/>
                        </a:rPr>
                        <a:t>MRA</a:t>
                      </a:r>
                    </a:p>
                  </a:txBody>
                  <a:tcPr>
                    <a:lnL w="38100" cap="flat" cmpd="sng" algn="ctr">
                      <a:solidFill>
                        <a:schemeClr val="bg1"/>
                      </a:solidFill>
                      <a:prstDash val="solid"/>
                      <a:round/>
                      <a:headEnd type="none" w="med" len="med"/>
                      <a:tailEnd type="none" w="med" len="med"/>
                    </a:lnL>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TC/CA*</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TC/CA*</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Customer</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PM</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Customer</a:t>
                      </a:r>
                    </a:p>
                  </a:txBody>
                  <a:tcPr>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MRA Report and playback</a:t>
                      </a:r>
                    </a:p>
                  </a:txBody>
                  <a:tcPr>
                    <a:lnR w="38100" cap="flat" cmpd="sng" algn="ctr">
                      <a:solidFill>
                        <a:schemeClr val="bg1"/>
                      </a:solidFill>
                      <a:prstDash val="solid"/>
                      <a:round/>
                      <a:headEnd type="none" w="med" len="med"/>
                      <a:tailEnd type="none" w="med" len="med"/>
                    </a:lnR>
                    <a:solidFill>
                      <a:schemeClr val="accent2">
                        <a:tint val="20000"/>
                        <a:alpha val="61000"/>
                      </a:schemeClr>
                    </a:solidFill>
                  </a:tcPr>
                </a:tc>
                <a:extLst>
                  <a:ext uri="{0D108BD9-81ED-4DB2-BD59-A6C34878D82A}">
                    <a16:rowId xmlns:a16="http://schemas.microsoft.com/office/drawing/2014/main" val="1773793040"/>
                  </a:ext>
                </a:extLst>
              </a:tr>
              <a:tr h="370840">
                <a:tc>
                  <a:txBody>
                    <a:bodyPr/>
                    <a:lstStyle/>
                    <a:p>
                      <a:r>
                        <a:rPr lang="en-GB" sz="1400">
                          <a:solidFill>
                            <a:schemeClr val="bg1"/>
                          </a:solidFill>
                          <a:latin typeface="Fira Sans" panose="020B0503050000020004" pitchFamily="34" charset="0"/>
                        </a:rPr>
                        <a:t>PA</a:t>
                      </a:r>
                    </a:p>
                  </a:txBody>
                  <a:tcPr>
                    <a:lnL w="38100" cap="flat" cmpd="sng" algn="ctr">
                      <a:solidFill>
                        <a:schemeClr val="bg1"/>
                      </a:solidFill>
                      <a:prstDash val="solid"/>
                      <a:round/>
                      <a:headEnd type="none" w="med" len="med"/>
                      <a:tailEnd type="none" w="med" len="med"/>
                    </a:lnL>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TC</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TC</a:t>
                      </a:r>
                    </a:p>
                  </a:txBody>
                  <a:tcPr>
                    <a:solidFill>
                      <a:schemeClr val="accent2">
                        <a:tint val="20000"/>
                        <a:alpha val="61000"/>
                      </a:schemeClr>
                    </a:solidFill>
                  </a:tcPr>
                </a:tc>
                <a:tc>
                  <a:txBody>
                    <a:bodyPr/>
                    <a:lstStyle/>
                    <a:p>
                      <a:pPr algn="ct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TC/CA</a:t>
                      </a:r>
                      <a:endParaRPr lang="en-GB">
                        <a:solidFill>
                          <a:schemeClr val="bg1"/>
                        </a:solidFill>
                        <a:latin typeface="Fira Sans" panose="020B0503050000020004" pitchFamily="34" charset="0"/>
                      </a:endParaRPr>
                    </a:p>
                  </a:txBody>
                  <a:tcPr>
                    <a:solidFill>
                      <a:schemeClr val="accent2">
                        <a:tint val="20000"/>
                        <a:alpha val="61000"/>
                      </a:schemeClr>
                    </a:solidFill>
                  </a:tcPr>
                </a:tc>
                <a:tc>
                  <a:txBody>
                    <a:bodyPr/>
                    <a:lstStyle/>
                    <a:p>
                      <a:pPr algn="ct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TC/CA</a:t>
                      </a:r>
                      <a:endParaRPr lang="en-GB">
                        <a:solidFill>
                          <a:schemeClr val="bg1"/>
                        </a:solidFill>
                        <a:latin typeface="Fira Sans" panose="020B0503050000020004" pitchFamily="34" charset="0"/>
                      </a:endParaRP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Customer</a:t>
                      </a:r>
                    </a:p>
                  </a:txBody>
                  <a:tcPr>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MPA Analysis</a:t>
                      </a:r>
                    </a:p>
                  </a:txBody>
                  <a:tcPr>
                    <a:lnR w="38100" cap="flat" cmpd="sng" algn="ctr">
                      <a:solidFill>
                        <a:schemeClr val="bg1"/>
                      </a:solidFill>
                      <a:prstDash val="solid"/>
                      <a:round/>
                      <a:headEnd type="none" w="med" len="med"/>
                      <a:tailEnd type="none" w="med" len="med"/>
                    </a:lnR>
                    <a:solidFill>
                      <a:schemeClr val="accent2">
                        <a:tint val="20000"/>
                        <a:alpha val="61000"/>
                      </a:schemeClr>
                    </a:solidFill>
                  </a:tcPr>
                </a:tc>
                <a:extLst>
                  <a:ext uri="{0D108BD9-81ED-4DB2-BD59-A6C34878D82A}">
                    <a16:rowId xmlns:a16="http://schemas.microsoft.com/office/drawing/2014/main" val="1543624774"/>
                  </a:ext>
                </a:extLst>
              </a:tr>
              <a:tr h="370840">
                <a:tc>
                  <a:txBody>
                    <a:bodyPr/>
                    <a:lstStyle/>
                    <a:p>
                      <a:r>
                        <a:rPr lang="en-GB" sz="1400">
                          <a:solidFill>
                            <a:schemeClr val="bg1"/>
                          </a:solidFill>
                          <a:latin typeface="Fira Sans" panose="020B0503050000020004" pitchFamily="34" charset="0"/>
                        </a:rPr>
                        <a:t>Tooling Deployment</a:t>
                      </a:r>
                    </a:p>
                  </a:txBody>
                  <a:tcPr>
                    <a:lnL w="38100" cap="flat" cmpd="sng" algn="ctr">
                      <a:solidFill>
                        <a:schemeClr val="bg1"/>
                      </a:solidFill>
                      <a:prstDash val="solid"/>
                      <a:round/>
                      <a:headEnd type="none" w="med" len="med"/>
                      <a:tailEnd type="none" w="med" len="med"/>
                    </a:lnL>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CE</a:t>
                      </a:r>
                    </a:p>
                  </a:txBody>
                  <a:tcPr>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CE</a:t>
                      </a:r>
                    </a:p>
                  </a:txBody>
                  <a:tcPr>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CA/CE</a:t>
                      </a:r>
                    </a:p>
                  </a:txBody>
                  <a:tcPr>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All</a:t>
                      </a:r>
                    </a:p>
                  </a:txBody>
                  <a:tcPr>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CA/CE</a:t>
                      </a:r>
                    </a:p>
                  </a:txBody>
                  <a:tcPr>
                    <a:solidFill>
                      <a:schemeClr val="accent2">
                        <a:tint val="40000"/>
                        <a:alpha val="61000"/>
                      </a:schemeClr>
                    </a:solidFill>
                  </a:tcPr>
                </a:tc>
                <a:tc>
                  <a:txBody>
                    <a:bodyPr/>
                    <a:lstStyle/>
                    <a:p>
                      <a:pPr algn="ctr"/>
                      <a:r>
                        <a:rPr lang="en-GB" sz="1400">
                          <a:solidFill>
                            <a:schemeClr val="bg1"/>
                          </a:solidFill>
                          <a:latin typeface="Fira Sans" panose="020B0503050000020004" pitchFamily="34" charset="0"/>
                        </a:rPr>
                        <a:t>Infrastructure captured</a:t>
                      </a:r>
                    </a:p>
                  </a:txBody>
                  <a:tcPr>
                    <a:lnR w="38100" cap="flat" cmpd="sng" algn="ctr">
                      <a:solidFill>
                        <a:schemeClr val="bg1"/>
                      </a:solidFill>
                      <a:prstDash val="solid"/>
                      <a:round/>
                      <a:headEnd type="none" w="med" len="med"/>
                      <a:tailEnd type="none" w="med" len="med"/>
                    </a:lnR>
                    <a:solidFill>
                      <a:schemeClr val="accent2">
                        <a:tint val="40000"/>
                        <a:alpha val="61000"/>
                      </a:schemeClr>
                    </a:solidFill>
                  </a:tcPr>
                </a:tc>
                <a:extLst>
                  <a:ext uri="{0D108BD9-81ED-4DB2-BD59-A6C34878D82A}">
                    <a16:rowId xmlns:a16="http://schemas.microsoft.com/office/drawing/2014/main" val="10618139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bg1"/>
                          </a:solidFill>
                          <a:latin typeface="Fira Sans" panose="020B0503050000020004" pitchFamily="34" charset="0"/>
                        </a:rPr>
                        <a:t>Business Case</a:t>
                      </a:r>
                    </a:p>
                  </a:txBody>
                  <a:tcPr>
                    <a:lnL w="38100" cap="flat" cmpd="sng" algn="ctr">
                      <a:solidFill>
                        <a:schemeClr val="bg1"/>
                      </a:solidFill>
                      <a:prstDash val="solid"/>
                      <a:round/>
                      <a:headEnd type="none" w="med" len="med"/>
                      <a:tailEnd type="none" w="med" len="med"/>
                    </a:lnL>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All</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CP</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CA/TC/CE</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All</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All</a:t>
                      </a:r>
                    </a:p>
                  </a:txBody>
                  <a:tcPr>
                    <a:solidFill>
                      <a:schemeClr val="accent2">
                        <a:tint val="20000"/>
                        <a:alpha val="61000"/>
                      </a:schemeClr>
                    </a:solidFill>
                  </a:tcPr>
                </a:tc>
                <a:tc>
                  <a:txBody>
                    <a:bodyPr/>
                    <a:lstStyle/>
                    <a:p>
                      <a:pPr algn="ctr"/>
                      <a:r>
                        <a:rPr lang="en-GB" sz="1200">
                          <a:solidFill>
                            <a:schemeClr val="bg1"/>
                          </a:solidFill>
                          <a:latin typeface="Fira Sans" panose="020B0503050000020004" pitchFamily="34" charset="0"/>
                        </a:rPr>
                        <a:t>Document proving a case for change</a:t>
                      </a:r>
                    </a:p>
                  </a:txBody>
                  <a:tcPr>
                    <a:lnR w="38100" cap="flat" cmpd="sng" algn="ctr">
                      <a:solidFill>
                        <a:schemeClr val="bg1"/>
                      </a:solidFill>
                      <a:prstDash val="solid"/>
                      <a:round/>
                      <a:headEnd type="none" w="med" len="med"/>
                      <a:tailEnd type="none" w="med" len="med"/>
                    </a:lnR>
                    <a:solidFill>
                      <a:schemeClr val="accent2">
                        <a:tint val="20000"/>
                        <a:alpha val="61000"/>
                      </a:schemeClr>
                    </a:solidFill>
                  </a:tcPr>
                </a:tc>
                <a:extLst>
                  <a:ext uri="{0D108BD9-81ED-4DB2-BD59-A6C34878D82A}">
                    <a16:rowId xmlns:a16="http://schemas.microsoft.com/office/drawing/2014/main" val="385587837"/>
                  </a:ext>
                </a:extLst>
              </a:tr>
              <a:tr h="370840">
                <a:tc>
                  <a:txBody>
                    <a:bodyPr/>
                    <a:lstStyle/>
                    <a:p>
                      <a:r>
                        <a:rPr lang="en-GB" sz="1400">
                          <a:solidFill>
                            <a:schemeClr val="bg1"/>
                          </a:solidFill>
                          <a:latin typeface="Fira Sans" panose="020B0503050000020004" pitchFamily="34" charset="0"/>
                        </a:rPr>
                        <a:t>Playback</a:t>
                      </a:r>
                    </a:p>
                  </a:txBody>
                  <a:tcPr>
                    <a:lnL w="38100" cap="flat" cmpd="sng" algn="ctr">
                      <a:solidFill>
                        <a:schemeClr val="bg1"/>
                      </a:solidFill>
                      <a:prstDash val="solid"/>
                      <a:round/>
                      <a:headEnd type="none" w="med" len="med"/>
                      <a:tailEnd type="none" w="med" len="med"/>
                    </a:lnL>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All</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solidFill>
                            <a:schemeClr val="bg1"/>
                          </a:solidFill>
                          <a:latin typeface="Fira Sans" panose="020B0503050000020004" pitchFamily="34" charset="0"/>
                        </a:rPr>
                        <a:t>All</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solidFill>
                            <a:schemeClr val="bg1"/>
                          </a:solidFill>
                          <a:latin typeface="Fira Sans" panose="020B0503050000020004" pitchFamily="34" charset="0"/>
                        </a:rPr>
                        <a:t>All</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solidFill>
                            <a:schemeClr val="bg1"/>
                          </a:solidFill>
                          <a:latin typeface="Fira Sans" panose="020B0503050000020004" pitchFamily="34" charset="0"/>
                        </a:rPr>
                        <a:t>All</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solidFill>
                            <a:schemeClr val="bg1"/>
                          </a:solidFill>
                          <a:latin typeface="Fira Sans" panose="020B0503050000020004" pitchFamily="34" charset="0"/>
                        </a:rPr>
                        <a:t>All</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a:solidFill>
                            <a:schemeClr val="bg1"/>
                          </a:solidFill>
                          <a:latin typeface="Fira Sans" panose="020B0503050000020004" pitchFamily="34" charset="0"/>
                        </a:rPr>
                        <a:t>A powerful document and presentation showcasing our work and why the customer should move forward with the mobilise phase</a:t>
                      </a:r>
                    </a:p>
                  </a:txBody>
                  <a:tcPr>
                    <a:lnR w="381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chemeClr val="accent2">
                        <a:tint val="20000"/>
                        <a:alpha val="61000"/>
                      </a:schemeClr>
                    </a:solidFill>
                  </a:tcPr>
                </a:tc>
                <a:extLst>
                  <a:ext uri="{0D108BD9-81ED-4DB2-BD59-A6C34878D82A}">
                    <a16:rowId xmlns:a16="http://schemas.microsoft.com/office/drawing/2014/main" val="1486223772"/>
                  </a:ext>
                </a:extLst>
              </a:tr>
            </a:tbl>
          </a:graphicData>
        </a:graphic>
      </p:graphicFrame>
      <p:sp>
        <p:nvSpPr>
          <p:cNvPr id="2" name="TextBox 1">
            <a:extLst>
              <a:ext uri="{FF2B5EF4-FFF2-40B4-BE49-F238E27FC236}">
                <a16:creationId xmlns:a16="http://schemas.microsoft.com/office/drawing/2014/main" id="{EB598CC4-FBB0-C1B9-6CA7-1FB9318C395C}"/>
              </a:ext>
            </a:extLst>
          </p:cNvPr>
          <p:cNvSpPr txBox="1"/>
          <p:nvPr/>
        </p:nvSpPr>
        <p:spPr>
          <a:xfrm>
            <a:off x="3566622" y="5324421"/>
            <a:ext cx="2924198" cy="1477328"/>
          </a:xfrm>
          <a:prstGeom prst="rect">
            <a:avLst/>
          </a:prstGeom>
          <a:noFill/>
        </p:spPr>
        <p:txBody>
          <a:bodyPr wrap="non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PM – Project Manager</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 – Technical Consultant </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CA – Cloud Architect</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CE – Cloud Engineer </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CP – Client Partner</a:t>
            </a:r>
          </a:p>
        </p:txBody>
      </p:sp>
      <p:sp>
        <p:nvSpPr>
          <p:cNvPr id="7" name="TextBox 6">
            <a:extLst>
              <a:ext uri="{FF2B5EF4-FFF2-40B4-BE49-F238E27FC236}">
                <a16:creationId xmlns:a16="http://schemas.microsoft.com/office/drawing/2014/main" id="{E93BD742-31B7-D696-3FCF-5A021C3FD135}"/>
              </a:ext>
            </a:extLst>
          </p:cNvPr>
          <p:cNvSpPr txBox="1"/>
          <p:nvPr/>
        </p:nvSpPr>
        <p:spPr>
          <a:xfrm>
            <a:off x="2373086" y="5041556"/>
            <a:ext cx="2885726" cy="307777"/>
          </a:xfrm>
          <a:prstGeom prst="rect">
            <a:avLst/>
          </a:prstGeom>
          <a:noFill/>
        </p:spPr>
        <p:txBody>
          <a:bodyPr wrap="non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*Can be performed by either role</a:t>
            </a:r>
            <a:endParaRPr kumimoji="0" lang="en-GB" sz="14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731830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46FC2B-8F51-79CA-4880-D515F9666051}"/>
              </a:ext>
            </a:extLst>
          </p:cNvPr>
          <p:cNvSpPr>
            <a:spLocks noGrp="1"/>
          </p:cNvSpPr>
          <p:nvPr>
            <p:ph type="title"/>
          </p:nvPr>
        </p:nvSpPr>
        <p:spPr>
          <a:xfrm>
            <a:off x="334496" y="268589"/>
            <a:ext cx="6851308" cy="1056700"/>
          </a:xfrm>
        </p:spPr>
        <p:txBody>
          <a:bodyPr/>
          <a:lstStyle/>
          <a:p>
            <a:r>
              <a:rPr lang="en-GB"/>
              <a:t>RACI for MAP Assess – </a:t>
            </a:r>
            <a:r>
              <a:rPr lang="en-GB" sz="3200">
                <a:solidFill>
                  <a:schemeClr val="bg1"/>
                </a:solidFill>
                <a:latin typeface="Fira Sans" panose="020B0503050000020004" pitchFamily="34" charset="0"/>
              </a:rPr>
              <a:t>MRA Assessment</a:t>
            </a:r>
            <a:endParaRPr lang="en-GB"/>
          </a:p>
        </p:txBody>
      </p:sp>
      <p:sp>
        <p:nvSpPr>
          <p:cNvPr id="5" name="Slide Number Placeholder 4">
            <a:extLst>
              <a:ext uri="{FF2B5EF4-FFF2-40B4-BE49-F238E27FC236}">
                <a16:creationId xmlns:a16="http://schemas.microsoft.com/office/drawing/2014/main" id="{CEA875DC-284F-0BDE-7B61-89B94748114B}"/>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31</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graphicFrame>
        <p:nvGraphicFramePr>
          <p:cNvPr id="3" name="Table 5">
            <a:extLst>
              <a:ext uri="{FF2B5EF4-FFF2-40B4-BE49-F238E27FC236}">
                <a16:creationId xmlns:a16="http://schemas.microsoft.com/office/drawing/2014/main" id="{A0CEC524-5E0C-7F18-B891-E029876351BD}"/>
              </a:ext>
            </a:extLst>
          </p:cNvPr>
          <p:cNvGraphicFramePr>
            <a:graphicFrameLocks noGrp="1"/>
          </p:cNvGraphicFramePr>
          <p:nvPr/>
        </p:nvGraphicFramePr>
        <p:xfrm>
          <a:off x="1211590" y="1627654"/>
          <a:ext cx="10298512" cy="2667000"/>
        </p:xfrm>
        <a:graphic>
          <a:graphicData uri="http://schemas.openxmlformats.org/drawingml/2006/table">
            <a:tbl>
              <a:tblPr firstRow="1" bandRow="1">
                <a:tableStyleId>{21E4AEA4-8DFA-4A89-87EB-49C32662AFE0}</a:tableStyleId>
              </a:tblPr>
              <a:tblGrid>
                <a:gridCol w="1471216">
                  <a:extLst>
                    <a:ext uri="{9D8B030D-6E8A-4147-A177-3AD203B41FA5}">
                      <a16:colId xmlns:a16="http://schemas.microsoft.com/office/drawing/2014/main" val="253125663"/>
                    </a:ext>
                  </a:extLst>
                </a:gridCol>
                <a:gridCol w="1471216">
                  <a:extLst>
                    <a:ext uri="{9D8B030D-6E8A-4147-A177-3AD203B41FA5}">
                      <a16:colId xmlns:a16="http://schemas.microsoft.com/office/drawing/2014/main" val="2871973893"/>
                    </a:ext>
                  </a:extLst>
                </a:gridCol>
                <a:gridCol w="1471216">
                  <a:extLst>
                    <a:ext uri="{9D8B030D-6E8A-4147-A177-3AD203B41FA5}">
                      <a16:colId xmlns:a16="http://schemas.microsoft.com/office/drawing/2014/main" val="493670529"/>
                    </a:ext>
                  </a:extLst>
                </a:gridCol>
                <a:gridCol w="1430630">
                  <a:extLst>
                    <a:ext uri="{9D8B030D-6E8A-4147-A177-3AD203B41FA5}">
                      <a16:colId xmlns:a16="http://schemas.microsoft.com/office/drawing/2014/main" val="196892589"/>
                    </a:ext>
                  </a:extLst>
                </a:gridCol>
                <a:gridCol w="1511802">
                  <a:extLst>
                    <a:ext uri="{9D8B030D-6E8A-4147-A177-3AD203B41FA5}">
                      <a16:colId xmlns:a16="http://schemas.microsoft.com/office/drawing/2014/main" val="1904935991"/>
                    </a:ext>
                  </a:extLst>
                </a:gridCol>
                <a:gridCol w="1244263">
                  <a:extLst>
                    <a:ext uri="{9D8B030D-6E8A-4147-A177-3AD203B41FA5}">
                      <a16:colId xmlns:a16="http://schemas.microsoft.com/office/drawing/2014/main" val="807001075"/>
                    </a:ext>
                  </a:extLst>
                </a:gridCol>
                <a:gridCol w="1698169">
                  <a:extLst>
                    <a:ext uri="{9D8B030D-6E8A-4147-A177-3AD203B41FA5}">
                      <a16:colId xmlns:a16="http://schemas.microsoft.com/office/drawing/2014/main" val="563325563"/>
                    </a:ext>
                  </a:extLst>
                </a:gridCol>
              </a:tblGrid>
              <a:tr h="370840">
                <a:tc>
                  <a:txBody>
                    <a:bodyPr/>
                    <a:lstStyle/>
                    <a:p>
                      <a:pPr algn="ctr"/>
                      <a:endParaRPr lang="en-GB" sz="1400">
                        <a:latin typeface="Fira Sans" panose="020B0503050000020004" pitchFamily="34" charset="0"/>
                      </a:endParaRPr>
                    </a:p>
                  </a:txBody>
                  <a:tcPr>
                    <a:lnL w="12700" cmpd="sng">
                      <a:noFill/>
                    </a:lnL>
                    <a:lnR w="38100" cap="flat" cmpd="sng" algn="ctr">
                      <a:solidFill>
                        <a:schemeClr val="bg1"/>
                      </a:solidFill>
                      <a:prstDash val="solid"/>
                      <a:round/>
                      <a:headEnd type="none" w="med" len="med"/>
                      <a:tailEnd type="none" w="med" len="med"/>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alpha val="47000"/>
                      </a:schemeClr>
                    </a:solidFill>
                  </a:tcPr>
                </a:tc>
                <a:tc>
                  <a:txBody>
                    <a:bodyPr/>
                    <a:lstStyle/>
                    <a:p>
                      <a:pPr algn="ctr"/>
                      <a:r>
                        <a:rPr lang="en-GB" sz="1400">
                          <a:solidFill>
                            <a:schemeClr val="bg1"/>
                          </a:solidFill>
                          <a:latin typeface="Fira Sans" panose="020B0503050000020004" pitchFamily="34" charset="0"/>
                        </a:rPr>
                        <a:t>Responsible</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Accountable</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Consulted</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Informed</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INPUTS</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OUTPUTS</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extLst>
                  <a:ext uri="{0D108BD9-81ED-4DB2-BD59-A6C34878D82A}">
                    <a16:rowId xmlns:a16="http://schemas.microsoft.com/office/drawing/2014/main" val="852859629"/>
                  </a:ext>
                </a:extLst>
              </a:tr>
              <a:tr h="370840">
                <a:tc>
                  <a:txBody>
                    <a:bodyPr/>
                    <a:lstStyle/>
                    <a:p>
                      <a:r>
                        <a:rPr lang="en-GB" sz="1400">
                          <a:solidFill>
                            <a:schemeClr val="bg1"/>
                          </a:solidFill>
                          <a:latin typeface="Fira Sans" panose="020B0503050000020004" pitchFamily="34" charset="0"/>
                        </a:rPr>
                        <a:t>Agenda</a:t>
                      </a:r>
                    </a:p>
                  </a:txBody>
                  <a:tcPr>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TC/CA*</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PM</a:t>
                      </a:r>
                    </a:p>
                  </a:txBody>
                  <a:tcPr>
                    <a:lnL w="127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endParaRPr lang="en-GB">
                        <a:solidFill>
                          <a:schemeClr val="bg1"/>
                        </a:solidFill>
                        <a:latin typeface="Fira Sans" panose="020B0503050000020004" pitchFamily="34" charset="0"/>
                      </a:endParaRP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PM</a:t>
                      </a: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solidFill>
                            <a:schemeClr val="bg1"/>
                          </a:solidFill>
                          <a:latin typeface="Fira Sans" panose="020B0503050000020004" pitchFamily="34" charset="0"/>
                        </a:rPr>
                        <a:t>TC/CA</a:t>
                      </a: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sz="1400">
                          <a:solidFill>
                            <a:schemeClr val="bg1"/>
                          </a:solidFill>
                          <a:latin typeface="Fira Sans" panose="020B0503050000020004" pitchFamily="34" charset="0"/>
                        </a:rPr>
                        <a:t>MRA – Workshop Agenda</a:t>
                      </a:r>
                    </a:p>
                  </a:txBody>
                  <a:tcP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accent2">
                        <a:tint val="40000"/>
                        <a:alpha val="61000"/>
                      </a:schemeClr>
                    </a:solidFill>
                  </a:tcPr>
                </a:tc>
                <a:extLst>
                  <a:ext uri="{0D108BD9-81ED-4DB2-BD59-A6C34878D82A}">
                    <a16:rowId xmlns:a16="http://schemas.microsoft.com/office/drawing/2014/main" val="3093090858"/>
                  </a:ext>
                </a:extLst>
              </a:tr>
              <a:tr h="370840">
                <a:tc>
                  <a:txBody>
                    <a:bodyPr/>
                    <a:lstStyle/>
                    <a:p>
                      <a:r>
                        <a:rPr lang="en-GB" sz="1400">
                          <a:solidFill>
                            <a:schemeClr val="bg1"/>
                          </a:solidFill>
                          <a:latin typeface="Fira Sans" panose="020B0503050000020004" pitchFamily="34" charset="0"/>
                        </a:rPr>
                        <a:t>MRA Tool Set up</a:t>
                      </a:r>
                    </a:p>
                  </a:txBody>
                  <a:tcPr>
                    <a:lnL w="38100" cap="flat" cmpd="sng" algn="ctr">
                      <a:solidFill>
                        <a:schemeClr val="bg1"/>
                      </a:solidFill>
                      <a:prstDash val="solid"/>
                      <a:round/>
                      <a:headEnd type="none" w="med" len="med"/>
                      <a:tailEnd type="none" w="med" len="med"/>
                    </a:lnL>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TC/CA*</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TC/CA*</a:t>
                      </a:r>
                    </a:p>
                  </a:txBody>
                  <a:tcPr>
                    <a:solidFill>
                      <a:schemeClr val="accent2">
                        <a:tint val="20000"/>
                        <a:alpha val="61000"/>
                      </a:schemeClr>
                    </a:solidFill>
                  </a:tcPr>
                </a:tc>
                <a:tc>
                  <a:txBody>
                    <a:bodyPr/>
                    <a:lstStyle/>
                    <a:p>
                      <a:pPr algn="ctr"/>
                      <a:endParaRPr lang="en-GB">
                        <a:solidFill>
                          <a:schemeClr val="bg1"/>
                        </a:solidFill>
                        <a:latin typeface="Fira Sans" panose="020B0503050000020004" pitchFamily="34" charset="0"/>
                      </a:endParaRPr>
                    </a:p>
                  </a:txBody>
                  <a:tcPr>
                    <a:solidFill>
                      <a:schemeClr val="accent2">
                        <a:tint val="20000"/>
                        <a:alpha val="61000"/>
                      </a:schemeClr>
                    </a:solidFill>
                  </a:tcPr>
                </a:tc>
                <a:tc>
                  <a:txBody>
                    <a:bodyPr/>
                    <a:lstStyle/>
                    <a:p>
                      <a:pPr algn="ctr"/>
                      <a:endParaRPr lang="en-GB">
                        <a:solidFill>
                          <a:schemeClr val="bg1"/>
                        </a:solidFill>
                        <a:latin typeface="Fira Sans" panose="020B0503050000020004" pitchFamily="34" charset="0"/>
                      </a:endParaRP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Customer</a:t>
                      </a:r>
                    </a:p>
                  </a:txBody>
                  <a:tcPr>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MRA - Prep</a:t>
                      </a:r>
                    </a:p>
                  </a:txBody>
                  <a:tcPr>
                    <a:lnR w="38100" cap="flat" cmpd="sng" algn="ctr">
                      <a:solidFill>
                        <a:schemeClr val="bg1"/>
                      </a:solidFill>
                      <a:prstDash val="solid"/>
                      <a:round/>
                      <a:headEnd type="none" w="med" len="med"/>
                      <a:tailEnd type="none" w="med" len="med"/>
                    </a:lnR>
                    <a:solidFill>
                      <a:schemeClr val="accent2">
                        <a:tint val="20000"/>
                        <a:alpha val="61000"/>
                      </a:schemeClr>
                    </a:solidFill>
                  </a:tcPr>
                </a:tc>
                <a:extLst>
                  <a:ext uri="{0D108BD9-81ED-4DB2-BD59-A6C34878D82A}">
                    <a16:rowId xmlns:a16="http://schemas.microsoft.com/office/drawing/2014/main" val="1543624774"/>
                  </a:ext>
                </a:extLst>
              </a:tr>
              <a:tr h="370840">
                <a:tc>
                  <a:txBody>
                    <a:bodyPr/>
                    <a:lstStyle/>
                    <a:p>
                      <a:r>
                        <a:rPr lang="en-GB" sz="1400">
                          <a:solidFill>
                            <a:schemeClr val="bg1"/>
                          </a:solidFill>
                          <a:latin typeface="Fira Sans" panose="020B0503050000020004" pitchFamily="34" charset="0"/>
                        </a:rPr>
                        <a:t>Workshops</a:t>
                      </a:r>
                    </a:p>
                  </a:txBody>
                  <a:tcPr>
                    <a:lnL w="38100" cap="flat" cmpd="sng" algn="ctr">
                      <a:solidFill>
                        <a:schemeClr val="bg1"/>
                      </a:solidFill>
                      <a:prstDash val="solid"/>
                      <a:round/>
                      <a:headEnd type="none" w="med" len="med"/>
                      <a:tailEnd type="none" w="med" len="med"/>
                    </a:lnL>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TC/CA*</a:t>
                      </a:r>
                    </a:p>
                  </a:txBody>
                  <a:tcPr>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PM</a:t>
                      </a:r>
                    </a:p>
                  </a:txBody>
                  <a:tcPr>
                    <a:solidFill>
                      <a:schemeClr val="accent2">
                        <a:tint val="40000"/>
                        <a:alpha val="61000"/>
                      </a:schemeClr>
                    </a:solidFill>
                  </a:tcPr>
                </a:tc>
                <a:tc>
                  <a:txBody>
                    <a:bodyPr/>
                    <a:lstStyle/>
                    <a:p>
                      <a:pPr algn="ctr"/>
                      <a:endParaRPr lang="en-GB">
                        <a:solidFill>
                          <a:schemeClr val="bg1"/>
                        </a:solidFill>
                        <a:latin typeface="Fira Sans" panose="020B0503050000020004" pitchFamily="34" charset="0"/>
                      </a:endParaRPr>
                    </a:p>
                  </a:txBody>
                  <a:tcPr>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PM</a:t>
                      </a:r>
                    </a:p>
                  </a:txBody>
                  <a:tcPr>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Customer</a:t>
                      </a:r>
                    </a:p>
                  </a:txBody>
                  <a:tcPr>
                    <a:solidFill>
                      <a:schemeClr val="accent2">
                        <a:tint val="40000"/>
                        <a:alpha val="61000"/>
                      </a:schemeClr>
                    </a:solidFill>
                  </a:tcPr>
                </a:tc>
                <a:tc>
                  <a:txBody>
                    <a:bodyPr/>
                    <a:lstStyle/>
                    <a:p>
                      <a:pPr algn="ctr"/>
                      <a:r>
                        <a:rPr lang="en-GB" sz="1400">
                          <a:solidFill>
                            <a:schemeClr val="bg1"/>
                          </a:solidFill>
                          <a:latin typeface="Fira Sans" panose="020B0503050000020004" pitchFamily="34" charset="0"/>
                        </a:rPr>
                        <a:t>MRA - Report</a:t>
                      </a:r>
                    </a:p>
                  </a:txBody>
                  <a:tcPr>
                    <a:lnR w="38100" cap="flat" cmpd="sng" algn="ctr">
                      <a:solidFill>
                        <a:schemeClr val="bg1"/>
                      </a:solidFill>
                      <a:prstDash val="solid"/>
                      <a:round/>
                      <a:headEnd type="none" w="med" len="med"/>
                      <a:tailEnd type="none" w="med" len="med"/>
                    </a:lnR>
                    <a:solidFill>
                      <a:schemeClr val="accent2">
                        <a:tint val="40000"/>
                        <a:alpha val="61000"/>
                      </a:schemeClr>
                    </a:solidFill>
                  </a:tcPr>
                </a:tc>
                <a:extLst>
                  <a:ext uri="{0D108BD9-81ED-4DB2-BD59-A6C34878D82A}">
                    <a16:rowId xmlns:a16="http://schemas.microsoft.com/office/drawing/2014/main" val="10618139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bg1"/>
                          </a:solidFill>
                          <a:latin typeface="Fira Sans" panose="020B0503050000020004" pitchFamily="34" charset="0"/>
                        </a:rPr>
                        <a:t>MRA Report Playback</a:t>
                      </a:r>
                    </a:p>
                  </a:txBody>
                  <a:tcPr>
                    <a:lnL w="38100" cap="flat" cmpd="sng" algn="ctr">
                      <a:solidFill>
                        <a:schemeClr val="bg1"/>
                      </a:solidFill>
                      <a:prstDash val="solid"/>
                      <a:round/>
                      <a:headEnd type="none" w="med" len="med"/>
                      <a:tailEnd type="none" w="med" len="med"/>
                    </a:lnL>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TC/CA*</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TC/CA*</a:t>
                      </a:r>
                    </a:p>
                  </a:txBody>
                  <a:tcPr>
                    <a:solidFill>
                      <a:schemeClr val="accent2">
                        <a:tint val="20000"/>
                        <a:alpha val="61000"/>
                      </a:schemeClr>
                    </a:solidFill>
                  </a:tcPr>
                </a:tc>
                <a:tc>
                  <a:txBody>
                    <a:bodyPr/>
                    <a:lstStyle/>
                    <a:p>
                      <a:pPr algn="ctr"/>
                      <a:endParaRPr lang="en-GB">
                        <a:solidFill>
                          <a:schemeClr val="bg1"/>
                        </a:solidFill>
                        <a:latin typeface="Fira Sans" panose="020B0503050000020004" pitchFamily="34" charset="0"/>
                      </a:endParaRP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PM</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TC/CA</a:t>
                      </a:r>
                    </a:p>
                  </a:txBody>
                  <a:tcPr>
                    <a:solidFill>
                      <a:schemeClr val="accent2">
                        <a:tint val="20000"/>
                        <a:alpha val="61000"/>
                      </a:schemeClr>
                    </a:solidFill>
                  </a:tcPr>
                </a:tc>
                <a:tc>
                  <a:txBody>
                    <a:bodyPr/>
                    <a:lstStyle/>
                    <a:p>
                      <a:pPr algn="ctr"/>
                      <a:r>
                        <a:rPr lang="en-GB" sz="1200">
                          <a:solidFill>
                            <a:schemeClr val="bg1"/>
                          </a:solidFill>
                          <a:latin typeface="Fira Sans" panose="020B0503050000020004" pitchFamily="34" charset="0"/>
                        </a:rPr>
                        <a:t>MRA – Playback Deck</a:t>
                      </a:r>
                    </a:p>
                  </a:txBody>
                  <a:tcPr>
                    <a:lnR w="38100" cap="flat" cmpd="sng" algn="ctr">
                      <a:solidFill>
                        <a:schemeClr val="bg1"/>
                      </a:solidFill>
                      <a:prstDash val="solid"/>
                      <a:round/>
                      <a:headEnd type="none" w="med" len="med"/>
                      <a:tailEnd type="none" w="med" len="med"/>
                    </a:lnR>
                    <a:solidFill>
                      <a:schemeClr val="accent2">
                        <a:tint val="20000"/>
                        <a:alpha val="61000"/>
                      </a:schemeClr>
                    </a:solidFill>
                  </a:tcPr>
                </a:tc>
                <a:extLst>
                  <a:ext uri="{0D108BD9-81ED-4DB2-BD59-A6C34878D82A}">
                    <a16:rowId xmlns:a16="http://schemas.microsoft.com/office/drawing/2014/main" val="3855878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bg1"/>
                          </a:solidFill>
                          <a:latin typeface="Fira Sans" panose="020B0503050000020004" pitchFamily="34" charset="0"/>
                        </a:rPr>
                        <a:t>LZ Workshops</a:t>
                      </a:r>
                    </a:p>
                  </a:txBody>
                  <a:tcPr>
                    <a:lnL w="38100" cap="flat" cmpd="sng" algn="ctr">
                      <a:solidFill>
                        <a:schemeClr val="bg1"/>
                      </a:solidFill>
                      <a:prstDash val="solid"/>
                      <a:round/>
                      <a:headEnd type="none" w="med" len="med"/>
                      <a:tailEnd type="none" w="med" len="med"/>
                    </a:lnL>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CA</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chemeClr val="bg1"/>
                          </a:solidFill>
                          <a:effectLst/>
                          <a:uLnTx/>
                          <a:uFillTx/>
                          <a:latin typeface="Fira Sans" panose="020B0503050000020004" pitchFamily="34" charset="0"/>
                          <a:ea typeface="+mn-ea"/>
                          <a:cs typeface="+mn-cs"/>
                        </a:rPr>
                        <a:t>CA</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TC</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PM/CP</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Customer</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algn="ctr"/>
                      <a:r>
                        <a:rPr lang="en-GB" sz="1200">
                          <a:solidFill>
                            <a:schemeClr val="bg1"/>
                          </a:solidFill>
                          <a:latin typeface="Fira Sans" panose="020B0503050000020004" pitchFamily="34" charset="0"/>
                        </a:rPr>
                        <a:t>Landing Zone Design</a:t>
                      </a:r>
                    </a:p>
                  </a:txBody>
                  <a:tcPr>
                    <a:lnR w="381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chemeClr val="accent2">
                        <a:tint val="20000"/>
                        <a:alpha val="61000"/>
                      </a:schemeClr>
                    </a:solidFill>
                  </a:tcPr>
                </a:tc>
                <a:extLst>
                  <a:ext uri="{0D108BD9-81ED-4DB2-BD59-A6C34878D82A}">
                    <a16:rowId xmlns:a16="http://schemas.microsoft.com/office/drawing/2014/main" val="3241921703"/>
                  </a:ext>
                </a:extLst>
              </a:tr>
            </a:tbl>
          </a:graphicData>
        </a:graphic>
      </p:graphicFrame>
      <p:sp>
        <p:nvSpPr>
          <p:cNvPr id="8" name="TextBox 7">
            <a:extLst>
              <a:ext uri="{FF2B5EF4-FFF2-40B4-BE49-F238E27FC236}">
                <a16:creationId xmlns:a16="http://schemas.microsoft.com/office/drawing/2014/main" id="{BCD25109-4266-3070-24A8-6CB2A0D63BC2}"/>
              </a:ext>
            </a:extLst>
          </p:cNvPr>
          <p:cNvSpPr txBox="1"/>
          <p:nvPr/>
        </p:nvSpPr>
        <p:spPr>
          <a:xfrm>
            <a:off x="3566622" y="5212283"/>
            <a:ext cx="6782626" cy="1477328"/>
          </a:xfrm>
          <a:prstGeom prst="rect">
            <a:avLst/>
          </a:prstGeom>
          <a:noFill/>
        </p:spPr>
        <p:txBody>
          <a:bodyPr wrap="non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PM – Project Manager</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 – Technical Consultant </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CA – Cloud Architect</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CE – Cloud Engineer </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CP – Client Partner </a:t>
            </a:r>
            <a:r>
              <a:rPr kumimoji="0" lang="en-GB" sz="1800" b="0" i="0" u="none" strike="noStrike" kern="1200" cap="none" spc="0" normalizeH="0" baseline="0" noProof="0">
                <a:ln>
                  <a:noFill/>
                </a:ln>
                <a:solidFill>
                  <a:srgbClr val="FF0000"/>
                </a:solidFill>
                <a:effectLst/>
                <a:uLnTx/>
                <a:uFillTx/>
                <a:latin typeface="Fira Sans" panose="020B0503050000020004" pitchFamily="34" charset="0"/>
                <a:ea typeface="+mn-ea"/>
                <a:cs typeface="+mn-cs"/>
              </a:rPr>
              <a:t>*Are client partners on these engagements?</a:t>
            </a:r>
            <a:endPar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p:txBody>
      </p:sp>
      <p:sp>
        <p:nvSpPr>
          <p:cNvPr id="9" name="TextBox 8">
            <a:extLst>
              <a:ext uri="{FF2B5EF4-FFF2-40B4-BE49-F238E27FC236}">
                <a16:creationId xmlns:a16="http://schemas.microsoft.com/office/drawing/2014/main" id="{1539005C-7381-08F6-A795-2B3688848DAB}"/>
              </a:ext>
            </a:extLst>
          </p:cNvPr>
          <p:cNvSpPr txBox="1"/>
          <p:nvPr/>
        </p:nvSpPr>
        <p:spPr>
          <a:xfrm>
            <a:off x="2656115" y="4322264"/>
            <a:ext cx="2885726" cy="307777"/>
          </a:xfrm>
          <a:prstGeom prst="rect">
            <a:avLst/>
          </a:prstGeom>
          <a:noFill/>
        </p:spPr>
        <p:txBody>
          <a:bodyPr wrap="non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*Can be performed by either role</a:t>
            </a:r>
            <a:endParaRPr kumimoji="0" lang="en-GB" sz="14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116907956"/>
      </p:ext>
    </p:extLst>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46FC2B-8F51-79CA-4880-D515F9666051}"/>
              </a:ext>
            </a:extLst>
          </p:cNvPr>
          <p:cNvSpPr>
            <a:spLocks noGrp="1"/>
          </p:cNvSpPr>
          <p:nvPr>
            <p:ph type="title"/>
          </p:nvPr>
        </p:nvSpPr>
        <p:spPr>
          <a:xfrm>
            <a:off x="334496" y="268589"/>
            <a:ext cx="7503217" cy="1023678"/>
          </a:xfrm>
        </p:spPr>
        <p:txBody>
          <a:bodyPr/>
          <a:lstStyle/>
          <a:p>
            <a:r>
              <a:rPr lang="en-GB"/>
              <a:t>RACI for MAP Assess – Tool Deployment</a:t>
            </a:r>
          </a:p>
        </p:txBody>
      </p:sp>
      <p:sp>
        <p:nvSpPr>
          <p:cNvPr id="5" name="Slide Number Placeholder 4">
            <a:extLst>
              <a:ext uri="{FF2B5EF4-FFF2-40B4-BE49-F238E27FC236}">
                <a16:creationId xmlns:a16="http://schemas.microsoft.com/office/drawing/2014/main" id="{CEA875DC-284F-0BDE-7B61-89B94748114B}"/>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32</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graphicFrame>
        <p:nvGraphicFramePr>
          <p:cNvPr id="3" name="Table 5">
            <a:extLst>
              <a:ext uri="{FF2B5EF4-FFF2-40B4-BE49-F238E27FC236}">
                <a16:creationId xmlns:a16="http://schemas.microsoft.com/office/drawing/2014/main" id="{A0CEC524-5E0C-7F18-B891-E029876351BD}"/>
              </a:ext>
            </a:extLst>
          </p:cNvPr>
          <p:cNvGraphicFramePr>
            <a:graphicFrameLocks noGrp="1"/>
          </p:cNvGraphicFramePr>
          <p:nvPr/>
        </p:nvGraphicFramePr>
        <p:xfrm>
          <a:off x="643196" y="2045775"/>
          <a:ext cx="11175607" cy="2413000"/>
        </p:xfrm>
        <a:graphic>
          <a:graphicData uri="http://schemas.openxmlformats.org/drawingml/2006/table">
            <a:tbl>
              <a:tblPr firstRow="1" bandRow="1">
                <a:tableStyleId>{21E4AEA4-8DFA-4A89-87EB-49C32662AFE0}</a:tableStyleId>
              </a:tblPr>
              <a:tblGrid>
                <a:gridCol w="2332505">
                  <a:extLst>
                    <a:ext uri="{9D8B030D-6E8A-4147-A177-3AD203B41FA5}">
                      <a16:colId xmlns:a16="http://schemas.microsoft.com/office/drawing/2014/main" val="253125663"/>
                    </a:ext>
                  </a:extLst>
                </a:gridCol>
                <a:gridCol w="1338941">
                  <a:extLst>
                    <a:ext uri="{9D8B030D-6E8A-4147-A177-3AD203B41FA5}">
                      <a16:colId xmlns:a16="http://schemas.microsoft.com/office/drawing/2014/main" val="2871973893"/>
                    </a:ext>
                  </a:extLst>
                </a:gridCol>
                <a:gridCol w="1393371">
                  <a:extLst>
                    <a:ext uri="{9D8B030D-6E8A-4147-A177-3AD203B41FA5}">
                      <a16:colId xmlns:a16="http://schemas.microsoft.com/office/drawing/2014/main" val="493670529"/>
                    </a:ext>
                  </a:extLst>
                </a:gridCol>
                <a:gridCol w="1277201">
                  <a:extLst>
                    <a:ext uri="{9D8B030D-6E8A-4147-A177-3AD203B41FA5}">
                      <a16:colId xmlns:a16="http://schemas.microsoft.com/office/drawing/2014/main" val="196892589"/>
                    </a:ext>
                  </a:extLst>
                </a:gridCol>
                <a:gridCol w="1640558">
                  <a:extLst>
                    <a:ext uri="{9D8B030D-6E8A-4147-A177-3AD203B41FA5}">
                      <a16:colId xmlns:a16="http://schemas.microsoft.com/office/drawing/2014/main" val="1904935991"/>
                    </a:ext>
                  </a:extLst>
                </a:gridCol>
                <a:gridCol w="1350234">
                  <a:extLst>
                    <a:ext uri="{9D8B030D-6E8A-4147-A177-3AD203B41FA5}">
                      <a16:colId xmlns:a16="http://schemas.microsoft.com/office/drawing/2014/main" val="807001075"/>
                    </a:ext>
                  </a:extLst>
                </a:gridCol>
                <a:gridCol w="1842797">
                  <a:extLst>
                    <a:ext uri="{9D8B030D-6E8A-4147-A177-3AD203B41FA5}">
                      <a16:colId xmlns:a16="http://schemas.microsoft.com/office/drawing/2014/main" val="563325563"/>
                    </a:ext>
                  </a:extLst>
                </a:gridCol>
              </a:tblGrid>
              <a:tr h="370840">
                <a:tc>
                  <a:txBody>
                    <a:bodyPr/>
                    <a:lstStyle/>
                    <a:p>
                      <a:pPr algn="ctr"/>
                      <a:endParaRPr lang="en-GB" sz="1400">
                        <a:latin typeface="Fira Sans" panose="020B0503050000020004" pitchFamily="34" charset="0"/>
                      </a:endParaRPr>
                    </a:p>
                  </a:txBody>
                  <a:tcPr>
                    <a:lnL w="12700" cmpd="sng">
                      <a:noFill/>
                    </a:lnL>
                    <a:lnR w="381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alpha val="47000"/>
                      </a:schemeClr>
                    </a:solidFill>
                  </a:tcPr>
                </a:tc>
                <a:tc>
                  <a:txBody>
                    <a:bodyPr/>
                    <a:lstStyle/>
                    <a:p>
                      <a:pPr algn="ctr"/>
                      <a:r>
                        <a:rPr lang="en-GB" sz="1400">
                          <a:solidFill>
                            <a:schemeClr val="bg1"/>
                          </a:solidFill>
                          <a:latin typeface="Fira Sans" panose="020B0503050000020004" pitchFamily="34" charset="0"/>
                        </a:rPr>
                        <a:t>Responsible</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Accountable</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Consulted</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Informed</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INPUT FROM</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OUTPUTS</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extLst>
                  <a:ext uri="{0D108BD9-81ED-4DB2-BD59-A6C34878D82A}">
                    <a16:rowId xmlns:a16="http://schemas.microsoft.com/office/drawing/2014/main" val="852859629"/>
                  </a:ext>
                </a:extLst>
              </a:tr>
              <a:tr h="370840">
                <a:tc>
                  <a:txBody>
                    <a:bodyPr/>
                    <a:lstStyle/>
                    <a:p>
                      <a:r>
                        <a:rPr lang="en-GB" sz="1400">
                          <a:solidFill>
                            <a:schemeClr val="bg1"/>
                          </a:solidFill>
                          <a:latin typeface="Fira Sans" panose="020B0503050000020004" pitchFamily="34" charset="0"/>
                        </a:rPr>
                        <a:t>Tool Deployment Guide</a:t>
                      </a:r>
                    </a:p>
                  </a:txBody>
                  <a:tcPr>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CE</a:t>
                      </a:r>
                    </a:p>
                  </a:txBody>
                  <a:tcPr>
                    <a:lnL w="127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CE</a:t>
                      </a: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CA</a:t>
                      </a: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TC / PM</a:t>
                      </a: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400">
                        <a:solidFill>
                          <a:schemeClr val="bg1"/>
                        </a:solidFill>
                        <a:latin typeface="Fira Sans" panose="020B0503050000020004" pitchFamily="34" charset="0"/>
                      </a:endParaRP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sz="1400">
                          <a:solidFill>
                            <a:schemeClr val="bg1"/>
                          </a:solidFill>
                          <a:latin typeface="Fira Sans" panose="020B0503050000020004" pitchFamily="34" charset="0"/>
                        </a:rPr>
                        <a:t>Tool Deployment</a:t>
                      </a:r>
                    </a:p>
                  </a:txBody>
                  <a:tcP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accent2">
                        <a:tint val="40000"/>
                        <a:alpha val="61000"/>
                      </a:schemeClr>
                    </a:solidFill>
                  </a:tcPr>
                </a:tc>
                <a:extLst>
                  <a:ext uri="{0D108BD9-81ED-4DB2-BD59-A6C34878D82A}">
                    <a16:rowId xmlns:a16="http://schemas.microsoft.com/office/drawing/2014/main" val="3093090858"/>
                  </a:ext>
                </a:extLst>
              </a:tr>
              <a:tr h="370840">
                <a:tc>
                  <a:txBody>
                    <a:bodyPr/>
                    <a:lstStyle/>
                    <a:p>
                      <a:r>
                        <a:rPr lang="en-GB" sz="1400">
                          <a:solidFill>
                            <a:schemeClr val="bg1"/>
                          </a:solidFill>
                          <a:latin typeface="Fira Sans" panose="020B0503050000020004" pitchFamily="34" charset="0"/>
                        </a:rPr>
                        <a:t>Trouble shooting sessions</a:t>
                      </a:r>
                    </a:p>
                  </a:txBody>
                  <a:tcPr>
                    <a:lnL w="38100" cap="flat" cmpd="sng" algn="ctr">
                      <a:solidFill>
                        <a:schemeClr val="bg1"/>
                      </a:solidFill>
                      <a:prstDash val="solid"/>
                      <a:round/>
                      <a:headEnd type="none" w="med" len="med"/>
                      <a:tailEnd type="none" w="med" len="med"/>
                    </a:lnL>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CE</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CE</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CA</a:t>
                      </a:r>
                    </a:p>
                  </a:txBody>
                  <a:tcPr>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solidFill>
                            <a:schemeClr val="bg1"/>
                          </a:solidFill>
                          <a:latin typeface="Fira Sans" panose="020B0503050000020004" pitchFamily="34" charset="0"/>
                        </a:rPr>
                        <a:t>PM</a:t>
                      </a:r>
                    </a:p>
                  </a:txBody>
                  <a:tcPr>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CE</a:t>
                      </a:r>
                    </a:p>
                  </a:txBody>
                  <a:tcPr>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Tool Deployment</a:t>
                      </a:r>
                    </a:p>
                  </a:txBody>
                  <a:tcPr>
                    <a:lnR w="38100" cap="flat" cmpd="sng" algn="ctr">
                      <a:solidFill>
                        <a:schemeClr val="bg1"/>
                      </a:solidFill>
                      <a:prstDash val="solid"/>
                      <a:round/>
                      <a:headEnd type="none" w="med" len="med"/>
                      <a:tailEnd type="none" w="med" len="med"/>
                    </a:lnR>
                    <a:solidFill>
                      <a:schemeClr val="accent2">
                        <a:tint val="20000"/>
                        <a:alpha val="61000"/>
                      </a:schemeClr>
                    </a:solidFill>
                  </a:tcPr>
                </a:tc>
                <a:extLst>
                  <a:ext uri="{0D108BD9-81ED-4DB2-BD59-A6C34878D82A}">
                    <a16:rowId xmlns:a16="http://schemas.microsoft.com/office/drawing/2014/main" val="1543624774"/>
                  </a:ext>
                </a:extLst>
              </a:tr>
              <a:tr h="370840">
                <a:tc>
                  <a:txBody>
                    <a:bodyPr/>
                    <a:lstStyle/>
                    <a:p>
                      <a:r>
                        <a:rPr lang="en-GB" sz="1400">
                          <a:solidFill>
                            <a:schemeClr val="bg1"/>
                          </a:solidFill>
                          <a:latin typeface="Fira Sans" panose="020B0503050000020004" pitchFamily="34" charset="0"/>
                        </a:rPr>
                        <a:t>Tool Management</a:t>
                      </a:r>
                    </a:p>
                  </a:txBody>
                  <a:tcPr>
                    <a:lnL w="38100" cap="flat" cmpd="sng" algn="ctr">
                      <a:solidFill>
                        <a:schemeClr val="bg1"/>
                      </a:solidFill>
                      <a:prstDash val="solid"/>
                      <a:round/>
                      <a:headEnd type="none" w="med" len="med"/>
                      <a:tailEnd type="none" w="med" len="med"/>
                    </a:lnL>
                    <a:solidFill>
                      <a:schemeClr val="accent2">
                        <a:tint val="4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CE</a:t>
                      </a:r>
                    </a:p>
                  </a:txBody>
                  <a:tcPr>
                    <a:solidFill>
                      <a:schemeClr val="accent2">
                        <a:tint val="4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CE</a:t>
                      </a:r>
                    </a:p>
                  </a:txBody>
                  <a:tcPr>
                    <a:solidFill>
                      <a:schemeClr val="accent2">
                        <a:tint val="40000"/>
                        <a:alpha val="61000"/>
                      </a:schemeClr>
                    </a:solidFill>
                  </a:tcPr>
                </a:tc>
                <a:tc>
                  <a:txBody>
                    <a:bodyPr/>
                    <a:lstStyle/>
                    <a:p>
                      <a:pPr algn="ctr"/>
                      <a:endParaRPr lang="en-GB">
                        <a:solidFill>
                          <a:schemeClr val="bg1"/>
                        </a:solidFill>
                        <a:latin typeface="Fira Sans" panose="020B0503050000020004" pitchFamily="34" charset="0"/>
                      </a:endParaRPr>
                    </a:p>
                  </a:txBody>
                  <a:tcPr>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PM</a:t>
                      </a:r>
                    </a:p>
                  </a:txBody>
                  <a:tcPr>
                    <a:solidFill>
                      <a:schemeClr val="accent2">
                        <a:tint val="40000"/>
                        <a:alpha val="61000"/>
                      </a:schemeClr>
                    </a:solidFill>
                  </a:tcPr>
                </a:tc>
                <a:tc>
                  <a:txBody>
                    <a:bodyPr/>
                    <a:lstStyle/>
                    <a:p>
                      <a:pPr algn="ctr"/>
                      <a:r>
                        <a:rPr lang="en-GB" sz="1400">
                          <a:solidFill>
                            <a:schemeClr val="bg1"/>
                          </a:solidFill>
                          <a:latin typeface="Fira Sans" panose="020B0503050000020004" pitchFamily="34" charset="0"/>
                        </a:rPr>
                        <a:t>CE</a:t>
                      </a:r>
                    </a:p>
                  </a:txBody>
                  <a:tcPr>
                    <a:solidFill>
                      <a:schemeClr val="accent2">
                        <a:tint val="40000"/>
                        <a:alpha val="61000"/>
                      </a:schemeClr>
                    </a:solidFill>
                  </a:tcPr>
                </a:tc>
                <a:tc>
                  <a:txBody>
                    <a:bodyPr/>
                    <a:lstStyle/>
                    <a:p>
                      <a:pPr algn="ctr"/>
                      <a:r>
                        <a:rPr lang="en-GB" sz="1050">
                          <a:solidFill>
                            <a:schemeClr val="bg1"/>
                          </a:solidFill>
                          <a:latin typeface="Fira Sans" panose="020B0503050000020004" pitchFamily="34" charset="0"/>
                        </a:rPr>
                        <a:t>Tool Report / Status Updates</a:t>
                      </a:r>
                    </a:p>
                  </a:txBody>
                  <a:tcPr>
                    <a:lnR w="38100" cap="flat" cmpd="sng" algn="ctr">
                      <a:solidFill>
                        <a:schemeClr val="bg1"/>
                      </a:solidFill>
                      <a:prstDash val="solid"/>
                      <a:round/>
                      <a:headEnd type="none" w="med" len="med"/>
                      <a:tailEnd type="none" w="med" len="med"/>
                    </a:lnR>
                    <a:solidFill>
                      <a:schemeClr val="accent2">
                        <a:tint val="40000"/>
                        <a:alpha val="61000"/>
                      </a:schemeClr>
                    </a:solidFill>
                  </a:tcPr>
                </a:tc>
                <a:extLst>
                  <a:ext uri="{0D108BD9-81ED-4DB2-BD59-A6C34878D82A}">
                    <a16:rowId xmlns:a16="http://schemas.microsoft.com/office/drawing/2014/main" val="10618139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bg1"/>
                          </a:solidFill>
                          <a:latin typeface="Fira Sans" panose="020B0503050000020004" pitchFamily="34" charset="0"/>
                        </a:rPr>
                        <a:t>Tool Output</a:t>
                      </a:r>
                    </a:p>
                  </a:txBody>
                  <a:tcPr>
                    <a:lnL w="38100" cap="flat" cmpd="sng" algn="ctr">
                      <a:solidFill>
                        <a:schemeClr val="bg1"/>
                      </a:solidFill>
                      <a:prstDash val="solid"/>
                      <a:round/>
                      <a:headEnd type="none" w="med" len="med"/>
                      <a:tailEnd type="none" w="med" len="med"/>
                    </a:lnL>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CE</a:t>
                      </a:r>
                    </a:p>
                  </a:txBody>
                  <a:tcPr>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CE</a:t>
                      </a:r>
                    </a:p>
                  </a:txBody>
                  <a:tcPr>
                    <a:solidFill>
                      <a:schemeClr val="accent2">
                        <a:tint val="20000"/>
                        <a:alpha val="61000"/>
                      </a:schemeClr>
                    </a:solidFill>
                  </a:tcPr>
                </a:tc>
                <a:tc>
                  <a:txBody>
                    <a:bodyPr/>
                    <a:lstStyle/>
                    <a:p>
                      <a:pPr algn="ctr"/>
                      <a:endParaRPr lang="en-GB">
                        <a:solidFill>
                          <a:schemeClr val="bg1"/>
                        </a:solidFill>
                        <a:latin typeface="Fira Sans" panose="020B0503050000020004" pitchFamily="34" charset="0"/>
                      </a:endParaRP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TC/CE/CA</a:t>
                      </a:r>
                    </a:p>
                  </a:txBody>
                  <a:tcPr>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Tooling</a:t>
                      </a:r>
                    </a:p>
                  </a:txBody>
                  <a:tcPr>
                    <a:solidFill>
                      <a:schemeClr val="accent2">
                        <a:tint val="20000"/>
                        <a:alpha val="61000"/>
                      </a:schemeClr>
                    </a:solidFill>
                  </a:tcPr>
                </a:tc>
                <a:tc>
                  <a:txBody>
                    <a:bodyPr/>
                    <a:lstStyle/>
                    <a:p>
                      <a:pPr algn="ctr"/>
                      <a:r>
                        <a:rPr lang="en-GB" sz="1200">
                          <a:solidFill>
                            <a:schemeClr val="bg1"/>
                          </a:solidFill>
                          <a:latin typeface="Fira Sans" panose="020B0503050000020004" pitchFamily="34" charset="0"/>
                        </a:rPr>
                        <a:t>Export / Infra report</a:t>
                      </a:r>
                    </a:p>
                  </a:txBody>
                  <a:tcPr>
                    <a:lnR w="38100" cap="flat" cmpd="sng" algn="ctr">
                      <a:solidFill>
                        <a:schemeClr val="bg1"/>
                      </a:solidFill>
                      <a:prstDash val="solid"/>
                      <a:round/>
                      <a:headEnd type="none" w="med" len="med"/>
                      <a:tailEnd type="none" w="med" len="med"/>
                    </a:lnR>
                    <a:solidFill>
                      <a:schemeClr val="accent2">
                        <a:tint val="20000"/>
                        <a:alpha val="61000"/>
                      </a:schemeClr>
                    </a:solidFill>
                  </a:tcPr>
                </a:tc>
                <a:extLst>
                  <a:ext uri="{0D108BD9-81ED-4DB2-BD59-A6C34878D82A}">
                    <a16:rowId xmlns:a16="http://schemas.microsoft.com/office/drawing/2014/main" val="3855878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bg1"/>
                          </a:solidFill>
                          <a:latin typeface="Fira Sans" panose="020B0503050000020004" pitchFamily="34" charset="0"/>
                        </a:rPr>
                        <a:t>App to Server Mapping (tool)</a:t>
                      </a:r>
                    </a:p>
                  </a:txBody>
                  <a:tcPr>
                    <a:lnL w="38100" cap="flat" cmpd="sng" algn="ctr">
                      <a:solidFill>
                        <a:schemeClr val="bg1"/>
                      </a:solidFill>
                      <a:prstDash val="solid"/>
                      <a:round/>
                      <a:headEnd type="none" w="med" len="med"/>
                      <a:tailEnd type="none" w="med" len="med"/>
                    </a:lnL>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TC/CE</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algn="ctr"/>
                      <a:endParaRPr lang="en-GB">
                        <a:solidFill>
                          <a:schemeClr val="bg1"/>
                        </a:solidFill>
                        <a:latin typeface="Fira Sans" panose="020B0503050000020004" pitchFamily="34" charset="0"/>
                      </a:endParaRP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All</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Tool Output</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algn="ctr"/>
                      <a:r>
                        <a:rPr lang="en-GB" sz="1200">
                          <a:solidFill>
                            <a:schemeClr val="bg1"/>
                          </a:solidFill>
                          <a:latin typeface="Fira Sans" panose="020B0503050000020004" pitchFamily="34" charset="0"/>
                        </a:rPr>
                        <a:t>Validated MPA Report</a:t>
                      </a:r>
                    </a:p>
                  </a:txBody>
                  <a:tcPr>
                    <a:lnR w="381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chemeClr val="accent2">
                        <a:tint val="20000"/>
                        <a:alpha val="61000"/>
                      </a:schemeClr>
                    </a:solidFill>
                  </a:tcPr>
                </a:tc>
                <a:extLst>
                  <a:ext uri="{0D108BD9-81ED-4DB2-BD59-A6C34878D82A}">
                    <a16:rowId xmlns:a16="http://schemas.microsoft.com/office/drawing/2014/main" val="136710165"/>
                  </a:ext>
                </a:extLst>
              </a:tr>
            </a:tbl>
          </a:graphicData>
        </a:graphic>
      </p:graphicFrame>
      <p:sp>
        <p:nvSpPr>
          <p:cNvPr id="2" name="TextBox 1">
            <a:extLst>
              <a:ext uri="{FF2B5EF4-FFF2-40B4-BE49-F238E27FC236}">
                <a16:creationId xmlns:a16="http://schemas.microsoft.com/office/drawing/2014/main" id="{54CF7173-BF65-9D3E-01E7-98C369F13F86}"/>
              </a:ext>
            </a:extLst>
          </p:cNvPr>
          <p:cNvSpPr txBox="1"/>
          <p:nvPr/>
        </p:nvSpPr>
        <p:spPr>
          <a:xfrm>
            <a:off x="3566622" y="5212283"/>
            <a:ext cx="6782626" cy="1477328"/>
          </a:xfrm>
          <a:prstGeom prst="rect">
            <a:avLst/>
          </a:prstGeom>
          <a:noFill/>
        </p:spPr>
        <p:txBody>
          <a:bodyPr wrap="non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PM – Project Manager</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 – Technical Consultant </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CA – Cloud Architect</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CE – Cloud Engineer </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CP – Client Partner </a:t>
            </a:r>
            <a:r>
              <a:rPr kumimoji="0" lang="en-GB" sz="1800" b="0" i="0" u="none" strike="noStrike" kern="1200" cap="none" spc="0" normalizeH="0" baseline="0" noProof="0">
                <a:ln>
                  <a:noFill/>
                </a:ln>
                <a:solidFill>
                  <a:srgbClr val="FF0000"/>
                </a:solidFill>
                <a:effectLst/>
                <a:uLnTx/>
                <a:uFillTx/>
                <a:latin typeface="Fira Sans" panose="020B0503050000020004" pitchFamily="34" charset="0"/>
                <a:ea typeface="+mn-ea"/>
                <a:cs typeface="+mn-cs"/>
              </a:rPr>
              <a:t>*Are client partners on these engagements?</a:t>
            </a:r>
            <a:endPar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p:txBody>
      </p:sp>
    </p:spTree>
    <p:extLst>
      <p:ext uri="{BB962C8B-B14F-4D97-AF65-F5344CB8AC3E}">
        <p14:creationId xmlns:p14="http://schemas.microsoft.com/office/powerpoint/2010/main" val="27982574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46FC2B-8F51-79CA-4880-D515F9666051}"/>
              </a:ext>
            </a:extLst>
          </p:cNvPr>
          <p:cNvSpPr>
            <a:spLocks noGrp="1"/>
          </p:cNvSpPr>
          <p:nvPr>
            <p:ph type="title"/>
          </p:nvPr>
        </p:nvSpPr>
        <p:spPr>
          <a:xfrm>
            <a:off x="334497" y="268589"/>
            <a:ext cx="5119246" cy="498919"/>
          </a:xfrm>
        </p:spPr>
        <p:txBody>
          <a:bodyPr/>
          <a:lstStyle/>
          <a:p>
            <a:r>
              <a:rPr lang="en-GB"/>
              <a:t>RACI for AMM Assess - PA</a:t>
            </a:r>
          </a:p>
        </p:txBody>
      </p:sp>
      <p:sp>
        <p:nvSpPr>
          <p:cNvPr id="5" name="Slide Number Placeholder 4">
            <a:extLst>
              <a:ext uri="{FF2B5EF4-FFF2-40B4-BE49-F238E27FC236}">
                <a16:creationId xmlns:a16="http://schemas.microsoft.com/office/drawing/2014/main" id="{CEA875DC-284F-0BDE-7B61-89B94748114B}"/>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33</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graphicFrame>
        <p:nvGraphicFramePr>
          <p:cNvPr id="3" name="Table 5">
            <a:extLst>
              <a:ext uri="{FF2B5EF4-FFF2-40B4-BE49-F238E27FC236}">
                <a16:creationId xmlns:a16="http://schemas.microsoft.com/office/drawing/2014/main" id="{A0CEC524-5E0C-7F18-B891-E029876351BD}"/>
              </a:ext>
            </a:extLst>
          </p:cNvPr>
          <p:cNvGraphicFramePr>
            <a:graphicFrameLocks noGrp="1"/>
          </p:cNvGraphicFramePr>
          <p:nvPr/>
        </p:nvGraphicFramePr>
        <p:xfrm>
          <a:off x="643196" y="854769"/>
          <a:ext cx="11175607" cy="4150360"/>
        </p:xfrm>
        <a:graphic>
          <a:graphicData uri="http://schemas.openxmlformats.org/drawingml/2006/table">
            <a:tbl>
              <a:tblPr firstRow="1" bandRow="1">
                <a:tableStyleId>{21E4AEA4-8DFA-4A89-87EB-49C32662AFE0}</a:tableStyleId>
              </a:tblPr>
              <a:tblGrid>
                <a:gridCol w="2236608">
                  <a:extLst>
                    <a:ext uri="{9D8B030D-6E8A-4147-A177-3AD203B41FA5}">
                      <a16:colId xmlns:a16="http://schemas.microsoft.com/office/drawing/2014/main" val="253125663"/>
                    </a:ext>
                  </a:extLst>
                </a:gridCol>
                <a:gridCol w="1434838">
                  <a:extLst>
                    <a:ext uri="{9D8B030D-6E8A-4147-A177-3AD203B41FA5}">
                      <a16:colId xmlns:a16="http://schemas.microsoft.com/office/drawing/2014/main" val="2871973893"/>
                    </a:ext>
                  </a:extLst>
                </a:gridCol>
                <a:gridCol w="1393371">
                  <a:extLst>
                    <a:ext uri="{9D8B030D-6E8A-4147-A177-3AD203B41FA5}">
                      <a16:colId xmlns:a16="http://schemas.microsoft.com/office/drawing/2014/main" val="493670529"/>
                    </a:ext>
                  </a:extLst>
                </a:gridCol>
                <a:gridCol w="1277201">
                  <a:extLst>
                    <a:ext uri="{9D8B030D-6E8A-4147-A177-3AD203B41FA5}">
                      <a16:colId xmlns:a16="http://schemas.microsoft.com/office/drawing/2014/main" val="196892589"/>
                    </a:ext>
                  </a:extLst>
                </a:gridCol>
                <a:gridCol w="1640558">
                  <a:extLst>
                    <a:ext uri="{9D8B030D-6E8A-4147-A177-3AD203B41FA5}">
                      <a16:colId xmlns:a16="http://schemas.microsoft.com/office/drawing/2014/main" val="1904935991"/>
                    </a:ext>
                  </a:extLst>
                </a:gridCol>
                <a:gridCol w="1350234">
                  <a:extLst>
                    <a:ext uri="{9D8B030D-6E8A-4147-A177-3AD203B41FA5}">
                      <a16:colId xmlns:a16="http://schemas.microsoft.com/office/drawing/2014/main" val="807001075"/>
                    </a:ext>
                  </a:extLst>
                </a:gridCol>
                <a:gridCol w="1842797">
                  <a:extLst>
                    <a:ext uri="{9D8B030D-6E8A-4147-A177-3AD203B41FA5}">
                      <a16:colId xmlns:a16="http://schemas.microsoft.com/office/drawing/2014/main" val="563325563"/>
                    </a:ext>
                  </a:extLst>
                </a:gridCol>
              </a:tblGrid>
              <a:tr h="370840">
                <a:tc>
                  <a:txBody>
                    <a:bodyPr/>
                    <a:lstStyle/>
                    <a:p>
                      <a:pPr algn="ctr"/>
                      <a:endParaRPr lang="en-GB" sz="1400">
                        <a:latin typeface="Fira Sans" panose="020B0503050000020004" pitchFamily="34" charset="0"/>
                      </a:endParaRPr>
                    </a:p>
                  </a:txBody>
                  <a:tcPr>
                    <a:lnL w="12700" cmpd="sng">
                      <a:noFill/>
                    </a:lnL>
                    <a:lnR w="38100" cap="flat" cmpd="sng" algn="ctr">
                      <a:solidFill>
                        <a:schemeClr val="bg1"/>
                      </a:solidFill>
                      <a:prstDash val="solid"/>
                      <a:round/>
                      <a:headEnd type="none" w="med" len="med"/>
                      <a:tailEnd type="none" w="med" len="med"/>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alpha val="47000"/>
                      </a:schemeClr>
                    </a:solidFill>
                  </a:tcPr>
                </a:tc>
                <a:tc>
                  <a:txBody>
                    <a:bodyPr/>
                    <a:lstStyle/>
                    <a:p>
                      <a:pPr algn="ctr"/>
                      <a:r>
                        <a:rPr lang="en-GB" sz="1400">
                          <a:solidFill>
                            <a:schemeClr val="bg1"/>
                          </a:solidFill>
                          <a:latin typeface="Fira Sans" panose="020B0503050000020004" pitchFamily="34" charset="0"/>
                        </a:rPr>
                        <a:t>Responsible</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Accountable</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Consulted</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Informed</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INPUT FROM</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OUTPUTS</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extLst>
                  <a:ext uri="{0D108BD9-81ED-4DB2-BD59-A6C34878D82A}">
                    <a16:rowId xmlns:a16="http://schemas.microsoft.com/office/drawing/2014/main" val="852859629"/>
                  </a:ext>
                </a:extLst>
              </a:tr>
              <a:tr h="370840">
                <a:tc>
                  <a:txBody>
                    <a:bodyPr/>
                    <a:lstStyle/>
                    <a:p>
                      <a:r>
                        <a:rPr lang="en-GB" sz="1400">
                          <a:solidFill>
                            <a:schemeClr val="bg1"/>
                          </a:solidFill>
                          <a:latin typeface="Fira Sans" panose="020B0503050000020004" pitchFamily="34" charset="0"/>
                        </a:rPr>
                        <a:t>Agenda</a:t>
                      </a:r>
                    </a:p>
                  </a:txBody>
                  <a:tcPr>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TC</a:t>
                      </a:r>
                    </a:p>
                  </a:txBody>
                  <a:tcPr>
                    <a:lnL w="127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PM</a:t>
                      </a: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endParaRPr lang="en-GB">
                        <a:solidFill>
                          <a:schemeClr val="bg1"/>
                        </a:solidFill>
                        <a:latin typeface="Fira Sans" panose="020B0503050000020004" pitchFamily="34" charset="0"/>
                      </a:endParaRP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PM</a:t>
                      </a: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a:solidFill>
                            <a:schemeClr val="bg1"/>
                          </a:solidFill>
                          <a:latin typeface="Fira Sans" panose="020B0503050000020004" pitchFamily="34" charset="0"/>
                        </a:rPr>
                        <a:t>TC</a:t>
                      </a: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sz="1400">
                          <a:solidFill>
                            <a:schemeClr val="bg1"/>
                          </a:solidFill>
                          <a:latin typeface="Fira Sans" panose="020B0503050000020004" pitchFamily="34" charset="0"/>
                        </a:rPr>
                        <a:t>Workshop Agenda</a:t>
                      </a:r>
                    </a:p>
                  </a:txBody>
                  <a:tcP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accent2">
                        <a:tint val="40000"/>
                        <a:alpha val="61000"/>
                      </a:schemeClr>
                    </a:solidFill>
                  </a:tcPr>
                </a:tc>
                <a:extLst>
                  <a:ext uri="{0D108BD9-81ED-4DB2-BD59-A6C34878D82A}">
                    <a16:rowId xmlns:a16="http://schemas.microsoft.com/office/drawing/2014/main" val="3093090858"/>
                  </a:ext>
                </a:extLst>
              </a:tr>
              <a:tr h="370840">
                <a:tc>
                  <a:txBody>
                    <a:bodyPr/>
                    <a:lstStyle/>
                    <a:p>
                      <a:r>
                        <a:rPr lang="en-GB" sz="1400">
                          <a:solidFill>
                            <a:schemeClr val="bg1"/>
                          </a:solidFill>
                          <a:latin typeface="Fira Sans" panose="020B0503050000020004" pitchFamily="34" charset="0"/>
                        </a:rPr>
                        <a:t>Workshops</a:t>
                      </a:r>
                    </a:p>
                  </a:txBody>
                  <a:tcPr>
                    <a:lnL w="38100" cap="flat" cmpd="sng" algn="ctr">
                      <a:solidFill>
                        <a:schemeClr val="bg1"/>
                      </a:solidFill>
                      <a:prstDash val="solid"/>
                      <a:round/>
                      <a:headEnd type="none" w="med" len="med"/>
                      <a:tailEnd type="none" w="med" len="med"/>
                    </a:lnL>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PM</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CA</a:t>
                      </a:r>
                    </a:p>
                  </a:txBody>
                  <a:tcPr>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solidFill>
                            <a:schemeClr val="bg1"/>
                          </a:solidFill>
                          <a:latin typeface="Fira Sans" panose="020B0503050000020004" pitchFamily="34" charset="0"/>
                        </a:rPr>
                        <a:t>PM</a:t>
                      </a:r>
                    </a:p>
                  </a:txBody>
                  <a:tcPr>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Customer</a:t>
                      </a:r>
                    </a:p>
                  </a:txBody>
                  <a:tcPr>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MPA Doc</a:t>
                      </a:r>
                    </a:p>
                  </a:txBody>
                  <a:tcPr>
                    <a:lnR w="38100" cap="flat" cmpd="sng" algn="ctr">
                      <a:solidFill>
                        <a:schemeClr val="bg1"/>
                      </a:solidFill>
                      <a:prstDash val="solid"/>
                      <a:round/>
                      <a:headEnd type="none" w="med" len="med"/>
                      <a:tailEnd type="none" w="med" len="med"/>
                    </a:lnR>
                    <a:solidFill>
                      <a:schemeClr val="accent2">
                        <a:tint val="20000"/>
                        <a:alpha val="61000"/>
                      </a:schemeClr>
                    </a:solidFill>
                  </a:tcPr>
                </a:tc>
                <a:extLst>
                  <a:ext uri="{0D108BD9-81ED-4DB2-BD59-A6C34878D82A}">
                    <a16:rowId xmlns:a16="http://schemas.microsoft.com/office/drawing/2014/main" val="1543624774"/>
                  </a:ext>
                </a:extLst>
              </a:tr>
              <a:tr h="370840">
                <a:tc>
                  <a:txBody>
                    <a:bodyPr/>
                    <a:lstStyle/>
                    <a:p>
                      <a:r>
                        <a:rPr lang="en-GB" sz="1400">
                          <a:solidFill>
                            <a:schemeClr val="bg1"/>
                          </a:solidFill>
                          <a:latin typeface="Fira Sans" panose="020B0503050000020004" pitchFamily="34" charset="0"/>
                        </a:rPr>
                        <a:t>MPA Document</a:t>
                      </a:r>
                    </a:p>
                  </a:txBody>
                  <a:tcPr>
                    <a:lnL w="38100" cap="flat" cmpd="sng" algn="ctr">
                      <a:solidFill>
                        <a:schemeClr val="bg1"/>
                      </a:solidFill>
                      <a:prstDash val="solid"/>
                      <a:round/>
                      <a:headEnd type="none" w="med" len="med"/>
                      <a:tailEnd type="none" w="med" len="med"/>
                    </a:lnL>
                    <a:solidFill>
                      <a:schemeClr val="accent2">
                        <a:tint val="4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a:t>
                      </a:r>
                    </a:p>
                  </a:txBody>
                  <a:tcPr>
                    <a:solidFill>
                      <a:schemeClr val="accent2">
                        <a:tint val="4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a:t>
                      </a:r>
                    </a:p>
                  </a:txBody>
                  <a:tcPr>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CA/CE</a:t>
                      </a:r>
                    </a:p>
                  </a:txBody>
                  <a:tcPr>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PM/CP/CA</a:t>
                      </a:r>
                    </a:p>
                  </a:txBody>
                  <a:tcPr>
                    <a:solidFill>
                      <a:schemeClr val="accent2">
                        <a:tint val="40000"/>
                        <a:alpha val="61000"/>
                      </a:schemeClr>
                    </a:solidFill>
                  </a:tcPr>
                </a:tc>
                <a:tc>
                  <a:txBody>
                    <a:bodyPr/>
                    <a:lstStyle/>
                    <a:p>
                      <a:pPr algn="ctr"/>
                      <a:r>
                        <a:rPr lang="en-GB" sz="1400">
                          <a:solidFill>
                            <a:schemeClr val="bg1"/>
                          </a:solidFill>
                          <a:latin typeface="Fira Sans" panose="020B0503050000020004" pitchFamily="34" charset="0"/>
                        </a:rPr>
                        <a:t>Customer</a:t>
                      </a:r>
                    </a:p>
                  </a:txBody>
                  <a:tcPr>
                    <a:solidFill>
                      <a:schemeClr val="accent2">
                        <a:tint val="40000"/>
                        <a:alpha val="61000"/>
                      </a:schemeClr>
                    </a:solidFill>
                  </a:tcPr>
                </a:tc>
                <a:tc>
                  <a:txBody>
                    <a:bodyPr/>
                    <a:lstStyle/>
                    <a:p>
                      <a:pPr algn="ctr"/>
                      <a:r>
                        <a:rPr lang="en-GB" sz="1400">
                          <a:solidFill>
                            <a:schemeClr val="bg1"/>
                          </a:solidFill>
                          <a:latin typeface="Fira Sans" panose="020B0503050000020004" pitchFamily="34" charset="0"/>
                        </a:rPr>
                        <a:t>MPA Analysis</a:t>
                      </a:r>
                    </a:p>
                  </a:txBody>
                  <a:tcPr>
                    <a:lnR w="38100" cap="flat" cmpd="sng" algn="ctr">
                      <a:solidFill>
                        <a:schemeClr val="bg1"/>
                      </a:solidFill>
                      <a:prstDash val="solid"/>
                      <a:round/>
                      <a:headEnd type="none" w="med" len="med"/>
                      <a:tailEnd type="none" w="med" len="med"/>
                    </a:lnR>
                    <a:solidFill>
                      <a:schemeClr val="accent2">
                        <a:tint val="40000"/>
                        <a:alpha val="61000"/>
                      </a:schemeClr>
                    </a:solidFill>
                  </a:tcPr>
                </a:tc>
                <a:extLst>
                  <a:ext uri="{0D108BD9-81ED-4DB2-BD59-A6C34878D82A}">
                    <a16:rowId xmlns:a16="http://schemas.microsoft.com/office/drawing/2014/main" val="10618139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bg1"/>
                          </a:solidFill>
                          <a:latin typeface="Fira Sans" panose="020B0503050000020004" pitchFamily="34" charset="0"/>
                        </a:rPr>
                        <a:t>Complexity Assessment</a:t>
                      </a:r>
                    </a:p>
                  </a:txBody>
                  <a:tcPr>
                    <a:lnL w="38100" cap="flat" cmpd="sng" algn="ctr">
                      <a:solidFill>
                        <a:schemeClr val="bg1"/>
                      </a:solidFill>
                      <a:prstDash val="solid"/>
                      <a:round/>
                      <a:headEnd type="none" w="med" len="med"/>
                      <a:tailEnd type="none" w="med" len="med"/>
                    </a:lnL>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a:t>
                      </a:r>
                    </a:p>
                  </a:txBody>
                  <a:tcPr>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a:t>
                      </a:r>
                    </a:p>
                  </a:txBody>
                  <a:tcPr>
                    <a:solidFill>
                      <a:schemeClr val="accent2">
                        <a:tint val="20000"/>
                        <a:alpha val="61000"/>
                      </a:schemeClr>
                    </a:solidFill>
                  </a:tcPr>
                </a:tc>
                <a:tc>
                  <a:txBody>
                    <a:bodyPr/>
                    <a:lstStyle/>
                    <a:p>
                      <a:pPr algn="ctr"/>
                      <a:endParaRPr lang="en-GB">
                        <a:solidFill>
                          <a:schemeClr val="bg1"/>
                        </a:solidFill>
                        <a:latin typeface="Fira Sans" panose="020B0503050000020004" pitchFamily="34" charset="0"/>
                      </a:endParaRP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All</a:t>
                      </a:r>
                    </a:p>
                  </a:txBody>
                  <a:tcPr>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MPA Doc</a:t>
                      </a:r>
                    </a:p>
                  </a:txBody>
                  <a:tcPr>
                    <a:solidFill>
                      <a:schemeClr val="accent2">
                        <a:tint val="20000"/>
                        <a:alpha val="61000"/>
                      </a:schemeClr>
                    </a:solidFill>
                  </a:tcPr>
                </a:tc>
                <a:tc>
                  <a:txBody>
                    <a:bodyPr/>
                    <a:lstStyle/>
                    <a:p>
                      <a:pPr algn="ctr"/>
                      <a:r>
                        <a:rPr lang="en-GB" sz="1200">
                          <a:solidFill>
                            <a:schemeClr val="bg1"/>
                          </a:solidFill>
                          <a:latin typeface="Fira Sans" panose="020B0503050000020004" pitchFamily="34" charset="0"/>
                        </a:rPr>
                        <a:t>MRA – Playback Deck</a:t>
                      </a:r>
                    </a:p>
                  </a:txBody>
                  <a:tcPr>
                    <a:lnR w="38100" cap="flat" cmpd="sng" algn="ctr">
                      <a:solidFill>
                        <a:schemeClr val="bg1"/>
                      </a:solidFill>
                      <a:prstDash val="solid"/>
                      <a:round/>
                      <a:headEnd type="none" w="med" len="med"/>
                      <a:tailEnd type="none" w="med" len="med"/>
                    </a:lnR>
                    <a:solidFill>
                      <a:schemeClr val="accent2">
                        <a:tint val="20000"/>
                        <a:alpha val="61000"/>
                      </a:schemeClr>
                    </a:solidFill>
                  </a:tcPr>
                </a:tc>
                <a:extLst>
                  <a:ext uri="{0D108BD9-81ED-4DB2-BD59-A6C34878D82A}">
                    <a16:rowId xmlns:a16="http://schemas.microsoft.com/office/drawing/2014/main" val="3855878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bg1"/>
                          </a:solidFill>
                          <a:latin typeface="Fira Sans" panose="020B0503050000020004" pitchFamily="34" charset="0"/>
                        </a:rPr>
                        <a:t>High Level Release Plan</a:t>
                      </a:r>
                    </a:p>
                  </a:txBody>
                  <a:tcPr>
                    <a:lnL w="38100" cap="flat" cmpd="sng" algn="ctr">
                      <a:solidFill>
                        <a:schemeClr val="bg1"/>
                      </a:solidFill>
                      <a:prstDash val="solid"/>
                      <a:round/>
                      <a:headEnd type="none" w="med" len="med"/>
                      <a:tailEnd type="none" w="med" len="med"/>
                    </a:lnL>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a:t>
                      </a:r>
                    </a:p>
                  </a:txBody>
                  <a:tcPr>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a:t>
                      </a:r>
                    </a:p>
                  </a:txBody>
                  <a:tcPr>
                    <a:solidFill>
                      <a:schemeClr val="accent2">
                        <a:tint val="20000"/>
                        <a:alpha val="61000"/>
                      </a:schemeClr>
                    </a:solidFill>
                  </a:tcPr>
                </a:tc>
                <a:tc>
                  <a:txBody>
                    <a:bodyPr/>
                    <a:lstStyle/>
                    <a:p>
                      <a:pPr algn="ctr"/>
                      <a:endParaRPr lang="en-GB">
                        <a:solidFill>
                          <a:schemeClr val="bg1"/>
                        </a:solidFill>
                        <a:latin typeface="Fira Sans" panose="020B0503050000020004" pitchFamily="34" charset="0"/>
                      </a:endParaRP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All</a:t>
                      </a:r>
                    </a:p>
                  </a:txBody>
                  <a:tcPr>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Complexity assessment</a:t>
                      </a:r>
                    </a:p>
                  </a:txBody>
                  <a:tcPr>
                    <a:solidFill>
                      <a:schemeClr val="accent2">
                        <a:tint val="20000"/>
                        <a:alpha val="61000"/>
                      </a:schemeClr>
                    </a:solidFill>
                  </a:tcPr>
                </a:tc>
                <a:tc>
                  <a:txBody>
                    <a:bodyPr/>
                    <a:lstStyle/>
                    <a:p>
                      <a:pPr algn="ctr"/>
                      <a:r>
                        <a:rPr lang="en-GB" sz="1200">
                          <a:solidFill>
                            <a:schemeClr val="bg1"/>
                          </a:solidFill>
                          <a:latin typeface="Fira Sans" panose="020B0503050000020004" pitchFamily="34" charset="0"/>
                        </a:rPr>
                        <a:t>High Level Release Plan</a:t>
                      </a:r>
                    </a:p>
                  </a:txBody>
                  <a:tcPr>
                    <a:lnR w="38100" cap="flat" cmpd="sng" algn="ctr">
                      <a:solidFill>
                        <a:schemeClr val="bg1"/>
                      </a:solidFill>
                      <a:prstDash val="solid"/>
                      <a:round/>
                      <a:headEnd type="none" w="med" len="med"/>
                      <a:tailEnd type="none" w="med" len="med"/>
                    </a:lnR>
                    <a:solidFill>
                      <a:schemeClr val="accent2">
                        <a:tint val="20000"/>
                        <a:alpha val="61000"/>
                      </a:schemeClr>
                    </a:solidFill>
                  </a:tcPr>
                </a:tc>
                <a:extLst>
                  <a:ext uri="{0D108BD9-81ED-4DB2-BD59-A6C34878D82A}">
                    <a16:rowId xmlns:a16="http://schemas.microsoft.com/office/drawing/2014/main" val="1367101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bg1"/>
                          </a:solidFill>
                          <a:latin typeface="Fira Sans" panose="020B0503050000020004" pitchFamily="34" charset="0"/>
                        </a:rPr>
                        <a:t>Migration Scope</a:t>
                      </a:r>
                    </a:p>
                  </a:txBody>
                  <a:tcPr>
                    <a:lnL w="38100" cap="flat" cmpd="sng" algn="ctr">
                      <a:solidFill>
                        <a:schemeClr val="bg1"/>
                      </a:solidFill>
                      <a:prstDash val="solid"/>
                      <a:round/>
                      <a:headEnd type="none" w="med" len="med"/>
                      <a:tailEnd type="none" w="med" len="med"/>
                    </a:lnL>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a:t>
                      </a:r>
                    </a:p>
                  </a:txBody>
                  <a:tcPr>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a:t>
                      </a:r>
                    </a:p>
                  </a:txBody>
                  <a:tcPr>
                    <a:solidFill>
                      <a:schemeClr val="accent2">
                        <a:tint val="20000"/>
                        <a:alpha val="61000"/>
                      </a:schemeClr>
                    </a:solidFill>
                  </a:tcPr>
                </a:tc>
                <a:tc>
                  <a:txBody>
                    <a:bodyPr/>
                    <a:lstStyle/>
                    <a:p>
                      <a:pPr algn="ctr"/>
                      <a:endParaRPr lang="en-GB">
                        <a:solidFill>
                          <a:schemeClr val="bg1"/>
                        </a:solidFill>
                        <a:latin typeface="Fira Sans" panose="020B0503050000020004" pitchFamily="34" charset="0"/>
                      </a:endParaRP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All</a:t>
                      </a:r>
                    </a:p>
                  </a:txBody>
                  <a:tcPr>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Customer</a:t>
                      </a:r>
                    </a:p>
                  </a:txBody>
                  <a:tcPr>
                    <a:solidFill>
                      <a:schemeClr val="accent2">
                        <a:tint val="20000"/>
                        <a:alpha val="61000"/>
                      </a:schemeClr>
                    </a:solidFill>
                  </a:tcPr>
                </a:tc>
                <a:tc>
                  <a:txBody>
                    <a:bodyPr/>
                    <a:lstStyle/>
                    <a:p>
                      <a:pPr algn="ctr"/>
                      <a:r>
                        <a:rPr lang="en-GB" sz="1200">
                          <a:solidFill>
                            <a:schemeClr val="bg1"/>
                          </a:solidFill>
                          <a:latin typeface="Fira Sans" panose="020B0503050000020004" pitchFamily="34" charset="0"/>
                        </a:rPr>
                        <a:t>Migration Scope</a:t>
                      </a:r>
                    </a:p>
                  </a:txBody>
                  <a:tcPr>
                    <a:lnR w="38100" cap="flat" cmpd="sng" algn="ctr">
                      <a:solidFill>
                        <a:schemeClr val="bg1"/>
                      </a:solidFill>
                      <a:prstDash val="solid"/>
                      <a:round/>
                      <a:headEnd type="none" w="med" len="med"/>
                      <a:tailEnd type="none" w="med" len="med"/>
                    </a:lnR>
                    <a:solidFill>
                      <a:schemeClr val="accent2">
                        <a:tint val="20000"/>
                        <a:alpha val="61000"/>
                      </a:schemeClr>
                    </a:solidFill>
                  </a:tcPr>
                </a:tc>
                <a:extLst>
                  <a:ext uri="{0D108BD9-81ED-4DB2-BD59-A6C34878D82A}">
                    <a16:rowId xmlns:a16="http://schemas.microsoft.com/office/drawing/2014/main" val="317519859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bg1"/>
                          </a:solidFill>
                          <a:latin typeface="Fira Sans" panose="020B0503050000020004" pitchFamily="34" charset="0"/>
                        </a:rPr>
                        <a:t>First Movers</a:t>
                      </a:r>
                    </a:p>
                  </a:txBody>
                  <a:tcPr>
                    <a:lnL w="38100" cap="flat" cmpd="sng" algn="ctr">
                      <a:solidFill>
                        <a:schemeClr val="bg1"/>
                      </a:solidFill>
                      <a:prstDash val="solid"/>
                      <a:round/>
                      <a:headEnd type="none" w="med" len="med"/>
                      <a:tailEnd type="none" w="med" len="med"/>
                    </a:lnL>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a:t>
                      </a:r>
                    </a:p>
                  </a:txBody>
                  <a:tcPr>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Customer</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All</a:t>
                      </a:r>
                    </a:p>
                  </a:txBody>
                  <a:tcPr>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MPA Doc</a:t>
                      </a:r>
                    </a:p>
                  </a:txBody>
                  <a:tcPr>
                    <a:solidFill>
                      <a:schemeClr val="accent2">
                        <a:tint val="20000"/>
                        <a:alpha val="61000"/>
                      </a:schemeClr>
                    </a:solidFill>
                  </a:tcPr>
                </a:tc>
                <a:tc>
                  <a:txBody>
                    <a:bodyPr/>
                    <a:lstStyle/>
                    <a:p>
                      <a:pPr algn="ctr"/>
                      <a:r>
                        <a:rPr lang="en-GB" sz="1200">
                          <a:solidFill>
                            <a:schemeClr val="bg1"/>
                          </a:solidFill>
                          <a:latin typeface="Fira Sans" panose="020B0503050000020004" pitchFamily="34" charset="0"/>
                        </a:rPr>
                        <a:t>First Movers identified</a:t>
                      </a:r>
                    </a:p>
                  </a:txBody>
                  <a:tcPr>
                    <a:lnR w="38100" cap="flat" cmpd="sng" algn="ctr">
                      <a:solidFill>
                        <a:schemeClr val="bg1"/>
                      </a:solidFill>
                      <a:prstDash val="solid"/>
                      <a:round/>
                      <a:headEnd type="none" w="med" len="med"/>
                      <a:tailEnd type="none" w="med" len="med"/>
                    </a:lnR>
                    <a:solidFill>
                      <a:schemeClr val="accent2">
                        <a:tint val="20000"/>
                        <a:alpha val="61000"/>
                      </a:schemeClr>
                    </a:solidFill>
                  </a:tcPr>
                </a:tc>
                <a:extLst>
                  <a:ext uri="{0D108BD9-81ED-4DB2-BD59-A6C34878D82A}">
                    <a16:rowId xmlns:a16="http://schemas.microsoft.com/office/drawing/2014/main" val="37055224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bg1"/>
                          </a:solidFill>
                          <a:latin typeface="Fira Sans" panose="020B0503050000020004" pitchFamily="34" charset="0"/>
                        </a:rPr>
                        <a:t>App to Server Mapping (Customer)</a:t>
                      </a:r>
                    </a:p>
                  </a:txBody>
                  <a:tcPr>
                    <a:lnL w="38100" cap="flat" cmpd="sng" algn="ctr">
                      <a:solidFill>
                        <a:schemeClr val="bg1"/>
                      </a:solidFill>
                      <a:prstDash val="solid"/>
                      <a:round/>
                      <a:headEnd type="none" w="med" len="med"/>
                      <a:tailEnd type="none" w="med" len="med"/>
                    </a:lnL>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a:t>
                      </a:r>
                    </a:p>
                  </a:txBody>
                  <a:tcPr>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Customer</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All</a:t>
                      </a:r>
                    </a:p>
                  </a:txBody>
                  <a:tcPr>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Customer</a:t>
                      </a:r>
                    </a:p>
                  </a:txBody>
                  <a:tcPr>
                    <a:solidFill>
                      <a:schemeClr val="accent2">
                        <a:tint val="20000"/>
                        <a:alpha val="61000"/>
                      </a:schemeClr>
                    </a:solidFill>
                  </a:tcPr>
                </a:tc>
                <a:tc>
                  <a:txBody>
                    <a:bodyPr/>
                    <a:lstStyle/>
                    <a:p>
                      <a:pPr algn="ctr"/>
                      <a:r>
                        <a:rPr lang="en-GB" sz="1200">
                          <a:solidFill>
                            <a:schemeClr val="bg1"/>
                          </a:solidFill>
                          <a:latin typeface="Fira Sans" panose="020B0503050000020004" pitchFamily="34" charset="0"/>
                        </a:rPr>
                        <a:t>Initial app to server mapping</a:t>
                      </a:r>
                    </a:p>
                  </a:txBody>
                  <a:tcPr>
                    <a:lnR w="38100" cap="flat" cmpd="sng" algn="ctr">
                      <a:solidFill>
                        <a:schemeClr val="bg1"/>
                      </a:solidFill>
                      <a:prstDash val="solid"/>
                      <a:round/>
                      <a:headEnd type="none" w="med" len="med"/>
                      <a:tailEnd type="none" w="med" len="med"/>
                    </a:lnR>
                    <a:solidFill>
                      <a:schemeClr val="accent2">
                        <a:tint val="20000"/>
                        <a:alpha val="61000"/>
                      </a:schemeClr>
                    </a:solidFill>
                  </a:tcPr>
                </a:tc>
                <a:extLst>
                  <a:ext uri="{0D108BD9-81ED-4DB2-BD59-A6C34878D82A}">
                    <a16:rowId xmlns:a16="http://schemas.microsoft.com/office/drawing/2014/main" val="26935379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bg1"/>
                          </a:solidFill>
                          <a:latin typeface="Fira Sans" panose="020B0503050000020004" pitchFamily="34" charset="0"/>
                        </a:rPr>
                        <a:t>Migration Strategy</a:t>
                      </a:r>
                    </a:p>
                  </a:txBody>
                  <a:tcPr>
                    <a:lnL w="38100" cap="flat" cmpd="sng" algn="ctr">
                      <a:solidFill>
                        <a:schemeClr val="bg1"/>
                      </a:solidFill>
                      <a:prstDash val="solid"/>
                      <a:round/>
                      <a:headEnd type="none" w="med" len="med"/>
                      <a:tailEnd type="none" w="med" len="med"/>
                    </a:lnL>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CA</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All</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a:solidFill>
                            <a:schemeClr val="bg1"/>
                          </a:solidFill>
                          <a:latin typeface="Fira Sans" panose="020B0503050000020004" pitchFamily="34" charset="0"/>
                        </a:rPr>
                        <a:t>MPA Doc</a:t>
                      </a:r>
                    </a:p>
                    <a:p>
                      <a:pPr algn="ctr"/>
                      <a:r>
                        <a:rPr lang="en-GB" sz="1400">
                          <a:solidFill>
                            <a:schemeClr val="bg1"/>
                          </a:solidFill>
                          <a:latin typeface="Fira Sans" panose="020B0503050000020004" pitchFamily="34" charset="0"/>
                        </a:rPr>
                        <a:t>/Customer</a:t>
                      </a:r>
                    </a:p>
                  </a:txBody>
                  <a:tcPr>
                    <a:lnB w="38100" cap="flat" cmpd="sng" algn="ctr">
                      <a:solidFill>
                        <a:schemeClr val="bg1"/>
                      </a:solidFill>
                      <a:prstDash val="solid"/>
                      <a:round/>
                      <a:headEnd type="none" w="med" len="med"/>
                      <a:tailEnd type="none" w="med" len="med"/>
                    </a:lnB>
                    <a:solidFill>
                      <a:schemeClr val="accent2">
                        <a:tint val="20000"/>
                        <a:alpha val="61000"/>
                      </a:schemeClr>
                    </a:solidFill>
                  </a:tcPr>
                </a:tc>
                <a:tc>
                  <a:txBody>
                    <a:bodyPr/>
                    <a:lstStyle/>
                    <a:p>
                      <a:pPr algn="ctr"/>
                      <a:r>
                        <a:rPr lang="en-GB" sz="1200">
                          <a:solidFill>
                            <a:schemeClr val="bg1"/>
                          </a:solidFill>
                          <a:latin typeface="Fira Sans" panose="020B0503050000020004" pitchFamily="34" charset="0"/>
                        </a:rPr>
                        <a:t>Migration Strategy per app</a:t>
                      </a:r>
                    </a:p>
                  </a:txBody>
                  <a:tcPr>
                    <a:lnR w="381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chemeClr val="accent2">
                        <a:tint val="20000"/>
                        <a:alpha val="61000"/>
                      </a:schemeClr>
                    </a:solidFill>
                  </a:tcPr>
                </a:tc>
                <a:extLst>
                  <a:ext uri="{0D108BD9-81ED-4DB2-BD59-A6C34878D82A}">
                    <a16:rowId xmlns:a16="http://schemas.microsoft.com/office/drawing/2014/main" val="3814059468"/>
                  </a:ext>
                </a:extLst>
              </a:tr>
            </a:tbl>
          </a:graphicData>
        </a:graphic>
      </p:graphicFrame>
      <p:sp>
        <p:nvSpPr>
          <p:cNvPr id="6" name="TextBox 5">
            <a:extLst>
              <a:ext uri="{FF2B5EF4-FFF2-40B4-BE49-F238E27FC236}">
                <a16:creationId xmlns:a16="http://schemas.microsoft.com/office/drawing/2014/main" id="{674355DF-D443-1D4F-A319-FE5D325683E5}"/>
              </a:ext>
            </a:extLst>
          </p:cNvPr>
          <p:cNvSpPr txBox="1"/>
          <p:nvPr/>
        </p:nvSpPr>
        <p:spPr>
          <a:xfrm>
            <a:off x="3566622" y="5212283"/>
            <a:ext cx="6782626" cy="1477328"/>
          </a:xfrm>
          <a:prstGeom prst="rect">
            <a:avLst/>
          </a:prstGeom>
          <a:noFill/>
        </p:spPr>
        <p:txBody>
          <a:bodyPr wrap="non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PM – Project Manager</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 – Technical Consultant </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CA – Cloud Architect</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CE – Cloud Engineer </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CP – Client Partner </a:t>
            </a:r>
            <a:r>
              <a:rPr kumimoji="0" lang="en-GB" sz="1800" b="0" i="0" u="none" strike="noStrike" kern="1200" cap="none" spc="0" normalizeH="0" baseline="0" noProof="0">
                <a:ln>
                  <a:noFill/>
                </a:ln>
                <a:solidFill>
                  <a:srgbClr val="FF0000"/>
                </a:solidFill>
                <a:effectLst/>
                <a:uLnTx/>
                <a:uFillTx/>
                <a:latin typeface="Fira Sans" panose="020B0503050000020004" pitchFamily="34" charset="0"/>
                <a:ea typeface="+mn-ea"/>
                <a:cs typeface="+mn-cs"/>
              </a:rPr>
              <a:t>*Are client partners on these engagements?</a:t>
            </a:r>
            <a:endPar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p:txBody>
      </p:sp>
    </p:spTree>
    <p:extLst>
      <p:ext uri="{BB962C8B-B14F-4D97-AF65-F5344CB8AC3E}">
        <p14:creationId xmlns:p14="http://schemas.microsoft.com/office/powerpoint/2010/main" val="42562101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46FC2B-8F51-79CA-4880-D515F9666051}"/>
              </a:ext>
            </a:extLst>
          </p:cNvPr>
          <p:cNvSpPr>
            <a:spLocks noGrp="1"/>
          </p:cNvSpPr>
          <p:nvPr>
            <p:ph type="title"/>
          </p:nvPr>
        </p:nvSpPr>
        <p:spPr>
          <a:xfrm>
            <a:off x="334497" y="268589"/>
            <a:ext cx="10964874" cy="498919"/>
          </a:xfrm>
        </p:spPr>
        <p:txBody>
          <a:bodyPr/>
          <a:lstStyle/>
          <a:p>
            <a:r>
              <a:rPr lang="en-GB"/>
              <a:t>RACI for AMM Assess – Business Case / TCO / Playback</a:t>
            </a:r>
          </a:p>
        </p:txBody>
      </p:sp>
      <p:sp>
        <p:nvSpPr>
          <p:cNvPr id="5" name="Slide Number Placeholder 4">
            <a:extLst>
              <a:ext uri="{FF2B5EF4-FFF2-40B4-BE49-F238E27FC236}">
                <a16:creationId xmlns:a16="http://schemas.microsoft.com/office/drawing/2014/main" id="{CEA875DC-284F-0BDE-7B61-89B94748114B}"/>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34</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graphicFrame>
        <p:nvGraphicFramePr>
          <p:cNvPr id="3" name="Table 5">
            <a:extLst>
              <a:ext uri="{FF2B5EF4-FFF2-40B4-BE49-F238E27FC236}">
                <a16:creationId xmlns:a16="http://schemas.microsoft.com/office/drawing/2014/main" id="{A0CEC524-5E0C-7F18-B891-E029876351BD}"/>
              </a:ext>
            </a:extLst>
          </p:cNvPr>
          <p:cNvGraphicFramePr>
            <a:graphicFrameLocks noGrp="1"/>
          </p:cNvGraphicFramePr>
          <p:nvPr/>
        </p:nvGraphicFramePr>
        <p:xfrm>
          <a:off x="643196" y="1989135"/>
          <a:ext cx="11175607" cy="2519680"/>
        </p:xfrm>
        <a:graphic>
          <a:graphicData uri="http://schemas.openxmlformats.org/drawingml/2006/table">
            <a:tbl>
              <a:tblPr firstRow="1" bandRow="1">
                <a:tableStyleId>{21E4AEA4-8DFA-4A89-87EB-49C32662AFE0}</a:tableStyleId>
              </a:tblPr>
              <a:tblGrid>
                <a:gridCol w="2332917">
                  <a:extLst>
                    <a:ext uri="{9D8B030D-6E8A-4147-A177-3AD203B41FA5}">
                      <a16:colId xmlns:a16="http://schemas.microsoft.com/office/drawing/2014/main" val="253125663"/>
                    </a:ext>
                  </a:extLst>
                </a:gridCol>
                <a:gridCol w="1338529">
                  <a:extLst>
                    <a:ext uri="{9D8B030D-6E8A-4147-A177-3AD203B41FA5}">
                      <a16:colId xmlns:a16="http://schemas.microsoft.com/office/drawing/2014/main" val="2871973893"/>
                    </a:ext>
                  </a:extLst>
                </a:gridCol>
                <a:gridCol w="1393371">
                  <a:extLst>
                    <a:ext uri="{9D8B030D-6E8A-4147-A177-3AD203B41FA5}">
                      <a16:colId xmlns:a16="http://schemas.microsoft.com/office/drawing/2014/main" val="493670529"/>
                    </a:ext>
                  </a:extLst>
                </a:gridCol>
                <a:gridCol w="1277201">
                  <a:extLst>
                    <a:ext uri="{9D8B030D-6E8A-4147-A177-3AD203B41FA5}">
                      <a16:colId xmlns:a16="http://schemas.microsoft.com/office/drawing/2014/main" val="196892589"/>
                    </a:ext>
                  </a:extLst>
                </a:gridCol>
                <a:gridCol w="1640558">
                  <a:extLst>
                    <a:ext uri="{9D8B030D-6E8A-4147-A177-3AD203B41FA5}">
                      <a16:colId xmlns:a16="http://schemas.microsoft.com/office/drawing/2014/main" val="1904935991"/>
                    </a:ext>
                  </a:extLst>
                </a:gridCol>
                <a:gridCol w="1350234">
                  <a:extLst>
                    <a:ext uri="{9D8B030D-6E8A-4147-A177-3AD203B41FA5}">
                      <a16:colId xmlns:a16="http://schemas.microsoft.com/office/drawing/2014/main" val="807001075"/>
                    </a:ext>
                  </a:extLst>
                </a:gridCol>
                <a:gridCol w="1842797">
                  <a:extLst>
                    <a:ext uri="{9D8B030D-6E8A-4147-A177-3AD203B41FA5}">
                      <a16:colId xmlns:a16="http://schemas.microsoft.com/office/drawing/2014/main" val="563325563"/>
                    </a:ext>
                  </a:extLst>
                </a:gridCol>
              </a:tblGrid>
              <a:tr h="370840">
                <a:tc>
                  <a:txBody>
                    <a:bodyPr/>
                    <a:lstStyle/>
                    <a:p>
                      <a:pPr algn="ctr"/>
                      <a:endParaRPr lang="en-GB" sz="1400">
                        <a:latin typeface="Fira Sans" panose="020B0503050000020004" pitchFamily="34" charset="0"/>
                      </a:endParaRPr>
                    </a:p>
                  </a:txBody>
                  <a:tcPr>
                    <a:lnL w="12700" cmpd="sng">
                      <a:noFill/>
                    </a:lnL>
                    <a:lnR w="38100" cap="flat" cmpd="sng" algn="ctr">
                      <a:solidFill>
                        <a:schemeClr val="bg1"/>
                      </a:solidFill>
                      <a:prstDash val="solid"/>
                      <a:round/>
                      <a:headEnd type="none" w="med" len="med"/>
                      <a:tailEnd type="none" w="med" len="med"/>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alpha val="47000"/>
                      </a:schemeClr>
                    </a:solidFill>
                  </a:tcPr>
                </a:tc>
                <a:tc>
                  <a:txBody>
                    <a:bodyPr/>
                    <a:lstStyle/>
                    <a:p>
                      <a:pPr algn="ctr"/>
                      <a:r>
                        <a:rPr lang="en-GB" sz="1400">
                          <a:solidFill>
                            <a:schemeClr val="bg1"/>
                          </a:solidFill>
                          <a:latin typeface="Fira Sans" panose="020B0503050000020004" pitchFamily="34" charset="0"/>
                        </a:rPr>
                        <a:t>Responsible</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Accountable</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Consulted</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Informed</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INPUT FROM</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tc>
                  <a:txBody>
                    <a:bodyPr/>
                    <a:lstStyle/>
                    <a:p>
                      <a:pPr algn="ctr"/>
                      <a:r>
                        <a:rPr lang="en-GB" sz="1400">
                          <a:solidFill>
                            <a:schemeClr val="bg1"/>
                          </a:solidFill>
                          <a:latin typeface="Fira Sans" panose="020B0503050000020004" pitchFamily="34" charset="0"/>
                        </a:rPr>
                        <a:t>OUTPUTS</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alpha val="47000"/>
                      </a:schemeClr>
                    </a:solidFill>
                  </a:tcPr>
                </a:tc>
                <a:extLst>
                  <a:ext uri="{0D108BD9-81ED-4DB2-BD59-A6C34878D82A}">
                    <a16:rowId xmlns:a16="http://schemas.microsoft.com/office/drawing/2014/main" val="852859629"/>
                  </a:ext>
                </a:extLst>
              </a:tr>
              <a:tr h="370840">
                <a:tc>
                  <a:txBody>
                    <a:bodyPr/>
                    <a:lstStyle/>
                    <a:p>
                      <a:r>
                        <a:rPr lang="en-GB" sz="1400">
                          <a:solidFill>
                            <a:schemeClr val="bg1"/>
                          </a:solidFill>
                          <a:latin typeface="Fira Sans" panose="020B0503050000020004" pitchFamily="34" charset="0"/>
                        </a:rPr>
                        <a:t>Agenda</a:t>
                      </a:r>
                    </a:p>
                  </a:txBody>
                  <a:tcPr>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CP?</a:t>
                      </a:r>
                    </a:p>
                  </a:txBody>
                  <a:tcPr>
                    <a:lnL w="127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CP</a:t>
                      </a: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endParaRPr lang="en-GB">
                        <a:solidFill>
                          <a:schemeClr val="bg1"/>
                        </a:solidFill>
                        <a:latin typeface="Fira Sans" panose="020B0503050000020004" pitchFamily="34" charset="0"/>
                      </a:endParaRP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PM</a:t>
                      </a: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a:solidFill>
                            <a:schemeClr val="bg1"/>
                          </a:solidFill>
                          <a:latin typeface="Fira Sans" panose="020B0503050000020004" pitchFamily="34" charset="0"/>
                        </a:rPr>
                        <a:t>CP</a:t>
                      </a:r>
                    </a:p>
                  </a:txBody>
                  <a:tcPr>
                    <a:lnT w="381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sz="1400">
                          <a:solidFill>
                            <a:schemeClr val="bg1"/>
                          </a:solidFill>
                          <a:latin typeface="Fira Sans" panose="020B0503050000020004" pitchFamily="34" charset="0"/>
                        </a:rPr>
                        <a:t>Workshop Agenda</a:t>
                      </a:r>
                    </a:p>
                  </a:txBody>
                  <a:tcP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accent2">
                        <a:tint val="40000"/>
                        <a:alpha val="61000"/>
                      </a:schemeClr>
                    </a:solidFill>
                  </a:tcPr>
                </a:tc>
                <a:extLst>
                  <a:ext uri="{0D108BD9-81ED-4DB2-BD59-A6C34878D82A}">
                    <a16:rowId xmlns:a16="http://schemas.microsoft.com/office/drawing/2014/main" val="3093090858"/>
                  </a:ext>
                </a:extLst>
              </a:tr>
              <a:tr h="370840">
                <a:tc>
                  <a:txBody>
                    <a:bodyPr/>
                    <a:lstStyle/>
                    <a:p>
                      <a:r>
                        <a:rPr lang="en-GB" sz="1400">
                          <a:solidFill>
                            <a:schemeClr val="bg1"/>
                          </a:solidFill>
                          <a:latin typeface="Fira Sans" panose="020B0503050000020004" pitchFamily="34" charset="0"/>
                        </a:rPr>
                        <a:t>Business Case Workshops</a:t>
                      </a:r>
                    </a:p>
                  </a:txBody>
                  <a:tcPr>
                    <a:lnL w="38100" cap="flat" cmpd="sng" algn="ctr">
                      <a:solidFill>
                        <a:schemeClr val="bg1"/>
                      </a:solidFill>
                      <a:prstDash val="solid"/>
                      <a:round/>
                      <a:headEnd type="none" w="med" len="med"/>
                      <a:tailEnd type="none" w="med" len="med"/>
                    </a:lnL>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CP</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CP</a:t>
                      </a:r>
                    </a:p>
                  </a:txBody>
                  <a:tcPr>
                    <a:solidFill>
                      <a:schemeClr val="accent2">
                        <a:tint val="20000"/>
                        <a:alpha val="61000"/>
                      </a:schemeClr>
                    </a:solidFill>
                  </a:tcPr>
                </a:tc>
                <a:tc>
                  <a:txBody>
                    <a:bodyPr/>
                    <a:lstStyle/>
                    <a:p>
                      <a:pPr algn="ctr"/>
                      <a:endParaRPr lang="en-GB">
                        <a:solidFill>
                          <a:schemeClr val="bg1"/>
                        </a:solidFill>
                        <a:latin typeface="Fira Sans" panose="020B0503050000020004" pitchFamily="34" charset="0"/>
                      </a:endParaRPr>
                    </a:p>
                  </a:txBody>
                  <a:tcPr>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solidFill>
                            <a:schemeClr val="bg1"/>
                          </a:solidFill>
                          <a:latin typeface="Fira Sans" panose="020B0503050000020004" pitchFamily="34" charset="0"/>
                        </a:rPr>
                        <a:t>PM</a:t>
                      </a:r>
                    </a:p>
                  </a:txBody>
                  <a:tcPr>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Customer</a:t>
                      </a:r>
                    </a:p>
                  </a:txBody>
                  <a:tcPr>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Business case base</a:t>
                      </a:r>
                    </a:p>
                  </a:txBody>
                  <a:tcPr>
                    <a:lnR w="38100" cap="flat" cmpd="sng" algn="ctr">
                      <a:solidFill>
                        <a:schemeClr val="bg1"/>
                      </a:solidFill>
                      <a:prstDash val="solid"/>
                      <a:round/>
                      <a:headEnd type="none" w="med" len="med"/>
                      <a:tailEnd type="none" w="med" len="med"/>
                    </a:lnR>
                    <a:solidFill>
                      <a:schemeClr val="accent2">
                        <a:tint val="20000"/>
                        <a:alpha val="61000"/>
                      </a:schemeClr>
                    </a:solidFill>
                  </a:tcPr>
                </a:tc>
                <a:extLst>
                  <a:ext uri="{0D108BD9-81ED-4DB2-BD59-A6C34878D82A}">
                    <a16:rowId xmlns:a16="http://schemas.microsoft.com/office/drawing/2014/main" val="1543624774"/>
                  </a:ext>
                </a:extLst>
              </a:tr>
              <a:tr h="370840">
                <a:tc>
                  <a:txBody>
                    <a:bodyPr/>
                    <a:lstStyle/>
                    <a:p>
                      <a:r>
                        <a:rPr lang="en-GB" sz="1400">
                          <a:solidFill>
                            <a:schemeClr val="bg1"/>
                          </a:solidFill>
                          <a:latin typeface="Fira Sans" panose="020B0503050000020004" pitchFamily="34" charset="0"/>
                        </a:rPr>
                        <a:t>Business Case Build</a:t>
                      </a:r>
                    </a:p>
                  </a:txBody>
                  <a:tcPr>
                    <a:lnL w="38100" cap="flat" cmpd="sng" algn="ctr">
                      <a:solidFill>
                        <a:schemeClr val="bg1"/>
                      </a:solidFill>
                      <a:prstDash val="solid"/>
                      <a:round/>
                      <a:headEnd type="none" w="med" len="med"/>
                      <a:tailEnd type="none" w="med" len="med"/>
                    </a:lnL>
                    <a:solidFill>
                      <a:schemeClr val="accent2">
                        <a:tint val="4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All</a:t>
                      </a:r>
                    </a:p>
                  </a:txBody>
                  <a:tcPr>
                    <a:solidFill>
                      <a:schemeClr val="accent2">
                        <a:tint val="4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CP</a:t>
                      </a:r>
                    </a:p>
                  </a:txBody>
                  <a:tcPr>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All</a:t>
                      </a:r>
                    </a:p>
                  </a:txBody>
                  <a:tcPr>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All</a:t>
                      </a:r>
                    </a:p>
                  </a:txBody>
                  <a:tcPr>
                    <a:solidFill>
                      <a:schemeClr val="accent2">
                        <a:tint val="40000"/>
                        <a:alpha val="61000"/>
                      </a:schemeClr>
                    </a:solidFill>
                  </a:tcPr>
                </a:tc>
                <a:tc>
                  <a:txBody>
                    <a:bodyPr/>
                    <a:lstStyle/>
                    <a:p>
                      <a:pPr algn="ctr"/>
                      <a:r>
                        <a:rPr lang="en-GB" sz="1400">
                          <a:solidFill>
                            <a:schemeClr val="bg1"/>
                          </a:solidFill>
                          <a:latin typeface="Fira Sans" panose="020B0503050000020004" pitchFamily="34" charset="0"/>
                        </a:rPr>
                        <a:t>MPA / TCO </a:t>
                      </a:r>
                    </a:p>
                  </a:txBody>
                  <a:tcPr>
                    <a:solidFill>
                      <a:schemeClr val="accent2">
                        <a:tint val="40000"/>
                        <a:alpha val="61000"/>
                      </a:schemeClr>
                    </a:solidFill>
                  </a:tcPr>
                </a:tc>
                <a:tc>
                  <a:txBody>
                    <a:bodyPr/>
                    <a:lstStyle/>
                    <a:p>
                      <a:pPr algn="ctr"/>
                      <a:r>
                        <a:rPr lang="en-GB" sz="1400">
                          <a:solidFill>
                            <a:schemeClr val="bg1"/>
                          </a:solidFill>
                          <a:latin typeface="Fira Sans" panose="020B0503050000020004" pitchFamily="34" charset="0"/>
                        </a:rPr>
                        <a:t>Business Case Doc</a:t>
                      </a:r>
                    </a:p>
                  </a:txBody>
                  <a:tcPr>
                    <a:lnR w="38100" cap="flat" cmpd="sng" algn="ctr">
                      <a:solidFill>
                        <a:schemeClr val="bg1"/>
                      </a:solidFill>
                      <a:prstDash val="solid"/>
                      <a:round/>
                      <a:headEnd type="none" w="med" len="med"/>
                      <a:tailEnd type="none" w="med" len="med"/>
                    </a:lnR>
                    <a:solidFill>
                      <a:schemeClr val="accent2">
                        <a:tint val="40000"/>
                        <a:alpha val="61000"/>
                      </a:schemeClr>
                    </a:solidFill>
                  </a:tcPr>
                </a:tc>
                <a:extLst>
                  <a:ext uri="{0D108BD9-81ED-4DB2-BD59-A6C34878D82A}">
                    <a16:rowId xmlns:a16="http://schemas.microsoft.com/office/drawing/2014/main" val="10618139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bg1"/>
                          </a:solidFill>
                          <a:latin typeface="Fira Sans" panose="020B0503050000020004" pitchFamily="34" charset="0"/>
                        </a:rPr>
                        <a:t>TCO</a:t>
                      </a:r>
                    </a:p>
                  </a:txBody>
                  <a:tcPr>
                    <a:lnL w="38100" cap="flat" cmpd="sng" algn="ctr">
                      <a:solidFill>
                        <a:schemeClr val="bg1"/>
                      </a:solidFill>
                      <a:prstDash val="solid"/>
                      <a:round/>
                      <a:headEnd type="none" w="med" len="med"/>
                      <a:tailEnd type="none" w="med" len="med"/>
                    </a:lnL>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TC/CA/CE</a:t>
                      </a:r>
                    </a:p>
                  </a:txBody>
                  <a:tcPr>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CP</a:t>
                      </a:r>
                    </a:p>
                  </a:txBody>
                  <a:tcPr>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TC/CA/CE</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CP</a:t>
                      </a:r>
                    </a:p>
                  </a:txBody>
                  <a:tcPr>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Team Deliverables</a:t>
                      </a:r>
                    </a:p>
                  </a:txBody>
                  <a:tcPr>
                    <a:solidFill>
                      <a:schemeClr val="accent2">
                        <a:tint val="20000"/>
                        <a:alpha val="61000"/>
                      </a:schemeClr>
                    </a:solidFill>
                  </a:tcPr>
                </a:tc>
                <a:tc>
                  <a:txBody>
                    <a:bodyPr/>
                    <a:lstStyle/>
                    <a:p>
                      <a:pPr algn="ctr"/>
                      <a:r>
                        <a:rPr lang="en-GB" sz="1200">
                          <a:solidFill>
                            <a:schemeClr val="bg1"/>
                          </a:solidFill>
                          <a:latin typeface="Fira Sans" panose="020B0503050000020004" pitchFamily="34" charset="0"/>
                        </a:rPr>
                        <a:t>TCO for business case / playback</a:t>
                      </a:r>
                    </a:p>
                  </a:txBody>
                  <a:tcPr>
                    <a:lnR w="38100" cap="flat" cmpd="sng" algn="ctr">
                      <a:solidFill>
                        <a:schemeClr val="bg1"/>
                      </a:solidFill>
                      <a:prstDash val="solid"/>
                      <a:round/>
                      <a:headEnd type="none" w="med" len="med"/>
                      <a:tailEnd type="none" w="med" len="med"/>
                    </a:lnR>
                    <a:solidFill>
                      <a:schemeClr val="accent2">
                        <a:tint val="20000"/>
                        <a:alpha val="61000"/>
                      </a:schemeClr>
                    </a:solidFill>
                  </a:tcPr>
                </a:tc>
                <a:extLst>
                  <a:ext uri="{0D108BD9-81ED-4DB2-BD59-A6C34878D82A}">
                    <a16:rowId xmlns:a16="http://schemas.microsoft.com/office/drawing/2014/main" val="3855878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bg1"/>
                          </a:solidFill>
                          <a:latin typeface="Fira Sans" panose="020B0503050000020004" pitchFamily="34" charset="0"/>
                        </a:rPr>
                        <a:t>Playback</a:t>
                      </a:r>
                    </a:p>
                  </a:txBody>
                  <a:tcPr>
                    <a:lnL w="38100" cap="flat" cmpd="sng" algn="ctr">
                      <a:solidFill>
                        <a:schemeClr val="bg1"/>
                      </a:solidFill>
                      <a:prstDash val="solid"/>
                      <a:round/>
                      <a:headEnd type="none" w="med" len="med"/>
                      <a:tailEnd type="none" w="med" len="med"/>
                    </a:lnL>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All</a:t>
                      </a:r>
                    </a:p>
                  </a:txBody>
                  <a:tcPr>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PM</a:t>
                      </a:r>
                    </a:p>
                  </a:txBody>
                  <a:tcPr>
                    <a:solidFill>
                      <a:schemeClr val="accent2">
                        <a:tint val="20000"/>
                        <a:alpha val="61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All</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All</a:t>
                      </a:r>
                    </a:p>
                  </a:txBody>
                  <a:tcPr>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Team Deliverables</a:t>
                      </a:r>
                    </a:p>
                  </a:txBody>
                  <a:tcPr>
                    <a:solidFill>
                      <a:schemeClr val="accent2">
                        <a:tint val="20000"/>
                        <a:alpha val="61000"/>
                      </a:schemeClr>
                    </a:solidFill>
                  </a:tcPr>
                </a:tc>
                <a:tc>
                  <a:txBody>
                    <a:bodyPr/>
                    <a:lstStyle/>
                    <a:p>
                      <a:pPr algn="ctr"/>
                      <a:r>
                        <a:rPr lang="en-GB" sz="1200">
                          <a:solidFill>
                            <a:schemeClr val="bg1"/>
                          </a:solidFill>
                          <a:latin typeface="Fira Sans" panose="020B0503050000020004" pitchFamily="34" charset="0"/>
                        </a:rPr>
                        <a:t>Playback for Customer</a:t>
                      </a:r>
                    </a:p>
                  </a:txBody>
                  <a:tcPr>
                    <a:lnR w="38100" cap="flat" cmpd="sng" algn="ctr">
                      <a:solidFill>
                        <a:schemeClr val="bg1"/>
                      </a:solidFill>
                      <a:prstDash val="solid"/>
                      <a:round/>
                      <a:headEnd type="none" w="med" len="med"/>
                      <a:tailEnd type="none" w="med" len="med"/>
                    </a:lnR>
                    <a:solidFill>
                      <a:schemeClr val="accent2">
                        <a:tint val="20000"/>
                        <a:alpha val="61000"/>
                      </a:schemeClr>
                    </a:solidFill>
                  </a:tcPr>
                </a:tc>
                <a:extLst>
                  <a:ext uri="{0D108BD9-81ED-4DB2-BD59-A6C34878D82A}">
                    <a16:rowId xmlns:a16="http://schemas.microsoft.com/office/drawing/2014/main" val="488240501"/>
                  </a:ext>
                </a:extLst>
              </a:tr>
            </a:tbl>
          </a:graphicData>
        </a:graphic>
      </p:graphicFrame>
      <p:sp>
        <p:nvSpPr>
          <p:cNvPr id="6" name="TextBox 5">
            <a:extLst>
              <a:ext uri="{FF2B5EF4-FFF2-40B4-BE49-F238E27FC236}">
                <a16:creationId xmlns:a16="http://schemas.microsoft.com/office/drawing/2014/main" id="{674355DF-D443-1D4F-A319-FE5D325683E5}"/>
              </a:ext>
            </a:extLst>
          </p:cNvPr>
          <p:cNvSpPr txBox="1"/>
          <p:nvPr/>
        </p:nvSpPr>
        <p:spPr>
          <a:xfrm>
            <a:off x="3566622" y="5212283"/>
            <a:ext cx="6888424" cy="1477328"/>
          </a:xfrm>
          <a:prstGeom prst="rect">
            <a:avLst/>
          </a:prstGeom>
          <a:noFill/>
        </p:spPr>
        <p:txBody>
          <a:bodyPr wrap="non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PM – Project Manager</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 – Technical Consultant </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CA – Cloud Architect</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CE – Cloud Engineer </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CP – Client Partner? </a:t>
            </a:r>
            <a:r>
              <a:rPr kumimoji="0" lang="en-GB" sz="1800" b="0" i="0" u="none" strike="noStrike" kern="1200" cap="none" spc="0" normalizeH="0" baseline="0" noProof="0">
                <a:ln>
                  <a:noFill/>
                </a:ln>
                <a:solidFill>
                  <a:srgbClr val="FF0000"/>
                </a:solidFill>
                <a:effectLst/>
                <a:uLnTx/>
                <a:uFillTx/>
                <a:latin typeface="Fira Sans" panose="020B0503050000020004" pitchFamily="34" charset="0"/>
                <a:ea typeface="+mn-ea"/>
                <a:cs typeface="+mn-cs"/>
              </a:rPr>
              <a:t>*Are client partners on these engagements?</a:t>
            </a:r>
          </a:p>
        </p:txBody>
      </p:sp>
    </p:spTree>
    <p:extLst>
      <p:ext uri="{BB962C8B-B14F-4D97-AF65-F5344CB8AC3E}">
        <p14:creationId xmlns:p14="http://schemas.microsoft.com/office/powerpoint/2010/main" val="20695238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46FC2B-8F51-79CA-4880-D515F9666051}"/>
              </a:ext>
            </a:extLst>
          </p:cNvPr>
          <p:cNvSpPr>
            <a:spLocks noGrp="1"/>
          </p:cNvSpPr>
          <p:nvPr>
            <p:ph type="title"/>
          </p:nvPr>
        </p:nvSpPr>
        <p:spPr>
          <a:xfrm>
            <a:off x="334497" y="268589"/>
            <a:ext cx="9918636" cy="498919"/>
          </a:xfrm>
        </p:spPr>
        <p:txBody>
          <a:bodyPr/>
          <a:lstStyle/>
          <a:p>
            <a:r>
              <a:rPr lang="en-GB"/>
              <a:t>RACI for AMM - Solutions Assessment - TBC</a:t>
            </a:r>
          </a:p>
        </p:txBody>
      </p:sp>
      <p:sp>
        <p:nvSpPr>
          <p:cNvPr id="5" name="Slide Number Placeholder 4">
            <a:extLst>
              <a:ext uri="{FF2B5EF4-FFF2-40B4-BE49-F238E27FC236}">
                <a16:creationId xmlns:a16="http://schemas.microsoft.com/office/drawing/2014/main" id="{CEA875DC-284F-0BDE-7B61-89B94748114B}"/>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35</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graphicFrame>
        <p:nvGraphicFramePr>
          <p:cNvPr id="3" name="Table 5">
            <a:extLst>
              <a:ext uri="{FF2B5EF4-FFF2-40B4-BE49-F238E27FC236}">
                <a16:creationId xmlns:a16="http://schemas.microsoft.com/office/drawing/2014/main" id="{A0CEC524-5E0C-7F18-B891-E029876351BD}"/>
              </a:ext>
            </a:extLst>
          </p:cNvPr>
          <p:cNvGraphicFramePr>
            <a:graphicFrameLocks noGrp="1"/>
          </p:cNvGraphicFramePr>
          <p:nvPr/>
        </p:nvGraphicFramePr>
        <p:xfrm>
          <a:off x="1194099" y="1769682"/>
          <a:ext cx="10847476" cy="2992120"/>
        </p:xfrm>
        <a:graphic>
          <a:graphicData uri="http://schemas.openxmlformats.org/drawingml/2006/table">
            <a:tbl>
              <a:tblPr firstRow="1" bandRow="1">
                <a:tableStyleId>{21E4AEA4-8DFA-4A89-87EB-49C32662AFE0}</a:tableStyleId>
              </a:tblPr>
              <a:tblGrid>
                <a:gridCol w="1650353">
                  <a:extLst>
                    <a:ext uri="{9D8B030D-6E8A-4147-A177-3AD203B41FA5}">
                      <a16:colId xmlns:a16="http://schemas.microsoft.com/office/drawing/2014/main" val="253125663"/>
                    </a:ext>
                  </a:extLst>
                </a:gridCol>
                <a:gridCol w="1448926">
                  <a:extLst>
                    <a:ext uri="{9D8B030D-6E8A-4147-A177-3AD203B41FA5}">
                      <a16:colId xmlns:a16="http://schemas.microsoft.com/office/drawing/2014/main" val="2871973893"/>
                    </a:ext>
                  </a:extLst>
                </a:gridCol>
                <a:gridCol w="1549639">
                  <a:extLst>
                    <a:ext uri="{9D8B030D-6E8A-4147-A177-3AD203B41FA5}">
                      <a16:colId xmlns:a16="http://schemas.microsoft.com/office/drawing/2014/main" val="493670529"/>
                    </a:ext>
                  </a:extLst>
                </a:gridCol>
                <a:gridCol w="1549639">
                  <a:extLst>
                    <a:ext uri="{9D8B030D-6E8A-4147-A177-3AD203B41FA5}">
                      <a16:colId xmlns:a16="http://schemas.microsoft.com/office/drawing/2014/main" val="196892589"/>
                    </a:ext>
                  </a:extLst>
                </a:gridCol>
                <a:gridCol w="1549639">
                  <a:extLst>
                    <a:ext uri="{9D8B030D-6E8A-4147-A177-3AD203B41FA5}">
                      <a16:colId xmlns:a16="http://schemas.microsoft.com/office/drawing/2014/main" val="1904935991"/>
                    </a:ext>
                  </a:extLst>
                </a:gridCol>
                <a:gridCol w="1418307">
                  <a:extLst>
                    <a:ext uri="{9D8B030D-6E8A-4147-A177-3AD203B41FA5}">
                      <a16:colId xmlns:a16="http://schemas.microsoft.com/office/drawing/2014/main" val="807001075"/>
                    </a:ext>
                  </a:extLst>
                </a:gridCol>
                <a:gridCol w="1680973">
                  <a:extLst>
                    <a:ext uri="{9D8B030D-6E8A-4147-A177-3AD203B41FA5}">
                      <a16:colId xmlns:a16="http://schemas.microsoft.com/office/drawing/2014/main" val="563325563"/>
                    </a:ext>
                  </a:extLst>
                </a:gridCol>
              </a:tblGrid>
              <a:tr h="370840">
                <a:tc>
                  <a:txBody>
                    <a:bodyPr/>
                    <a:lstStyle/>
                    <a:p>
                      <a:pPr algn="ctr"/>
                      <a:endParaRPr lang="en-GB" sz="1400">
                        <a:latin typeface="Fira Sans" panose="020B0503050000020004" pitchFamily="34" charset="0"/>
                      </a:endParaRPr>
                    </a:p>
                  </a:txBody>
                  <a:tcP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alpha val="47000"/>
                      </a:schemeClr>
                    </a:solidFill>
                  </a:tcPr>
                </a:tc>
                <a:tc>
                  <a:txBody>
                    <a:bodyPr/>
                    <a:lstStyle/>
                    <a:p>
                      <a:pPr algn="ctr"/>
                      <a:r>
                        <a:rPr lang="en-GB" sz="1400">
                          <a:solidFill>
                            <a:schemeClr val="bg1"/>
                          </a:solidFill>
                          <a:latin typeface="Fira Sans" panose="020B0503050000020004" pitchFamily="34" charset="0"/>
                        </a:rPr>
                        <a:t>Responsible</a:t>
                      </a:r>
                    </a:p>
                  </a:txBody>
                  <a:tcPr>
                    <a:lnL w="12700" cap="flat" cmpd="sng" algn="ctr">
                      <a:solidFill>
                        <a:schemeClr val="bg1"/>
                      </a:solidFill>
                      <a:prstDash val="solid"/>
                      <a:round/>
                      <a:headEnd type="none" w="med" len="med"/>
                      <a:tailEnd type="none" w="med" len="med"/>
                    </a:lnL>
                    <a:solidFill>
                      <a:schemeClr val="accent2">
                        <a:alpha val="47000"/>
                      </a:schemeClr>
                    </a:solidFill>
                  </a:tcPr>
                </a:tc>
                <a:tc>
                  <a:txBody>
                    <a:bodyPr/>
                    <a:lstStyle/>
                    <a:p>
                      <a:pPr algn="ctr"/>
                      <a:r>
                        <a:rPr lang="en-GB" sz="1400">
                          <a:solidFill>
                            <a:schemeClr val="bg1"/>
                          </a:solidFill>
                          <a:latin typeface="Fira Sans" panose="020B0503050000020004" pitchFamily="34" charset="0"/>
                        </a:rPr>
                        <a:t>Accountable</a:t>
                      </a:r>
                    </a:p>
                  </a:txBody>
                  <a:tcPr>
                    <a:solidFill>
                      <a:schemeClr val="accent2">
                        <a:alpha val="47000"/>
                      </a:schemeClr>
                    </a:solidFill>
                  </a:tcPr>
                </a:tc>
                <a:tc>
                  <a:txBody>
                    <a:bodyPr/>
                    <a:lstStyle/>
                    <a:p>
                      <a:pPr algn="ctr"/>
                      <a:r>
                        <a:rPr lang="en-GB" sz="1400">
                          <a:solidFill>
                            <a:schemeClr val="bg1"/>
                          </a:solidFill>
                          <a:latin typeface="Fira Sans" panose="020B0503050000020004" pitchFamily="34" charset="0"/>
                        </a:rPr>
                        <a:t>Consultable</a:t>
                      </a:r>
                    </a:p>
                  </a:txBody>
                  <a:tcPr>
                    <a:solidFill>
                      <a:schemeClr val="accent2">
                        <a:alpha val="47000"/>
                      </a:schemeClr>
                    </a:solidFill>
                  </a:tcPr>
                </a:tc>
                <a:tc>
                  <a:txBody>
                    <a:bodyPr/>
                    <a:lstStyle/>
                    <a:p>
                      <a:pPr algn="ctr"/>
                      <a:r>
                        <a:rPr lang="en-GB" sz="1400">
                          <a:solidFill>
                            <a:schemeClr val="bg1"/>
                          </a:solidFill>
                          <a:latin typeface="Fira Sans" panose="020B0503050000020004" pitchFamily="34" charset="0"/>
                        </a:rPr>
                        <a:t>Informed</a:t>
                      </a:r>
                    </a:p>
                  </a:txBody>
                  <a:tcPr>
                    <a:solidFill>
                      <a:schemeClr val="accent2">
                        <a:alpha val="47000"/>
                      </a:schemeClr>
                    </a:solidFill>
                  </a:tcPr>
                </a:tc>
                <a:tc>
                  <a:txBody>
                    <a:bodyPr/>
                    <a:lstStyle/>
                    <a:p>
                      <a:pPr algn="ctr"/>
                      <a:r>
                        <a:rPr lang="en-GB" sz="1400">
                          <a:solidFill>
                            <a:schemeClr val="bg1"/>
                          </a:solidFill>
                          <a:latin typeface="Fira Sans" panose="020B0503050000020004" pitchFamily="34" charset="0"/>
                        </a:rPr>
                        <a:t>INPUTS</a:t>
                      </a:r>
                    </a:p>
                  </a:txBody>
                  <a:tcPr>
                    <a:solidFill>
                      <a:schemeClr val="accent2">
                        <a:alpha val="47000"/>
                      </a:schemeClr>
                    </a:solidFill>
                  </a:tcPr>
                </a:tc>
                <a:tc>
                  <a:txBody>
                    <a:bodyPr/>
                    <a:lstStyle/>
                    <a:p>
                      <a:pPr algn="ctr"/>
                      <a:r>
                        <a:rPr lang="en-GB" sz="1400">
                          <a:solidFill>
                            <a:schemeClr val="bg1"/>
                          </a:solidFill>
                          <a:latin typeface="Fira Sans" panose="020B0503050000020004" pitchFamily="34" charset="0"/>
                        </a:rPr>
                        <a:t>OUTPUTS</a:t>
                      </a:r>
                    </a:p>
                  </a:txBody>
                  <a:tcPr>
                    <a:solidFill>
                      <a:schemeClr val="accent2">
                        <a:alpha val="47000"/>
                      </a:schemeClr>
                    </a:solidFill>
                  </a:tcPr>
                </a:tc>
                <a:extLst>
                  <a:ext uri="{0D108BD9-81ED-4DB2-BD59-A6C34878D82A}">
                    <a16:rowId xmlns:a16="http://schemas.microsoft.com/office/drawing/2014/main" val="852859629"/>
                  </a:ext>
                </a:extLst>
              </a:tr>
              <a:tr h="370840">
                <a:tc>
                  <a:txBody>
                    <a:bodyPr/>
                    <a:lstStyle/>
                    <a:p>
                      <a:r>
                        <a:rPr lang="en-GB" sz="1400">
                          <a:solidFill>
                            <a:schemeClr val="bg1"/>
                          </a:solidFill>
                          <a:latin typeface="Fira Sans" panose="020B0503050000020004" pitchFamily="34" charset="0"/>
                        </a:rPr>
                        <a:t>Nominating Customers</a:t>
                      </a:r>
                    </a:p>
                  </a:txBody>
                  <a:tcPr>
                    <a:lnT w="12700" cap="flat" cmpd="sng" algn="ctr">
                      <a:solidFill>
                        <a:schemeClr val="bg1"/>
                      </a:solidFill>
                      <a:prstDash val="solid"/>
                      <a:round/>
                      <a:headEnd type="none" w="med" len="med"/>
                      <a:tailEnd type="none" w="med" len="med"/>
                    </a:lnT>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Rackspace</a:t>
                      </a:r>
                    </a:p>
                  </a:txBody>
                  <a:tcPr>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Rackspace</a:t>
                      </a:r>
                    </a:p>
                  </a:txBody>
                  <a:tcPr>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Microsoft</a:t>
                      </a:r>
                    </a:p>
                  </a:txBody>
                  <a:tcPr>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Microsoft</a:t>
                      </a:r>
                    </a:p>
                  </a:txBody>
                  <a:tcPr>
                    <a:solidFill>
                      <a:schemeClr val="accent2">
                        <a:tint val="40000"/>
                        <a:alpha val="61000"/>
                      </a:schemeClr>
                    </a:solidFill>
                  </a:tcPr>
                </a:tc>
                <a:tc>
                  <a:txBody>
                    <a:bodyPr/>
                    <a:lstStyle/>
                    <a:p>
                      <a:pPr algn="ctr"/>
                      <a:r>
                        <a:rPr lang="en-GB">
                          <a:solidFill>
                            <a:schemeClr val="bg1"/>
                          </a:solidFill>
                          <a:latin typeface="Fira Sans" panose="020B0503050000020004" pitchFamily="34" charset="0"/>
                        </a:rPr>
                        <a:t>Rackspace</a:t>
                      </a:r>
                    </a:p>
                  </a:txBody>
                  <a:tcPr>
                    <a:solidFill>
                      <a:schemeClr val="accent2">
                        <a:tint val="40000"/>
                        <a:alpha val="61000"/>
                      </a:schemeClr>
                    </a:solidFill>
                  </a:tcPr>
                </a:tc>
                <a:tc>
                  <a:txBody>
                    <a:bodyPr/>
                    <a:lstStyle/>
                    <a:p>
                      <a:pPr algn="ctr"/>
                      <a:r>
                        <a:rPr lang="en-GB" sz="1400">
                          <a:solidFill>
                            <a:schemeClr val="bg1"/>
                          </a:solidFill>
                          <a:latin typeface="Fira Sans" panose="020B0503050000020004" pitchFamily="34" charset="0"/>
                        </a:rPr>
                        <a:t>Customer put forward for AMM</a:t>
                      </a:r>
                    </a:p>
                  </a:txBody>
                  <a:tcPr>
                    <a:solidFill>
                      <a:schemeClr val="accent2">
                        <a:tint val="40000"/>
                        <a:alpha val="61000"/>
                      </a:schemeClr>
                    </a:solidFill>
                  </a:tcPr>
                </a:tc>
                <a:extLst>
                  <a:ext uri="{0D108BD9-81ED-4DB2-BD59-A6C34878D82A}">
                    <a16:rowId xmlns:a16="http://schemas.microsoft.com/office/drawing/2014/main" val="3093090858"/>
                  </a:ext>
                </a:extLst>
              </a:tr>
              <a:tr h="370840">
                <a:tc>
                  <a:txBody>
                    <a:bodyPr/>
                    <a:lstStyle/>
                    <a:p>
                      <a:r>
                        <a:rPr lang="en-GB" sz="1400">
                          <a:solidFill>
                            <a:schemeClr val="bg1"/>
                          </a:solidFill>
                          <a:latin typeface="Fira Sans" panose="020B0503050000020004" pitchFamily="34" charset="0"/>
                        </a:rPr>
                        <a:t>Solutions Assessment</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Microsoft</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Microsoft</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Rackspace</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Rackspace</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Customer</a:t>
                      </a:r>
                    </a:p>
                  </a:txBody>
                  <a:tcPr>
                    <a:solidFill>
                      <a:schemeClr val="accent2">
                        <a:tint val="20000"/>
                        <a:alpha val="61000"/>
                      </a:schemeClr>
                    </a:solidFill>
                  </a:tcPr>
                </a:tc>
                <a:tc>
                  <a:txBody>
                    <a:bodyPr/>
                    <a:lstStyle/>
                    <a:p>
                      <a:pPr algn="ctr"/>
                      <a:r>
                        <a:rPr lang="en-GB" sz="1400">
                          <a:solidFill>
                            <a:schemeClr val="bg1"/>
                          </a:solidFill>
                          <a:latin typeface="Fira Sans" panose="020B0503050000020004" pitchFamily="34" charset="0"/>
                        </a:rPr>
                        <a:t>Data for Rackspace to Analyse</a:t>
                      </a:r>
                    </a:p>
                  </a:txBody>
                  <a:tcPr>
                    <a:solidFill>
                      <a:schemeClr val="accent2">
                        <a:tint val="20000"/>
                        <a:alpha val="61000"/>
                      </a:schemeClr>
                    </a:solidFill>
                  </a:tcPr>
                </a:tc>
                <a:extLst>
                  <a:ext uri="{0D108BD9-81ED-4DB2-BD59-A6C34878D82A}">
                    <a16:rowId xmlns:a16="http://schemas.microsoft.com/office/drawing/2014/main" val="1543624774"/>
                  </a:ext>
                </a:extLst>
              </a:tr>
              <a:tr h="370840">
                <a:tc>
                  <a:txBody>
                    <a:bodyPr/>
                    <a:lstStyle/>
                    <a:p>
                      <a:r>
                        <a:rPr lang="en-GB" sz="1400">
                          <a:solidFill>
                            <a:schemeClr val="bg2"/>
                          </a:solidFill>
                          <a:latin typeface="Fira Sans" panose="020B0503050000020004" pitchFamily="34" charset="0"/>
                        </a:rPr>
                        <a:t>Portfolio Assessment (for timelines)</a:t>
                      </a:r>
                    </a:p>
                  </a:txBody>
                  <a:tcPr>
                    <a:solidFill>
                      <a:schemeClr val="accent2">
                        <a:tint val="40000"/>
                        <a:alpha val="61000"/>
                      </a:schemeClr>
                    </a:solidFill>
                  </a:tcPr>
                </a:tc>
                <a:tc>
                  <a:txBody>
                    <a:bodyPr/>
                    <a:lstStyle/>
                    <a:p>
                      <a:pPr algn="ctr"/>
                      <a:r>
                        <a:rPr lang="en-GB">
                          <a:solidFill>
                            <a:schemeClr val="bg2"/>
                          </a:solidFill>
                          <a:latin typeface="Fira Sans" panose="020B0503050000020004" pitchFamily="34" charset="0"/>
                        </a:rPr>
                        <a:t>Rackspace</a:t>
                      </a:r>
                    </a:p>
                  </a:txBody>
                  <a:tcPr>
                    <a:solidFill>
                      <a:schemeClr val="accent2">
                        <a:tint val="40000"/>
                        <a:alpha val="61000"/>
                      </a:schemeClr>
                    </a:solidFill>
                  </a:tcPr>
                </a:tc>
                <a:tc>
                  <a:txBody>
                    <a:bodyPr/>
                    <a:lstStyle/>
                    <a:p>
                      <a:pPr algn="ctr"/>
                      <a:r>
                        <a:rPr lang="en-GB">
                          <a:solidFill>
                            <a:schemeClr val="bg2"/>
                          </a:solidFill>
                          <a:latin typeface="Fira Sans" panose="020B0503050000020004" pitchFamily="34" charset="0"/>
                        </a:rPr>
                        <a:t>Rackspace</a:t>
                      </a:r>
                    </a:p>
                  </a:txBody>
                  <a:tcPr>
                    <a:solidFill>
                      <a:schemeClr val="accent2">
                        <a:tint val="40000"/>
                        <a:alpha val="61000"/>
                      </a:schemeClr>
                    </a:solidFill>
                  </a:tcPr>
                </a:tc>
                <a:tc>
                  <a:txBody>
                    <a:bodyPr/>
                    <a:lstStyle/>
                    <a:p>
                      <a:pPr algn="ctr"/>
                      <a:r>
                        <a:rPr lang="en-GB">
                          <a:solidFill>
                            <a:schemeClr val="bg2"/>
                          </a:solidFill>
                          <a:latin typeface="Fira Sans" panose="020B0503050000020004" pitchFamily="34" charset="0"/>
                        </a:rPr>
                        <a:t>Rackspace</a:t>
                      </a:r>
                    </a:p>
                  </a:txBody>
                  <a:tcPr>
                    <a:solidFill>
                      <a:schemeClr val="accent2">
                        <a:tint val="40000"/>
                        <a:alpha val="61000"/>
                      </a:schemeClr>
                    </a:solidFill>
                  </a:tcPr>
                </a:tc>
                <a:tc>
                  <a:txBody>
                    <a:bodyPr/>
                    <a:lstStyle/>
                    <a:p>
                      <a:pPr algn="ctr"/>
                      <a:r>
                        <a:rPr lang="en-GB">
                          <a:solidFill>
                            <a:schemeClr val="bg2"/>
                          </a:solidFill>
                          <a:latin typeface="Fira Sans" panose="020B0503050000020004" pitchFamily="34" charset="0"/>
                        </a:rPr>
                        <a:t>Microsoft / Customer</a:t>
                      </a:r>
                    </a:p>
                  </a:txBody>
                  <a:tcPr>
                    <a:solidFill>
                      <a:schemeClr val="accent2">
                        <a:tint val="40000"/>
                        <a:alpha val="61000"/>
                      </a:schemeClr>
                    </a:solidFill>
                  </a:tcPr>
                </a:tc>
                <a:tc>
                  <a:txBody>
                    <a:bodyPr/>
                    <a:lstStyle/>
                    <a:p>
                      <a:pPr algn="ctr"/>
                      <a:r>
                        <a:rPr lang="en-GB">
                          <a:solidFill>
                            <a:schemeClr val="bg2"/>
                          </a:solidFill>
                          <a:latin typeface="Fira Sans" panose="020B0503050000020004" pitchFamily="34" charset="0"/>
                        </a:rPr>
                        <a:t>Dr Migrate Output</a:t>
                      </a:r>
                    </a:p>
                  </a:txBody>
                  <a:tcPr>
                    <a:solidFill>
                      <a:schemeClr val="accent2">
                        <a:tint val="40000"/>
                        <a:alpha val="61000"/>
                      </a:schemeClr>
                    </a:solidFill>
                  </a:tcPr>
                </a:tc>
                <a:tc>
                  <a:txBody>
                    <a:bodyPr/>
                    <a:lstStyle/>
                    <a:p>
                      <a:pPr algn="ctr"/>
                      <a:r>
                        <a:rPr lang="en-GB" sz="1400">
                          <a:solidFill>
                            <a:schemeClr val="bg2"/>
                          </a:solidFill>
                          <a:latin typeface="Fira Sans" panose="020B0503050000020004" pitchFamily="34" charset="0"/>
                        </a:rPr>
                        <a:t>First Movers planed and Cost of Migration </a:t>
                      </a:r>
                    </a:p>
                  </a:txBody>
                  <a:tcPr>
                    <a:solidFill>
                      <a:schemeClr val="accent2">
                        <a:tint val="40000"/>
                        <a:alpha val="61000"/>
                      </a:schemeClr>
                    </a:solidFill>
                  </a:tcPr>
                </a:tc>
                <a:extLst>
                  <a:ext uri="{0D108BD9-81ED-4DB2-BD59-A6C34878D82A}">
                    <a16:rowId xmlns:a16="http://schemas.microsoft.com/office/drawing/2014/main" val="10618139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schemeClr val="bg1"/>
                          </a:solidFill>
                          <a:latin typeface="Fira Sans" panose="020B0503050000020004" pitchFamily="34" charset="0"/>
                        </a:rPr>
                        <a:t>Discovery Tooling Deployment</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Microsoft</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Microsoft</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Rackspace</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Customer / Rackspace</a:t>
                      </a:r>
                    </a:p>
                  </a:txBody>
                  <a:tcPr>
                    <a:solidFill>
                      <a:schemeClr val="accent2">
                        <a:tint val="20000"/>
                        <a:alpha val="61000"/>
                      </a:schemeClr>
                    </a:solidFill>
                  </a:tcPr>
                </a:tc>
                <a:tc>
                  <a:txBody>
                    <a:bodyPr/>
                    <a:lstStyle/>
                    <a:p>
                      <a:pPr algn="ctr"/>
                      <a:r>
                        <a:rPr lang="en-GB">
                          <a:solidFill>
                            <a:schemeClr val="bg1"/>
                          </a:solidFill>
                          <a:latin typeface="Fira Sans" panose="020B0503050000020004" pitchFamily="34" charset="0"/>
                        </a:rPr>
                        <a:t>Customer</a:t>
                      </a:r>
                    </a:p>
                  </a:txBody>
                  <a:tcPr>
                    <a:solidFill>
                      <a:schemeClr val="accent2">
                        <a:tint val="20000"/>
                        <a:alpha val="61000"/>
                      </a:schemeClr>
                    </a:solidFill>
                  </a:tcPr>
                </a:tc>
                <a:tc>
                  <a:txBody>
                    <a:bodyPr/>
                    <a:lstStyle/>
                    <a:p>
                      <a:pPr algn="ctr"/>
                      <a:r>
                        <a:rPr lang="en-GB" sz="1200">
                          <a:solidFill>
                            <a:schemeClr val="bg1"/>
                          </a:solidFill>
                          <a:latin typeface="Fira Sans" panose="020B0503050000020004" pitchFamily="34" charset="0"/>
                        </a:rPr>
                        <a:t>Infra captured / Network Mapping (when using </a:t>
                      </a:r>
                      <a:r>
                        <a:rPr lang="en-GB" sz="1200" err="1">
                          <a:solidFill>
                            <a:schemeClr val="bg1"/>
                          </a:solidFill>
                          <a:latin typeface="Fira Sans" panose="020B0503050000020004" pitchFamily="34" charset="0"/>
                        </a:rPr>
                        <a:t>Dr.</a:t>
                      </a:r>
                      <a:r>
                        <a:rPr lang="en-GB" sz="1200">
                          <a:solidFill>
                            <a:schemeClr val="bg1"/>
                          </a:solidFill>
                          <a:latin typeface="Fira Sans" panose="020B0503050000020004" pitchFamily="34" charset="0"/>
                        </a:rPr>
                        <a:t> M)</a:t>
                      </a:r>
                    </a:p>
                  </a:txBody>
                  <a:tcPr>
                    <a:solidFill>
                      <a:schemeClr val="accent2">
                        <a:tint val="20000"/>
                        <a:alpha val="61000"/>
                      </a:schemeClr>
                    </a:solidFill>
                  </a:tcPr>
                </a:tc>
                <a:extLst>
                  <a:ext uri="{0D108BD9-81ED-4DB2-BD59-A6C34878D82A}">
                    <a16:rowId xmlns:a16="http://schemas.microsoft.com/office/drawing/2014/main" val="385587837"/>
                  </a:ext>
                </a:extLst>
              </a:tr>
            </a:tbl>
          </a:graphicData>
        </a:graphic>
      </p:graphicFrame>
    </p:spTree>
    <p:extLst>
      <p:ext uri="{BB962C8B-B14F-4D97-AF65-F5344CB8AC3E}">
        <p14:creationId xmlns:p14="http://schemas.microsoft.com/office/powerpoint/2010/main" val="13807512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46FC2B-8F51-79CA-4880-D515F9666051}"/>
              </a:ext>
            </a:extLst>
          </p:cNvPr>
          <p:cNvSpPr>
            <a:spLocks noGrp="1"/>
          </p:cNvSpPr>
          <p:nvPr>
            <p:ph type="title"/>
          </p:nvPr>
        </p:nvSpPr>
        <p:spPr>
          <a:xfrm>
            <a:off x="334497" y="268589"/>
            <a:ext cx="2620793" cy="498919"/>
          </a:xfrm>
        </p:spPr>
        <p:txBody>
          <a:bodyPr/>
          <a:lstStyle/>
          <a:p>
            <a:r>
              <a:rPr lang="en-GB"/>
              <a:t>SOW Example</a:t>
            </a:r>
          </a:p>
        </p:txBody>
      </p:sp>
      <p:sp>
        <p:nvSpPr>
          <p:cNvPr id="2" name="TextBox 1">
            <a:extLst>
              <a:ext uri="{FF2B5EF4-FFF2-40B4-BE49-F238E27FC236}">
                <a16:creationId xmlns:a16="http://schemas.microsoft.com/office/drawing/2014/main" id="{E49C61A9-8CF8-3354-0B57-01F1CCA15AAF}"/>
              </a:ext>
            </a:extLst>
          </p:cNvPr>
          <p:cNvSpPr txBox="1"/>
          <p:nvPr/>
        </p:nvSpPr>
        <p:spPr>
          <a:xfrm>
            <a:off x="3260993" y="268589"/>
            <a:ext cx="8758409" cy="3416320"/>
          </a:xfrm>
          <a:prstGeom prst="rect">
            <a:avLst/>
          </a:prstGeom>
          <a:noFill/>
        </p:spPr>
        <p:txBody>
          <a:bodyPr wrap="square" rtlCol="0">
            <a:spAutoFit/>
          </a:bodyPr>
          <a:lstStyle/>
          <a:p>
            <a:pPr marL="285750" marR="0" lvl="0" indent="-2857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a:ea typeface="+mn-ea"/>
                <a:cs typeface="+mn-cs"/>
              </a:rPr>
              <a:t>Below is a linked SOW that has all the key sections highlighted, such a project initiation, MRA, PA and business case. Ensure everyone is aligned with which part of the SOW they are responsible for and that all members are aligned that nothing is missing from the SOW. </a:t>
            </a:r>
          </a:p>
          <a:p>
            <a:pPr marL="285750" marR="0" lvl="0" indent="-2857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a:p>
            <a:pPr marL="285750" marR="0" lvl="0" indent="-2857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a:ea typeface="+mn-ea"/>
                <a:cs typeface="+mn-cs"/>
              </a:rPr>
              <a:t>As you can see the project is usually forecasted for 6-10 weeks (dependant on the assessment type), most delays are due to tooling or exports taking time. As repeated throughout this guide, it is important to get this tooling up and running as soon as possible as it’s the main cause of delays, combined with customer diaries not being accommodating. </a:t>
            </a:r>
          </a:p>
          <a:p>
            <a:pPr marL="285750" marR="0" lvl="0" indent="-2857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a:p>
            <a:pPr marL="285750" marR="0" lvl="0" indent="-2857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a:ea typeface="+mn-ea"/>
                <a:cs typeface="+mn-cs"/>
                <a:hlinkClick r:id="rId2"/>
              </a:rPr>
              <a:t>See SOW Template example here </a:t>
            </a: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590215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590EF-2766-3820-D842-F5EA793A3643}"/>
              </a:ext>
            </a:extLst>
          </p:cNvPr>
          <p:cNvSpPr>
            <a:spLocks noGrp="1"/>
          </p:cNvSpPr>
          <p:nvPr>
            <p:ph type="title"/>
          </p:nvPr>
        </p:nvSpPr>
        <p:spPr>
          <a:xfrm>
            <a:off x="334496" y="268589"/>
            <a:ext cx="11495554" cy="498919"/>
          </a:xfrm>
        </p:spPr>
        <p:txBody>
          <a:bodyPr/>
          <a:lstStyle/>
          <a:p>
            <a:r>
              <a:rPr lang="en-GB"/>
              <a:t>Azure Solutions Assessment Journey</a:t>
            </a:r>
          </a:p>
        </p:txBody>
      </p:sp>
      <p:sp>
        <p:nvSpPr>
          <p:cNvPr id="3" name="Slide Number Placeholder 2">
            <a:extLst>
              <a:ext uri="{FF2B5EF4-FFF2-40B4-BE49-F238E27FC236}">
                <a16:creationId xmlns:a16="http://schemas.microsoft.com/office/drawing/2014/main" id="{AE37E209-0161-5869-7BD1-5FD189F26C95}"/>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grpSp>
        <p:nvGrpSpPr>
          <p:cNvPr id="6" name="Group 5">
            <a:extLst>
              <a:ext uri="{FF2B5EF4-FFF2-40B4-BE49-F238E27FC236}">
                <a16:creationId xmlns:a16="http://schemas.microsoft.com/office/drawing/2014/main" id="{DE725E94-ECC1-1DC2-DE51-12B434EA66D0}"/>
              </a:ext>
            </a:extLst>
          </p:cNvPr>
          <p:cNvGrpSpPr/>
          <p:nvPr/>
        </p:nvGrpSpPr>
        <p:grpSpPr>
          <a:xfrm>
            <a:off x="277100" y="6254117"/>
            <a:ext cx="4374064" cy="479418"/>
            <a:chOff x="302152" y="6229065"/>
            <a:chExt cx="3876266" cy="424857"/>
          </a:xfrm>
        </p:grpSpPr>
        <p:pic>
          <p:nvPicPr>
            <p:cNvPr id="7" name="Graphic 6">
              <a:extLst>
                <a:ext uri="{FF2B5EF4-FFF2-40B4-BE49-F238E27FC236}">
                  <a16:creationId xmlns:a16="http://schemas.microsoft.com/office/drawing/2014/main" id="{3DCB3475-883E-0240-2B7D-9A83F83FC6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152" y="6229065"/>
              <a:ext cx="1378424" cy="424857"/>
            </a:xfrm>
            <a:prstGeom prst="rect">
              <a:avLst/>
            </a:prstGeom>
          </p:spPr>
        </p:pic>
        <p:sp>
          <p:nvSpPr>
            <p:cNvPr id="8" name="TextBox 7">
              <a:extLst>
                <a:ext uri="{FF2B5EF4-FFF2-40B4-BE49-F238E27FC236}">
                  <a16:creationId xmlns:a16="http://schemas.microsoft.com/office/drawing/2014/main" id="{A46B32CF-0F08-6BFF-D7E7-6A76794F302B}"/>
                </a:ext>
              </a:extLst>
            </p:cNvPr>
            <p:cNvSpPr txBox="1"/>
            <p:nvPr/>
          </p:nvSpPr>
          <p:spPr>
            <a:xfrm>
              <a:off x="1884033" y="6318745"/>
              <a:ext cx="229438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Fira Sans Hair" panose="020B0203050000020004" pitchFamily="34" charset="0"/>
                  <a:ea typeface="+mn-ea"/>
                  <a:cs typeface="+mn-cs"/>
                </a:rPr>
                <a:t>Migration Services</a:t>
              </a:r>
            </a:p>
          </p:txBody>
        </p:sp>
        <p:cxnSp>
          <p:nvCxnSpPr>
            <p:cNvPr id="9" name="Straight Connector 8">
              <a:extLst>
                <a:ext uri="{FF2B5EF4-FFF2-40B4-BE49-F238E27FC236}">
                  <a16:creationId xmlns:a16="http://schemas.microsoft.com/office/drawing/2014/main" id="{284C4420-BC8F-DBEF-1FB9-4FD0F48E8F1D}"/>
                </a:ext>
              </a:extLst>
            </p:cNvPr>
            <p:cNvCxnSpPr>
              <a:cxnSpLocks/>
            </p:cNvCxnSpPr>
            <p:nvPr/>
          </p:nvCxnSpPr>
          <p:spPr>
            <a:xfrm>
              <a:off x="1748847" y="6232000"/>
              <a:ext cx="0" cy="4219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DA26D636-4207-A581-AB8F-E3D2653D3755}"/>
                </a:ext>
              </a:extLst>
            </p:cNvPr>
            <p:cNvGrpSpPr>
              <a:grpSpLocks noChangeAspect="1"/>
            </p:cNvGrpSpPr>
            <p:nvPr/>
          </p:nvGrpSpPr>
          <p:grpSpPr>
            <a:xfrm>
              <a:off x="1842997" y="6294759"/>
              <a:ext cx="456928" cy="268640"/>
              <a:chOff x="6781800" y="5716588"/>
              <a:chExt cx="604838" cy="355600"/>
            </a:xfrm>
          </p:grpSpPr>
          <p:sp>
            <p:nvSpPr>
              <p:cNvPr id="11" name="Freeform 258">
                <a:extLst>
                  <a:ext uri="{FF2B5EF4-FFF2-40B4-BE49-F238E27FC236}">
                    <a16:creationId xmlns:a16="http://schemas.microsoft.com/office/drawing/2014/main" id="{F166921B-1788-4B44-DCBD-30422BB900DA}"/>
                  </a:ext>
                </a:extLst>
              </p:cNvPr>
              <p:cNvSpPr>
                <a:spLocks noChangeArrowheads="1"/>
              </p:cNvSpPr>
              <p:nvPr/>
            </p:nvSpPr>
            <p:spPr bwMode="auto">
              <a:xfrm>
                <a:off x="7205663" y="5718175"/>
                <a:ext cx="9525" cy="1588"/>
              </a:xfrm>
              <a:custGeom>
                <a:avLst/>
                <a:gdLst>
                  <a:gd name="T0" fmla="*/ 24 w 25"/>
                  <a:gd name="T1" fmla="*/ 0 h 1"/>
                  <a:gd name="T2" fmla="*/ 0 w 25"/>
                  <a:gd name="T3" fmla="*/ 0 h 1"/>
                </a:gdLst>
                <a:ahLst/>
                <a:cxnLst>
                  <a:cxn ang="0">
                    <a:pos x="T0" y="T1"/>
                  </a:cxn>
                  <a:cxn ang="0">
                    <a:pos x="T2" y="T3"/>
                  </a:cxn>
                </a:cxnLst>
                <a:rect l="0" t="0" r="r" b="b"/>
                <a:pathLst>
                  <a:path w="25" h="1">
                    <a:moveTo>
                      <a:pt x="24" y="0"/>
                    </a:moveTo>
                    <a:cubicBezTo>
                      <a:pt x="16" y="0"/>
                      <a:pt x="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259">
                <a:extLst>
                  <a:ext uri="{FF2B5EF4-FFF2-40B4-BE49-F238E27FC236}">
                    <a16:creationId xmlns:a16="http://schemas.microsoft.com/office/drawing/2014/main" id="{EACEB412-7274-F595-FED4-E9814FFE11D0}"/>
                  </a:ext>
                </a:extLst>
              </p:cNvPr>
              <p:cNvSpPr>
                <a:spLocks noChangeArrowheads="1"/>
              </p:cNvSpPr>
              <p:nvPr/>
            </p:nvSpPr>
            <p:spPr bwMode="auto">
              <a:xfrm>
                <a:off x="7205663" y="6070600"/>
                <a:ext cx="9525" cy="1588"/>
              </a:xfrm>
              <a:custGeom>
                <a:avLst/>
                <a:gdLst>
                  <a:gd name="T0" fmla="*/ 24 w 25"/>
                  <a:gd name="T1" fmla="*/ 0 h 1"/>
                  <a:gd name="T2" fmla="*/ 0 w 25"/>
                  <a:gd name="T3" fmla="*/ 0 h 1"/>
                </a:gdLst>
                <a:ahLst/>
                <a:cxnLst>
                  <a:cxn ang="0">
                    <a:pos x="T0" y="T1"/>
                  </a:cxn>
                  <a:cxn ang="0">
                    <a:pos x="T2" y="T3"/>
                  </a:cxn>
                </a:cxnLst>
                <a:rect l="0" t="0" r="r" b="b"/>
                <a:pathLst>
                  <a:path w="25" h="1">
                    <a:moveTo>
                      <a:pt x="24" y="0"/>
                    </a:moveTo>
                    <a:cubicBezTo>
                      <a:pt x="16" y="0"/>
                      <a:pt x="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Freeform 260">
                <a:extLst>
                  <a:ext uri="{FF2B5EF4-FFF2-40B4-BE49-F238E27FC236}">
                    <a16:creationId xmlns:a16="http://schemas.microsoft.com/office/drawing/2014/main" id="{7282DC08-582A-AD0B-3251-75A83DB9E373}"/>
                  </a:ext>
                </a:extLst>
              </p:cNvPr>
              <p:cNvSpPr>
                <a:spLocks noChangeArrowheads="1"/>
              </p:cNvSpPr>
              <p:nvPr/>
            </p:nvSpPr>
            <p:spPr bwMode="auto">
              <a:xfrm>
                <a:off x="7385050" y="5889625"/>
                <a:ext cx="1588" cy="11113"/>
              </a:xfrm>
              <a:custGeom>
                <a:avLst/>
                <a:gdLst>
                  <a:gd name="T0" fmla="*/ 0 w 1"/>
                  <a:gd name="T1" fmla="*/ 28 h 29"/>
                  <a:gd name="T2" fmla="*/ 0 w 1"/>
                  <a:gd name="T3" fmla="*/ 0 h 29"/>
                </a:gdLst>
                <a:ahLst/>
                <a:cxnLst>
                  <a:cxn ang="0">
                    <a:pos x="T0" y="T1"/>
                  </a:cxn>
                  <a:cxn ang="0">
                    <a:pos x="T2" y="T3"/>
                  </a:cxn>
                </a:cxnLst>
                <a:rect l="0" t="0" r="r" b="b"/>
                <a:pathLst>
                  <a:path w="1" h="29">
                    <a:moveTo>
                      <a:pt x="0" y="28"/>
                    </a:moveTo>
                    <a:cubicBezTo>
                      <a:pt x="0" y="19"/>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261">
                <a:extLst>
                  <a:ext uri="{FF2B5EF4-FFF2-40B4-BE49-F238E27FC236}">
                    <a16:creationId xmlns:a16="http://schemas.microsoft.com/office/drawing/2014/main" id="{79D7576C-CE29-CC2D-DB91-9EB376D8199B}"/>
                  </a:ext>
                </a:extLst>
              </p:cNvPr>
              <p:cNvSpPr>
                <a:spLocks noChangeArrowheads="1"/>
              </p:cNvSpPr>
              <p:nvPr/>
            </p:nvSpPr>
            <p:spPr bwMode="auto">
              <a:xfrm>
                <a:off x="7159625" y="5722938"/>
                <a:ext cx="9525" cy="3175"/>
              </a:xfrm>
              <a:custGeom>
                <a:avLst/>
                <a:gdLst>
                  <a:gd name="T0" fmla="*/ 24 w 25"/>
                  <a:gd name="T1" fmla="*/ 0 h 9"/>
                  <a:gd name="T2" fmla="*/ 0 w 25"/>
                  <a:gd name="T3" fmla="*/ 8 h 9"/>
                </a:gdLst>
                <a:ahLst/>
                <a:cxnLst>
                  <a:cxn ang="0">
                    <a:pos x="T0" y="T1"/>
                  </a:cxn>
                  <a:cxn ang="0">
                    <a:pos x="T2" y="T3"/>
                  </a:cxn>
                </a:cxnLst>
                <a:rect l="0" t="0" r="r" b="b"/>
                <a:pathLst>
                  <a:path w="25" h="9">
                    <a:moveTo>
                      <a:pt x="24" y="0"/>
                    </a:moveTo>
                    <a:cubicBezTo>
                      <a:pt x="16" y="3"/>
                      <a:pt x="8" y="5"/>
                      <a:pt x="0" y="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262">
                <a:extLst>
                  <a:ext uri="{FF2B5EF4-FFF2-40B4-BE49-F238E27FC236}">
                    <a16:creationId xmlns:a16="http://schemas.microsoft.com/office/drawing/2014/main" id="{D164D4C5-3530-298A-3973-6DDF2A8427A9}"/>
                  </a:ext>
                </a:extLst>
              </p:cNvPr>
              <p:cNvSpPr>
                <a:spLocks noChangeArrowheads="1"/>
              </p:cNvSpPr>
              <p:nvPr/>
            </p:nvSpPr>
            <p:spPr bwMode="auto">
              <a:xfrm>
                <a:off x="7250113" y="6062663"/>
                <a:ext cx="9525" cy="3175"/>
              </a:xfrm>
              <a:custGeom>
                <a:avLst/>
                <a:gdLst>
                  <a:gd name="T0" fmla="*/ 25 w 26"/>
                  <a:gd name="T1" fmla="*/ 0 h 8"/>
                  <a:gd name="T2" fmla="*/ 0 w 26"/>
                  <a:gd name="T3" fmla="*/ 7 h 8"/>
                </a:gdLst>
                <a:ahLst/>
                <a:cxnLst>
                  <a:cxn ang="0">
                    <a:pos x="T0" y="T1"/>
                  </a:cxn>
                  <a:cxn ang="0">
                    <a:pos x="T2" y="T3"/>
                  </a:cxn>
                </a:cxnLst>
                <a:rect l="0" t="0" r="r" b="b"/>
                <a:pathLst>
                  <a:path w="26" h="8">
                    <a:moveTo>
                      <a:pt x="25" y="0"/>
                    </a:moveTo>
                    <a:cubicBezTo>
                      <a:pt x="17" y="2"/>
                      <a:pt x="9" y="5"/>
                      <a:pt x="0" y="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263">
                <a:extLst>
                  <a:ext uri="{FF2B5EF4-FFF2-40B4-BE49-F238E27FC236}">
                    <a16:creationId xmlns:a16="http://schemas.microsoft.com/office/drawing/2014/main" id="{3CD1D721-F883-3901-3140-519694B3EE8E}"/>
                  </a:ext>
                </a:extLst>
              </p:cNvPr>
              <p:cNvSpPr>
                <a:spLocks noChangeArrowheads="1"/>
              </p:cNvSpPr>
              <p:nvPr/>
            </p:nvSpPr>
            <p:spPr bwMode="auto">
              <a:xfrm>
                <a:off x="7378700" y="5843588"/>
                <a:ext cx="3175" cy="11112"/>
              </a:xfrm>
              <a:custGeom>
                <a:avLst/>
                <a:gdLst>
                  <a:gd name="T0" fmla="*/ 7 w 8"/>
                  <a:gd name="T1" fmla="*/ 28 h 29"/>
                  <a:gd name="T2" fmla="*/ 0 w 8"/>
                  <a:gd name="T3" fmla="*/ 0 h 29"/>
                </a:gdLst>
                <a:ahLst/>
                <a:cxnLst>
                  <a:cxn ang="0">
                    <a:pos x="T0" y="T1"/>
                  </a:cxn>
                  <a:cxn ang="0">
                    <a:pos x="T2" y="T3"/>
                  </a:cxn>
                </a:cxnLst>
                <a:rect l="0" t="0" r="r" b="b"/>
                <a:pathLst>
                  <a:path w="8" h="29">
                    <a:moveTo>
                      <a:pt x="7" y="28"/>
                    </a:moveTo>
                    <a:cubicBezTo>
                      <a:pt x="5" y="19"/>
                      <a:pt x="3"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Freeform 264">
                <a:extLst>
                  <a:ext uri="{FF2B5EF4-FFF2-40B4-BE49-F238E27FC236}">
                    <a16:creationId xmlns:a16="http://schemas.microsoft.com/office/drawing/2014/main" id="{5DA24FB3-98BB-355F-B4E5-52AA08A740A9}"/>
                  </a:ext>
                </a:extLst>
              </p:cNvPr>
              <p:cNvSpPr>
                <a:spLocks noChangeArrowheads="1"/>
              </p:cNvSpPr>
              <p:nvPr/>
            </p:nvSpPr>
            <p:spPr bwMode="auto">
              <a:xfrm>
                <a:off x="7038975" y="5935663"/>
                <a:ext cx="1588" cy="11112"/>
              </a:xfrm>
              <a:custGeom>
                <a:avLst/>
                <a:gdLst>
                  <a:gd name="T0" fmla="*/ 4 w 5"/>
                  <a:gd name="T1" fmla="*/ 28 h 29"/>
                  <a:gd name="T2" fmla="*/ 0 w 5"/>
                  <a:gd name="T3" fmla="*/ 0 h 29"/>
                </a:gdLst>
                <a:ahLst/>
                <a:cxnLst>
                  <a:cxn ang="0">
                    <a:pos x="T0" y="T1"/>
                  </a:cxn>
                  <a:cxn ang="0">
                    <a:pos x="T2" y="T3"/>
                  </a:cxn>
                </a:cxnLst>
                <a:rect l="0" t="0" r="r" b="b"/>
                <a:pathLst>
                  <a:path w="5" h="29">
                    <a:moveTo>
                      <a:pt x="4" y="28"/>
                    </a:moveTo>
                    <a:cubicBezTo>
                      <a:pt x="3" y="19"/>
                      <a:pt x="2"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Freeform 265">
                <a:extLst>
                  <a:ext uri="{FF2B5EF4-FFF2-40B4-BE49-F238E27FC236}">
                    <a16:creationId xmlns:a16="http://schemas.microsoft.com/office/drawing/2014/main" id="{7AF637FB-8C7F-1FBE-E219-EC653E35EA31}"/>
                  </a:ext>
                </a:extLst>
              </p:cNvPr>
              <p:cNvSpPr>
                <a:spLocks noChangeArrowheads="1"/>
              </p:cNvSpPr>
              <p:nvPr/>
            </p:nvSpPr>
            <p:spPr bwMode="auto">
              <a:xfrm>
                <a:off x="7118350" y="5738813"/>
                <a:ext cx="7938" cy="4762"/>
              </a:xfrm>
              <a:custGeom>
                <a:avLst/>
                <a:gdLst>
                  <a:gd name="T0" fmla="*/ 21 w 22"/>
                  <a:gd name="T1" fmla="*/ 0 h 15"/>
                  <a:gd name="T2" fmla="*/ 0 w 22"/>
                  <a:gd name="T3" fmla="*/ 14 h 15"/>
                </a:gdLst>
                <a:ahLst/>
                <a:cxnLst>
                  <a:cxn ang="0">
                    <a:pos x="T0" y="T1"/>
                  </a:cxn>
                  <a:cxn ang="0">
                    <a:pos x="T2" y="T3"/>
                  </a:cxn>
                </a:cxnLst>
                <a:rect l="0" t="0" r="r" b="b"/>
                <a:pathLst>
                  <a:path w="22" h="15">
                    <a:moveTo>
                      <a:pt x="21" y="0"/>
                    </a:moveTo>
                    <a:cubicBezTo>
                      <a:pt x="14" y="5"/>
                      <a:pt x="7" y="9"/>
                      <a:pt x="0" y="1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Freeform 266">
                <a:extLst>
                  <a:ext uri="{FF2B5EF4-FFF2-40B4-BE49-F238E27FC236}">
                    <a16:creationId xmlns:a16="http://schemas.microsoft.com/office/drawing/2014/main" id="{5B95F181-95D4-CB2C-B47B-B49C9692F80F}"/>
                  </a:ext>
                </a:extLst>
              </p:cNvPr>
              <p:cNvSpPr>
                <a:spLocks noChangeArrowheads="1"/>
              </p:cNvSpPr>
              <p:nvPr/>
            </p:nvSpPr>
            <p:spPr bwMode="auto">
              <a:xfrm>
                <a:off x="7292975" y="6043613"/>
                <a:ext cx="7938" cy="4762"/>
              </a:xfrm>
              <a:custGeom>
                <a:avLst/>
                <a:gdLst>
                  <a:gd name="T0" fmla="*/ 21 w 22"/>
                  <a:gd name="T1" fmla="*/ 0 h 15"/>
                  <a:gd name="T2" fmla="*/ 0 w 22"/>
                  <a:gd name="T3" fmla="*/ 14 h 15"/>
                </a:gdLst>
                <a:ahLst/>
                <a:cxnLst>
                  <a:cxn ang="0">
                    <a:pos x="T0" y="T1"/>
                  </a:cxn>
                  <a:cxn ang="0">
                    <a:pos x="T2" y="T3"/>
                  </a:cxn>
                </a:cxnLst>
                <a:rect l="0" t="0" r="r" b="b"/>
                <a:pathLst>
                  <a:path w="22" h="15">
                    <a:moveTo>
                      <a:pt x="21" y="0"/>
                    </a:moveTo>
                    <a:cubicBezTo>
                      <a:pt x="14" y="5"/>
                      <a:pt x="7" y="9"/>
                      <a:pt x="0" y="1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267">
                <a:extLst>
                  <a:ext uri="{FF2B5EF4-FFF2-40B4-BE49-F238E27FC236}">
                    <a16:creationId xmlns:a16="http://schemas.microsoft.com/office/drawing/2014/main" id="{92BAA3C3-90BA-9036-BF00-9D7BFD2969FC}"/>
                  </a:ext>
                </a:extLst>
              </p:cNvPr>
              <p:cNvSpPr>
                <a:spLocks noChangeArrowheads="1"/>
              </p:cNvSpPr>
              <p:nvPr/>
            </p:nvSpPr>
            <p:spPr bwMode="auto">
              <a:xfrm>
                <a:off x="7359650" y="5802313"/>
                <a:ext cx="4763" cy="9525"/>
              </a:xfrm>
              <a:custGeom>
                <a:avLst/>
                <a:gdLst>
                  <a:gd name="T0" fmla="*/ 14 w 15"/>
                  <a:gd name="T1" fmla="*/ 24 h 25"/>
                  <a:gd name="T2" fmla="*/ 0 w 15"/>
                  <a:gd name="T3" fmla="*/ 0 h 25"/>
                </a:gdLst>
                <a:ahLst/>
                <a:cxnLst>
                  <a:cxn ang="0">
                    <a:pos x="T0" y="T1"/>
                  </a:cxn>
                  <a:cxn ang="0">
                    <a:pos x="T2" y="T3"/>
                  </a:cxn>
                </a:cxnLst>
                <a:rect l="0" t="0" r="r" b="b"/>
                <a:pathLst>
                  <a:path w="15" h="25">
                    <a:moveTo>
                      <a:pt x="14" y="24"/>
                    </a:moveTo>
                    <a:cubicBezTo>
                      <a:pt x="10" y="16"/>
                      <a:pt x="5"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Freeform 268">
                <a:extLst>
                  <a:ext uri="{FF2B5EF4-FFF2-40B4-BE49-F238E27FC236}">
                    <a16:creationId xmlns:a16="http://schemas.microsoft.com/office/drawing/2014/main" id="{86848784-492A-4651-0CE6-10D1A40F1355}"/>
                  </a:ext>
                </a:extLst>
              </p:cNvPr>
              <p:cNvSpPr>
                <a:spLocks noChangeArrowheads="1"/>
              </p:cNvSpPr>
              <p:nvPr/>
            </p:nvSpPr>
            <p:spPr bwMode="auto">
              <a:xfrm>
                <a:off x="7054850" y="5978525"/>
                <a:ext cx="4763" cy="9525"/>
              </a:xfrm>
              <a:custGeom>
                <a:avLst/>
                <a:gdLst>
                  <a:gd name="T0" fmla="*/ 11 w 12"/>
                  <a:gd name="T1" fmla="*/ 25 h 26"/>
                  <a:gd name="T2" fmla="*/ 0 w 12"/>
                  <a:gd name="T3" fmla="*/ 0 h 26"/>
                </a:gdLst>
                <a:ahLst/>
                <a:cxnLst>
                  <a:cxn ang="0">
                    <a:pos x="T0" y="T1"/>
                  </a:cxn>
                  <a:cxn ang="0">
                    <a:pos x="T2" y="T3"/>
                  </a:cxn>
                </a:cxnLst>
                <a:rect l="0" t="0" r="r" b="b"/>
                <a:pathLst>
                  <a:path w="12" h="26">
                    <a:moveTo>
                      <a:pt x="11" y="25"/>
                    </a:moveTo>
                    <a:cubicBezTo>
                      <a:pt x="8" y="17"/>
                      <a:pt x="4"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269">
                <a:extLst>
                  <a:ext uri="{FF2B5EF4-FFF2-40B4-BE49-F238E27FC236}">
                    <a16:creationId xmlns:a16="http://schemas.microsoft.com/office/drawing/2014/main" id="{A54B8230-5446-206F-8685-C6CF50D98D42}"/>
                  </a:ext>
                </a:extLst>
              </p:cNvPr>
              <p:cNvSpPr>
                <a:spLocks noChangeArrowheads="1"/>
              </p:cNvSpPr>
              <p:nvPr/>
            </p:nvSpPr>
            <p:spPr bwMode="auto">
              <a:xfrm>
                <a:off x="7331075" y="6015038"/>
                <a:ext cx="6350" cy="7937"/>
              </a:xfrm>
              <a:custGeom>
                <a:avLst/>
                <a:gdLst>
                  <a:gd name="T0" fmla="*/ 18 w 19"/>
                  <a:gd name="T1" fmla="*/ 0 h 22"/>
                  <a:gd name="T2" fmla="*/ 0 w 19"/>
                  <a:gd name="T3" fmla="*/ 21 h 22"/>
                </a:gdLst>
                <a:ahLst/>
                <a:cxnLst>
                  <a:cxn ang="0">
                    <a:pos x="T0" y="T1"/>
                  </a:cxn>
                  <a:cxn ang="0">
                    <a:pos x="T2" y="T3"/>
                  </a:cxn>
                </a:cxnLst>
                <a:rect l="0" t="0" r="r" b="b"/>
                <a:pathLst>
                  <a:path w="19" h="22">
                    <a:moveTo>
                      <a:pt x="18" y="0"/>
                    </a:moveTo>
                    <a:cubicBezTo>
                      <a:pt x="12" y="7"/>
                      <a:pt x="6" y="14"/>
                      <a:pt x="0" y="2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Freeform 270">
                <a:extLst>
                  <a:ext uri="{FF2B5EF4-FFF2-40B4-BE49-F238E27FC236}">
                    <a16:creationId xmlns:a16="http://schemas.microsoft.com/office/drawing/2014/main" id="{661B19D6-0820-C4D4-5676-285EA8813E05}"/>
                  </a:ext>
                </a:extLst>
              </p:cNvPr>
              <p:cNvSpPr>
                <a:spLocks noChangeArrowheads="1"/>
              </p:cNvSpPr>
              <p:nvPr/>
            </p:nvSpPr>
            <p:spPr bwMode="auto">
              <a:xfrm>
                <a:off x="7331075" y="5765800"/>
                <a:ext cx="6350" cy="7938"/>
              </a:xfrm>
              <a:custGeom>
                <a:avLst/>
                <a:gdLst>
                  <a:gd name="T0" fmla="*/ 18 w 19"/>
                  <a:gd name="T1" fmla="*/ 21 h 22"/>
                  <a:gd name="T2" fmla="*/ 0 w 19"/>
                  <a:gd name="T3" fmla="*/ 0 h 22"/>
                </a:gdLst>
                <a:ahLst/>
                <a:cxnLst>
                  <a:cxn ang="0">
                    <a:pos x="T0" y="T1"/>
                  </a:cxn>
                  <a:cxn ang="0">
                    <a:pos x="T2" y="T3"/>
                  </a:cxn>
                </a:cxnLst>
                <a:rect l="0" t="0" r="r" b="b"/>
                <a:pathLst>
                  <a:path w="19" h="22">
                    <a:moveTo>
                      <a:pt x="18" y="21"/>
                    </a:moveTo>
                    <a:cubicBezTo>
                      <a:pt x="12" y="14"/>
                      <a:pt x="6" y="7"/>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Freeform 271">
                <a:extLst>
                  <a:ext uri="{FF2B5EF4-FFF2-40B4-BE49-F238E27FC236}">
                    <a16:creationId xmlns:a16="http://schemas.microsoft.com/office/drawing/2014/main" id="{D5E89A13-27DD-2EA2-B36C-7EF22D3C3F9C}"/>
                  </a:ext>
                </a:extLst>
              </p:cNvPr>
              <p:cNvSpPr>
                <a:spLocks noChangeArrowheads="1"/>
              </p:cNvSpPr>
              <p:nvPr/>
            </p:nvSpPr>
            <p:spPr bwMode="auto">
              <a:xfrm>
                <a:off x="7054850" y="5802313"/>
                <a:ext cx="4763" cy="9525"/>
              </a:xfrm>
              <a:custGeom>
                <a:avLst/>
                <a:gdLst>
                  <a:gd name="T0" fmla="*/ 11 w 12"/>
                  <a:gd name="T1" fmla="*/ 0 h 25"/>
                  <a:gd name="T2" fmla="*/ 0 w 12"/>
                  <a:gd name="T3" fmla="*/ 24 h 25"/>
                </a:gdLst>
                <a:ahLst/>
                <a:cxnLst>
                  <a:cxn ang="0">
                    <a:pos x="T0" y="T1"/>
                  </a:cxn>
                  <a:cxn ang="0">
                    <a:pos x="T2" y="T3"/>
                  </a:cxn>
                </a:cxnLst>
                <a:rect l="0" t="0" r="r" b="b"/>
                <a:pathLst>
                  <a:path w="12" h="25">
                    <a:moveTo>
                      <a:pt x="11" y="0"/>
                    </a:moveTo>
                    <a:cubicBezTo>
                      <a:pt x="8" y="8"/>
                      <a:pt x="4" y="16"/>
                      <a:pt x="0" y="2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Freeform 272">
                <a:extLst>
                  <a:ext uri="{FF2B5EF4-FFF2-40B4-BE49-F238E27FC236}">
                    <a16:creationId xmlns:a16="http://schemas.microsoft.com/office/drawing/2014/main" id="{8ED3FADD-BA23-4DAB-F6DF-A2C1BC37B736}"/>
                  </a:ext>
                </a:extLst>
              </p:cNvPr>
              <p:cNvSpPr>
                <a:spLocks noChangeArrowheads="1"/>
              </p:cNvSpPr>
              <p:nvPr/>
            </p:nvSpPr>
            <p:spPr bwMode="auto">
              <a:xfrm>
                <a:off x="7359650" y="5978525"/>
                <a:ext cx="4763" cy="952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10" y="8"/>
                      <a:pt x="5" y="17"/>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Freeform 273">
                <a:extLst>
                  <a:ext uri="{FF2B5EF4-FFF2-40B4-BE49-F238E27FC236}">
                    <a16:creationId xmlns:a16="http://schemas.microsoft.com/office/drawing/2014/main" id="{CE4EA15B-FC9D-6252-CDE7-B6E0D613C2C0}"/>
                  </a:ext>
                </a:extLst>
              </p:cNvPr>
              <p:cNvSpPr>
                <a:spLocks noChangeArrowheads="1"/>
              </p:cNvSpPr>
              <p:nvPr/>
            </p:nvSpPr>
            <p:spPr bwMode="auto">
              <a:xfrm>
                <a:off x="7292975" y="5738813"/>
                <a:ext cx="7938" cy="4762"/>
              </a:xfrm>
              <a:custGeom>
                <a:avLst/>
                <a:gdLst>
                  <a:gd name="T0" fmla="*/ 21 w 22"/>
                  <a:gd name="T1" fmla="*/ 14 h 15"/>
                  <a:gd name="T2" fmla="*/ 0 w 22"/>
                  <a:gd name="T3" fmla="*/ 0 h 15"/>
                </a:gdLst>
                <a:ahLst/>
                <a:cxnLst>
                  <a:cxn ang="0">
                    <a:pos x="T0" y="T1"/>
                  </a:cxn>
                  <a:cxn ang="0">
                    <a:pos x="T2" y="T3"/>
                  </a:cxn>
                </a:cxnLst>
                <a:rect l="0" t="0" r="r" b="b"/>
                <a:pathLst>
                  <a:path w="22" h="15">
                    <a:moveTo>
                      <a:pt x="21" y="14"/>
                    </a:moveTo>
                    <a:cubicBezTo>
                      <a:pt x="14" y="9"/>
                      <a:pt x="7"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Freeform 274">
                <a:extLst>
                  <a:ext uri="{FF2B5EF4-FFF2-40B4-BE49-F238E27FC236}">
                    <a16:creationId xmlns:a16="http://schemas.microsoft.com/office/drawing/2014/main" id="{27181CE8-5AD6-88A3-B6D6-3499C8B39D4F}"/>
                  </a:ext>
                </a:extLst>
              </p:cNvPr>
              <p:cNvSpPr>
                <a:spLocks noChangeArrowheads="1"/>
              </p:cNvSpPr>
              <p:nvPr/>
            </p:nvSpPr>
            <p:spPr bwMode="auto">
              <a:xfrm>
                <a:off x="7118350" y="6043613"/>
                <a:ext cx="7938" cy="4762"/>
              </a:xfrm>
              <a:custGeom>
                <a:avLst/>
                <a:gdLst>
                  <a:gd name="T0" fmla="*/ 21 w 22"/>
                  <a:gd name="T1" fmla="*/ 14 h 15"/>
                  <a:gd name="T2" fmla="*/ 0 w 22"/>
                  <a:gd name="T3" fmla="*/ 0 h 15"/>
                </a:gdLst>
                <a:ahLst/>
                <a:cxnLst>
                  <a:cxn ang="0">
                    <a:pos x="T0" y="T1"/>
                  </a:cxn>
                  <a:cxn ang="0">
                    <a:pos x="T2" y="T3"/>
                  </a:cxn>
                </a:cxnLst>
                <a:rect l="0" t="0" r="r" b="b"/>
                <a:pathLst>
                  <a:path w="22" h="15">
                    <a:moveTo>
                      <a:pt x="21" y="14"/>
                    </a:moveTo>
                    <a:cubicBezTo>
                      <a:pt x="14" y="9"/>
                      <a:pt x="7"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Freeform 275">
                <a:extLst>
                  <a:ext uri="{FF2B5EF4-FFF2-40B4-BE49-F238E27FC236}">
                    <a16:creationId xmlns:a16="http://schemas.microsoft.com/office/drawing/2014/main" id="{EA4C06C2-9540-5103-EEE6-A5AE0F9E5530}"/>
                  </a:ext>
                </a:extLst>
              </p:cNvPr>
              <p:cNvSpPr>
                <a:spLocks noChangeArrowheads="1"/>
              </p:cNvSpPr>
              <p:nvPr/>
            </p:nvSpPr>
            <p:spPr bwMode="auto">
              <a:xfrm>
                <a:off x="7038975" y="5843588"/>
                <a:ext cx="1588" cy="11112"/>
              </a:xfrm>
              <a:custGeom>
                <a:avLst/>
                <a:gdLst>
                  <a:gd name="T0" fmla="*/ 4 w 5"/>
                  <a:gd name="T1" fmla="*/ 0 h 29"/>
                  <a:gd name="T2" fmla="*/ 0 w 5"/>
                  <a:gd name="T3" fmla="*/ 28 h 29"/>
                </a:gdLst>
                <a:ahLst/>
                <a:cxnLst>
                  <a:cxn ang="0">
                    <a:pos x="T0" y="T1"/>
                  </a:cxn>
                  <a:cxn ang="0">
                    <a:pos x="T2" y="T3"/>
                  </a:cxn>
                </a:cxnLst>
                <a:rect l="0" t="0" r="r" b="b"/>
                <a:pathLst>
                  <a:path w="5" h="29">
                    <a:moveTo>
                      <a:pt x="4" y="0"/>
                    </a:moveTo>
                    <a:cubicBezTo>
                      <a:pt x="3" y="9"/>
                      <a:pt x="2" y="19"/>
                      <a:pt x="0" y="2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Freeform 276">
                <a:extLst>
                  <a:ext uri="{FF2B5EF4-FFF2-40B4-BE49-F238E27FC236}">
                    <a16:creationId xmlns:a16="http://schemas.microsoft.com/office/drawing/2014/main" id="{2E7CA5C9-4C12-03CA-BA19-9639198748D7}"/>
                  </a:ext>
                </a:extLst>
              </p:cNvPr>
              <p:cNvSpPr>
                <a:spLocks noChangeArrowheads="1"/>
              </p:cNvSpPr>
              <p:nvPr/>
            </p:nvSpPr>
            <p:spPr bwMode="auto">
              <a:xfrm>
                <a:off x="7378700" y="5935663"/>
                <a:ext cx="3175" cy="11112"/>
              </a:xfrm>
              <a:custGeom>
                <a:avLst/>
                <a:gdLst>
                  <a:gd name="T0" fmla="*/ 7 w 8"/>
                  <a:gd name="T1" fmla="*/ 0 h 29"/>
                  <a:gd name="T2" fmla="*/ 0 w 8"/>
                  <a:gd name="T3" fmla="*/ 28 h 29"/>
                </a:gdLst>
                <a:ahLst/>
                <a:cxnLst>
                  <a:cxn ang="0">
                    <a:pos x="T0" y="T1"/>
                  </a:cxn>
                  <a:cxn ang="0">
                    <a:pos x="T2" y="T3"/>
                  </a:cxn>
                </a:cxnLst>
                <a:rect l="0" t="0" r="r" b="b"/>
                <a:pathLst>
                  <a:path w="8" h="29">
                    <a:moveTo>
                      <a:pt x="7" y="0"/>
                    </a:moveTo>
                    <a:cubicBezTo>
                      <a:pt x="5" y="9"/>
                      <a:pt x="3" y="19"/>
                      <a:pt x="0" y="2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Freeform 277">
                <a:extLst>
                  <a:ext uri="{FF2B5EF4-FFF2-40B4-BE49-F238E27FC236}">
                    <a16:creationId xmlns:a16="http://schemas.microsoft.com/office/drawing/2014/main" id="{C2000D8B-0678-2398-C719-B5F58B88BAD8}"/>
                  </a:ext>
                </a:extLst>
              </p:cNvPr>
              <p:cNvSpPr>
                <a:spLocks noChangeArrowheads="1"/>
              </p:cNvSpPr>
              <p:nvPr/>
            </p:nvSpPr>
            <p:spPr bwMode="auto">
              <a:xfrm>
                <a:off x="7250113" y="5722938"/>
                <a:ext cx="9525" cy="3175"/>
              </a:xfrm>
              <a:custGeom>
                <a:avLst/>
                <a:gdLst>
                  <a:gd name="T0" fmla="*/ 25 w 26"/>
                  <a:gd name="T1" fmla="*/ 8 h 9"/>
                  <a:gd name="T2" fmla="*/ 0 w 26"/>
                  <a:gd name="T3" fmla="*/ 0 h 9"/>
                </a:gdLst>
                <a:ahLst/>
                <a:cxnLst>
                  <a:cxn ang="0">
                    <a:pos x="T0" y="T1"/>
                  </a:cxn>
                  <a:cxn ang="0">
                    <a:pos x="T2" y="T3"/>
                  </a:cxn>
                </a:cxnLst>
                <a:rect l="0" t="0" r="r" b="b"/>
                <a:pathLst>
                  <a:path w="26" h="9">
                    <a:moveTo>
                      <a:pt x="25" y="8"/>
                    </a:moveTo>
                    <a:cubicBezTo>
                      <a:pt x="17" y="5"/>
                      <a:pt x="9"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Freeform 278">
                <a:extLst>
                  <a:ext uri="{FF2B5EF4-FFF2-40B4-BE49-F238E27FC236}">
                    <a16:creationId xmlns:a16="http://schemas.microsoft.com/office/drawing/2014/main" id="{093106EC-5611-868D-2EC4-1D58D8EC18D0}"/>
                  </a:ext>
                </a:extLst>
              </p:cNvPr>
              <p:cNvSpPr>
                <a:spLocks noChangeArrowheads="1"/>
              </p:cNvSpPr>
              <p:nvPr/>
            </p:nvSpPr>
            <p:spPr bwMode="auto">
              <a:xfrm>
                <a:off x="7159625" y="6062663"/>
                <a:ext cx="9525" cy="3175"/>
              </a:xfrm>
              <a:custGeom>
                <a:avLst/>
                <a:gdLst>
                  <a:gd name="T0" fmla="*/ 24 w 25"/>
                  <a:gd name="T1" fmla="*/ 7 h 8"/>
                  <a:gd name="T2" fmla="*/ 0 w 25"/>
                  <a:gd name="T3" fmla="*/ 0 h 8"/>
                </a:gdLst>
                <a:ahLst/>
                <a:cxnLst>
                  <a:cxn ang="0">
                    <a:pos x="T0" y="T1"/>
                  </a:cxn>
                  <a:cxn ang="0">
                    <a:pos x="T2" y="T3"/>
                  </a:cxn>
                </a:cxnLst>
                <a:rect l="0" t="0" r="r" b="b"/>
                <a:pathLst>
                  <a:path w="25" h="8">
                    <a:moveTo>
                      <a:pt x="24" y="7"/>
                    </a:moveTo>
                    <a:cubicBezTo>
                      <a:pt x="16" y="5"/>
                      <a:pt x="8" y="2"/>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Freeform 279">
                <a:extLst>
                  <a:ext uri="{FF2B5EF4-FFF2-40B4-BE49-F238E27FC236}">
                    <a16:creationId xmlns:a16="http://schemas.microsoft.com/office/drawing/2014/main" id="{1445DA10-399A-A6B8-F598-BFFE427FA75B}"/>
                  </a:ext>
                </a:extLst>
              </p:cNvPr>
              <p:cNvSpPr>
                <a:spLocks noChangeArrowheads="1"/>
              </p:cNvSpPr>
              <p:nvPr/>
            </p:nvSpPr>
            <p:spPr bwMode="auto">
              <a:xfrm>
                <a:off x="6959600" y="5894388"/>
                <a:ext cx="298450" cy="1587"/>
              </a:xfrm>
              <a:custGeom>
                <a:avLst/>
                <a:gdLst>
                  <a:gd name="T0" fmla="*/ 827 w 828"/>
                  <a:gd name="T1" fmla="*/ 0 h 1"/>
                  <a:gd name="T2" fmla="*/ 0 w 828"/>
                  <a:gd name="T3" fmla="*/ 0 h 1"/>
                </a:gdLst>
                <a:ahLst/>
                <a:cxnLst>
                  <a:cxn ang="0">
                    <a:pos x="T0" y="T1"/>
                  </a:cxn>
                  <a:cxn ang="0">
                    <a:pos x="T2" y="T3"/>
                  </a:cxn>
                </a:cxnLst>
                <a:rect l="0" t="0" r="r" b="b"/>
                <a:pathLst>
                  <a:path w="828" h="1">
                    <a:moveTo>
                      <a:pt x="827" y="0"/>
                    </a:moveTo>
                    <a:cubicBezTo>
                      <a:pt x="552" y="0"/>
                      <a:pt x="276"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Freeform 280">
                <a:extLst>
                  <a:ext uri="{FF2B5EF4-FFF2-40B4-BE49-F238E27FC236}">
                    <a16:creationId xmlns:a16="http://schemas.microsoft.com/office/drawing/2014/main" id="{34C34B9E-803C-AAB1-43E8-E3C976F37337}"/>
                  </a:ext>
                </a:extLst>
              </p:cNvPr>
              <p:cNvSpPr>
                <a:spLocks noChangeArrowheads="1"/>
              </p:cNvSpPr>
              <p:nvPr/>
            </p:nvSpPr>
            <p:spPr bwMode="auto">
              <a:xfrm>
                <a:off x="7207250" y="5843588"/>
                <a:ext cx="49213" cy="101600"/>
              </a:xfrm>
              <a:custGeom>
                <a:avLst/>
                <a:gdLst>
                  <a:gd name="T0" fmla="*/ 0 w 138"/>
                  <a:gd name="T1" fmla="*/ 282 h 283"/>
                  <a:gd name="T2" fmla="*/ 133 w 138"/>
                  <a:gd name="T3" fmla="*/ 148 h 283"/>
                  <a:gd name="T4" fmla="*/ 133 w 138"/>
                  <a:gd name="T5" fmla="*/ 134 h 283"/>
                  <a:gd name="T6" fmla="*/ 0 w 138"/>
                  <a:gd name="T7" fmla="*/ 0 h 283"/>
                </a:gdLst>
                <a:ahLst/>
                <a:cxnLst>
                  <a:cxn ang="0">
                    <a:pos x="T0" y="T1"/>
                  </a:cxn>
                  <a:cxn ang="0">
                    <a:pos x="T2" y="T3"/>
                  </a:cxn>
                  <a:cxn ang="0">
                    <a:pos x="T4" y="T5"/>
                  </a:cxn>
                  <a:cxn ang="0">
                    <a:pos x="T6" y="T7"/>
                  </a:cxn>
                </a:cxnLst>
                <a:rect l="0" t="0" r="r" b="b"/>
                <a:pathLst>
                  <a:path w="138" h="283">
                    <a:moveTo>
                      <a:pt x="0" y="282"/>
                    </a:moveTo>
                    <a:cubicBezTo>
                      <a:pt x="45" y="237"/>
                      <a:pt x="89" y="193"/>
                      <a:pt x="133" y="148"/>
                    </a:cubicBezTo>
                    <a:cubicBezTo>
                      <a:pt x="137" y="144"/>
                      <a:pt x="137" y="137"/>
                      <a:pt x="133" y="134"/>
                    </a:cubicBezTo>
                    <a:cubicBezTo>
                      <a:pt x="89" y="89"/>
                      <a:pt x="45" y="4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Freeform 281">
                <a:extLst>
                  <a:ext uri="{FF2B5EF4-FFF2-40B4-BE49-F238E27FC236}">
                    <a16:creationId xmlns:a16="http://schemas.microsoft.com/office/drawing/2014/main" id="{3994B6BE-1E5E-2F54-B119-13E0EFFF5B0D}"/>
                  </a:ext>
                </a:extLst>
              </p:cNvPr>
              <p:cNvSpPr>
                <a:spLocks noChangeArrowheads="1"/>
              </p:cNvSpPr>
              <p:nvPr/>
            </p:nvSpPr>
            <p:spPr bwMode="auto">
              <a:xfrm>
                <a:off x="6781800" y="5716588"/>
                <a:ext cx="355600" cy="355600"/>
              </a:xfrm>
              <a:custGeom>
                <a:avLst/>
                <a:gdLst>
                  <a:gd name="T0" fmla="*/ 493 w 986"/>
                  <a:gd name="T1" fmla="*/ 986 h 987"/>
                  <a:gd name="T2" fmla="*/ 0 w 986"/>
                  <a:gd name="T3" fmla="*/ 493 h 987"/>
                  <a:gd name="T4" fmla="*/ 493 w 986"/>
                  <a:gd name="T5" fmla="*/ 0 h 987"/>
                  <a:gd name="T6" fmla="*/ 985 w 986"/>
                  <a:gd name="T7" fmla="*/ 493 h 987"/>
                  <a:gd name="T8" fmla="*/ 493 w 986"/>
                  <a:gd name="T9" fmla="*/ 986 h 987"/>
                </a:gdLst>
                <a:ahLst/>
                <a:cxnLst>
                  <a:cxn ang="0">
                    <a:pos x="T0" y="T1"/>
                  </a:cxn>
                  <a:cxn ang="0">
                    <a:pos x="T2" y="T3"/>
                  </a:cxn>
                  <a:cxn ang="0">
                    <a:pos x="T4" y="T5"/>
                  </a:cxn>
                  <a:cxn ang="0">
                    <a:pos x="T6" y="T7"/>
                  </a:cxn>
                  <a:cxn ang="0">
                    <a:pos x="T8" y="T9"/>
                  </a:cxn>
                </a:cxnLst>
                <a:rect l="0" t="0" r="r" b="b"/>
                <a:pathLst>
                  <a:path w="986" h="987">
                    <a:moveTo>
                      <a:pt x="493" y="986"/>
                    </a:moveTo>
                    <a:cubicBezTo>
                      <a:pt x="221" y="986"/>
                      <a:pt x="0" y="764"/>
                      <a:pt x="0" y="493"/>
                    </a:cubicBezTo>
                    <a:cubicBezTo>
                      <a:pt x="0" y="222"/>
                      <a:pt x="222" y="0"/>
                      <a:pt x="493" y="0"/>
                    </a:cubicBezTo>
                    <a:cubicBezTo>
                      <a:pt x="765" y="0"/>
                      <a:pt x="985" y="222"/>
                      <a:pt x="985" y="493"/>
                    </a:cubicBezTo>
                    <a:cubicBezTo>
                      <a:pt x="985" y="764"/>
                      <a:pt x="764" y="986"/>
                      <a:pt x="493" y="98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4" name="Group 3">
            <a:extLst>
              <a:ext uri="{FF2B5EF4-FFF2-40B4-BE49-F238E27FC236}">
                <a16:creationId xmlns:a16="http://schemas.microsoft.com/office/drawing/2014/main" id="{F6E85470-519C-89EB-2F85-98A6618AEFFF}"/>
              </a:ext>
            </a:extLst>
          </p:cNvPr>
          <p:cNvGrpSpPr/>
          <p:nvPr/>
        </p:nvGrpSpPr>
        <p:grpSpPr>
          <a:xfrm>
            <a:off x="-3935863" y="2102342"/>
            <a:ext cx="582028" cy="459870"/>
            <a:chOff x="7318743" y="4128283"/>
            <a:chExt cx="160790" cy="127043"/>
          </a:xfrm>
          <a:solidFill>
            <a:srgbClr val="FFFF00">
              <a:alpha val="43000"/>
            </a:srgbClr>
          </a:solidFill>
        </p:grpSpPr>
        <p:sp>
          <p:nvSpPr>
            <p:cNvPr id="35" name="Freeform 278">
              <a:extLst>
                <a:ext uri="{FF2B5EF4-FFF2-40B4-BE49-F238E27FC236}">
                  <a16:creationId xmlns:a16="http://schemas.microsoft.com/office/drawing/2014/main" id="{2A33674F-84C7-4E9F-3D73-6BBDDEF3C4A7}"/>
                </a:ext>
              </a:extLst>
            </p:cNvPr>
            <p:cNvSpPr>
              <a:spLocks noChangeArrowheads="1"/>
            </p:cNvSpPr>
            <p:nvPr/>
          </p:nvSpPr>
          <p:spPr bwMode="auto">
            <a:xfrm>
              <a:off x="7360430" y="4128283"/>
              <a:ext cx="77417" cy="77418"/>
            </a:xfrm>
            <a:custGeom>
              <a:avLst/>
              <a:gdLst>
                <a:gd name="T0" fmla="*/ 169 w 170"/>
                <a:gd name="T1" fmla="*/ 85 h 171"/>
                <a:gd name="T2" fmla="*/ 158 w 170"/>
                <a:gd name="T3" fmla="*/ 127 h 171"/>
                <a:gd name="T4" fmla="*/ 127 w 170"/>
                <a:gd name="T5" fmla="*/ 158 h 171"/>
                <a:gd name="T6" fmla="*/ 85 w 170"/>
                <a:gd name="T7" fmla="*/ 170 h 171"/>
                <a:gd name="T8" fmla="*/ 42 w 170"/>
                <a:gd name="T9" fmla="*/ 158 h 171"/>
                <a:gd name="T10" fmla="*/ 11 w 170"/>
                <a:gd name="T11" fmla="*/ 127 h 171"/>
                <a:gd name="T12" fmla="*/ 0 w 170"/>
                <a:gd name="T13" fmla="*/ 85 h 171"/>
                <a:gd name="T14" fmla="*/ 11 w 170"/>
                <a:gd name="T15" fmla="*/ 43 h 171"/>
                <a:gd name="T16" fmla="*/ 42 w 170"/>
                <a:gd name="T17" fmla="*/ 12 h 171"/>
                <a:gd name="T18" fmla="*/ 85 w 170"/>
                <a:gd name="T19" fmla="*/ 0 h 171"/>
                <a:gd name="T20" fmla="*/ 127 w 170"/>
                <a:gd name="T21" fmla="*/ 12 h 171"/>
                <a:gd name="T22" fmla="*/ 158 w 170"/>
                <a:gd name="T23" fmla="*/ 43 h 171"/>
                <a:gd name="T24" fmla="*/ 169 w 170"/>
                <a:gd name="T25" fmla="*/ 8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171">
                  <a:moveTo>
                    <a:pt x="169" y="85"/>
                  </a:moveTo>
                  <a:cubicBezTo>
                    <a:pt x="169" y="100"/>
                    <a:pt x="166" y="114"/>
                    <a:pt x="158" y="127"/>
                  </a:cubicBezTo>
                  <a:cubicBezTo>
                    <a:pt x="150" y="141"/>
                    <a:pt x="141" y="150"/>
                    <a:pt x="127" y="158"/>
                  </a:cubicBezTo>
                  <a:cubicBezTo>
                    <a:pt x="114" y="166"/>
                    <a:pt x="101" y="170"/>
                    <a:pt x="85" y="170"/>
                  </a:cubicBezTo>
                  <a:cubicBezTo>
                    <a:pt x="70" y="170"/>
                    <a:pt x="56" y="166"/>
                    <a:pt x="42" y="158"/>
                  </a:cubicBezTo>
                  <a:cubicBezTo>
                    <a:pt x="29" y="150"/>
                    <a:pt x="19" y="141"/>
                    <a:pt x="11" y="127"/>
                  </a:cubicBezTo>
                  <a:cubicBezTo>
                    <a:pt x="4" y="114"/>
                    <a:pt x="0" y="101"/>
                    <a:pt x="0" y="85"/>
                  </a:cubicBezTo>
                  <a:cubicBezTo>
                    <a:pt x="0" y="70"/>
                    <a:pt x="4" y="57"/>
                    <a:pt x="11" y="43"/>
                  </a:cubicBezTo>
                  <a:cubicBezTo>
                    <a:pt x="19" y="30"/>
                    <a:pt x="29" y="20"/>
                    <a:pt x="42" y="12"/>
                  </a:cubicBezTo>
                  <a:cubicBezTo>
                    <a:pt x="56" y="5"/>
                    <a:pt x="69" y="0"/>
                    <a:pt x="85" y="0"/>
                  </a:cubicBezTo>
                  <a:cubicBezTo>
                    <a:pt x="100" y="0"/>
                    <a:pt x="114" y="5"/>
                    <a:pt x="127" y="12"/>
                  </a:cubicBezTo>
                  <a:cubicBezTo>
                    <a:pt x="141" y="20"/>
                    <a:pt x="150" y="30"/>
                    <a:pt x="158" y="43"/>
                  </a:cubicBezTo>
                  <a:cubicBezTo>
                    <a:pt x="166" y="57"/>
                    <a:pt x="169" y="69"/>
                    <a:pt x="169" y="85"/>
                  </a:cubicBezTo>
                </a:path>
              </a:pathLst>
            </a:custGeom>
            <a:grpFill/>
            <a:ln w="15875" cap="flat">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7" name="Freeform 279">
              <a:extLst>
                <a:ext uri="{FF2B5EF4-FFF2-40B4-BE49-F238E27FC236}">
                  <a16:creationId xmlns:a16="http://schemas.microsoft.com/office/drawing/2014/main" id="{D21CE68D-6E43-C89C-3D52-4C97FD1F3FF5}"/>
                </a:ext>
              </a:extLst>
            </p:cNvPr>
            <p:cNvSpPr>
              <a:spLocks noChangeArrowheads="1"/>
            </p:cNvSpPr>
            <p:nvPr/>
          </p:nvSpPr>
          <p:spPr bwMode="auto">
            <a:xfrm>
              <a:off x="7318743" y="4203715"/>
              <a:ext cx="160790" cy="51611"/>
            </a:xfrm>
            <a:custGeom>
              <a:avLst/>
              <a:gdLst>
                <a:gd name="T0" fmla="*/ 357 w 358"/>
                <a:gd name="T1" fmla="*/ 112 h 113"/>
                <a:gd name="T2" fmla="*/ 179 w 358"/>
                <a:gd name="T3" fmla="*/ 0 h 113"/>
                <a:gd name="T4" fmla="*/ 0 w 358"/>
                <a:gd name="T5" fmla="*/ 112 h 113"/>
              </a:gdLst>
              <a:ahLst/>
              <a:cxnLst>
                <a:cxn ang="0">
                  <a:pos x="T0" y="T1"/>
                </a:cxn>
                <a:cxn ang="0">
                  <a:pos x="T2" y="T3"/>
                </a:cxn>
                <a:cxn ang="0">
                  <a:pos x="T4" y="T5"/>
                </a:cxn>
              </a:cxnLst>
              <a:rect l="0" t="0" r="r" b="b"/>
              <a:pathLst>
                <a:path w="358" h="113">
                  <a:moveTo>
                    <a:pt x="357" y="112"/>
                  </a:moveTo>
                  <a:cubicBezTo>
                    <a:pt x="326" y="46"/>
                    <a:pt x="258" y="0"/>
                    <a:pt x="179" y="0"/>
                  </a:cubicBezTo>
                  <a:cubicBezTo>
                    <a:pt x="100" y="0"/>
                    <a:pt x="32" y="46"/>
                    <a:pt x="0" y="112"/>
                  </a:cubicBezTo>
                </a:path>
              </a:pathLst>
            </a:custGeom>
            <a:grpFill/>
            <a:ln w="15875" cap="rnd">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ira Sans Light" panose="020B0403050000020004" pitchFamily="34" charset="0"/>
                <a:ea typeface="+mn-ea"/>
                <a:cs typeface="+mn-cs"/>
              </a:endParaRPr>
            </a:p>
          </p:txBody>
        </p:sp>
      </p:grpSp>
      <p:sp>
        <p:nvSpPr>
          <p:cNvPr id="36" name="TextBox 35">
            <a:extLst>
              <a:ext uri="{FF2B5EF4-FFF2-40B4-BE49-F238E27FC236}">
                <a16:creationId xmlns:a16="http://schemas.microsoft.com/office/drawing/2014/main" id="{55F7E5E7-5967-508D-E263-CF500203031D}"/>
              </a:ext>
            </a:extLst>
          </p:cNvPr>
          <p:cNvSpPr txBox="1"/>
          <p:nvPr/>
        </p:nvSpPr>
        <p:spPr>
          <a:xfrm>
            <a:off x="1977287" y="2155126"/>
            <a:ext cx="683200"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Fira Sans" panose="020B0503050000020004" pitchFamily="34" charset="0"/>
                <a:ea typeface="+mn-ea"/>
                <a:cs typeface="+mn-cs"/>
              </a:rPr>
              <a:t>Engage</a:t>
            </a:r>
          </a:p>
        </p:txBody>
      </p:sp>
      <p:grpSp>
        <p:nvGrpSpPr>
          <p:cNvPr id="37" name="Group 36">
            <a:extLst>
              <a:ext uri="{FF2B5EF4-FFF2-40B4-BE49-F238E27FC236}">
                <a16:creationId xmlns:a16="http://schemas.microsoft.com/office/drawing/2014/main" id="{7E2CB031-959F-6AA1-2A45-05716D22E6FE}"/>
              </a:ext>
            </a:extLst>
          </p:cNvPr>
          <p:cNvGrpSpPr/>
          <p:nvPr/>
        </p:nvGrpSpPr>
        <p:grpSpPr>
          <a:xfrm>
            <a:off x="2059306" y="1639911"/>
            <a:ext cx="523896" cy="517069"/>
            <a:chOff x="10744408" y="603676"/>
            <a:chExt cx="609413" cy="601472"/>
          </a:xfrm>
        </p:grpSpPr>
        <p:sp>
          <p:nvSpPr>
            <p:cNvPr id="38" name="Freeform 64">
              <a:extLst>
                <a:ext uri="{FF2B5EF4-FFF2-40B4-BE49-F238E27FC236}">
                  <a16:creationId xmlns:a16="http://schemas.microsoft.com/office/drawing/2014/main" id="{583EA5C7-08EB-E5B4-2E93-EBB9B4B36C26}"/>
                </a:ext>
              </a:extLst>
            </p:cNvPr>
            <p:cNvSpPr>
              <a:spLocks noChangeArrowheads="1"/>
            </p:cNvSpPr>
            <p:nvPr/>
          </p:nvSpPr>
          <p:spPr bwMode="auto">
            <a:xfrm>
              <a:off x="10841676" y="625510"/>
              <a:ext cx="89327" cy="89328"/>
            </a:xfrm>
            <a:custGeom>
              <a:avLst/>
              <a:gdLst>
                <a:gd name="T0" fmla="*/ 198 w 199"/>
                <a:gd name="T1" fmla="*/ 98 h 198"/>
                <a:gd name="T2" fmla="*/ 184 w 199"/>
                <a:gd name="T3" fmla="*/ 148 h 198"/>
                <a:gd name="T4" fmla="*/ 148 w 199"/>
                <a:gd name="T5" fmla="*/ 184 h 198"/>
                <a:gd name="T6" fmla="*/ 99 w 199"/>
                <a:gd name="T7" fmla="*/ 197 h 198"/>
                <a:gd name="T8" fmla="*/ 49 w 199"/>
                <a:gd name="T9" fmla="*/ 184 h 198"/>
                <a:gd name="T10" fmla="*/ 13 w 199"/>
                <a:gd name="T11" fmla="*/ 148 h 198"/>
                <a:gd name="T12" fmla="*/ 0 w 199"/>
                <a:gd name="T13" fmla="*/ 98 h 198"/>
                <a:gd name="T14" fmla="*/ 13 w 199"/>
                <a:gd name="T15" fmla="*/ 49 h 198"/>
                <a:gd name="T16" fmla="*/ 49 w 199"/>
                <a:gd name="T17" fmla="*/ 13 h 198"/>
                <a:gd name="T18" fmla="*/ 99 w 199"/>
                <a:gd name="T19" fmla="*/ 0 h 198"/>
                <a:gd name="T20" fmla="*/ 148 w 199"/>
                <a:gd name="T21" fmla="*/ 13 h 198"/>
                <a:gd name="T22" fmla="*/ 184 w 199"/>
                <a:gd name="T23" fmla="*/ 49 h 198"/>
                <a:gd name="T24" fmla="*/ 198 w 199"/>
                <a:gd name="T25" fmla="*/ 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9" h="198">
                  <a:moveTo>
                    <a:pt x="198" y="98"/>
                  </a:moveTo>
                  <a:cubicBezTo>
                    <a:pt x="198" y="117"/>
                    <a:pt x="193" y="132"/>
                    <a:pt x="184" y="148"/>
                  </a:cubicBezTo>
                  <a:cubicBezTo>
                    <a:pt x="175" y="164"/>
                    <a:pt x="164" y="175"/>
                    <a:pt x="148" y="184"/>
                  </a:cubicBezTo>
                  <a:cubicBezTo>
                    <a:pt x="132" y="193"/>
                    <a:pt x="117" y="197"/>
                    <a:pt x="99" y="197"/>
                  </a:cubicBezTo>
                  <a:cubicBezTo>
                    <a:pt x="81" y="197"/>
                    <a:pt x="65" y="193"/>
                    <a:pt x="49" y="184"/>
                  </a:cubicBezTo>
                  <a:cubicBezTo>
                    <a:pt x="34" y="175"/>
                    <a:pt x="22" y="164"/>
                    <a:pt x="13" y="148"/>
                  </a:cubicBezTo>
                  <a:cubicBezTo>
                    <a:pt x="4" y="132"/>
                    <a:pt x="0" y="116"/>
                    <a:pt x="0" y="98"/>
                  </a:cubicBezTo>
                  <a:cubicBezTo>
                    <a:pt x="0" y="79"/>
                    <a:pt x="4" y="65"/>
                    <a:pt x="13" y="49"/>
                  </a:cubicBezTo>
                  <a:cubicBezTo>
                    <a:pt x="22" y="33"/>
                    <a:pt x="34" y="22"/>
                    <a:pt x="49" y="13"/>
                  </a:cubicBezTo>
                  <a:cubicBezTo>
                    <a:pt x="65" y="4"/>
                    <a:pt x="81" y="0"/>
                    <a:pt x="99" y="0"/>
                  </a:cubicBezTo>
                  <a:cubicBezTo>
                    <a:pt x="117" y="0"/>
                    <a:pt x="132" y="4"/>
                    <a:pt x="148" y="13"/>
                  </a:cubicBezTo>
                  <a:cubicBezTo>
                    <a:pt x="164" y="22"/>
                    <a:pt x="175" y="33"/>
                    <a:pt x="184" y="49"/>
                  </a:cubicBezTo>
                  <a:cubicBezTo>
                    <a:pt x="193" y="65"/>
                    <a:pt x="198" y="80"/>
                    <a:pt x="198" y="98"/>
                  </a:cubicBezTo>
                </a:path>
              </a:pathLst>
            </a:custGeom>
            <a:noFill/>
            <a:ln w="15875" cap="flat">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9" name="Freeform 65">
              <a:extLst>
                <a:ext uri="{FF2B5EF4-FFF2-40B4-BE49-F238E27FC236}">
                  <a16:creationId xmlns:a16="http://schemas.microsoft.com/office/drawing/2014/main" id="{AF9119F9-8457-35C2-709F-ECB858B67603}"/>
                </a:ext>
              </a:extLst>
            </p:cNvPr>
            <p:cNvSpPr>
              <a:spLocks noChangeArrowheads="1"/>
            </p:cNvSpPr>
            <p:nvPr/>
          </p:nvSpPr>
          <p:spPr bwMode="auto">
            <a:xfrm>
              <a:off x="10744408" y="603676"/>
              <a:ext cx="325549" cy="601471"/>
            </a:xfrm>
            <a:custGeom>
              <a:avLst/>
              <a:gdLst>
                <a:gd name="T0" fmla="*/ 453 w 725"/>
                <a:gd name="T1" fmla="*/ 1284 h 1335"/>
                <a:gd name="T2" fmla="*/ 403 w 725"/>
                <a:gd name="T3" fmla="*/ 1334 h 1335"/>
                <a:gd name="T4" fmla="*/ 354 w 725"/>
                <a:gd name="T5" fmla="*/ 1284 h 1335"/>
                <a:gd name="T6" fmla="*/ 354 w 725"/>
                <a:gd name="T7" fmla="*/ 865 h 1335"/>
                <a:gd name="T8" fmla="*/ 313 w 725"/>
                <a:gd name="T9" fmla="*/ 823 h 1335"/>
                <a:gd name="T10" fmla="*/ 272 w 725"/>
                <a:gd name="T11" fmla="*/ 865 h 1335"/>
                <a:gd name="T12" fmla="*/ 272 w 725"/>
                <a:gd name="T13" fmla="*/ 1284 h 1335"/>
                <a:gd name="T14" fmla="*/ 222 w 725"/>
                <a:gd name="T15" fmla="*/ 1334 h 1335"/>
                <a:gd name="T16" fmla="*/ 173 w 725"/>
                <a:gd name="T17" fmla="*/ 1284 h 1335"/>
                <a:gd name="T18" fmla="*/ 173 w 725"/>
                <a:gd name="T19" fmla="*/ 489 h 1335"/>
                <a:gd name="T20" fmla="*/ 170 w 725"/>
                <a:gd name="T21" fmla="*/ 484 h 1335"/>
                <a:gd name="T22" fmla="*/ 164 w 725"/>
                <a:gd name="T23" fmla="*/ 485 h 1335"/>
                <a:gd name="T24" fmla="*/ 99 w 725"/>
                <a:gd name="T25" fmla="*/ 642 h 1335"/>
                <a:gd name="T26" fmla="*/ 99 w 725"/>
                <a:gd name="T27" fmla="*/ 766 h 1335"/>
                <a:gd name="T28" fmla="*/ 49 w 725"/>
                <a:gd name="T29" fmla="*/ 815 h 1335"/>
                <a:gd name="T30" fmla="*/ 0 w 725"/>
                <a:gd name="T31" fmla="*/ 766 h 1335"/>
                <a:gd name="T32" fmla="*/ 0 w 725"/>
                <a:gd name="T33" fmla="*/ 634 h 1335"/>
                <a:gd name="T34" fmla="*/ 313 w 725"/>
                <a:gd name="T35" fmla="*/ 321 h 1335"/>
                <a:gd name="T36" fmla="*/ 428 w 725"/>
                <a:gd name="T37" fmla="*/ 321 h 1335"/>
                <a:gd name="T38" fmla="*/ 626 w 725"/>
                <a:gd name="T39" fmla="*/ 123 h 1335"/>
                <a:gd name="T40" fmla="*/ 626 w 725"/>
                <a:gd name="T41" fmla="*/ 49 h 1335"/>
                <a:gd name="T42" fmla="*/ 675 w 725"/>
                <a:gd name="T43" fmla="*/ 0 h 1335"/>
                <a:gd name="T44" fmla="*/ 724 w 725"/>
                <a:gd name="T45" fmla="*/ 49 h 1335"/>
                <a:gd name="T46" fmla="*/ 724 w 725"/>
                <a:gd name="T47" fmla="*/ 123 h 1335"/>
                <a:gd name="T48" fmla="*/ 470 w 725"/>
                <a:gd name="T49" fmla="*/ 417 h 1335"/>
                <a:gd name="T50" fmla="*/ 463 w 725"/>
                <a:gd name="T51" fmla="*/ 418 h 1335"/>
                <a:gd name="T52" fmla="*/ 453 w 725"/>
                <a:gd name="T53" fmla="*/ 430 h 1335"/>
                <a:gd name="T54" fmla="*/ 453 w 725"/>
                <a:gd name="T55" fmla="*/ 1284 h 1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5" h="1335">
                  <a:moveTo>
                    <a:pt x="453" y="1284"/>
                  </a:moveTo>
                  <a:cubicBezTo>
                    <a:pt x="453" y="1312"/>
                    <a:pt x="431" y="1334"/>
                    <a:pt x="403" y="1334"/>
                  </a:cubicBezTo>
                  <a:cubicBezTo>
                    <a:pt x="376" y="1334"/>
                    <a:pt x="354" y="1312"/>
                    <a:pt x="354" y="1284"/>
                  </a:cubicBezTo>
                  <a:cubicBezTo>
                    <a:pt x="354" y="1144"/>
                    <a:pt x="354" y="1005"/>
                    <a:pt x="354" y="865"/>
                  </a:cubicBezTo>
                  <a:cubicBezTo>
                    <a:pt x="354" y="842"/>
                    <a:pt x="335" y="823"/>
                    <a:pt x="313" y="823"/>
                  </a:cubicBezTo>
                  <a:cubicBezTo>
                    <a:pt x="290" y="823"/>
                    <a:pt x="272" y="842"/>
                    <a:pt x="272" y="865"/>
                  </a:cubicBezTo>
                  <a:cubicBezTo>
                    <a:pt x="272" y="1005"/>
                    <a:pt x="272" y="1144"/>
                    <a:pt x="272" y="1284"/>
                  </a:cubicBezTo>
                  <a:cubicBezTo>
                    <a:pt x="272" y="1312"/>
                    <a:pt x="249" y="1334"/>
                    <a:pt x="222" y="1334"/>
                  </a:cubicBezTo>
                  <a:cubicBezTo>
                    <a:pt x="195" y="1334"/>
                    <a:pt x="173" y="1312"/>
                    <a:pt x="173" y="1284"/>
                  </a:cubicBezTo>
                  <a:cubicBezTo>
                    <a:pt x="173" y="1019"/>
                    <a:pt x="173" y="754"/>
                    <a:pt x="173" y="489"/>
                  </a:cubicBezTo>
                  <a:cubicBezTo>
                    <a:pt x="173" y="487"/>
                    <a:pt x="172" y="485"/>
                    <a:pt x="170" y="484"/>
                  </a:cubicBezTo>
                  <a:cubicBezTo>
                    <a:pt x="168" y="483"/>
                    <a:pt x="165" y="484"/>
                    <a:pt x="164" y="485"/>
                  </a:cubicBezTo>
                  <a:cubicBezTo>
                    <a:pt x="122" y="527"/>
                    <a:pt x="99" y="583"/>
                    <a:pt x="99" y="642"/>
                  </a:cubicBezTo>
                  <a:cubicBezTo>
                    <a:pt x="99" y="683"/>
                    <a:pt x="99" y="725"/>
                    <a:pt x="99" y="766"/>
                  </a:cubicBezTo>
                  <a:cubicBezTo>
                    <a:pt x="99" y="793"/>
                    <a:pt x="77" y="815"/>
                    <a:pt x="49" y="815"/>
                  </a:cubicBezTo>
                  <a:cubicBezTo>
                    <a:pt x="22" y="815"/>
                    <a:pt x="0" y="793"/>
                    <a:pt x="0" y="766"/>
                  </a:cubicBezTo>
                  <a:cubicBezTo>
                    <a:pt x="0" y="722"/>
                    <a:pt x="0" y="678"/>
                    <a:pt x="0" y="634"/>
                  </a:cubicBezTo>
                  <a:cubicBezTo>
                    <a:pt x="0" y="462"/>
                    <a:pt x="140" y="321"/>
                    <a:pt x="313" y="321"/>
                  </a:cubicBezTo>
                  <a:cubicBezTo>
                    <a:pt x="351" y="321"/>
                    <a:pt x="390" y="321"/>
                    <a:pt x="428" y="321"/>
                  </a:cubicBezTo>
                  <a:cubicBezTo>
                    <a:pt x="537" y="321"/>
                    <a:pt x="626" y="232"/>
                    <a:pt x="626" y="123"/>
                  </a:cubicBezTo>
                  <a:cubicBezTo>
                    <a:pt x="626" y="98"/>
                    <a:pt x="626" y="74"/>
                    <a:pt x="626" y="49"/>
                  </a:cubicBezTo>
                  <a:cubicBezTo>
                    <a:pt x="626" y="22"/>
                    <a:pt x="648" y="0"/>
                    <a:pt x="675" y="0"/>
                  </a:cubicBezTo>
                  <a:cubicBezTo>
                    <a:pt x="702" y="0"/>
                    <a:pt x="724" y="22"/>
                    <a:pt x="724" y="49"/>
                  </a:cubicBezTo>
                  <a:cubicBezTo>
                    <a:pt x="724" y="74"/>
                    <a:pt x="724" y="98"/>
                    <a:pt x="724" y="123"/>
                  </a:cubicBezTo>
                  <a:cubicBezTo>
                    <a:pt x="724" y="273"/>
                    <a:pt x="614" y="396"/>
                    <a:pt x="470" y="417"/>
                  </a:cubicBezTo>
                  <a:cubicBezTo>
                    <a:pt x="468" y="417"/>
                    <a:pt x="465" y="418"/>
                    <a:pt x="463" y="418"/>
                  </a:cubicBezTo>
                  <a:cubicBezTo>
                    <a:pt x="457" y="418"/>
                    <a:pt x="453" y="424"/>
                    <a:pt x="453" y="430"/>
                  </a:cubicBezTo>
                  <a:cubicBezTo>
                    <a:pt x="453" y="715"/>
                    <a:pt x="453" y="999"/>
                    <a:pt x="453" y="1284"/>
                  </a:cubicBezTo>
                </a:path>
              </a:pathLst>
            </a:custGeom>
            <a:noFill/>
            <a:ln w="15875" cap="flat">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0" name="Freeform 66">
              <a:extLst>
                <a:ext uri="{FF2B5EF4-FFF2-40B4-BE49-F238E27FC236}">
                  <a16:creationId xmlns:a16="http://schemas.microsoft.com/office/drawing/2014/main" id="{3EC36C6E-595E-A706-27F8-3A552F8BD1D2}"/>
                </a:ext>
              </a:extLst>
            </p:cNvPr>
            <p:cNvSpPr>
              <a:spLocks noChangeArrowheads="1"/>
            </p:cNvSpPr>
            <p:nvPr/>
          </p:nvSpPr>
          <p:spPr bwMode="auto">
            <a:xfrm>
              <a:off x="11167225" y="625510"/>
              <a:ext cx="89327" cy="89328"/>
            </a:xfrm>
            <a:custGeom>
              <a:avLst/>
              <a:gdLst>
                <a:gd name="T0" fmla="*/ 198 w 199"/>
                <a:gd name="T1" fmla="*/ 98 h 198"/>
                <a:gd name="T2" fmla="*/ 185 w 199"/>
                <a:gd name="T3" fmla="*/ 148 h 198"/>
                <a:gd name="T4" fmla="*/ 149 w 199"/>
                <a:gd name="T5" fmla="*/ 184 h 198"/>
                <a:gd name="T6" fmla="*/ 99 w 199"/>
                <a:gd name="T7" fmla="*/ 197 h 198"/>
                <a:gd name="T8" fmla="*/ 50 w 199"/>
                <a:gd name="T9" fmla="*/ 184 h 198"/>
                <a:gd name="T10" fmla="*/ 14 w 199"/>
                <a:gd name="T11" fmla="*/ 148 h 198"/>
                <a:gd name="T12" fmla="*/ 0 w 199"/>
                <a:gd name="T13" fmla="*/ 98 h 198"/>
                <a:gd name="T14" fmla="*/ 14 w 199"/>
                <a:gd name="T15" fmla="*/ 49 h 198"/>
                <a:gd name="T16" fmla="*/ 50 w 199"/>
                <a:gd name="T17" fmla="*/ 13 h 198"/>
                <a:gd name="T18" fmla="*/ 99 w 199"/>
                <a:gd name="T19" fmla="*/ 0 h 198"/>
                <a:gd name="T20" fmla="*/ 149 w 199"/>
                <a:gd name="T21" fmla="*/ 13 h 198"/>
                <a:gd name="T22" fmla="*/ 185 w 199"/>
                <a:gd name="T23" fmla="*/ 49 h 198"/>
                <a:gd name="T24" fmla="*/ 198 w 199"/>
                <a:gd name="T25" fmla="*/ 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9" h="198">
                  <a:moveTo>
                    <a:pt x="198" y="98"/>
                  </a:moveTo>
                  <a:cubicBezTo>
                    <a:pt x="198" y="117"/>
                    <a:pt x="194" y="132"/>
                    <a:pt x="185" y="148"/>
                  </a:cubicBezTo>
                  <a:cubicBezTo>
                    <a:pt x="176" y="164"/>
                    <a:pt x="165" y="175"/>
                    <a:pt x="149" y="184"/>
                  </a:cubicBezTo>
                  <a:cubicBezTo>
                    <a:pt x="134" y="193"/>
                    <a:pt x="117" y="197"/>
                    <a:pt x="99" y="197"/>
                  </a:cubicBezTo>
                  <a:cubicBezTo>
                    <a:pt x="81" y="197"/>
                    <a:pt x="66" y="193"/>
                    <a:pt x="50" y="184"/>
                  </a:cubicBezTo>
                  <a:cubicBezTo>
                    <a:pt x="35" y="175"/>
                    <a:pt x="24" y="164"/>
                    <a:pt x="14" y="148"/>
                  </a:cubicBezTo>
                  <a:cubicBezTo>
                    <a:pt x="5" y="132"/>
                    <a:pt x="0" y="116"/>
                    <a:pt x="0" y="98"/>
                  </a:cubicBezTo>
                  <a:cubicBezTo>
                    <a:pt x="0" y="79"/>
                    <a:pt x="5" y="65"/>
                    <a:pt x="14" y="49"/>
                  </a:cubicBezTo>
                  <a:cubicBezTo>
                    <a:pt x="24" y="33"/>
                    <a:pt x="35" y="22"/>
                    <a:pt x="50" y="13"/>
                  </a:cubicBezTo>
                  <a:cubicBezTo>
                    <a:pt x="66" y="4"/>
                    <a:pt x="81" y="0"/>
                    <a:pt x="99" y="0"/>
                  </a:cubicBezTo>
                  <a:cubicBezTo>
                    <a:pt x="117" y="0"/>
                    <a:pt x="134" y="4"/>
                    <a:pt x="149" y="13"/>
                  </a:cubicBezTo>
                  <a:cubicBezTo>
                    <a:pt x="165" y="22"/>
                    <a:pt x="176" y="33"/>
                    <a:pt x="185" y="49"/>
                  </a:cubicBezTo>
                  <a:cubicBezTo>
                    <a:pt x="194" y="65"/>
                    <a:pt x="198" y="80"/>
                    <a:pt x="198" y="98"/>
                  </a:cubicBezTo>
                </a:path>
              </a:pathLst>
            </a:custGeom>
            <a:noFill/>
            <a:ln w="15875" cap="flat">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1" name="Freeform 67">
              <a:extLst>
                <a:ext uri="{FF2B5EF4-FFF2-40B4-BE49-F238E27FC236}">
                  <a16:creationId xmlns:a16="http://schemas.microsoft.com/office/drawing/2014/main" id="{AFBDD71C-A0D7-3E7B-3DD9-4F416C1E9EC4}"/>
                </a:ext>
              </a:extLst>
            </p:cNvPr>
            <p:cNvSpPr>
              <a:spLocks noChangeArrowheads="1"/>
            </p:cNvSpPr>
            <p:nvPr/>
          </p:nvSpPr>
          <p:spPr bwMode="auto">
            <a:xfrm>
              <a:off x="11050107" y="659258"/>
              <a:ext cx="303714" cy="545890"/>
            </a:xfrm>
            <a:custGeom>
              <a:avLst/>
              <a:gdLst>
                <a:gd name="T0" fmla="*/ 0 w 676"/>
                <a:gd name="T1" fmla="*/ 164 h 1212"/>
                <a:gd name="T2" fmla="*/ 205 w 676"/>
                <a:gd name="T3" fmla="*/ 294 h 1212"/>
                <a:gd name="T4" fmla="*/ 212 w 676"/>
                <a:gd name="T5" fmla="*/ 295 h 1212"/>
                <a:gd name="T6" fmla="*/ 222 w 676"/>
                <a:gd name="T7" fmla="*/ 307 h 1212"/>
                <a:gd name="T8" fmla="*/ 222 w 676"/>
                <a:gd name="T9" fmla="*/ 1161 h 1212"/>
                <a:gd name="T10" fmla="*/ 272 w 676"/>
                <a:gd name="T11" fmla="*/ 1211 h 1212"/>
                <a:gd name="T12" fmla="*/ 321 w 676"/>
                <a:gd name="T13" fmla="*/ 1161 h 1212"/>
                <a:gd name="T14" fmla="*/ 321 w 676"/>
                <a:gd name="T15" fmla="*/ 742 h 1212"/>
                <a:gd name="T16" fmla="*/ 362 w 676"/>
                <a:gd name="T17" fmla="*/ 700 h 1212"/>
                <a:gd name="T18" fmla="*/ 403 w 676"/>
                <a:gd name="T19" fmla="*/ 742 h 1212"/>
                <a:gd name="T20" fmla="*/ 403 w 676"/>
                <a:gd name="T21" fmla="*/ 1161 h 1212"/>
                <a:gd name="T22" fmla="*/ 453 w 676"/>
                <a:gd name="T23" fmla="*/ 1211 h 1212"/>
                <a:gd name="T24" fmla="*/ 502 w 676"/>
                <a:gd name="T25" fmla="*/ 1161 h 1212"/>
                <a:gd name="T26" fmla="*/ 502 w 676"/>
                <a:gd name="T27" fmla="*/ 366 h 1212"/>
                <a:gd name="T28" fmla="*/ 505 w 676"/>
                <a:gd name="T29" fmla="*/ 361 h 1212"/>
                <a:gd name="T30" fmla="*/ 511 w 676"/>
                <a:gd name="T31" fmla="*/ 362 h 1212"/>
                <a:gd name="T32" fmla="*/ 576 w 676"/>
                <a:gd name="T33" fmla="*/ 519 h 1212"/>
                <a:gd name="T34" fmla="*/ 576 w 676"/>
                <a:gd name="T35" fmla="*/ 643 h 1212"/>
                <a:gd name="T36" fmla="*/ 626 w 676"/>
                <a:gd name="T37" fmla="*/ 692 h 1212"/>
                <a:gd name="T38" fmla="*/ 675 w 676"/>
                <a:gd name="T39" fmla="*/ 643 h 1212"/>
                <a:gd name="T40" fmla="*/ 675 w 676"/>
                <a:gd name="T41" fmla="*/ 511 h 1212"/>
                <a:gd name="T42" fmla="*/ 362 w 676"/>
                <a:gd name="T43" fmla="*/ 198 h 1212"/>
                <a:gd name="T44" fmla="*/ 247 w 676"/>
                <a:gd name="T45" fmla="*/ 198 h 1212"/>
                <a:gd name="T46" fmla="*/ 49 w 676"/>
                <a:gd name="T47" fmla="*/ 0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6" h="1212">
                  <a:moveTo>
                    <a:pt x="0" y="164"/>
                  </a:moveTo>
                  <a:cubicBezTo>
                    <a:pt x="46" y="233"/>
                    <a:pt x="119" y="281"/>
                    <a:pt x="205" y="294"/>
                  </a:cubicBezTo>
                  <a:cubicBezTo>
                    <a:pt x="207" y="294"/>
                    <a:pt x="210" y="295"/>
                    <a:pt x="212" y="295"/>
                  </a:cubicBezTo>
                  <a:cubicBezTo>
                    <a:pt x="218" y="295"/>
                    <a:pt x="222" y="301"/>
                    <a:pt x="222" y="307"/>
                  </a:cubicBezTo>
                  <a:cubicBezTo>
                    <a:pt x="222" y="592"/>
                    <a:pt x="222" y="876"/>
                    <a:pt x="222" y="1161"/>
                  </a:cubicBezTo>
                  <a:cubicBezTo>
                    <a:pt x="222" y="1189"/>
                    <a:pt x="244" y="1211"/>
                    <a:pt x="272" y="1211"/>
                  </a:cubicBezTo>
                  <a:cubicBezTo>
                    <a:pt x="299" y="1211"/>
                    <a:pt x="321" y="1189"/>
                    <a:pt x="321" y="1161"/>
                  </a:cubicBezTo>
                  <a:cubicBezTo>
                    <a:pt x="321" y="1021"/>
                    <a:pt x="321" y="882"/>
                    <a:pt x="321" y="742"/>
                  </a:cubicBezTo>
                  <a:cubicBezTo>
                    <a:pt x="321" y="719"/>
                    <a:pt x="339" y="700"/>
                    <a:pt x="362" y="700"/>
                  </a:cubicBezTo>
                  <a:cubicBezTo>
                    <a:pt x="385" y="700"/>
                    <a:pt x="403" y="719"/>
                    <a:pt x="403" y="742"/>
                  </a:cubicBezTo>
                  <a:cubicBezTo>
                    <a:pt x="403" y="882"/>
                    <a:pt x="403" y="1021"/>
                    <a:pt x="403" y="1161"/>
                  </a:cubicBezTo>
                  <a:cubicBezTo>
                    <a:pt x="403" y="1189"/>
                    <a:pt x="425" y="1211"/>
                    <a:pt x="453" y="1211"/>
                  </a:cubicBezTo>
                  <a:cubicBezTo>
                    <a:pt x="480" y="1211"/>
                    <a:pt x="502" y="1189"/>
                    <a:pt x="502" y="1161"/>
                  </a:cubicBezTo>
                  <a:cubicBezTo>
                    <a:pt x="502" y="896"/>
                    <a:pt x="502" y="631"/>
                    <a:pt x="502" y="366"/>
                  </a:cubicBezTo>
                  <a:cubicBezTo>
                    <a:pt x="502" y="364"/>
                    <a:pt x="503" y="362"/>
                    <a:pt x="505" y="361"/>
                  </a:cubicBezTo>
                  <a:cubicBezTo>
                    <a:pt x="507" y="360"/>
                    <a:pt x="510" y="361"/>
                    <a:pt x="511" y="362"/>
                  </a:cubicBezTo>
                  <a:cubicBezTo>
                    <a:pt x="553" y="404"/>
                    <a:pt x="576" y="460"/>
                    <a:pt x="576" y="519"/>
                  </a:cubicBezTo>
                  <a:cubicBezTo>
                    <a:pt x="576" y="560"/>
                    <a:pt x="576" y="602"/>
                    <a:pt x="576" y="643"/>
                  </a:cubicBezTo>
                  <a:cubicBezTo>
                    <a:pt x="576" y="670"/>
                    <a:pt x="598" y="692"/>
                    <a:pt x="626" y="692"/>
                  </a:cubicBezTo>
                  <a:cubicBezTo>
                    <a:pt x="653" y="692"/>
                    <a:pt x="675" y="670"/>
                    <a:pt x="675" y="643"/>
                  </a:cubicBezTo>
                  <a:cubicBezTo>
                    <a:pt x="675" y="599"/>
                    <a:pt x="675" y="555"/>
                    <a:pt x="675" y="511"/>
                  </a:cubicBezTo>
                  <a:cubicBezTo>
                    <a:pt x="675" y="339"/>
                    <a:pt x="535" y="198"/>
                    <a:pt x="362" y="198"/>
                  </a:cubicBezTo>
                  <a:cubicBezTo>
                    <a:pt x="324" y="198"/>
                    <a:pt x="285" y="198"/>
                    <a:pt x="247" y="198"/>
                  </a:cubicBezTo>
                  <a:cubicBezTo>
                    <a:pt x="138" y="198"/>
                    <a:pt x="49" y="109"/>
                    <a:pt x="49" y="0"/>
                  </a:cubicBezTo>
                </a:path>
              </a:pathLst>
            </a:custGeom>
            <a:noFill/>
            <a:ln w="15875" cap="flat">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91" name="TextBox 90">
            <a:extLst>
              <a:ext uri="{FF2B5EF4-FFF2-40B4-BE49-F238E27FC236}">
                <a16:creationId xmlns:a16="http://schemas.microsoft.com/office/drawing/2014/main" id="{43747EDC-E41C-EFCE-D95D-081B29CFDF8E}"/>
              </a:ext>
            </a:extLst>
          </p:cNvPr>
          <p:cNvSpPr txBox="1"/>
          <p:nvPr/>
        </p:nvSpPr>
        <p:spPr>
          <a:xfrm>
            <a:off x="1598764" y="1162540"/>
            <a:ext cx="14782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Nomination </a:t>
            </a:r>
          </a:p>
        </p:txBody>
      </p:sp>
      <p:sp>
        <p:nvSpPr>
          <p:cNvPr id="93" name="Rounded Rectangle 92">
            <a:extLst>
              <a:ext uri="{FF2B5EF4-FFF2-40B4-BE49-F238E27FC236}">
                <a16:creationId xmlns:a16="http://schemas.microsoft.com/office/drawing/2014/main" id="{8E83241B-72B5-2780-2550-59AA1A883533}"/>
              </a:ext>
            </a:extLst>
          </p:cNvPr>
          <p:cNvSpPr/>
          <p:nvPr/>
        </p:nvSpPr>
        <p:spPr>
          <a:xfrm>
            <a:off x="1249497" y="1518988"/>
            <a:ext cx="2017686" cy="973157"/>
          </a:xfrm>
          <a:prstGeom prst="roundRect">
            <a:avLst/>
          </a:prstGeom>
          <a:noFill/>
          <a:ln w="34925" cap="rnd" cmpd="dbl">
            <a:solidFill>
              <a:schemeClr val="accent5">
                <a:lumMod val="50000"/>
              </a:schemeClr>
            </a:solidFill>
            <a:prstDash val="lgDashDotDot"/>
            <a:extLst>
              <a:ext uri="{C807C97D-BFC1-408E-A445-0C87EB9F89A2}">
                <ask:lineSketchStyleProps xmlns:ask="http://schemas.microsoft.com/office/drawing/2018/sketchyshapes" sd="981765707">
                  <a:custGeom>
                    <a:avLst/>
                    <a:gdLst>
                      <a:gd name="connsiteX0" fmla="*/ 0 w 3891201"/>
                      <a:gd name="connsiteY0" fmla="*/ 211840 h 1271016"/>
                      <a:gd name="connsiteX1" fmla="*/ 211840 w 3891201"/>
                      <a:gd name="connsiteY1" fmla="*/ 0 h 1271016"/>
                      <a:gd name="connsiteX2" fmla="*/ 789760 w 3891201"/>
                      <a:gd name="connsiteY2" fmla="*/ 0 h 1271016"/>
                      <a:gd name="connsiteX3" fmla="*/ 1437031 w 3891201"/>
                      <a:gd name="connsiteY3" fmla="*/ 0 h 1271016"/>
                      <a:gd name="connsiteX4" fmla="*/ 2084301 w 3891201"/>
                      <a:gd name="connsiteY4" fmla="*/ 0 h 1271016"/>
                      <a:gd name="connsiteX5" fmla="*/ 2592871 w 3891201"/>
                      <a:gd name="connsiteY5" fmla="*/ 0 h 1271016"/>
                      <a:gd name="connsiteX6" fmla="*/ 3066766 w 3891201"/>
                      <a:gd name="connsiteY6" fmla="*/ 0 h 1271016"/>
                      <a:gd name="connsiteX7" fmla="*/ 3679361 w 3891201"/>
                      <a:gd name="connsiteY7" fmla="*/ 0 h 1271016"/>
                      <a:gd name="connsiteX8" fmla="*/ 3891201 w 3891201"/>
                      <a:gd name="connsiteY8" fmla="*/ 211840 h 1271016"/>
                      <a:gd name="connsiteX9" fmla="*/ 3891201 w 3891201"/>
                      <a:gd name="connsiteY9" fmla="*/ 627035 h 1271016"/>
                      <a:gd name="connsiteX10" fmla="*/ 3891201 w 3891201"/>
                      <a:gd name="connsiteY10" fmla="*/ 1059176 h 1271016"/>
                      <a:gd name="connsiteX11" fmla="*/ 3679361 w 3891201"/>
                      <a:gd name="connsiteY11" fmla="*/ 1271016 h 1271016"/>
                      <a:gd name="connsiteX12" fmla="*/ 3066766 w 3891201"/>
                      <a:gd name="connsiteY12" fmla="*/ 1271016 h 1271016"/>
                      <a:gd name="connsiteX13" fmla="*/ 2523521 w 3891201"/>
                      <a:gd name="connsiteY13" fmla="*/ 1271016 h 1271016"/>
                      <a:gd name="connsiteX14" fmla="*/ 1910925 w 3891201"/>
                      <a:gd name="connsiteY14" fmla="*/ 1271016 h 1271016"/>
                      <a:gd name="connsiteX15" fmla="*/ 1263655 w 3891201"/>
                      <a:gd name="connsiteY15" fmla="*/ 1271016 h 1271016"/>
                      <a:gd name="connsiteX16" fmla="*/ 211840 w 3891201"/>
                      <a:gd name="connsiteY16" fmla="*/ 1271016 h 1271016"/>
                      <a:gd name="connsiteX17" fmla="*/ 0 w 3891201"/>
                      <a:gd name="connsiteY17" fmla="*/ 1059176 h 1271016"/>
                      <a:gd name="connsiteX18" fmla="*/ 0 w 3891201"/>
                      <a:gd name="connsiteY18" fmla="*/ 652455 h 1271016"/>
                      <a:gd name="connsiteX19" fmla="*/ 0 w 3891201"/>
                      <a:gd name="connsiteY19" fmla="*/ 211840 h 127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91201" h="1271016" extrusionOk="0">
                        <a:moveTo>
                          <a:pt x="0" y="211840"/>
                        </a:moveTo>
                        <a:cubicBezTo>
                          <a:pt x="-1724" y="97869"/>
                          <a:pt x="85073" y="-4035"/>
                          <a:pt x="211840" y="0"/>
                        </a:cubicBezTo>
                        <a:cubicBezTo>
                          <a:pt x="352813" y="-66347"/>
                          <a:pt x="644289" y="64141"/>
                          <a:pt x="789760" y="0"/>
                        </a:cubicBezTo>
                        <a:cubicBezTo>
                          <a:pt x="935231" y="-64141"/>
                          <a:pt x="1135764" y="36819"/>
                          <a:pt x="1437031" y="0"/>
                        </a:cubicBezTo>
                        <a:cubicBezTo>
                          <a:pt x="1738298" y="-36819"/>
                          <a:pt x="1919312" y="25"/>
                          <a:pt x="2084301" y="0"/>
                        </a:cubicBezTo>
                        <a:cubicBezTo>
                          <a:pt x="2249290" y="-25"/>
                          <a:pt x="2412211" y="24788"/>
                          <a:pt x="2592871" y="0"/>
                        </a:cubicBezTo>
                        <a:cubicBezTo>
                          <a:pt x="2773531" y="-24788"/>
                          <a:pt x="2963621" y="44805"/>
                          <a:pt x="3066766" y="0"/>
                        </a:cubicBezTo>
                        <a:cubicBezTo>
                          <a:pt x="3169912" y="-44805"/>
                          <a:pt x="3497062" y="44876"/>
                          <a:pt x="3679361" y="0"/>
                        </a:cubicBezTo>
                        <a:cubicBezTo>
                          <a:pt x="3821363" y="3626"/>
                          <a:pt x="3878954" y="89255"/>
                          <a:pt x="3891201" y="211840"/>
                        </a:cubicBezTo>
                        <a:cubicBezTo>
                          <a:pt x="3920093" y="301511"/>
                          <a:pt x="3842349" y="475407"/>
                          <a:pt x="3891201" y="627035"/>
                        </a:cubicBezTo>
                        <a:cubicBezTo>
                          <a:pt x="3940053" y="778664"/>
                          <a:pt x="3863357" y="934958"/>
                          <a:pt x="3891201" y="1059176"/>
                        </a:cubicBezTo>
                        <a:cubicBezTo>
                          <a:pt x="3868850" y="1182099"/>
                          <a:pt x="3789568" y="1249049"/>
                          <a:pt x="3679361" y="1271016"/>
                        </a:cubicBezTo>
                        <a:cubicBezTo>
                          <a:pt x="3519371" y="1276183"/>
                          <a:pt x="3229389" y="1233492"/>
                          <a:pt x="3066766" y="1271016"/>
                        </a:cubicBezTo>
                        <a:cubicBezTo>
                          <a:pt x="2904143" y="1308540"/>
                          <a:pt x="2785129" y="1263928"/>
                          <a:pt x="2523521" y="1271016"/>
                        </a:cubicBezTo>
                        <a:cubicBezTo>
                          <a:pt x="2261914" y="1278104"/>
                          <a:pt x="2153174" y="1239646"/>
                          <a:pt x="1910925" y="1271016"/>
                        </a:cubicBezTo>
                        <a:cubicBezTo>
                          <a:pt x="1668676" y="1302386"/>
                          <a:pt x="1513616" y="1267310"/>
                          <a:pt x="1263655" y="1271016"/>
                        </a:cubicBezTo>
                        <a:cubicBezTo>
                          <a:pt x="1013694" y="1274722"/>
                          <a:pt x="608536" y="1219037"/>
                          <a:pt x="211840" y="1271016"/>
                        </a:cubicBezTo>
                        <a:cubicBezTo>
                          <a:pt x="77910" y="1284644"/>
                          <a:pt x="25439" y="1186323"/>
                          <a:pt x="0" y="1059176"/>
                        </a:cubicBezTo>
                        <a:cubicBezTo>
                          <a:pt x="-36452" y="957017"/>
                          <a:pt x="48746" y="797152"/>
                          <a:pt x="0" y="652455"/>
                        </a:cubicBezTo>
                        <a:cubicBezTo>
                          <a:pt x="-48746" y="507758"/>
                          <a:pt x="1772" y="362414"/>
                          <a:pt x="0" y="21184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329" name="TextBox 328">
            <a:extLst>
              <a:ext uri="{FF2B5EF4-FFF2-40B4-BE49-F238E27FC236}">
                <a16:creationId xmlns:a16="http://schemas.microsoft.com/office/drawing/2014/main" id="{D4F94F47-D248-BF2E-B9D9-637CB1624F42}"/>
              </a:ext>
            </a:extLst>
          </p:cNvPr>
          <p:cNvSpPr txBox="1"/>
          <p:nvPr/>
        </p:nvSpPr>
        <p:spPr>
          <a:xfrm>
            <a:off x="1038293" y="2583698"/>
            <a:ext cx="2362848" cy="784830"/>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Customer is Nominated by Rackspace for Solution Assessment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Once approved Solution assessment begins and Rackspace support Microsoft with engagement  </a:t>
            </a:r>
          </a:p>
        </p:txBody>
      </p:sp>
      <p:sp>
        <p:nvSpPr>
          <p:cNvPr id="96" name="Rounded Rectangle 95">
            <a:extLst>
              <a:ext uri="{FF2B5EF4-FFF2-40B4-BE49-F238E27FC236}">
                <a16:creationId xmlns:a16="http://schemas.microsoft.com/office/drawing/2014/main" id="{9A03CBB1-DFC0-4EB1-C27B-E2041927F40E}"/>
              </a:ext>
            </a:extLst>
          </p:cNvPr>
          <p:cNvSpPr/>
          <p:nvPr/>
        </p:nvSpPr>
        <p:spPr>
          <a:xfrm>
            <a:off x="4307117" y="1508102"/>
            <a:ext cx="6027759" cy="973157"/>
          </a:xfrm>
          <a:prstGeom prst="roundRect">
            <a:avLst/>
          </a:prstGeom>
          <a:solidFill>
            <a:schemeClr val="tx1"/>
          </a:solidFill>
          <a:ln w="34925" cap="rnd" cmpd="dbl">
            <a:gradFill flip="none" rotWithShape="1">
              <a:gsLst>
                <a:gs pos="0">
                  <a:srgbClr val="FFC000"/>
                </a:gs>
                <a:gs pos="86000">
                  <a:srgbClr val="C00000"/>
                </a:gs>
              </a:gsLst>
              <a:lin ang="0" scaled="1"/>
              <a:tileRect/>
            </a:gradFill>
            <a:prstDash val="lgDashDotDot"/>
            <a:extLst>
              <a:ext uri="{C807C97D-BFC1-408E-A445-0C87EB9F89A2}">
                <ask:lineSketchStyleProps xmlns:ask="http://schemas.microsoft.com/office/drawing/2018/sketchyshapes" sd="981765707">
                  <a:custGeom>
                    <a:avLst/>
                    <a:gdLst>
                      <a:gd name="connsiteX0" fmla="*/ 0 w 3891201"/>
                      <a:gd name="connsiteY0" fmla="*/ 211840 h 1271016"/>
                      <a:gd name="connsiteX1" fmla="*/ 211840 w 3891201"/>
                      <a:gd name="connsiteY1" fmla="*/ 0 h 1271016"/>
                      <a:gd name="connsiteX2" fmla="*/ 789760 w 3891201"/>
                      <a:gd name="connsiteY2" fmla="*/ 0 h 1271016"/>
                      <a:gd name="connsiteX3" fmla="*/ 1437031 w 3891201"/>
                      <a:gd name="connsiteY3" fmla="*/ 0 h 1271016"/>
                      <a:gd name="connsiteX4" fmla="*/ 2084301 w 3891201"/>
                      <a:gd name="connsiteY4" fmla="*/ 0 h 1271016"/>
                      <a:gd name="connsiteX5" fmla="*/ 2592871 w 3891201"/>
                      <a:gd name="connsiteY5" fmla="*/ 0 h 1271016"/>
                      <a:gd name="connsiteX6" fmla="*/ 3066766 w 3891201"/>
                      <a:gd name="connsiteY6" fmla="*/ 0 h 1271016"/>
                      <a:gd name="connsiteX7" fmla="*/ 3679361 w 3891201"/>
                      <a:gd name="connsiteY7" fmla="*/ 0 h 1271016"/>
                      <a:gd name="connsiteX8" fmla="*/ 3891201 w 3891201"/>
                      <a:gd name="connsiteY8" fmla="*/ 211840 h 1271016"/>
                      <a:gd name="connsiteX9" fmla="*/ 3891201 w 3891201"/>
                      <a:gd name="connsiteY9" fmla="*/ 627035 h 1271016"/>
                      <a:gd name="connsiteX10" fmla="*/ 3891201 w 3891201"/>
                      <a:gd name="connsiteY10" fmla="*/ 1059176 h 1271016"/>
                      <a:gd name="connsiteX11" fmla="*/ 3679361 w 3891201"/>
                      <a:gd name="connsiteY11" fmla="*/ 1271016 h 1271016"/>
                      <a:gd name="connsiteX12" fmla="*/ 3066766 w 3891201"/>
                      <a:gd name="connsiteY12" fmla="*/ 1271016 h 1271016"/>
                      <a:gd name="connsiteX13" fmla="*/ 2523521 w 3891201"/>
                      <a:gd name="connsiteY13" fmla="*/ 1271016 h 1271016"/>
                      <a:gd name="connsiteX14" fmla="*/ 1910925 w 3891201"/>
                      <a:gd name="connsiteY14" fmla="*/ 1271016 h 1271016"/>
                      <a:gd name="connsiteX15" fmla="*/ 1263655 w 3891201"/>
                      <a:gd name="connsiteY15" fmla="*/ 1271016 h 1271016"/>
                      <a:gd name="connsiteX16" fmla="*/ 211840 w 3891201"/>
                      <a:gd name="connsiteY16" fmla="*/ 1271016 h 1271016"/>
                      <a:gd name="connsiteX17" fmla="*/ 0 w 3891201"/>
                      <a:gd name="connsiteY17" fmla="*/ 1059176 h 1271016"/>
                      <a:gd name="connsiteX18" fmla="*/ 0 w 3891201"/>
                      <a:gd name="connsiteY18" fmla="*/ 652455 h 1271016"/>
                      <a:gd name="connsiteX19" fmla="*/ 0 w 3891201"/>
                      <a:gd name="connsiteY19" fmla="*/ 211840 h 127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91201" h="1271016" extrusionOk="0">
                        <a:moveTo>
                          <a:pt x="0" y="211840"/>
                        </a:moveTo>
                        <a:cubicBezTo>
                          <a:pt x="-1724" y="97869"/>
                          <a:pt x="85073" y="-4035"/>
                          <a:pt x="211840" y="0"/>
                        </a:cubicBezTo>
                        <a:cubicBezTo>
                          <a:pt x="352813" y="-66347"/>
                          <a:pt x="644289" y="64141"/>
                          <a:pt x="789760" y="0"/>
                        </a:cubicBezTo>
                        <a:cubicBezTo>
                          <a:pt x="935231" y="-64141"/>
                          <a:pt x="1135764" y="36819"/>
                          <a:pt x="1437031" y="0"/>
                        </a:cubicBezTo>
                        <a:cubicBezTo>
                          <a:pt x="1738298" y="-36819"/>
                          <a:pt x="1919312" y="25"/>
                          <a:pt x="2084301" y="0"/>
                        </a:cubicBezTo>
                        <a:cubicBezTo>
                          <a:pt x="2249290" y="-25"/>
                          <a:pt x="2412211" y="24788"/>
                          <a:pt x="2592871" y="0"/>
                        </a:cubicBezTo>
                        <a:cubicBezTo>
                          <a:pt x="2773531" y="-24788"/>
                          <a:pt x="2963621" y="44805"/>
                          <a:pt x="3066766" y="0"/>
                        </a:cubicBezTo>
                        <a:cubicBezTo>
                          <a:pt x="3169912" y="-44805"/>
                          <a:pt x="3497062" y="44876"/>
                          <a:pt x="3679361" y="0"/>
                        </a:cubicBezTo>
                        <a:cubicBezTo>
                          <a:pt x="3821363" y="3626"/>
                          <a:pt x="3878954" y="89255"/>
                          <a:pt x="3891201" y="211840"/>
                        </a:cubicBezTo>
                        <a:cubicBezTo>
                          <a:pt x="3920093" y="301511"/>
                          <a:pt x="3842349" y="475407"/>
                          <a:pt x="3891201" y="627035"/>
                        </a:cubicBezTo>
                        <a:cubicBezTo>
                          <a:pt x="3940053" y="778664"/>
                          <a:pt x="3863357" y="934958"/>
                          <a:pt x="3891201" y="1059176"/>
                        </a:cubicBezTo>
                        <a:cubicBezTo>
                          <a:pt x="3868850" y="1182099"/>
                          <a:pt x="3789568" y="1249049"/>
                          <a:pt x="3679361" y="1271016"/>
                        </a:cubicBezTo>
                        <a:cubicBezTo>
                          <a:pt x="3519371" y="1276183"/>
                          <a:pt x="3229389" y="1233492"/>
                          <a:pt x="3066766" y="1271016"/>
                        </a:cubicBezTo>
                        <a:cubicBezTo>
                          <a:pt x="2904143" y="1308540"/>
                          <a:pt x="2785129" y="1263928"/>
                          <a:pt x="2523521" y="1271016"/>
                        </a:cubicBezTo>
                        <a:cubicBezTo>
                          <a:pt x="2261914" y="1278104"/>
                          <a:pt x="2153174" y="1239646"/>
                          <a:pt x="1910925" y="1271016"/>
                        </a:cubicBezTo>
                        <a:cubicBezTo>
                          <a:pt x="1668676" y="1302386"/>
                          <a:pt x="1513616" y="1267310"/>
                          <a:pt x="1263655" y="1271016"/>
                        </a:cubicBezTo>
                        <a:cubicBezTo>
                          <a:pt x="1013694" y="1274722"/>
                          <a:pt x="608536" y="1219037"/>
                          <a:pt x="211840" y="1271016"/>
                        </a:cubicBezTo>
                        <a:cubicBezTo>
                          <a:pt x="77910" y="1284644"/>
                          <a:pt x="25439" y="1186323"/>
                          <a:pt x="0" y="1059176"/>
                        </a:cubicBezTo>
                        <a:cubicBezTo>
                          <a:pt x="-36452" y="957017"/>
                          <a:pt x="48746" y="797152"/>
                          <a:pt x="0" y="652455"/>
                        </a:cubicBezTo>
                        <a:cubicBezTo>
                          <a:pt x="-48746" y="507758"/>
                          <a:pt x="1772" y="362414"/>
                          <a:pt x="0" y="21184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103" name="Rounded Rectangle 102">
            <a:extLst>
              <a:ext uri="{FF2B5EF4-FFF2-40B4-BE49-F238E27FC236}">
                <a16:creationId xmlns:a16="http://schemas.microsoft.com/office/drawing/2014/main" id="{D3BD1861-3498-D3F4-CA79-2097DCB4E829}"/>
              </a:ext>
            </a:extLst>
          </p:cNvPr>
          <p:cNvSpPr/>
          <p:nvPr/>
        </p:nvSpPr>
        <p:spPr>
          <a:xfrm>
            <a:off x="5383503" y="4275359"/>
            <a:ext cx="3957340" cy="973157"/>
          </a:xfrm>
          <a:prstGeom prst="roundRect">
            <a:avLst/>
          </a:prstGeom>
          <a:noFill/>
          <a:ln w="34925" cap="rnd" cmpd="dbl">
            <a:solidFill>
              <a:srgbClr val="00B050"/>
            </a:solidFill>
            <a:prstDash val="lgDashDotDot"/>
            <a:extLst>
              <a:ext uri="{C807C97D-BFC1-408E-A445-0C87EB9F89A2}">
                <ask:lineSketchStyleProps xmlns:ask="http://schemas.microsoft.com/office/drawing/2018/sketchyshapes" sd="981765707">
                  <a:custGeom>
                    <a:avLst/>
                    <a:gdLst>
                      <a:gd name="connsiteX0" fmla="*/ 0 w 3891201"/>
                      <a:gd name="connsiteY0" fmla="*/ 211840 h 1271016"/>
                      <a:gd name="connsiteX1" fmla="*/ 211840 w 3891201"/>
                      <a:gd name="connsiteY1" fmla="*/ 0 h 1271016"/>
                      <a:gd name="connsiteX2" fmla="*/ 789760 w 3891201"/>
                      <a:gd name="connsiteY2" fmla="*/ 0 h 1271016"/>
                      <a:gd name="connsiteX3" fmla="*/ 1437031 w 3891201"/>
                      <a:gd name="connsiteY3" fmla="*/ 0 h 1271016"/>
                      <a:gd name="connsiteX4" fmla="*/ 2084301 w 3891201"/>
                      <a:gd name="connsiteY4" fmla="*/ 0 h 1271016"/>
                      <a:gd name="connsiteX5" fmla="*/ 2592871 w 3891201"/>
                      <a:gd name="connsiteY5" fmla="*/ 0 h 1271016"/>
                      <a:gd name="connsiteX6" fmla="*/ 3066766 w 3891201"/>
                      <a:gd name="connsiteY6" fmla="*/ 0 h 1271016"/>
                      <a:gd name="connsiteX7" fmla="*/ 3679361 w 3891201"/>
                      <a:gd name="connsiteY7" fmla="*/ 0 h 1271016"/>
                      <a:gd name="connsiteX8" fmla="*/ 3891201 w 3891201"/>
                      <a:gd name="connsiteY8" fmla="*/ 211840 h 1271016"/>
                      <a:gd name="connsiteX9" fmla="*/ 3891201 w 3891201"/>
                      <a:gd name="connsiteY9" fmla="*/ 627035 h 1271016"/>
                      <a:gd name="connsiteX10" fmla="*/ 3891201 w 3891201"/>
                      <a:gd name="connsiteY10" fmla="*/ 1059176 h 1271016"/>
                      <a:gd name="connsiteX11" fmla="*/ 3679361 w 3891201"/>
                      <a:gd name="connsiteY11" fmla="*/ 1271016 h 1271016"/>
                      <a:gd name="connsiteX12" fmla="*/ 3066766 w 3891201"/>
                      <a:gd name="connsiteY12" fmla="*/ 1271016 h 1271016"/>
                      <a:gd name="connsiteX13" fmla="*/ 2523521 w 3891201"/>
                      <a:gd name="connsiteY13" fmla="*/ 1271016 h 1271016"/>
                      <a:gd name="connsiteX14" fmla="*/ 1910925 w 3891201"/>
                      <a:gd name="connsiteY14" fmla="*/ 1271016 h 1271016"/>
                      <a:gd name="connsiteX15" fmla="*/ 1263655 w 3891201"/>
                      <a:gd name="connsiteY15" fmla="*/ 1271016 h 1271016"/>
                      <a:gd name="connsiteX16" fmla="*/ 211840 w 3891201"/>
                      <a:gd name="connsiteY16" fmla="*/ 1271016 h 1271016"/>
                      <a:gd name="connsiteX17" fmla="*/ 0 w 3891201"/>
                      <a:gd name="connsiteY17" fmla="*/ 1059176 h 1271016"/>
                      <a:gd name="connsiteX18" fmla="*/ 0 w 3891201"/>
                      <a:gd name="connsiteY18" fmla="*/ 652455 h 1271016"/>
                      <a:gd name="connsiteX19" fmla="*/ 0 w 3891201"/>
                      <a:gd name="connsiteY19" fmla="*/ 211840 h 127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91201" h="1271016" extrusionOk="0">
                        <a:moveTo>
                          <a:pt x="0" y="211840"/>
                        </a:moveTo>
                        <a:cubicBezTo>
                          <a:pt x="-1724" y="97869"/>
                          <a:pt x="85073" y="-4035"/>
                          <a:pt x="211840" y="0"/>
                        </a:cubicBezTo>
                        <a:cubicBezTo>
                          <a:pt x="352813" y="-66347"/>
                          <a:pt x="644289" y="64141"/>
                          <a:pt x="789760" y="0"/>
                        </a:cubicBezTo>
                        <a:cubicBezTo>
                          <a:pt x="935231" y="-64141"/>
                          <a:pt x="1135764" y="36819"/>
                          <a:pt x="1437031" y="0"/>
                        </a:cubicBezTo>
                        <a:cubicBezTo>
                          <a:pt x="1738298" y="-36819"/>
                          <a:pt x="1919312" y="25"/>
                          <a:pt x="2084301" y="0"/>
                        </a:cubicBezTo>
                        <a:cubicBezTo>
                          <a:pt x="2249290" y="-25"/>
                          <a:pt x="2412211" y="24788"/>
                          <a:pt x="2592871" y="0"/>
                        </a:cubicBezTo>
                        <a:cubicBezTo>
                          <a:pt x="2773531" y="-24788"/>
                          <a:pt x="2963621" y="44805"/>
                          <a:pt x="3066766" y="0"/>
                        </a:cubicBezTo>
                        <a:cubicBezTo>
                          <a:pt x="3169912" y="-44805"/>
                          <a:pt x="3497062" y="44876"/>
                          <a:pt x="3679361" y="0"/>
                        </a:cubicBezTo>
                        <a:cubicBezTo>
                          <a:pt x="3821363" y="3626"/>
                          <a:pt x="3878954" y="89255"/>
                          <a:pt x="3891201" y="211840"/>
                        </a:cubicBezTo>
                        <a:cubicBezTo>
                          <a:pt x="3920093" y="301511"/>
                          <a:pt x="3842349" y="475407"/>
                          <a:pt x="3891201" y="627035"/>
                        </a:cubicBezTo>
                        <a:cubicBezTo>
                          <a:pt x="3940053" y="778664"/>
                          <a:pt x="3863357" y="934958"/>
                          <a:pt x="3891201" y="1059176"/>
                        </a:cubicBezTo>
                        <a:cubicBezTo>
                          <a:pt x="3868850" y="1182099"/>
                          <a:pt x="3789568" y="1249049"/>
                          <a:pt x="3679361" y="1271016"/>
                        </a:cubicBezTo>
                        <a:cubicBezTo>
                          <a:pt x="3519371" y="1276183"/>
                          <a:pt x="3229389" y="1233492"/>
                          <a:pt x="3066766" y="1271016"/>
                        </a:cubicBezTo>
                        <a:cubicBezTo>
                          <a:pt x="2904143" y="1308540"/>
                          <a:pt x="2785129" y="1263928"/>
                          <a:pt x="2523521" y="1271016"/>
                        </a:cubicBezTo>
                        <a:cubicBezTo>
                          <a:pt x="2261914" y="1278104"/>
                          <a:pt x="2153174" y="1239646"/>
                          <a:pt x="1910925" y="1271016"/>
                        </a:cubicBezTo>
                        <a:cubicBezTo>
                          <a:pt x="1668676" y="1302386"/>
                          <a:pt x="1513616" y="1267310"/>
                          <a:pt x="1263655" y="1271016"/>
                        </a:cubicBezTo>
                        <a:cubicBezTo>
                          <a:pt x="1013694" y="1274722"/>
                          <a:pt x="608536" y="1219037"/>
                          <a:pt x="211840" y="1271016"/>
                        </a:cubicBezTo>
                        <a:cubicBezTo>
                          <a:pt x="77910" y="1284644"/>
                          <a:pt x="25439" y="1186323"/>
                          <a:pt x="0" y="1059176"/>
                        </a:cubicBezTo>
                        <a:cubicBezTo>
                          <a:pt x="-36452" y="957017"/>
                          <a:pt x="48746" y="797152"/>
                          <a:pt x="0" y="652455"/>
                        </a:cubicBezTo>
                        <a:cubicBezTo>
                          <a:pt x="-48746" y="507758"/>
                          <a:pt x="1772" y="362414"/>
                          <a:pt x="0" y="21184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104" name="TextBox 103">
            <a:extLst>
              <a:ext uri="{FF2B5EF4-FFF2-40B4-BE49-F238E27FC236}">
                <a16:creationId xmlns:a16="http://schemas.microsoft.com/office/drawing/2014/main" id="{40BE186E-8419-6094-DFFA-5C5DC4E2F341}"/>
              </a:ext>
            </a:extLst>
          </p:cNvPr>
          <p:cNvSpPr txBox="1"/>
          <p:nvPr/>
        </p:nvSpPr>
        <p:spPr>
          <a:xfrm>
            <a:off x="6880028" y="3894720"/>
            <a:ext cx="121219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Showcase</a:t>
            </a:r>
          </a:p>
        </p:txBody>
      </p:sp>
      <p:grpSp>
        <p:nvGrpSpPr>
          <p:cNvPr id="106" name="Group 105">
            <a:extLst>
              <a:ext uri="{FF2B5EF4-FFF2-40B4-BE49-F238E27FC236}">
                <a16:creationId xmlns:a16="http://schemas.microsoft.com/office/drawing/2014/main" id="{823AFC7C-2049-A8BC-11C2-C43FB3001F87}"/>
              </a:ext>
            </a:extLst>
          </p:cNvPr>
          <p:cNvGrpSpPr/>
          <p:nvPr/>
        </p:nvGrpSpPr>
        <p:grpSpPr>
          <a:xfrm>
            <a:off x="1182256" y="3933007"/>
            <a:ext cx="2456638" cy="1978655"/>
            <a:chOff x="7916619" y="3669768"/>
            <a:chExt cx="2456638" cy="1978655"/>
          </a:xfrm>
        </p:grpSpPr>
        <p:sp>
          <p:nvSpPr>
            <p:cNvPr id="315" name="Rectangle 314">
              <a:extLst>
                <a:ext uri="{FF2B5EF4-FFF2-40B4-BE49-F238E27FC236}">
                  <a16:creationId xmlns:a16="http://schemas.microsoft.com/office/drawing/2014/main" id="{12E3D8B0-6292-727B-8F20-2EE6052131EB}"/>
                </a:ext>
              </a:extLst>
            </p:cNvPr>
            <p:cNvSpPr/>
            <p:nvPr/>
          </p:nvSpPr>
          <p:spPr>
            <a:xfrm>
              <a:off x="8598965" y="4727595"/>
              <a:ext cx="376706" cy="184666"/>
            </a:xfrm>
            <a:prstGeom prst="rect">
              <a:avLst/>
            </a:prstGeom>
            <a:noFill/>
            <a:ln>
              <a:noFill/>
            </a:ln>
          </p:spPr>
          <p:txBody>
            <a:bodyPr wrap="none" lIns="0" tIns="0" rIns="0" bIns="0">
              <a:spAutoFit/>
            </a:bodyPr>
            <a:lstStyle/>
            <a:p>
              <a:pPr marL="0" marR="0" lvl="0" indent="0" algn="ctr" defTabSz="457200" rtl="0" eaLnBrk="1" fontAlgn="auto" latinLnBrk="0" hangingPunct="1">
                <a:lnSpc>
                  <a:spcPct val="100000"/>
                </a:lnSpc>
                <a:spcBef>
                  <a:spcPts val="600"/>
                </a:spcBef>
                <a:spcAft>
                  <a:spcPts val="0"/>
                </a:spcAft>
                <a:buClr>
                  <a:srgbClr val="C40022"/>
                </a:buClr>
                <a:buSzTx/>
                <a:buFontTx/>
                <a:buNone/>
                <a:tabLst/>
                <a:defRPr/>
              </a:pPr>
              <a:r>
                <a:rPr kumimoji="0" lang="en-US" sz="1200" b="0" i="0" u="none" strike="noStrike" kern="1200" cap="none" spc="0" normalizeH="0" baseline="0" noProof="0">
                  <a:ln>
                    <a:noFill/>
                  </a:ln>
                  <a:solidFill>
                    <a:prstClr val="white"/>
                  </a:solidFill>
                  <a:effectLst/>
                  <a:uLnTx/>
                  <a:uFillTx/>
                  <a:latin typeface="Fira Sans" panose="020B0503050000020004" pitchFamily="34" charset="0"/>
                  <a:ea typeface="+mn-ea"/>
                  <a:cs typeface="+mn-cs"/>
                  <a:sym typeface="Arial"/>
                </a:rPr>
                <a:t>Close</a:t>
              </a:r>
            </a:p>
          </p:txBody>
        </p:sp>
        <p:grpSp>
          <p:nvGrpSpPr>
            <p:cNvPr id="316" name="Group 315">
              <a:extLst>
                <a:ext uri="{FF2B5EF4-FFF2-40B4-BE49-F238E27FC236}">
                  <a16:creationId xmlns:a16="http://schemas.microsoft.com/office/drawing/2014/main" id="{B04EA0AC-0A3D-3CBA-C952-AC008271A40A}"/>
                </a:ext>
              </a:extLst>
            </p:cNvPr>
            <p:cNvGrpSpPr/>
            <p:nvPr/>
          </p:nvGrpSpPr>
          <p:grpSpPr>
            <a:xfrm>
              <a:off x="8565555" y="4147883"/>
              <a:ext cx="458709" cy="547713"/>
              <a:chOff x="4848688" y="5587599"/>
              <a:chExt cx="527833" cy="630248"/>
            </a:xfrm>
          </p:grpSpPr>
          <p:sp>
            <p:nvSpPr>
              <p:cNvPr id="317" name="Freeform 254">
                <a:extLst>
                  <a:ext uri="{FF2B5EF4-FFF2-40B4-BE49-F238E27FC236}">
                    <a16:creationId xmlns:a16="http://schemas.microsoft.com/office/drawing/2014/main" id="{E166C0AB-6E22-36EA-DF51-F8B7E8CA7204}"/>
                  </a:ext>
                </a:extLst>
              </p:cNvPr>
              <p:cNvSpPr>
                <a:spLocks noChangeArrowheads="1"/>
              </p:cNvSpPr>
              <p:nvPr/>
            </p:nvSpPr>
            <p:spPr bwMode="auto">
              <a:xfrm>
                <a:off x="5069275" y="5733344"/>
                <a:ext cx="114232" cy="100446"/>
              </a:xfrm>
              <a:custGeom>
                <a:avLst/>
                <a:gdLst>
                  <a:gd name="T0" fmla="*/ 253 w 254"/>
                  <a:gd name="T1" fmla="*/ 0 h 223"/>
                  <a:gd name="T2" fmla="*/ 95 w 254"/>
                  <a:gd name="T3" fmla="*/ 217 h 223"/>
                  <a:gd name="T4" fmla="*/ 87 w 254"/>
                  <a:gd name="T5" fmla="*/ 222 h 223"/>
                  <a:gd name="T6" fmla="*/ 79 w 254"/>
                  <a:gd name="T7" fmla="*/ 218 h 223"/>
                  <a:gd name="T8" fmla="*/ 0 w 254"/>
                  <a:gd name="T9" fmla="*/ 119 h 223"/>
                </a:gdLst>
                <a:ahLst/>
                <a:cxnLst>
                  <a:cxn ang="0">
                    <a:pos x="T0" y="T1"/>
                  </a:cxn>
                  <a:cxn ang="0">
                    <a:pos x="T2" y="T3"/>
                  </a:cxn>
                  <a:cxn ang="0">
                    <a:pos x="T4" y="T5"/>
                  </a:cxn>
                  <a:cxn ang="0">
                    <a:pos x="T6" y="T7"/>
                  </a:cxn>
                  <a:cxn ang="0">
                    <a:pos x="T8" y="T9"/>
                  </a:cxn>
                </a:cxnLst>
                <a:rect l="0" t="0" r="r" b="b"/>
                <a:pathLst>
                  <a:path w="254" h="223">
                    <a:moveTo>
                      <a:pt x="253" y="0"/>
                    </a:moveTo>
                    <a:cubicBezTo>
                      <a:pt x="200" y="72"/>
                      <a:pt x="147" y="145"/>
                      <a:pt x="95" y="217"/>
                    </a:cubicBezTo>
                    <a:cubicBezTo>
                      <a:pt x="93" y="220"/>
                      <a:pt x="90" y="221"/>
                      <a:pt x="87" y="222"/>
                    </a:cubicBezTo>
                    <a:cubicBezTo>
                      <a:pt x="84" y="222"/>
                      <a:pt x="81" y="220"/>
                      <a:pt x="79" y="218"/>
                    </a:cubicBezTo>
                    <a:cubicBezTo>
                      <a:pt x="52" y="185"/>
                      <a:pt x="26" y="152"/>
                      <a:pt x="0" y="119"/>
                    </a:cubicBezTo>
                  </a:path>
                </a:pathLst>
              </a:custGeom>
              <a:noFill/>
              <a:ln w="15875" cap="rnd">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8" name="Freeform 255">
                <a:extLst>
                  <a:ext uri="{FF2B5EF4-FFF2-40B4-BE49-F238E27FC236}">
                    <a16:creationId xmlns:a16="http://schemas.microsoft.com/office/drawing/2014/main" id="{F1B01AE8-827B-77A3-B136-9BED61F7CA47}"/>
                  </a:ext>
                </a:extLst>
              </p:cNvPr>
              <p:cNvSpPr>
                <a:spLocks noChangeArrowheads="1"/>
              </p:cNvSpPr>
              <p:nvPr/>
            </p:nvSpPr>
            <p:spPr bwMode="auto">
              <a:xfrm>
                <a:off x="5006250" y="6013016"/>
                <a:ext cx="80750" cy="204831"/>
              </a:xfrm>
              <a:custGeom>
                <a:avLst/>
                <a:gdLst>
                  <a:gd name="T0" fmla="*/ 179 w 180"/>
                  <a:gd name="T1" fmla="*/ 0 h 459"/>
                  <a:gd name="T2" fmla="*/ 0 w 180"/>
                  <a:gd name="T3" fmla="*/ 458 h 459"/>
                </a:gdLst>
                <a:ahLst/>
                <a:cxnLst>
                  <a:cxn ang="0">
                    <a:pos x="T0" y="T1"/>
                  </a:cxn>
                  <a:cxn ang="0">
                    <a:pos x="T2" y="T3"/>
                  </a:cxn>
                </a:cxnLst>
                <a:rect l="0" t="0" r="r" b="b"/>
                <a:pathLst>
                  <a:path w="180" h="459">
                    <a:moveTo>
                      <a:pt x="179" y="0"/>
                    </a:moveTo>
                    <a:cubicBezTo>
                      <a:pt x="179" y="177"/>
                      <a:pt x="111" y="338"/>
                      <a:pt x="0" y="458"/>
                    </a:cubicBezTo>
                  </a:path>
                </a:pathLst>
              </a:custGeom>
              <a:noFill/>
              <a:ln w="15875" cap="flat">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9" name="Freeform 256">
                <a:extLst>
                  <a:ext uri="{FF2B5EF4-FFF2-40B4-BE49-F238E27FC236}">
                    <a16:creationId xmlns:a16="http://schemas.microsoft.com/office/drawing/2014/main" id="{C4A7FE70-F0EE-1A27-2968-92D2023622FD}"/>
                  </a:ext>
                </a:extLst>
              </p:cNvPr>
              <p:cNvSpPr>
                <a:spLocks noChangeArrowheads="1"/>
              </p:cNvSpPr>
              <p:nvPr/>
            </p:nvSpPr>
            <p:spPr bwMode="auto">
              <a:xfrm>
                <a:off x="5136239" y="6013016"/>
                <a:ext cx="80750" cy="204831"/>
              </a:xfrm>
              <a:custGeom>
                <a:avLst/>
                <a:gdLst>
                  <a:gd name="T0" fmla="*/ 178 w 179"/>
                  <a:gd name="T1" fmla="*/ 458 h 459"/>
                  <a:gd name="T2" fmla="*/ 0 w 179"/>
                  <a:gd name="T3" fmla="*/ 0 h 459"/>
                </a:gdLst>
                <a:ahLst/>
                <a:cxnLst>
                  <a:cxn ang="0">
                    <a:pos x="T0" y="T1"/>
                  </a:cxn>
                  <a:cxn ang="0">
                    <a:pos x="T2" y="T3"/>
                  </a:cxn>
                </a:cxnLst>
                <a:rect l="0" t="0" r="r" b="b"/>
                <a:pathLst>
                  <a:path w="179" h="459">
                    <a:moveTo>
                      <a:pt x="178" y="458"/>
                    </a:moveTo>
                    <a:cubicBezTo>
                      <a:pt x="67" y="338"/>
                      <a:pt x="0" y="177"/>
                      <a:pt x="0" y="0"/>
                    </a:cubicBezTo>
                  </a:path>
                </a:pathLst>
              </a:custGeom>
              <a:noFill/>
              <a:ln w="15875" cap="flat">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0" name="Freeform 257">
                <a:extLst>
                  <a:ext uri="{FF2B5EF4-FFF2-40B4-BE49-F238E27FC236}">
                    <a16:creationId xmlns:a16="http://schemas.microsoft.com/office/drawing/2014/main" id="{E62F04E9-E427-C7FF-1A7A-4DCC721963AF}"/>
                  </a:ext>
                </a:extLst>
              </p:cNvPr>
              <p:cNvSpPr>
                <a:spLocks noChangeArrowheads="1"/>
              </p:cNvSpPr>
              <p:nvPr/>
            </p:nvSpPr>
            <p:spPr bwMode="auto">
              <a:xfrm>
                <a:off x="4962920" y="5587599"/>
                <a:ext cx="297398" cy="429356"/>
              </a:xfrm>
              <a:custGeom>
                <a:avLst/>
                <a:gdLst>
                  <a:gd name="T0" fmla="*/ 29 w 668"/>
                  <a:gd name="T1" fmla="*/ 0 h 961"/>
                  <a:gd name="T2" fmla="*/ 7 w 668"/>
                  <a:gd name="T3" fmla="*/ 10 h 961"/>
                  <a:gd name="T4" fmla="*/ 1 w 668"/>
                  <a:gd name="T5" fmla="*/ 32 h 961"/>
                  <a:gd name="T6" fmla="*/ 95 w 668"/>
                  <a:gd name="T7" fmla="*/ 751 h 961"/>
                  <a:gd name="T8" fmla="*/ 333 w 668"/>
                  <a:gd name="T9" fmla="*/ 960 h 961"/>
                  <a:gd name="T10" fmla="*/ 571 w 668"/>
                  <a:gd name="T11" fmla="*/ 751 h 961"/>
                  <a:gd name="T12" fmla="*/ 666 w 668"/>
                  <a:gd name="T13" fmla="*/ 32 h 961"/>
                  <a:gd name="T14" fmla="*/ 659 w 668"/>
                  <a:gd name="T15" fmla="*/ 10 h 961"/>
                  <a:gd name="T16" fmla="*/ 638 w 668"/>
                  <a:gd name="T17" fmla="*/ 0 h 961"/>
                  <a:gd name="T18" fmla="*/ 29 w 668"/>
                  <a:gd name="T19" fmla="*/ 0 h 9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8" h="961">
                    <a:moveTo>
                      <a:pt x="29" y="0"/>
                    </a:moveTo>
                    <a:cubicBezTo>
                      <a:pt x="21" y="0"/>
                      <a:pt x="13" y="4"/>
                      <a:pt x="7" y="10"/>
                    </a:cubicBezTo>
                    <a:cubicBezTo>
                      <a:pt x="2" y="16"/>
                      <a:pt x="0" y="24"/>
                      <a:pt x="1" y="32"/>
                    </a:cubicBezTo>
                    <a:cubicBezTo>
                      <a:pt x="32" y="272"/>
                      <a:pt x="63" y="511"/>
                      <a:pt x="95" y="751"/>
                    </a:cubicBezTo>
                    <a:cubicBezTo>
                      <a:pt x="111" y="869"/>
                      <a:pt x="211" y="960"/>
                      <a:pt x="333" y="960"/>
                    </a:cubicBezTo>
                    <a:cubicBezTo>
                      <a:pt x="454" y="960"/>
                      <a:pt x="556" y="869"/>
                      <a:pt x="571" y="751"/>
                    </a:cubicBezTo>
                    <a:cubicBezTo>
                      <a:pt x="602" y="511"/>
                      <a:pt x="634" y="272"/>
                      <a:pt x="666" y="32"/>
                    </a:cubicBezTo>
                    <a:cubicBezTo>
                      <a:pt x="667" y="24"/>
                      <a:pt x="664" y="16"/>
                      <a:pt x="659" y="10"/>
                    </a:cubicBezTo>
                    <a:cubicBezTo>
                      <a:pt x="654" y="4"/>
                      <a:pt x="646" y="0"/>
                      <a:pt x="638" y="0"/>
                    </a:cubicBezTo>
                    <a:cubicBezTo>
                      <a:pt x="435" y="0"/>
                      <a:pt x="232" y="0"/>
                      <a:pt x="29" y="0"/>
                    </a:cubicBezTo>
                  </a:path>
                </a:pathLst>
              </a:custGeom>
              <a:noFill/>
              <a:ln w="15875" cap="flat">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1" name="Freeform 258">
                <a:extLst>
                  <a:ext uri="{FF2B5EF4-FFF2-40B4-BE49-F238E27FC236}">
                    <a16:creationId xmlns:a16="http://schemas.microsoft.com/office/drawing/2014/main" id="{27C11310-FCE7-09F2-51B9-F1721BDED81E}"/>
                  </a:ext>
                </a:extLst>
              </p:cNvPr>
              <p:cNvSpPr>
                <a:spLocks noChangeArrowheads="1"/>
              </p:cNvSpPr>
              <p:nvPr/>
            </p:nvSpPr>
            <p:spPr bwMode="auto">
              <a:xfrm>
                <a:off x="4968828" y="5636838"/>
                <a:ext cx="287551" cy="1969"/>
              </a:xfrm>
              <a:custGeom>
                <a:avLst/>
                <a:gdLst>
                  <a:gd name="T0" fmla="*/ 644 w 645"/>
                  <a:gd name="T1" fmla="*/ 0 h 1"/>
                  <a:gd name="T2" fmla="*/ 0 w 645"/>
                  <a:gd name="T3" fmla="*/ 0 h 1"/>
                </a:gdLst>
                <a:ahLst/>
                <a:cxnLst>
                  <a:cxn ang="0">
                    <a:pos x="T0" y="T1"/>
                  </a:cxn>
                  <a:cxn ang="0">
                    <a:pos x="T2" y="T3"/>
                  </a:cxn>
                </a:cxnLst>
                <a:rect l="0" t="0" r="r" b="b"/>
                <a:pathLst>
                  <a:path w="645" h="1">
                    <a:moveTo>
                      <a:pt x="644" y="0"/>
                    </a:moveTo>
                    <a:cubicBezTo>
                      <a:pt x="429" y="0"/>
                      <a:pt x="214" y="0"/>
                      <a:pt x="0" y="0"/>
                    </a:cubicBezTo>
                  </a:path>
                </a:pathLst>
              </a:custGeom>
              <a:noFill/>
              <a:ln w="15875" cap="flat">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2" name="Freeform 259">
                <a:extLst>
                  <a:ext uri="{FF2B5EF4-FFF2-40B4-BE49-F238E27FC236}">
                    <a16:creationId xmlns:a16="http://schemas.microsoft.com/office/drawing/2014/main" id="{12D7DA8C-1485-FC68-D92D-93CD72FD7C2F}"/>
                  </a:ext>
                </a:extLst>
              </p:cNvPr>
              <p:cNvSpPr>
                <a:spLocks noChangeArrowheads="1"/>
              </p:cNvSpPr>
              <p:nvPr/>
            </p:nvSpPr>
            <p:spPr bwMode="auto">
              <a:xfrm>
                <a:off x="4848688" y="5636838"/>
                <a:ext cx="155592" cy="287551"/>
              </a:xfrm>
              <a:custGeom>
                <a:avLst/>
                <a:gdLst>
                  <a:gd name="T0" fmla="*/ 349 w 350"/>
                  <a:gd name="T1" fmla="*/ 629 h 643"/>
                  <a:gd name="T2" fmla="*/ 208 w 350"/>
                  <a:gd name="T3" fmla="*/ 569 h 643"/>
                  <a:gd name="T4" fmla="*/ 26 w 350"/>
                  <a:gd name="T5" fmla="*/ 255 h 643"/>
                  <a:gd name="T6" fmla="*/ 0 w 350"/>
                  <a:gd name="T7" fmla="*/ 157 h 643"/>
                  <a:gd name="T8" fmla="*/ 156 w 350"/>
                  <a:gd name="T9" fmla="*/ 0 h 643"/>
                  <a:gd name="T10" fmla="*/ 282 w 350"/>
                  <a:gd name="T11" fmla="*/ 125 h 643"/>
                  <a:gd name="T12" fmla="*/ 181 w 350"/>
                  <a:gd name="T13" fmla="*/ 226 h 643"/>
                  <a:gd name="T14" fmla="*/ 125 w 350"/>
                  <a:gd name="T15" fmla="*/ 202 h 6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0" h="643">
                    <a:moveTo>
                      <a:pt x="349" y="629"/>
                    </a:moveTo>
                    <a:cubicBezTo>
                      <a:pt x="295" y="642"/>
                      <a:pt x="237" y="620"/>
                      <a:pt x="208" y="569"/>
                    </a:cubicBezTo>
                    <a:cubicBezTo>
                      <a:pt x="147" y="464"/>
                      <a:pt x="86" y="360"/>
                      <a:pt x="26" y="255"/>
                    </a:cubicBezTo>
                    <a:cubicBezTo>
                      <a:pt x="9" y="226"/>
                      <a:pt x="0" y="192"/>
                      <a:pt x="0" y="157"/>
                    </a:cubicBezTo>
                    <a:cubicBezTo>
                      <a:pt x="0" y="70"/>
                      <a:pt x="70" y="0"/>
                      <a:pt x="156" y="0"/>
                    </a:cubicBezTo>
                    <a:cubicBezTo>
                      <a:pt x="226" y="0"/>
                      <a:pt x="282" y="56"/>
                      <a:pt x="282" y="125"/>
                    </a:cubicBezTo>
                    <a:cubicBezTo>
                      <a:pt x="282" y="181"/>
                      <a:pt x="237" y="226"/>
                      <a:pt x="181" y="226"/>
                    </a:cubicBezTo>
                    <a:cubicBezTo>
                      <a:pt x="159" y="226"/>
                      <a:pt x="139" y="217"/>
                      <a:pt x="125" y="202"/>
                    </a:cubicBezTo>
                  </a:path>
                </a:pathLst>
              </a:custGeom>
              <a:noFill/>
              <a:ln w="15875" cap="rnd">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3" name="Freeform 260">
                <a:extLst>
                  <a:ext uri="{FF2B5EF4-FFF2-40B4-BE49-F238E27FC236}">
                    <a16:creationId xmlns:a16="http://schemas.microsoft.com/office/drawing/2014/main" id="{E1F40E9A-69A7-E261-C097-DB5486541C61}"/>
                  </a:ext>
                </a:extLst>
              </p:cNvPr>
              <p:cNvSpPr>
                <a:spLocks noChangeArrowheads="1"/>
              </p:cNvSpPr>
              <p:nvPr/>
            </p:nvSpPr>
            <p:spPr bwMode="auto">
              <a:xfrm>
                <a:off x="5218959" y="5636838"/>
                <a:ext cx="157562" cy="287551"/>
              </a:xfrm>
              <a:custGeom>
                <a:avLst/>
                <a:gdLst>
                  <a:gd name="T0" fmla="*/ 0 w 351"/>
                  <a:gd name="T1" fmla="*/ 629 h 643"/>
                  <a:gd name="T2" fmla="*/ 142 w 351"/>
                  <a:gd name="T3" fmla="*/ 569 h 643"/>
                  <a:gd name="T4" fmla="*/ 324 w 351"/>
                  <a:gd name="T5" fmla="*/ 255 h 643"/>
                  <a:gd name="T6" fmla="*/ 350 w 351"/>
                  <a:gd name="T7" fmla="*/ 157 h 643"/>
                  <a:gd name="T8" fmla="*/ 193 w 351"/>
                  <a:gd name="T9" fmla="*/ 0 h 643"/>
                  <a:gd name="T10" fmla="*/ 68 w 351"/>
                  <a:gd name="T11" fmla="*/ 125 h 643"/>
                  <a:gd name="T12" fmla="*/ 168 w 351"/>
                  <a:gd name="T13" fmla="*/ 226 h 643"/>
                  <a:gd name="T14" fmla="*/ 225 w 351"/>
                  <a:gd name="T15" fmla="*/ 202 h 6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1" h="643">
                    <a:moveTo>
                      <a:pt x="0" y="629"/>
                    </a:moveTo>
                    <a:cubicBezTo>
                      <a:pt x="54" y="642"/>
                      <a:pt x="113" y="620"/>
                      <a:pt x="142" y="569"/>
                    </a:cubicBezTo>
                    <a:cubicBezTo>
                      <a:pt x="202" y="464"/>
                      <a:pt x="263" y="360"/>
                      <a:pt x="324" y="255"/>
                    </a:cubicBezTo>
                    <a:cubicBezTo>
                      <a:pt x="340" y="226"/>
                      <a:pt x="350" y="192"/>
                      <a:pt x="350" y="157"/>
                    </a:cubicBezTo>
                    <a:cubicBezTo>
                      <a:pt x="350" y="70"/>
                      <a:pt x="280" y="0"/>
                      <a:pt x="193" y="0"/>
                    </a:cubicBezTo>
                    <a:cubicBezTo>
                      <a:pt x="124" y="0"/>
                      <a:pt x="68" y="56"/>
                      <a:pt x="68" y="125"/>
                    </a:cubicBezTo>
                    <a:cubicBezTo>
                      <a:pt x="68" y="181"/>
                      <a:pt x="113" y="226"/>
                      <a:pt x="168" y="226"/>
                    </a:cubicBezTo>
                    <a:cubicBezTo>
                      <a:pt x="190" y="226"/>
                      <a:pt x="210" y="217"/>
                      <a:pt x="225" y="202"/>
                    </a:cubicBezTo>
                  </a:path>
                </a:pathLst>
              </a:custGeom>
              <a:noFill/>
              <a:ln w="15875" cap="rnd">
                <a:solidFill>
                  <a:sysClr val="window" lastClr="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5" name="TextBox 4">
              <a:extLst>
                <a:ext uri="{FF2B5EF4-FFF2-40B4-BE49-F238E27FC236}">
                  <a16:creationId xmlns:a16="http://schemas.microsoft.com/office/drawing/2014/main" id="{8F1CF231-A33E-1EBB-A82B-ED7C313536A7}"/>
                </a:ext>
              </a:extLst>
            </p:cNvPr>
            <p:cNvSpPr txBox="1"/>
            <p:nvPr/>
          </p:nvSpPr>
          <p:spPr>
            <a:xfrm>
              <a:off x="8050794" y="5002092"/>
              <a:ext cx="2322463" cy="646331"/>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Feedback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Lessons Learnt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Project Review</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Next Steps for Migrate Phase</a:t>
              </a:r>
            </a:p>
          </p:txBody>
        </p:sp>
        <p:sp>
          <p:nvSpPr>
            <p:cNvPr id="120" name="Rounded Rectangle 119">
              <a:extLst>
                <a:ext uri="{FF2B5EF4-FFF2-40B4-BE49-F238E27FC236}">
                  <a16:creationId xmlns:a16="http://schemas.microsoft.com/office/drawing/2014/main" id="{1EF44CAF-47FD-6A9B-48A3-C20514BEB02E}"/>
                </a:ext>
              </a:extLst>
            </p:cNvPr>
            <p:cNvSpPr/>
            <p:nvPr/>
          </p:nvSpPr>
          <p:spPr>
            <a:xfrm>
              <a:off x="7916619" y="4021327"/>
              <a:ext cx="1719906" cy="973157"/>
            </a:xfrm>
            <a:prstGeom prst="roundRect">
              <a:avLst/>
            </a:prstGeom>
            <a:noFill/>
            <a:ln w="34925" cap="rnd" cmpd="dbl">
              <a:solidFill>
                <a:schemeClr val="accent1">
                  <a:lumMod val="75000"/>
                </a:schemeClr>
              </a:solidFill>
              <a:prstDash val="lgDashDotDot"/>
              <a:extLst>
                <a:ext uri="{C807C97D-BFC1-408E-A445-0C87EB9F89A2}">
                  <ask:lineSketchStyleProps xmlns:ask="http://schemas.microsoft.com/office/drawing/2018/sketchyshapes" sd="981765707">
                    <a:custGeom>
                      <a:avLst/>
                      <a:gdLst>
                        <a:gd name="connsiteX0" fmla="*/ 0 w 3891201"/>
                        <a:gd name="connsiteY0" fmla="*/ 211840 h 1271016"/>
                        <a:gd name="connsiteX1" fmla="*/ 211840 w 3891201"/>
                        <a:gd name="connsiteY1" fmla="*/ 0 h 1271016"/>
                        <a:gd name="connsiteX2" fmla="*/ 789760 w 3891201"/>
                        <a:gd name="connsiteY2" fmla="*/ 0 h 1271016"/>
                        <a:gd name="connsiteX3" fmla="*/ 1437031 w 3891201"/>
                        <a:gd name="connsiteY3" fmla="*/ 0 h 1271016"/>
                        <a:gd name="connsiteX4" fmla="*/ 2084301 w 3891201"/>
                        <a:gd name="connsiteY4" fmla="*/ 0 h 1271016"/>
                        <a:gd name="connsiteX5" fmla="*/ 2592871 w 3891201"/>
                        <a:gd name="connsiteY5" fmla="*/ 0 h 1271016"/>
                        <a:gd name="connsiteX6" fmla="*/ 3066766 w 3891201"/>
                        <a:gd name="connsiteY6" fmla="*/ 0 h 1271016"/>
                        <a:gd name="connsiteX7" fmla="*/ 3679361 w 3891201"/>
                        <a:gd name="connsiteY7" fmla="*/ 0 h 1271016"/>
                        <a:gd name="connsiteX8" fmla="*/ 3891201 w 3891201"/>
                        <a:gd name="connsiteY8" fmla="*/ 211840 h 1271016"/>
                        <a:gd name="connsiteX9" fmla="*/ 3891201 w 3891201"/>
                        <a:gd name="connsiteY9" fmla="*/ 627035 h 1271016"/>
                        <a:gd name="connsiteX10" fmla="*/ 3891201 w 3891201"/>
                        <a:gd name="connsiteY10" fmla="*/ 1059176 h 1271016"/>
                        <a:gd name="connsiteX11" fmla="*/ 3679361 w 3891201"/>
                        <a:gd name="connsiteY11" fmla="*/ 1271016 h 1271016"/>
                        <a:gd name="connsiteX12" fmla="*/ 3066766 w 3891201"/>
                        <a:gd name="connsiteY12" fmla="*/ 1271016 h 1271016"/>
                        <a:gd name="connsiteX13" fmla="*/ 2523521 w 3891201"/>
                        <a:gd name="connsiteY13" fmla="*/ 1271016 h 1271016"/>
                        <a:gd name="connsiteX14" fmla="*/ 1910925 w 3891201"/>
                        <a:gd name="connsiteY14" fmla="*/ 1271016 h 1271016"/>
                        <a:gd name="connsiteX15" fmla="*/ 1263655 w 3891201"/>
                        <a:gd name="connsiteY15" fmla="*/ 1271016 h 1271016"/>
                        <a:gd name="connsiteX16" fmla="*/ 211840 w 3891201"/>
                        <a:gd name="connsiteY16" fmla="*/ 1271016 h 1271016"/>
                        <a:gd name="connsiteX17" fmla="*/ 0 w 3891201"/>
                        <a:gd name="connsiteY17" fmla="*/ 1059176 h 1271016"/>
                        <a:gd name="connsiteX18" fmla="*/ 0 w 3891201"/>
                        <a:gd name="connsiteY18" fmla="*/ 652455 h 1271016"/>
                        <a:gd name="connsiteX19" fmla="*/ 0 w 3891201"/>
                        <a:gd name="connsiteY19" fmla="*/ 211840 h 127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91201" h="1271016" extrusionOk="0">
                          <a:moveTo>
                            <a:pt x="0" y="211840"/>
                          </a:moveTo>
                          <a:cubicBezTo>
                            <a:pt x="-1724" y="97869"/>
                            <a:pt x="85073" y="-4035"/>
                            <a:pt x="211840" y="0"/>
                          </a:cubicBezTo>
                          <a:cubicBezTo>
                            <a:pt x="352813" y="-66347"/>
                            <a:pt x="644289" y="64141"/>
                            <a:pt x="789760" y="0"/>
                          </a:cubicBezTo>
                          <a:cubicBezTo>
                            <a:pt x="935231" y="-64141"/>
                            <a:pt x="1135764" y="36819"/>
                            <a:pt x="1437031" y="0"/>
                          </a:cubicBezTo>
                          <a:cubicBezTo>
                            <a:pt x="1738298" y="-36819"/>
                            <a:pt x="1919312" y="25"/>
                            <a:pt x="2084301" y="0"/>
                          </a:cubicBezTo>
                          <a:cubicBezTo>
                            <a:pt x="2249290" y="-25"/>
                            <a:pt x="2412211" y="24788"/>
                            <a:pt x="2592871" y="0"/>
                          </a:cubicBezTo>
                          <a:cubicBezTo>
                            <a:pt x="2773531" y="-24788"/>
                            <a:pt x="2963621" y="44805"/>
                            <a:pt x="3066766" y="0"/>
                          </a:cubicBezTo>
                          <a:cubicBezTo>
                            <a:pt x="3169912" y="-44805"/>
                            <a:pt x="3497062" y="44876"/>
                            <a:pt x="3679361" y="0"/>
                          </a:cubicBezTo>
                          <a:cubicBezTo>
                            <a:pt x="3821363" y="3626"/>
                            <a:pt x="3878954" y="89255"/>
                            <a:pt x="3891201" y="211840"/>
                          </a:cubicBezTo>
                          <a:cubicBezTo>
                            <a:pt x="3920093" y="301511"/>
                            <a:pt x="3842349" y="475407"/>
                            <a:pt x="3891201" y="627035"/>
                          </a:cubicBezTo>
                          <a:cubicBezTo>
                            <a:pt x="3940053" y="778664"/>
                            <a:pt x="3863357" y="934958"/>
                            <a:pt x="3891201" y="1059176"/>
                          </a:cubicBezTo>
                          <a:cubicBezTo>
                            <a:pt x="3868850" y="1182099"/>
                            <a:pt x="3789568" y="1249049"/>
                            <a:pt x="3679361" y="1271016"/>
                          </a:cubicBezTo>
                          <a:cubicBezTo>
                            <a:pt x="3519371" y="1276183"/>
                            <a:pt x="3229389" y="1233492"/>
                            <a:pt x="3066766" y="1271016"/>
                          </a:cubicBezTo>
                          <a:cubicBezTo>
                            <a:pt x="2904143" y="1308540"/>
                            <a:pt x="2785129" y="1263928"/>
                            <a:pt x="2523521" y="1271016"/>
                          </a:cubicBezTo>
                          <a:cubicBezTo>
                            <a:pt x="2261914" y="1278104"/>
                            <a:pt x="2153174" y="1239646"/>
                            <a:pt x="1910925" y="1271016"/>
                          </a:cubicBezTo>
                          <a:cubicBezTo>
                            <a:pt x="1668676" y="1302386"/>
                            <a:pt x="1513616" y="1267310"/>
                            <a:pt x="1263655" y="1271016"/>
                          </a:cubicBezTo>
                          <a:cubicBezTo>
                            <a:pt x="1013694" y="1274722"/>
                            <a:pt x="608536" y="1219037"/>
                            <a:pt x="211840" y="1271016"/>
                          </a:cubicBezTo>
                          <a:cubicBezTo>
                            <a:pt x="77910" y="1284644"/>
                            <a:pt x="25439" y="1186323"/>
                            <a:pt x="0" y="1059176"/>
                          </a:cubicBezTo>
                          <a:cubicBezTo>
                            <a:pt x="-36452" y="957017"/>
                            <a:pt x="48746" y="797152"/>
                            <a:pt x="0" y="652455"/>
                          </a:cubicBezTo>
                          <a:cubicBezTo>
                            <a:pt x="-48746" y="507758"/>
                            <a:pt x="1772" y="362414"/>
                            <a:pt x="0" y="21184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130" name="TextBox 129">
              <a:extLst>
                <a:ext uri="{FF2B5EF4-FFF2-40B4-BE49-F238E27FC236}">
                  <a16:creationId xmlns:a16="http://schemas.microsoft.com/office/drawing/2014/main" id="{975EE44B-D3E4-188B-9B96-D21B94A07D88}"/>
                </a:ext>
              </a:extLst>
            </p:cNvPr>
            <p:cNvSpPr txBox="1"/>
            <p:nvPr/>
          </p:nvSpPr>
          <p:spPr>
            <a:xfrm>
              <a:off x="8413817" y="3669768"/>
              <a:ext cx="74892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Close</a:t>
              </a:r>
            </a:p>
          </p:txBody>
        </p:sp>
      </p:grpSp>
      <p:cxnSp>
        <p:nvCxnSpPr>
          <p:cNvPr id="86" name="Elbow Connector 163">
            <a:extLst>
              <a:ext uri="{FF2B5EF4-FFF2-40B4-BE49-F238E27FC236}">
                <a16:creationId xmlns:a16="http://schemas.microsoft.com/office/drawing/2014/main" id="{376DDF66-EC46-4D02-4224-D0107DBA324B}"/>
              </a:ext>
            </a:extLst>
          </p:cNvPr>
          <p:cNvCxnSpPr>
            <a:cxnSpLocks/>
            <a:stCxn id="93" idx="3"/>
          </p:cNvCxnSpPr>
          <p:nvPr/>
        </p:nvCxnSpPr>
        <p:spPr>
          <a:xfrm>
            <a:off x="3267183" y="2005567"/>
            <a:ext cx="924989" cy="0"/>
          </a:xfrm>
          <a:prstGeom prst="straightConnector1">
            <a:avLst/>
          </a:prstGeom>
          <a:ln w="63500">
            <a:solidFill>
              <a:schemeClr val="accent1">
                <a:lumMod val="75000"/>
                <a:alpha val="68000"/>
              </a:schemeClr>
            </a:solidFill>
            <a:round/>
            <a:tailEnd type="triangle" w="sm" len="med"/>
          </a:ln>
        </p:spPr>
        <p:style>
          <a:lnRef idx="1">
            <a:schemeClr val="accent1"/>
          </a:lnRef>
          <a:fillRef idx="0">
            <a:schemeClr val="accent1"/>
          </a:fillRef>
          <a:effectRef idx="0">
            <a:schemeClr val="accent1"/>
          </a:effectRef>
          <a:fontRef idx="minor">
            <a:schemeClr val="tx1"/>
          </a:fontRef>
        </p:style>
      </p:cxnSp>
      <p:cxnSp>
        <p:nvCxnSpPr>
          <p:cNvPr id="90" name="Elbow Connector 163">
            <a:extLst>
              <a:ext uri="{FF2B5EF4-FFF2-40B4-BE49-F238E27FC236}">
                <a16:creationId xmlns:a16="http://schemas.microsoft.com/office/drawing/2014/main" id="{0FEC8E87-734B-4B4C-5750-3D368517A712}"/>
              </a:ext>
            </a:extLst>
          </p:cNvPr>
          <p:cNvCxnSpPr>
            <a:cxnSpLocks/>
            <a:endCxn id="93" idx="1"/>
          </p:cNvCxnSpPr>
          <p:nvPr/>
        </p:nvCxnSpPr>
        <p:spPr>
          <a:xfrm>
            <a:off x="-28059" y="2005567"/>
            <a:ext cx="1277556" cy="0"/>
          </a:xfrm>
          <a:prstGeom prst="straightConnector1">
            <a:avLst/>
          </a:prstGeom>
          <a:ln w="63500">
            <a:solidFill>
              <a:schemeClr val="accent1">
                <a:lumMod val="75000"/>
                <a:alpha val="68000"/>
              </a:schemeClr>
            </a:solidFill>
            <a:round/>
            <a:tailEnd type="triangle" w="sm" len="med"/>
          </a:ln>
        </p:spPr>
        <p:style>
          <a:lnRef idx="1">
            <a:schemeClr val="accent1"/>
          </a:lnRef>
          <a:fillRef idx="0">
            <a:schemeClr val="accent1"/>
          </a:fillRef>
          <a:effectRef idx="0">
            <a:schemeClr val="accent1"/>
          </a:effectRef>
          <a:fontRef idx="minor">
            <a:schemeClr val="tx1"/>
          </a:fontRef>
        </p:style>
      </p:cxnSp>
      <p:cxnSp>
        <p:nvCxnSpPr>
          <p:cNvPr id="133" name="Elbow Connector 163">
            <a:extLst>
              <a:ext uri="{FF2B5EF4-FFF2-40B4-BE49-F238E27FC236}">
                <a16:creationId xmlns:a16="http://schemas.microsoft.com/office/drawing/2014/main" id="{28606E9C-E8EF-FC80-48C2-5B0A96659B2D}"/>
              </a:ext>
            </a:extLst>
          </p:cNvPr>
          <p:cNvCxnSpPr>
            <a:cxnSpLocks/>
            <a:stCxn id="96" idx="3"/>
            <a:endCxn id="103" idx="3"/>
          </p:cNvCxnSpPr>
          <p:nvPr/>
        </p:nvCxnSpPr>
        <p:spPr>
          <a:xfrm flipH="1">
            <a:off x="9340843" y="1994681"/>
            <a:ext cx="994033" cy="2767257"/>
          </a:xfrm>
          <a:prstGeom prst="bentConnector3">
            <a:avLst>
              <a:gd name="adj1" fmla="val -22997"/>
            </a:avLst>
          </a:prstGeom>
          <a:ln w="63500">
            <a:solidFill>
              <a:schemeClr val="accent1">
                <a:lumMod val="75000"/>
                <a:alpha val="68000"/>
              </a:schemeClr>
            </a:solidFill>
            <a:round/>
            <a:tailEnd type="triangle" w="sm" len="med"/>
          </a:ln>
        </p:spPr>
        <p:style>
          <a:lnRef idx="1">
            <a:schemeClr val="accent1"/>
          </a:lnRef>
          <a:fillRef idx="0">
            <a:schemeClr val="accent1"/>
          </a:fillRef>
          <a:effectRef idx="0">
            <a:schemeClr val="accent1"/>
          </a:effectRef>
          <a:fontRef idx="minor">
            <a:schemeClr val="tx1"/>
          </a:fontRef>
        </p:style>
      </p:cxnSp>
      <p:cxnSp>
        <p:nvCxnSpPr>
          <p:cNvPr id="138" name="Elbow Connector 163">
            <a:extLst>
              <a:ext uri="{FF2B5EF4-FFF2-40B4-BE49-F238E27FC236}">
                <a16:creationId xmlns:a16="http://schemas.microsoft.com/office/drawing/2014/main" id="{9ADDE2EF-7C68-E149-6099-8493936A8BB3}"/>
              </a:ext>
            </a:extLst>
          </p:cNvPr>
          <p:cNvCxnSpPr>
            <a:cxnSpLocks/>
            <a:stCxn id="120" idx="3"/>
            <a:endCxn id="103" idx="1"/>
          </p:cNvCxnSpPr>
          <p:nvPr/>
        </p:nvCxnSpPr>
        <p:spPr>
          <a:xfrm flipV="1">
            <a:off x="2902162" y="4761938"/>
            <a:ext cx="2481341" cy="9207"/>
          </a:xfrm>
          <a:prstGeom prst="straightConnector1">
            <a:avLst/>
          </a:prstGeom>
          <a:ln w="63500">
            <a:solidFill>
              <a:schemeClr val="accent1">
                <a:lumMod val="75000"/>
                <a:alpha val="68000"/>
              </a:schemeClr>
            </a:solidFill>
            <a:round/>
            <a:headEnd type="triangle" w="sm" len="med"/>
            <a:tailEnd type="none" w="sm" len="med"/>
          </a:ln>
        </p:spPr>
        <p:style>
          <a:lnRef idx="1">
            <a:schemeClr val="accent1"/>
          </a:lnRef>
          <a:fillRef idx="0">
            <a:schemeClr val="accent1"/>
          </a:fillRef>
          <a:effectRef idx="0">
            <a:schemeClr val="accent1"/>
          </a:effectRef>
          <a:fontRef idx="minor">
            <a:schemeClr val="tx1"/>
          </a:fontRef>
        </p:style>
      </p:cxnSp>
      <p:grpSp>
        <p:nvGrpSpPr>
          <p:cNvPr id="82" name="Group 81">
            <a:extLst>
              <a:ext uri="{FF2B5EF4-FFF2-40B4-BE49-F238E27FC236}">
                <a16:creationId xmlns:a16="http://schemas.microsoft.com/office/drawing/2014/main" id="{B8C41E60-E37F-DCFB-E2C3-A9929AE0A933}"/>
              </a:ext>
            </a:extLst>
          </p:cNvPr>
          <p:cNvGrpSpPr/>
          <p:nvPr/>
        </p:nvGrpSpPr>
        <p:grpSpPr>
          <a:xfrm>
            <a:off x="5966033" y="1609484"/>
            <a:ext cx="571678" cy="571678"/>
            <a:chOff x="1124743" y="5461001"/>
            <a:chExt cx="619125" cy="619125"/>
          </a:xfrm>
        </p:grpSpPr>
        <p:sp>
          <p:nvSpPr>
            <p:cNvPr id="84" name="Freeform 234">
              <a:extLst>
                <a:ext uri="{FF2B5EF4-FFF2-40B4-BE49-F238E27FC236}">
                  <a16:creationId xmlns:a16="http://schemas.microsoft.com/office/drawing/2014/main" id="{2FCDBF31-90BD-236B-C009-6D55D2BA4652}"/>
                </a:ext>
              </a:extLst>
            </p:cNvPr>
            <p:cNvSpPr>
              <a:spLocks noChangeArrowheads="1"/>
            </p:cNvSpPr>
            <p:nvPr/>
          </p:nvSpPr>
          <p:spPr bwMode="auto">
            <a:xfrm>
              <a:off x="1256506" y="5592763"/>
              <a:ext cx="266700" cy="266700"/>
            </a:xfrm>
            <a:custGeom>
              <a:avLst/>
              <a:gdLst>
                <a:gd name="T0" fmla="*/ 273 w 739"/>
                <a:gd name="T1" fmla="*/ 138 h 739"/>
                <a:gd name="T2" fmla="*/ 310 w 739"/>
                <a:gd name="T3" fmla="*/ 82 h 739"/>
                <a:gd name="T4" fmla="*/ 310 w 739"/>
                <a:gd name="T5" fmla="*/ 60 h 739"/>
                <a:gd name="T6" fmla="*/ 369 w 739"/>
                <a:gd name="T7" fmla="*/ 0 h 739"/>
                <a:gd name="T8" fmla="*/ 428 w 739"/>
                <a:gd name="T9" fmla="*/ 60 h 739"/>
                <a:gd name="T10" fmla="*/ 428 w 739"/>
                <a:gd name="T11" fmla="*/ 82 h 739"/>
                <a:gd name="T12" fmla="*/ 465 w 739"/>
                <a:gd name="T13" fmla="*/ 138 h 739"/>
                <a:gd name="T14" fmla="*/ 530 w 739"/>
                <a:gd name="T15" fmla="*/ 125 h 739"/>
                <a:gd name="T16" fmla="*/ 546 w 739"/>
                <a:gd name="T17" fmla="*/ 109 h 739"/>
                <a:gd name="T18" fmla="*/ 630 w 739"/>
                <a:gd name="T19" fmla="*/ 108 h 739"/>
                <a:gd name="T20" fmla="*/ 630 w 739"/>
                <a:gd name="T21" fmla="*/ 192 h 739"/>
                <a:gd name="T22" fmla="*/ 614 w 739"/>
                <a:gd name="T23" fmla="*/ 208 h 739"/>
                <a:gd name="T24" fmla="*/ 601 w 739"/>
                <a:gd name="T25" fmla="*/ 273 h 739"/>
                <a:gd name="T26" fmla="*/ 656 w 739"/>
                <a:gd name="T27" fmla="*/ 310 h 739"/>
                <a:gd name="T28" fmla="*/ 679 w 739"/>
                <a:gd name="T29" fmla="*/ 310 h 739"/>
                <a:gd name="T30" fmla="*/ 738 w 739"/>
                <a:gd name="T31" fmla="*/ 369 h 739"/>
                <a:gd name="T32" fmla="*/ 679 w 739"/>
                <a:gd name="T33" fmla="*/ 428 h 739"/>
                <a:gd name="T34" fmla="*/ 656 w 739"/>
                <a:gd name="T35" fmla="*/ 428 h 739"/>
                <a:gd name="T36" fmla="*/ 601 w 739"/>
                <a:gd name="T37" fmla="*/ 465 h 739"/>
                <a:gd name="T38" fmla="*/ 614 w 739"/>
                <a:gd name="T39" fmla="*/ 530 h 739"/>
                <a:gd name="T40" fmla="*/ 630 w 739"/>
                <a:gd name="T41" fmla="*/ 547 h 739"/>
                <a:gd name="T42" fmla="*/ 630 w 739"/>
                <a:gd name="T43" fmla="*/ 630 h 739"/>
                <a:gd name="T44" fmla="*/ 546 w 739"/>
                <a:gd name="T45" fmla="*/ 630 h 739"/>
                <a:gd name="T46" fmla="*/ 530 w 739"/>
                <a:gd name="T47" fmla="*/ 614 h 739"/>
                <a:gd name="T48" fmla="*/ 465 w 739"/>
                <a:gd name="T49" fmla="*/ 601 h 739"/>
                <a:gd name="T50" fmla="*/ 428 w 739"/>
                <a:gd name="T51" fmla="*/ 656 h 739"/>
                <a:gd name="T52" fmla="*/ 428 w 739"/>
                <a:gd name="T53" fmla="*/ 679 h 739"/>
                <a:gd name="T54" fmla="*/ 369 w 739"/>
                <a:gd name="T55" fmla="*/ 738 h 739"/>
                <a:gd name="T56" fmla="*/ 310 w 739"/>
                <a:gd name="T57" fmla="*/ 679 h 739"/>
                <a:gd name="T58" fmla="*/ 310 w 739"/>
                <a:gd name="T59" fmla="*/ 656 h 739"/>
                <a:gd name="T60" fmla="*/ 273 w 739"/>
                <a:gd name="T61" fmla="*/ 601 h 739"/>
                <a:gd name="T62" fmla="*/ 208 w 739"/>
                <a:gd name="T63" fmla="*/ 614 h 739"/>
                <a:gd name="T64" fmla="*/ 192 w 739"/>
                <a:gd name="T65" fmla="*/ 630 h 739"/>
                <a:gd name="T66" fmla="*/ 108 w 739"/>
                <a:gd name="T67" fmla="*/ 630 h 739"/>
                <a:gd name="T68" fmla="*/ 108 w 739"/>
                <a:gd name="T69" fmla="*/ 547 h 739"/>
                <a:gd name="T70" fmla="*/ 124 w 739"/>
                <a:gd name="T71" fmla="*/ 530 h 739"/>
                <a:gd name="T72" fmla="*/ 137 w 739"/>
                <a:gd name="T73" fmla="*/ 465 h 739"/>
                <a:gd name="T74" fmla="*/ 82 w 739"/>
                <a:gd name="T75" fmla="*/ 428 h 739"/>
                <a:gd name="T76" fmla="*/ 59 w 739"/>
                <a:gd name="T77" fmla="*/ 428 h 739"/>
                <a:gd name="T78" fmla="*/ 0 w 739"/>
                <a:gd name="T79" fmla="*/ 369 h 739"/>
                <a:gd name="T80" fmla="*/ 59 w 739"/>
                <a:gd name="T81" fmla="*/ 310 h 739"/>
                <a:gd name="T82" fmla="*/ 82 w 739"/>
                <a:gd name="T83" fmla="*/ 310 h 739"/>
                <a:gd name="T84" fmla="*/ 137 w 739"/>
                <a:gd name="T85" fmla="*/ 273 h 739"/>
                <a:gd name="T86" fmla="*/ 124 w 739"/>
                <a:gd name="T87" fmla="*/ 208 h 739"/>
                <a:gd name="T88" fmla="*/ 108 w 739"/>
                <a:gd name="T89" fmla="*/ 192 h 739"/>
                <a:gd name="T90" fmla="*/ 108 w 739"/>
                <a:gd name="T91" fmla="*/ 108 h 739"/>
                <a:gd name="T92" fmla="*/ 192 w 739"/>
                <a:gd name="T93" fmla="*/ 109 h 739"/>
                <a:gd name="T94" fmla="*/ 208 w 739"/>
                <a:gd name="T95" fmla="*/ 125 h 739"/>
                <a:gd name="T96" fmla="*/ 273 w 739"/>
                <a:gd name="T97" fmla="*/ 138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39" h="739">
                  <a:moveTo>
                    <a:pt x="273" y="138"/>
                  </a:moveTo>
                  <a:cubicBezTo>
                    <a:pt x="295" y="128"/>
                    <a:pt x="310" y="106"/>
                    <a:pt x="310" y="82"/>
                  </a:cubicBezTo>
                  <a:cubicBezTo>
                    <a:pt x="310" y="75"/>
                    <a:pt x="310" y="67"/>
                    <a:pt x="310" y="60"/>
                  </a:cubicBezTo>
                  <a:cubicBezTo>
                    <a:pt x="310" y="27"/>
                    <a:pt x="336" y="0"/>
                    <a:pt x="369" y="0"/>
                  </a:cubicBezTo>
                  <a:cubicBezTo>
                    <a:pt x="402" y="0"/>
                    <a:pt x="428" y="27"/>
                    <a:pt x="428" y="60"/>
                  </a:cubicBezTo>
                  <a:cubicBezTo>
                    <a:pt x="428" y="67"/>
                    <a:pt x="428" y="75"/>
                    <a:pt x="428" y="82"/>
                  </a:cubicBezTo>
                  <a:cubicBezTo>
                    <a:pt x="428" y="106"/>
                    <a:pt x="443" y="128"/>
                    <a:pt x="465" y="138"/>
                  </a:cubicBezTo>
                  <a:cubicBezTo>
                    <a:pt x="487" y="147"/>
                    <a:pt x="513" y="142"/>
                    <a:pt x="530" y="125"/>
                  </a:cubicBezTo>
                  <a:cubicBezTo>
                    <a:pt x="535" y="120"/>
                    <a:pt x="541" y="114"/>
                    <a:pt x="546" y="109"/>
                  </a:cubicBezTo>
                  <a:cubicBezTo>
                    <a:pt x="569" y="85"/>
                    <a:pt x="607" y="85"/>
                    <a:pt x="630" y="108"/>
                  </a:cubicBezTo>
                  <a:cubicBezTo>
                    <a:pt x="653" y="132"/>
                    <a:pt x="653" y="169"/>
                    <a:pt x="630" y="192"/>
                  </a:cubicBezTo>
                  <a:cubicBezTo>
                    <a:pt x="625" y="197"/>
                    <a:pt x="619" y="203"/>
                    <a:pt x="614" y="208"/>
                  </a:cubicBezTo>
                  <a:cubicBezTo>
                    <a:pt x="596" y="225"/>
                    <a:pt x="591" y="251"/>
                    <a:pt x="601" y="273"/>
                  </a:cubicBezTo>
                  <a:cubicBezTo>
                    <a:pt x="610" y="296"/>
                    <a:pt x="632" y="310"/>
                    <a:pt x="656" y="310"/>
                  </a:cubicBezTo>
                  <a:cubicBezTo>
                    <a:pt x="664" y="310"/>
                    <a:pt x="671" y="310"/>
                    <a:pt x="679" y="310"/>
                  </a:cubicBezTo>
                  <a:cubicBezTo>
                    <a:pt x="711" y="310"/>
                    <a:pt x="738" y="337"/>
                    <a:pt x="738" y="369"/>
                  </a:cubicBezTo>
                  <a:cubicBezTo>
                    <a:pt x="738" y="402"/>
                    <a:pt x="711" y="428"/>
                    <a:pt x="679" y="428"/>
                  </a:cubicBezTo>
                  <a:cubicBezTo>
                    <a:pt x="671" y="428"/>
                    <a:pt x="664" y="428"/>
                    <a:pt x="656" y="428"/>
                  </a:cubicBezTo>
                  <a:cubicBezTo>
                    <a:pt x="632" y="428"/>
                    <a:pt x="610" y="443"/>
                    <a:pt x="601" y="465"/>
                  </a:cubicBezTo>
                  <a:cubicBezTo>
                    <a:pt x="591" y="488"/>
                    <a:pt x="596" y="513"/>
                    <a:pt x="614" y="530"/>
                  </a:cubicBezTo>
                  <a:cubicBezTo>
                    <a:pt x="619" y="536"/>
                    <a:pt x="625" y="541"/>
                    <a:pt x="630" y="547"/>
                  </a:cubicBezTo>
                  <a:cubicBezTo>
                    <a:pt x="653" y="570"/>
                    <a:pt x="653" y="607"/>
                    <a:pt x="630" y="630"/>
                  </a:cubicBezTo>
                  <a:cubicBezTo>
                    <a:pt x="607" y="653"/>
                    <a:pt x="569" y="653"/>
                    <a:pt x="546" y="630"/>
                  </a:cubicBezTo>
                  <a:cubicBezTo>
                    <a:pt x="541" y="625"/>
                    <a:pt x="535" y="619"/>
                    <a:pt x="530" y="614"/>
                  </a:cubicBezTo>
                  <a:cubicBezTo>
                    <a:pt x="513" y="597"/>
                    <a:pt x="487" y="592"/>
                    <a:pt x="465" y="601"/>
                  </a:cubicBezTo>
                  <a:cubicBezTo>
                    <a:pt x="443" y="610"/>
                    <a:pt x="428" y="632"/>
                    <a:pt x="428" y="656"/>
                  </a:cubicBezTo>
                  <a:cubicBezTo>
                    <a:pt x="428" y="664"/>
                    <a:pt x="428" y="671"/>
                    <a:pt x="428" y="679"/>
                  </a:cubicBezTo>
                  <a:cubicBezTo>
                    <a:pt x="428" y="712"/>
                    <a:pt x="402" y="738"/>
                    <a:pt x="369" y="738"/>
                  </a:cubicBezTo>
                  <a:cubicBezTo>
                    <a:pt x="336" y="738"/>
                    <a:pt x="310" y="712"/>
                    <a:pt x="310" y="679"/>
                  </a:cubicBezTo>
                  <a:cubicBezTo>
                    <a:pt x="310" y="671"/>
                    <a:pt x="310" y="664"/>
                    <a:pt x="310" y="656"/>
                  </a:cubicBezTo>
                  <a:cubicBezTo>
                    <a:pt x="310" y="632"/>
                    <a:pt x="295" y="610"/>
                    <a:pt x="273" y="601"/>
                  </a:cubicBezTo>
                  <a:cubicBezTo>
                    <a:pt x="251" y="592"/>
                    <a:pt x="225" y="597"/>
                    <a:pt x="208" y="614"/>
                  </a:cubicBezTo>
                  <a:cubicBezTo>
                    <a:pt x="203" y="619"/>
                    <a:pt x="197" y="625"/>
                    <a:pt x="192" y="630"/>
                  </a:cubicBezTo>
                  <a:cubicBezTo>
                    <a:pt x="169" y="653"/>
                    <a:pt x="131" y="653"/>
                    <a:pt x="108" y="630"/>
                  </a:cubicBezTo>
                  <a:cubicBezTo>
                    <a:pt x="85" y="607"/>
                    <a:pt x="85" y="570"/>
                    <a:pt x="108" y="547"/>
                  </a:cubicBezTo>
                  <a:cubicBezTo>
                    <a:pt x="113" y="541"/>
                    <a:pt x="119" y="536"/>
                    <a:pt x="124" y="530"/>
                  </a:cubicBezTo>
                  <a:cubicBezTo>
                    <a:pt x="142" y="513"/>
                    <a:pt x="147" y="488"/>
                    <a:pt x="137" y="465"/>
                  </a:cubicBezTo>
                  <a:cubicBezTo>
                    <a:pt x="128" y="443"/>
                    <a:pt x="106" y="428"/>
                    <a:pt x="82" y="428"/>
                  </a:cubicBezTo>
                  <a:cubicBezTo>
                    <a:pt x="74" y="428"/>
                    <a:pt x="67" y="428"/>
                    <a:pt x="59" y="428"/>
                  </a:cubicBezTo>
                  <a:cubicBezTo>
                    <a:pt x="27" y="428"/>
                    <a:pt x="0" y="402"/>
                    <a:pt x="0" y="369"/>
                  </a:cubicBezTo>
                  <a:cubicBezTo>
                    <a:pt x="0" y="337"/>
                    <a:pt x="27" y="310"/>
                    <a:pt x="59" y="310"/>
                  </a:cubicBezTo>
                  <a:cubicBezTo>
                    <a:pt x="67" y="310"/>
                    <a:pt x="74" y="310"/>
                    <a:pt x="82" y="310"/>
                  </a:cubicBezTo>
                  <a:cubicBezTo>
                    <a:pt x="106" y="310"/>
                    <a:pt x="128" y="296"/>
                    <a:pt x="137" y="273"/>
                  </a:cubicBezTo>
                  <a:cubicBezTo>
                    <a:pt x="147" y="251"/>
                    <a:pt x="142" y="225"/>
                    <a:pt x="124" y="208"/>
                  </a:cubicBezTo>
                  <a:cubicBezTo>
                    <a:pt x="119" y="203"/>
                    <a:pt x="113" y="197"/>
                    <a:pt x="108" y="192"/>
                  </a:cubicBezTo>
                  <a:cubicBezTo>
                    <a:pt x="85" y="169"/>
                    <a:pt x="85" y="132"/>
                    <a:pt x="108" y="108"/>
                  </a:cubicBezTo>
                  <a:cubicBezTo>
                    <a:pt x="131" y="85"/>
                    <a:pt x="169" y="85"/>
                    <a:pt x="192" y="109"/>
                  </a:cubicBezTo>
                  <a:cubicBezTo>
                    <a:pt x="197" y="114"/>
                    <a:pt x="203" y="120"/>
                    <a:pt x="208" y="125"/>
                  </a:cubicBezTo>
                  <a:cubicBezTo>
                    <a:pt x="225" y="142"/>
                    <a:pt x="251" y="147"/>
                    <a:pt x="273" y="13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Freeform 235">
              <a:extLst>
                <a:ext uri="{FF2B5EF4-FFF2-40B4-BE49-F238E27FC236}">
                  <a16:creationId xmlns:a16="http://schemas.microsoft.com/office/drawing/2014/main" id="{B3E9E7D0-8F3F-BDEF-1777-9F4F45BCB751}"/>
                </a:ext>
              </a:extLst>
            </p:cNvPr>
            <p:cNvSpPr>
              <a:spLocks noChangeArrowheads="1"/>
            </p:cNvSpPr>
            <p:nvPr/>
          </p:nvSpPr>
          <p:spPr bwMode="auto">
            <a:xfrm>
              <a:off x="1353343" y="5689601"/>
              <a:ext cx="73025" cy="73025"/>
            </a:xfrm>
            <a:custGeom>
              <a:avLst/>
              <a:gdLst>
                <a:gd name="T0" fmla="*/ 202 w 203"/>
                <a:gd name="T1" fmla="*/ 100 h 202"/>
                <a:gd name="T2" fmla="*/ 188 w 203"/>
                <a:gd name="T3" fmla="*/ 151 h 202"/>
                <a:gd name="T4" fmla="*/ 151 w 203"/>
                <a:gd name="T5" fmla="*/ 187 h 202"/>
                <a:gd name="T6" fmla="*/ 101 w 203"/>
                <a:gd name="T7" fmla="*/ 201 h 202"/>
                <a:gd name="T8" fmla="*/ 51 w 203"/>
                <a:gd name="T9" fmla="*/ 187 h 202"/>
                <a:gd name="T10" fmla="*/ 14 w 203"/>
                <a:gd name="T11" fmla="*/ 151 h 202"/>
                <a:gd name="T12" fmla="*/ 0 w 203"/>
                <a:gd name="T13" fmla="*/ 100 h 202"/>
                <a:gd name="T14" fmla="*/ 14 w 203"/>
                <a:gd name="T15" fmla="*/ 50 h 202"/>
                <a:gd name="T16" fmla="*/ 51 w 203"/>
                <a:gd name="T17" fmla="*/ 13 h 202"/>
                <a:gd name="T18" fmla="*/ 101 w 203"/>
                <a:gd name="T19" fmla="*/ 0 h 202"/>
                <a:gd name="T20" fmla="*/ 151 w 203"/>
                <a:gd name="T21" fmla="*/ 13 h 202"/>
                <a:gd name="T22" fmla="*/ 188 w 203"/>
                <a:gd name="T23" fmla="*/ 50 h 202"/>
                <a:gd name="T24" fmla="*/ 202 w 203"/>
                <a:gd name="T25" fmla="*/ 10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3" h="202">
                  <a:moveTo>
                    <a:pt x="202" y="100"/>
                  </a:moveTo>
                  <a:cubicBezTo>
                    <a:pt x="202" y="119"/>
                    <a:pt x="197" y="135"/>
                    <a:pt x="188" y="151"/>
                  </a:cubicBezTo>
                  <a:cubicBezTo>
                    <a:pt x="179" y="168"/>
                    <a:pt x="167" y="178"/>
                    <a:pt x="151" y="187"/>
                  </a:cubicBezTo>
                  <a:cubicBezTo>
                    <a:pt x="135" y="197"/>
                    <a:pt x="119" y="201"/>
                    <a:pt x="101" y="201"/>
                  </a:cubicBezTo>
                  <a:cubicBezTo>
                    <a:pt x="82" y="201"/>
                    <a:pt x="67" y="197"/>
                    <a:pt x="51" y="187"/>
                  </a:cubicBezTo>
                  <a:cubicBezTo>
                    <a:pt x="35" y="178"/>
                    <a:pt x="23" y="168"/>
                    <a:pt x="14" y="151"/>
                  </a:cubicBezTo>
                  <a:cubicBezTo>
                    <a:pt x="5" y="135"/>
                    <a:pt x="0" y="119"/>
                    <a:pt x="0" y="100"/>
                  </a:cubicBezTo>
                  <a:cubicBezTo>
                    <a:pt x="0" y="82"/>
                    <a:pt x="5" y="66"/>
                    <a:pt x="14" y="50"/>
                  </a:cubicBezTo>
                  <a:cubicBezTo>
                    <a:pt x="23" y="34"/>
                    <a:pt x="35" y="22"/>
                    <a:pt x="51" y="13"/>
                  </a:cubicBezTo>
                  <a:cubicBezTo>
                    <a:pt x="67" y="4"/>
                    <a:pt x="83" y="0"/>
                    <a:pt x="101" y="0"/>
                  </a:cubicBezTo>
                  <a:cubicBezTo>
                    <a:pt x="120" y="0"/>
                    <a:pt x="135" y="4"/>
                    <a:pt x="151" y="13"/>
                  </a:cubicBezTo>
                  <a:cubicBezTo>
                    <a:pt x="167" y="22"/>
                    <a:pt x="179" y="34"/>
                    <a:pt x="188" y="50"/>
                  </a:cubicBezTo>
                  <a:cubicBezTo>
                    <a:pt x="197" y="66"/>
                    <a:pt x="202" y="82"/>
                    <a:pt x="202" y="10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Freeform 237">
              <a:extLst>
                <a:ext uri="{FF2B5EF4-FFF2-40B4-BE49-F238E27FC236}">
                  <a16:creationId xmlns:a16="http://schemas.microsoft.com/office/drawing/2014/main" id="{A30D05DE-C817-DE88-652F-66E364EDBB8C}"/>
                </a:ext>
              </a:extLst>
            </p:cNvPr>
            <p:cNvSpPr>
              <a:spLocks noChangeArrowheads="1"/>
            </p:cNvSpPr>
            <p:nvPr/>
          </p:nvSpPr>
          <p:spPr bwMode="auto">
            <a:xfrm>
              <a:off x="1189831" y="5526088"/>
              <a:ext cx="398462" cy="398463"/>
            </a:xfrm>
            <a:custGeom>
              <a:avLst/>
              <a:gdLst>
                <a:gd name="T0" fmla="*/ 1106 w 1107"/>
                <a:gd name="T1" fmla="*/ 553 h 1107"/>
                <a:gd name="T2" fmla="*/ 1032 w 1107"/>
                <a:gd name="T3" fmla="*/ 830 h 1107"/>
                <a:gd name="T4" fmla="*/ 830 w 1107"/>
                <a:gd name="T5" fmla="*/ 1032 h 1107"/>
                <a:gd name="T6" fmla="*/ 553 w 1107"/>
                <a:gd name="T7" fmla="*/ 1106 h 1107"/>
                <a:gd name="T8" fmla="*/ 277 w 1107"/>
                <a:gd name="T9" fmla="*/ 1032 h 1107"/>
                <a:gd name="T10" fmla="*/ 74 w 1107"/>
                <a:gd name="T11" fmla="*/ 830 h 1107"/>
                <a:gd name="T12" fmla="*/ 0 w 1107"/>
                <a:gd name="T13" fmla="*/ 553 h 1107"/>
                <a:gd name="T14" fmla="*/ 74 w 1107"/>
                <a:gd name="T15" fmla="*/ 277 h 1107"/>
                <a:gd name="T16" fmla="*/ 277 w 1107"/>
                <a:gd name="T17" fmla="*/ 74 h 1107"/>
                <a:gd name="T18" fmla="*/ 553 w 1107"/>
                <a:gd name="T19" fmla="*/ 0 h 1107"/>
                <a:gd name="T20" fmla="*/ 830 w 1107"/>
                <a:gd name="T21" fmla="*/ 74 h 1107"/>
                <a:gd name="T22" fmla="*/ 1032 w 1107"/>
                <a:gd name="T23" fmla="*/ 277 h 1107"/>
                <a:gd name="T24" fmla="*/ 1106 w 1107"/>
                <a:gd name="T25" fmla="*/ 553 h 1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7" h="1107">
                  <a:moveTo>
                    <a:pt x="1106" y="553"/>
                  </a:moveTo>
                  <a:cubicBezTo>
                    <a:pt x="1106" y="655"/>
                    <a:pt x="1083" y="742"/>
                    <a:pt x="1032" y="830"/>
                  </a:cubicBezTo>
                  <a:cubicBezTo>
                    <a:pt x="981" y="918"/>
                    <a:pt x="918" y="981"/>
                    <a:pt x="830" y="1032"/>
                  </a:cubicBezTo>
                  <a:cubicBezTo>
                    <a:pt x="741" y="1083"/>
                    <a:pt x="655" y="1106"/>
                    <a:pt x="553" y="1106"/>
                  </a:cubicBezTo>
                  <a:cubicBezTo>
                    <a:pt x="451" y="1106"/>
                    <a:pt x="365" y="1083"/>
                    <a:pt x="277" y="1032"/>
                  </a:cubicBezTo>
                  <a:cubicBezTo>
                    <a:pt x="188" y="981"/>
                    <a:pt x="125" y="918"/>
                    <a:pt x="74" y="830"/>
                  </a:cubicBezTo>
                  <a:cubicBezTo>
                    <a:pt x="23" y="742"/>
                    <a:pt x="0" y="655"/>
                    <a:pt x="0" y="553"/>
                  </a:cubicBezTo>
                  <a:cubicBezTo>
                    <a:pt x="0" y="451"/>
                    <a:pt x="23" y="366"/>
                    <a:pt x="74" y="277"/>
                  </a:cubicBezTo>
                  <a:cubicBezTo>
                    <a:pt x="125" y="189"/>
                    <a:pt x="188" y="125"/>
                    <a:pt x="277" y="74"/>
                  </a:cubicBezTo>
                  <a:cubicBezTo>
                    <a:pt x="365" y="23"/>
                    <a:pt x="451" y="0"/>
                    <a:pt x="553" y="0"/>
                  </a:cubicBezTo>
                  <a:cubicBezTo>
                    <a:pt x="655" y="0"/>
                    <a:pt x="741" y="23"/>
                    <a:pt x="830" y="74"/>
                  </a:cubicBezTo>
                  <a:cubicBezTo>
                    <a:pt x="918" y="125"/>
                    <a:pt x="981" y="189"/>
                    <a:pt x="1032" y="277"/>
                  </a:cubicBezTo>
                  <a:cubicBezTo>
                    <a:pt x="1083" y="366"/>
                    <a:pt x="1106" y="451"/>
                    <a:pt x="1106" y="55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Freeform 238">
              <a:extLst>
                <a:ext uri="{FF2B5EF4-FFF2-40B4-BE49-F238E27FC236}">
                  <a16:creationId xmlns:a16="http://schemas.microsoft.com/office/drawing/2014/main" id="{A70B0AD3-7688-C2D1-9751-24700BADD4D7}"/>
                </a:ext>
              </a:extLst>
            </p:cNvPr>
            <p:cNvSpPr>
              <a:spLocks noChangeArrowheads="1"/>
            </p:cNvSpPr>
            <p:nvPr/>
          </p:nvSpPr>
          <p:spPr bwMode="auto">
            <a:xfrm>
              <a:off x="1124743" y="5461001"/>
              <a:ext cx="619125" cy="619125"/>
            </a:xfrm>
            <a:custGeom>
              <a:avLst/>
              <a:gdLst>
                <a:gd name="T0" fmla="*/ 1718 w 1719"/>
                <a:gd name="T1" fmla="*/ 1624 h 1720"/>
                <a:gd name="T2" fmla="*/ 1275 w 1719"/>
                <a:gd name="T3" fmla="*/ 1181 h 1720"/>
                <a:gd name="T4" fmla="*/ 1272 w 1719"/>
                <a:gd name="T5" fmla="*/ 1137 h 1720"/>
                <a:gd name="T6" fmla="*/ 1209 w 1719"/>
                <a:gd name="T7" fmla="*/ 261 h 1720"/>
                <a:gd name="T8" fmla="*/ 261 w 1719"/>
                <a:gd name="T9" fmla="*/ 261 h 1720"/>
                <a:gd name="T10" fmla="*/ 261 w 1719"/>
                <a:gd name="T11" fmla="*/ 1209 h 1720"/>
                <a:gd name="T12" fmla="*/ 1136 w 1719"/>
                <a:gd name="T13" fmla="*/ 1272 h 1720"/>
                <a:gd name="T14" fmla="*/ 1180 w 1719"/>
                <a:gd name="T15" fmla="*/ 1275 h 1720"/>
                <a:gd name="T16" fmla="*/ 1623 w 1719"/>
                <a:gd name="T17" fmla="*/ 1719 h 1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19" h="1720">
                  <a:moveTo>
                    <a:pt x="1718" y="1624"/>
                  </a:moveTo>
                  <a:cubicBezTo>
                    <a:pt x="1570" y="1476"/>
                    <a:pt x="1423" y="1329"/>
                    <a:pt x="1275" y="1181"/>
                  </a:cubicBezTo>
                  <a:cubicBezTo>
                    <a:pt x="1263" y="1169"/>
                    <a:pt x="1262" y="1150"/>
                    <a:pt x="1272" y="1137"/>
                  </a:cubicBezTo>
                  <a:cubicBezTo>
                    <a:pt x="1468" y="874"/>
                    <a:pt x="1447" y="500"/>
                    <a:pt x="1209" y="261"/>
                  </a:cubicBezTo>
                  <a:cubicBezTo>
                    <a:pt x="948" y="0"/>
                    <a:pt x="522" y="0"/>
                    <a:pt x="261" y="261"/>
                  </a:cubicBezTo>
                  <a:cubicBezTo>
                    <a:pt x="0" y="523"/>
                    <a:pt x="0" y="948"/>
                    <a:pt x="261" y="1209"/>
                  </a:cubicBezTo>
                  <a:cubicBezTo>
                    <a:pt x="499" y="1448"/>
                    <a:pt x="874" y="1469"/>
                    <a:pt x="1136" y="1272"/>
                  </a:cubicBezTo>
                  <a:cubicBezTo>
                    <a:pt x="1150" y="1262"/>
                    <a:pt x="1168" y="1264"/>
                    <a:pt x="1180" y="1275"/>
                  </a:cubicBezTo>
                  <a:cubicBezTo>
                    <a:pt x="1328" y="1423"/>
                    <a:pt x="1475" y="1571"/>
                    <a:pt x="1623" y="171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9" name="TextBox 88">
            <a:extLst>
              <a:ext uri="{FF2B5EF4-FFF2-40B4-BE49-F238E27FC236}">
                <a16:creationId xmlns:a16="http://schemas.microsoft.com/office/drawing/2014/main" id="{35CD77BF-F228-94FA-4DFC-B971D9341B6F}"/>
              </a:ext>
            </a:extLst>
          </p:cNvPr>
          <p:cNvSpPr txBox="1"/>
          <p:nvPr/>
        </p:nvSpPr>
        <p:spPr>
          <a:xfrm>
            <a:off x="5656650" y="2164588"/>
            <a:ext cx="1202573"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Fira Sans" panose="020B0503050000020004" pitchFamily="34" charset="0"/>
                <a:ea typeface="+mn-ea"/>
                <a:cs typeface="+mn-cs"/>
              </a:rPr>
              <a:t>Output Review</a:t>
            </a:r>
          </a:p>
        </p:txBody>
      </p:sp>
      <p:sp>
        <p:nvSpPr>
          <p:cNvPr id="102" name="TextBox 101">
            <a:extLst>
              <a:ext uri="{FF2B5EF4-FFF2-40B4-BE49-F238E27FC236}">
                <a16:creationId xmlns:a16="http://schemas.microsoft.com/office/drawing/2014/main" id="{D6593379-CD76-96FA-24D4-EA3FAA13E0DE}"/>
              </a:ext>
            </a:extLst>
          </p:cNvPr>
          <p:cNvSpPr txBox="1"/>
          <p:nvPr/>
        </p:nvSpPr>
        <p:spPr>
          <a:xfrm>
            <a:off x="7335627" y="2092687"/>
            <a:ext cx="134477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Fira Sans Light" panose="020B0403050000020004" pitchFamily="34" charset="0"/>
                <a:ea typeface="+mn-ea"/>
                <a:cs typeface="+mn-cs"/>
              </a:rPr>
              <a:t>Application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Fira Sans Light" panose="020B0403050000020004" pitchFamily="34" charset="0"/>
                <a:ea typeface="+mn-ea"/>
                <a:cs typeface="+mn-cs"/>
              </a:rPr>
              <a:t> </a:t>
            </a:r>
            <a:r>
              <a:rPr kumimoji="0" lang="en-US" sz="900" b="0" i="0" u="none" strike="noStrike" kern="1200" cap="none" spc="0" normalizeH="0" baseline="0" noProof="0" err="1">
                <a:ln>
                  <a:noFill/>
                </a:ln>
                <a:solidFill>
                  <a:prstClr val="white"/>
                </a:solidFill>
                <a:effectLst/>
                <a:uLnTx/>
                <a:uFillTx/>
                <a:latin typeface="Fira Sans Light" panose="020B0403050000020004" pitchFamily="34" charset="0"/>
                <a:ea typeface="+mn-ea"/>
                <a:cs typeface="+mn-cs"/>
              </a:rPr>
              <a:t>Maintainence</a:t>
            </a:r>
            <a:endParaRPr kumimoji="0" lang="en-US" sz="900" b="0" i="0" u="none" strike="noStrike" kern="1200" cap="none" spc="0" normalizeH="0" baseline="0" noProof="0">
              <a:ln>
                <a:noFill/>
              </a:ln>
              <a:solidFill>
                <a:prstClr val="white"/>
              </a:solidFill>
              <a:effectLst/>
              <a:uLnTx/>
              <a:uFillTx/>
              <a:latin typeface="Fira Sans Light" panose="020B0403050000020004" pitchFamily="34" charset="0"/>
              <a:ea typeface="+mn-ea"/>
              <a:cs typeface="+mn-cs"/>
            </a:endParaRPr>
          </a:p>
        </p:txBody>
      </p:sp>
      <p:grpSp>
        <p:nvGrpSpPr>
          <p:cNvPr id="105" name="Group 104">
            <a:extLst>
              <a:ext uri="{FF2B5EF4-FFF2-40B4-BE49-F238E27FC236}">
                <a16:creationId xmlns:a16="http://schemas.microsoft.com/office/drawing/2014/main" id="{D3F79C59-95A9-66E4-67C0-56C58F21CCDB}"/>
              </a:ext>
            </a:extLst>
          </p:cNvPr>
          <p:cNvGrpSpPr/>
          <p:nvPr/>
        </p:nvGrpSpPr>
        <p:grpSpPr>
          <a:xfrm>
            <a:off x="9173284" y="1603891"/>
            <a:ext cx="491103" cy="488796"/>
            <a:chOff x="6899352" y="667786"/>
            <a:chExt cx="422819" cy="420831"/>
          </a:xfrm>
        </p:grpSpPr>
        <p:sp>
          <p:nvSpPr>
            <p:cNvPr id="121" name="Freeform 120">
              <a:extLst>
                <a:ext uri="{FF2B5EF4-FFF2-40B4-BE49-F238E27FC236}">
                  <a16:creationId xmlns:a16="http://schemas.microsoft.com/office/drawing/2014/main" id="{9932DD60-3E80-CACE-A4D9-D6DFD1815ED3}"/>
                </a:ext>
              </a:extLst>
            </p:cNvPr>
            <p:cNvSpPr>
              <a:spLocks noChangeArrowheads="1"/>
            </p:cNvSpPr>
            <p:nvPr/>
          </p:nvSpPr>
          <p:spPr bwMode="auto">
            <a:xfrm>
              <a:off x="7199097" y="745202"/>
              <a:ext cx="45656" cy="45657"/>
            </a:xfrm>
            <a:custGeom>
              <a:avLst/>
              <a:gdLst>
                <a:gd name="T0" fmla="*/ 0 w 101"/>
                <a:gd name="T1" fmla="*/ 0 h 100"/>
                <a:gd name="T2" fmla="*/ 100 w 101"/>
                <a:gd name="T3" fmla="*/ 99 h 100"/>
              </a:gdLst>
              <a:ahLst/>
              <a:cxnLst>
                <a:cxn ang="0">
                  <a:pos x="T0" y="T1"/>
                </a:cxn>
                <a:cxn ang="0">
                  <a:pos x="T2" y="T3"/>
                </a:cxn>
              </a:cxnLst>
              <a:rect l="0" t="0" r="r" b="b"/>
              <a:pathLst>
                <a:path w="101" h="100">
                  <a:moveTo>
                    <a:pt x="0" y="0"/>
                  </a:moveTo>
                  <a:cubicBezTo>
                    <a:pt x="34" y="33"/>
                    <a:pt x="67" y="66"/>
                    <a:pt x="100" y="9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 name="Freeform 123">
              <a:extLst>
                <a:ext uri="{FF2B5EF4-FFF2-40B4-BE49-F238E27FC236}">
                  <a16:creationId xmlns:a16="http://schemas.microsoft.com/office/drawing/2014/main" id="{5ED6879C-0EE0-A96D-246D-CFEE058A52C1}"/>
                </a:ext>
              </a:extLst>
            </p:cNvPr>
            <p:cNvSpPr>
              <a:spLocks noChangeArrowheads="1"/>
            </p:cNvSpPr>
            <p:nvPr/>
          </p:nvSpPr>
          <p:spPr bwMode="auto">
            <a:xfrm>
              <a:off x="7234828" y="709471"/>
              <a:ext cx="45656" cy="45657"/>
            </a:xfrm>
            <a:custGeom>
              <a:avLst/>
              <a:gdLst>
                <a:gd name="T0" fmla="*/ 0 w 101"/>
                <a:gd name="T1" fmla="*/ 0 h 101"/>
                <a:gd name="T2" fmla="*/ 100 w 101"/>
                <a:gd name="T3" fmla="*/ 100 h 101"/>
              </a:gdLst>
              <a:ahLst/>
              <a:cxnLst>
                <a:cxn ang="0">
                  <a:pos x="T0" y="T1"/>
                </a:cxn>
                <a:cxn ang="0">
                  <a:pos x="T2" y="T3"/>
                </a:cxn>
              </a:cxnLst>
              <a:rect l="0" t="0" r="r" b="b"/>
              <a:pathLst>
                <a:path w="101" h="101">
                  <a:moveTo>
                    <a:pt x="0" y="0"/>
                  </a:moveTo>
                  <a:cubicBezTo>
                    <a:pt x="34" y="33"/>
                    <a:pt x="67" y="67"/>
                    <a:pt x="100" y="10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 name="Freeform 125">
              <a:extLst>
                <a:ext uri="{FF2B5EF4-FFF2-40B4-BE49-F238E27FC236}">
                  <a16:creationId xmlns:a16="http://schemas.microsoft.com/office/drawing/2014/main" id="{082E7E7E-F79E-C367-E320-58DC33616DD3}"/>
                </a:ext>
              </a:extLst>
            </p:cNvPr>
            <p:cNvSpPr>
              <a:spLocks noChangeArrowheads="1"/>
            </p:cNvSpPr>
            <p:nvPr/>
          </p:nvSpPr>
          <p:spPr bwMode="auto">
            <a:xfrm>
              <a:off x="7006546" y="667786"/>
              <a:ext cx="315625" cy="315624"/>
            </a:xfrm>
            <a:custGeom>
              <a:avLst/>
              <a:gdLst>
                <a:gd name="T0" fmla="*/ 83 w 703"/>
                <a:gd name="T1" fmla="*/ 519 h 703"/>
                <a:gd name="T2" fmla="*/ 591 w 703"/>
                <a:gd name="T3" fmla="*/ 11 h 703"/>
                <a:gd name="T4" fmla="*/ 631 w 703"/>
                <a:gd name="T5" fmla="*/ 11 h 703"/>
                <a:gd name="T6" fmla="*/ 691 w 703"/>
                <a:gd name="T7" fmla="*/ 71 h 703"/>
                <a:gd name="T8" fmla="*/ 691 w 703"/>
                <a:gd name="T9" fmla="*/ 111 h 703"/>
                <a:gd name="T10" fmla="*/ 182 w 703"/>
                <a:gd name="T11" fmla="*/ 619 h 703"/>
                <a:gd name="T12" fmla="*/ 21 w 703"/>
                <a:gd name="T13" fmla="*/ 699 h 703"/>
                <a:gd name="T14" fmla="*/ 5 w 703"/>
                <a:gd name="T15" fmla="*/ 697 h 703"/>
                <a:gd name="T16" fmla="*/ 2 w 703"/>
                <a:gd name="T17" fmla="*/ 680 h 703"/>
                <a:gd name="T18" fmla="*/ 83 w 703"/>
                <a:gd name="T19" fmla="*/ 519 h 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3" h="703">
                  <a:moveTo>
                    <a:pt x="83" y="519"/>
                  </a:moveTo>
                  <a:cubicBezTo>
                    <a:pt x="253" y="350"/>
                    <a:pt x="422" y="180"/>
                    <a:pt x="591" y="11"/>
                  </a:cubicBezTo>
                  <a:cubicBezTo>
                    <a:pt x="602" y="0"/>
                    <a:pt x="620" y="0"/>
                    <a:pt x="631" y="11"/>
                  </a:cubicBezTo>
                  <a:cubicBezTo>
                    <a:pt x="651" y="31"/>
                    <a:pt x="671" y="51"/>
                    <a:pt x="691" y="71"/>
                  </a:cubicBezTo>
                  <a:cubicBezTo>
                    <a:pt x="702" y="82"/>
                    <a:pt x="702" y="100"/>
                    <a:pt x="691" y="111"/>
                  </a:cubicBezTo>
                  <a:cubicBezTo>
                    <a:pt x="522" y="280"/>
                    <a:pt x="352" y="450"/>
                    <a:pt x="182" y="619"/>
                  </a:cubicBezTo>
                  <a:cubicBezTo>
                    <a:pt x="129" y="646"/>
                    <a:pt x="75" y="672"/>
                    <a:pt x="21" y="699"/>
                  </a:cubicBezTo>
                  <a:cubicBezTo>
                    <a:pt x="16" y="702"/>
                    <a:pt x="9" y="701"/>
                    <a:pt x="5" y="697"/>
                  </a:cubicBezTo>
                  <a:cubicBezTo>
                    <a:pt x="1" y="692"/>
                    <a:pt x="0" y="686"/>
                    <a:pt x="2" y="680"/>
                  </a:cubicBezTo>
                  <a:cubicBezTo>
                    <a:pt x="29" y="626"/>
                    <a:pt x="56" y="573"/>
                    <a:pt x="83" y="51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 name="Freeform 133">
              <a:extLst>
                <a:ext uri="{FF2B5EF4-FFF2-40B4-BE49-F238E27FC236}">
                  <a16:creationId xmlns:a16="http://schemas.microsoft.com/office/drawing/2014/main" id="{0A1F77A2-4B2A-52FB-CE2C-B0B6A4EFF39E}"/>
                </a:ext>
              </a:extLst>
            </p:cNvPr>
            <p:cNvSpPr>
              <a:spLocks noChangeArrowheads="1"/>
            </p:cNvSpPr>
            <p:nvPr/>
          </p:nvSpPr>
          <p:spPr bwMode="auto">
            <a:xfrm>
              <a:off x="6899352" y="685650"/>
              <a:ext cx="402967" cy="402967"/>
            </a:xfrm>
            <a:custGeom>
              <a:avLst/>
              <a:gdLst>
                <a:gd name="T0" fmla="*/ 416 w 897"/>
                <a:gd name="T1" fmla="*/ 379 h 897"/>
                <a:gd name="T2" fmla="*/ 48 w 897"/>
                <a:gd name="T3" fmla="*/ 11 h 897"/>
                <a:gd name="T4" fmla="*/ 17 w 897"/>
                <a:gd name="T5" fmla="*/ 5 h 897"/>
                <a:gd name="T6" fmla="*/ 0 w 897"/>
                <a:gd name="T7" fmla="*/ 31 h 897"/>
                <a:gd name="T8" fmla="*/ 0 w 897"/>
                <a:gd name="T9" fmla="*/ 868 h 897"/>
                <a:gd name="T10" fmla="*/ 28 w 897"/>
                <a:gd name="T11" fmla="*/ 896 h 897"/>
                <a:gd name="T12" fmla="*/ 865 w 897"/>
                <a:gd name="T13" fmla="*/ 896 h 897"/>
                <a:gd name="T14" fmla="*/ 891 w 897"/>
                <a:gd name="T15" fmla="*/ 878 h 897"/>
                <a:gd name="T16" fmla="*/ 885 w 897"/>
                <a:gd name="T17" fmla="*/ 848 h 897"/>
                <a:gd name="T18" fmla="*/ 516 w 897"/>
                <a:gd name="T19" fmla="*/ 479 h 8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7" h="897">
                  <a:moveTo>
                    <a:pt x="416" y="379"/>
                  </a:moveTo>
                  <a:cubicBezTo>
                    <a:pt x="294" y="256"/>
                    <a:pt x="171" y="134"/>
                    <a:pt x="48" y="11"/>
                  </a:cubicBezTo>
                  <a:cubicBezTo>
                    <a:pt x="40" y="3"/>
                    <a:pt x="28" y="0"/>
                    <a:pt x="17" y="5"/>
                  </a:cubicBezTo>
                  <a:cubicBezTo>
                    <a:pt x="7" y="9"/>
                    <a:pt x="0" y="19"/>
                    <a:pt x="0" y="31"/>
                  </a:cubicBezTo>
                  <a:cubicBezTo>
                    <a:pt x="0" y="310"/>
                    <a:pt x="0" y="589"/>
                    <a:pt x="0" y="868"/>
                  </a:cubicBezTo>
                  <a:cubicBezTo>
                    <a:pt x="0" y="883"/>
                    <a:pt x="12" y="896"/>
                    <a:pt x="28" y="896"/>
                  </a:cubicBezTo>
                  <a:cubicBezTo>
                    <a:pt x="307" y="896"/>
                    <a:pt x="586" y="896"/>
                    <a:pt x="865" y="896"/>
                  </a:cubicBezTo>
                  <a:cubicBezTo>
                    <a:pt x="876" y="896"/>
                    <a:pt x="887" y="888"/>
                    <a:pt x="891" y="878"/>
                  </a:cubicBezTo>
                  <a:cubicBezTo>
                    <a:pt x="896" y="867"/>
                    <a:pt x="893" y="856"/>
                    <a:pt x="885" y="848"/>
                  </a:cubicBezTo>
                  <a:cubicBezTo>
                    <a:pt x="762" y="725"/>
                    <a:pt x="639" y="602"/>
                    <a:pt x="516" y="47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a16="http://schemas.microsoft.com/office/drawing/2014/main" id="{9C2FB798-77F2-7259-70D0-86AD43BEAAB7}"/>
                </a:ext>
              </a:extLst>
            </p:cNvPr>
            <p:cNvSpPr>
              <a:spLocks noChangeArrowheads="1"/>
            </p:cNvSpPr>
            <p:nvPr/>
          </p:nvSpPr>
          <p:spPr bwMode="auto">
            <a:xfrm>
              <a:off x="6962874" y="830560"/>
              <a:ext cx="194536" cy="194536"/>
            </a:xfrm>
            <a:custGeom>
              <a:avLst/>
              <a:gdLst>
                <a:gd name="T0" fmla="*/ 14 w 433"/>
                <a:gd name="T1" fmla="*/ 433 h 434"/>
                <a:gd name="T2" fmla="*/ 0 w 433"/>
                <a:gd name="T3" fmla="*/ 419 h 434"/>
                <a:gd name="T4" fmla="*/ 0 w 433"/>
                <a:gd name="T5" fmla="*/ 15 h 434"/>
                <a:gd name="T6" fmla="*/ 9 w 433"/>
                <a:gd name="T7" fmla="*/ 2 h 434"/>
                <a:gd name="T8" fmla="*/ 24 w 433"/>
                <a:gd name="T9" fmla="*/ 6 h 434"/>
                <a:gd name="T10" fmla="*/ 427 w 433"/>
                <a:gd name="T11" fmla="*/ 409 h 434"/>
                <a:gd name="T12" fmla="*/ 430 w 433"/>
                <a:gd name="T13" fmla="*/ 424 h 434"/>
                <a:gd name="T14" fmla="*/ 417 w 433"/>
                <a:gd name="T15" fmla="*/ 433 h 434"/>
                <a:gd name="T16" fmla="*/ 14 w 433"/>
                <a:gd name="T17" fmla="*/ 433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3" h="434">
                  <a:moveTo>
                    <a:pt x="14" y="433"/>
                  </a:moveTo>
                  <a:cubicBezTo>
                    <a:pt x="6" y="433"/>
                    <a:pt x="0" y="426"/>
                    <a:pt x="0" y="419"/>
                  </a:cubicBezTo>
                  <a:cubicBezTo>
                    <a:pt x="0" y="284"/>
                    <a:pt x="0" y="150"/>
                    <a:pt x="0" y="15"/>
                  </a:cubicBezTo>
                  <a:cubicBezTo>
                    <a:pt x="0" y="10"/>
                    <a:pt x="3" y="5"/>
                    <a:pt x="9" y="2"/>
                  </a:cubicBezTo>
                  <a:cubicBezTo>
                    <a:pt x="14" y="0"/>
                    <a:pt x="20" y="1"/>
                    <a:pt x="24" y="6"/>
                  </a:cubicBezTo>
                  <a:cubicBezTo>
                    <a:pt x="159" y="140"/>
                    <a:pt x="293" y="275"/>
                    <a:pt x="427" y="409"/>
                  </a:cubicBezTo>
                  <a:cubicBezTo>
                    <a:pt x="431" y="413"/>
                    <a:pt x="432" y="419"/>
                    <a:pt x="430" y="424"/>
                  </a:cubicBezTo>
                  <a:cubicBezTo>
                    <a:pt x="428" y="429"/>
                    <a:pt x="423" y="433"/>
                    <a:pt x="417" y="433"/>
                  </a:cubicBezTo>
                  <a:cubicBezTo>
                    <a:pt x="283" y="433"/>
                    <a:pt x="149" y="433"/>
                    <a:pt x="14" y="43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36" name="TextBox 135">
            <a:extLst>
              <a:ext uri="{FF2B5EF4-FFF2-40B4-BE49-F238E27FC236}">
                <a16:creationId xmlns:a16="http://schemas.microsoft.com/office/drawing/2014/main" id="{AE94BBB2-A1A2-A0BB-17D5-D0B45BF190D2}"/>
              </a:ext>
            </a:extLst>
          </p:cNvPr>
          <p:cNvSpPr txBox="1"/>
          <p:nvPr/>
        </p:nvSpPr>
        <p:spPr>
          <a:xfrm>
            <a:off x="8953873" y="2105217"/>
            <a:ext cx="816249"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Fira Sans Light" panose="020B0403050000020004" pitchFamily="34" charset="0"/>
                <a:ea typeface="+mn-ea"/>
                <a:cs typeface="+mn-cs"/>
              </a:rPr>
              <a:t>Architecture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Fira Sans Light" panose="020B0403050000020004" pitchFamily="34" charset="0"/>
                <a:ea typeface="+mn-ea"/>
                <a:cs typeface="+mn-cs"/>
              </a:rPr>
              <a:t>Review</a:t>
            </a:r>
          </a:p>
        </p:txBody>
      </p:sp>
      <p:grpSp>
        <p:nvGrpSpPr>
          <p:cNvPr id="137" name="Group 136">
            <a:extLst>
              <a:ext uri="{FF2B5EF4-FFF2-40B4-BE49-F238E27FC236}">
                <a16:creationId xmlns:a16="http://schemas.microsoft.com/office/drawing/2014/main" id="{C561A456-7923-9107-6892-A6967D7A646B}"/>
              </a:ext>
            </a:extLst>
          </p:cNvPr>
          <p:cNvGrpSpPr/>
          <p:nvPr/>
        </p:nvGrpSpPr>
        <p:grpSpPr>
          <a:xfrm>
            <a:off x="7831499" y="1592760"/>
            <a:ext cx="356709" cy="509582"/>
            <a:chOff x="4349232" y="4268797"/>
            <a:chExt cx="574505" cy="820721"/>
          </a:xfrm>
        </p:grpSpPr>
        <p:grpSp>
          <p:nvGrpSpPr>
            <p:cNvPr id="139" name="Group 138">
              <a:extLst>
                <a:ext uri="{FF2B5EF4-FFF2-40B4-BE49-F238E27FC236}">
                  <a16:creationId xmlns:a16="http://schemas.microsoft.com/office/drawing/2014/main" id="{83FCB94F-E602-E0EE-E451-5342F9370CBE}"/>
                </a:ext>
              </a:extLst>
            </p:cNvPr>
            <p:cNvGrpSpPr/>
            <p:nvPr/>
          </p:nvGrpSpPr>
          <p:grpSpPr>
            <a:xfrm>
              <a:off x="4349232" y="4268797"/>
              <a:ext cx="574505" cy="820721"/>
              <a:chOff x="8910638" y="695325"/>
              <a:chExt cx="355600" cy="508000"/>
            </a:xfrm>
          </p:grpSpPr>
          <p:sp>
            <p:nvSpPr>
              <p:cNvPr id="145" name="Freeform 143">
                <a:extLst>
                  <a:ext uri="{FF2B5EF4-FFF2-40B4-BE49-F238E27FC236}">
                    <a16:creationId xmlns:a16="http://schemas.microsoft.com/office/drawing/2014/main" id="{9428B00F-6765-F04E-4D86-7C342B2C2B76}"/>
                  </a:ext>
                </a:extLst>
              </p:cNvPr>
              <p:cNvSpPr>
                <a:spLocks noChangeArrowheads="1"/>
              </p:cNvSpPr>
              <p:nvPr/>
            </p:nvSpPr>
            <p:spPr bwMode="auto">
              <a:xfrm>
                <a:off x="8910638" y="746125"/>
                <a:ext cx="355600" cy="457200"/>
              </a:xfrm>
              <a:custGeom>
                <a:avLst/>
                <a:gdLst>
                  <a:gd name="T0" fmla="*/ 704 w 987"/>
                  <a:gd name="T1" fmla="*/ 0 h 1269"/>
                  <a:gd name="T2" fmla="*/ 915 w 987"/>
                  <a:gd name="T3" fmla="*/ 0 h 1269"/>
                  <a:gd name="T4" fmla="*/ 986 w 987"/>
                  <a:gd name="T5" fmla="*/ 71 h 1269"/>
                  <a:gd name="T6" fmla="*/ 986 w 987"/>
                  <a:gd name="T7" fmla="*/ 1198 h 1269"/>
                  <a:gd name="T8" fmla="*/ 915 w 987"/>
                  <a:gd name="T9" fmla="*/ 1268 h 1269"/>
                  <a:gd name="T10" fmla="*/ 70 w 987"/>
                  <a:gd name="T11" fmla="*/ 1268 h 1269"/>
                  <a:gd name="T12" fmla="*/ 0 w 987"/>
                  <a:gd name="T13" fmla="*/ 1198 h 1269"/>
                  <a:gd name="T14" fmla="*/ 0 w 987"/>
                  <a:gd name="T15" fmla="*/ 71 h 1269"/>
                  <a:gd name="T16" fmla="*/ 70 w 987"/>
                  <a:gd name="T17" fmla="*/ 0 h 1269"/>
                  <a:gd name="T18" fmla="*/ 281 w 987"/>
                  <a:gd name="T19" fmla="*/ 0 h 1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7" h="1269">
                    <a:moveTo>
                      <a:pt x="704" y="0"/>
                    </a:moveTo>
                    <a:cubicBezTo>
                      <a:pt x="775" y="0"/>
                      <a:pt x="845" y="0"/>
                      <a:pt x="915" y="0"/>
                    </a:cubicBezTo>
                    <a:cubicBezTo>
                      <a:pt x="954" y="0"/>
                      <a:pt x="986" y="32"/>
                      <a:pt x="986" y="71"/>
                    </a:cubicBezTo>
                    <a:cubicBezTo>
                      <a:pt x="986" y="447"/>
                      <a:pt x="986" y="822"/>
                      <a:pt x="986" y="1198"/>
                    </a:cubicBezTo>
                    <a:cubicBezTo>
                      <a:pt x="986" y="1236"/>
                      <a:pt x="954" y="1268"/>
                      <a:pt x="915" y="1268"/>
                    </a:cubicBezTo>
                    <a:cubicBezTo>
                      <a:pt x="634" y="1268"/>
                      <a:pt x="352" y="1268"/>
                      <a:pt x="70" y="1268"/>
                    </a:cubicBezTo>
                    <a:cubicBezTo>
                      <a:pt x="32" y="1268"/>
                      <a:pt x="0" y="1236"/>
                      <a:pt x="0" y="1198"/>
                    </a:cubicBezTo>
                    <a:cubicBezTo>
                      <a:pt x="0" y="822"/>
                      <a:pt x="0" y="447"/>
                      <a:pt x="0" y="71"/>
                    </a:cubicBezTo>
                    <a:cubicBezTo>
                      <a:pt x="0" y="32"/>
                      <a:pt x="32" y="0"/>
                      <a:pt x="70" y="0"/>
                    </a:cubicBezTo>
                    <a:cubicBezTo>
                      <a:pt x="141" y="0"/>
                      <a:pt x="211" y="0"/>
                      <a:pt x="281"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 name="Freeform 144">
                <a:extLst>
                  <a:ext uri="{FF2B5EF4-FFF2-40B4-BE49-F238E27FC236}">
                    <a16:creationId xmlns:a16="http://schemas.microsoft.com/office/drawing/2014/main" id="{A525AF35-0A43-ACF1-E265-B4B49FAD8E30}"/>
                  </a:ext>
                </a:extLst>
              </p:cNvPr>
              <p:cNvSpPr>
                <a:spLocks noChangeArrowheads="1"/>
              </p:cNvSpPr>
              <p:nvPr/>
            </p:nvSpPr>
            <p:spPr bwMode="auto">
              <a:xfrm>
                <a:off x="8974138" y="695325"/>
                <a:ext cx="228600" cy="114300"/>
              </a:xfrm>
              <a:custGeom>
                <a:avLst/>
                <a:gdLst>
                  <a:gd name="T0" fmla="*/ 634 w 635"/>
                  <a:gd name="T1" fmla="*/ 247 h 318"/>
                  <a:gd name="T2" fmla="*/ 528 w 635"/>
                  <a:gd name="T3" fmla="*/ 141 h 318"/>
                  <a:gd name="T4" fmla="*/ 475 w 635"/>
                  <a:gd name="T5" fmla="*/ 141 h 318"/>
                  <a:gd name="T6" fmla="*/ 458 w 635"/>
                  <a:gd name="T7" fmla="*/ 127 h 318"/>
                  <a:gd name="T8" fmla="*/ 317 w 635"/>
                  <a:gd name="T9" fmla="*/ 0 h 318"/>
                  <a:gd name="T10" fmla="*/ 176 w 635"/>
                  <a:gd name="T11" fmla="*/ 127 h 318"/>
                  <a:gd name="T12" fmla="*/ 158 w 635"/>
                  <a:gd name="T13" fmla="*/ 141 h 318"/>
                  <a:gd name="T14" fmla="*/ 105 w 635"/>
                  <a:gd name="T15" fmla="*/ 141 h 318"/>
                  <a:gd name="T16" fmla="*/ 0 w 635"/>
                  <a:gd name="T17" fmla="*/ 247 h 318"/>
                  <a:gd name="T18" fmla="*/ 0 w 635"/>
                  <a:gd name="T19" fmla="*/ 282 h 318"/>
                  <a:gd name="T20" fmla="*/ 35 w 635"/>
                  <a:gd name="T21" fmla="*/ 317 h 318"/>
                  <a:gd name="T22" fmla="*/ 598 w 635"/>
                  <a:gd name="T23" fmla="*/ 317 h 318"/>
                  <a:gd name="T24" fmla="*/ 634 w 635"/>
                  <a:gd name="T25" fmla="*/ 282 h 318"/>
                  <a:gd name="T26" fmla="*/ 634 w 635"/>
                  <a:gd name="T27" fmla="*/ 247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5" h="318">
                    <a:moveTo>
                      <a:pt x="634" y="247"/>
                    </a:moveTo>
                    <a:cubicBezTo>
                      <a:pt x="634" y="187"/>
                      <a:pt x="588" y="141"/>
                      <a:pt x="528" y="141"/>
                    </a:cubicBezTo>
                    <a:cubicBezTo>
                      <a:pt x="511" y="141"/>
                      <a:pt x="493" y="141"/>
                      <a:pt x="475" y="141"/>
                    </a:cubicBezTo>
                    <a:cubicBezTo>
                      <a:pt x="465" y="141"/>
                      <a:pt x="458" y="134"/>
                      <a:pt x="458" y="127"/>
                    </a:cubicBezTo>
                    <a:cubicBezTo>
                      <a:pt x="450" y="57"/>
                      <a:pt x="384" y="0"/>
                      <a:pt x="317" y="0"/>
                    </a:cubicBezTo>
                    <a:cubicBezTo>
                      <a:pt x="250" y="0"/>
                      <a:pt x="186" y="57"/>
                      <a:pt x="176" y="127"/>
                    </a:cubicBezTo>
                    <a:cubicBezTo>
                      <a:pt x="176" y="138"/>
                      <a:pt x="169" y="141"/>
                      <a:pt x="158" y="141"/>
                    </a:cubicBezTo>
                    <a:cubicBezTo>
                      <a:pt x="141" y="141"/>
                      <a:pt x="123" y="141"/>
                      <a:pt x="105" y="141"/>
                    </a:cubicBezTo>
                    <a:cubicBezTo>
                      <a:pt x="46" y="141"/>
                      <a:pt x="0" y="187"/>
                      <a:pt x="0" y="247"/>
                    </a:cubicBezTo>
                    <a:cubicBezTo>
                      <a:pt x="0" y="259"/>
                      <a:pt x="0" y="270"/>
                      <a:pt x="0" y="282"/>
                    </a:cubicBezTo>
                    <a:cubicBezTo>
                      <a:pt x="0" y="303"/>
                      <a:pt x="14" y="317"/>
                      <a:pt x="35" y="317"/>
                    </a:cubicBezTo>
                    <a:cubicBezTo>
                      <a:pt x="223" y="317"/>
                      <a:pt x="411" y="317"/>
                      <a:pt x="598" y="317"/>
                    </a:cubicBezTo>
                    <a:cubicBezTo>
                      <a:pt x="619" y="317"/>
                      <a:pt x="634" y="303"/>
                      <a:pt x="634" y="282"/>
                    </a:cubicBezTo>
                    <a:cubicBezTo>
                      <a:pt x="634" y="270"/>
                      <a:pt x="634" y="259"/>
                      <a:pt x="634" y="247"/>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 name="Freeform 146">
                <a:extLst>
                  <a:ext uri="{FF2B5EF4-FFF2-40B4-BE49-F238E27FC236}">
                    <a16:creationId xmlns:a16="http://schemas.microsoft.com/office/drawing/2014/main" id="{9FA1E536-3DAB-F80D-CD32-B1844033D9EC}"/>
                  </a:ext>
                </a:extLst>
              </p:cNvPr>
              <p:cNvSpPr>
                <a:spLocks noChangeArrowheads="1"/>
              </p:cNvSpPr>
              <p:nvPr/>
            </p:nvSpPr>
            <p:spPr bwMode="auto">
              <a:xfrm>
                <a:off x="9075738" y="733425"/>
                <a:ext cx="25400" cy="25400"/>
              </a:xfrm>
              <a:custGeom>
                <a:avLst/>
                <a:gdLst>
                  <a:gd name="T0" fmla="*/ 70 w 71"/>
                  <a:gd name="T1" fmla="*/ 35 h 72"/>
                  <a:gd name="T2" fmla="*/ 35 w 71"/>
                  <a:gd name="T3" fmla="*/ 71 h 72"/>
                  <a:gd name="T4" fmla="*/ 0 w 71"/>
                  <a:gd name="T5" fmla="*/ 35 h 72"/>
                  <a:gd name="T6" fmla="*/ 35 w 71"/>
                  <a:gd name="T7" fmla="*/ 0 h 72"/>
                  <a:gd name="T8" fmla="*/ 70 w 71"/>
                  <a:gd name="T9" fmla="*/ 35 h 72"/>
                </a:gdLst>
                <a:ahLst/>
                <a:cxnLst>
                  <a:cxn ang="0">
                    <a:pos x="T0" y="T1"/>
                  </a:cxn>
                  <a:cxn ang="0">
                    <a:pos x="T2" y="T3"/>
                  </a:cxn>
                  <a:cxn ang="0">
                    <a:pos x="T4" y="T5"/>
                  </a:cxn>
                  <a:cxn ang="0">
                    <a:pos x="T6" y="T7"/>
                  </a:cxn>
                  <a:cxn ang="0">
                    <a:pos x="T8" y="T9"/>
                  </a:cxn>
                </a:cxnLst>
                <a:rect l="0" t="0" r="r" b="b"/>
                <a:pathLst>
                  <a:path w="71" h="72">
                    <a:moveTo>
                      <a:pt x="70" y="35"/>
                    </a:moveTo>
                    <a:cubicBezTo>
                      <a:pt x="70" y="56"/>
                      <a:pt x="56" y="71"/>
                      <a:pt x="35" y="71"/>
                    </a:cubicBezTo>
                    <a:cubicBezTo>
                      <a:pt x="14" y="71"/>
                      <a:pt x="0" y="56"/>
                      <a:pt x="0" y="35"/>
                    </a:cubicBezTo>
                    <a:cubicBezTo>
                      <a:pt x="0" y="14"/>
                      <a:pt x="14" y="0"/>
                      <a:pt x="35" y="0"/>
                    </a:cubicBezTo>
                    <a:cubicBezTo>
                      <a:pt x="56" y="0"/>
                      <a:pt x="70" y="14"/>
                      <a:pt x="70" y="35"/>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40" name="Group 139">
              <a:extLst>
                <a:ext uri="{FF2B5EF4-FFF2-40B4-BE49-F238E27FC236}">
                  <a16:creationId xmlns:a16="http://schemas.microsoft.com/office/drawing/2014/main" id="{0FFCC87E-6507-BB1F-BFB2-A475FBFA6A3A}"/>
                </a:ext>
              </a:extLst>
            </p:cNvPr>
            <p:cNvGrpSpPr/>
            <p:nvPr/>
          </p:nvGrpSpPr>
          <p:grpSpPr>
            <a:xfrm>
              <a:off x="4476399" y="4633507"/>
              <a:ext cx="330993" cy="263621"/>
              <a:chOff x="4503811" y="4642651"/>
              <a:chExt cx="224312" cy="178655"/>
            </a:xfrm>
          </p:grpSpPr>
          <p:sp>
            <p:nvSpPr>
              <p:cNvPr id="142" name="Freeform 141">
                <a:extLst>
                  <a:ext uri="{FF2B5EF4-FFF2-40B4-BE49-F238E27FC236}">
                    <a16:creationId xmlns:a16="http://schemas.microsoft.com/office/drawing/2014/main" id="{8F704B53-BF90-5E59-43E7-93DF5BC366E0}"/>
                  </a:ext>
                </a:extLst>
              </p:cNvPr>
              <p:cNvSpPr>
                <a:spLocks noChangeArrowheads="1"/>
              </p:cNvSpPr>
              <p:nvPr/>
            </p:nvSpPr>
            <p:spPr bwMode="auto">
              <a:xfrm>
                <a:off x="4684451" y="4674412"/>
                <a:ext cx="43672" cy="117117"/>
              </a:xfrm>
              <a:custGeom>
                <a:avLst/>
                <a:gdLst>
                  <a:gd name="T0" fmla="*/ 0 w 95"/>
                  <a:gd name="T1" fmla="*/ 257 h 258"/>
                  <a:gd name="T2" fmla="*/ 90 w 95"/>
                  <a:gd name="T3" fmla="*/ 137 h 258"/>
                  <a:gd name="T4" fmla="*/ 90 w 95"/>
                  <a:gd name="T5" fmla="*/ 120 h 258"/>
                  <a:gd name="T6" fmla="*/ 0 w 95"/>
                  <a:gd name="T7" fmla="*/ 0 h 258"/>
                </a:gdLst>
                <a:ahLst/>
                <a:cxnLst>
                  <a:cxn ang="0">
                    <a:pos x="T0" y="T1"/>
                  </a:cxn>
                  <a:cxn ang="0">
                    <a:pos x="T2" y="T3"/>
                  </a:cxn>
                  <a:cxn ang="0">
                    <a:pos x="T4" y="T5"/>
                  </a:cxn>
                  <a:cxn ang="0">
                    <a:pos x="T6" y="T7"/>
                  </a:cxn>
                </a:cxnLst>
                <a:rect l="0" t="0" r="r" b="b"/>
                <a:pathLst>
                  <a:path w="95" h="258">
                    <a:moveTo>
                      <a:pt x="0" y="257"/>
                    </a:moveTo>
                    <a:cubicBezTo>
                      <a:pt x="30" y="217"/>
                      <a:pt x="60" y="177"/>
                      <a:pt x="90" y="137"/>
                    </a:cubicBezTo>
                    <a:cubicBezTo>
                      <a:pt x="94" y="132"/>
                      <a:pt x="94" y="125"/>
                      <a:pt x="90" y="120"/>
                    </a:cubicBezTo>
                    <a:cubicBezTo>
                      <a:pt x="60" y="80"/>
                      <a:pt x="30" y="4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 name="Freeform 142">
                <a:extLst>
                  <a:ext uri="{FF2B5EF4-FFF2-40B4-BE49-F238E27FC236}">
                    <a16:creationId xmlns:a16="http://schemas.microsoft.com/office/drawing/2014/main" id="{35167FF5-155C-F543-8F19-724CE648C5A5}"/>
                  </a:ext>
                </a:extLst>
              </p:cNvPr>
              <p:cNvSpPr>
                <a:spLocks noChangeArrowheads="1"/>
              </p:cNvSpPr>
              <p:nvPr/>
            </p:nvSpPr>
            <p:spPr bwMode="auto">
              <a:xfrm>
                <a:off x="4503811" y="4674412"/>
                <a:ext cx="43672" cy="117117"/>
              </a:xfrm>
              <a:custGeom>
                <a:avLst/>
                <a:gdLst>
                  <a:gd name="T0" fmla="*/ 94 w 95"/>
                  <a:gd name="T1" fmla="*/ 0 h 258"/>
                  <a:gd name="T2" fmla="*/ 4 w 95"/>
                  <a:gd name="T3" fmla="*/ 120 h 258"/>
                  <a:gd name="T4" fmla="*/ 4 w 95"/>
                  <a:gd name="T5" fmla="*/ 137 h 258"/>
                  <a:gd name="T6" fmla="*/ 94 w 95"/>
                  <a:gd name="T7" fmla="*/ 257 h 258"/>
                </a:gdLst>
                <a:ahLst/>
                <a:cxnLst>
                  <a:cxn ang="0">
                    <a:pos x="T0" y="T1"/>
                  </a:cxn>
                  <a:cxn ang="0">
                    <a:pos x="T2" y="T3"/>
                  </a:cxn>
                  <a:cxn ang="0">
                    <a:pos x="T4" y="T5"/>
                  </a:cxn>
                  <a:cxn ang="0">
                    <a:pos x="T6" y="T7"/>
                  </a:cxn>
                </a:cxnLst>
                <a:rect l="0" t="0" r="r" b="b"/>
                <a:pathLst>
                  <a:path w="95" h="258">
                    <a:moveTo>
                      <a:pt x="94" y="0"/>
                    </a:moveTo>
                    <a:cubicBezTo>
                      <a:pt x="64" y="40"/>
                      <a:pt x="34" y="80"/>
                      <a:pt x="4" y="120"/>
                    </a:cubicBezTo>
                    <a:cubicBezTo>
                      <a:pt x="0" y="125"/>
                      <a:pt x="0" y="132"/>
                      <a:pt x="4" y="137"/>
                    </a:cubicBezTo>
                    <a:cubicBezTo>
                      <a:pt x="34" y="177"/>
                      <a:pt x="64" y="217"/>
                      <a:pt x="94" y="25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Freeform 143">
                <a:extLst>
                  <a:ext uri="{FF2B5EF4-FFF2-40B4-BE49-F238E27FC236}">
                    <a16:creationId xmlns:a16="http://schemas.microsoft.com/office/drawing/2014/main" id="{AA082F8C-2D5A-2FB7-B2D6-E2824F619B1D}"/>
                  </a:ext>
                </a:extLst>
              </p:cNvPr>
              <p:cNvSpPr>
                <a:spLocks noChangeArrowheads="1"/>
              </p:cNvSpPr>
              <p:nvPr/>
            </p:nvSpPr>
            <p:spPr bwMode="auto">
              <a:xfrm>
                <a:off x="4593138" y="4642651"/>
                <a:ext cx="45655" cy="178655"/>
              </a:xfrm>
              <a:custGeom>
                <a:avLst/>
                <a:gdLst>
                  <a:gd name="T0" fmla="*/ 99 w 100"/>
                  <a:gd name="T1" fmla="*/ 0 h 396"/>
                  <a:gd name="T2" fmla="*/ 0 w 100"/>
                  <a:gd name="T3" fmla="*/ 395 h 396"/>
                </a:gdLst>
                <a:ahLst/>
                <a:cxnLst>
                  <a:cxn ang="0">
                    <a:pos x="T0" y="T1"/>
                  </a:cxn>
                  <a:cxn ang="0">
                    <a:pos x="T2" y="T3"/>
                  </a:cxn>
                </a:cxnLst>
                <a:rect l="0" t="0" r="r" b="b"/>
                <a:pathLst>
                  <a:path w="100" h="396">
                    <a:moveTo>
                      <a:pt x="99" y="0"/>
                    </a:moveTo>
                    <a:cubicBezTo>
                      <a:pt x="66" y="132"/>
                      <a:pt x="33" y="263"/>
                      <a:pt x="0" y="39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32" name="TextBox 331">
            <a:extLst>
              <a:ext uri="{FF2B5EF4-FFF2-40B4-BE49-F238E27FC236}">
                <a16:creationId xmlns:a16="http://schemas.microsoft.com/office/drawing/2014/main" id="{828FC5D2-8220-A8CB-264A-188BC58649F5}"/>
              </a:ext>
            </a:extLst>
          </p:cNvPr>
          <p:cNvSpPr txBox="1"/>
          <p:nvPr/>
        </p:nvSpPr>
        <p:spPr>
          <a:xfrm>
            <a:off x="5226514" y="5380672"/>
            <a:ext cx="2551358" cy="1477328"/>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err="1">
                <a:ln>
                  <a:noFill/>
                </a:ln>
                <a:solidFill>
                  <a:srgbClr val="FFFFFF"/>
                </a:solidFill>
                <a:effectLst/>
                <a:uLnTx/>
                <a:uFillTx/>
                <a:latin typeface="Fira Sans" panose="020B0503050000020004" pitchFamily="34" charset="0"/>
                <a:ea typeface="+mn-ea"/>
                <a:cs typeface="+mn-cs"/>
              </a:rPr>
              <a:t>Dr.</a:t>
            </a: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 Migrate Dashboard walk through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Showcasing the analysis by </a:t>
            </a:r>
            <a:r>
              <a:rPr kumimoji="0" lang="en-GB" sz="900" b="0" i="0" u="none" strike="noStrike" kern="1200" cap="none" spc="0" normalizeH="0" baseline="0" noProof="0" err="1">
                <a:ln>
                  <a:noFill/>
                </a:ln>
                <a:solidFill>
                  <a:srgbClr val="FFFFFF"/>
                </a:solidFill>
                <a:effectLst/>
                <a:uLnTx/>
                <a:uFillTx/>
                <a:latin typeface="Fira Sans" panose="020B0503050000020004" pitchFamily="34" charset="0"/>
                <a:ea typeface="+mn-ea"/>
                <a:cs typeface="+mn-cs"/>
              </a:rPr>
              <a:t>Dr.</a:t>
            </a: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 Migrate.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High Level Release Plan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High Level Target Platform Design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Cost of Migration &amp; Operation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p:txBody>
      </p:sp>
      <p:grpSp>
        <p:nvGrpSpPr>
          <p:cNvPr id="163" name="Group 162">
            <a:extLst>
              <a:ext uri="{FF2B5EF4-FFF2-40B4-BE49-F238E27FC236}">
                <a16:creationId xmlns:a16="http://schemas.microsoft.com/office/drawing/2014/main" id="{294EB0FE-3309-485C-2497-19236CFA7207}"/>
              </a:ext>
            </a:extLst>
          </p:cNvPr>
          <p:cNvGrpSpPr/>
          <p:nvPr/>
        </p:nvGrpSpPr>
        <p:grpSpPr>
          <a:xfrm>
            <a:off x="6284178" y="4377440"/>
            <a:ext cx="426322" cy="612094"/>
            <a:chOff x="7947025" y="2292350"/>
            <a:chExt cx="284163" cy="407988"/>
          </a:xfrm>
        </p:grpSpPr>
        <p:sp>
          <p:nvSpPr>
            <p:cNvPr id="164" name="Freeform 201">
              <a:extLst>
                <a:ext uri="{FF2B5EF4-FFF2-40B4-BE49-F238E27FC236}">
                  <a16:creationId xmlns:a16="http://schemas.microsoft.com/office/drawing/2014/main" id="{22F87E92-9D48-EAC5-52BD-B3F2971B3D42}"/>
                </a:ext>
              </a:extLst>
            </p:cNvPr>
            <p:cNvSpPr>
              <a:spLocks noChangeArrowheads="1"/>
            </p:cNvSpPr>
            <p:nvPr/>
          </p:nvSpPr>
          <p:spPr bwMode="auto">
            <a:xfrm>
              <a:off x="7947025" y="2333625"/>
              <a:ext cx="284163" cy="366713"/>
            </a:xfrm>
            <a:custGeom>
              <a:avLst/>
              <a:gdLst>
                <a:gd name="T0" fmla="*/ 564 w 791"/>
                <a:gd name="T1" fmla="*/ 0 h 1017"/>
                <a:gd name="T2" fmla="*/ 734 w 791"/>
                <a:gd name="T3" fmla="*/ 0 h 1017"/>
                <a:gd name="T4" fmla="*/ 790 w 791"/>
                <a:gd name="T5" fmla="*/ 56 h 1017"/>
                <a:gd name="T6" fmla="*/ 790 w 791"/>
                <a:gd name="T7" fmla="*/ 959 h 1017"/>
                <a:gd name="T8" fmla="*/ 734 w 791"/>
                <a:gd name="T9" fmla="*/ 1016 h 1017"/>
                <a:gd name="T10" fmla="*/ 56 w 791"/>
                <a:gd name="T11" fmla="*/ 1016 h 1017"/>
                <a:gd name="T12" fmla="*/ 0 w 791"/>
                <a:gd name="T13" fmla="*/ 959 h 1017"/>
                <a:gd name="T14" fmla="*/ 0 w 791"/>
                <a:gd name="T15" fmla="*/ 56 h 1017"/>
                <a:gd name="T16" fmla="*/ 56 w 791"/>
                <a:gd name="T17" fmla="*/ 0 h 1017"/>
                <a:gd name="T18" fmla="*/ 226 w 791"/>
                <a:gd name="T19" fmla="*/ 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1" h="1017">
                  <a:moveTo>
                    <a:pt x="564" y="0"/>
                  </a:moveTo>
                  <a:cubicBezTo>
                    <a:pt x="621" y="0"/>
                    <a:pt x="678" y="0"/>
                    <a:pt x="734" y="0"/>
                  </a:cubicBezTo>
                  <a:cubicBezTo>
                    <a:pt x="765" y="0"/>
                    <a:pt x="790" y="25"/>
                    <a:pt x="790" y="56"/>
                  </a:cubicBezTo>
                  <a:cubicBezTo>
                    <a:pt x="790" y="357"/>
                    <a:pt x="790" y="658"/>
                    <a:pt x="790" y="959"/>
                  </a:cubicBezTo>
                  <a:cubicBezTo>
                    <a:pt x="790" y="990"/>
                    <a:pt x="765" y="1016"/>
                    <a:pt x="734" y="1016"/>
                  </a:cubicBezTo>
                  <a:cubicBezTo>
                    <a:pt x="508" y="1016"/>
                    <a:pt x="282" y="1016"/>
                    <a:pt x="56" y="1016"/>
                  </a:cubicBezTo>
                  <a:cubicBezTo>
                    <a:pt x="25" y="1016"/>
                    <a:pt x="0" y="990"/>
                    <a:pt x="0" y="959"/>
                  </a:cubicBezTo>
                  <a:cubicBezTo>
                    <a:pt x="0" y="658"/>
                    <a:pt x="0" y="357"/>
                    <a:pt x="0" y="56"/>
                  </a:cubicBezTo>
                  <a:cubicBezTo>
                    <a:pt x="0" y="25"/>
                    <a:pt x="25" y="0"/>
                    <a:pt x="56" y="0"/>
                  </a:cubicBezTo>
                  <a:cubicBezTo>
                    <a:pt x="113" y="0"/>
                    <a:pt x="170" y="0"/>
                    <a:pt x="226"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 name="Freeform 202">
              <a:extLst>
                <a:ext uri="{FF2B5EF4-FFF2-40B4-BE49-F238E27FC236}">
                  <a16:creationId xmlns:a16="http://schemas.microsoft.com/office/drawing/2014/main" id="{643C983C-023B-A5C0-8152-F4FDE1C12A2D}"/>
                </a:ext>
              </a:extLst>
            </p:cNvPr>
            <p:cNvSpPr>
              <a:spLocks noChangeArrowheads="1"/>
            </p:cNvSpPr>
            <p:nvPr/>
          </p:nvSpPr>
          <p:spPr bwMode="auto">
            <a:xfrm>
              <a:off x="7997825" y="2292350"/>
              <a:ext cx="182563" cy="92075"/>
            </a:xfrm>
            <a:custGeom>
              <a:avLst/>
              <a:gdLst>
                <a:gd name="T0" fmla="*/ 508 w 509"/>
                <a:gd name="T1" fmla="*/ 197 h 255"/>
                <a:gd name="T2" fmla="*/ 423 w 509"/>
                <a:gd name="T3" fmla="*/ 113 h 255"/>
                <a:gd name="T4" fmla="*/ 380 w 509"/>
                <a:gd name="T5" fmla="*/ 113 h 255"/>
                <a:gd name="T6" fmla="*/ 366 w 509"/>
                <a:gd name="T7" fmla="*/ 100 h 255"/>
                <a:gd name="T8" fmla="*/ 254 w 509"/>
                <a:gd name="T9" fmla="*/ 0 h 255"/>
                <a:gd name="T10" fmla="*/ 142 w 509"/>
                <a:gd name="T11" fmla="*/ 100 h 255"/>
                <a:gd name="T12" fmla="*/ 128 w 509"/>
                <a:gd name="T13" fmla="*/ 113 h 255"/>
                <a:gd name="T14" fmla="*/ 85 w 509"/>
                <a:gd name="T15" fmla="*/ 113 h 255"/>
                <a:gd name="T16" fmla="*/ 0 w 509"/>
                <a:gd name="T17" fmla="*/ 197 h 255"/>
                <a:gd name="T18" fmla="*/ 0 w 509"/>
                <a:gd name="T19" fmla="*/ 226 h 255"/>
                <a:gd name="T20" fmla="*/ 28 w 509"/>
                <a:gd name="T21" fmla="*/ 254 h 255"/>
                <a:gd name="T22" fmla="*/ 480 w 509"/>
                <a:gd name="T23" fmla="*/ 254 h 255"/>
                <a:gd name="T24" fmla="*/ 508 w 509"/>
                <a:gd name="T25" fmla="*/ 226 h 255"/>
                <a:gd name="T26" fmla="*/ 508 w 509"/>
                <a:gd name="T27" fmla="*/ 19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9" h="255">
                  <a:moveTo>
                    <a:pt x="508" y="197"/>
                  </a:moveTo>
                  <a:cubicBezTo>
                    <a:pt x="508" y="151"/>
                    <a:pt x="470" y="113"/>
                    <a:pt x="423" y="113"/>
                  </a:cubicBezTo>
                  <a:cubicBezTo>
                    <a:pt x="409" y="113"/>
                    <a:pt x="395" y="113"/>
                    <a:pt x="380" y="113"/>
                  </a:cubicBezTo>
                  <a:cubicBezTo>
                    <a:pt x="373" y="113"/>
                    <a:pt x="367" y="107"/>
                    <a:pt x="366" y="100"/>
                  </a:cubicBezTo>
                  <a:cubicBezTo>
                    <a:pt x="359" y="44"/>
                    <a:pt x="308" y="0"/>
                    <a:pt x="254" y="0"/>
                  </a:cubicBezTo>
                  <a:cubicBezTo>
                    <a:pt x="200" y="0"/>
                    <a:pt x="149" y="44"/>
                    <a:pt x="142" y="100"/>
                  </a:cubicBezTo>
                  <a:cubicBezTo>
                    <a:pt x="141" y="107"/>
                    <a:pt x="135" y="113"/>
                    <a:pt x="128" y="113"/>
                  </a:cubicBezTo>
                  <a:cubicBezTo>
                    <a:pt x="114" y="113"/>
                    <a:pt x="100" y="113"/>
                    <a:pt x="85" y="113"/>
                  </a:cubicBezTo>
                  <a:cubicBezTo>
                    <a:pt x="38" y="113"/>
                    <a:pt x="0" y="151"/>
                    <a:pt x="0" y="197"/>
                  </a:cubicBezTo>
                  <a:cubicBezTo>
                    <a:pt x="0" y="206"/>
                    <a:pt x="0" y="216"/>
                    <a:pt x="0" y="226"/>
                  </a:cubicBezTo>
                  <a:cubicBezTo>
                    <a:pt x="0" y="241"/>
                    <a:pt x="13" y="254"/>
                    <a:pt x="28" y="254"/>
                  </a:cubicBezTo>
                  <a:cubicBezTo>
                    <a:pt x="179" y="254"/>
                    <a:pt x="330" y="254"/>
                    <a:pt x="480" y="254"/>
                  </a:cubicBezTo>
                  <a:cubicBezTo>
                    <a:pt x="495" y="254"/>
                    <a:pt x="508" y="241"/>
                    <a:pt x="508" y="226"/>
                  </a:cubicBezTo>
                  <a:cubicBezTo>
                    <a:pt x="508" y="216"/>
                    <a:pt x="508" y="206"/>
                    <a:pt x="508" y="197"/>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 name="Freeform 203">
              <a:extLst>
                <a:ext uri="{FF2B5EF4-FFF2-40B4-BE49-F238E27FC236}">
                  <a16:creationId xmlns:a16="http://schemas.microsoft.com/office/drawing/2014/main" id="{4D8ABCD6-20DD-3DAE-1622-214456964FF5}"/>
                </a:ext>
              </a:extLst>
            </p:cNvPr>
            <p:cNvSpPr>
              <a:spLocks noChangeArrowheads="1"/>
            </p:cNvSpPr>
            <p:nvPr/>
          </p:nvSpPr>
          <p:spPr bwMode="auto">
            <a:xfrm>
              <a:off x="8080375" y="2444750"/>
              <a:ext cx="92075" cy="1588"/>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 name="Freeform 204">
              <a:extLst>
                <a:ext uri="{FF2B5EF4-FFF2-40B4-BE49-F238E27FC236}">
                  <a16:creationId xmlns:a16="http://schemas.microsoft.com/office/drawing/2014/main" id="{C22A283D-C227-3B74-7E31-00F26AC382B6}"/>
                </a:ext>
              </a:extLst>
            </p:cNvPr>
            <p:cNvSpPr>
              <a:spLocks noChangeArrowheads="1"/>
            </p:cNvSpPr>
            <p:nvPr/>
          </p:nvSpPr>
          <p:spPr bwMode="auto">
            <a:xfrm>
              <a:off x="8080375" y="2322513"/>
              <a:ext cx="20638" cy="20637"/>
            </a:xfrm>
            <a:custGeom>
              <a:avLst/>
              <a:gdLst>
                <a:gd name="T0" fmla="*/ 56 w 57"/>
                <a:gd name="T1" fmla="*/ 29 h 58"/>
                <a:gd name="T2" fmla="*/ 28 w 57"/>
                <a:gd name="T3" fmla="*/ 57 h 58"/>
                <a:gd name="T4" fmla="*/ 0 w 57"/>
                <a:gd name="T5" fmla="*/ 29 h 58"/>
                <a:gd name="T6" fmla="*/ 28 w 57"/>
                <a:gd name="T7" fmla="*/ 0 h 58"/>
                <a:gd name="T8" fmla="*/ 56 w 57"/>
                <a:gd name="T9" fmla="*/ 29 h 58"/>
              </a:gdLst>
              <a:ahLst/>
              <a:cxnLst>
                <a:cxn ang="0">
                  <a:pos x="T0" y="T1"/>
                </a:cxn>
                <a:cxn ang="0">
                  <a:pos x="T2" y="T3"/>
                </a:cxn>
                <a:cxn ang="0">
                  <a:pos x="T4" y="T5"/>
                </a:cxn>
                <a:cxn ang="0">
                  <a:pos x="T6" y="T7"/>
                </a:cxn>
                <a:cxn ang="0">
                  <a:pos x="T8" y="T9"/>
                </a:cxn>
              </a:cxnLst>
              <a:rect l="0" t="0" r="r" b="b"/>
              <a:pathLst>
                <a:path w="57" h="58">
                  <a:moveTo>
                    <a:pt x="56" y="29"/>
                  </a:moveTo>
                  <a:cubicBezTo>
                    <a:pt x="56" y="44"/>
                    <a:pt x="44" y="57"/>
                    <a:pt x="28" y="57"/>
                  </a:cubicBezTo>
                  <a:cubicBezTo>
                    <a:pt x="12" y="57"/>
                    <a:pt x="0" y="44"/>
                    <a:pt x="0" y="29"/>
                  </a:cubicBezTo>
                  <a:cubicBezTo>
                    <a:pt x="0" y="13"/>
                    <a:pt x="12" y="0"/>
                    <a:pt x="28" y="0"/>
                  </a:cubicBezTo>
                  <a:cubicBezTo>
                    <a:pt x="44" y="0"/>
                    <a:pt x="56" y="13"/>
                    <a:pt x="56" y="2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Freeform 205">
              <a:extLst>
                <a:ext uri="{FF2B5EF4-FFF2-40B4-BE49-F238E27FC236}">
                  <a16:creationId xmlns:a16="http://schemas.microsoft.com/office/drawing/2014/main" id="{52E3C967-2971-C284-FB24-F0241EA16063}"/>
                </a:ext>
              </a:extLst>
            </p:cNvPr>
            <p:cNvSpPr>
              <a:spLocks noChangeArrowheads="1"/>
            </p:cNvSpPr>
            <p:nvPr/>
          </p:nvSpPr>
          <p:spPr bwMode="auto">
            <a:xfrm>
              <a:off x="8008938" y="2430463"/>
              <a:ext cx="31750" cy="30162"/>
            </a:xfrm>
            <a:custGeom>
              <a:avLst/>
              <a:gdLst>
                <a:gd name="T0" fmla="*/ 85 w 86"/>
                <a:gd name="T1" fmla="*/ 42 h 85"/>
                <a:gd name="T2" fmla="*/ 43 w 86"/>
                <a:gd name="T3" fmla="*/ 84 h 85"/>
                <a:gd name="T4" fmla="*/ 0 w 86"/>
                <a:gd name="T5" fmla="*/ 42 h 85"/>
                <a:gd name="T6" fmla="*/ 43 w 86"/>
                <a:gd name="T7" fmla="*/ 0 h 85"/>
                <a:gd name="T8" fmla="*/ 85 w 86"/>
                <a:gd name="T9" fmla="*/ 42 h 85"/>
              </a:gdLst>
              <a:ahLst/>
              <a:cxnLst>
                <a:cxn ang="0">
                  <a:pos x="T0" y="T1"/>
                </a:cxn>
                <a:cxn ang="0">
                  <a:pos x="T2" y="T3"/>
                </a:cxn>
                <a:cxn ang="0">
                  <a:pos x="T4" y="T5"/>
                </a:cxn>
                <a:cxn ang="0">
                  <a:pos x="T6" y="T7"/>
                </a:cxn>
                <a:cxn ang="0">
                  <a:pos x="T8" y="T9"/>
                </a:cxn>
              </a:cxnLst>
              <a:rect l="0" t="0" r="r" b="b"/>
              <a:pathLst>
                <a:path w="86" h="85">
                  <a:moveTo>
                    <a:pt x="85" y="42"/>
                  </a:moveTo>
                  <a:cubicBezTo>
                    <a:pt x="85" y="66"/>
                    <a:pt x="66" y="84"/>
                    <a:pt x="43" y="84"/>
                  </a:cubicBezTo>
                  <a:cubicBezTo>
                    <a:pt x="19" y="84"/>
                    <a:pt x="0" y="66"/>
                    <a:pt x="0" y="42"/>
                  </a:cubicBezTo>
                  <a:cubicBezTo>
                    <a:pt x="0" y="19"/>
                    <a:pt x="19" y="0"/>
                    <a:pt x="43" y="0"/>
                  </a:cubicBezTo>
                  <a:cubicBezTo>
                    <a:pt x="66" y="0"/>
                    <a:pt x="85" y="19"/>
                    <a:pt x="85" y="42"/>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 name="Freeform 206">
              <a:extLst>
                <a:ext uri="{FF2B5EF4-FFF2-40B4-BE49-F238E27FC236}">
                  <a16:creationId xmlns:a16="http://schemas.microsoft.com/office/drawing/2014/main" id="{41934FCC-5621-2FED-4259-3A13BB05CF89}"/>
                </a:ext>
              </a:extLst>
            </p:cNvPr>
            <p:cNvSpPr>
              <a:spLocks noChangeArrowheads="1"/>
            </p:cNvSpPr>
            <p:nvPr/>
          </p:nvSpPr>
          <p:spPr bwMode="auto">
            <a:xfrm>
              <a:off x="8008938" y="2490788"/>
              <a:ext cx="31750" cy="31750"/>
            </a:xfrm>
            <a:custGeom>
              <a:avLst/>
              <a:gdLst>
                <a:gd name="T0" fmla="*/ 85 w 86"/>
                <a:gd name="T1" fmla="*/ 42 h 86"/>
                <a:gd name="T2" fmla="*/ 43 w 86"/>
                <a:gd name="T3" fmla="*/ 85 h 86"/>
                <a:gd name="T4" fmla="*/ 0 w 86"/>
                <a:gd name="T5" fmla="*/ 42 h 86"/>
                <a:gd name="T6" fmla="*/ 43 w 86"/>
                <a:gd name="T7" fmla="*/ 0 h 86"/>
                <a:gd name="T8" fmla="*/ 85 w 86"/>
                <a:gd name="T9" fmla="*/ 42 h 86"/>
              </a:gdLst>
              <a:ahLst/>
              <a:cxnLst>
                <a:cxn ang="0">
                  <a:pos x="T0" y="T1"/>
                </a:cxn>
                <a:cxn ang="0">
                  <a:pos x="T2" y="T3"/>
                </a:cxn>
                <a:cxn ang="0">
                  <a:pos x="T4" y="T5"/>
                </a:cxn>
                <a:cxn ang="0">
                  <a:pos x="T6" y="T7"/>
                </a:cxn>
                <a:cxn ang="0">
                  <a:pos x="T8" y="T9"/>
                </a:cxn>
              </a:cxnLst>
              <a:rect l="0" t="0" r="r" b="b"/>
              <a:pathLst>
                <a:path w="86" h="86">
                  <a:moveTo>
                    <a:pt x="85" y="42"/>
                  </a:moveTo>
                  <a:cubicBezTo>
                    <a:pt x="85" y="66"/>
                    <a:pt x="66" y="85"/>
                    <a:pt x="43" y="85"/>
                  </a:cubicBezTo>
                  <a:cubicBezTo>
                    <a:pt x="19" y="85"/>
                    <a:pt x="0" y="66"/>
                    <a:pt x="0" y="42"/>
                  </a:cubicBezTo>
                  <a:cubicBezTo>
                    <a:pt x="0" y="19"/>
                    <a:pt x="19" y="0"/>
                    <a:pt x="43" y="0"/>
                  </a:cubicBezTo>
                  <a:cubicBezTo>
                    <a:pt x="66" y="0"/>
                    <a:pt x="85" y="19"/>
                    <a:pt x="85" y="42"/>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 name="Freeform 207">
              <a:extLst>
                <a:ext uri="{FF2B5EF4-FFF2-40B4-BE49-F238E27FC236}">
                  <a16:creationId xmlns:a16="http://schemas.microsoft.com/office/drawing/2014/main" id="{1E48AB13-4954-19BF-CFEB-0C477BDC685E}"/>
                </a:ext>
              </a:extLst>
            </p:cNvPr>
            <p:cNvSpPr>
              <a:spLocks noChangeArrowheads="1"/>
            </p:cNvSpPr>
            <p:nvPr/>
          </p:nvSpPr>
          <p:spPr bwMode="auto">
            <a:xfrm>
              <a:off x="8008938" y="2551113"/>
              <a:ext cx="31750" cy="31750"/>
            </a:xfrm>
            <a:custGeom>
              <a:avLst/>
              <a:gdLst>
                <a:gd name="T0" fmla="*/ 85 w 86"/>
                <a:gd name="T1" fmla="*/ 43 h 86"/>
                <a:gd name="T2" fmla="*/ 43 w 86"/>
                <a:gd name="T3" fmla="*/ 85 h 86"/>
                <a:gd name="T4" fmla="*/ 0 w 86"/>
                <a:gd name="T5" fmla="*/ 43 h 86"/>
                <a:gd name="T6" fmla="*/ 43 w 86"/>
                <a:gd name="T7" fmla="*/ 0 h 86"/>
                <a:gd name="T8" fmla="*/ 85 w 86"/>
                <a:gd name="T9" fmla="*/ 43 h 86"/>
              </a:gdLst>
              <a:ahLst/>
              <a:cxnLst>
                <a:cxn ang="0">
                  <a:pos x="T0" y="T1"/>
                </a:cxn>
                <a:cxn ang="0">
                  <a:pos x="T2" y="T3"/>
                </a:cxn>
                <a:cxn ang="0">
                  <a:pos x="T4" y="T5"/>
                </a:cxn>
                <a:cxn ang="0">
                  <a:pos x="T6" y="T7"/>
                </a:cxn>
                <a:cxn ang="0">
                  <a:pos x="T8" y="T9"/>
                </a:cxn>
              </a:cxnLst>
              <a:rect l="0" t="0" r="r" b="b"/>
              <a:pathLst>
                <a:path w="86" h="86">
                  <a:moveTo>
                    <a:pt x="85" y="43"/>
                  </a:moveTo>
                  <a:cubicBezTo>
                    <a:pt x="85" y="66"/>
                    <a:pt x="66" y="85"/>
                    <a:pt x="43" y="85"/>
                  </a:cubicBezTo>
                  <a:cubicBezTo>
                    <a:pt x="19" y="85"/>
                    <a:pt x="0" y="66"/>
                    <a:pt x="0" y="43"/>
                  </a:cubicBezTo>
                  <a:cubicBezTo>
                    <a:pt x="0" y="19"/>
                    <a:pt x="19" y="0"/>
                    <a:pt x="43" y="0"/>
                  </a:cubicBezTo>
                  <a:cubicBezTo>
                    <a:pt x="66" y="0"/>
                    <a:pt x="85" y="19"/>
                    <a:pt x="85" y="4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 name="Freeform 208">
              <a:extLst>
                <a:ext uri="{FF2B5EF4-FFF2-40B4-BE49-F238E27FC236}">
                  <a16:creationId xmlns:a16="http://schemas.microsoft.com/office/drawing/2014/main" id="{FA97CD3F-1551-06B3-85F3-A9CA52C69FB5}"/>
                </a:ext>
              </a:extLst>
            </p:cNvPr>
            <p:cNvSpPr>
              <a:spLocks noChangeArrowheads="1"/>
            </p:cNvSpPr>
            <p:nvPr/>
          </p:nvSpPr>
          <p:spPr bwMode="auto">
            <a:xfrm>
              <a:off x="8008938" y="2613025"/>
              <a:ext cx="31750" cy="30163"/>
            </a:xfrm>
            <a:custGeom>
              <a:avLst/>
              <a:gdLst>
                <a:gd name="T0" fmla="*/ 85 w 86"/>
                <a:gd name="T1" fmla="*/ 42 h 85"/>
                <a:gd name="T2" fmla="*/ 43 w 86"/>
                <a:gd name="T3" fmla="*/ 84 h 85"/>
                <a:gd name="T4" fmla="*/ 0 w 86"/>
                <a:gd name="T5" fmla="*/ 42 h 85"/>
                <a:gd name="T6" fmla="*/ 43 w 86"/>
                <a:gd name="T7" fmla="*/ 0 h 85"/>
                <a:gd name="T8" fmla="*/ 85 w 86"/>
                <a:gd name="T9" fmla="*/ 42 h 85"/>
              </a:gdLst>
              <a:ahLst/>
              <a:cxnLst>
                <a:cxn ang="0">
                  <a:pos x="T0" y="T1"/>
                </a:cxn>
                <a:cxn ang="0">
                  <a:pos x="T2" y="T3"/>
                </a:cxn>
                <a:cxn ang="0">
                  <a:pos x="T4" y="T5"/>
                </a:cxn>
                <a:cxn ang="0">
                  <a:pos x="T6" y="T7"/>
                </a:cxn>
                <a:cxn ang="0">
                  <a:pos x="T8" y="T9"/>
                </a:cxn>
              </a:cxnLst>
              <a:rect l="0" t="0" r="r" b="b"/>
              <a:pathLst>
                <a:path w="86" h="85">
                  <a:moveTo>
                    <a:pt x="85" y="42"/>
                  </a:moveTo>
                  <a:cubicBezTo>
                    <a:pt x="85" y="65"/>
                    <a:pt x="66" y="84"/>
                    <a:pt x="43" y="84"/>
                  </a:cubicBezTo>
                  <a:cubicBezTo>
                    <a:pt x="19" y="84"/>
                    <a:pt x="0" y="65"/>
                    <a:pt x="0" y="42"/>
                  </a:cubicBezTo>
                  <a:cubicBezTo>
                    <a:pt x="0" y="19"/>
                    <a:pt x="19" y="0"/>
                    <a:pt x="43" y="0"/>
                  </a:cubicBezTo>
                  <a:cubicBezTo>
                    <a:pt x="66" y="0"/>
                    <a:pt x="85" y="19"/>
                    <a:pt x="85" y="42"/>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 name="Freeform 209">
              <a:extLst>
                <a:ext uri="{FF2B5EF4-FFF2-40B4-BE49-F238E27FC236}">
                  <a16:creationId xmlns:a16="http://schemas.microsoft.com/office/drawing/2014/main" id="{F29751F2-2472-10B7-2B63-F64747824700}"/>
                </a:ext>
              </a:extLst>
            </p:cNvPr>
            <p:cNvSpPr>
              <a:spLocks noChangeArrowheads="1"/>
            </p:cNvSpPr>
            <p:nvPr/>
          </p:nvSpPr>
          <p:spPr bwMode="auto">
            <a:xfrm>
              <a:off x="8080375" y="2506663"/>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 name="Freeform 210">
              <a:extLst>
                <a:ext uri="{FF2B5EF4-FFF2-40B4-BE49-F238E27FC236}">
                  <a16:creationId xmlns:a16="http://schemas.microsoft.com/office/drawing/2014/main" id="{CE37FE3B-8266-BE66-54BC-199D63CA6D5B}"/>
                </a:ext>
              </a:extLst>
            </p:cNvPr>
            <p:cNvSpPr>
              <a:spLocks noChangeArrowheads="1"/>
            </p:cNvSpPr>
            <p:nvPr/>
          </p:nvSpPr>
          <p:spPr bwMode="auto">
            <a:xfrm>
              <a:off x="8080375" y="2566988"/>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Freeform 211">
              <a:extLst>
                <a:ext uri="{FF2B5EF4-FFF2-40B4-BE49-F238E27FC236}">
                  <a16:creationId xmlns:a16="http://schemas.microsoft.com/office/drawing/2014/main" id="{FDECFAA9-C93E-9E45-C041-E89B495CAE7E}"/>
                </a:ext>
              </a:extLst>
            </p:cNvPr>
            <p:cNvSpPr>
              <a:spLocks noChangeArrowheads="1"/>
            </p:cNvSpPr>
            <p:nvPr/>
          </p:nvSpPr>
          <p:spPr bwMode="auto">
            <a:xfrm>
              <a:off x="8080375" y="2627313"/>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5" name="TextBox 174">
            <a:extLst>
              <a:ext uri="{FF2B5EF4-FFF2-40B4-BE49-F238E27FC236}">
                <a16:creationId xmlns:a16="http://schemas.microsoft.com/office/drawing/2014/main" id="{221ABD2B-2D45-0143-75CA-C0D8035263E3}"/>
              </a:ext>
            </a:extLst>
          </p:cNvPr>
          <p:cNvSpPr txBox="1"/>
          <p:nvPr/>
        </p:nvSpPr>
        <p:spPr>
          <a:xfrm>
            <a:off x="6101158" y="5004969"/>
            <a:ext cx="80502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Fira Sans" panose="020B0503050000020004" pitchFamily="34" charset="0"/>
                <a:ea typeface="+mn-ea"/>
                <a:cs typeface="+mn-cs"/>
              </a:rPr>
              <a:t>Playback</a:t>
            </a:r>
          </a:p>
        </p:txBody>
      </p:sp>
      <p:sp>
        <p:nvSpPr>
          <p:cNvPr id="76" name="TextBox 75">
            <a:extLst>
              <a:ext uri="{FF2B5EF4-FFF2-40B4-BE49-F238E27FC236}">
                <a16:creationId xmlns:a16="http://schemas.microsoft.com/office/drawing/2014/main" id="{70B197B0-5BB5-33B2-018F-CE9DF019F3CE}"/>
              </a:ext>
            </a:extLst>
          </p:cNvPr>
          <p:cNvSpPr txBox="1"/>
          <p:nvPr/>
        </p:nvSpPr>
        <p:spPr>
          <a:xfrm>
            <a:off x="5508845" y="1122906"/>
            <a:ext cx="365356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Solution Assessment &amp; Discovery</a:t>
            </a:r>
          </a:p>
        </p:txBody>
      </p:sp>
      <p:grpSp>
        <p:nvGrpSpPr>
          <p:cNvPr id="79" name="Group 78">
            <a:extLst>
              <a:ext uri="{FF2B5EF4-FFF2-40B4-BE49-F238E27FC236}">
                <a16:creationId xmlns:a16="http://schemas.microsoft.com/office/drawing/2014/main" id="{441A0A95-0781-8E5E-4CDD-8B40C6A2526B}"/>
              </a:ext>
            </a:extLst>
          </p:cNvPr>
          <p:cNvGrpSpPr/>
          <p:nvPr/>
        </p:nvGrpSpPr>
        <p:grpSpPr>
          <a:xfrm>
            <a:off x="4668902" y="1669583"/>
            <a:ext cx="600846" cy="545789"/>
            <a:chOff x="3072606" y="838201"/>
            <a:chExt cx="398462" cy="361950"/>
          </a:xfrm>
        </p:grpSpPr>
        <p:sp>
          <p:nvSpPr>
            <p:cNvPr id="80" name="Freeform 50">
              <a:extLst>
                <a:ext uri="{FF2B5EF4-FFF2-40B4-BE49-F238E27FC236}">
                  <a16:creationId xmlns:a16="http://schemas.microsoft.com/office/drawing/2014/main" id="{0680B5A0-BB3D-1CA8-D0F4-79F6A4C57BEE}"/>
                </a:ext>
              </a:extLst>
            </p:cNvPr>
            <p:cNvSpPr>
              <a:spLocks noChangeArrowheads="1"/>
            </p:cNvSpPr>
            <p:nvPr/>
          </p:nvSpPr>
          <p:spPr bwMode="auto">
            <a:xfrm>
              <a:off x="3150393" y="838201"/>
              <a:ext cx="96838" cy="44450"/>
            </a:xfrm>
            <a:custGeom>
              <a:avLst/>
              <a:gdLst>
                <a:gd name="T0" fmla="*/ 25 w 267"/>
                <a:gd name="T1" fmla="*/ 0 h 122"/>
                <a:gd name="T2" fmla="*/ 7 w 267"/>
                <a:gd name="T3" fmla="*/ 29 h 122"/>
                <a:gd name="T4" fmla="*/ 53 w 267"/>
                <a:gd name="T5" fmla="*/ 121 h 122"/>
                <a:gd name="T6" fmla="*/ 214 w 267"/>
                <a:gd name="T7" fmla="*/ 121 h 122"/>
                <a:gd name="T8" fmla="*/ 259 w 267"/>
                <a:gd name="T9" fmla="*/ 29 h 122"/>
                <a:gd name="T10" fmla="*/ 241 w 267"/>
                <a:gd name="T11" fmla="*/ 0 h 122"/>
                <a:gd name="T12" fmla="*/ 25 w 267"/>
                <a:gd name="T13" fmla="*/ 0 h 122"/>
              </a:gdLst>
              <a:ahLst/>
              <a:cxnLst>
                <a:cxn ang="0">
                  <a:pos x="T0" y="T1"/>
                </a:cxn>
                <a:cxn ang="0">
                  <a:pos x="T2" y="T3"/>
                </a:cxn>
                <a:cxn ang="0">
                  <a:pos x="T4" y="T5"/>
                </a:cxn>
                <a:cxn ang="0">
                  <a:pos x="T6" y="T7"/>
                </a:cxn>
                <a:cxn ang="0">
                  <a:pos x="T8" y="T9"/>
                </a:cxn>
                <a:cxn ang="0">
                  <a:pos x="T10" y="T11"/>
                </a:cxn>
                <a:cxn ang="0">
                  <a:pos x="T12" y="T13"/>
                </a:cxn>
              </a:cxnLst>
              <a:rect l="0" t="0" r="r" b="b"/>
              <a:pathLst>
                <a:path w="267" h="122">
                  <a:moveTo>
                    <a:pt x="25" y="0"/>
                  </a:moveTo>
                  <a:cubicBezTo>
                    <a:pt x="10" y="0"/>
                    <a:pt x="0" y="16"/>
                    <a:pt x="7" y="29"/>
                  </a:cubicBezTo>
                  <a:cubicBezTo>
                    <a:pt x="22" y="60"/>
                    <a:pt x="37" y="90"/>
                    <a:pt x="53" y="121"/>
                  </a:cubicBezTo>
                  <a:cubicBezTo>
                    <a:pt x="106" y="121"/>
                    <a:pt x="160" y="121"/>
                    <a:pt x="214" y="121"/>
                  </a:cubicBezTo>
                  <a:cubicBezTo>
                    <a:pt x="229" y="90"/>
                    <a:pt x="244" y="60"/>
                    <a:pt x="259" y="29"/>
                  </a:cubicBezTo>
                  <a:cubicBezTo>
                    <a:pt x="266" y="16"/>
                    <a:pt x="256" y="0"/>
                    <a:pt x="241" y="0"/>
                  </a:cubicBezTo>
                  <a:cubicBezTo>
                    <a:pt x="169" y="0"/>
                    <a:pt x="97" y="0"/>
                    <a:pt x="25"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1" name="Freeform 51">
              <a:extLst>
                <a:ext uri="{FF2B5EF4-FFF2-40B4-BE49-F238E27FC236}">
                  <a16:creationId xmlns:a16="http://schemas.microsoft.com/office/drawing/2014/main" id="{73E48863-667F-D6A4-B5AC-8B11BFC77081}"/>
                </a:ext>
              </a:extLst>
            </p:cNvPr>
            <p:cNvSpPr>
              <a:spLocks noChangeArrowheads="1"/>
            </p:cNvSpPr>
            <p:nvPr/>
          </p:nvSpPr>
          <p:spPr bwMode="auto">
            <a:xfrm>
              <a:off x="3296443" y="838201"/>
              <a:ext cx="96838" cy="44450"/>
            </a:xfrm>
            <a:custGeom>
              <a:avLst/>
              <a:gdLst>
                <a:gd name="T0" fmla="*/ 25 w 267"/>
                <a:gd name="T1" fmla="*/ 0 h 122"/>
                <a:gd name="T2" fmla="*/ 7 w 267"/>
                <a:gd name="T3" fmla="*/ 29 h 122"/>
                <a:gd name="T4" fmla="*/ 53 w 267"/>
                <a:gd name="T5" fmla="*/ 121 h 122"/>
                <a:gd name="T6" fmla="*/ 214 w 267"/>
                <a:gd name="T7" fmla="*/ 121 h 122"/>
                <a:gd name="T8" fmla="*/ 260 w 267"/>
                <a:gd name="T9" fmla="*/ 29 h 122"/>
                <a:gd name="T10" fmla="*/ 242 w 267"/>
                <a:gd name="T11" fmla="*/ 0 h 122"/>
                <a:gd name="T12" fmla="*/ 25 w 267"/>
                <a:gd name="T13" fmla="*/ 0 h 122"/>
              </a:gdLst>
              <a:ahLst/>
              <a:cxnLst>
                <a:cxn ang="0">
                  <a:pos x="T0" y="T1"/>
                </a:cxn>
                <a:cxn ang="0">
                  <a:pos x="T2" y="T3"/>
                </a:cxn>
                <a:cxn ang="0">
                  <a:pos x="T4" y="T5"/>
                </a:cxn>
                <a:cxn ang="0">
                  <a:pos x="T6" y="T7"/>
                </a:cxn>
                <a:cxn ang="0">
                  <a:pos x="T8" y="T9"/>
                </a:cxn>
                <a:cxn ang="0">
                  <a:pos x="T10" y="T11"/>
                </a:cxn>
                <a:cxn ang="0">
                  <a:pos x="T12" y="T13"/>
                </a:cxn>
              </a:cxnLst>
              <a:rect l="0" t="0" r="r" b="b"/>
              <a:pathLst>
                <a:path w="267" h="122">
                  <a:moveTo>
                    <a:pt x="25" y="0"/>
                  </a:moveTo>
                  <a:cubicBezTo>
                    <a:pt x="10" y="0"/>
                    <a:pt x="0" y="16"/>
                    <a:pt x="7" y="29"/>
                  </a:cubicBezTo>
                  <a:cubicBezTo>
                    <a:pt x="22" y="60"/>
                    <a:pt x="37" y="90"/>
                    <a:pt x="53" y="121"/>
                  </a:cubicBezTo>
                  <a:cubicBezTo>
                    <a:pt x="106" y="121"/>
                    <a:pt x="160" y="121"/>
                    <a:pt x="214" y="121"/>
                  </a:cubicBezTo>
                  <a:cubicBezTo>
                    <a:pt x="229" y="90"/>
                    <a:pt x="244" y="60"/>
                    <a:pt x="260" y="29"/>
                  </a:cubicBezTo>
                  <a:cubicBezTo>
                    <a:pt x="266" y="16"/>
                    <a:pt x="256" y="0"/>
                    <a:pt x="242" y="0"/>
                  </a:cubicBezTo>
                  <a:cubicBezTo>
                    <a:pt x="169" y="0"/>
                    <a:pt x="97" y="0"/>
                    <a:pt x="25"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83" name="Freeform 52">
              <a:extLst>
                <a:ext uri="{FF2B5EF4-FFF2-40B4-BE49-F238E27FC236}">
                  <a16:creationId xmlns:a16="http://schemas.microsoft.com/office/drawing/2014/main" id="{984ED785-8FED-9122-9D32-E646EE902DF8}"/>
                </a:ext>
              </a:extLst>
            </p:cNvPr>
            <p:cNvSpPr>
              <a:spLocks noChangeArrowheads="1"/>
            </p:cNvSpPr>
            <p:nvPr/>
          </p:nvSpPr>
          <p:spPr bwMode="auto">
            <a:xfrm>
              <a:off x="3242468" y="946151"/>
              <a:ext cx="1588" cy="49212"/>
            </a:xfrm>
            <a:custGeom>
              <a:avLst/>
              <a:gdLst>
                <a:gd name="T0" fmla="*/ 0 w 1"/>
                <a:gd name="T1" fmla="*/ 0 h 135"/>
                <a:gd name="T2" fmla="*/ 0 w 1"/>
                <a:gd name="T3" fmla="*/ 134 h 135"/>
              </a:gdLst>
              <a:ahLst/>
              <a:cxnLst>
                <a:cxn ang="0">
                  <a:pos x="T0" y="T1"/>
                </a:cxn>
                <a:cxn ang="0">
                  <a:pos x="T2" y="T3"/>
                </a:cxn>
              </a:cxnLst>
              <a:rect l="0" t="0" r="r" b="b"/>
              <a:pathLst>
                <a:path w="1" h="135">
                  <a:moveTo>
                    <a:pt x="0" y="0"/>
                  </a:moveTo>
                  <a:cubicBezTo>
                    <a:pt x="0" y="45"/>
                    <a:pt x="0" y="89"/>
                    <a:pt x="0" y="13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4" name="Freeform 53">
              <a:extLst>
                <a:ext uri="{FF2B5EF4-FFF2-40B4-BE49-F238E27FC236}">
                  <a16:creationId xmlns:a16="http://schemas.microsoft.com/office/drawing/2014/main" id="{2F8EBFA3-26CC-FD87-E610-5C7FA0A83772}"/>
                </a:ext>
              </a:extLst>
            </p:cNvPr>
            <p:cNvSpPr>
              <a:spLocks noChangeArrowheads="1"/>
            </p:cNvSpPr>
            <p:nvPr/>
          </p:nvSpPr>
          <p:spPr bwMode="auto">
            <a:xfrm>
              <a:off x="3301206" y="946151"/>
              <a:ext cx="1587" cy="49212"/>
            </a:xfrm>
            <a:custGeom>
              <a:avLst/>
              <a:gdLst>
                <a:gd name="T0" fmla="*/ 0 w 1"/>
                <a:gd name="T1" fmla="*/ 0 h 135"/>
                <a:gd name="T2" fmla="*/ 0 w 1"/>
                <a:gd name="T3" fmla="*/ 134 h 135"/>
              </a:gdLst>
              <a:ahLst/>
              <a:cxnLst>
                <a:cxn ang="0">
                  <a:pos x="T0" y="T1"/>
                </a:cxn>
                <a:cxn ang="0">
                  <a:pos x="T2" y="T3"/>
                </a:cxn>
              </a:cxnLst>
              <a:rect l="0" t="0" r="r" b="b"/>
              <a:pathLst>
                <a:path w="1" h="135">
                  <a:moveTo>
                    <a:pt x="0" y="0"/>
                  </a:moveTo>
                  <a:cubicBezTo>
                    <a:pt x="0" y="45"/>
                    <a:pt x="0" y="89"/>
                    <a:pt x="0" y="13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5" name="Freeform 54">
              <a:extLst>
                <a:ext uri="{FF2B5EF4-FFF2-40B4-BE49-F238E27FC236}">
                  <a16:creationId xmlns:a16="http://schemas.microsoft.com/office/drawing/2014/main" id="{B2D65DF8-04D0-0EAE-D9A7-FC604E47DD8F}"/>
                </a:ext>
              </a:extLst>
            </p:cNvPr>
            <p:cNvSpPr>
              <a:spLocks noChangeArrowheads="1"/>
            </p:cNvSpPr>
            <p:nvPr/>
          </p:nvSpPr>
          <p:spPr bwMode="auto">
            <a:xfrm>
              <a:off x="3204368" y="909638"/>
              <a:ext cx="133350" cy="36513"/>
            </a:xfrm>
            <a:custGeom>
              <a:avLst/>
              <a:gdLst>
                <a:gd name="T0" fmla="*/ 0 w 370"/>
                <a:gd name="T1" fmla="*/ 0 h 101"/>
                <a:gd name="T2" fmla="*/ 0 w 370"/>
                <a:gd name="T3" fmla="*/ 60 h 101"/>
                <a:gd name="T4" fmla="*/ 40 w 370"/>
                <a:gd name="T5" fmla="*/ 100 h 101"/>
                <a:gd name="T6" fmla="*/ 328 w 370"/>
                <a:gd name="T7" fmla="*/ 100 h 101"/>
                <a:gd name="T8" fmla="*/ 369 w 370"/>
                <a:gd name="T9" fmla="*/ 60 h 101"/>
                <a:gd name="T10" fmla="*/ 369 w 370"/>
                <a:gd name="T11" fmla="*/ 0 h 101"/>
              </a:gdLst>
              <a:ahLst/>
              <a:cxnLst>
                <a:cxn ang="0">
                  <a:pos x="T0" y="T1"/>
                </a:cxn>
                <a:cxn ang="0">
                  <a:pos x="T2" y="T3"/>
                </a:cxn>
                <a:cxn ang="0">
                  <a:pos x="T4" y="T5"/>
                </a:cxn>
                <a:cxn ang="0">
                  <a:pos x="T6" y="T7"/>
                </a:cxn>
                <a:cxn ang="0">
                  <a:pos x="T8" y="T9"/>
                </a:cxn>
                <a:cxn ang="0">
                  <a:pos x="T10" y="T11"/>
                </a:cxn>
              </a:cxnLst>
              <a:rect l="0" t="0" r="r" b="b"/>
              <a:pathLst>
                <a:path w="370" h="101">
                  <a:moveTo>
                    <a:pt x="0" y="0"/>
                  </a:moveTo>
                  <a:cubicBezTo>
                    <a:pt x="0" y="20"/>
                    <a:pt x="0" y="40"/>
                    <a:pt x="0" y="60"/>
                  </a:cubicBezTo>
                  <a:cubicBezTo>
                    <a:pt x="0" y="82"/>
                    <a:pt x="18" y="100"/>
                    <a:pt x="40" y="100"/>
                  </a:cubicBezTo>
                  <a:cubicBezTo>
                    <a:pt x="136" y="100"/>
                    <a:pt x="232" y="100"/>
                    <a:pt x="328" y="100"/>
                  </a:cubicBezTo>
                  <a:cubicBezTo>
                    <a:pt x="351" y="100"/>
                    <a:pt x="369" y="82"/>
                    <a:pt x="369" y="60"/>
                  </a:cubicBezTo>
                  <a:cubicBezTo>
                    <a:pt x="369" y="40"/>
                    <a:pt x="369" y="20"/>
                    <a:pt x="369"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8" name="Freeform 55">
              <a:extLst>
                <a:ext uri="{FF2B5EF4-FFF2-40B4-BE49-F238E27FC236}">
                  <a16:creationId xmlns:a16="http://schemas.microsoft.com/office/drawing/2014/main" id="{B591B862-7CC4-EB19-D47A-A8B64584D964}"/>
                </a:ext>
              </a:extLst>
            </p:cNvPr>
            <p:cNvSpPr>
              <a:spLocks noChangeArrowheads="1"/>
            </p:cNvSpPr>
            <p:nvPr/>
          </p:nvSpPr>
          <p:spPr bwMode="auto">
            <a:xfrm>
              <a:off x="3077368" y="909638"/>
              <a:ext cx="387350" cy="157163"/>
            </a:xfrm>
            <a:custGeom>
              <a:avLst/>
              <a:gdLst>
                <a:gd name="T0" fmla="*/ 618 w 1076"/>
                <a:gd name="T1" fmla="*/ 335 h 436"/>
                <a:gd name="T2" fmla="*/ 618 w 1076"/>
                <a:gd name="T3" fmla="*/ 395 h 436"/>
                <a:gd name="T4" fmla="*/ 658 w 1076"/>
                <a:gd name="T5" fmla="*/ 435 h 436"/>
                <a:gd name="T6" fmla="*/ 1040 w 1076"/>
                <a:gd name="T7" fmla="*/ 435 h 436"/>
                <a:gd name="T8" fmla="*/ 1066 w 1076"/>
                <a:gd name="T9" fmla="*/ 423 h 436"/>
                <a:gd name="T10" fmla="*/ 1073 w 1076"/>
                <a:gd name="T11" fmla="*/ 394 h 436"/>
                <a:gd name="T12" fmla="*/ 1003 w 1076"/>
                <a:gd name="T13" fmla="*/ 93 h 436"/>
                <a:gd name="T14" fmla="*/ 886 w 1076"/>
                <a:gd name="T15" fmla="*/ 0 h 436"/>
                <a:gd name="T16" fmla="*/ 189 w 1076"/>
                <a:gd name="T17" fmla="*/ 0 h 436"/>
                <a:gd name="T18" fmla="*/ 71 w 1076"/>
                <a:gd name="T19" fmla="*/ 93 h 436"/>
                <a:gd name="T20" fmla="*/ 2 w 1076"/>
                <a:gd name="T21" fmla="*/ 394 h 436"/>
                <a:gd name="T22" fmla="*/ 8 w 1076"/>
                <a:gd name="T23" fmla="*/ 423 h 436"/>
                <a:gd name="T24" fmla="*/ 35 w 1076"/>
                <a:gd name="T25" fmla="*/ 435 h 436"/>
                <a:gd name="T26" fmla="*/ 417 w 1076"/>
                <a:gd name="T27" fmla="*/ 435 h 436"/>
                <a:gd name="T28" fmla="*/ 457 w 1076"/>
                <a:gd name="T29" fmla="*/ 395 h 436"/>
                <a:gd name="T30" fmla="*/ 457 w 1076"/>
                <a:gd name="T31" fmla="*/ 335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76" h="436">
                  <a:moveTo>
                    <a:pt x="618" y="335"/>
                  </a:moveTo>
                  <a:cubicBezTo>
                    <a:pt x="618" y="355"/>
                    <a:pt x="618" y="375"/>
                    <a:pt x="618" y="395"/>
                  </a:cubicBezTo>
                  <a:cubicBezTo>
                    <a:pt x="618" y="417"/>
                    <a:pt x="636" y="435"/>
                    <a:pt x="658" y="435"/>
                  </a:cubicBezTo>
                  <a:cubicBezTo>
                    <a:pt x="785" y="435"/>
                    <a:pt x="912" y="435"/>
                    <a:pt x="1040" y="435"/>
                  </a:cubicBezTo>
                  <a:cubicBezTo>
                    <a:pt x="1050" y="435"/>
                    <a:pt x="1059" y="431"/>
                    <a:pt x="1066" y="423"/>
                  </a:cubicBezTo>
                  <a:cubicBezTo>
                    <a:pt x="1072" y="415"/>
                    <a:pt x="1075" y="404"/>
                    <a:pt x="1073" y="394"/>
                  </a:cubicBezTo>
                  <a:cubicBezTo>
                    <a:pt x="1049" y="294"/>
                    <a:pt x="1026" y="193"/>
                    <a:pt x="1003" y="93"/>
                  </a:cubicBezTo>
                  <a:cubicBezTo>
                    <a:pt x="990" y="38"/>
                    <a:pt x="942" y="0"/>
                    <a:pt x="886" y="0"/>
                  </a:cubicBezTo>
                  <a:cubicBezTo>
                    <a:pt x="653" y="0"/>
                    <a:pt x="421" y="0"/>
                    <a:pt x="189" y="0"/>
                  </a:cubicBezTo>
                  <a:cubicBezTo>
                    <a:pt x="133" y="0"/>
                    <a:pt x="84" y="38"/>
                    <a:pt x="71" y="93"/>
                  </a:cubicBezTo>
                  <a:cubicBezTo>
                    <a:pt x="48" y="193"/>
                    <a:pt x="25" y="294"/>
                    <a:pt x="2" y="394"/>
                  </a:cubicBezTo>
                  <a:cubicBezTo>
                    <a:pt x="0" y="404"/>
                    <a:pt x="2" y="415"/>
                    <a:pt x="8" y="423"/>
                  </a:cubicBezTo>
                  <a:cubicBezTo>
                    <a:pt x="15" y="431"/>
                    <a:pt x="24" y="435"/>
                    <a:pt x="35" y="435"/>
                  </a:cubicBezTo>
                  <a:cubicBezTo>
                    <a:pt x="162" y="435"/>
                    <a:pt x="289" y="435"/>
                    <a:pt x="417" y="435"/>
                  </a:cubicBezTo>
                  <a:cubicBezTo>
                    <a:pt x="439" y="435"/>
                    <a:pt x="457" y="417"/>
                    <a:pt x="457" y="395"/>
                  </a:cubicBezTo>
                  <a:cubicBezTo>
                    <a:pt x="457" y="375"/>
                    <a:pt x="457" y="355"/>
                    <a:pt x="457" y="335"/>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99" name="Freeform 56">
              <a:extLst>
                <a:ext uri="{FF2B5EF4-FFF2-40B4-BE49-F238E27FC236}">
                  <a16:creationId xmlns:a16="http://schemas.microsoft.com/office/drawing/2014/main" id="{D2EA9FEA-F62C-F31F-E559-821A82D2A671}"/>
                </a:ext>
              </a:extLst>
            </p:cNvPr>
            <p:cNvSpPr>
              <a:spLocks noChangeArrowheads="1"/>
            </p:cNvSpPr>
            <p:nvPr/>
          </p:nvSpPr>
          <p:spPr bwMode="auto">
            <a:xfrm>
              <a:off x="3301206" y="1150938"/>
              <a:ext cx="169862" cy="1588"/>
            </a:xfrm>
            <a:custGeom>
              <a:avLst/>
              <a:gdLst>
                <a:gd name="T0" fmla="*/ 0 w 470"/>
                <a:gd name="T1" fmla="*/ 0 h 1"/>
                <a:gd name="T2" fmla="*/ 469 w 470"/>
                <a:gd name="T3" fmla="*/ 0 h 1"/>
              </a:gdLst>
              <a:ahLst/>
              <a:cxnLst>
                <a:cxn ang="0">
                  <a:pos x="T0" y="T1"/>
                </a:cxn>
                <a:cxn ang="0">
                  <a:pos x="T2" y="T3"/>
                </a:cxn>
              </a:cxnLst>
              <a:rect l="0" t="0" r="r" b="b"/>
              <a:pathLst>
                <a:path w="470" h="1">
                  <a:moveTo>
                    <a:pt x="0" y="0"/>
                  </a:moveTo>
                  <a:cubicBezTo>
                    <a:pt x="156" y="0"/>
                    <a:pt x="312" y="0"/>
                    <a:pt x="469"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0" name="Freeform 57">
              <a:extLst>
                <a:ext uri="{FF2B5EF4-FFF2-40B4-BE49-F238E27FC236}">
                  <a16:creationId xmlns:a16="http://schemas.microsoft.com/office/drawing/2014/main" id="{232C63C8-5617-DF91-280E-724F32DB634B}"/>
                </a:ext>
              </a:extLst>
            </p:cNvPr>
            <p:cNvSpPr>
              <a:spLocks noChangeArrowheads="1"/>
            </p:cNvSpPr>
            <p:nvPr/>
          </p:nvSpPr>
          <p:spPr bwMode="auto">
            <a:xfrm>
              <a:off x="3301206" y="1066801"/>
              <a:ext cx="169862" cy="133350"/>
            </a:xfrm>
            <a:custGeom>
              <a:avLst/>
              <a:gdLst>
                <a:gd name="T0" fmla="*/ 389 w 470"/>
                <a:gd name="T1" fmla="*/ 0 h 370"/>
                <a:gd name="T2" fmla="*/ 469 w 470"/>
                <a:gd name="T3" fmla="*/ 235 h 370"/>
                <a:gd name="T4" fmla="*/ 469 w 470"/>
                <a:gd name="T5" fmla="*/ 349 h 370"/>
                <a:gd name="T6" fmla="*/ 449 w 470"/>
                <a:gd name="T7" fmla="*/ 369 h 370"/>
                <a:gd name="T8" fmla="*/ 20 w 470"/>
                <a:gd name="T9" fmla="*/ 369 h 370"/>
                <a:gd name="T10" fmla="*/ 0 w 470"/>
                <a:gd name="T11" fmla="*/ 349 h 370"/>
                <a:gd name="T12" fmla="*/ 0 w 470"/>
                <a:gd name="T13" fmla="*/ 235 h 370"/>
                <a:gd name="T14" fmla="*/ 80 w 470"/>
                <a:gd name="T15" fmla="*/ 0 h 3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0" h="370">
                  <a:moveTo>
                    <a:pt x="389" y="0"/>
                  </a:moveTo>
                  <a:cubicBezTo>
                    <a:pt x="415" y="78"/>
                    <a:pt x="442" y="157"/>
                    <a:pt x="469" y="235"/>
                  </a:cubicBezTo>
                  <a:cubicBezTo>
                    <a:pt x="469" y="273"/>
                    <a:pt x="469" y="311"/>
                    <a:pt x="469" y="349"/>
                  </a:cubicBezTo>
                  <a:cubicBezTo>
                    <a:pt x="469" y="360"/>
                    <a:pt x="460" y="369"/>
                    <a:pt x="449" y="369"/>
                  </a:cubicBezTo>
                  <a:cubicBezTo>
                    <a:pt x="306" y="369"/>
                    <a:pt x="163" y="369"/>
                    <a:pt x="20" y="369"/>
                  </a:cubicBezTo>
                  <a:cubicBezTo>
                    <a:pt x="9" y="369"/>
                    <a:pt x="0" y="360"/>
                    <a:pt x="0" y="349"/>
                  </a:cubicBezTo>
                  <a:cubicBezTo>
                    <a:pt x="0" y="311"/>
                    <a:pt x="0" y="273"/>
                    <a:pt x="0" y="235"/>
                  </a:cubicBezTo>
                  <a:cubicBezTo>
                    <a:pt x="26" y="157"/>
                    <a:pt x="53" y="78"/>
                    <a:pt x="8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1" name="Freeform 58">
              <a:extLst>
                <a:ext uri="{FF2B5EF4-FFF2-40B4-BE49-F238E27FC236}">
                  <a16:creationId xmlns:a16="http://schemas.microsoft.com/office/drawing/2014/main" id="{CD50BDFB-0703-BB28-70F9-17DE706E90F1}"/>
                </a:ext>
              </a:extLst>
            </p:cNvPr>
            <p:cNvSpPr>
              <a:spLocks noChangeArrowheads="1"/>
            </p:cNvSpPr>
            <p:nvPr/>
          </p:nvSpPr>
          <p:spPr bwMode="auto">
            <a:xfrm>
              <a:off x="3072606" y="1150938"/>
              <a:ext cx="169862" cy="1588"/>
            </a:xfrm>
            <a:custGeom>
              <a:avLst/>
              <a:gdLst>
                <a:gd name="T0" fmla="*/ 0 w 470"/>
                <a:gd name="T1" fmla="*/ 0 h 1"/>
                <a:gd name="T2" fmla="*/ 469 w 470"/>
                <a:gd name="T3" fmla="*/ 0 h 1"/>
              </a:gdLst>
              <a:ahLst/>
              <a:cxnLst>
                <a:cxn ang="0">
                  <a:pos x="T0" y="T1"/>
                </a:cxn>
                <a:cxn ang="0">
                  <a:pos x="T2" y="T3"/>
                </a:cxn>
              </a:cxnLst>
              <a:rect l="0" t="0" r="r" b="b"/>
              <a:pathLst>
                <a:path w="470" h="1">
                  <a:moveTo>
                    <a:pt x="0" y="0"/>
                  </a:moveTo>
                  <a:cubicBezTo>
                    <a:pt x="156" y="0"/>
                    <a:pt x="312" y="0"/>
                    <a:pt x="469"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7" name="Freeform 59">
              <a:extLst>
                <a:ext uri="{FF2B5EF4-FFF2-40B4-BE49-F238E27FC236}">
                  <a16:creationId xmlns:a16="http://schemas.microsoft.com/office/drawing/2014/main" id="{B9EE176B-609D-855C-CE2F-1C91EC6F300C}"/>
                </a:ext>
              </a:extLst>
            </p:cNvPr>
            <p:cNvSpPr>
              <a:spLocks noChangeArrowheads="1"/>
            </p:cNvSpPr>
            <p:nvPr/>
          </p:nvSpPr>
          <p:spPr bwMode="auto">
            <a:xfrm>
              <a:off x="3072606" y="1066801"/>
              <a:ext cx="169862" cy="133350"/>
            </a:xfrm>
            <a:custGeom>
              <a:avLst/>
              <a:gdLst>
                <a:gd name="T0" fmla="*/ 389 w 470"/>
                <a:gd name="T1" fmla="*/ 0 h 370"/>
                <a:gd name="T2" fmla="*/ 469 w 470"/>
                <a:gd name="T3" fmla="*/ 235 h 370"/>
                <a:gd name="T4" fmla="*/ 469 w 470"/>
                <a:gd name="T5" fmla="*/ 349 h 370"/>
                <a:gd name="T6" fmla="*/ 449 w 470"/>
                <a:gd name="T7" fmla="*/ 369 h 370"/>
                <a:gd name="T8" fmla="*/ 20 w 470"/>
                <a:gd name="T9" fmla="*/ 369 h 370"/>
                <a:gd name="T10" fmla="*/ 0 w 470"/>
                <a:gd name="T11" fmla="*/ 349 h 370"/>
                <a:gd name="T12" fmla="*/ 0 w 470"/>
                <a:gd name="T13" fmla="*/ 235 h 370"/>
                <a:gd name="T14" fmla="*/ 81 w 470"/>
                <a:gd name="T15" fmla="*/ 0 h 3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0" h="370">
                  <a:moveTo>
                    <a:pt x="389" y="0"/>
                  </a:moveTo>
                  <a:cubicBezTo>
                    <a:pt x="415" y="78"/>
                    <a:pt x="442" y="157"/>
                    <a:pt x="469" y="235"/>
                  </a:cubicBezTo>
                  <a:cubicBezTo>
                    <a:pt x="469" y="273"/>
                    <a:pt x="469" y="311"/>
                    <a:pt x="469" y="349"/>
                  </a:cubicBezTo>
                  <a:cubicBezTo>
                    <a:pt x="469" y="360"/>
                    <a:pt x="460" y="369"/>
                    <a:pt x="449" y="369"/>
                  </a:cubicBezTo>
                  <a:cubicBezTo>
                    <a:pt x="306" y="369"/>
                    <a:pt x="163" y="369"/>
                    <a:pt x="20" y="369"/>
                  </a:cubicBezTo>
                  <a:cubicBezTo>
                    <a:pt x="9" y="369"/>
                    <a:pt x="0" y="360"/>
                    <a:pt x="0" y="349"/>
                  </a:cubicBezTo>
                  <a:cubicBezTo>
                    <a:pt x="0" y="311"/>
                    <a:pt x="0" y="273"/>
                    <a:pt x="0" y="235"/>
                  </a:cubicBezTo>
                  <a:cubicBezTo>
                    <a:pt x="27" y="157"/>
                    <a:pt x="54" y="78"/>
                    <a:pt x="81"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8" name="Freeform 60">
              <a:extLst>
                <a:ext uri="{FF2B5EF4-FFF2-40B4-BE49-F238E27FC236}">
                  <a16:creationId xmlns:a16="http://schemas.microsoft.com/office/drawing/2014/main" id="{80A766FB-B3E4-6918-154C-8E97059DF1AA}"/>
                </a:ext>
              </a:extLst>
            </p:cNvPr>
            <p:cNvSpPr>
              <a:spLocks noChangeArrowheads="1"/>
            </p:cNvSpPr>
            <p:nvPr/>
          </p:nvSpPr>
          <p:spPr bwMode="auto">
            <a:xfrm>
              <a:off x="3169443" y="881063"/>
              <a:ext cx="1588" cy="30163"/>
            </a:xfrm>
            <a:custGeom>
              <a:avLst/>
              <a:gdLst>
                <a:gd name="T0" fmla="*/ 0 w 1"/>
                <a:gd name="T1" fmla="*/ 81 h 82"/>
                <a:gd name="T2" fmla="*/ 0 w 1"/>
                <a:gd name="T3" fmla="*/ 0 h 82"/>
              </a:gdLst>
              <a:ahLst/>
              <a:cxnLst>
                <a:cxn ang="0">
                  <a:pos x="T0" y="T1"/>
                </a:cxn>
                <a:cxn ang="0">
                  <a:pos x="T2" y="T3"/>
                </a:cxn>
              </a:cxnLst>
              <a:rect l="0" t="0" r="r" b="b"/>
              <a:pathLst>
                <a:path w="1" h="82">
                  <a:moveTo>
                    <a:pt x="0" y="81"/>
                  </a:moveTo>
                  <a:cubicBezTo>
                    <a:pt x="0" y="54"/>
                    <a:pt x="0" y="27"/>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09" name="Freeform 61">
              <a:extLst>
                <a:ext uri="{FF2B5EF4-FFF2-40B4-BE49-F238E27FC236}">
                  <a16:creationId xmlns:a16="http://schemas.microsoft.com/office/drawing/2014/main" id="{A620C3D3-1C62-69B2-D920-A48056EE44DA}"/>
                </a:ext>
              </a:extLst>
            </p:cNvPr>
            <p:cNvSpPr>
              <a:spLocks noChangeArrowheads="1"/>
            </p:cNvSpPr>
            <p:nvPr/>
          </p:nvSpPr>
          <p:spPr bwMode="auto">
            <a:xfrm>
              <a:off x="3228181" y="881063"/>
              <a:ext cx="1587" cy="30163"/>
            </a:xfrm>
            <a:custGeom>
              <a:avLst/>
              <a:gdLst>
                <a:gd name="T0" fmla="*/ 0 w 1"/>
                <a:gd name="T1" fmla="*/ 81 h 82"/>
                <a:gd name="T2" fmla="*/ 0 w 1"/>
                <a:gd name="T3" fmla="*/ 0 h 82"/>
              </a:gdLst>
              <a:ahLst/>
              <a:cxnLst>
                <a:cxn ang="0">
                  <a:pos x="T0" y="T1"/>
                </a:cxn>
                <a:cxn ang="0">
                  <a:pos x="T2" y="T3"/>
                </a:cxn>
              </a:cxnLst>
              <a:rect l="0" t="0" r="r" b="b"/>
              <a:pathLst>
                <a:path w="1" h="82">
                  <a:moveTo>
                    <a:pt x="0" y="81"/>
                  </a:moveTo>
                  <a:cubicBezTo>
                    <a:pt x="0" y="54"/>
                    <a:pt x="0" y="27"/>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0" name="Freeform 62">
              <a:extLst>
                <a:ext uri="{FF2B5EF4-FFF2-40B4-BE49-F238E27FC236}">
                  <a16:creationId xmlns:a16="http://schemas.microsoft.com/office/drawing/2014/main" id="{A8434411-FB78-38EA-7BC8-785B5FC3C4B4}"/>
                </a:ext>
              </a:extLst>
            </p:cNvPr>
            <p:cNvSpPr>
              <a:spLocks noChangeArrowheads="1"/>
            </p:cNvSpPr>
            <p:nvPr/>
          </p:nvSpPr>
          <p:spPr bwMode="auto">
            <a:xfrm>
              <a:off x="3315493" y="881063"/>
              <a:ext cx="1588" cy="30163"/>
            </a:xfrm>
            <a:custGeom>
              <a:avLst/>
              <a:gdLst>
                <a:gd name="T0" fmla="*/ 0 w 1"/>
                <a:gd name="T1" fmla="*/ 81 h 82"/>
                <a:gd name="T2" fmla="*/ 0 w 1"/>
                <a:gd name="T3" fmla="*/ 0 h 82"/>
              </a:gdLst>
              <a:ahLst/>
              <a:cxnLst>
                <a:cxn ang="0">
                  <a:pos x="T0" y="T1"/>
                </a:cxn>
                <a:cxn ang="0">
                  <a:pos x="T2" y="T3"/>
                </a:cxn>
              </a:cxnLst>
              <a:rect l="0" t="0" r="r" b="b"/>
              <a:pathLst>
                <a:path w="1" h="82">
                  <a:moveTo>
                    <a:pt x="0" y="81"/>
                  </a:moveTo>
                  <a:cubicBezTo>
                    <a:pt x="0" y="54"/>
                    <a:pt x="0" y="27"/>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1" name="Freeform 63">
              <a:extLst>
                <a:ext uri="{FF2B5EF4-FFF2-40B4-BE49-F238E27FC236}">
                  <a16:creationId xmlns:a16="http://schemas.microsoft.com/office/drawing/2014/main" id="{A155AC1B-A00E-92F7-8383-77CB1CFAE2C1}"/>
                </a:ext>
              </a:extLst>
            </p:cNvPr>
            <p:cNvSpPr>
              <a:spLocks noChangeArrowheads="1"/>
            </p:cNvSpPr>
            <p:nvPr/>
          </p:nvSpPr>
          <p:spPr bwMode="auto">
            <a:xfrm>
              <a:off x="3372643" y="881063"/>
              <a:ext cx="1588" cy="30163"/>
            </a:xfrm>
            <a:custGeom>
              <a:avLst/>
              <a:gdLst>
                <a:gd name="T0" fmla="*/ 0 w 1"/>
                <a:gd name="T1" fmla="*/ 81 h 82"/>
                <a:gd name="T2" fmla="*/ 0 w 1"/>
                <a:gd name="T3" fmla="*/ 0 h 82"/>
              </a:gdLst>
              <a:ahLst/>
              <a:cxnLst>
                <a:cxn ang="0">
                  <a:pos x="T0" y="T1"/>
                </a:cxn>
                <a:cxn ang="0">
                  <a:pos x="T2" y="T3"/>
                </a:cxn>
              </a:cxnLst>
              <a:rect l="0" t="0" r="r" b="b"/>
              <a:pathLst>
                <a:path w="1" h="82">
                  <a:moveTo>
                    <a:pt x="0" y="81"/>
                  </a:moveTo>
                  <a:cubicBezTo>
                    <a:pt x="0" y="54"/>
                    <a:pt x="0" y="27"/>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2" name="Freeform 64">
              <a:extLst>
                <a:ext uri="{FF2B5EF4-FFF2-40B4-BE49-F238E27FC236}">
                  <a16:creationId xmlns:a16="http://schemas.microsoft.com/office/drawing/2014/main" id="{F1D37B79-7355-3EAB-8567-4E6FF50E3F6D}"/>
                </a:ext>
              </a:extLst>
            </p:cNvPr>
            <p:cNvSpPr>
              <a:spLocks noChangeArrowheads="1"/>
            </p:cNvSpPr>
            <p:nvPr/>
          </p:nvSpPr>
          <p:spPr bwMode="auto">
            <a:xfrm>
              <a:off x="3204368" y="993776"/>
              <a:ext cx="133350" cy="36512"/>
            </a:xfrm>
            <a:custGeom>
              <a:avLst/>
              <a:gdLst>
                <a:gd name="T0" fmla="*/ 318 w 370"/>
                <a:gd name="T1" fmla="*/ 0 h 102"/>
                <a:gd name="T2" fmla="*/ 50 w 370"/>
                <a:gd name="T3" fmla="*/ 0 h 102"/>
                <a:gd name="T4" fmla="*/ 0 w 370"/>
                <a:gd name="T5" fmla="*/ 50 h 102"/>
                <a:gd name="T6" fmla="*/ 50 w 370"/>
                <a:gd name="T7" fmla="*/ 101 h 102"/>
                <a:gd name="T8" fmla="*/ 318 w 370"/>
                <a:gd name="T9" fmla="*/ 101 h 102"/>
                <a:gd name="T10" fmla="*/ 369 w 370"/>
                <a:gd name="T11" fmla="*/ 50 h 102"/>
                <a:gd name="T12" fmla="*/ 318 w 370"/>
                <a:gd name="T13" fmla="*/ 0 h 102"/>
              </a:gdLst>
              <a:ahLst/>
              <a:cxnLst>
                <a:cxn ang="0">
                  <a:pos x="T0" y="T1"/>
                </a:cxn>
                <a:cxn ang="0">
                  <a:pos x="T2" y="T3"/>
                </a:cxn>
                <a:cxn ang="0">
                  <a:pos x="T4" y="T5"/>
                </a:cxn>
                <a:cxn ang="0">
                  <a:pos x="T6" y="T7"/>
                </a:cxn>
                <a:cxn ang="0">
                  <a:pos x="T8" y="T9"/>
                </a:cxn>
                <a:cxn ang="0">
                  <a:pos x="T10" y="T11"/>
                </a:cxn>
                <a:cxn ang="0">
                  <a:pos x="T12" y="T13"/>
                </a:cxn>
              </a:cxnLst>
              <a:rect l="0" t="0" r="r" b="b"/>
              <a:pathLst>
                <a:path w="370" h="102">
                  <a:moveTo>
                    <a:pt x="318" y="0"/>
                  </a:moveTo>
                  <a:cubicBezTo>
                    <a:pt x="312" y="0"/>
                    <a:pt x="57" y="0"/>
                    <a:pt x="50" y="0"/>
                  </a:cubicBezTo>
                  <a:cubicBezTo>
                    <a:pt x="22" y="0"/>
                    <a:pt x="0" y="23"/>
                    <a:pt x="0" y="50"/>
                  </a:cubicBezTo>
                  <a:cubicBezTo>
                    <a:pt x="0" y="78"/>
                    <a:pt x="22" y="101"/>
                    <a:pt x="50" y="101"/>
                  </a:cubicBezTo>
                  <a:cubicBezTo>
                    <a:pt x="57" y="101"/>
                    <a:pt x="312" y="101"/>
                    <a:pt x="318" y="101"/>
                  </a:cubicBezTo>
                  <a:cubicBezTo>
                    <a:pt x="346" y="101"/>
                    <a:pt x="369" y="78"/>
                    <a:pt x="369" y="50"/>
                  </a:cubicBezTo>
                  <a:cubicBezTo>
                    <a:pt x="369" y="23"/>
                    <a:pt x="346" y="0"/>
                    <a:pt x="318"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sp>
        <p:nvSpPr>
          <p:cNvPr id="113" name="TextBox 112">
            <a:extLst>
              <a:ext uri="{FF2B5EF4-FFF2-40B4-BE49-F238E27FC236}">
                <a16:creationId xmlns:a16="http://schemas.microsoft.com/office/drawing/2014/main" id="{DC6CA1AD-6706-588C-6786-DD7B3426CB43}"/>
              </a:ext>
            </a:extLst>
          </p:cNvPr>
          <p:cNvSpPr txBox="1"/>
          <p:nvPr/>
        </p:nvSpPr>
        <p:spPr>
          <a:xfrm>
            <a:off x="4539966" y="2200943"/>
            <a:ext cx="856325"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Fira Sans" panose="020B0503050000020004" pitchFamily="34" charset="0"/>
                <a:ea typeface="+mn-ea"/>
                <a:cs typeface="+mn-cs"/>
              </a:rPr>
              <a:t>Discovery</a:t>
            </a:r>
          </a:p>
        </p:txBody>
      </p:sp>
      <p:sp>
        <p:nvSpPr>
          <p:cNvPr id="114" name="TextBox 113">
            <a:extLst>
              <a:ext uri="{FF2B5EF4-FFF2-40B4-BE49-F238E27FC236}">
                <a16:creationId xmlns:a16="http://schemas.microsoft.com/office/drawing/2014/main" id="{17A64262-1AEB-411A-F1B7-6FE1028BDD34}"/>
              </a:ext>
            </a:extLst>
          </p:cNvPr>
          <p:cNvSpPr txBox="1"/>
          <p:nvPr/>
        </p:nvSpPr>
        <p:spPr>
          <a:xfrm>
            <a:off x="3871401" y="2523299"/>
            <a:ext cx="1676033" cy="1200329"/>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err="1">
                <a:ln>
                  <a:noFill/>
                </a:ln>
                <a:solidFill>
                  <a:srgbClr val="FFFFFF"/>
                </a:solidFill>
                <a:effectLst/>
                <a:uLnTx/>
                <a:uFillTx/>
                <a:latin typeface="Fira Sans" panose="020B0503050000020004" pitchFamily="34" charset="0"/>
                <a:ea typeface="+mn-ea"/>
                <a:cs typeface="+mn-cs"/>
              </a:rPr>
              <a:t>Dr.</a:t>
            </a: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 Migrate Deployed (by Rackspace if Rapid assessment)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Solution Assessment carried out by Microsoft (includes tooling deployment)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0000"/>
              </a:solidFill>
              <a:effectLst/>
              <a:uLnTx/>
              <a:uFillTx/>
              <a:latin typeface="Fira Sans" panose="020B0503050000020004" pitchFamily="34" charset="0"/>
              <a:ea typeface="+mn-ea"/>
              <a:cs typeface="+mn-cs"/>
            </a:endParaRPr>
          </a:p>
        </p:txBody>
      </p:sp>
      <p:sp>
        <p:nvSpPr>
          <p:cNvPr id="48" name="TextBox 47">
            <a:extLst>
              <a:ext uri="{FF2B5EF4-FFF2-40B4-BE49-F238E27FC236}">
                <a16:creationId xmlns:a16="http://schemas.microsoft.com/office/drawing/2014/main" id="{5237DBB6-1A78-91B8-E2E4-B7FCEEA5559B}"/>
              </a:ext>
            </a:extLst>
          </p:cNvPr>
          <p:cNvSpPr txBox="1"/>
          <p:nvPr/>
        </p:nvSpPr>
        <p:spPr>
          <a:xfrm>
            <a:off x="5405019" y="2507139"/>
            <a:ext cx="1792801" cy="923330"/>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Data Given to Rackspace to analyse and give timelines to deliver project and initiate first movers. (Working with Customer and Microsoft)</a:t>
            </a:r>
          </a:p>
        </p:txBody>
      </p:sp>
      <p:sp>
        <p:nvSpPr>
          <p:cNvPr id="49" name="TextBox 48">
            <a:extLst>
              <a:ext uri="{FF2B5EF4-FFF2-40B4-BE49-F238E27FC236}">
                <a16:creationId xmlns:a16="http://schemas.microsoft.com/office/drawing/2014/main" id="{7AEFFA89-FCF4-327E-B5FE-DA9F7A0A248F}"/>
              </a:ext>
            </a:extLst>
          </p:cNvPr>
          <p:cNvSpPr txBox="1"/>
          <p:nvPr/>
        </p:nvSpPr>
        <p:spPr>
          <a:xfrm>
            <a:off x="7102567" y="2504663"/>
            <a:ext cx="1715354"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Arial"/>
                <a:ea typeface="+mn-ea"/>
                <a:cs typeface="+mn-cs"/>
              </a:rPr>
              <a:t>Small workshops may be  held to acquire: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Arial"/>
                <a:ea typeface="+mn-ea"/>
                <a:cs typeface="+mn-cs"/>
              </a:rPr>
              <a:t>Further clarification on customer estate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Arial"/>
                <a:ea typeface="+mn-ea"/>
                <a:cs typeface="+mn-cs"/>
              </a:rPr>
              <a:t>Identify first movers and modernisation candidates.</a:t>
            </a:r>
            <a:endParaRPr kumimoji="0" lang="en-GB" sz="900" b="0" i="0" u="none" strike="noStrike" kern="1200" cap="none" spc="0" normalizeH="0" baseline="0" noProof="0">
              <a:ln>
                <a:noFill/>
              </a:ln>
              <a:solidFill>
                <a:srgbClr val="FFFFFF"/>
              </a:solidFill>
              <a:effectLst/>
              <a:uLnTx/>
              <a:uFillTx/>
              <a:latin typeface="Arial" charset="0"/>
              <a:ea typeface="+mn-ea"/>
              <a:cs typeface="Arial" charset="0"/>
            </a:endParaRPr>
          </a:p>
        </p:txBody>
      </p:sp>
      <p:sp>
        <p:nvSpPr>
          <p:cNvPr id="55" name="TextBox 54">
            <a:extLst>
              <a:ext uri="{FF2B5EF4-FFF2-40B4-BE49-F238E27FC236}">
                <a16:creationId xmlns:a16="http://schemas.microsoft.com/office/drawing/2014/main" id="{66C19A76-3809-02C5-C99B-99D25AFC2777}"/>
              </a:ext>
            </a:extLst>
          </p:cNvPr>
          <p:cNvSpPr txBox="1"/>
          <p:nvPr/>
        </p:nvSpPr>
        <p:spPr>
          <a:xfrm>
            <a:off x="8619522" y="2501541"/>
            <a:ext cx="1715354" cy="784830"/>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Arial"/>
                <a:ea typeface="+mn-ea"/>
                <a:cs typeface="+mn-cs"/>
              </a:rPr>
              <a:t>RXT have landing zone design templates for Azure ready to go.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Arial"/>
                <a:ea typeface="+mn-ea"/>
                <a:cs typeface="+mn-cs"/>
              </a:rPr>
              <a:t>Landing Zone Workshops for lower level details.</a:t>
            </a:r>
            <a:endParaRPr kumimoji="0" lang="en-GB" sz="900" b="0" i="0" u="none" strike="noStrike" kern="1200" cap="none" spc="0" normalizeH="0" baseline="0" noProof="0">
              <a:ln>
                <a:noFill/>
              </a:ln>
              <a:solidFill>
                <a:srgbClr val="FFFFFF"/>
              </a:solidFill>
              <a:effectLst/>
              <a:uLnTx/>
              <a:uFillTx/>
              <a:latin typeface="Arial" charset="0"/>
              <a:ea typeface="+mn-ea"/>
              <a:cs typeface="Arial" charset="0"/>
            </a:endParaRPr>
          </a:p>
        </p:txBody>
      </p:sp>
      <p:grpSp>
        <p:nvGrpSpPr>
          <p:cNvPr id="42" name="Group 41">
            <a:extLst>
              <a:ext uri="{FF2B5EF4-FFF2-40B4-BE49-F238E27FC236}">
                <a16:creationId xmlns:a16="http://schemas.microsoft.com/office/drawing/2014/main" id="{B32B2A5B-52CB-62D9-4860-7A486296FA78}"/>
              </a:ext>
            </a:extLst>
          </p:cNvPr>
          <p:cNvGrpSpPr/>
          <p:nvPr/>
        </p:nvGrpSpPr>
        <p:grpSpPr>
          <a:xfrm>
            <a:off x="7565157" y="4401689"/>
            <a:ext cx="2138934" cy="2797115"/>
            <a:chOff x="5605777" y="4412629"/>
            <a:chExt cx="2138934" cy="2797115"/>
          </a:xfrm>
        </p:grpSpPr>
        <p:sp>
          <p:nvSpPr>
            <p:cNvPr id="59" name="TextBox 58">
              <a:extLst>
                <a:ext uri="{FF2B5EF4-FFF2-40B4-BE49-F238E27FC236}">
                  <a16:creationId xmlns:a16="http://schemas.microsoft.com/office/drawing/2014/main" id="{2645E8D5-57EF-F632-EB2B-AC9D245BCEBD}"/>
                </a:ext>
              </a:extLst>
            </p:cNvPr>
            <p:cNvSpPr txBox="1"/>
            <p:nvPr/>
          </p:nvSpPr>
          <p:spPr>
            <a:xfrm>
              <a:off x="5957093" y="4963808"/>
              <a:ext cx="75373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Fira Sans" panose="020B0503050000020004" pitchFamily="34" charset="0"/>
                  <a:ea typeface="+mn-ea"/>
                  <a:cs typeface="+mn-cs"/>
                </a:rPr>
                <a:t>Analysis</a:t>
              </a:r>
            </a:p>
          </p:txBody>
        </p:sp>
        <p:sp>
          <p:nvSpPr>
            <p:cNvPr id="60" name="TextBox 59">
              <a:extLst>
                <a:ext uri="{FF2B5EF4-FFF2-40B4-BE49-F238E27FC236}">
                  <a16:creationId xmlns:a16="http://schemas.microsoft.com/office/drawing/2014/main" id="{15ED2A24-5BC1-D22B-B242-282892AC9188}"/>
                </a:ext>
              </a:extLst>
            </p:cNvPr>
            <p:cNvSpPr txBox="1"/>
            <p:nvPr/>
          </p:nvSpPr>
          <p:spPr>
            <a:xfrm>
              <a:off x="5605777" y="5316918"/>
              <a:ext cx="2138934" cy="18928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err="1">
                  <a:ln>
                    <a:noFill/>
                  </a:ln>
                  <a:solidFill>
                    <a:srgbClr val="FFFFFF"/>
                  </a:solidFill>
                  <a:effectLst/>
                  <a:uLnTx/>
                  <a:uFillTx/>
                  <a:latin typeface="Fira Sans" panose="020B0503050000020004" pitchFamily="34" charset="0"/>
                  <a:ea typeface="+mn-ea"/>
                  <a:cs typeface="+mn-cs"/>
                </a:rPr>
                <a:t>Dr.</a:t>
              </a: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 Migrate will output the following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Migration Scope Recommendations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Migration Strategy per Application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Complexity Scoring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Move Groups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TCO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*Note some analysis may be required on solidifying the plan for customer.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p:txBody>
        </p:sp>
        <p:grpSp>
          <p:nvGrpSpPr>
            <p:cNvPr id="66" name="Group 65">
              <a:extLst>
                <a:ext uri="{FF2B5EF4-FFF2-40B4-BE49-F238E27FC236}">
                  <a16:creationId xmlns:a16="http://schemas.microsoft.com/office/drawing/2014/main" id="{44497588-2439-6C49-630E-FEDE57608400}"/>
                </a:ext>
              </a:extLst>
            </p:cNvPr>
            <p:cNvGrpSpPr/>
            <p:nvPr/>
          </p:nvGrpSpPr>
          <p:grpSpPr>
            <a:xfrm>
              <a:off x="6047210" y="4412629"/>
              <a:ext cx="535966" cy="508175"/>
              <a:chOff x="8793097" y="2299503"/>
              <a:chExt cx="535966" cy="508175"/>
            </a:xfrm>
          </p:grpSpPr>
          <p:sp>
            <p:nvSpPr>
              <p:cNvPr id="68" name="Freeform 168">
                <a:extLst>
                  <a:ext uri="{FF2B5EF4-FFF2-40B4-BE49-F238E27FC236}">
                    <a16:creationId xmlns:a16="http://schemas.microsoft.com/office/drawing/2014/main" id="{86CC8A33-9D21-3B70-345A-4B19C58C0517}"/>
                  </a:ext>
                </a:extLst>
              </p:cNvPr>
              <p:cNvSpPr>
                <a:spLocks noChangeArrowheads="1"/>
              </p:cNvSpPr>
              <p:nvPr/>
            </p:nvSpPr>
            <p:spPr bwMode="auto">
              <a:xfrm>
                <a:off x="8846693" y="2678648"/>
                <a:ext cx="134984" cy="79402"/>
              </a:xfrm>
              <a:custGeom>
                <a:avLst/>
                <a:gdLst>
                  <a:gd name="T0" fmla="*/ 299 w 300"/>
                  <a:gd name="T1" fmla="*/ 102 h 177"/>
                  <a:gd name="T2" fmla="*/ 167 w 300"/>
                  <a:gd name="T3" fmla="*/ 176 h 177"/>
                  <a:gd name="T4" fmla="*/ 13 w 300"/>
                  <a:gd name="T5" fmla="*/ 0 h 177"/>
                </a:gdLst>
                <a:ahLst/>
                <a:cxnLst>
                  <a:cxn ang="0">
                    <a:pos x="T0" y="T1"/>
                  </a:cxn>
                  <a:cxn ang="0">
                    <a:pos x="T2" y="T3"/>
                  </a:cxn>
                  <a:cxn ang="0">
                    <a:pos x="T4" y="T5"/>
                  </a:cxn>
                </a:cxnLst>
                <a:rect l="0" t="0" r="r" b="b"/>
                <a:pathLst>
                  <a:path w="300" h="177">
                    <a:moveTo>
                      <a:pt x="299" y="102"/>
                    </a:moveTo>
                    <a:cubicBezTo>
                      <a:pt x="272" y="146"/>
                      <a:pt x="223" y="176"/>
                      <a:pt x="167" y="176"/>
                    </a:cubicBezTo>
                    <a:cubicBezTo>
                      <a:pt x="74" y="176"/>
                      <a:pt x="0" y="94"/>
                      <a:pt x="13"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9" name="Freeform 169">
                <a:extLst>
                  <a:ext uri="{FF2B5EF4-FFF2-40B4-BE49-F238E27FC236}">
                    <a16:creationId xmlns:a16="http://schemas.microsoft.com/office/drawing/2014/main" id="{8CF492DF-9F20-5E37-09D6-273D04457914}"/>
                  </a:ext>
                </a:extLst>
              </p:cNvPr>
              <p:cNvSpPr>
                <a:spLocks noChangeArrowheads="1"/>
              </p:cNvSpPr>
              <p:nvPr/>
            </p:nvSpPr>
            <p:spPr bwMode="auto">
              <a:xfrm>
                <a:off x="8955872" y="2299503"/>
                <a:ext cx="111163" cy="57566"/>
              </a:xfrm>
              <a:custGeom>
                <a:avLst/>
                <a:gdLst>
                  <a:gd name="T0" fmla="*/ 0 w 249"/>
                  <a:gd name="T1" fmla="*/ 89 h 128"/>
                  <a:gd name="T2" fmla="*/ 121 w 249"/>
                  <a:gd name="T3" fmla="*/ 0 h 128"/>
                  <a:gd name="T4" fmla="*/ 248 w 249"/>
                  <a:gd name="T5" fmla="*/ 127 h 128"/>
                </a:gdLst>
                <a:ahLst/>
                <a:cxnLst>
                  <a:cxn ang="0">
                    <a:pos x="T0" y="T1"/>
                  </a:cxn>
                  <a:cxn ang="0">
                    <a:pos x="T2" y="T3"/>
                  </a:cxn>
                  <a:cxn ang="0">
                    <a:pos x="T4" y="T5"/>
                  </a:cxn>
                </a:cxnLst>
                <a:rect l="0" t="0" r="r" b="b"/>
                <a:pathLst>
                  <a:path w="249" h="128">
                    <a:moveTo>
                      <a:pt x="0" y="89"/>
                    </a:moveTo>
                    <a:cubicBezTo>
                      <a:pt x="17" y="37"/>
                      <a:pt x="65" y="0"/>
                      <a:pt x="121" y="0"/>
                    </a:cubicBezTo>
                    <a:cubicBezTo>
                      <a:pt x="191" y="0"/>
                      <a:pt x="248" y="57"/>
                      <a:pt x="248" y="12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0" name="Freeform 170">
                <a:extLst>
                  <a:ext uri="{FF2B5EF4-FFF2-40B4-BE49-F238E27FC236}">
                    <a16:creationId xmlns:a16="http://schemas.microsoft.com/office/drawing/2014/main" id="{E98842AA-C942-19DD-0416-58FA62BCFC9B}"/>
                  </a:ext>
                </a:extLst>
              </p:cNvPr>
              <p:cNvSpPr>
                <a:spLocks noChangeArrowheads="1"/>
              </p:cNvSpPr>
              <p:nvPr/>
            </p:nvSpPr>
            <p:spPr bwMode="auto">
              <a:xfrm>
                <a:off x="8812948" y="2561530"/>
                <a:ext cx="99253" cy="119103"/>
              </a:xfrm>
              <a:custGeom>
                <a:avLst/>
                <a:gdLst>
                  <a:gd name="T0" fmla="*/ 218 w 219"/>
                  <a:gd name="T1" fmla="*/ 224 h 264"/>
                  <a:gd name="T2" fmla="*/ 127 w 219"/>
                  <a:gd name="T3" fmla="*/ 263 h 264"/>
                  <a:gd name="T4" fmla="*/ 0 w 219"/>
                  <a:gd name="T5" fmla="*/ 136 h 264"/>
                  <a:gd name="T6" fmla="*/ 142 w 219"/>
                  <a:gd name="T7" fmla="*/ 10 h 264"/>
                </a:gdLst>
                <a:ahLst/>
                <a:cxnLst>
                  <a:cxn ang="0">
                    <a:pos x="T0" y="T1"/>
                  </a:cxn>
                  <a:cxn ang="0">
                    <a:pos x="T2" y="T3"/>
                  </a:cxn>
                  <a:cxn ang="0">
                    <a:pos x="T4" y="T5"/>
                  </a:cxn>
                  <a:cxn ang="0">
                    <a:pos x="T6" y="T7"/>
                  </a:cxn>
                </a:cxnLst>
                <a:rect l="0" t="0" r="r" b="b"/>
                <a:pathLst>
                  <a:path w="219" h="264">
                    <a:moveTo>
                      <a:pt x="218" y="224"/>
                    </a:moveTo>
                    <a:cubicBezTo>
                      <a:pt x="195" y="248"/>
                      <a:pt x="163" y="263"/>
                      <a:pt x="127" y="263"/>
                    </a:cubicBezTo>
                    <a:cubicBezTo>
                      <a:pt x="57" y="263"/>
                      <a:pt x="0" y="206"/>
                      <a:pt x="0" y="136"/>
                    </a:cubicBezTo>
                    <a:cubicBezTo>
                      <a:pt x="0" y="60"/>
                      <a:pt x="66" y="0"/>
                      <a:pt x="142" y="1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1" name="Freeform 171">
                <a:extLst>
                  <a:ext uri="{FF2B5EF4-FFF2-40B4-BE49-F238E27FC236}">
                    <a16:creationId xmlns:a16="http://schemas.microsoft.com/office/drawing/2014/main" id="{42774469-080D-D0BF-6B0A-2AB2B423A487}"/>
                  </a:ext>
                </a:extLst>
              </p:cNvPr>
              <p:cNvSpPr>
                <a:spLocks noChangeArrowheads="1"/>
              </p:cNvSpPr>
              <p:nvPr/>
            </p:nvSpPr>
            <p:spPr bwMode="auto">
              <a:xfrm>
                <a:off x="8920141" y="2744155"/>
                <a:ext cx="146894" cy="63522"/>
              </a:xfrm>
              <a:custGeom>
                <a:avLst/>
                <a:gdLst>
                  <a:gd name="T0" fmla="*/ 326 w 327"/>
                  <a:gd name="T1" fmla="*/ 0 h 142"/>
                  <a:gd name="T2" fmla="*/ 159 w 327"/>
                  <a:gd name="T3" fmla="*/ 141 h 142"/>
                  <a:gd name="T4" fmla="*/ 0 w 327"/>
                  <a:gd name="T5" fmla="*/ 28 h 142"/>
                </a:gdLst>
                <a:ahLst/>
                <a:cxnLst>
                  <a:cxn ang="0">
                    <a:pos x="T0" y="T1"/>
                  </a:cxn>
                  <a:cxn ang="0">
                    <a:pos x="T2" y="T3"/>
                  </a:cxn>
                  <a:cxn ang="0">
                    <a:pos x="T4" y="T5"/>
                  </a:cxn>
                </a:cxnLst>
                <a:rect l="0" t="0" r="r" b="b"/>
                <a:pathLst>
                  <a:path w="327" h="142">
                    <a:moveTo>
                      <a:pt x="326" y="0"/>
                    </a:moveTo>
                    <a:cubicBezTo>
                      <a:pt x="313" y="80"/>
                      <a:pt x="243" y="141"/>
                      <a:pt x="159" y="141"/>
                    </a:cubicBezTo>
                    <a:cubicBezTo>
                      <a:pt x="86" y="141"/>
                      <a:pt x="23" y="94"/>
                      <a:pt x="0" y="2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2" name="Freeform 172">
                <a:extLst>
                  <a:ext uri="{FF2B5EF4-FFF2-40B4-BE49-F238E27FC236}">
                    <a16:creationId xmlns:a16="http://schemas.microsoft.com/office/drawing/2014/main" id="{05F9B8C6-D105-9688-6282-8BB44618171C}"/>
                  </a:ext>
                </a:extLst>
              </p:cNvPr>
              <p:cNvSpPr>
                <a:spLocks noChangeArrowheads="1"/>
              </p:cNvSpPr>
              <p:nvPr/>
            </p:nvSpPr>
            <p:spPr bwMode="auto">
              <a:xfrm>
                <a:off x="9067035" y="2357069"/>
                <a:ext cx="1984" cy="387087"/>
              </a:xfrm>
              <a:custGeom>
                <a:avLst/>
                <a:gdLst>
                  <a:gd name="T0" fmla="*/ 0 w 1"/>
                  <a:gd name="T1" fmla="*/ 0 h 862"/>
                  <a:gd name="T2" fmla="*/ 0 w 1"/>
                  <a:gd name="T3" fmla="*/ 861 h 862"/>
                </a:gdLst>
                <a:ahLst/>
                <a:cxnLst>
                  <a:cxn ang="0">
                    <a:pos x="T0" y="T1"/>
                  </a:cxn>
                  <a:cxn ang="0">
                    <a:pos x="T2" y="T3"/>
                  </a:cxn>
                </a:cxnLst>
                <a:rect l="0" t="0" r="r" b="b"/>
                <a:pathLst>
                  <a:path w="1" h="862">
                    <a:moveTo>
                      <a:pt x="0" y="0"/>
                    </a:moveTo>
                    <a:cubicBezTo>
                      <a:pt x="0" y="287"/>
                      <a:pt x="0" y="574"/>
                      <a:pt x="0" y="86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3" name="Freeform 173">
                <a:extLst>
                  <a:ext uri="{FF2B5EF4-FFF2-40B4-BE49-F238E27FC236}">
                    <a16:creationId xmlns:a16="http://schemas.microsoft.com/office/drawing/2014/main" id="{7C741F4C-1102-1D46-4AB5-1329ACF1941A}"/>
                  </a:ext>
                </a:extLst>
              </p:cNvPr>
              <p:cNvSpPr>
                <a:spLocks noChangeArrowheads="1"/>
              </p:cNvSpPr>
              <p:nvPr/>
            </p:nvSpPr>
            <p:spPr bwMode="auto">
              <a:xfrm>
                <a:off x="8872500" y="2337218"/>
                <a:ext cx="119103" cy="71462"/>
              </a:xfrm>
              <a:custGeom>
                <a:avLst/>
                <a:gdLst>
                  <a:gd name="T0" fmla="*/ 9 w 263"/>
                  <a:gd name="T1" fmla="*/ 156 h 157"/>
                  <a:gd name="T2" fmla="*/ 149 w 263"/>
                  <a:gd name="T3" fmla="*/ 0 h 157"/>
                  <a:gd name="T4" fmla="*/ 262 w 263"/>
                  <a:gd name="T5" fmla="*/ 56 h 157"/>
                </a:gdLst>
                <a:ahLst/>
                <a:cxnLst>
                  <a:cxn ang="0">
                    <a:pos x="T0" y="T1"/>
                  </a:cxn>
                  <a:cxn ang="0">
                    <a:pos x="T2" y="T3"/>
                  </a:cxn>
                  <a:cxn ang="0">
                    <a:pos x="T4" y="T5"/>
                  </a:cxn>
                </a:cxnLst>
                <a:rect l="0" t="0" r="r" b="b"/>
                <a:pathLst>
                  <a:path w="263" h="157">
                    <a:moveTo>
                      <a:pt x="9" y="156"/>
                    </a:moveTo>
                    <a:cubicBezTo>
                      <a:pt x="0" y="72"/>
                      <a:pt x="66" y="0"/>
                      <a:pt x="149" y="0"/>
                    </a:cubicBezTo>
                    <a:cubicBezTo>
                      <a:pt x="195" y="0"/>
                      <a:pt x="236" y="22"/>
                      <a:pt x="262" y="56"/>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4" name="Freeform 174">
                <a:extLst>
                  <a:ext uri="{FF2B5EF4-FFF2-40B4-BE49-F238E27FC236}">
                    <a16:creationId xmlns:a16="http://schemas.microsoft.com/office/drawing/2014/main" id="{6403EDE1-A19E-5E17-F047-C314DE3AF072}"/>
                  </a:ext>
                </a:extLst>
              </p:cNvPr>
              <p:cNvSpPr>
                <a:spLocks noChangeArrowheads="1"/>
              </p:cNvSpPr>
              <p:nvPr/>
            </p:nvSpPr>
            <p:spPr bwMode="auto">
              <a:xfrm>
                <a:off x="8818903" y="2386845"/>
                <a:ext cx="113149" cy="111163"/>
              </a:xfrm>
              <a:custGeom>
                <a:avLst/>
                <a:gdLst>
                  <a:gd name="T0" fmla="*/ 35 w 250"/>
                  <a:gd name="T1" fmla="*/ 244 h 245"/>
                  <a:gd name="T2" fmla="*/ 249 w 250"/>
                  <a:gd name="T3" fmla="*/ 39 h 245"/>
                </a:gdLst>
                <a:ahLst/>
                <a:cxnLst>
                  <a:cxn ang="0">
                    <a:pos x="T0" y="T1"/>
                  </a:cxn>
                  <a:cxn ang="0">
                    <a:pos x="T2" y="T3"/>
                  </a:cxn>
                </a:cxnLst>
                <a:rect l="0" t="0" r="r" b="b"/>
                <a:pathLst>
                  <a:path w="250" h="245">
                    <a:moveTo>
                      <a:pt x="35" y="244"/>
                    </a:moveTo>
                    <a:cubicBezTo>
                      <a:pt x="0" y="112"/>
                      <a:pt x="127" y="0"/>
                      <a:pt x="249" y="3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5" name="Freeform 175">
                <a:extLst>
                  <a:ext uri="{FF2B5EF4-FFF2-40B4-BE49-F238E27FC236}">
                    <a16:creationId xmlns:a16="http://schemas.microsoft.com/office/drawing/2014/main" id="{8558B477-A793-BD00-573C-2D29F324C568}"/>
                  </a:ext>
                </a:extLst>
              </p:cNvPr>
              <p:cNvSpPr>
                <a:spLocks noChangeArrowheads="1"/>
              </p:cNvSpPr>
              <p:nvPr/>
            </p:nvSpPr>
            <p:spPr bwMode="auto">
              <a:xfrm>
                <a:off x="8793097" y="2474188"/>
                <a:ext cx="95283" cy="113148"/>
              </a:xfrm>
              <a:custGeom>
                <a:avLst/>
                <a:gdLst>
                  <a:gd name="T0" fmla="*/ 74 w 210"/>
                  <a:gd name="T1" fmla="*/ 252 h 253"/>
                  <a:gd name="T2" fmla="*/ 209 w 210"/>
                  <a:gd name="T3" fmla="*/ 7 h 253"/>
                </a:gdLst>
                <a:ahLst/>
                <a:cxnLst>
                  <a:cxn ang="0">
                    <a:pos x="T0" y="T1"/>
                  </a:cxn>
                  <a:cxn ang="0">
                    <a:pos x="T2" y="T3"/>
                  </a:cxn>
                </a:cxnLst>
                <a:rect l="0" t="0" r="r" b="b"/>
                <a:pathLst>
                  <a:path w="210" h="253">
                    <a:moveTo>
                      <a:pt x="74" y="252"/>
                    </a:moveTo>
                    <a:cubicBezTo>
                      <a:pt x="0" y="146"/>
                      <a:pt x="81" y="0"/>
                      <a:pt x="209" y="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7" name="Freeform 176">
                <a:extLst>
                  <a:ext uri="{FF2B5EF4-FFF2-40B4-BE49-F238E27FC236}">
                    <a16:creationId xmlns:a16="http://schemas.microsoft.com/office/drawing/2014/main" id="{9DDA5A81-927B-CAC8-E63C-15675EFBEF5A}"/>
                  </a:ext>
                </a:extLst>
              </p:cNvPr>
              <p:cNvSpPr>
                <a:spLocks noChangeArrowheads="1"/>
              </p:cNvSpPr>
              <p:nvPr/>
            </p:nvSpPr>
            <p:spPr bwMode="auto">
              <a:xfrm>
                <a:off x="8938006" y="2432501"/>
                <a:ext cx="97268" cy="57567"/>
              </a:xfrm>
              <a:custGeom>
                <a:avLst/>
                <a:gdLst>
                  <a:gd name="T0" fmla="*/ 217 w 218"/>
                  <a:gd name="T1" fmla="*/ 0 h 128"/>
                  <a:gd name="T2" fmla="*/ 90 w 218"/>
                  <a:gd name="T3" fmla="*/ 127 h 128"/>
                  <a:gd name="T4" fmla="*/ 0 w 218"/>
                  <a:gd name="T5" fmla="*/ 90 h 128"/>
                </a:gdLst>
                <a:ahLst/>
                <a:cxnLst>
                  <a:cxn ang="0">
                    <a:pos x="T0" y="T1"/>
                  </a:cxn>
                  <a:cxn ang="0">
                    <a:pos x="T2" y="T3"/>
                  </a:cxn>
                  <a:cxn ang="0">
                    <a:pos x="T4" y="T5"/>
                  </a:cxn>
                </a:cxnLst>
                <a:rect l="0" t="0" r="r" b="b"/>
                <a:pathLst>
                  <a:path w="218" h="128">
                    <a:moveTo>
                      <a:pt x="217" y="0"/>
                    </a:moveTo>
                    <a:cubicBezTo>
                      <a:pt x="217" y="70"/>
                      <a:pt x="160" y="127"/>
                      <a:pt x="90" y="127"/>
                    </a:cubicBezTo>
                    <a:cubicBezTo>
                      <a:pt x="55" y="127"/>
                      <a:pt x="23" y="113"/>
                      <a:pt x="0" y="9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177">
                <a:extLst>
                  <a:ext uri="{FF2B5EF4-FFF2-40B4-BE49-F238E27FC236}">
                    <a16:creationId xmlns:a16="http://schemas.microsoft.com/office/drawing/2014/main" id="{AAD70F64-9D02-E270-1082-7548BB57AAE9}"/>
                  </a:ext>
                </a:extLst>
              </p:cNvPr>
              <p:cNvSpPr>
                <a:spLocks noChangeArrowheads="1"/>
              </p:cNvSpPr>
              <p:nvPr/>
            </p:nvSpPr>
            <p:spPr bwMode="auto">
              <a:xfrm>
                <a:off x="8930066" y="2623066"/>
                <a:ext cx="57567" cy="57567"/>
              </a:xfrm>
              <a:custGeom>
                <a:avLst/>
                <a:gdLst>
                  <a:gd name="T0" fmla="*/ 127 w 128"/>
                  <a:gd name="T1" fmla="*/ 127 h 128"/>
                  <a:gd name="T2" fmla="*/ 0 w 128"/>
                  <a:gd name="T3" fmla="*/ 0 h 128"/>
                </a:gdLst>
                <a:ahLst/>
                <a:cxnLst>
                  <a:cxn ang="0">
                    <a:pos x="T0" y="T1"/>
                  </a:cxn>
                  <a:cxn ang="0">
                    <a:pos x="T2" y="T3"/>
                  </a:cxn>
                </a:cxnLst>
                <a:rect l="0" t="0" r="r" b="b"/>
                <a:pathLst>
                  <a:path w="128" h="128">
                    <a:moveTo>
                      <a:pt x="127" y="127"/>
                    </a:moveTo>
                    <a:cubicBezTo>
                      <a:pt x="127" y="57"/>
                      <a:pt x="70"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5" name="Freeform 178">
                <a:extLst>
                  <a:ext uri="{FF2B5EF4-FFF2-40B4-BE49-F238E27FC236}">
                    <a16:creationId xmlns:a16="http://schemas.microsoft.com/office/drawing/2014/main" id="{0C0FDE19-F593-A441-32BE-513724B94A52}"/>
                  </a:ext>
                </a:extLst>
              </p:cNvPr>
              <p:cNvSpPr>
                <a:spLocks noChangeArrowheads="1"/>
              </p:cNvSpPr>
              <p:nvPr/>
            </p:nvSpPr>
            <p:spPr bwMode="auto">
              <a:xfrm>
                <a:off x="9029319" y="2382875"/>
                <a:ext cx="37717" cy="39701"/>
              </a:xfrm>
              <a:custGeom>
                <a:avLst/>
                <a:gdLst>
                  <a:gd name="T0" fmla="*/ 84 w 85"/>
                  <a:gd name="T1" fmla="*/ 85 h 86"/>
                  <a:gd name="T2" fmla="*/ 0 w 85"/>
                  <a:gd name="T3" fmla="*/ 0 h 86"/>
                </a:gdLst>
                <a:ahLst/>
                <a:cxnLst>
                  <a:cxn ang="0">
                    <a:pos x="T0" y="T1"/>
                  </a:cxn>
                  <a:cxn ang="0">
                    <a:pos x="T2" y="T3"/>
                  </a:cxn>
                </a:cxnLst>
                <a:rect l="0" t="0" r="r" b="b"/>
                <a:pathLst>
                  <a:path w="85" h="86">
                    <a:moveTo>
                      <a:pt x="84" y="85"/>
                    </a:moveTo>
                    <a:cubicBezTo>
                      <a:pt x="84" y="38"/>
                      <a:pt x="46"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6" name="Freeform 179">
                <a:extLst>
                  <a:ext uri="{FF2B5EF4-FFF2-40B4-BE49-F238E27FC236}">
                    <a16:creationId xmlns:a16="http://schemas.microsoft.com/office/drawing/2014/main" id="{99B9B230-3D5C-8A02-AA28-E5E45657D174}"/>
                  </a:ext>
                </a:extLst>
              </p:cNvPr>
              <p:cNvSpPr>
                <a:spLocks noChangeArrowheads="1"/>
              </p:cNvSpPr>
              <p:nvPr/>
            </p:nvSpPr>
            <p:spPr bwMode="auto">
              <a:xfrm>
                <a:off x="8939992" y="2490068"/>
                <a:ext cx="45656" cy="45656"/>
              </a:xfrm>
              <a:custGeom>
                <a:avLst/>
                <a:gdLst>
                  <a:gd name="T0" fmla="*/ 0 w 100"/>
                  <a:gd name="T1" fmla="*/ 99 h 100"/>
                  <a:gd name="T2" fmla="*/ 99 w 100"/>
                  <a:gd name="T3" fmla="*/ 0 h 100"/>
                </a:gdLst>
                <a:ahLst/>
                <a:cxnLst>
                  <a:cxn ang="0">
                    <a:pos x="T0" y="T1"/>
                  </a:cxn>
                  <a:cxn ang="0">
                    <a:pos x="T2" y="T3"/>
                  </a:cxn>
                </a:cxnLst>
                <a:rect l="0" t="0" r="r" b="b"/>
                <a:pathLst>
                  <a:path w="100" h="100">
                    <a:moveTo>
                      <a:pt x="0" y="99"/>
                    </a:moveTo>
                    <a:cubicBezTo>
                      <a:pt x="55" y="99"/>
                      <a:pt x="99" y="54"/>
                      <a:pt x="99"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7" name="Freeform 180">
                <a:extLst>
                  <a:ext uri="{FF2B5EF4-FFF2-40B4-BE49-F238E27FC236}">
                    <a16:creationId xmlns:a16="http://schemas.microsoft.com/office/drawing/2014/main" id="{39A0608C-BD07-536C-37D6-4F144E3982BA}"/>
                  </a:ext>
                </a:extLst>
              </p:cNvPr>
              <p:cNvSpPr>
                <a:spLocks noChangeArrowheads="1"/>
              </p:cNvSpPr>
              <p:nvPr/>
            </p:nvSpPr>
            <p:spPr bwMode="auto">
              <a:xfrm>
                <a:off x="8961827" y="2573440"/>
                <a:ext cx="63522" cy="61536"/>
              </a:xfrm>
              <a:custGeom>
                <a:avLst/>
                <a:gdLst>
                  <a:gd name="T0" fmla="*/ 141 w 142"/>
                  <a:gd name="T1" fmla="*/ 0 h 135"/>
                  <a:gd name="T2" fmla="*/ 0 w 142"/>
                  <a:gd name="T3" fmla="*/ 134 h 135"/>
                </a:gdLst>
                <a:ahLst/>
                <a:cxnLst>
                  <a:cxn ang="0">
                    <a:pos x="T0" y="T1"/>
                  </a:cxn>
                  <a:cxn ang="0">
                    <a:pos x="T2" y="T3"/>
                  </a:cxn>
                </a:cxnLst>
                <a:rect l="0" t="0" r="r" b="b"/>
                <a:pathLst>
                  <a:path w="142" h="135">
                    <a:moveTo>
                      <a:pt x="141" y="0"/>
                    </a:moveTo>
                    <a:cubicBezTo>
                      <a:pt x="65" y="0"/>
                      <a:pt x="3" y="59"/>
                      <a:pt x="0" y="13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8" name="Freeform 181">
                <a:extLst>
                  <a:ext uri="{FF2B5EF4-FFF2-40B4-BE49-F238E27FC236}">
                    <a16:creationId xmlns:a16="http://schemas.microsoft.com/office/drawing/2014/main" id="{F7E93652-6F9F-9581-AE89-0BA40C9F68D5}"/>
                  </a:ext>
                </a:extLst>
              </p:cNvPr>
              <p:cNvSpPr>
                <a:spLocks noChangeArrowheads="1"/>
              </p:cNvSpPr>
              <p:nvPr/>
            </p:nvSpPr>
            <p:spPr bwMode="auto">
              <a:xfrm>
                <a:off x="9029319" y="2660783"/>
                <a:ext cx="37717" cy="39701"/>
              </a:xfrm>
              <a:custGeom>
                <a:avLst/>
                <a:gdLst>
                  <a:gd name="T0" fmla="*/ 84 w 85"/>
                  <a:gd name="T1" fmla="*/ 0 h 86"/>
                  <a:gd name="T2" fmla="*/ 0 w 85"/>
                  <a:gd name="T3" fmla="*/ 85 h 86"/>
                </a:gdLst>
                <a:ahLst/>
                <a:cxnLst>
                  <a:cxn ang="0">
                    <a:pos x="T0" y="T1"/>
                  </a:cxn>
                  <a:cxn ang="0">
                    <a:pos x="T2" y="T3"/>
                  </a:cxn>
                </a:cxnLst>
                <a:rect l="0" t="0" r="r" b="b"/>
                <a:pathLst>
                  <a:path w="85" h="86">
                    <a:moveTo>
                      <a:pt x="84" y="0"/>
                    </a:moveTo>
                    <a:cubicBezTo>
                      <a:pt x="84" y="47"/>
                      <a:pt x="46" y="85"/>
                      <a:pt x="0" y="8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19" name="Freeform 182">
                <a:extLst>
                  <a:ext uri="{FF2B5EF4-FFF2-40B4-BE49-F238E27FC236}">
                    <a16:creationId xmlns:a16="http://schemas.microsoft.com/office/drawing/2014/main" id="{2EB66387-22D6-9080-1298-8F8B1A6B57B1}"/>
                  </a:ext>
                </a:extLst>
              </p:cNvPr>
              <p:cNvSpPr>
                <a:spLocks noChangeArrowheads="1"/>
              </p:cNvSpPr>
              <p:nvPr/>
            </p:nvSpPr>
            <p:spPr bwMode="auto">
              <a:xfrm>
                <a:off x="9067035" y="2299503"/>
                <a:ext cx="262028" cy="508175"/>
              </a:xfrm>
              <a:custGeom>
                <a:avLst/>
                <a:gdLst>
                  <a:gd name="T0" fmla="*/ 0 w 584"/>
                  <a:gd name="T1" fmla="*/ 988 h 1130"/>
                  <a:gd name="T2" fmla="*/ 167 w 584"/>
                  <a:gd name="T3" fmla="*/ 1129 h 1130"/>
                  <a:gd name="T4" fmla="*/ 325 w 584"/>
                  <a:gd name="T5" fmla="*/ 1020 h 1130"/>
                  <a:gd name="T6" fmla="*/ 332 w 584"/>
                  <a:gd name="T7" fmla="*/ 1016 h 1130"/>
                  <a:gd name="T8" fmla="*/ 479 w 584"/>
                  <a:gd name="T9" fmla="*/ 845 h 1130"/>
                  <a:gd name="T10" fmla="*/ 484 w 584"/>
                  <a:gd name="T11" fmla="*/ 838 h 1130"/>
                  <a:gd name="T12" fmla="*/ 565 w 584"/>
                  <a:gd name="T13" fmla="*/ 720 h 1130"/>
                  <a:gd name="T14" fmla="*/ 539 w 584"/>
                  <a:gd name="T15" fmla="*/ 644 h 1130"/>
                  <a:gd name="T16" fmla="*/ 539 w 584"/>
                  <a:gd name="T17" fmla="*/ 636 h 1130"/>
                  <a:gd name="T18" fmla="*/ 520 w 584"/>
                  <a:gd name="T19" fmla="*/ 441 h 1130"/>
                  <a:gd name="T20" fmla="*/ 518 w 584"/>
                  <a:gd name="T21" fmla="*/ 434 h 1130"/>
                  <a:gd name="T22" fmla="*/ 427 w 584"/>
                  <a:gd name="T23" fmla="*/ 243 h 1130"/>
                  <a:gd name="T24" fmla="*/ 423 w 584"/>
                  <a:gd name="T25" fmla="*/ 236 h 1130"/>
                  <a:gd name="T26" fmla="*/ 283 w 584"/>
                  <a:gd name="T27" fmla="*/ 85 h 1130"/>
                  <a:gd name="T28" fmla="*/ 254 w 584"/>
                  <a:gd name="T29" fmla="*/ 87 h 1130"/>
                  <a:gd name="T30" fmla="*/ 246 w 584"/>
                  <a:gd name="T31" fmla="*/ 83 h 1130"/>
                  <a:gd name="T32" fmla="*/ 127 w 584"/>
                  <a:gd name="T33" fmla="*/ 0 h 1130"/>
                  <a:gd name="T34" fmla="*/ 0 w 584"/>
                  <a:gd name="T35" fmla="*/ 127 h 1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84" h="1130">
                    <a:moveTo>
                      <a:pt x="0" y="988"/>
                    </a:moveTo>
                    <a:cubicBezTo>
                      <a:pt x="14" y="1068"/>
                      <a:pt x="84" y="1129"/>
                      <a:pt x="167" y="1129"/>
                    </a:cubicBezTo>
                    <a:cubicBezTo>
                      <a:pt x="239" y="1129"/>
                      <a:pt x="301" y="1084"/>
                      <a:pt x="325" y="1020"/>
                    </a:cubicBezTo>
                    <a:cubicBezTo>
                      <a:pt x="326" y="1018"/>
                      <a:pt x="329" y="1016"/>
                      <a:pt x="332" y="1016"/>
                    </a:cubicBezTo>
                    <a:cubicBezTo>
                      <a:pt x="420" y="1012"/>
                      <a:pt x="488" y="935"/>
                      <a:pt x="479" y="845"/>
                    </a:cubicBezTo>
                    <a:cubicBezTo>
                      <a:pt x="479" y="842"/>
                      <a:pt x="481" y="839"/>
                      <a:pt x="484" y="838"/>
                    </a:cubicBezTo>
                    <a:cubicBezTo>
                      <a:pt x="531" y="820"/>
                      <a:pt x="565" y="773"/>
                      <a:pt x="565" y="720"/>
                    </a:cubicBezTo>
                    <a:cubicBezTo>
                      <a:pt x="565" y="691"/>
                      <a:pt x="555" y="665"/>
                      <a:pt x="539" y="644"/>
                    </a:cubicBezTo>
                    <a:cubicBezTo>
                      <a:pt x="538" y="641"/>
                      <a:pt x="537" y="638"/>
                      <a:pt x="539" y="636"/>
                    </a:cubicBezTo>
                    <a:cubicBezTo>
                      <a:pt x="583" y="570"/>
                      <a:pt x="567" y="490"/>
                      <a:pt x="520" y="441"/>
                    </a:cubicBezTo>
                    <a:cubicBezTo>
                      <a:pt x="518" y="439"/>
                      <a:pt x="517" y="437"/>
                      <a:pt x="518" y="434"/>
                    </a:cubicBezTo>
                    <a:cubicBezTo>
                      <a:pt x="538" y="351"/>
                      <a:pt x="493" y="276"/>
                      <a:pt x="427" y="243"/>
                    </a:cubicBezTo>
                    <a:cubicBezTo>
                      <a:pt x="425" y="242"/>
                      <a:pt x="423" y="239"/>
                      <a:pt x="423" y="236"/>
                    </a:cubicBezTo>
                    <a:cubicBezTo>
                      <a:pt x="429" y="154"/>
                      <a:pt x="364" y="85"/>
                      <a:pt x="283" y="85"/>
                    </a:cubicBezTo>
                    <a:cubicBezTo>
                      <a:pt x="273" y="85"/>
                      <a:pt x="264" y="86"/>
                      <a:pt x="254" y="87"/>
                    </a:cubicBezTo>
                    <a:cubicBezTo>
                      <a:pt x="251" y="88"/>
                      <a:pt x="248" y="86"/>
                      <a:pt x="246" y="83"/>
                    </a:cubicBezTo>
                    <a:cubicBezTo>
                      <a:pt x="229" y="35"/>
                      <a:pt x="182" y="0"/>
                      <a:pt x="127" y="0"/>
                    </a:cubicBezTo>
                    <a:cubicBezTo>
                      <a:pt x="57" y="0"/>
                      <a:pt x="0" y="57"/>
                      <a:pt x="0" y="127"/>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2" name="Freeform 183">
                <a:extLst>
                  <a:ext uri="{FF2B5EF4-FFF2-40B4-BE49-F238E27FC236}">
                    <a16:creationId xmlns:a16="http://schemas.microsoft.com/office/drawing/2014/main" id="{ADD2F683-BDA3-9832-D5F2-F71ED4539477}"/>
                  </a:ext>
                </a:extLst>
              </p:cNvPr>
              <p:cNvSpPr>
                <a:spLocks noChangeArrowheads="1"/>
              </p:cNvSpPr>
              <p:nvPr/>
            </p:nvSpPr>
            <p:spPr bwMode="auto">
              <a:xfrm>
                <a:off x="9118647" y="2394785"/>
                <a:ext cx="51611" cy="51611"/>
              </a:xfrm>
              <a:custGeom>
                <a:avLst/>
                <a:gdLst>
                  <a:gd name="T0" fmla="*/ 57 w 114"/>
                  <a:gd name="T1" fmla="*/ 113 h 114"/>
                  <a:gd name="T2" fmla="*/ 0 w 114"/>
                  <a:gd name="T3" fmla="*/ 56 h 114"/>
                  <a:gd name="T4" fmla="*/ 57 w 114"/>
                  <a:gd name="T5" fmla="*/ 0 h 114"/>
                  <a:gd name="T6" fmla="*/ 113 w 114"/>
                  <a:gd name="T7" fmla="*/ 56 h 114"/>
                  <a:gd name="T8" fmla="*/ 57 w 114"/>
                  <a:gd name="T9" fmla="*/ 113 h 114"/>
                </a:gdLst>
                <a:ahLst/>
                <a:cxnLst>
                  <a:cxn ang="0">
                    <a:pos x="T0" y="T1"/>
                  </a:cxn>
                  <a:cxn ang="0">
                    <a:pos x="T2" y="T3"/>
                  </a:cxn>
                  <a:cxn ang="0">
                    <a:pos x="T4" y="T5"/>
                  </a:cxn>
                  <a:cxn ang="0">
                    <a:pos x="T6" y="T7"/>
                  </a:cxn>
                  <a:cxn ang="0">
                    <a:pos x="T8" y="T9"/>
                  </a:cxn>
                </a:cxnLst>
                <a:rect l="0" t="0" r="r" b="b"/>
                <a:pathLst>
                  <a:path w="114" h="114">
                    <a:moveTo>
                      <a:pt x="57" y="113"/>
                    </a:moveTo>
                    <a:cubicBezTo>
                      <a:pt x="26" y="113"/>
                      <a:pt x="0" y="87"/>
                      <a:pt x="0" y="56"/>
                    </a:cubicBezTo>
                    <a:cubicBezTo>
                      <a:pt x="0" y="25"/>
                      <a:pt x="26" y="0"/>
                      <a:pt x="57" y="0"/>
                    </a:cubicBezTo>
                    <a:cubicBezTo>
                      <a:pt x="88" y="0"/>
                      <a:pt x="113" y="25"/>
                      <a:pt x="113" y="56"/>
                    </a:cubicBezTo>
                    <a:cubicBezTo>
                      <a:pt x="113" y="87"/>
                      <a:pt x="88" y="113"/>
                      <a:pt x="57" y="113"/>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3" name="Freeform 184">
                <a:extLst>
                  <a:ext uri="{FF2B5EF4-FFF2-40B4-BE49-F238E27FC236}">
                    <a16:creationId xmlns:a16="http://schemas.microsoft.com/office/drawing/2014/main" id="{E2E56535-81CD-4A7C-CA9A-56A21C6B57D8}"/>
                  </a:ext>
                </a:extLst>
              </p:cNvPr>
              <p:cNvSpPr>
                <a:spLocks noChangeArrowheads="1"/>
              </p:cNvSpPr>
              <p:nvPr/>
            </p:nvSpPr>
            <p:spPr bwMode="auto">
              <a:xfrm>
                <a:off x="9118647" y="2533739"/>
                <a:ext cx="51611" cy="51611"/>
              </a:xfrm>
              <a:custGeom>
                <a:avLst/>
                <a:gdLst>
                  <a:gd name="T0" fmla="*/ 57 w 114"/>
                  <a:gd name="T1" fmla="*/ 113 h 114"/>
                  <a:gd name="T2" fmla="*/ 0 w 114"/>
                  <a:gd name="T3" fmla="*/ 57 h 114"/>
                  <a:gd name="T4" fmla="*/ 57 w 114"/>
                  <a:gd name="T5" fmla="*/ 0 h 114"/>
                  <a:gd name="T6" fmla="*/ 113 w 114"/>
                  <a:gd name="T7" fmla="*/ 57 h 114"/>
                  <a:gd name="T8" fmla="*/ 57 w 114"/>
                  <a:gd name="T9" fmla="*/ 113 h 114"/>
                </a:gdLst>
                <a:ahLst/>
                <a:cxnLst>
                  <a:cxn ang="0">
                    <a:pos x="T0" y="T1"/>
                  </a:cxn>
                  <a:cxn ang="0">
                    <a:pos x="T2" y="T3"/>
                  </a:cxn>
                  <a:cxn ang="0">
                    <a:pos x="T4" y="T5"/>
                  </a:cxn>
                  <a:cxn ang="0">
                    <a:pos x="T6" y="T7"/>
                  </a:cxn>
                  <a:cxn ang="0">
                    <a:pos x="T8" y="T9"/>
                  </a:cxn>
                </a:cxnLst>
                <a:rect l="0" t="0" r="r" b="b"/>
                <a:pathLst>
                  <a:path w="114" h="114">
                    <a:moveTo>
                      <a:pt x="57" y="113"/>
                    </a:moveTo>
                    <a:cubicBezTo>
                      <a:pt x="26" y="113"/>
                      <a:pt x="0" y="88"/>
                      <a:pt x="0" y="57"/>
                    </a:cubicBezTo>
                    <a:cubicBezTo>
                      <a:pt x="0" y="25"/>
                      <a:pt x="26" y="0"/>
                      <a:pt x="57" y="0"/>
                    </a:cubicBezTo>
                    <a:cubicBezTo>
                      <a:pt x="88" y="0"/>
                      <a:pt x="113" y="25"/>
                      <a:pt x="113" y="57"/>
                    </a:cubicBezTo>
                    <a:cubicBezTo>
                      <a:pt x="113" y="88"/>
                      <a:pt x="88" y="113"/>
                      <a:pt x="57" y="113"/>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5" name="Freeform 185">
                <a:extLst>
                  <a:ext uri="{FF2B5EF4-FFF2-40B4-BE49-F238E27FC236}">
                    <a16:creationId xmlns:a16="http://schemas.microsoft.com/office/drawing/2014/main" id="{AC9CAB9A-6281-1CA3-CF7F-426EA659CDF6}"/>
                  </a:ext>
                </a:extLst>
              </p:cNvPr>
              <p:cNvSpPr>
                <a:spLocks noChangeArrowheads="1"/>
              </p:cNvSpPr>
              <p:nvPr/>
            </p:nvSpPr>
            <p:spPr bwMode="auto">
              <a:xfrm>
                <a:off x="9118647" y="2674678"/>
                <a:ext cx="51611" cy="51611"/>
              </a:xfrm>
              <a:custGeom>
                <a:avLst/>
                <a:gdLst>
                  <a:gd name="T0" fmla="*/ 57 w 114"/>
                  <a:gd name="T1" fmla="*/ 112 h 113"/>
                  <a:gd name="T2" fmla="*/ 0 w 114"/>
                  <a:gd name="T3" fmla="*/ 56 h 113"/>
                  <a:gd name="T4" fmla="*/ 57 w 114"/>
                  <a:gd name="T5" fmla="*/ 0 h 113"/>
                  <a:gd name="T6" fmla="*/ 113 w 114"/>
                  <a:gd name="T7" fmla="*/ 56 h 113"/>
                  <a:gd name="T8" fmla="*/ 57 w 114"/>
                  <a:gd name="T9" fmla="*/ 112 h 113"/>
                </a:gdLst>
                <a:ahLst/>
                <a:cxnLst>
                  <a:cxn ang="0">
                    <a:pos x="T0" y="T1"/>
                  </a:cxn>
                  <a:cxn ang="0">
                    <a:pos x="T2" y="T3"/>
                  </a:cxn>
                  <a:cxn ang="0">
                    <a:pos x="T4" y="T5"/>
                  </a:cxn>
                  <a:cxn ang="0">
                    <a:pos x="T6" y="T7"/>
                  </a:cxn>
                  <a:cxn ang="0">
                    <a:pos x="T8" y="T9"/>
                  </a:cxn>
                </a:cxnLst>
                <a:rect l="0" t="0" r="r" b="b"/>
                <a:pathLst>
                  <a:path w="114" h="113">
                    <a:moveTo>
                      <a:pt x="57" y="112"/>
                    </a:moveTo>
                    <a:cubicBezTo>
                      <a:pt x="26" y="112"/>
                      <a:pt x="0" y="87"/>
                      <a:pt x="0" y="56"/>
                    </a:cubicBezTo>
                    <a:cubicBezTo>
                      <a:pt x="0" y="25"/>
                      <a:pt x="26" y="0"/>
                      <a:pt x="57" y="0"/>
                    </a:cubicBezTo>
                    <a:cubicBezTo>
                      <a:pt x="88" y="0"/>
                      <a:pt x="113" y="25"/>
                      <a:pt x="113" y="56"/>
                    </a:cubicBezTo>
                    <a:cubicBezTo>
                      <a:pt x="113" y="87"/>
                      <a:pt x="88" y="112"/>
                      <a:pt x="57" y="112"/>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7" name="Freeform 186">
                <a:extLst>
                  <a:ext uri="{FF2B5EF4-FFF2-40B4-BE49-F238E27FC236}">
                    <a16:creationId xmlns:a16="http://schemas.microsoft.com/office/drawing/2014/main" id="{AB1671D4-8807-6EA9-6DEC-C5D78BB6E725}"/>
                  </a:ext>
                </a:extLst>
              </p:cNvPr>
              <p:cNvSpPr>
                <a:spLocks noChangeArrowheads="1"/>
              </p:cNvSpPr>
              <p:nvPr/>
            </p:nvSpPr>
            <p:spPr bwMode="auto">
              <a:xfrm>
                <a:off x="9194079" y="2464262"/>
                <a:ext cx="51611" cy="51611"/>
              </a:xfrm>
              <a:custGeom>
                <a:avLst/>
                <a:gdLst>
                  <a:gd name="T0" fmla="*/ 56 w 113"/>
                  <a:gd name="T1" fmla="*/ 113 h 114"/>
                  <a:gd name="T2" fmla="*/ 0 w 113"/>
                  <a:gd name="T3" fmla="*/ 56 h 114"/>
                  <a:gd name="T4" fmla="*/ 56 w 113"/>
                  <a:gd name="T5" fmla="*/ 0 h 114"/>
                  <a:gd name="T6" fmla="*/ 112 w 113"/>
                  <a:gd name="T7" fmla="*/ 56 h 114"/>
                  <a:gd name="T8" fmla="*/ 56 w 113"/>
                  <a:gd name="T9" fmla="*/ 113 h 114"/>
                </a:gdLst>
                <a:ahLst/>
                <a:cxnLst>
                  <a:cxn ang="0">
                    <a:pos x="T0" y="T1"/>
                  </a:cxn>
                  <a:cxn ang="0">
                    <a:pos x="T2" y="T3"/>
                  </a:cxn>
                  <a:cxn ang="0">
                    <a:pos x="T4" y="T5"/>
                  </a:cxn>
                  <a:cxn ang="0">
                    <a:pos x="T6" y="T7"/>
                  </a:cxn>
                  <a:cxn ang="0">
                    <a:pos x="T8" y="T9"/>
                  </a:cxn>
                </a:cxnLst>
                <a:rect l="0" t="0" r="r" b="b"/>
                <a:pathLst>
                  <a:path w="113" h="114">
                    <a:moveTo>
                      <a:pt x="56" y="113"/>
                    </a:moveTo>
                    <a:cubicBezTo>
                      <a:pt x="25" y="113"/>
                      <a:pt x="0" y="87"/>
                      <a:pt x="0" y="56"/>
                    </a:cubicBezTo>
                    <a:cubicBezTo>
                      <a:pt x="0" y="25"/>
                      <a:pt x="25" y="0"/>
                      <a:pt x="56" y="0"/>
                    </a:cubicBezTo>
                    <a:cubicBezTo>
                      <a:pt x="87" y="0"/>
                      <a:pt x="112" y="25"/>
                      <a:pt x="112" y="56"/>
                    </a:cubicBezTo>
                    <a:cubicBezTo>
                      <a:pt x="112" y="87"/>
                      <a:pt x="87" y="113"/>
                      <a:pt x="56" y="113"/>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8" name="Freeform 187">
                <a:extLst>
                  <a:ext uri="{FF2B5EF4-FFF2-40B4-BE49-F238E27FC236}">
                    <a16:creationId xmlns:a16="http://schemas.microsoft.com/office/drawing/2014/main" id="{DF7D211B-9A1C-A025-4F07-8AFB06DAC193}"/>
                  </a:ext>
                </a:extLst>
              </p:cNvPr>
              <p:cNvSpPr>
                <a:spLocks noChangeArrowheads="1"/>
              </p:cNvSpPr>
              <p:nvPr/>
            </p:nvSpPr>
            <p:spPr bwMode="auto">
              <a:xfrm>
                <a:off x="9194079" y="2605201"/>
                <a:ext cx="51611" cy="51611"/>
              </a:xfrm>
              <a:custGeom>
                <a:avLst/>
                <a:gdLst>
                  <a:gd name="T0" fmla="*/ 56 w 113"/>
                  <a:gd name="T1" fmla="*/ 113 h 114"/>
                  <a:gd name="T2" fmla="*/ 0 w 113"/>
                  <a:gd name="T3" fmla="*/ 57 h 114"/>
                  <a:gd name="T4" fmla="*/ 56 w 113"/>
                  <a:gd name="T5" fmla="*/ 0 h 114"/>
                  <a:gd name="T6" fmla="*/ 112 w 113"/>
                  <a:gd name="T7" fmla="*/ 57 h 114"/>
                  <a:gd name="T8" fmla="*/ 56 w 113"/>
                  <a:gd name="T9" fmla="*/ 113 h 114"/>
                </a:gdLst>
                <a:ahLst/>
                <a:cxnLst>
                  <a:cxn ang="0">
                    <a:pos x="T0" y="T1"/>
                  </a:cxn>
                  <a:cxn ang="0">
                    <a:pos x="T2" y="T3"/>
                  </a:cxn>
                  <a:cxn ang="0">
                    <a:pos x="T4" y="T5"/>
                  </a:cxn>
                  <a:cxn ang="0">
                    <a:pos x="T6" y="T7"/>
                  </a:cxn>
                  <a:cxn ang="0">
                    <a:pos x="T8" y="T9"/>
                  </a:cxn>
                </a:cxnLst>
                <a:rect l="0" t="0" r="r" b="b"/>
                <a:pathLst>
                  <a:path w="113" h="114">
                    <a:moveTo>
                      <a:pt x="56" y="113"/>
                    </a:moveTo>
                    <a:cubicBezTo>
                      <a:pt x="25" y="113"/>
                      <a:pt x="0" y="88"/>
                      <a:pt x="0" y="57"/>
                    </a:cubicBezTo>
                    <a:cubicBezTo>
                      <a:pt x="0" y="26"/>
                      <a:pt x="25" y="0"/>
                      <a:pt x="56" y="0"/>
                    </a:cubicBezTo>
                    <a:cubicBezTo>
                      <a:pt x="87" y="0"/>
                      <a:pt x="112" y="26"/>
                      <a:pt x="112" y="57"/>
                    </a:cubicBezTo>
                    <a:cubicBezTo>
                      <a:pt x="112" y="88"/>
                      <a:pt x="87" y="113"/>
                      <a:pt x="56" y="113"/>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29" name="Freeform 188">
                <a:extLst>
                  <a:ext uri="{FF2B5EF4-FFF2-40B4-BE49-F238E27FC236}">
                    <a16:creationId xmlns:a16="http://schemas.microsoft.com/office/drawing/2014/main" id="{E7D9A6EA-FCC9-23C6-4C1D-EC6C338A1A19}"/>
                  </a:ext>
                </a:extLst>
              </p:cNvPr>
              <p:cNvSpPr>
                <a:spLocks noChangeArrowheads="1"/>
              </p:cNvSpPr>
              <p:nvPr/>
            </p:nvSpPr>
            <p:spPr bwMode="auto">
              <a:xfrm>
                <a:off x="9067035" y="2420590"/>
                <a:ext cx="51611" cy="1986"/>
              </a:xfrm>
              <a:custGeom>
                <a:avLst/>
                <a:gdLst>
                  <a:gd name="T0" fmla="*/ 113 w 114"/>
                  <a:gd name="T1" fmla="*/ 0 h 1"/>
                  <a:gd name="T2" fmla="*/ 0 w 114"/>
                  <a:gd name="T3" fmla="*/ 0 h 1"/>
                </a:gdLst>
                <a:ahLst/>
                <a:cxnLst>
                  <a:cxn ang="0">
                    <a:pos x="T0" y="T1"/>
                  </a:cxn>
                  <a:cxn ang="0">
                    <a:pos x="T2" y="T3"/>
                  </a:cxn>
                </a:cxnLst>
                <a:rect l="0" t="0" r="r" b="b"/>
                <a:pathLst>
                  <a:path w="114" h="1">
                    <a:moveTo>
                      <a:pt x="113" y="0"/>
                    </a:moveTo>
                    <a:cubicBezTo>
                      <a:pt x="76" y="0"/>
                      <a:pt x="38"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31" name="Freeform 189">
                <a:extLst>
                  <a:ext uri="{FF2B5EF4-FFF2-40B4-BE49-F238E27FC236}">
                    <a16:creationId xmlns:a16="http://schemas.microsoft.com/office/drawing/2014/main" id="{F99E734E-DED6-623D-7441-BA769CD68DE6}"/>
                  </a:ext>
                </a:extLst>
              </p:cNvPr>
              <p:cNvSpPr>
                <a:spLocks noChangeArrowheads="1"/>
              </p:cNvSpPr>
              <p:nvPr/>
            </p:nvSpPr>
            <p:spPr bwMode="auto">
              <a:xfrm>
                <a:off x="9067035" y="2559544"/>
                <a:ext cx="51611" cy="1986"/>
              </a:xfrm>
              <a:custGeom>
                <a:avLst/>
                <a:gdLst>
                  <a:gd name="T0" fmla="*/ 113 w 114"/>
                  <a:gd name="T1" fmla="*/ 0 h 1"/>
                  <a:gd name="T2" fmla="*/ 0 w 114"/>
                  <a:gd name="T3" fmla="*/ 0 h 1"/>
                </a:gdLst>
                <a:ahLst/>
                <a:cxnLst>
                  <a:cxn ang="0">
                    <a:pos x="T0" y="T1"/>
                  </a:cxn>
                  <a:cxn ang="0">
                    <a:pos x="T2" y="T3"/>
                  </a:cxn>
                </a:cxnLst>
                <a:rect l="0" t="0" r="r" b="b"/>
                <a:pathLst>
                  <a:path w="114" h="1">
                    <a:moveTo>
                      <a:pt x="113" y="0"/>
                    </a:moveTo>
                    <a:cubicBezTo>
                      <a:pt x="76" y="0"/>
                      <a:pt x="38"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32" name="Freeform 190">
                <a:extLst>
                  <a:ext uri="{FF2B5EF4-FFF2-40B4-BE49-F238E27FC236}">
                    <a16:creationId xmlns:a16="http://schemas.microsoft.com/office/drawing/2014/main" id="{FFB89992-4C2B-5368-985B-0DD7A3AE58F3}"/>
                  </a:ext>
                </a:extLst>
              </p:cNvPr>
              <p:cNvSpPr>
                <a:spLocks noChangeArrowheads="1"/>
              </p:cNvSpPr>
              <p:nvPr/>
            </p:nvSpPr>
            <p:spPr bwMode="auto">
              <a:xfrm>
                <a:off x="9067035" y="2700484"/>
                <a:ext cx="51611" cy="1984"/>
              </a:xfrm>
              <a:custGeom>
                <a:avLst/>
                <a:gdLst>
                  <a:gd name="T0" fmla="*/ 113 w 114"/>
                  <a:gd name="T1" fmla="*/ 0 h 1"/>
                  <a:gd name="T2" fmla="*/ 0 w 114"/>
                  <a:gd name="T3" fmla="*/ 0 h 1"/>
                </a:gdLst>
                <a:ahLst/>
                <a:cxnLst>
                  <a:cxn ang="0">
                    <a:pos x="T0" y="T1"/>
                  </a:cxn>
                  <a:cxn ang="0">
                    <a:pos x="T2" y="T3"/>
                  </a:cxn>
                </a:cxnLst>
                <a:rect l="0" t="0" r="r" b="b"/>
                <a:pathLst>
                  <a:path w="114" h="1">
                    <a:moveTo>
                      <a:pt x="113" y="0"/>
                    </a:moveTo>
                    <a:cubicBezTo>
                      <a:pt x="76" y="0"/>
                      <a:pt x="38"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41" name="Freeform 191">
                <a:extLst>
                  <a:ext uri="{FF2B5EF4-FFF2-40B4-BE49-F238E27FC236}">
                    <a16:creationId xmlns:a16="http://schemas.microsoft.com/office/drawing/2014/main" id="{E7522D8F-FDCC-DE27-1DB2-F25BD104ACFE}"/>
                  </a:ext>
                </a:extLst>
              </p:cNvPr>
              <p:cNvSpPr>
                <a:spLocks noChangeArrowheads="1"/>
              </p:cNvSpPr>
              <p:nvPr/>
            </p:nvSpPr>
            <p:spPr bwMode="auto">
              <a:xfrm>
                <a:off x="9067035" y="2629022"/>
                <a:ext cx="127044" cy="1984"/>
              </a:xfrm>
              <a:custGeom>
                <a:avLst/>
                <a:gdLst>
                  <a:gd name="T0" fmla="*/ 283 w 284"/>
                  <a:gd name="T1" fmla="*/ 0 h 1"/>
                  <a:gd name="T2" fmla="*/ 0 w 284"/>
                  <a:gd name="T3" fmla="*/ 0 h 1"/>
                </a:gdLst>
                <a:ahLst/>
                <a:cxnLst>
                  <a:cxn ang="0">
                    <a:pos x="T0" y="T1"/>
                  </a:cxn>
                  <a:cxn ang="0">
                    <a:pos x="T2" y="T3"/>
                  </a:cxn>
                </a:cxnLst>
                <a:rect l="0" t="0" r="r" b="b"/>
                <a:pathLst>
                  <a:path w="284" h="1">
                    <a:moveTo>
                      <a:pt x="283" y="0"/>
                    </a:moveTo>
                    <a:cubicBezTo>
                      <a:pt x="189" y="0"/>
                      <a:pt x="95"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152" name="Freeform 192">
                <a:extLst>
                  <a:ext uri="{FF2B5EF4-FFF2-40B4-BE49-F238E27FC236}">
                    <a16:creationId xmlns:a16="http://schemas.microsoft.com/office/drawing/2014/main" id="{D1D6DCF0-A8FD-BD1A-1699-FFAFFF84DDEC}"/>
                  </a:ext>
                </a:extLst>
              </p:cNvPr>
              <p:cNvSpPr>
                <a:spLocks noChangeArrowheads="1"/>
              </p:cNvSpPr>
              <p:nvPr/>
            </p:nvSpPr>
            <p:spPr bwMode="auto">
              <a:xfrm>
                <a:off x="9067035" y="2490068"/>
                <a:ext cx="127044" cy="1984"/>
              </a:xfrm>
              <a:custGeom>
                <a:avLst/>
                <a:gdLst>
                  <a:gd name="T0" fmla="*/ 283 w 284"/>
                  <a:gd name="T1" fmla="*/ 0 h 1"/>
                  <a:gd name="T2" fmla="*/ 0 w 284"/>
                  <a:gd name="T3" fmla="*/ 0 h 1"/>
                </a:gdLst>
                <a:ahLst/>
                <a:cxnLst>
                  <a:cxn ang="0">
                    <a:pos x="T0" y="T1"/>
                  </a:cxn>
                  <a:cxn ang="0">
                    <a:pos x="T2" y="T3"/>
                  </a:cxn>
                </a:cxnLst>
                <a:rect l="0" t="0" r="r" b="b"/>
                <a:pathLst>
                  <a:path w="284" h="1">
                    <a:moveTo>
                      <a:pt x="283" y="0"/>
                    </a:moveTo>
                    <a:cubicBezTo>
                      <a:pt x="189" y="0"/>
                      <a:pt x="95"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pSp>
      </p:grpSp>
    </p:spTree>
    <p:extLst>
      <p:ext uri="{BB962C8B-B14F-4D97-AF65-F5344CB8AC3E}">
        <p14:creationId xmlns:p14="http://schemas.microsoft.com/office/powerpoint/2010/main" val="891785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A669AA-4A44-D21F-ACFD-4D6A29DB43E3}"/>
              </a:ext>
            </a:extLst>
          </p:cNvPr>
          <p:cNvSpPr>
            <a:spLocks noGrp="1"/>
          </p:cNvSpPr>
          <p:nvPr>
            <p:ph type="body" sz="quarter" idx="12"/>
          </p:nvPr>
        </p:nvSpPr>
        <p:spPr>
          <a:xfrm>
            <a:off x="3238500" y="310896"/>
            <a:ext cx="8580120" cy="3495829"/>
          </a:xfrm>
        </p:spPr>
        <p:txBody>
          <a:bodyPr/>
          <a:lstStyle/>
          <a:p>
            <a:r>
              <a:rPr lang="en-GB" dirty="0">
                <a:hlinkClick r:id="rId2"/>
              </a:rPr>
              <a:t>https://partner.microsoft.com/en-us/asset/collection/azure-migrate-and-modernize-partner-led-and-azure-innovate-resources#/</a:t>
            </a:r>
            <a:r>
              <a:rPr lang="en-GB" dirty="0"/>
              <a:t> - Resources for AMM / Azure innovate </a:t>
            </a:r>
          </a:p>
          <a:p>
            <a:r>
              <a:rPr lang="en-GB" dirty="0">
                <a:hlinkClick r:id="rId3"/>
              </a:rPr>
              <a:t>https://partner.microsoft.com/en-us/asset/collection/caf-ready-and-govern-workshop-material#/</a:t>
            </a:r>
            <a:r>
              <a:rPr lang="en-GB" dirty="0"/>
              <a:t> - CAF Ready and govern workshop Material </a:t>
            </a:r>
          </a:p>
          <a:p>
            <a:r>
              <a:rPr lang="en-GB" dirty="0">
                <a:effectLst/>
                <a:hlinkClick r:id="rId4" tooltip="https://learn.microsoft.com/en-us/azure/migrate/how-to-assess"/>
              </a:rPr>
              <a:t>https://learn.microsoft.com/en-us/azure/migrate/how-to-assess</a:t>
            </a:r>
            <a:r>
              <a:rPr lang="en-GB" dirty="0">
                <a:effectLst/>
              </a:rPr>
              <a:t> - Assessment tools within Azure Migrate</a:t>
            </a:r>
          </a:p>
          <a:p>
            <a:r>
              <a:rPr lang="en-GB" dirty="0">
                <a:effectLst/>
                <a:hlinkClick r:id="rId5" tooltip="https://learn.microsoft.com/en-us/assessments/50adbf76-60fb-47ce-a787-f9d5f52f6a48/"/>
              </a:rPr>
              <a:t>https://learn.microsoft.com/en-us/assessments/50adbf76-60fb-47ce-a787-f9d5f52f6a48/</a:t>
            </a:r>
            <a:r>
              <a:rPr lang="en-GB" dirty="0">
                <a:effectLst/>
              </a:rPr>
              <a:t> - </a:t>
            </a:r>
            <a:r>
              <a:rPr lang="en-GB" dirty="0"/>
              <a:t>Microsoft App and Data Modernization Readiness tool – </a:t>
            </a:r>
          </a:p>
          <a:p>
            <a:endParaRPr lang="en-GB" dirty="0"/>
          </a:p>
          <a:p>
            <a:endParaRPr lang="en-GB" dirty="0"/>
          </a:p>
        </p:txBody>
      </p:sp>
      <p:sp>
        <p:nvSpPr>
          <p:cNvPr id="4" name="Title 3">
            <a:extLst>
              <a:ext uri="{FF2B5EF4-FFF2-40B4-BE49-F238E27FC236}">
                <a16:creationId xmlns:a16="http://schemas.microsoft.com/office/drawing/2014/main" id="{0AB45AE5-7A0F-F71C-636F-96F4CA0AEE5C}"/>
              </a:ext>
            </a:extLst>
          </p:cNvPr>
          <p:cNvSpPr>
            <a:spLocks noGrp="1"/>
          </p:cNvSpPr>
          <p:nvPr>
            <p:ph type="title"/>
          </p:nvPr>
        </p:nvSpPr>
        <p:spPr>
          <a:xfrm>
            <a:off x="334497" y="268589"/>
            <a:ext cx="2620793" cy="1023678"/>
          </a:xfrm>
        </p:spPr>
        <p:txBody>
          <a:bodyPr/>
          <a:lstStyle/>
          <a:p>
            <a:r>
              <a:rPr lang="en-GB" dirty="0"/>
              <a:t>Important Links (Azure)</a:t>
            </a:r>
          </a:p>
        </p:txBody>
      </p:sp>
      <p:sp>
        <p:nvSpPr>
          <p:cNvPr id="5" name="Slide Number Placeholder 4">
            <a:extLst>
              <a:ext uri="{FF2B5EF4-FFF2-40B4-BE49-F238E27FC236}">
                <a16:creationId xmlns:a16="http://schemas.microsoft.com/office/drawing/2014/main" id="{8658A412-C715-CDEC-41CB-783F9CB5D0BE}"/>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38</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892359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36AC04-60B5-616E-3A6A-852F6755D523}"/>
              </a:ext>
            </a:extLst>
          </p:cNvPr>
          <p:cNvSpPr>
            <a:spLocks noGrp="1"/>
          </p:cNvSpPr>
          <p:nvPr>
            <p:ph type="title"/>
          </p:nvPr>
        </p:nvSpPr>
        <p:spPr>
          <a:xfrm>
            <a:off x="588263" y="457200"/>
            <a:ext cx="11018520" cy="553998"/>
          </a:xfrm>
        </p:spPr>
        <p:txBody>
          <a:bodyPr vert="horz" wrap="square" lIns="0" tIns="0" rIns="0" bIns="0" rtlCol="0" anchor="t">
            <a:spAutoFit/>
          </a:bodyPr>
          <a:lstStyle/>
          <a:p>
            <a:pPr algn="ctr"/>
            <a:r>
              <a:rPr lang="en-US">
                <a:gradFill flip="none" rotWithShape="1">
                  <a:gsLst>
                    <a:gs pos="0">
                      <a:schemeClr val="accent1"/>
                    </a:gs>
                    <a:gs pos="100000">
                      <a:schemeClr val="accent2"/>
                    </a:gs>
                  </a:gsLst>
                  <a:lin ang="2700000" scaled="1"/>
                  <a:tileRect/>
                </a:gradFill>
              </a:rPr>
              <a:t>Introducing Azure Offerings: Partner-led</a:t>
            </a:r>
          </a:p>
        </p:txBody>
      </p:sp>
      <p:sp>
        <p:nvSpPr>
          <p:cNvPr id="14" name="Text Placeholder 13">
            <a:extLst>
              <a:ext uri="{FF2B5EF4-FFF2-40B4-BE49-F238E27FC236}">
                <a16:creationId xmlns:a16="http://schemas.microsoft.com/office/drawing/2014/main" id="{AAC516AB-5E25-00B5-BB51-4CA57F119A37}"/>
              </a:ext>
            </a:extLst>
          </p:cNvPr>
          <p:cNvSpPr>
            <a:spLocks noGrp="1"/>
          </p:cNvSpPr>
          <p:nvPr>
            <p:ph sz="quarter" idx="4294967295"/>
          </p:nvPr>
        </p:nvSpPr>
        <p:spPr>
          <a:xfrm>
            <a:off x="588963" y="1245060"/>
            <a:ext cx="9993313" cy="492443"/>
          </a:xfrm>
        </p:spPr>
        <p:txBody>
          <a:bodyPr/>
          <a:lstStyle/>
          <a:p>
            <a:pPr marL="0" indent="0" algn="ctr">
              <a:buNone/>
            </a:pPr>
            <a:r>
              <a:rPr lang="en-US" sz="1600">
                <a:latin typeface="+mj-lt"/>
              </a:rPr>
              <a:t>Nominate customer projects to Azure Migrate and Modernize &amp; Azure Innovate to accelerate their cloud journey, and track status via a self-service workflow</a:t>
            </a:r>
          </a:p>
        </p:txBody>
      </p:sp>
      <p:sp>
        <p:nvSpPr>
          <p:cNvPr id="87" name="TextBox 5">
            <a:extLst>
              <a:ext uri="{FF2B5EF4-FFF2-40B4-BE49-F238E27FC236}">
                <a16:creationId xmlns:a16="http://schemas.microsoft.com/office/drawing/2014/main" id="{190234FC-5782-98C0-3C06-396B31E556A7}"/>
              </a:ext>
            </a:extLst>
          </p:cNvPr>
          <p:cNvSpPr txBox="1">
            <a:spLocks/>
          </p:cNvSpPr>
          <p:nvPr/>
        </p:nvSpPr>
        <p:spPr>
          <a:xfrm>
            <a:off x="885371" y="2686491"/>
            <a:ext cx="2428100" cy="984885"/>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Semibold"/>
              </a:rPr>
              <a:t> Self-serve </a:t>
            </a:r>
            <a:br>
              <a:rPr kumimoji="0" lang="en-US" sz="1600" b="0" i="0" u="none" strike="noStrike" kern="1200" cap="none" spc="0" normalizeH="0" baseline="0" noProof="0">
                <a:ln>
                  <a:noFill/>
                </a:ln>
                <a:solidFill>
                  <a:srgbClr val="000000"/>
                </a:solidFill>
                <a:effectLst/>
                <a:uLnTx/>
                <a:uFillTx/>
                <a:latin typeface="Segoe UI"/>
                <a:ea typeface="+mn-ea"/>
                <a:cs typeface="Segoe UI Semibold"/>
              </a:rPr>
            </a:br>
            <a:r>
              <a:rPr kumimoji="0" lang="en-US" sz="1600" b="0" i="0" u="none" strike="noStrike" kern="1200" cap="none" spc="0" normalizeH="0" baseline="0" noProof="0">
                <a:ln>
                  <a:noFill/>
                </a:ln>
                <a:solidFill>
                  <a:srgbClr val="000000"/>
                </a:solidFill>
                <a:effectLst/>
                <a:uLnTx/>
                <a:uFillTx/>
                <a:latin typeface="Segoe UI"/>
                <a:ea typeface="+mn-ea"/>
                <a:cs typeface="Segoe UI Semibold"/>
              </a:rPr>
              <a:t>workflow through Microsoft Commerce Incentives</a:t>
            </a:r>
          </a:p>
        </p:txBody>
      </p:sp>
      <p:sp>
        <p:nvSpPr>
          <p:cNvPr id="60" name="Oval 59">
            <a:extLst>
              <a:ext uri="{FF2B5EF4-FFF2-40B4-BE49-F238E27FC236}">
                <a16:creationId xmlns:a16="http://schemas.microsoft.com/office/drawing/2014/main" id="{717E97C2-928F-472E-0AC8-18098D3EF692}"/>
              </a:ext>
              <a:ext uri="{C183D7F6-B498-43B3-948B-1728B52AA6E4}">
                <adec:decorative xmlns:adec="http://schemas.microsoft.com/office/drawing/2017/decorative" val="1"/>
              </a:ext>
            </a:extLst>
          </p:cNvPr>
          <p:cNvSpPr/>
          <p:nvPr/>
        </p:nvSpPr>
        <p:spPr bwMode="auto">
          <a:xfrm>
            <a:off x="1568015" y="3797300"/>
            <a:ext cx="1062812" cy="1062812"/>
          </a:xfrm>
          <a:prstGeom prst="ellipse">
            <a:avLst/>
          </a:prstGeom>
          <a:solidFill>
            <a:schemeClr val="bg1"/>
          </a:soli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Segoe UI"/>
              <a:ea typeface="+mn-ea"/>
              <a:cs typeface="+mn-cs"/>
            </a:endParaRPr>
          </a:p>
        </p:txBody>
      </p:sp>
      <p:grpSp>
        <p:nvGrpSpPr>
          <p:cNvPr id="108" name="automated" descr="automated">
            <a:extLst>
              <a:ext uri="{FF2B5EF4-FFF2-40B4-BE49-F238E27FC236}">
                <a16:creationId xmlns:a16="http://schemas.microsoft.com/office/drawing/2014/main" id="{6333774D-D07D-FF46-826F-FDEAF7F126F9}"/>
              </a:ext>
            </a:extLst>
          </p:cNvPr>
          <p:cNvGrpSpPr/>
          <p:nvPr/>
        </p:nvGrpSpPr>
        <p:grpSpPr>
          <a:xfrm>
            <a:off x="1828801" y="3987073"/>
            <a:ext cx="541240" cy="683266"/>
            <a:chOff x="7294940" y="2109265"/>
            <a:chExt cx="373227" cy="471165"/>
          </a:xfrm>
        </p:grpSpPr>
        <p:sp>
          <p:nvSpPr>
            <p:cNvPr id="109" name="Freeform 566">
              <a:extLst>
                <a:ext uri="{FF2B5EF4-FFF2-40B4-BE49-F238E27FC236}">
                  <a16:creationId xmlns:a16="http://schemas.microsoft.com/office/drawing/2014/main" id="{4550BFA9-30D5-C0C5-B638-CAF7D3C4E6DB}"/>
                </a:ext>
              </a:extLst>
            </p:cNvPr>
            <p:cNvSpPr>
              <a:spLocks/>
            </p:cNvSpPr>
            <p:nvPr/>
          </p:nvSpPr>
          <p:spPr bwMode="auto">
            <a:xfrm>
              <a:off x="7294940" y="2109265"/>
              <a:ext cx="267347" cy="370579"/>
            </a:xfrm>
            <a:custGeom>
              <a:avLst/>
              <a:gdLst>
                <a:gd name="T0" fmla="*/ 219 w 219"/>
                <a:gd name="T1" fmla="*/ 57 h 301"/>
                <a:gd name="T2" fmla="*/ 162 w 219"/>
                <a:gd name="T3" fmla="*/ 0 h 301"/>
                <a:gd name="T4" fmla="*/ 162 w 219"/>
                <a:gd name="T5" fmla="*/ 42 h 301"/>
                <a:gd name="T6" fmla="*/ 152 w 219"/>
                <a:gd name="T7" fmla="*/ 42 h 301"/>
                <a:gd name="T8" fmla="*/ 0 w 219"/>
                <a:gd name="T9" fmla="*/ 194 h 301"/>
                <a:gd name="T10" fmla="*/ 45 w 219"/>
                <a:gd name="T11" fmla="*/ 301 h 301"/>
                <a:gd name="T12" fmla="*/ 73 w 219"/>
                <a:gd name="T13" fmla="*/ 272 h 301"/>
                <a:gd name="T14" fmla="*/ 41 w 219"/>
                <a:gd name="T15" fmla="*/ 194 h 301"/>
                <a:gd name="T16" fmla="*/ 73 w 219"/>
                <a:gd name="T17" fmla="*/ 115 h 301"/>
                <a:gd name="T18" fmla="*/ 152 w 219"/>
                <a:gd name="T19" fmla="*/ 82 h 301"/>
                <a:gd name="T20" fmla="*/ 162 w 219"/>
                <a:gd name="T21" fmla="*/ 83 h 301"/>
                <a:gd name="T22" fmla="*/ 162 w 219"/>
                <a:gd name="T23" fmla="*/ 114 h 301"/>
                <a:gd name="T24" fmla="*/ 219 w 219"/>
                <a:gd name="T25" fmla="*/ 57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301">
                  <a:moveTo>
                    <a:pt x="219" y="57"/>
                  </a:moveTo>
                  <a:cubicBezTo>
                    <a:pt x="162" y="0"/>
                    <a:pt x="162" y="0"/>
                    <a:pt x="162" y="0"/>
                  </a:cubicBezTo>
                  <a:cubicBezTo>
                    <a:pt x="162" y="42"/>
                    <a:pt x="162" y="42"/>
                    <a:pt x="162" y="42"/>
                  </a:cubicBezTo>
                  <a:cubicBezTo>
                    <a:pt x="159" y="42"/>
                    <a:pt x="155" y="42"/>
                    <a:pt x="152" y="42"/>
                  </a:cubicBezTo>
                  <a:cubicBezTo>
                    <a:pt x="68" y="42"/>
                    <a:pt x="0" y="110"/>
                    <a:pt x="0" y="194"/>
                  </a:cubicBezTo>
                  <a:cubicBezTo>
                    <a:pt x="0" y="235"/>
                    <a:pt x="17" y="273"/>
                    <a:pt x="45" y="301"/>
                  </a:cubicBezTo>
                  <a:cubicBezTo>
                    <a:pt x="73" y="272"/>
                    <a:pt x="73" y="272"/>
                    <a:pt x="73" y="272"/>
                  </a:cubicBezTo>
                  <a:cubicBezTo>
                    <a:pt x="52" y="251"/>
                    <a:pt x="41" y="223"/>
                    <a:pt x="41" y="194"/>
                  </a:cubicBezTo>
                  <a:cubicBezTo>
                    <a:pt x="41" y="164"/>
                    <a:pt x="52" y="136"/>
                    <a:pt x="73" y="115"/>
                  </a:cubicBezTo>
                  <a:cubicBezTo>
                    <a:pt x="94" y="94"/>
                    <a:pt x="122" y="82"/>
                    <a:pt x="152" y="82"/>
                  </a:cubicBezTo>
                  <a:cubicBezTo>
                    <a:pt x="155" y="82"/>
                    <a:pt x="159" y="82"/>
                    <a:pt x="162" y="83"/>
                  </a:cubicBezTo>
                  <a:cubicBezTo>
                    <a:pt x="162" y="114"/>
                    <a:pt x="162" y="114"/>
                    <a:pt x="162" y="114"/>
                  </a:cubicBezTo>
                  <a:lnTo>
                    <a:pt x="219" y="57"/>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10" name="Freeform 567">
              <a:extLst>
                <a:ext uri="{FF2B5EF4-FFF2-40B4-BE49-F238E27FC236}">
                  <a16:creationId xmlns:a16="http://schemas.microsoft.com/office/drawing/2014/main" id="{C07D19DD-F47C-2495-483D-92C5F81B80BE}"/>
                </a:ext>
              </a:extLst>
            </p:cNvPr>
            <p:cNvSpPr>
              <a:spLocks/>
            </p:cNvSpPr>
            <p:nvPr/>
          </p:nvSpPr>
          <p:spPr bwMode="auto">
            <a:xfrm>
              <a:off x="7411408" y="2215145"/>
              <a:ext cx="256759" cy="365285"/>
            </a:xfrm>
            <a:custGeom>
              <a:avLst/>
              <a:gdLst>
                <a:gd name="T0" fmla="*/ 164 w 209"/>
                <a:gd name="T1" fmla="*/ 0 h 298"/>
                <a:gd name="T2" fmla="*/ 136 w 209"/>
                <a:gd name="T3" fmla="*/ 29 h 298"/>
                <a:gd name="T4" fmla="*/ 136 w 209"/>
                <a:gd name="T5" fmla="*/ 29 h 298"/>
                <a:gd name="T6" fmla="*/ 168 w 209"/>
                <a:gd name="T7" fmla="*/ 108 h 298"/>
                <a:gd name="T8" fmla="*/ 136 w 209"/>
                <a:gd name="T9" fmla="*/ 186 h 298"/>
                <a:gd name="T10" fmla="*/ 57 w 209"/>
                <a:gd name="T11" fmla="*/ 219 h 298"/>
                <a:gd name="T12" fmla="*/ 57 w 209"/>
                <a:gd name="T13" fmla="*/ 183 h 298"/>
                <a:gd name="T14" fmla="*/ 0 w 209"/>
                <a:gd name="T15" fmla="*/ 241 h 298"/>
                <a:gd name="T16" fmla="*/ 57 w 209"/>
                <a:gd name="T17" fmla="*/ 298 h 298"/>
                <a:gd name="T18" fmla="*/ 57 w 209"/>
                <a:gd name="T19" fmla="*/ 259 h 298"/>
                <a:gd name="T20" fmla="*/ 209 w 209"/>
                <a:gd name="T21" fmla="*/ 108 h 298"/>
                <a:gd name="T22" fmla="*/ 164 w 209"/>
                <a:gd name="T23"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9" h="298">
                  <a:moveTo>
                    <a:pt x="164" y="0"/>
                  </a:moveTo>
                  <a:cubicBezTo>
                    <a:pt x="136" y="29"/>
                    <a:pt x="136" y="29"/>
                    <a:pt x="136" y="29"/>
                  </a:cubicBezTo>
                  <a:cubicBezTo>
                    <a:pt x="136" y="29"/>
                    <a:pt x="136" y="29"/>
                    <a:pt x="136" y="29"/>
                  </a:cubicBezTo>
                  <a:cubicBezTo>
                    <a:pt x="157" y="50"/>
                    <a:pt x="168" y="78"/>
                    <a:pt x="168" y="108"/>
                  </a:cubicBezTo>
                  <a:cubicBezTo>
                    <a:pt x="168" y="137"/>
                    <a:pt x="157" y="165"/>
                    <a:pt x="136" y="186"/>
                  </a:cubicBezTo>
                  <a:cubicBezTo>
                    <a:pt x="115" y="207"/>
                    <a:pt x="87" y="219"/>
                    <a:pt x="57" y="219"/>
                  </a:cubicBezTo>
                  <a:cubicBezTo>
                    <a:pt x="57" y="183"/>
                    <a:pt x="57" y="183"/>
                    <a:pt x="57" y="183"/>
                  </a:cubicBezTo>
                  <a:cubicBezTo>
                    <a:pt x="0" y="241"/>
                    <a:pt x="0" y="241"/>
                    <a:pt x="0" y="241"/>
                  </a:cubicBezTo>
                  <a:cubicBezTo>
                    <a:pt x="57" y="298"/>
                    <a:pt x="57" y="298"/>
                    <a:pt x="57" y="298"/>
                  </a:cubicBezTo>
                  <a:cubicBezTo>
                    <a:pt x="57" y="259"/>
                    <a:pt x="57" y="259"/>
                    <a:pt x="57" y="259"/>
                  </a:cubicBezTo>
                  <a:cubicBezTo>
                    <a:pt x="141" y="259"/>
                    <a:pt x="209" y="191"/>
                    <a:pt x="209" y="108"/>
                  </a:cubicBezTo>
                  <a:cubicBezTo>
                    <a:pt x="209" y="66"/>
                    <a:pt x="192" y="28"/>
                    <a:pt x="164"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11" name="Freeform 568">
              <a:extLst>
                <a:ext uri="{FF2B5EF4-FFF2-40B4-BE49-F238E27FC236}">
                  <a16:creationId xmlns:a16="http://schemas.microsoft.com/office/drawing/2014/main" id="{A55C5A1E-E06B-7F8D-CCA7-40D625C8E3A5}"/>
                </a:ext>
              </a:extLst>
            </p:cNvPr>
            <p:cNvSpPr>
              <a:spLocks noEditPoints="1"/>
            </p:cNvSpPr>
            <p:nvPr/>
          </p:nvSpPr>
          <p:spPr bwMode="auto">
            <a:xfrm>
              <a:off x="7419350" y="2286613"/>
              <a:ext cx="124410" cy="121762"/>
            </a:xfrm>
            <a:custGeom>
              <a:avLst/>
              <a:gdLst>
                <a:gd name="T0" fmla="*/ 102 w 102"/>
                <a:gd name="T1" fmla="*/ 60 h 101"/>
                <a:gd name="T2" fmla="*/ 102 w 102"/>
                <a:gd name="T3" fmla="*/ 40 h 101"/>
                <a:gd name="T4" fmla="*/ 90 w 102"/>
                <a:gd name="T5" fmla="*/ 40 h 101"/>
                <a:gd name="T6" fmla="*/ 86 w 102"/>
                <a:gd name="T7" fmla="*/ 30 h 101"/>
                <a:gd name="T8" fmla="*/ 94 w 102"/>
                <a:gd name="T9" fmla="*/ 22 h 101"/>
                <a:gd name="T10" fmla="*/ 80 w 102"/>
                <a:gd name="T11" fmla="*/ 7 h 101"/>
                <a:gd name="T12" fmla="*/ 71 w 102"/>
                <a:gd name="T13" fmla="*/ 16 h 101"/>
                <a:gd name="T14" fmla="*/ 61 w 102"/>
                <a:gd name="T15" fmla="*/ 12 h 101"/>
                <a:gd name="T16" fmla="*/ 61 w 102"/>
                <a:gd name="T17" fmla="*/ 0 h 101"/>
                <a:gd name="T18" fmla="*/ 41 w 102"/>
                <a:gd name="T19" fmla="*/ 0 h 101"/>
                <a:gd name="T20" fmla="*/ 41 w 102"/>
                <a:gd name="T21" fmla="*/ 12 h 101"/>
                <a:gd name="T22" fmla="*/ 31 w 102"/>
                <a:gd name="T23" fmla="*/ 16 h 101"/>
                <a:gd name="T24" fmla="*/ 22 w 102"/>
                <a:gd name="T25" fmla="*/ 7 h 101"/>
                <a:gd name="T26" fmla="*/ 8 w 102"/>
                <a:gd name="T27" fmla="*/ 22 h 101"/>
                <a:gd name="T28" fmla="*/ 17 w 102"/>
                <a:gd name="T29" fmla="*/ 30 h 101"/>
                <a:gd name="T30" fmla="*/ 13 w 102"/>
                <a:gd name="T31" fmla="*/ 40 h 101"/>
                <a:gd name="T32" fmla="*/ 0 w 102"/>
                <a:gd name="T33" fmla="*/ 40 h 101"/>
                <a:gd name="T34" fmla="*/ 0 w 102"/>
                <a:gd name="T35" fmla="*/ 61 h 101"/>
                <a:gd name="T36" fmla="*/ 12 w 102"/>
                <a:gd name="T37" fmla="*/ 61 h 101"/>
                <a:gd name="T38" fmla="*/ 16 w 102"/>
                <a:gd name="T39" fmla="*/ 71 h 101"/>
                <a:gd name="T40" fmla="*/ 8 w 102"/>
                <a:gd name="T41" fmla="*/ 79 h 101"/>
                <a:gd name="T42" fmla="*/ 22 w 102"/>
                <a:gd name="T43" fmla="*/ 93 h 101"/>
                <a:gd name="T44" fmla="*/ 30 w 102"/>
                <a:gd name="T45" fmla="*/ 86 h 101"/>
                <a:gd name="T46" fmla="*/ 41 w 102"/>
                <a:gd name="T47" fmla="*/ 91 h 101"/>
                <a:gd name="T48" fmla="*/ 41 w 102"/>
                <a:gd name="T49" fmla="*/ 101 h 101"/>
                <a:gd name="T50" fmla="*/ 61 w 102"/>
                <a:gd name="T51" fmla="*/ 101 h 101"/>
                <a:gd name="T52" fmla="*/ 61 w 102"/>
                <a:gd name="T53" fmla="*/ 91 h 101"/>
                <a:gd name="T54" fmla="*/ 72 w 102"/>
                <a:gd name="T55" fmla="*/ 86 h 101"/>
                <a:gd name="T56" fmla="*/ 80 w 102"/>
                <a:gd name="T57" fmla="*/ 93 h 101"/>
                <a:gd name="T58" fmla="*/ 94 w 102"/>
                <a:gd name="T59" fmla="*/ 79 h 101"/>
                <a:gd name="T60" fmla="*/ 86 w 102"/>
                <a:gd name="T61" fmla="*/ 71 h 101"/>
                <a:gd name="T62" fmla="*/ 91 w 102"/>
                <a:gd name="T63" fmla="*/ 60 h 101"/>
                <a:gd name="T64" fmla="*/ 102 w 102"/>
                <a:gd name="T65" fmla="*/ 60 h 101"/>
                <a:gd name="T66" fmla="*/ 51 w 102"/>
                <a:gd name="T67" fmla="*/ 60 h 101"/>
                <a:gd name="T68" fmla="*/ 41 w 102"/>
                <a:gd name="T69" fmla="*/ 50 h 101"/>
                <a:gd name="T70" fmla="*/ 51 w 102"/>
                <a:gd name="T71" fmla="*/ 40 h 101"/>
                <a:gd name="T72" fmla="*/ 61 w 102"/>
                <a:gd name="T73" fmla="*/ 50 h 101"/>
                <a:gd name="T74" fmla="*/ 51 w 102"/>
                <a:gd name="T75" fmla="*/ 6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101">
                  <a:moveTo>
                    <a:pt x="102" y="60"/>
                  </a:moveTo>
                  <a:cubicBezTo>
                    <a:pt x="102" y="40"/>
                    <a:pt x="102" y="40"/>
                    <a:pt x="102" y="40"/>
                  </a:cubicBezTo>
                  <a:cubicBezTo>
                    <a:pt x="90" y="40"/>
                    <a:pt x="90" y="40"/>
                    <a:pt x="90" y="40"/>
                  </a:cubicBezTo>
                  <a:cubicBezTo>
                    <a:pt x="89" y="37"/>
                    <a:pt x="88" y="33"/>
                    <a:pt x="86" y="30"/>
                  </a:cubicBezTo>
                  <a:cubicBezTo>
                    <a:pt x="94" y="22"/>
                    <a:pt x="94" y="22"/>
                    <a:pt x="94" y="22"/>
                  </a:cubicBezTo>
                  <a:cubicBezTo>
                    <a:pt x="80" y="7"/>
                    <a:pt x="80" y="7"/>
                    <a:pt x="80" y="7"/>
                  </a:cubicBezTo>
                  <a:cubicBezTo>
                    <a:pt x="71" y="16"/>
                    <a:pt x="71" y="16"/>
                    <a:pt x="71" y="16"/>
                  </a:cubicBezTo>
                  <a:cubicBezTo>
                    <a:pt x="68" y="14"/>
                    <a:pt x="65" y="13"/>
                    <a:pt x="61" y="12"/>
                  </a:cubicBezTo>
                  <a:cubicBezTo>
                    <a:pt x="61" y="0"/>
                    <a:pt x="61" y="0"/>
                    <a:pt x="61" y="0"/>
                  </a:cubicBezTo>
                  <a:cubicBezTo>
                    <a:pt x="41" y="0"/>
                    <a:pt x="41" y="0"/>
                    <a:pt x="41" y="0"/>
                  </a:cubicBezTo>
                  <a:cubicBezTo>
                    <a:pt x="41" y="12"/>
                    <a:pt x="41" y="12"/>
                    <a:pt x="41" y="12"/>
                  </a:cubicBezTo>
                  <a:cubicBezTo>
                    <a:pt x="37" y="13"/>
                    <a:pt x="34" y="15"/>
                    <a:pt x="31" y="16"/>
                  </a:cubicBezTo>
                  <a:cubicBezTo>
                    <a:pt x="22" y="7"/>
                    <a:pt x="22" y="7"/>
                    <a:pt x="22" y="7"/>
                  </a:cubicBezTo>
                  <a:cubicBezTo>
                    <a:pt x="8" y="22"/>
                    <a:pt x="8" y="22"/>
                    <a:pt x="8" y="22"/>
                  </a:cubicBezTo>
                  <a:cubicBezTo>
                    <a:pt x="17" y="30"/>
                    <a:pt x="17" y="30"/>
                    <a:pt x="17" y="30"/>
                  </a:cubicBezTo>
                  <a:cubicBezTo>
                    <a:pt x="15" y="33"/>
                    <a:pt x="14" y="37"/>
                    <a:pt x="13" y="40"/>
                  </a:cubicBezTo>
                  <a:cubicBezTo>
                    <a:pt x="0" y="40"/>
                    <a:pt x="0" y="40"/>
                    <a:pt x="0" y="40"/>
                  </a:cubicBezTo>
                  <a:cubicBezTo>
                    <a:pt x="0" y="61"/>
                    <a:pt x="0" y="61"/>
                    <a:pt x="0" y="61"/>
                  </a:cubicBezTo>
                  <a:cubicBezTo>
                    <a:pt x="12" y="61"/>
                    <a:pt x="12" y="61"/>
                    <a:pt x="12" y="61"/>
                  </a:cubicBezTo>
                  <a:cubicBezTo>
                    <a:pt x="13" y="64"/>
                    <a:pt x="14" y="68"/>
                    <a:pt x="16" y="71"/>
                  </a:cubicBezTo>
                  <a:cubicBezTo>
                    <a:pt x="8" y="79"/>
                    <a:pt x="8" y="79"/>
                    <a:pt x="8" y="79"/>
                  </a:cubicBezTo>
                  <a:cubicBezTo>
                    <a:pt x="22" y="93"/>
                    <a:pt x="22" y="93"/>
                    <a:pt x="22" y="93"/>
                  </a:cubicBezTo>
                  <a:cubicBezTo>
                    <a:pt x="30" y="86"/>
                    <a:pt x="30" y="86"/>
                    <a:pt x="30" y="86"/>
                  </a:cubicBezTo>
                  <a:cubicBezTo>
                    <a:pt x="33" y="88"/>
                    <a:pt x="37" y="89"/>
                    <a:pt x="41" y="91"/>
                  </a:cubicBezTo>
                  <a:cubicBezTo>
                    <a:pt x="41" y="101"/>
                    <a:pt x="41" y="101"/>
                    <a:pt x="41" y="101"/>
                  </a:cubicBezTo>
                  <a:cubicBezTo>
                    <a:pt x="61" y="101"/>
                    <a:pt x="61" y="101"/>
                    <a:pt x="61" y="101"/>
                  </a:cubicBezTo>
                  <a:cubicBezTo>
                    <a:pt x="61" y="91"/>
                    <a:pt x="61" y="91"/>
                    <a:pt x="61" y="91"/>
                  </a:cubicBezTo>
                  <a:cubicBezTo>
                    <a:pt x="65" y="90"/>
                    <a:pt x="69" y="88"/>
                    <a:pt x="72" y="86"/>
                  </a:cubicBezTo>
                  <a:cubicBezTo>
                    <a:pt x="80" y="93"/>
                    <a:pt x="80" y="93"/>
                    <a:pt x="80" y="93"/>
                  </a:cubicBezTo>
                  <a:cubicBezTo>
                    <a:pt x="94" y="79"/>
                    <a:pt x="94" y="79"/>
                    <a:pt x="94" y="79"/>
                  </a:cubicBezTo>
                  <a:cubicBezTo>
                    <a:pt x="86" y="71"/>
                    <a:pt x="86" y="71"/>
                    <a:pt x="86" y="71"/>
                  </a:cubicBezTo>
                  <a:cubicBezTo>
                    <a:pt x="88" y="68"/>
                    <a:pt x="90" y="64"/>
                    <a:pt x="91" y="60"/>
                  </a:cubicBezTo>
                  <a:lnTo>
                    <a:pt x="102" y="60"/>
                  </a:lnTo>
                  <a:close/>
                  <a:moveTo>
                    <a:pt x="51" y="60"/>
                  </a:moveTo>
                  <a:cubicBezTo>
                    <a:pt x="45" y="60"/>
                    <a:pt x="41" y="56"/>
                    <a:pt x="41" y="50"/>
                  </a:cubicBezTo>
                  <a:cubicBezTo>
                    <a:pt x="41" y="45"/>
                    <a:pt x="45" y="40"/>
                    <a:pt x="51" y="40"/>
                  </a:cubicBezTo>
                  <a:cubicBezTo>
                    <a:pt x="57" y="40"/>
                    <a:pt x="61" y="45"/>
                    <a:pt x="61" y="50"/>
                  </a:cubicBezTo>
                  <a:cubicBezTo>
                    <a:pt x="61" y="56"/>
                    <a:pt x="57" y="60"/>
                    <a:pt x="51" y="6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cxnSp>
        <p:nvCxnSpPr>
          <p:cNvPr id="56" name="Straight Connector 55">
            <a:extLst>
              <a:ext uri="{FF2B5EF4-FFF2-40B4-BE49-F238E27FC236}">
                <a16:creationId xmlns:a16="http://schemas.microsoft.com/office/drawing/2014/main" id="{41C45D0A-F674-9CEA-AF3F-640DFBF7A129}"/>
              </a:ext>
              <a:ext uri="{C183D7F6-B498-43B3-948B-1728B52AA6E4}">
                <adec:decorative xmlns:adec="http://schemas.microsoft.com/office/drawing/2017/decorative" val="1"/>
              </a:ext>
            </a:extLst>
          </p:cNvPr>
          <p:cNvCxnSpPr>
            <a:cxnSpLocks/>
          </p:cNvCxnSpPr>
          <p:nvPr/>
        </p:nvCxnSpPr>
        <p:spPr>
          <a:xfrm>
            <a:off x="2099421" y="4972418"/>
            <a:ext cx="0" cy="1885582"/>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85D01CC4-79C9-6FEF-C0DD-2F311CBE809E}"/>
              </a:ext>
            </a:extLst>
          </p:cNvPr>
          <p:cNvSpPr txBox="1"/>
          <p:nvPr/>
        </p:nvSpPr>
        <p:spPr>
          <a:xfrm>
            <a:off x="510946" y="5897042"/>
            <a:ext cx="2119881" cy="369332"/>
          </a:xfrm>
          <a:prstGeom prst="rect">
            <a:avLst/>
          </a:prstGeom>
          <a:solidFill>
            <a:schemeClr val="bg2"/>
          </a:solid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rPr>
              <a:t>Note: *FastTrack for Azure assistance is available but not required</a:t>
            </a: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88" name="TextBox 87">
            <a:extLst>
              <a:ext uri="{FF2B5EF4-FFF2-40B4-BE49-F238E27FC236}">
                <a16:creationId xmlns:a16="http://schemas.microsoft.com/office/drawing/2014/main" id="{FFD46F6E-3C47-CF00-7DDE-AEF15D208597}"/>
              </a:ext>
            </a:extLst>
          </p:cNvPr>
          <p:cNvSpPr txBox="1">
            <a:spLocks/>
          </p:cNvSpPr>
          <p:nvPr/>
        </p:nvSpPr>
        <p:spPr>
          <a:xfrm>
            <a:off x="3553053" y="2615601"/>
            <a:ext cx="2432304" cy="98488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t>Faster approvals via automation and </a:t>
            </a:r>
            <a:br>
              <a:rPr kumimoji="0" lang="en-US" sz="16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br>
            <a:r>
              <a:rPr kumimoji="0" lang="en-US" sz="16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t>standardized </a:t>
            </a:r>
            <a:br>
              <a:rPr kumimoji="0" lang="en-US" sz="16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br>
            <a:r>
              <a:rPr kumimoji="0" lang="en-US" sz="16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t>engagement sizes</a:t>
            </a:r>
          </a:p>
        </p:txBody>
      </p:sp>
      <p:sp>
        <p:nvSpPr>
          <p:cNvPr id="67" name="Oval 66">
            <a:extLst>
              <a:ext uri="{FF2B5EF4-FFF2-40B4-BE49-F238E27FC236}">
                <a16:creationId xmlns:a16="http://schemas.microsoft.com/office/drawing/2014/main" id="{4E73C27E-2B55-66CE-8984-E78D6E5C1DFE}"/>
              </a:ext>
              <a:ext uri="{C183D7F6-B498-43B3-948B-1728B52AA6E4}">
                <adec:decorative xmlns:adec="http://schemas.microsoft.com/office/drawing/2017/decorative" val="1"/>
              </a:ext>
            </a:extLst>
          </p:cNvPr>
          <p:cNvSpPr/>
          <p:nvPr/>
        </p:nvSpPr>
        <p:spPr bwMode="auto">
          <a:xfrm>
            <a:off x="4239901" y="3797300"/>
            <a:ext cx="1062812" cy="1062812"/>
          </a:xfrm>
          <a:prstGeom prst="ellipse">
            <a:avLst/>
          </a:prstGeom>
          <a:solidFill>
            <a:schemeClr val="bg1"/>
          </a:soli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Segoe UI"/>
              <a:ea typeface="+mn-ea"/>
              <a:cs typeface="+mn-cs"/>
            </a:endParaRPr>
          </a:p>
        </p:txBody>
      </p:sp>
      <p:grpSp>
        <p:nvGrpSpPr>
          <p:cNvPr id="112" name="extend" descr="extend, connect, datacenters">
            <a:extLst>
              <a:ext uri="{FF2B5EF4-FFF2-40B4-BE49-F238E27FC236}">
                <a16:creationId xmlns:a16="http://schemas.microsoft.com/office/drawing/2014/main" id="{A4D56358-CE20-DE2D-7E85-C0F467282F0E}"/>
              </a:ext>
            </a:extLst>
          </p:cNvPr>
          <p:cNvGrpSpPr>
            <a:grpSpLocks noChangeAspect="1"/>
          </p:cNvGrpSpPr>
          <p:nvPr/>
        </p:nvGrpSpPr>
        <p:grpSpPr bwMode="auto">
          <a:xfrm>
            <a:off x="4542910" y="4136571"/>
            <a:ext cx="452590" cy="452590"/>
            <a:chOff x="1633" y="784"/>
            <a:chExt cx="280" cy="280"/>
          </a:xfrm>
        </p:grpSpPr>
        <p:sp>
          <p:nvSpPr>
            <p:cNvPr id="113" name="Rectangle 18">
              <a:extLst>
                <a:ext uri="{FF2B5EF4-FFF2-40B4-BE49-F238E27FC236}">
                  <a16:creationId xmlns:a16="http://schemas.microsoft.com/office/drawing/2014/main" id="{86A0AA27-AEDA-7207-D7E6-FDA397495DF5}"/>
                </a:ext>
              </a:extLst>
            </p:cNvPr>
            <p:cNvSpPr>
              <a:spLocks noChangeArrowheads="1"/>
            </p:cNvSpPr>
            <p:nvPr/>
          </p:nvSpPr>
          <p:spPr bwMode="auto">
            <a:xfrm>
              <a:off x="1717" y="784"/>
              <a:ext cx="29" cy="2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14" name="Rectangle 19">
              <a:extLst>
                <a:ext uri="{FF2B5EF4-FFF2-40B4-BE49-F238E27FC236}">
                  <a16:creationId xmlns:a16="http://schemas.microsoft.com/office/drawing/2014/main" id="{94EA1086-7BDD-9546-A9B0-185563BAD8C1}"/>
                </a:ext>
              </a:extLst>
            </p:cNvPr>
            <p:cNvSpPr>
              <a:spLocks noChangeArrowheads="1"/>
            </p:cNvSpPr>
            <p:nvPr/>
          </p:nvSpPr>
          <p:spPr bwMode="auto">
            <a:xfrm>
              <a:off x="1758" y="784"/>
              <a:ext cx="30" cy="29"/>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15" name="Rectangle 20">
              <a:extLst>
                <a:ext uri="{FF2B5EF4-FFF2-40B4-BE49-F238E27FC236}">
                  <a16:creationId xmlns:a16="http://schemas.microsoft.com/office/drawing/2014/main" id="{09FCC6DC-E08D-AA31-1C2B-D4B6332BB71D}"/>
                </a:ext>
              </a:extLst>
            </p:cNvPr>
            <p:cNvSpPr>
              <a:spLocks noChangeArrowheads="1"/>
            </p:cNvSpPr>
            <p:nvPr/>
          </p:nvSpPr>
          <p:spPr bwMode="auto">
            <a:xfrm>
              <a:off x="1758" y="826"/>
              <a:ext cx="30" cy="2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16" name="Rectangle 21">
              <a:extLst>
                <a:ext uri="{FF2B5EF4-FFF2-40B4-BE49-F238E27FC236}">
                  <a16:creationId xmlns:a16="http://schemas.microsoft.com/office/drawing/2014/main" id="{96C5A19C-8EFA-E577-2CEC-0AFD0E9E73B9}"/>
                </a:ext>
              </a:extLst>
            </p:cNvPr>
            <p:cNvSpPr>
              <a:spLocks noChangeArrowheads="1"/>
            </p:cNvSpPr>
            <p:nvPr/>
          </p:nvSpPr>
          <p:spPr bwMode="auto">
            <a:xfrm>
              <a:off x="1800" y="826"/>
              <a:ext cx="29" cy="29"/>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17" name="Rectangle 22">
              <a:extLst>
                <a:ext uri="{FF2B5EF4-FFF2-40B4-BE49-F238E27FC236}">
                  <a16:creationId xmlns:a16="http://schemas.microsoft.com/office/drawing/2014/main" id="{59C1BF0A-BA99-57F3-1193-10F0B17A37C4}"/>
                </a:ext>
              </a:extLst>
            </p:cNvPr>
            <p:cNvSpPr>
              <a:spLocks noChangeArrowheads="1"/>
            </p:cNvSpPr>
            <p:nvPr/>
          </p:nvSpPr>
          <p:spPr bwMode="auto">
            <a:xfrm>
              <a:off x="1800" y="868"/>
              <a:ext cx="29" cy="2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18" name="Rectangle 23">
              <a:extLst>
                <a:ext uri="{FF2B5EF4-FFF2-40B4-BE49-F238E27FC236}">
                  <a16:creationId xmlns:a16="http://schemas.microsoft.com/office/drawing/2014/main" id="{6DBFD3D5-98ED-441B-06F2-615E0CFC5067}"/>
                </a:ext>
              </a:extLst>
            </p:cNvPr>
            <p:cNvSpPr>
              <a:spLocks noChangeArrowheads="1"/>
            </p:cNvSpPr>
            <p:nvPr/>
          </p:nvSpPr>
          <p:spPr bwMode="auto">
            <a:xfrm>
              <a:off x="1842" y="868"/>
              <a:ext cx="29" cy="29"/>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19" name="Rectangle 24">
              <a:extLst>
                <a:ext uri="{FF2B5EF4-FFF2-40B4-BE49-F238E27FC236}">
                  <a16:creationId xmlns:a16="http://schemas.microsoft.com/office/drawing/2014/main" id="{B2B51D8F-8098-2841-C616-5911420FA1F9}"/>
                </a:ext>
              </a:extLst>
            </p:cNvPr>
            <p:cNvSpPr>
              <a:spLocks noChangeArrowheads="1"/>
            </p:cNvSpPr>
            <p:nvPr/>
          </p:nvSpPr>
          <p:spPr bwMode="auto">
            <a:xfrm>
              <a:off x="1633" y="909"/>
              <a:ext cx="29" cy="30"/>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20" name="Rectangle 25">
              <a:extLst>
                <a:ext uri="{FF2B5EF4-FFF2-40B4-BE49-F238E27FC236}">
                  <a16:creationId xmlns:a16="http://schemas.microsoft.com/office/drawing/2014/main" id="{5DC74073-F6AB-0B8F-2E1E-C1524A964A12}"/>
                </a:ext>
              </a:extLst>
            </p:cNvPr>
            <p:cNvSpPr>
              <a:spLocks noChangeArrowheads="1"/>
            </p:cNvSpPr>
            <p:nvPr/>
          </p:nvSpPr>
          <p:spPr bwMode="auto">
            <a:xfrm>
              <a:off x="1675" y="909"/>
              <a:ext cx="29" cy="30"/>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21" name="Rectangle 26">
              <a:extLst>
                <a:ext uri="{FF2B5EF4-FFF2-40B4-BE49-F238E27FC236}">
                  <a16:creationId xmlns:a16="http://schemas.microsoft.com/office/drawing/2014/main" id="{C36A72F6-7BF9-C1EC-20E7-6367CC5C990D}"/>
                </a:ext>
              </a:extLst>
            </p:cNvPr>
            <p:cNvSpPr>
              <a:spLocks noChangeArrowheads="1"/>
            </p:cNvSpPr>
            <p:nvPr/>
          </p:nvSpPr>
          <p:spPr bwMode="auto">
            <a:xfrm>
              <a:off x="1717" y="909"/>
              <a:ext cx="29" cy="30"/>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22" name="Oval 27">
              <a:extLst>
                <a:ext uri="{FF2B5EF4-FFF2-40B4-BE49-F238E27FC236}">
                  <a16:creationId xmlns:a16="http://schemas.microsoft.com/office/drawing/2014/main" id="{4BD85D09-40D8-F36A-AFF9-90BB3DE0C400}"/>
                </a:ext>
              </a:extLst>
            </p:cNvPr>
            <p:cNvSpPr>
              <a:spLocks noChangeArrowheads="1"/>
            </p:cNvSpPr>
            <p:nvPr/>
          </p:nvSpPr>
          <p:spPr bwMode="auto">
            <a:xfrm>
              <a:off x="1758" y="909"/>
              <a:ext cx="30" cy="30"/>
            </a:xfrm>
            <a:prstGeom prst="ellipse">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23" name="Rectangle 28">
              <a:extLst>
                <a:ext uri="{FF2B5EF4-FFF2-40B4-BE49-F238E27FC236}">
                  <a16:creationId xmlns:a16="http://schemas.microsoft.com/office/drawing/2014/main" id="{996F7A7B-9C43-5C9E-6074-092EEEF84BC9}"/>
                </a:ext>
              </a:extLst>
            </p:cNvPr>
            <p:cNvSpPr>
              <a:spLocks noChangeArrowheads="1"/>
            </p:cNvSpPr>
            <p:nvPr/>
          </p:nvSpPr>
          <p:spPr bwMode="auto">
            <a:xfrm>
              <a:off x="1800" y="909"/>
              <a:ext cx="29" cy="30"/>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24" name="Rectangle 29">
              <a:extLst>
                <a:ext uri="{FF2B5EF4-FFF2-40B4-BE49-F238E27FC236}">
                  <a16:creationId xmlns:a16="http://schemas.microsoft.com/office/drawing/2014/main" id="{448AD203-D4D1-E95A-9FEC-F16C23CB6DC6}"/>
                </a:ext>
              </a:extLst>
            </p:cNvPr>
            <p:cNvSpPr>
              <a:spLocks noChangeArrowheads="1"/>
            </p:cNvSpPr>
            <p:nvPr/>
          </p:nvSpPr>
          <p:spPr bwMode="auto">
            <a:xfrm>
              <a:off x="1842" y="909"/>
              <a:ext cx="29" cy="30"/>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25" name="Rectangle 30">
              <a:extLst>
                <a:ext uri="{FF2B5EF4-FFF2-40B4-BE49-F238E27FC236}">
                  <a16:creationId xmlns:a16="http://schemas.microsoft.com/office/drawing/2014/main" id="{70B63E5B-82AE-BE50-E82D-CCCA0B5A4B7B}"/>
                </a:ext>
              </a:extLst>
            </p:cNvPr>
            <p:cNvSpPr>
              <a:spLocks noChangeArrowheads="1"/>
            </p:cNvSpPr>
            <p:nvPr/>
          </p:nvSpPr>
          <p:spPr bwMode="auto">
            <a:xfrm>
              <a:off x="1884" y="909"/>
              <a:ext cx="29" cy="3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26" name="Rectangle 31">
              <a:extLst>
                <a:ext uri="{FF2B5EF4-FFF2-40B4-BE49-F238E27FC236}">
                  <a16:creationId xmlns:a16="http://schemas.microsoft.com/office/drawing/2014/main" id="{1D99823D-6814-EDE9-1AD6-227BBB4481CB}"/>
                </a:ext>
              </a:extLst>
            </p:cNvPr>
            <p:cNvSpPr>
              <a:spLocks noChangeArrowheads="1"/>
            </p:cNvSpPr>
            <p:nvPr/>
          </p:nvSpPr>
          <p:spPr bwMode="auto">
            <a:xfrm>
              <a:off x="1800" y="951"/>
              <a:ext cx="29" cy="2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27" name="Oval 32">
              <a:extLst>
                <a:ext uri="{FF2B5EF4-FFF2-40B4-BE49-F238E27FC236}">
                  <a16:creationId xmlns:a16="http://schemas.microsoft.com/office/drawing/2014/main" id="{FBF0112D-802B-6133-6FEC-F9684210652A}"/>
                </a:ext>
              </a:extLst>
            </p:cNvPr>
            <p:cNvSpPr>
              <a:spLocks noChangeArrowheads="1"/>
            </p:cNvSpPr>
            <p:nvPr/>
          </p:nvSpPr>
          <p:spPr bwMode="auto">
            <a:xfrm>
              <a:off x="1842" y="951"/>
              <a:ext cx="29" cy="2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28" name="Oval 33">
              <a:extLst>
                <a:ext uri="{FF2B5EF4-FFF2-40B4-BE49-F238E27FC236}">
                  <a16:creationId xmlns:a16="http://schemas.microsoft.com/office/drawing/2014/main" id="{7C79F945-612D-082D-C111-EAF078821053}"/>
                </a:ext>
              </a:extLst>
            </p:cNvPr>
            <p:cNvSpPr>
              <a:spLocks noChangeArrowheads="1"/>
            </p:cNvSpPr>
            <p:nvPr/>
          </p:nvSpPr>
          <p:spPr bwMode="auto">
            <a:xfrm>
              <a:off x="1758" y="993"/>
              <a:ext cx="30" cy="29"/>
            </a:xfrm>
            <a:prstGeom prst="ellipse">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29" name="Rectangle 34">
              <a:extLst>
                <a:ext uri="{FF2B5EF4-FFF2-40B4-BE49-F238E27FC236}">
                  <a16:creationId xmlns:a16="http://schemas.microsoft.com/office/drawing/2014/main" id="{0C8F9249-485F-50A3-70B0-6FDC8FB1577E}"/>
                </a:ext>
              </a:extLst>
            </p:cNvPr>
            <p:cNvSpPr>
              <a:spLocks noChangeArrowheads="1"/>
            </p:cNvSpPr>
            <p:nvPr/>
          </p:nvSpPr>
          <p:spPr bwMode="auto">
            <a:xfrm>
              <a:off x="1800" y="993"/>
              <a:ext cx="29" cy="29"/>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30" name="Rectangle 35">
              <a:extLst>
                <a:ext uri="{FF2B5EF4-FFF2-40B4-BE49-F238E27FC236}">
                  <a16:creationId xmlns:a16="http://schemas.microsoft.com/office/drawing/2014/main" id="{91A8910F-E4F0-385B-EDCB-BB072739F9A9}"/>
                </a:ext>
              </a:extLst>
            </p:cNvPr>
            <p:cNvSpPr>
              <a:spLocks noChangeArrowheads="1"/>
            </p:cNvSpPr>
            <p:nvPr/>
          </p:nvSpPr>
          <p:spPr bwMode="auto">
            <a:xfrm>
              <a:off x="1717" y="1035"/>
              <a:ext cx="29" cy="2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31" name="Rectangle 36">
              <a:extLst>
                <a:ext uri="{FF2B5EF4-FFF2-40B4-BE49-F238E27FC236}">
                  <a16:creationId xmlns:a16="http://schemas.microsoft.com/office/drawing/2014/main" id="{43CA8260-5CF9-9BCB-D07F-99194DEF3D4D}"/>
                </a:ext>
              </a:extLst>
            </p:cNvPr>
            <p:cNvSpPr>
              <a:spLocks noChangeArrowheads="1"/>
            </p:cNvSpPr>
            <p:nvPr/>
          </p:nvSpPr>
          <p:spPr bwMode="auto">
            <a:xfrm>
              <a:off x="1758" y="1035"/>
              <a:ext cx="30" cy="29"/>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cxnSp>
        <p:nvCxnSpPr>
          <p:cNvPr id="66" name="Straight Connector 65">
            <a:extLst>
              <a:ext uri="{FF2B5EF4-FFF2-40B4-BE49-F238E27FC236}">
                <a16:creationId xmlns:a16="http://schemas.microsoft.com/office/drawing/2014/main" id="{87BD7DF7-DDE9-A4F0-7385-7906DFA6D589}"/>
              </a:ext>
              <a:ext uri="{C183D7F6-B498-43B3-948B-1728B52AA6E4}">
                <adec:decorative xmlns:adec="http://schemas.microsoft.com/office/drawing/2017/decorative" val="1"/>
              </a:ext>
            </a:extLst>
          </p:cNvPr>
          <p:cNvCxnSpPr>
            <a:cxnSpLocks/>
          </p:cNvCxnSpPr>
          <p:nvPr/>
        </p:nvCxnSpPr>
        <p:spPr>
          <a:xfrm>
            <a:off x="4771307" y="4972418"/>
            <a:ext cx="0" cy="1885582"/>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9" name="TextBox 5">
            <a:extLst>
              <a:ext uri="{FF2B5EF4-FFF2-40B4-BE49-F238E27FC236}">
                <a16:creationId xmlns:a16="http://schemas.microsoft.com/office/drawing/2014/main" id="{9ED8E344-0A77-F919-3EFB-F02EAEAD76B7}"/>
              </a:ext>
            </a:extLst>
          </p:cNvPr>
          <p:cNvSpPr txBox="1">
            <a:spLocks/>
          </p:cNvSpPr>
          <p:nvPr/>
        </p:nvSpPr>
        <p:spPr>
          <a:xfrm>
            <a:off x="6224939" y="2686491"/>
            <a:ext cx="2432304" cy="98488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t>Engagements are </a:t>
            </a:r>
            <a:br>
              <a:rPr kumimoji="0" lang="en-US" sz="16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br>
            <a:r>
              <a:rPr kumimoji="0" lang="en-US" sz="16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t>nominated and led </a:t>
            </a:r>
            <a:br>
              <a:rPr kumimoji="0" lang="en-US" sz="16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br>
            <a:r>
              <a:rPr kumimoji="0" lang="en-US" sz="16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t>by partners* across the customer journey</a:t>
            </a:r>
            <a:endParaRPr kumimoji="0" lang="en-GB" sz="1600" b="0" i="1" u="none" strike="noStrike" kern="1200" cap="none" spc="0" normalizeH="0" baseline="30000" noProof="0">
              <a:ln>
                <a:noFill/>
              </a:ln>
              <a:solidFill>
                <a:srgbClr val="000000"/>
              </a:solidFill>
              <a:effectLst/>
              <a:uLnTx/>
              <a:uFillTx/>
              <a:latin typeface="Segoe UI"/>
              <a:ea typeface="+mn-ea"/>
              <a:cs typeface="Segoe UI Semibold" panose="020B0702040204020203" pitchFamily="34" charset="0"/>
            </a:endParaRPr>
          </a:p>
        </p:txBody>
      </p:sp>
      <p:sp>
        <p:nvSpPr>
          <p:cNvPr id="79" name="Oval 78">
            <a:extLst>
              <a:ext uri="{FF2B5EF4-FFF2-40B4-BE49-F238E27FC236}">
                <a16:creationId xmlns:a16="http://schemas.microsoft.com/office/drawing/2014/main" id="{F103D36F-2371-7BD1-598E-88A1FECEDBB1}"/>
              </a:ext>
              <a:ext uri="{C183D7F6-B498-43B3-948B-1728B52AA6E4}">
                <adec:decorative xmlns:adec="http://schemas.microsoft.com/office/drawing/2017/decorative" val="1"/>
              </a:ext>
            </a:extLst>
          </p:cNvPr>
          <p:cNvSpPr/>
          <p:nvPr/>
        </p:nvSpPr>
        <p:spPr bwMode="auto">
          <a:xfrm>
            <a:off x="6911787" y="3797300"/>
            <a:ext cx="1062812" cy="1062812"/>
          </a:xfrm>
          <a:prstGeom prst="ellipse">
            <a:avLst/>
          </a:prstGeom>
          <a:solidFill>
            <a:schemeClr val="bg1"/>
          </a:soli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Segoe UI"/>
              <a:ea typeface="+mn-ea"/>
              <a:cs typeface="+mn-cs"/>
            </a:endParaRPr>
          </a:p>
        </p:txBody>
      </p:sp>
      <p:pic>
        <p:nvPicPr>
          <p:cNvPr id="132" name="Graphic 131" descr="hands, partner, partnership, handshake">
            <a:extLst>
              <a:ext uri="{FF2B5EF4-FFF2-40B4-BE49-F238E27FC236}">
                <a16:creationId xmlns:a16="http://schemas.microsoft.com/office/drawing/2014/main" id="{2ACB3ADE-63C4-4BD8-00F7-FA1D7017C1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70057" y="4066374"/>
            <a:ext cx="542068" cy="505928"/>
          </a:xfrm>
          <a:prstGeom prst="rect">
            <a:avLst/>
          </a:prstGeom>
        </p:spPr>
      </p:pic>
      <p:cxnSp>
        <p:nvCxnSpPr>
          <p:cNvPr id="78" name="Straight Connector 77">
            <a:extLst>
              <a:ext uri="{FF2B5EF4-FFF2-40B4-BE49-F238E27FC236}">
                <a16:creationId xmlns:a16="http://schemas.microsoft.com/office/drawing/2014/main" id="{0E4BD71B-C919-6FC6-16C8-B56DE1ED8047}"/>
              </a:ext>
              <a:ext uri="{C183D7F6-B498-43B3-948B-1728B52AA6E4}">
                <adec:decorative xmlns:adec="http://schemas.microsoft.com/office/drawing/2017/decorative" val="1"/>
              </a:ext>
            </a:extLst>
          </p:cNvPr>
          <p:cNvCxnSpPr>
            <a:cxnSpLocks/>
          </p:cNvCxnSpPr>
          <p:nvPr/>
        </p:nvCxnSpPr>
        <p:spPr>
          <a:xfrm>
            <a:off x="7443193" y="4972418"/>
            <a:ext cx="0" cy="1885582"/>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7" name="TextBox 5">
            <a:extLst>
              <a:ext uri="{FF2B5EF4-FFF2-40B4-BE49-F238E27FC236}">
                <a16:creationId xmlns:a16="http://schemas.microsoft.com/office/drawing/2014/main" id="{EB69F58E-8A4A-0DB4-ED06-6BED6874B6D6}"/>
              </a:ext>
            </a:extLst>
          </p:cNvPr>
          <p:cNvSpPr txBox="1">
            <a:spLocks/>
          </p:cNvSpPr>
          <p:nvPr/>
        </p:nvSpPr>
        <p:spPr>
          <a:xfrm>
            <a:off x="8896919" y="2686491"/>
            <a:ext cx="2432304" cy="98488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t>Scale faster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t>with more </a:t>
            </a:r>
            <a:br>
              <a:rPr kumimoji="0" lang="en-US" sz="16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br>
            <a:r>
              <a:rPr kumimoji="0" lang="en-US" sz="16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t>engagements from migration to Innovation</a:t>
            </a:r>
          </a:p>
        </p:txBody>
      </p:sp>
      <p:sp>
        <p:nvSpPr>
          <p:cNvPr id="100" name="Oval 99">
            <a:extLst>
              <a:ext uri="{FF2B5EF4-FFF2-40B4-BE49-F238E27FC236}">
                <a16:creationId xmlns:a16="http://schemas.microsoft.com/office/drawing/2014/main" id="{E8AA7DBF-CFBA-22D8-A75E-19F4DD4FBD10}"/>
              </a:ext>
              <a:ext uri="{C183D7F6-B498-43B3-948B-1728B52AA6E4}">
                <adec:decorative xmlns:adec="http://schemas.microsoft.com/office/drawing/2017/decorative" val="1"/>
              </a:ext>
            </a:extLst>
          </p:cNvPr>
          <p:cNvSpPr/>
          <p:nvPr/>
        </p:nvSpPr>
        <p:spPr bwMode="auto">
          <a:xfrm>
            <a:off x="9583673" y="3797300"/>
            <a:ext cx="1062812" cy="1062812"/>
          </a:xfrm>
          <a:prstGeom prst="ellipse">
            <a:avLst/>
          </a:prstGeom>
          <a:solidFill>
            <a:schemeClr val="bg1"/>
          </a:soli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Segoe UI"/>
              <a:ea typeface="+mn-ea"/>
              <a:cs typeface="+mn-cs"/>
            </a:endParaRPr>
          </a:p>
        </p:txBody>
      </p:sp>
      <p:grpSp>
        <p:nvGrpSpPr>
          <p:cNvPr id="133" name="monitor progress" descr="monitor progress">
            <a:extLst>
              <a:ext uri="{FF2B5EF4-FFF2-40B4-BE49-F238E27FC236}">
                <a16:creationId xmlns:a16="http://schemas.microsoft.com/office/drawing/2014/main" id="{8FFC590C-74D7-2388-CF73-2DF94586933A}"/>
              </a:ext>
            </a:extLst>
          </p:cNvPr>
          <p:cNvGrpSpPr/>
          <p:nvPr/>
        </p:nvGrpSpPr>
        <p:grpSpPr>
          <a:xfrm>
            <a:off x="9843364" y="4093029"/>
            <a:ext cx="543430" cy="471354"/>
            <a:chOff x="5376340" y="2161459"/>
            <a:chExt cx="410598" cy="356140"/>
          </a:xfrm>
        </p:grpSpPr>
        <p:sp>
          <p:nvSpPr>
            <p:cNvPr id="134" name="Freeform 133">
              <a:extLst>
                <a:ext uri="{FF2B5EF4-FFF2-40B4-BE49-F238E27FC236}">
                  <a16:creationId xmlns:a16="http://schemas.microsoft.com/office/drawing/2014/main" id="{AE1A8CEC-21FF-D119-EA88-61325B3A1D74}"/>
                </a:ext>
              </a:extLst>
            </p:cNvPr>
            <p:cNvSpPr>
              <a:spLocks/>
            </p:cNvSpPr>
            <p:nvPr/>
          </p:nvSpPr>
          <p:spPr bwMode="auto">
            <a:xfrm>
              <a:off x="5587629" y="2161459"/>
              <a:ext cx="135051" cy="99110"/>
            </a:xfrm>
            <a:custGeom>
              <a:avLst/>
              <a:gdLst>
                <a:gd name="T0" fmla="*/ 0 w 185"/>
                <a:gd name="T1" fmla="*/ 82 h 137"/>
                <a:gd name="T2" fmla="*/ 128 w 185"/>
                <a:gd name="T3" fmla="*/ 137 h 137"/>
                <a:gd name="T4" fmla="*/ 185 w 185"/>
                <a:gd name="T5" fmla="*/ 78 h 137"/>
                <a:gd name="T6" fmla="*/ 100 w 185"/>
                <a:gd name="T7" fmla="*/ 21 h 137"/>
                <a:gd name="T8" fmla="*/ 0 w 185"/>
                <a:gd name="T9" fmla="*/ 0 h 137"/>
                <a:gd name="T10" fmla="*/ 0 w 185"/>
                <a:gd name="T11" fmla="*/ 82 h 137"/>
              </a:gdLst>
              <a:ahLst/>
              <a:cxnLst>
                <a:cxn ang="0">
                  <a:pos x="T0" y="T1"/>
                </a:cxn>
                <a:cxn ang="0">
                  <a:pos x="T2" y="T3"/>
                </a:cxn>
                <a:cxn ang="0">
                  <a:pos x="T4" y="T5"/>
                </a:cxn>
                <a:cxn ang="0">
                  <a:pos x="T6" y="T7"/>
                </a:cxn>
                <a:cxn ang="0">
                  <a:pos x="T8" y="T9"/>
                </a:cxn>
                <a:cxn ang="0">
                  <a:pos x="T10" y="T11"/>
                </a:cxn>
              </a:cxnLst>
              <a:rect l="0" t="0" r="r" b="b"/>
              <a:pathLst>
                <a:path w="185" h="137">
                  <a:moveTo>
                    <a:pt x="0" y="82"/>
                  </a:moveTo>
                  <a:cubicBezTo>
                    <a:pt x="49" y="85"/>
                    <a:pt x="94" y="105"/>
                    <a:pt x="128" y="137"/>
                  </a:cubicBezTo>
                  <a:cubicBezTo>
                    <a:pt x="185" y="78"/>
                    <a:pt x="185" y="78"/>
                    <a:pt x="185" y="78"/>
                  </a:cubicBezTo>
                  <a:cubicBezTo>
                    <a:pt x="159" y="53"/>
                    <a:pt x="130" y="34"/>
                    <a:pt x="100" y="21"/>
                  </a:cubicBezTo>
                  <a:cubicBezTo>
                    <a:pt x="69" y="8"/>
                    <a:pt x="36" y="1"/>
                    <a:pt x="0" y="0"/>
                  </a:cubicBezTo>
                  <a:lnTo>
                    <a:pt x="0" y="82"/>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35" name="Freeform 134">
              <a:extLst>
                <a:ext uri="{FF2B5EF4-FFF2-40B4-BE49-F238E27FC236}">
                  <a16:creationId xmlns:a16="http://schemas.microsoft.com/office/drawing/2014/main" id="{895424CF-9D61-45F1-7A7C-830412A54DC7}"/>
                </a:ext>
              </a:extLst>
            </p:cNvPr>
            <p:cNvSpPr>
              <a:spLocks/>
            </p:cNvSpPr>
            <p:nvPr/>
          </p:nvSpPr>
          <p:spPr bwMode="auto">
            <a:xfrm>
              <a:off x="5376340" y="2379281"/>
              <a:ext cx="96932" cy="138318"/>
            </a:xfrm>
            <a:custGeom>
              <a:avLst/>
              <a:gdLst>
                <a:gd name="T0" fmla="*/ 133 w 133"/>
                <a:gd name="T1" fmla="*/ 132 h 190"/>
                <a:gd name="T2" fmla="*/ 76 w 133"/>
                <a:gd name="T3" fmla="*/ 190 h 190"/>
                <a:gd name="T4" fmla="*/ 75 w 133"/>
                <a:gd name="T5" fmla="*/ 189 h 190"/>
                <a:gd name="T6" fmla="*/ 20 w 133"/>
                <a:gd name="T7" fmla="*/ 102 h 190"/>
                <a:gd name="T8" fmla="*/ 0 w 133"/>
                <a:gd name="T9" fmla="*/ 0 h 190"/>
                <a:gd name="T10" fmla="*/ 80 w 133"/>
                <a:gd name="T11" fmla="*/ 0 h 190"/>
                <a:gd name="T12" fmla="*/ 133 w 133"/>
                <a:gd name="T13" fmla="*/ 132 h 190"/>
              </a:gdLst>
              <a:ahLst/>
              <a:cxnLst>
                <a:cxn ang="0">
                  <a:pos x="T0" y="T1"/>
                </a:cxn>
                <a:cxn ang="0">
                  <a:pos x="T2" y="T3"/>
                </a:cxn>
                <a:cxn ang="0">
                  <a:pos x="T4" y="T5"/>
                </a:cxn>
                <a:cxn ang="0">
                  <a:pos x="T6" y="T7"/>
                </a:cxn>
                <a:cxn ang="0">
                  <a:pos x="T8" y="T9"/>
                </a:cxn>
                <a:cxn ang="0">
                  <a:pos x="T10" y="T11"/>
                </a:cxn>
                <a:cxn ang="0">
                  <a:pos x="T12" y="T13"/>
                </a:cxn>
              </a:cxnLst>
              <a:rect l="0" t="0" r="r" b="b"/>
              <a:pathLst>
                <a:path w="133" h="190">
                  <a:moveTo>
                    <a:pt x="133" y="132"/>
                  </a:moveTo>
                  <a:cubicBezTo>
                    <a:pt x="76" y="190"/>
                    <a:pt x="76" y="190"/>
                    <a:pt x="76" y="190"/>
                  </a:cubicBezTo>
                  <a:cubicBezTo>
                    <a:pt x="75" y="189"/>
                    <a:pt x="75" y="189"/>
                    <a:pt x="75" y="189"/>
                  </a:cubicBezTo>
                  <a:cubicBezTo>
                    <a:pt x="51" y="163"/>
                    <a:pt x="33" y="133"/>
                    <a:pt x="20" y="102"/>
                  </a:cubicBezTo>
                  <a:cubicBezTo>
                    <a:pt x="8" y="71"/>
                    <a:pt x="1" y="36"/>
                    <a:pt x="0" y="0"/>
                  </a:cubicBezTo>
                  <a:cubicBezTo>
                    <a:pt x="80" y="0"/>
                    <a:pt x="80" y="0"/>
                    <a:pt x="80" y="0"/>
                  </a:cubicBezTo>
                  <a:cubicBezTo>
                    <a:pt x="82" y="49"/>
                    <a:pt x="100" y="95"/>
                    <a:pt x="133" y="132"/>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36" name="Freeform 135">
              <a:extLst>
                <a:ext uri="{FF2B5EF4-FFF2-40B4-BE49-F238E27FC236}">
                  <a16:creationId xmlns:a16="http://schemas.microsoft.com/office/drawing/2014/main" id="{E8A82E24-16AE-4DB3-DB8A-6FBAAEFF75AD}"/>
                </a:ext>
              </a:extLst>
            </p:cNvPr>
            <p:cNvSpPr>
              <a:spLocks/>
            </p:cNvSpPr>
            <p:nvPr/>
          </p:nvSpPr>
          <p:spPr bwMode="auto">
            <a:xfrm>
              <a:off x="5376340" y="2227895"/>
              <a:ext cx="96932" cy="138318"/>
            </a:xfrm>
            <a:custGeom>
              <a:avLst/>
              <a:gdLst>
                <a:gd name="T0" fmla="*/ 80 w 133"/>
                <a:gd name="T1" fmla="*/ 190 h 190"/>
                <a:gd name="T2" fmla="*/ 133 w 133"/>
                <a:gd name="T3" fmla="*/ 59 h 190"/>
                <a:gd name="T4" fmla="*/ 76 w 133"/>
                <a:gd name="T5" fmla="*/ 0 h 190"/>
                <a:gd name="T6" fmla="*/ 20 w 133"/>
                <a:gd name="T7" fmla="*/ 88 h 190"/>
                <a:gd name="T8" fmla="*/ 0 w 133"/>
                <a:gd name="T9" fmla="*/ 190 h 190"/>
                <a:gd name="T10" fmla="*/ 80 w 133"/>
                <a:gd name="T11" fmla="*/ 190 h 190"/>
              </a:gdLst>
              <a:ahLst/>
              <a:cxnLst>
                <a:cxn ang="0">
                  <a:pos x="T0" y="T1"/>
                </a:cxn>
                <a:cxn ang="0">
                  <a:pos x="T2" y="T3"/>
                </a:cxn>
                <a:cxn ang="0">
                  <a:pos x="T4" y="T5"/>
                </a:cxn>
                <a:cxn ang="0">
                  <a:pos x="T6" y="T7"/>
                </a:cxn>
                <a:cxn ang="0">
                  <a:pos x="T8" y="T9"/>
                </a:cxn>
                <a:cxn ang="0">
                  <a:pos x="T10" y="T11"/>
                </a:cxn>
              </a:cxnLst>
              <a:rect l="0" t="0" r="r" b="b"/>
              <a:pathLst>
                <a:path w="133" h="190">
                  <a:moveTo>
                    <a:pt x="80" y="190"/>
                  </a:moveTo>
                  <a:cubicBezTo>
                    <a:pt x="82" y="142"/>
                    <a:pt x="101" y="95"/>
                    <a:pt x="133" y="59"/>
                  </a:cubicBezTo>
                  <a:cubicBezTo>
                    <a:pt x="76" y="0"/>
                    <a:pt x="76" y="0"/>
                    <a:pt x="76" y="0"/>
                  </a:cubicBezTo>
                  <a:cubicBezTo>
                    <a:pt x="52" y="27"/>
                    <a:pt x="33" y="56"/>
                    <a:pt x="20" y="88"/>
                  </a:cubicBezTo>
                  <a:cubicBezTo>
                    <a:pt x="8" y="119"/>
                    <a:pt x="1" y="154"/>
                    <a:pt x="0" y="190"/>
                  </a:cubicBezTo>
                  <a:lnTo>
                    <a:pt x="80" y="19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37" name="Freeform 136">
              <a:extLst>
                <a:ext uri="{FF2B5EF4-FFF2-40B4-BE49-F238E27FC236}">
                  <a16:creationId xmlns:a16="http://schemas.microsoft.com/office/drawing/2014/main" id="{CEFEF379-186A-3952-53A8-CEF01D28B0DE}"/>
                </a:ext>
              </a:extLst>
            </p:cNvPr>
            <p:cNvSpPr>
              <a:spLocks/>
            </p:cNvSpPr>
            <p:nvPr/>
          </p:nvSpPr>
          <p:spPr bwMode="auto">
            <a:xfrm>
              <a:off x="5440598" y="2161459"/>
              <a:ext cx="133962" cy="99110"/>
            </a:xfrm>
            <a:custGeom>
              <a:avLst/>
              <a:gdLst>
                <a:gd name="T0" fmla="*/ 57 w 184"/>
                <a:gd name="T1" fmla="*/ 137 h 137"/>
                <a:gd name="T2" fmla="*/ 184 w 184"/>
                <a:gd name="T3" fmla="*/ 82 h 137"/>
                <a:gd name="T4" fmla="*/ 184 w 184"/>
                <a:gd name="T5" fmla="*/ 0 h 137"/>
                <a:gd name="T6" fmla="*/ 85 w 184"/>
                <a:gd name="T7" fmla="*/ 21 h 137"/>
                <a:gd name="T8" fmla="*/ 0 w 184"/>
                <a:gd name="T9" fmla="*/ 78 h 137"/>
                <a:gd name="T10" fmla="*/ 57 w 184"/>
                <a:gd name="T11" fmla="*/ 137 h 137"/>
              </a:gdLst>
              <a:ahLst/>
              <a:cxnLst>
                <a:cxn ang="0">
                  <a:pos x="T0" y="T1"/>
                </a:cxn>
                <a:cxn ang="0">
                  <a:pos x="T2" y="T3"/>
                </a:cxn>
                <a:cxn ang="0">
                  <a:pos x="T4" y="T5"/>
                </a:cxn>
                <a:cxn ang="0">
                  <a:pos x="T6" y="T7"/>
                </a:cxn>
                <a:cxn ang="0">
                  <a:pos x="T8" y="T9"/>
                </a:cxn>
                <a:cxn ang="0">
                  <a:pos x="T10" y="T11"/>
                </a:cxn>
              </a:cxnLst>
              <a:rect l="0" t="0" r="r" b="b"/>
              <a:pathLst>
                <a:path w="184" h="137">
                  <a:moveTo>
                    <a:pt x="57" y="137"/>
                  </a:moveTo>
                  <a:cubicBezTo>
                    <a:pt x="90" y="105"/>
                    <a:pt x="135" y="85"/>
                    <a:pt x="184" y="82"/>
                  </a:cubicBezTo>
                  <a:cubicBezTo>
                    <a:pt x="184" y="0"/>
                    <a:pt x="184" y="0"/>
                    <a:pt x="184" y="0"/>
                  </a:cubicBezTo>
                  <a:cubicBezTo>
                    <a:pt x="149" y="1"/>
                    <a:pt x="115" y="8"/>
                    <a:pt x="85" y="21"/>
                  </a:cubicBezTo>
                  <a:cubicBezTo>
                    <a:pt x="54" y="34"/>
                    <a:pt x="26" y="53"/>
                    <a:pt x="0" y="78"/>
                  </a:cubicBezTo>
                  <a:lnTo>
                    <a:pt x="57" y="137"/>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38" name="Freeform 137">
              <a:extLst>
                <a:ext uri="{FF2B5EF4-FFF2-40B4-BE49-F238E27FC236}">
                  <a16:creationId xmlns:a16="http://schemas.microsoft.com/office/drawing/2014/main" id="{218C110F-A440-DB68-9DE1-BC090E609E4A}"/>
                </a:ext>
              </a:extLst>
            </p:cNvPr>
            <p:cNvSpPr>
              <a:spLocks/>
            </p:cNvSpPr>
            <p:nvPr/>
          </p:nvSpPr>
          <p:spPr bwMode="auto">
            <a:xfrm>
              <a:off x="5486341" y="2283440"/>
              <a:ext cx="300597" cy="208021"/>
            </a:xfrm>
            <a:custGeom>
              <a:avLst/>
              <a:gdLst>
                <a:gd name="T0" fmla="*/ 237 w 276"/>
                <a:gd name="T1" fmla="*/ 68 h 191"/>
                <a:gd name="T2" fmla="*/ 237 w 276"/>
                <a:gd name="T3" fmla="*/ 100 h 191"/>
                <a:gd name="T4" fmla="*/ 276 w 276"/>
                <a:gd name="T5" fmla="*/ 100 h 191"/>
                <a:gd name="T6" fmla="*/ 276 w 276"/>
                <a:gd name="T7" fmla="*/ 40 h 191"/>
                <a:gd name="T8" fmla="*/ 276 w 276"/>
                <a:gd name="T9" fmla="*/ 0 h 191"/>
                <a:gd name="T10" fmla="*/ 237 w 276"/>
                <a:gd name="T11" fmla="*/ 0 h 191"/>
                <a:gd name="T12" fmla="*/ 177 w 276"/>
                <a:gd name="T13" fmla="*/ 0 h 191"/>
                <a:gd name="T14" fmla="*/ 177 w 276"/>
                <a:gd name="T15" fmla="*/ 40 h 191"/>
                <a:gd name="T16" fmla="*/ 209 w 276"/>
                <a:gd name="T17" fmla="*/ 40 h 191"/>
                <a:gd name="T18" fmla="*/ 130 w 276"/>
                <a:gd name="T19" fmla="*/ 118 h 191"/>
                <a:gd name="T20" fmla="*/ 87 w 276"/>
                <a:gd name="T21" fmla="*/ 76 h 191"/>
                <a:gd name="T22" fmla="*/ 87 w 276"/>
                <a:gd name="T23" fmla="*/ 76 h 191"/>
                <a:gd name="T24" fmla="*/ 0 w 276"/>
                <a:gd name="T25" fmla="*/ 163 h 191"/>
                <a:gd name="T26" fmla="*/ 0 w 276"/>
                <a:gd name="T27" fmla="*/ 163 h 191"/>
                <a:gd name="T28" fmla="*/ 28 w 276"/>
                <a:gd name="T29" fmla="*/ 191 h 191"/>
                <a:gd name="T30" fmla="*/ 87 w 276"/>
                <a:gd name="T31" fmla="*/ 132 h 191"/>
                <a:gd name="T32" fmla="*/ 130 w 276"/>
                <a:gd name="T33" fmla="*/ 175 h 191"/>
                <a:gd name="T34" fmla="*/ 237 w 276"/>
                <a:gd name="T35" fmla="*/ 68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6" h="191">
                  <a:moveTo>
                    <a:pt x="237" y="68"/>
                  </a:moveTo>
                  <a:lnTo>
                    <a:pt x="237" y="100"/>
                  </a:lnTo>
                  <a:lnTo>
                    <a:pt x="276" y="100"/>
                  </a:lnTo>
                  <a:lnTo>
                    <a:pt x="276" y="40"/>
                  </a:lnTo>
                  <a:lnTo>
                    <a:pt x="276" y="0"/>
                  </a:lnTo>
                  <a:lnTo>
                    <a:pt x="237" y="0"/>
                  </a:lnTo>
                  <a:lnTo>
                    <a:pt x="177" y="0"/>
                  </a:lnTo>
                  <a:lnTo>
                    <a:pt x="177" y="40"/>
                  </a:lnTo>
                  <a:lnTo>
                    <a:pt x="209" y="40"/>
                  </a:lnTo>
                  <a:lnTo>
                    <a:pt x="130" y="118"/>
                  </a:lnTo>
                  <a:lnTo>
                    <a:pt x="87" y="76"/>
                  </a:lnTo>
                  <a:lnTo>
                    <a:pt x="87" y="76"/>
                  </a:lnTo>
                  <a:lnTo>
                    <a:pt x="0" y="163"/>
                  </a:lnTo>
                  <a:lnTo>
                    <a:pt x="0" y="163"/>
                  </a:lnTo>
                  <a:lnTo>
                    <a:pt x="28" y="191"/>
                  </a:lnTo>
                  <a:lnTo>
                    <a:pt x="87" y="132"/>
                  </a:lnTo>
                  <a:lnTo>
                    <a:pt x="130" y="175"/>
                  </a:lnTo>
                  <a:lnTo>
                    <a:pt x="237" y="68"/>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cxnSp>
        <p:nvCxnSpPr>
          <p:cNvPr id="99" name="Straight Connector 98">
            <a:extLst>
              <a:ext uri="{FF2B5EF4-FFF2-40B4-BE49-F238E27FC236}">
                <a16:creationId xmlns:a16="http://schemas.microsoft.com/office/drawing/2014/main" id="{B7C2D5DF-8E0D-D18D-91B4-30FBEB6C366B}"/>
              </a:ext>
              <a:ext uri="{C183D7F6-B498-43B3-948B-1728B52AA6E4}">
                <adec:decorative xmlns:adec="http://schemas.microsoft.com/office/drawing/2017/decorative" val="1"/>
              </a:ext>
            </a:extLst>
          </p:cNvPr>
          <p:cNvCxnSpPr>
            <a:cxnSpLocks/>
          </p:cNvCxnSpPr>
          <p:nvPr/>
        </p:nvCxnSpPr>
        <p:spPr>
          <a:xfrm>
            <a:off x="10115079" y="4972418"/>
            <a:ext cx="0" cy="1885582"/>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9667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50659-C1D2-FFFF-46AD-649BC55D85AA}"/>
              </a:ext>
            </a:extLst>
          </p:cNvPr>
          <p:cNvSpPr>
            <a:spLocks noGrp="1"/>
          </p:cNvSpPr>
          <p:nvPr>
            <p:ph type="title"/>
          </p:nvPr>
        </p:nvSpPr>
        <p:spPr>
          <a:xfrm>
            <a:off x="588263" y="457200"/>
            <a:ext cx="11018520" cy="553998"/>
          </a:xfrm>
        </p:spPr>
        <p:txBody>
          <a:bodyPr vert="horz" wrap="square" lIns="0" tIns="0" rIns="0" bIns="0" rtlCol="0" anchor="t">
            <a:normAutofit fontScale="90000"/>
          </a:bodyPr>
          <a:lstStyle/>
          <a:p>
            <a:r>
              <a:rPr lang="en-US" b="0" kern="1200" cap="none" spc="-50" baseline="0">
                <a:ln w="3175">
                  <a:noFill/>
                </a:ln>
                <a:effectLst/>
                <a:latin typeface="+mj-lt"/>
                <a:ea typeface="+mn-ea"/>
                <a:cs typeface="Segoe UI" pitchFamily="34" charset="0"/>
              </a:rPr>
              <a:t>Breakdown of journey (repeatable for assess and migrate)	</a:t>
            </a:r>
          </a:p>
        </p:txBody>
      </p:sp>
      <p:sp>
        <p:nvSpPr>
          <p:cNvPr id="3" name="TextBox 2">
            <a:extLst>
              <a:ext uri="{FF2B5EF4-FFF2-40B4-BE49-F238E27FC236}">
                <a16:creationId xmlns:a16="http://schemas.microsoft.com/office/drawing/2014/main" id="{F990E7EC-D9BD-CD02-0DCC-E9E1FA8D1703}"/>
              </a:ext>
            </a:extLst>
          </p:cNvPr>
          <p:cNvSpPr txBox="1"/>
          <p:nvPr/>
        </p:nvSpPr>
        <p:spPr>
          <a:xfrm>
            <a:off x="584200" y="1435100"/>
            <a:ext cx="5211763" cy="4833938"/>
          </a:xfrm>
          <a:prstGeom prst="rect">
            <a:avLst/>
          </a:prstGeom>
        </p:spPr>
        <p:txBody>
          <a:bodyPr vert="horz" wrap="square" lIns="0" tIns="0" rIns="0" bIns="0" rtlCol="0">
            <a:normAutofit/>
          </a:bodyPr>
          <a:lstStyle/>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a:pPr>
            <a:r>
              <a:rPr kumimoji="0" lang="en-US" sz="2400" b="0" i="0" u="none" strike="noStrike" kern="1200" cap="none" spc="0" normalizeH="0" baseline="0" noProof="0">
                <a:ln>
                  <a:noFill/>
                </a:ln>
                <a:solidFill>
                  <a:srgbClr val="000000"/>
                </a:solidFill>
                <a:effectLst/>
                <a:uLnTx/>
                <a:uFillTx/>
                <a:latin typeface="Segoe UI"/>
                <a:ea typeface="+mn-ea"/>
                <a:cs typeface="+mn-cs"/>
              </a:rPr>
              <a:t> Customer is nominated by partner, Microsoft make sure to really check with the customer that they’re happy with what’s moving forward, if we do not meet minimum success criteria then partners may be suspended from nominating future engagements. (Pre-Sales job?) </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a:pPr>
            <a:r>
              <a:rPr kumimoji="0" lang="en-US" sz="2400" b="0" i="0" u="none" strike="noStrike" kern="1200" cap="none" spc="0" normalizeH="0" baseline="0" noProof="0">
                <a:ln>
                  <a:noFill/>
                </a:ln>
                <a:solidFill>
                  <a:srgbClr val="000000"/>
                </a:solidFill>
                <a:effectLst/>
                <a:uLnTx/>
                <a:uFillTx/>
                <a:latin typeface="Segoe UI"/>
                <a:ea typeface="+mn-ea"/>
                <a:cs typeface="+mn-cs"/>
              </a:rPr>
              <a:t> Customer verifies consent </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a:pPr>
            <a:r>
              <a:rPr kumimoji="0" lang="en-US" sz="2400" b="0" i="0" u="none" strike="noStrike" kern="1200" cap="none" spc="0" normalizeH="0" baseline="0" noProof="0">
                <a:ln>
                  <a:noFill/>
                </a:ln>
                <a:solidFill>
                  <a:srgbClr val="000000"/>
                </a:solidFill>
                <a:effectLst/>
                <a:uLnTx/>
                <a:uFillTx/>
                <a:latin typeface="Segoe UI"/>
                <a:ea typeface="+mn-ea"/>
                <a:cs typeface="+mn-cs"/>
              </a:rPr>
              <a:t> Execution and POE submission (Carry out the engagement)</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a:pPr>
            <a:r>
              <a:rPr kumimoji="0" lang="en-US" sz="2400" b="0" i="0" u="none" strike="noStrike" kern="1200" cap="none" spc="0" normalizeH="0" baseline="0" noProof="0">
                <a:ln>
                  <a:noFill/>
                </a:ln>
                <a:solidFill>
                  <a:srgbClr val="000000"/>
                </a:solidFill>
                <a:effectLst/>
                <a:uLnTx/>
                <a:uFillTx/>
                <a:latin typeface="Segoe UI"/>
                <a:ea typeface="+mn-ea"/>
                <a:cs typeface="+mn-cs"/>
              </a:rPr>
              <a:t> POE Validation (show findings)</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a:pPr>
            <a:r>
              <a:rPr kumimoji="0" lang="en-US" sz="2400" b="0" i="0" u="none" strike="noStrike" kern="1200" cap="none" spc="0" normalizeH="0" baseline="0" noProof="0">
                <a:ln>
                  <a:noFill/>
                </a:ln>
                <a:solidFill>
                  <a:srgbClr val="000000"/>
                </a:solidFill>
                <a:effectLst/>
                <a:uLnTx/>
                <a:uFillTx/>
                <a:latin typeface="Segoe UI"/>
                <a:ea typeface="+mn-ea"/>
                <a:cs typeface="+mn-cs"/>
              </a:rPr>
              <a:t> Partner Payment (Rackspace is paid)</a:t>
            </a:r>
          </a:p>
        </p:txBody>
      </p:sp>
      <p:pic>
        <p:nvPicPr>
          <p:cNvPr id="5" name="Picture 4" descr="A diagram of a company engagement&#10;&#10;Description automatically generated">
            <a:extLst>
              <a:ext uri="{FF2B5EF4-FFF2-40B4-BE49-F238E27FC236}">
                <a16:creationId xmlns:a16="http://schemas.microsoft.com/office/drawing/2014/main" id="{B7CA3ED3-DB6D-D9F2-FF3B-CEDAB923BFB3}"/>
              </a:ext>
            </a:extLst>
          </p:cNvPr>
          <p:cNvPicPr>
            <a:picLocks noChangeAspect="1"/>
          </p:cNvPicPr>
          <p:nvPr/>
        </p:nvPicPr>
        <p:blipFill>
          <a:blip r:embed="rId2"/>
          <a:stretch>
            <a:fillRect/>
          </a:stretch>
        </p:blipFill>
        <p:spPr>
          <a:xfrm>
            <a:off x="6096000" y="2404411"/>
            <a:ext cx="5990087" cy="2710513"/>
          </a:xfrm>
          <a:prstGeom prst="rect">
            <a:avLst/>
          </a:prstGeom>
          <a:noFill/>
        </p:spPr>
      </p:pic>
    </p:spTree>
    <p:extLst>
      <p:ext uri="{BB962C8B-B14F-4D97-AF65-F5344CB8AC3E}">
        <p14:creationId xmlns:p14="http://schemas.microsoft.com/office/powerpoint/2010/main" val="3961743603"/>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9FE7A-499B-D784-513D-D14CA6BA1EB2}"/>
              </a:ext>
            </a:extLst>
          </p:cNvPr>
          <p:cNvSpPr>
            <a:spLocks noGrp="1"/>
          </p:cNvSpPr>
          <p:nvPr>
            <p:ph type="title"/>
          </p:nvPr>
        </p:nvSpPr>
        <p:spPr/>
        <p:txBody>
          <a:bodyPr/>
          <a:lstStyle/>
          <a:p>
            <a:endParaRPr lang="en-GB"/>
          </a:p>
        </p:txBody>
      </p:sp>
      <p:sp>
        <p:nvSpPr>
          <p:cNvPr id="6" name="TextBox 5">
            <a:extLst>
              <a:ext uri="{FF2B5EF4-FFF2-40B4-BE49-F238E27FC236}">
                <a16:creationId xmlns:a16="http://schemas.microsoft.com/office/drawing/2014/main" id="{C476D8B5-B835-9C1B-E0CE-99F70A60E48B}"/>
              </a:ext>
            </a:extLst>
          </p:cNvPr>
          <p:cNvSpPr txBox="1"/>
          <p:nvPr/>
        </p:nvSpPr>
        <p:spPr>
          <a:xfrm>
            <a:off x="477308" y="1220944"/>
            <a:ext cx="6762750" cy="646331"/>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446FC4"/>
                </a:solidFill>
                <a:effectLst/>
                <a:uLnTx/>
                <a:uFillTx/>
                <a:latin typeface="Helvetica" pitchFamily="2" charset="0"/>
                <a:ea typeface="+mn-ea"/>
                <a:cs typeface="+mn-cs"/>
              </a:rPr>
              <a:t>What phases of customer deployment are supported in Azure Offerings Partner-led? </a:t>
            </a:r>
            <a:endParaRPr kumimoji="0" lang="en-GB" sz="900" b="0" i="0" u="none" strike="noStrike" kern="1200" cap="none" spc="0" normalizeH="0" baseline="0" noProof="0">
              <a:ln>
                <a:noFill/>
              </a:ln>
              <a:solidFill>
                <a:srgbClr val="446FC4"/>
              </a:solidFill>
              <a:effectLst/>
              <a:uLnTx/>
              <a:uFillTx/>
              <a:latin typeface="Helvetica" pitchFamily="2" charset="0"/>
              <a:ea typeface="+mn-ea"/>
              <a:cs typeface="+mn-cs"/>
            </a:endParaRP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Helvetica" pitchFamily="2" charset="0"/>
                <a:ea typeface="+mn-ea"/>
                <a:cs typeface="+mn-cs"/>
              </a:rPr>
              <a:t>Azure Migrate &amp; Modernize supports: </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Helvetica" pitchFamily="2" charset="0"/>
                <a:ea typeface="+mn-ea"/>
                <a:cs typeface="+mn-cs"/>
              </a:rPr>
              <a:t>1) Pre-sales: Assessments  </a:t>
            </a:r>
            <a:r>
              <a:rPr kumimoji="0" lang="en-GB" sz="900" b="0" i="0" u="none" strike="noStrike" kern="1200" cap="none" spc="0" normalizeH="0" baseline="0" noProof="0">
                <a:ln>
                  <a:noFill/>
                </a:ln>
                <a:solidFill>
                  <a:srgbClr val="FF0000"/>
                </a:solidFill>
                <a:effectLst/>
                <a:uLnTx/>
                <a:uFillTx/>
                <a:latin typeface="Helvetica" pitchFamily="2" charset="0"/>
                <a:ea typeface="+mn-ea"/>
                <a:cs typeface="+mn-cs"/>
              </a:rPr>
              <a:t>- Mini scoping and profiling? </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Helvetica" pitchFamily="2" charset="0"/>
                <a:ea typeface="+mn-ea"/>
                <a:cs typeface="+mn-cs"/>
              </a:rPr>
              <a:t>2) Post-sales: Migration &amp; Modernization Deployments </a:t>
            </a:r>
            <a:r>
              <a:rPr kumimoji="0" lang="en-GB" sz="900" b="0" i="0" u="none" strike="noStrike" kern="1200" cap="none" spc="0" normalizeH="0" baseline="0" noProof="0">
                <a:ln>
                  <a:noFill/>
                </a:ln>
                <a:solidFill>
                  <a:srgbClr val="FF0000"/>
                </a:solidFill>
                <a:effectLst/>
                <a:uLnTx/>
                <a:uFillTx/>
                <a:latin typeface="Helvetica" pitchFamily="2" charset="0"/>
                <a:ea typeface="+mn-ea"/>
                <a:cs typeface="+mn-cs"/>
              </a:rPr>
              <a:t>– Migrating into Azure </a:t>
            </a:r>
          </a:p>
        </p:txBody>
      </p:sp>
      <p:pic>
        <p:nvPicPr>
          <p:cNvPr id="8" name="Picture 7" descr="A screenshot of a computer&#10;&#10;Description automatically generated">
            <a:extLst>
              <a:ext uri="{FF2B5EF4-FFF2-40B4-BE49-F238E27FC236}">
                <a16:creationId xmlns:a16="http://schemas.microsoft.com/office/drawing/2014/main" id="{675D2156-5E5F-FFFE-209F-503355813BCD}"/>
              </a:ext>
            </a:extLst>
          </p:cNvPr>
          <p:cNvPicPr>
            <a:picLocks noChangeAspect="1"/>
          </p:cNvPicPr>
          <p:nvPr/>
        </p:nvPicPr>
        <p:blipFill>
          <a:blip r:embed="rId2"/>
          <a:stretch>
            <a:fillRect/>
          </a:stretch>
        </p:blipFill>
        <p:spPr>
          <a:xfrm>
            <a:off x="2209800" y="1964267"/>
            <a:ext cx="7772400" cy="4165600"/>
          </a:xfrm>
          <a:prstGeom prst="rect">
            <a:avLst/>
          </a:prstGeom>
        </p:spPr>
      </p:pic>
    </p:spTree>
    <p:extLst>
      <p:ext uri="{BB962C8B-B14F-4D97-AF65-F5344CB8AC3E}">
        <p14:creationId xmlns:p14="http://schemas.microsoft.com/office/powerpoint/2010/main" val="2149462321"/>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36AC04-60B5-616E-3A6A-852F6755D523}"/>
              </a:ext>
            </a:extLst>
          </p:cNvPr>
          <p:cNvSpPr>
            <a:spLocks noGrp="1"/>
          </p:cNvSpPr>
          <p:nvPr>
            <p:ph type="title"/>
          </p:nvPr>
        </p:nvSpPr>
        <p:spPr/>
        <p:txBody>
          <a:bodyPr/>
          <a:lstStyle/>
          <a:p>
            <a:r>
              <a:rPr lang="en-US"/>
              <a:t>Azure Migrate and Modernize Partner-led offers</a:t>
            </a:r>
          </a:p>
        </p:txBody>
      </p:sp>
      <p:sp>
        <p:nvSpPr>
          <p:cNvPr id="11" name="TextBox 10">
            <a:extLst>
              <a:ext uri="{FF2B5EF4-FFF2-40B4-BE49-F238E27FC236}">
                <a16:creationId xmlns:a16="http://schemas.microsoft.com/office/drawing/2014/main" id="{83D27A6F-395B-0527-BABA-1A7859066DF9}"/>
              </a:ext>
            </a:extLst>
          </p:cNvPr>
          <p:cNvSpPr txBox="1"/>
          <p:nvPr/>
        </p:nvSpPr>
        <p:spPr>
          <a:xfrm>
            <a:off x="10782300" y="292100"/>
            <a:ext cx="1198376" cy="378860"/>
          </a:xfrm>
          <a:prstGeom prst="roundRect">
            <a:avLst>
              <a:gd name="adj" fmla="val 50000"/>
            </a:avLst>
          </a:prstGeom>
          <a:gradFill flip="none" rotWithShape="1">
            <a:gsLst>
              <a:gs pos="100000">
                <a:schemeClr val="accent1"/>
              </a:gs>
              <a:gs pos="0">
                <a:schemeClr val="accent3"/>
              </a:gs>
            </a:gsLst>
            <a:lin ang="2700000" scaled="1"/>
            <a:tileRect/>
          </a:gradFill>
          <a:ln w="0">
            <a:noFill/>
            <a:prstDash val="solid"/>
            <a:round/>
            <a:headEnd/>
            <a:tailEnd/>
          </a:ln>
          <a:effectLst>
            <a:outerShdw blurRad="88900" dist="38100" dir="2700000" algn="tl" rotWithShape="0">
              <a:prstClr val="black">
                <a:alpha val="30000"/>
              </a:prstClr>
            </a:outerShdw>
          </a:effectLst>
        </p:spPr>
        <p:txBody>
          <a:bodyPr vert="horz" wrap="square" lIns="0" tIns="0" rIns="0" bIns="0" numCol="1" anchor="ctr" anchorCtr="0" compatLnSpc="1">
            <a:prstTxWarp prst="textNoShape">
              <a:avLst/>
            </a:prstTxWarp>
          </a:bodyPr>
          <a:lstStyle>
            <a:defPPr>
              <a:defRPr lang="en-US"/>
            </a:defPPr>
            <a:lvl1pPr algn="ctr" defTabSz="914400">
              <a:lnSpc>
                <a:spcPct val="90000"/>
              </a:lnSpc>
              <a:spcAft>
                <a:spcPts val="600"/>
              </a:spcAft>
              <a:defRPr sz="900">
                <a:solidFill>
                  <a:schemeClr val="bg1"/>
                </a:solidFill>
                <a:latin typeface="Segoe UI Semibold"/>
              </a:defRPr>
            </a:lvl1p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UPDATED</a:t>
            </a:r>
          </a:p>
        </p:txBody>
      </p:sp>
      <p:sp>
        <p:nvSpPr>
          <p:cNvPr id="12" name="Text Placeholder 14">
            <a:extLst>
              <a:ext uri="{FF2B5EF4-FFF2-40B4-BE49-F238E27FC236}">
                <a16:creationId xmlns:a16="http://schemas.microsoft.com/office/drawing/2014/main" id="{8AC0864D-68A0-63AA-F2DD-614D5DA7AFA0}"/>
              </a:ext>
            </a:extLst>
          </p:cNvPr>
          <p:cNvSpPr txBox="1">
            <a:spLocks/>
          </p:cNvSpPr>
          <p:nvPr/>
        </p:nvSpPr>
        <p:spPr>
          <a:xfrm>
            <a:off x="584200" y="1241423"/>
            <a:ext cx="12096750" cy="43088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78D4"/>
                </a:solidFill>
                <a:effectLst/>
                <a:uLnTx/>
                <a:uFillTx/>
                <a:latin typeface="Segoe UI Semibold"/>
                <a:ea typeface="+mn-ea"/>
                <a:cs typeface="Segoe UI" panose="020B0502040204020203" pitchFamily="34" charset="0"/>
              </a:rPr>
              <a:t>Azure Specialized partners now have a path to directly nominate customers for Azure Migrate and Modernize in a self-service workflow.</a:t>
            </a:r>
            <a:br>
              <a:rPr kumimoji="0" lang="en-US" sz="1400" b="0" i="0" u="none" strike="noStrike" kern="1200" cap="none" spc="0" normalizeH="0" baseline="0" noProof="0">
                <a:ln>
                  <a:noFill/>
                </a:ln>
                <a:solidFill>
                  <a:srgbClr val="0078D4"/>
                </a:solidFill>
                <a:effectLst/>
                <a:uLnTx/>
                <a:uFillTx/>
                <a:latin typeface="Segoe UI Semibold"/>
                <a:ea typeface="+mn-ea"/>
                <a:cs typeface="Segoe UI" panose="020B0502040204020203" pitchFamily="34" charset="0"/>
              </a:rPr>
            </a:br>
            <a:r>
              <a:rPr kumimoji="0" lang="en-US" sz="1400" b="0" i="0" u="none" strike="noStrike" kern="1200" cap="none" spc="0" normalizeH="0" baseline="0" noProof="0">
                <a:ln>
                  <a:noFill/>
                </a:ln>
                <a:solidFill>
                  <a:srgbClr val="0078D4"/>
                </a:solidFill>
                <a:effectLst/>
                <a:uLnTx/>
                <a:uFillTx/>
                <a:latin typeface="Segoe UI Semibold"/>
                <a:ea typeface="+mn-ea"/>
                <a:cs typeface="Segoe UI" panose="020B0502040204020203" pitchFamily="34" charset="0"/>
              </a:rPr>
              <a:t>This agile path reduces time to market and can help partners drive scale. </a:t>
            </a:r>
          </a:p>
        </p:txBody>
      </p:sp>
      <p:sp>
        <p:nvSpPr>
          <p:cNvPr id="21" name="Freeform: Shape 20">
            <a:extLst>
              <a:ext uri="{FF2B5EF4-FFF2-40B4-BE49-F238E27FC236}">
                <a16:creationId xmlns:a16="http://schemas.microsoft.com/office/drawing/2014/main" id="{2C00FE51-B391-2C6E-0CF6-23806CF82F7F}"/>
              </a:ext>
              <a:ext uri="{C183D7F6-B498-43B3-948B-1728B52AA6E4}">
                <adec:decorative xmlns:adec="http://schemas.microsoft.com/office/drawing/2017/decorative" val="1"/>
              </a:ext>
            </a:extLst>
          </p:cNvPr>
          <p:cNvSpPr/>
          <p:nvPr/>
        </p:nvSpPr>
        <p:spPr bwMode="auto">
          <a:xfrm>
            <a:off x="2745230" y="2168531"/>
            <a:ext cx="1009650" cy="0"/>
          </a:xfrm>
          <a:custGeom>
            <a:avLst/>
            <a:gdLst>
              <a:gd name="connsiteX0" fmla="*/ 0 w 1009650"/>
              <a:gd name="connsiteY0" fmla="*/ 0 h 0"/>
              <a:gd name="connsiteX1" fmla="*/ 1009650 w 1009650"/>
              <a:gd name="connsiteY1" fmla="*/ 0 h 0"/>
            </a:gdLst>
            <a:ahLst/>
            <a:cxnLst>
              <a:cxn ang="0">
                <a:pos x="connsiteX0" y="connsiteY0"/>
              </a:cxn>
              <a:cxn ang="0">
                <a:pos x="connsiteX1" y="connsiteY1"/>
              </a:cxn>
            </a:cxnLst>
            <a:rect l="l" t="t" r="r" b="b"/>
            <a:pathLst>
              <a:path w="1009650">
                <a:moveTo>
                  <a:pt x="0" y="0"/>
                </a:moveTo>
                <a:lnTo>
                  <a:pt x="1009650" y="0"/>
                </a:lnTo>
              </a:path>
            </a:pathLst>
          </a:cu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5" name="Rectangle 34">
            <a:extLst>
              <a:ext uri="{FF2B5EF4-FFF2-40B4-BE49-F238E27FC236}">
                <a16:creationId xmlns:a16="http://schemas.microsoft.com/office/drawing/2014/main" id="{9820AE9E-B1E7-1014-657A-5FFA1F917BCD}"/>
              </a:ext>
            </a:extLst>
          </p:cNvPr>
          <p:cNvSpPr/>
          <p:nvPr/>
        </p:nvSpPr>
        <p:spPr>
          <a:xfrm>
            <a:off x="588185" y="1928343"/>
            <a:ext cx="3859179" cy="4928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78D4"/>
                </a:solidFill>
                <a:effectLst/>
                <a:uLnTx/>
                <a:uFillTx/>
                <a:latin typeface="Segoe UI Semibold"/>
                <a:ea typeface="+mn-ea"/>
                <a:cs typeface="Segoe UI Semibold"/>
              </a:rPr>
              <a:t>SUPPORTED SCENARIOS</a:t>
            </a:r>
            <a:endParaRPr kumimoji="0" lang="en-US" sz="1400" b="1" i="0" u="none" strike="noStrike" kern="1200" cap="none" spc="0" normalizeH="0" baseline="0" noProof="0">
              <a:ln>
                <a:noFill/>
              </a:ln>
              <a:solidFill>
                <a:srgbClr val="0078D4"/>
              </a:solidFill>
              <a:effectLst/>
              <a:uLnTx/>
              <a:uFillTx/>
              <a:latin typeface="Segoe UI Semibold"/>
              <a:ea typeface="+mn-ea"/>
              <a:cs typeface="Segoe UI Semibold" panose="020B0702040204020203" pitchFamily="34" charset="0"/>
            </a:endParaRPr>
          </a:p>
        </p:txBody>
      </p:sp>
      <p:sp>
        <p:nvSpPr>
          <p:cNvPr id="20" name="Rectangle: Rounded Corners 19">
            <a:extLst>
              <a:ext uri="{FF2B5EF4-FFF2-40B4-BE49-F238E27FC236}">
                <a16:creationId xmlns:a16="http://schemas.microsoft.com/office/drawing/2014/main" id="{BA85ABAE-9C13-FEAF-8BB9-4E6704229A6C}"/>
              </a:ext>
              <a:ext uri="{C183D7F6-B498-43B3-948B-1728B52AA6E4}">
                <adec:decorative xmlns:adec="http://schemas.microsoft.com/office/drawing/2017/decorative" val="1"/>
              </a:ext>
            </a:extLst>
          </p:cNvPr>
          <p:cNvSpPr/>
          <p:nvPr/>
        </p:nvSpPr>
        <p:spPr bwMode="auto">
          <a:xfrm>
            <a:off x="588185" y="2442613"/>
            <a:ext cx="3469386" cy="2607599"/>
          </a:xfrm>
          <a:prstGeom prst="roundRect">
            <a:avLst>
              <a:gd name="adj" fmla="val 4144"/>
            </a:avLst>
          </a:prstGeom>
          <a:solidFill>
            <a:schemeClr val="bg1"/>
          </a:soli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365760" tIns="146304" rIns="182880" bIns="146304" rtlCol="0" anchor="ctr">
            <a:noAutofit/>
          </a:bodyPr>
          <a:lstStyle/>
          <a:p>
            <a:pPr marL="0" marR="0" lvl="1" indent="0" algn="l" defTabSz="914400" rtl="0" eaLnBrk="1" fontAlgn="auto" latinLnBrk="0" hangingPunct="1">
              <a:lnSpc>
                <a:spcPct val="90000"/>
              </a:lnSpc>
              <a:spcBef>
                <a:spcPts val="0"/>
              </a:spcBef>
              <a:spcAft>
                <a:spcPts val="1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Semibold"/>
              </a:rPr>
              <a:t>Infra/Database migration</a:t>
            </a:r>
          </a:p>
          <a:p>
            <a:pPr marL="0" marR="0" lvl="1" indent="0" algn="l" defTabSz="914400" rtl="0" eaLnBrk="1" fontAlgn="auto" latinLnBrk="0" hangingPunct="1">
              <a:lnSpc>
                <a:spcPct val="90000"/>
              </a:lnSpc>
              <a:spcBef>
                <a:spcPts val="0"/>
              </a:spcBef>
              <a:spcAft>
                <a:spcPts val="1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Semibold"/>
              </a:rPr>
              <a:t>Migrating to Azure VMware solution</a:t>
            </a:r>
          </a:p>
          <a:p>
            <a:pPr marL="0" marR="0" lvl="1" indent="0" algn="l" defTabSz="914400" rtl="0" eaLnBrk="1" fontAlgn="auto" latinLnBrk="0" hangingPunct="1">
              <a:lnSpc>
                <a:spcPct val="90000"/>
              </a:lnSpc>
              <a:spcBef>
                <a:spcPts val="0"/>
              </a:spcBef>
              <a:spcAft>
                <a:spcPts val="1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Semibold"/>
              </a:rPr>
              <a:t>Migrate Enterprise apps </a:t>
            </a:r>
            <a:r>
              <a:rPr kumimoji="0" lang="en-US" sz="1200" b="0" i="0" u="none" strike="noStrike" kern="1200" cap="none" spc="0" normalizeH="0" baseline="0" noProof="0">
                <a:ln>
                  <a:noFill/>
                </a:ln>
                <a:solidFill>
                  <a:srgbClr val="0078D4"/>
                </a:solidFill>
                <a:effectLst/>
                <a:uLnTx/>
                <a:uFillTx/>
                <a:latin typeface="Segoe UI Semibold"/>
                <a:ea typeface="+mn-ea"/>
                <a:cs typeface="Segoe UI Semibold"/>
              </a:rPr>
              <a:t>(updated)</a:t>
            </a:r>
            <a:endParaRPr kumimoji="0" lang="en-US" sz="1200" b="0" i="0" u="none" strike="noStrike" kern="1200" cap="none" spc="0" normalizeH="0" baseline="0" noProof="0">
              <a:ln>
                <a:noFill/>
              </a:ln>
              <a:solidFill>
                <a:srgbClr val="0078D4"/>
              </a:solidFill>
              <a:effectLst/>
              <a:uLnTx/>
              <a:uFillTx/>
              <a:latin typeface="Segoe UI Semibold"/>
              <a:ea typeface="+mn-ea"/>
              <a:cs typeface="Segoe UI Semibold" panose="020B0702040204020203" pitchFamily="34" charset="0"/>
            </a:endParaRPr>
          </a:p>
          <a:p>
            <a:pPr marL="0" marR="0" lvl="1" indent="0" algn="l" defTabSz="914400" rtl="0" eaLnBrk="1" fontAlgn="auto" latinLnBrk="0" hangingPunct="1">
              <a:lnSpc>
                <a:spcPct val="90000"/>
              </a:lnSpc>
              <a:spcBef>
                <a:spcPts val="0"/>
              </a:spcBef>
              <a:spcAft>
                <a:spcPts val="1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Semibold"/>
              </a:rPr>
              <a:t>Virtual desktop infrastructure</a:t>
            </a:r>
          </a:p>
          <a:p>
            <a:pPr marL="0" marR="0" lvl="1" indent="0" algn="l" defTabSz="914400" rtl="0" eaLnBrk="1" fontAlgn="auto" latinLnBrk="0" hangingPunct="1">
              <a:lnSpc>
                <a:spcPct val="90000"/>
              </a:lnSpc>
              <a:spcBef>
                <a:spcPts val="0"/>
              </a:spcBef>
              <a:spcAft>
                <a:spcPts val="1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Semibold"/>
              </a:rPr>
              <a:t>SAP migration to Azure</a:t>
            </a:r>
          </a:p>
          <a:p>
            <a:pPr marL="0" marR="0" lvl="1" indent="0" algn="l" defTabSz="914400" rtl="0" eaLnBrk="1" fontAlgn="auto" latinLnBrk="0" hangingPunct="1">
              <a:lnSpc>
                <a:spcPct val="90000"/>
              </a:lnSpc>
              <a:spcBef>
                <a:spcPts val="0"/>
              </a:spcBef>
              <a:spcAft>
                <a:spcPts val="1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Semibold"/>
              </a:rPr>
              <a:t>SAP RISE </a:t>
            </a:r>
            <a:endParaRPr kumimoji="0" lang="en-US" sz="1200" b="0" i="0" u="none" strike="noStrike" kern="1200" cap="none" spc="0" normalizeH="0" baseline="0" noProof="0">
              <a:ln>
                <a:noFill/>
              </a:ln>
              <a:solidFill>
                <a:srgbClr val="000000"/>
              </a:solidFill>
              <a:effectLst/>
              <a:uLnTx/>
              <a:uFillTx/>
              <a:latin typeface="Segoe UI Semibold"/>
              <a:ea typeface="+mn-ea"/>
              <a:cs typeface="Segoe UI Semibold" panose="020B0702040204020203" pitchFamily="34" charset="0"/>
            </a:endParaRPr>
          </a:p>
          <a:p>
            <a:pPr marL="0" marR="0" lvl="1" indent="0" algn="l" defTabSz="914400" rtl="0" eaLnBrk="1" fontAlgn="auto" latinLnBrk="0" hangingPunct="1">
              <a:lnSpc>
                <a:spcPct val="90000"/>
              </a:lnSpc>
              <a:spcBef>
                <a:spcPts val="0"/>
              </a:spcBef>
              <a:spcAft>
                <a:spcPts val="1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Semibold"/>
              </a:rPr>
              <a:t>ISV SaaS &amp; BYOL </a:t>
            </a:r>
            <a:r>
              <a:rPr kumimoji="0" lang="en-US" sz="1200" b="0" i="0" u="none" strike="noStrike" kern="1200" cap="none" spc="0" normalizeH="0" baseline="0" noProof="0">
                <a:ln>
                  <a:noFill/>
                </a:ln>
                <a:solidFill>
                  <a:srgbClr val="0078D4"/>
                </a:solidFill>
                <a:effectLst/>
                <a:uLnTx/>
                <a:uFillTx/>
                <a:latin typeface="Segoe UI Semibold"/>
                <a:ea typeface="+mn-ea"/>
                <a:cs typeface="Segoe UI Semibold"/>
              </a:rPr>
              <a:t>(new)</a:t>
            </a:r>
            <a:endParaRPr kumimoji="0" lang="en-US" sz="1200" b="0" i="0" u="none" strike="noStrike" kern="1200" cap="none" spc="0" normalizeH="0" baseline="0" noProof="0">
              <a:ln>
                <a:noFill/>
              </a:ln>
              <a:solidFill>
                <a:srgbClr val="0078D4"/>
              </a:solidFill>
              <a:effectLst/>
              <a:uLnTx/>
              <a:uFillTx/>
              <a:latin typeface="Segoe UI Semibold"/>
              <a:ea typeface="+mn-ea"/>
              <a:cs typeface="Segoe UI Semibold" panose="020B0702040204020203" pitchFamily="34" charset="0"/>
            </a:endParaRPr>
          </a:p>
        </p:txBody>
      </p:sp>
      <p:sp>
        <p:nvSpPr>
          <p:cNvPr id="18" name="TextBox 17">
            <a:extLst>
              <a:ext uri="{FF2B5EF4-FFF2-40B4-BE49-F238E27FC236}">
                <a16:creationId xmlns:a16="http://schemas.microsoft.com/office/drawing/2014/main" id="{1AC0E6CC-A0FD-F862-6A2E-D9FB768A1E54}"/>
              </a:ext>
            </a:extLst>
          </p:cNvPr>
          <p:cNvSpPr txBox="1"/>
          <p:nvPr/>
        </p:nvSpPr>
        <p:spPr>
          <a:xfrm>
            <a:off x="588184" y="5189912"/>
            <a:ext cx="4131598" cy="415498"/>
          </a:xfrm>
          <a:prstGeom prst="rect">
            <a:avLst/>
          </a:prstGeom>
          <a:noFill/>
        </p:spPr>
        <p:txBody>
          <a:bodyPr wrap="square" lIns="91440" tIns="45720" rIns="91440" bIns="45720" anchor="t">
            <a:spAutoFit/>
          </a:bodyPr>
          <a:lstStyle/>
          <a:p>
            <a:pPr marL="0" marR="0" lvl="0" indent="0" algn="l" defTabSz="457222" rtl="0" eaLnBrk="1" fontAlgn="auto" latinLnBrk="0" hangingPunct="1">
              <a:lnSpc>
                <a:spcPct val="100000"/>
              </a:lnSpc>
              <a:spcBef>
                <a:spcPts val="0"/>
              </a:spcBef>
              <a:spcAft>
                <a:spcPts val="453"/>
              </a:spcAft>
              <a:buClrTx/>
              <a:buSzTx/>
              <a:buFontTx/>
              <a:buNone/>
              <a:tabLst/>
              <a:defRPr/>
            </a:pPr>
            <a:r>
              <a:rPr kumimoji="0" lang="en-US" sz="1050" b="1" i="0" u="none" strike="noStrike" kern="1200" cap="none" spc="0" normalizeH="0" baseline="0" noProof="0">
                <a:ln>
                  <a:noFill/>
                </a:ln>
                <a:solidFill>
                  <a:srgbClr val="0078D4"/>
                </a:solidFill>
                <a:effectLst/>
                <a:uLnTx/>
                <a:uFillTx/>
                <a:latin typeface="Segoe UI Semibold"/>
                <a:ea typeface="+mn-ea"/>
                <a:cs typeface="Segoe UI"/>
              </a:rPr>
              <a:t>Important:</a:t>
            </a:r>
            <a:r>
              <a:rPr kumimoji="0" lang="en-US" sz="1050" b="0" i="0" u="none" strike="noStrike" kern="1200" cap="none" spc="0" normalizeH="0" baseline="0" noProof="0">
                <a:ln>
                  <a:noFill/>
                </a:ln>
                <a:solidFill>
                  <a:srgbClr val="0078D4"/>
                </a:solidFill>
                <a:effectLst/>
                <a:uLnTx/>
                <a:uFillTx/>
                <a:latin typeface="Segoe UI Semibold"/>
                <a:ea typeface="+mn-ea"/>
                <a:cs typeface="Segoe UI"/>
              </a:rPr>
              <a:t> </a:t>
            </a:r>
            <a:r>
              <a:rPr kumimoji="0" lang="en-US" sz="1050" b="0" i="0" u="none" strike="noStrike" kern="1200" cap="none" spc="0" normalizeH="0" baseline="0" noProof="0">
                <a:ln>
                  <a:noFill/>
                </a:ln>
                <a:solidFill>
                  <a:srgbClr val="000000"/>
                </a:solidFill>
                <a:effectLst/>
                <a:uLnTx/>
                <a:uFillTx/>
                <a:latin typeface="Segoe UI"/>
                <a:ea typeface="+mn-ea"/>
                <a:cs typeface="Segoe UI"/>
              </a:rPr>
              <a:t>There are </a:t>
            </a:r>
            <a:r>
              <a:rPr kumimoji="0" lang="en-US" sz="1050" b="1" i="0" u="none" strike="noStrike" kern="1200" cap="none" spc="0" normalizeH="0" baseline="0" noProof="0">
                <a:ln>
                  <a:noFill/>
                </a:ln>
                <a:solidFill>
                  <a:srgbClr val="000000"/>
                </a:solidFill>
                <a:effectLst/>
                <a:uLnTx/>
                <a:uFillTx/>
                <a:latin typeface="Segoe UI"/>
                <a:ea typeface="+mn-ea"/>
                <a:cs typeface="Segoe UI"/>
              </a:rPr>
              <a:t>no</a:t>
            </a:r>
            <a:r>
              <a:rPr kumimoji="0" lang="en-US" sz="1050" b="0" i="0" u="none" strike="noStrike" kern="1200" cap="none" spc="0" normalizeH="0" baseline="0" noProof="0">
                <a:ln>
                  <a:noFill/>
                </a:ln>
                <a:solidFill>
                  <a:srgbClr val="000000"/>
                </a:solidFill>
                <a:effectLst/>
                <a:uLnTx/>
                <a:uFillTx/>
                <a:latin typeface="Segoe UI"/>
                <a:ea typeface="+mn-ea"/>
                <a:cs typeface="Segoe UI"/>
              </a:rPr>
              <a:t> limitations in Azure Migrate and Modernize Partner-led for different licensing types (EA, CSP, etc.)</a:t>
            </a:r>
            <a:endParaRPr kumimoji="0" lang="en-US" sz="105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17" name="TextBox 16">
            <a:extLst>
              <a:ext uri="{FF2B5EF4-FFF2-40B4-BE49-F238E27FC236}">
                <a16:creationId xmlns:a16="http://schemas.microsoft.com/office/drawing/2014/main" id="{3A1827F1-6D8B-6A36-EA4B-20ECC7CBE0F7}"/>
              </a:ext>
            </a:extLst>
          </p:cNvPr>
          <p:cNvSpPr txBox="1"/>
          <p:nvPr/>
        </p:nvSpPr>
        <p:spPr>
          <a:xfrm>
            <a:off x="588184" y="5645117"/>
            <a:ext cx="4131598" cy="577081"/>
          </a:xfrm>
          <a:prstGeom prst="rect">
            <a:avLst/>
          </a:prstGeom>
          <a:noFill/>
        </p:spPr>
        <p:txBody>
          <a:bodyPr wrap="square" lIns="91440" tIns="45720" rIns="91440" bIns="45720" anchor="t">
            <a:spAutoFit/>
          </a:bodyPr>
          <a:lstStyle/>
          <a:p>
            <a:pPr marL="0" marR="0" lvl="0" indent="0" algn="l" defTabSz="457222" rtl="0" eaLnBrk="1" fontAlgn="auto" latinLnBrk="0" hangingPunct="1">
              <a:lnSpc>
                <a:spcPct val="100000"/>
              </a:lnSpc>
              <a:spcBef>
                <a:spcPts val="0"/>
              </a:spcBef>
              <a:spcAft>
                <a:spcPts val="453"/>
              </a:spcAft>
              <a:buClrTx/>
              <a:buSzTx/>
              <a:buFontTx/>
              <a:buNone/>
              <a:tabLst/>
              <a:defRPr/>
            </a:pPr>
            <a:r>
              <a:rPr kumimoji="0" lang="en-US" sz="1050" b="1" i="0" u="none" strike="noStrike" kern="1200" cap="none" spc="0" normalizeH="0" baseline="0" noProof="0">
                <a:ln>
                  <a:noFill/>
                </a:ln>
                <a:solidFill>
                  <a:srgbClr val="0078D4"/>
                </a:solidFill>
                <a:effectLst/>
                <a:uLnTx/>
                <a:uFillTx/>
                <a:latin typeface="Segoe UI Semibold"/>
                <a:ea typeface="+mn-ea"/>
                <a:cs typeface="Segoe UI"/>
              </a:rPr>
              <a:t>Customer Criteria: </a:t>
            </a:r>
            <a:r>
              <a:rPr kumimoji="0" lang="en-US" sz="1050" b="0" i="0" u="none" strike="noStrike" kern="1200" cap="none" spc="0" normalizeH="0" baseline="0" noProof="0">
                <a:ln>
                  <a:noFill/>
                </a:ln>
                <a:solidFill>
                  <a:srgbClr val="000000"/>
                </a:solidFill>
                <a:effectLst/>
                <a:uLnTx/>
                <a:uFillTx/>
                <a:latin typeface="Segoe UI"/>
                <a:ea typeface="+mn-ea"/>
                <a:cs typeface="Segoe UI"/>
              </a:rPr>
              <a:t>All Majors, SMC-(Corporate &amp; Scale) and SMB (with a TPID) customers are supported in Azure Migrate and Modernize Partner-led. (Strategic Customers are not eligible)</a:t>
            </a:r>
            <a:endParaRPr kumimoji="0" lang="en-US" sz="105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16" name="Text Placeholder 15">
            <a:extLst>
              <a:ext uri="{FF2B5EF4-FFF2-40B4-BE49-F238E27FC236}">
                <a16:creationId xmlns:a16="http://schemas.microsoft.com/office/drawing/2014/main" id="{DBB93790-5195-5222-093C-59DDEA782AC3}"/>
              </a:ext>
            </a:extLst>
          </p:cNvPr>
          <p:cNvSpPr>
            <a:spLocks noGrp="1"/>
          </p:cNvSpPr>
          <p:nvPr>
            <p:ph type="body" sz="quarter" idx="4294967295"/>
          </p:nvPr>
        </p:nvSpPr>
        <p:spPr>
          <a:xfrm>
            <a:off x="6654629" y="1733053"/>
            <a:ext cx="2887662" cy="246063"/>
          </a:xfrm>
        </p:spPr>
        <p:txBody>
          <a:bodyPr vert="horz" wrap="square" lIns="0" tIns="0" rIns="0" bIns="0" rtlCol="0" anchor="t">
            <a:spAutoFit/>
          </a:bodyPr>
          <a:lstStyle/>
          <a:p>
            <a:pPr marL="0" indent="0" algn="ctr">
              <a:buNone/>
            </a:pPr>
            <a:r>
              <a:rPr lang="en-US" sz="1600" b="1">
                <a:latin typeface="+mj-lt"/>
                <a:cs typeface="Segoe UI"/>
              </a:rPr>
              <a:t>Incentive payouts</a:t>
            </a:r>
          </a:p>
        </p:txBody>
      </p:sp>
      <p:graphicFrame>
        <p:nvGraphicFramePr>
          <p:cNvPr id="4" name="Table 13">
            <a:extLst>
              <a:ext uri="{FF2B5EF4-FFF2-40B4-BE49-F238E27FC236}">
                <a16:creationId xmlns:a16="http://schemas.microsoft.com/office/drawing/2014/main" id="{7FD2D88F-AFE6-9589-75EB-C0859143BDB0}"/>
              </a:ext>
            </a:extLst>
          </p:cNvPr>
          <p:cNvGraphicFramePr>
            <a:graphicFrameLocks noGrp="1"/>
          </p:cNvGraphicFramePr>
          <p:nvPr/>
        </p:nvGraphicFramePr>
        <p:xfrm>
          <a:off x="4851400" y="2058951"/>
          <a:ext cx="6752414" cy="3629172"/>
        </p:xfrm>
        <a:graphic>
          <a:graphicData uri="http://schemas.openxmlformats.org/drawingml/2006/table">
            <a:tbl>
              <a:tblPr firstRow="1" bandRow="1">
                <a:tableStyleId>{5C22544A-7EE6-4342-B048-85BDC9FD1C3A}</a:tableStyleId>
              </a:tblPr>
              <a:tblGrid>
                <a:gridCol w="1982768">
                  <a:extLst>
                    <a:ext uri="{9D8B030D-6E8A-4147-A177-3AD203B41FA5}">
                      <a16:colId xmlns:a16="http://schemas.microsoft.com/office/drawing/2014/main" val="2488080262"/>
                    </a:ext>
                  </a:extLst>
                </a:gridCol>
                <a:gridCol w="2211821">
                  <a:extLst>
                    <a:ext uri="{9D8B030D-6E8A-4147-A177-3AD203B41FA5}">
                      <a16:colId xmlns:a16="http://schemas.microsoft.com/office/drawing/2014/main" val="1731970499"/>
                    </a:ext>
                  </a:extLst>
                </a:gridCol>
                <a:gridCol w="1462034">
                  <a:extLst>
                    <a:ext uri="{9D8B030D-6E8A-4147-A177-3AD203B41FA5}">
                      <a16:colId xmlns:a16="http://schemas.microsoft.com/office/drawing/2014/main" val="1842645421"/>
                    </a:ext>
                  </a:extLst>
                </a:gridCol>
                <a:gridCol w="1095791">
                  <a:extLst>
                    <a:ext uri="{9D8B030D-6E8A-4147-A177-3AD203B41FA5}">
                      <a16:colId xmlns:a16="http://schemas.microsoft.com/office/drawing/2014/main" val="1353941148"/>
                    </a:ext>
                  </a:extLst>
                </a:gridCol>
              </a:tblGrid>
              <a:tr h="260927">
                <a:tc>
                  <a:txBody>
                    <a:bodyPr/>
                    <a:lstStyle/>
                    <a:p>
                      <a:pPr algn="l"/>
                      <a:r>
                        <a:rPr lang="en-US" sz="1200">
                          <a:latin typeface="+mj-lt"/>
                        </a:rPr>
                        <a:t>Offer </a:t>
                      </a:r>
                    </a:p>
                  </a:txBody>
                  <a:tcPr marL="89642" marR="89642" marT="44821"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0078D4"/>
                    </a:solidFill>
                  </a:tcPr>
                </a:tc>
                <a:tc>
                  <a:txBody>
                    <a:bodyPr/>
                    <a:lstStyle/>
                    <a:p>
                      <a:pPr algn="l"/>
                      <a:r>
                        <a:rPr lang="en-US" sz="1200">
                          <a:latin typeface="+mj-lt"/>
                        </a:rPr>
                        <a:t>Eligibility </a:t>
                      </a:r>
                    </a:p>
                    <a:p>
                      <a:pPr algn="l"/>
                      <a:r>
                        <a:rPr lang="en-US" sz="800" b="1" kern="1200">
                          <a:solidFill>
                            <a:schemeClr val="lt1"/>
                          </a:solidFill>
                          <a:latin typeface="+mj-lt"/>
                          <a:ea typeface="+mn-ea"/>
                          <a:cs typeface="+mn-cs"/>
                        </a:rPr>
                        <a:t>(Planned Azure consumption in year 1)</a:t>
                      </a:r>
                      <a:endParaRPr lang="en-US" sz="1200" b="1" kern="1200">
                        <a:solidFill>
                          <a:schemeClr val="lt1"/>
                        </a:solidFill>
                        <a:latin typeface="+mj-lt"/>
                        <a:ea typeface="+mn-ea"/>
                        <a:cs typeface="+mn-cs"/>
                      </a:endParaRPr>
                    </a:p>
                  </a:txBody>
                  <a:tcPr marL="89642" marR="89642" marT="44821"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0078D4"/>
                    </a:solidFill>
                  </a:tcPr>
                </a:tc>
                <a:tc>
                  <a:txBody>
                    <a:bodyPr/>
                    <a:lstStyle/>
                    <a:p>
                      <a:pPr algn="l"/>
                      <a:r>
                        <a:rPr lang="en-US" sz="1200">
                          <a:latin typeface="+mj-lt"/>
                        </a:rPr>
                        <a:t>Partner payment*</a:t>
                      </a:r>
                    </a:p>
                  </a:txBody>
                  <a:tcPr marL="89642" marR="89642" marT="44821"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0078D4"/>
                    </a:solidFill>
                  </a:tcPr>
                </a:tc>
                <a:tc>
                  <a:txBody>
                    <a:bodyPr/>
                    <a:lstStyle/>
                    <a:p>
                      <a:pPr lvl="0" algn="l">
                        <a:buNone/>
                      </a:pPr>
                      <a:r>
                        <a:rPr lang="en-US" sz="1200">
                          <a:latin typeface="+mj-lt"/>
                        </a:rPr>
                        <a:t>Phase</a:t>
                      </a:r>
                    </a:p>
                  </a:txBody>
                  <a:tcPr marL="89642" marR="89642" marT="44821"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0078D4"/>
                    </a:solidFill>
                  </a:tcPr>
                </a:tc>
                <a:extLst>
                  <a:ext uri="{0D108BD9-81ED-4DB2-BD59-A6C34878D82A}">
                    <a16:rowId xmlns:a16="http://schemas.microsoft.com/office/drawing/2014/main" val="1281831157"/>
                  </a:ext>
                </a:extLst>
              </a:tr>
              <a:tr h="408153">
                <a:tc>
                  <a:txBody>
                    <a:bodyPr/>
                    <a:lstStyle/>
                    <a:p>
                      <a:pPr algn="l"/>
                      <a:r>
                        <a:rPr lang="en-US" sz="900" b="0" i="0" kern="1200">
                          <a:solidFill>
                            <a:schemeClr val="accent1"/>
                          </a:solidFill>
                          <a:effectLst/>
                          <a:latin typeface="+mj-lt"/>
                          <a:ea typeface="+mn-ea"/>
                          <a:cs typeface="+mn-cs"/>
                        </a:rPr>
                        <a:t>Migrate &amp; Modernize assessments </a:t>
                      </a:r>
                      <a:r>
                        <a:rPr lang="en-US" sz="700" b="0" i="0" kern="1200">
                          <a:solidFill>
                            <a:schemeClr val="tx1"/>
                          </a:solidFill>
                          <a:effectLst/>
                          <a:latin typeface="+mj-lt"/>
                          <a:ea typeface="+mn-ea"/>
                          <a:cs typeface="+mn-cs"/>
                        </a:rPr>
                        <a:t>(Infra/DB, Migrate Enterprise Apps, SAP only)</a:t>
                      </a:r>
                      <a:endParaRPr lang="en-US" sz="900" b="0" i="0" kern="1200">
                        <a:solidFill>
                          <a:schemeClr val="tx1"/>
                        </a:solidFill>
                        <a:effectLst/>
                        <a:latin typeface="+mj-lt"/>
                        <a:ea typeface="+mn-ea"/>
                        <a:cs typeface="+mn-cs"/>
                      </a:endParaRPr>
                    </a:p>
                  </a:txBody>
                  <a:tcPr marL="45720" marR="89642" marT="44821"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algn="l" fontAlgn="ctr"/>
                      <a:r>
                        <a:rPr lang="en-US" sz="900" b="0" i="0" u="none" strike="noStrike">
                          <a:solidFill>
                            <a:schemeClr val="accent1"/>
                          </a:solidFill>
                          <a:effectLst/>
                          <a:latin typeface="+mn-lt"/>
                        </a:rPr>
                        <a:t>Suggested project size: </a:t>
                      </a:r>
                      <a:r>
                        <a:rPr lang="en-US" sz="900" b="1" i="0" u="none" strike="noStrike" kern="1200">
                          <a:solidFill>
                            <a:schemeClr val="accent1"/>
                          </a:solidFill>
                          <a:effectLst/>
                          <a:latin typeface="+mn-lt"/>
                          <a:ea typeface="+mn-ea"/>
                          <a:cs typeface="+mn-cs"/>
                        </a:rPr>
                        <a:t>&gt;$25K/year</a:t>
                      </a:r>
                    </a:p>
                  </a:txBody>
                  <a:tcPr marL="45720" marR="9338" marT="9338"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algn="l" fontAlgn="ctr"/>
                      <a:r>
                        <a:rPr lang="en-US" sz="900" b="1" i="0" u="none" strike="noStrike">
                          <a:solidFill>
                            <a:schemeClr val="accent1"/>
                          </a:solidFill>
                          <a:effectLst/>
                          <a:latin typeface="+mn-lt"/>
                        </a:rPr>
                        <a:t>$4,000 / $5,000</a:t>
                      </a:r>
                    </a:p>
                  </a:txBody>
                  <a:tcPr marL="45720" marR="9338" marT="9338"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lvl="0" algn="l">
                        <a:buNone/>
                      </a:pPr>
                      <a:r>
                        <a:rPr lang="en-US" sz="900" b="1" i="0" u="none" strike="noStrike">
                          <a:solidFill>
                            <a:schemeClr val="accent1"/>
                          </a:solidFill>
                          <a:effectLst/>
                          <a:latin typeface="+mn-lt"/>
                        </a:rPr>
                        <a:t>Pre-sales</a:t>
                      </a:r>
                    </a:p>
                  </a:txBody>
                  <a:tcPr marL="45720" marR="9337" marT="9337"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21671846"/>
                  </a:ext>
                </a:extLst>
              </a:tr>
              <a:tr h="408153">
                <a:tc>
                  <a:txBody>
                    <a:bodyPr/>
                    <a:lstStyle/>
                    <a:p>
                      <a:pPr marL="0" marR="0" lvl="0" indent="0" algn="l">
                        <a:lnSpc>
                          <a:spcPct val="100000"/>
                        </a:lnSpc>
                        <a:spcBef>
                          <a:spcPts val="0"/>
                        </a:spcBef>
                        <a:spcAft>
                          <a:spcPts val="0"/>
                        </a:spcAft>
                        <a:buNone/>
                      </a:pPr>
                      <a:r>
                        <a:rPr lang="en-US" sz="900" b="0" i="0" u="none" strike="noStrike" kern="1200" noProof="0">
                          <a:solidFill>
                            <a:schemeClr val="tx1"/>
                          </a:solidFill>
                          <a:effectLst/>
                          <a:latin typeface="Segoe UI Semibold"/>
                        </a:rPr>
                        <a:t>Migrate &amp; Modernize XS – </a:t>
                      </a:r>
                      <a:r>
                        <a:rPr lang="en-US" sz="900" b="0" i="0" u="none" strike="noStrike" kern="1200" noProof="0">
                          <a:solidFill>
                            <a:schemeClr val="accent1"/>
                          </a:solidFill>
                          <a:effectLst/>
                          <a:latin typeface="Segoe UI Semibold"/>
                        </a:rPr>
                        <a:t>NEW!</a:t>
                      </a:r>
                    </a:p>
                    <a:p>
                      <a:pPr marL="0" marR="0" lvl="0" indent="0" algn="l">
                        <a:lnSpc>
                          <a:spcPct val="100000"/>
                        </a:lnSpc>
                        <a:spcBef>
                          <a:spcPts val="0"/>
                        </a:spcBef>
                        <a:spcAft>
                          <a:spcPts val="0"/>
                        </a:spcAft>
                        <a:buNone/>
                      </a:pPr>
                      <a:r>
                        <a:rPr lang="en-US" sz="900" b="0" i="0" u="none" strike="noStrike" kern="1200" noProof="0">
                          <a:solidFill>
                            <a:schemeClr val="tx1"/>
                          </a:solidFill>
                          <a:effectLst/>
                          <a:latin typeface="Segoe UI Semibold"/>
                        </a:rPr>
                        <a:t>(Infra/DB migration only)</a:t>
                      </a:r>
                      <a:endParaRPr lang="en-US" sz="900">
                        <a:solidFill>
                          <a:schemeClr val="tx1"/>
                        </a:solidFill>
                      </a:endParaRPr>
                    </a:p>
                  </a:txBody>
                  <a:tcPr marL="45720" marR="89642" marT="44821"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lvl="0" algn="l">
                        <a:buNone/>
                      </a:pPr>
                      <a:r>
                        <a:rPr lang="en-US" sz="900" b="0" i="0" u="none" strike="noStrike">
                          <a:solidFill>
                            <a:schemeClr val="tx1"/>
                          </a:solidFill>
                          <a:effectLst/>
                          <a:latin typeface="+mn-lt"/>
                        </a:rPr>
                        <a:t>Project size: </a:t>
                      </a:r>
                      <a:r>
                        <a:rPr lang="en-US" sz="900" b="1" i="0" u="none" strike="noStrike">
                          <a:solidFill>
                            <a:schemeClr val="tx1"/>
                          </a:solidFill>
                          <a:effectLst/>
                          <a:latin typeface="+mn-lt"/>
                        </a:rPr>
                        <a:t>$10K–$25K/year</a:t>
                      </a:r>
                      <a:r>
                        <a:rPr lang="en-US" sz="900" b="0" i="0" u="none" strike="noStrike">
                          <a:solidFill>
                            <a:schemeClr val="tx1"/>
                          </a:solidFill>
                          <a:effectLst/>
                          <a:latin typeface="+mn-lt"/>
                        </a:rPr>
                        <a:t> </a:t>
                      </a:r>
                    </a:p>
                  </a:txBody>
                  <a:tcPr marL="45720" marR="9337" marT="9337"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900" b="1" i="0" u="none" strike="noStrike" kern="1200" noProof="0">
                          <a:solidFill>
                            <a:schemeClr val="tx1"/>
                          </a:solidFill>
                          <a:effectLst/>
                          <a:latin typeface="+mn-lt"/>
                          <a:ea typeface="+mn-ea"/>
                          <a:cs typeface="+mn-cs"/>
                        </a:rPr>
                        <a:t>$4,000 / $5,000</a:t>
                      </a:r>
                    </a:p>
                  </a:txBody>
                  <a:tcPr marL="45720" marR="9337" marT="9337"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lvl="0" algn="l">
                        <a:buNone/>
                      </a:pPr>
                      <a:r>
                        <a:rPr lang="en-US" sz="900" b="1" i="0" u="none" strike="noStrike">
                          <a:solidFill>
                            <a:schemeClr val="tx1"/>
                          </a:solidFill>
                          <a:effectLst/>
                          <a:latin typeface="+mn-lt"/>
                        </a:rPr>
                        <a:t>Post-sales</a:t>
                      </a:r>
                      <a:endParaRPr lang="en-US" sz="900">
                        <a:solidFill>
                          <a:schemeClr val="tx1"/>
                        </a:solidFill>
                      </a:endParaRPr>
                    </a:p>
                  </a:txBody>
                  <a:tcPr marL="45720" marR="9337" marT="9337"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47820349"/>
                  </a:ext>
                </a:extLst>
              </a:tr>
              <a:tr h="408153">
                <a:tc>
                  <a:txBody>
                    <a:bodyPr/>
                    <a:lstStyle/>
                    <a:p>
                      <a:pPr algn="l"/>
                      <a:r>
                        <a:rPr lang="en-US" sz="900" b="0" i="0" kern="1200">
                          <a:solidFill>
                            <a:schemeClr val="tx1"/>
                          </a:solidFill>
                          <a:effectLst/>
                          <a:latin typeface="+mj-lt"/>
                          <a:ea typeface="+mn-ea"/>
                          <a:cs typeface="+mn-cs"/>
                        </a:rPr>
                        <a:t>Migrate &amp; Modernize Small </a:t>
                      </a:r>
                    </a:p>
                  </a:txBody>
                  <a:tcPr marL="45720" marR="89642" marT="44821"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algn="l" fontAlgn="ctr"/>
                      <a:r>
                        <a:rPr lang="en-US" sz="900" b="0" i="0" u="none" strike="noStrike">
                          <a:solidFill>
                            <a:schemeClr val="tx1"/>
                          </a:solidFill>
                          <a:effectLst/>
                          <a:latin typeface="+mn-lt"/>
                        </a:rPr>
                        <a:t>Project size: &gt;</a:t>
                      </a:r>
                      <a:r>
                        <a:rPr lang="en-US" sz="900" b="1" i="0" u="none" strike="noStrike">
                          <a:solidFill>
                            <a:schemeClr val="tx1"/>
                          </a:solidFill>
                          <a:effectLst/>
                          <a:latin typeface="+mn-lt"/>
                        </a:rPr>
                        <a:t>$25K–$125K/year</a:t>
                      </a:r>
                      <a:r>
                        <a:rPr lang="en-US" sz="900" b="0" i="0" u="none" strike="noStrike">
                          <a:solidFill>
                            <a:schemeClr val="tx1"/>
                          </a:solidFill>
                          <a:effectLst/>
                          <a:latin typeface="+mn-lt"/>
                        </a:rPr>
                        <a:t> </a:t>
                      </a:r>
                    </a:p>
                  </a:txBody>
                  <a:tcPr marL="45720" marR="9338" marT="9338"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algn="l" fontAlgn="ctr"/>
                      <a:r>
                        <a:rPr lang="en-US" sz="900" b="1" i="0" u="none" strike="noStrike">
                          <a:solidFill>
                            <a:schemeClr val="tx1"/>
                          </a:solidFill>
                          <a:effectLst/>
                          <a:latin typeface="+mn-lt"/>
                        </a:rPr>
                        <a:t>$12,000 / $15,000 </a:t>
                      </a:r>
                    </a:p>
                  </a:txBody>
                  <a:tcPr marL="45720" marR="9338" marT="9338"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lvl="0" algn="l">
                        <a:buNone/>
                      </a:pPr>
                      <a:r>
                        <a:rPr lang="en-US" sz="900" b="1" i="0" u="none" strike="noStrike">
                          <a:solidFill>
                            <a:schemeClr val="tx1"/>
                          </a:solidFill>
                          <a:effectLst/>
                          <a:latin typeface="+mn-lt"/>
                        </a:rPr>
                        <a:t>Post-sales</a:t>
                      </a:r>
                    </a:p>
                  </a:txBody>
                  <a:tcPr marL="45720" marR="9337" marT="9337"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40585824"/>
                  </a:ext>
                </a:extLst>
              </a:tr>
              <a:tr h="408153">
                <a:tc>
                  <a:txBody>
                    <a:bodyPr/>
                    <a:lstStyle/>
                    <a:p>
                      <a:pPr marL="0" marR="0" lvl="0" indent="0" algn="l" rtl="0" eaLnBrk="1" fontAlgn="auto" latinLnBrk="0" hangingPunct="1">
                        <a:lnSpc>
                          <a:spcPct val="100000"/>
                        </a:lnSpc>
                        <a:spcBef>
                          <a:spcPts val="0"/>
                        </a:spcBef>
                        <a:spcAft>
                          <a:spcPts val="0"/>
                        </a:spcAft>
                        <a:buClrTx/>
                        <a:buSzTx/>
                        <a:buFontTx/>
                        <a:buNone/>
                      </a:pPr>
                      <a:r>
                        <a:rPr lang="en-US" sz="900" b="0" i="0" kern="1200">
                          <a:solidFill>
                            <a:schemeClr val="tx1"/>
                          </a:solidFill>
                          <a:effectLst/>
                          <a:latin typeface="+mj-lt"/>
                          <a:ea typeface="+mn-ea"/>
                          <a:cs typeface="+mn-cs"/>
                        </a:rPr>
                        <a:t>Migrate &amp; Modernize Medium </a:t>
                      </a:r>
                    </a:p>
                  </a:txBody>
                  <a:tcPr marL="45720" marR="89642" marT="44821"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algn="l" fontAlgn="ctr"/>
                      <a:r>
                        <a:rPr lang="en-US" sz="900" b="0" i="0" u="none" strike="noStrike">
                          <a:solidFill>
                            <a:schemeClr val="tx1"/>
                          </a:solidFill>
                          <a:effectLst/>
                          <a:latin typeface="+mn-lt"/>
                        </a:rPr>
                        <a:t>Project size: </a:t>
                      </a:r>
                      <a:r>
                        <a:rPr lang="en-US" sz="900" b="1" i="0" u="none" strike="noStrike">
                          <a:solidFill>
                            <a:schemeClr val="tx1"/>
                          </a:solidFill>
                          <a:effectLst/>
                          <a:latin typeface="+mn-lt"/>
                        </a:rPr>
                        <a:t>&gt;$125K–$250K/year</a:t>
                      </a:r>
                      <a:r>
                        <a:rPr lang="en-US" sz="900" b="0" i="0" u="none" strike="noStrike">
                          <a:solidFill>
                            <a:schemeClr val="tx1"/>
                          </a:solidFill>
                          <a:effectLst/>
                          <a:latin typeface="+mn-lt"/>
                        </a:rPr>
                        <a:t> </a:t>
                      </a:r>
                    </a:p>
                  </a:txBody>
                  <a:tcPr marL="45720" marR="9338" marT="9338"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algn="l" fontAlgn="ctr"/>
                      <a:r>
                        <a:rPr lang="en-US" sz="900" b="1" i="0" u="none" strike="noStrike">
                          <a:solidFill>
                            <a:schemeClr val="tx1"/>
                          </a:solidFill>
                          <a:effectLst/>
                          <a:latin typeface="+mn-lt"/>
                        </a:rPr>
                        <a:t>$28,000 / $35,000 </a:t>
                      </a:r>
                    </a:p>
                  </a:txBody>
                  <a:tcPr marL="45720" marR="9338" marT="9338"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lvl="0" algn="l">
                        <a:buNone/>
                      </a:pPr>
                      <a:r>
                        <a:rPr lang="en-US" sz="900" b="1" i="0" u="none" strike="noStrike" noProof="0">
                          <a:solidFill>
                            <a:schemeClr val="tx1"/>
                          </a:solidFill>
                          <a:effectLst/>
                          <a:latin typeface="Segoe UI"/>
                        </a:rPr>
                        <a:t>Post-sales</a:t>
                      </a:r>
                      <a:endParaRPr lang="en-US" sz="900">
                        <a:solidFill>
                          <a:schemeClr val="tx1"/>
                        </a:solidFill>
                      </a:endParaRPr>
                    </a:p>
                  </a:txBody>
                  <a:tcPr marL="45720" marR="9337" marT="9337"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47045847"/>
                  </a:ext>
                </a:extLst>
              </a:tr>
              <a:tr h="408153">
                <a:tc>
                  <a:txBody>
                    <a:bodyPr/>
                    <a:lstStyle/>
                    <a:p>
                      <a:pPr marL="0" marR="0" lvl="0" indent="0" algn="l" defTabSz="951304" rtl="0" eaLnBrk="1" fontAlgn="auto" latinLnBrk="0" hangingPunct="1">
                        <a:lnSpc>
                          <a:spcPct val="100000"/>
                        </a:lnSpc>
                        <a:spcBef>
                          <a:spcPts val="0"/>
                        </a:spcBef>
                        <a:spcAft>
                          <a:spcPts val="0"/>
                        </a:spcAft>
                        <a:buClrTx/>
                        <a:buSzTx/>
                        <a:buFontTx/>
                        <a:buNone/>
                        <a:tabLst/>
                        <a:defRPr/>
                      </a:pPr>
                      <a:r>
                        <a:rPr lang="en-US" sz="900" b="0" i="0" kern="1200">
                          <a:solidFill>
                            <a:schemeClr val="tx1"/>
                          </a:solidFill>
                          <a:effectLst/>
                          <a:latin typeface="+mj-lt"/>
                          <a:ea typeface="+mn-ea"/>
                          <a:cs typeface="+mn-cs"/>
                        </a:rPr>
                        <a:t>Migrate &amp; Modernize Large</a:t>
                      </a:r>
                    </a:p>
                  </a:txBody>
                  <a:tcPr marL="45720" marR="89642" marT="44821"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algn="l" fontAlgn="ctr"/>
                      <a:r>
                        <a:rPr lang="en-US" sz="900" b="0" i="0" u="none" strike="noStrike">
                          <a:solidFill>
                            <a:schemeClr val="tx1"/>
                          </a:solidFill>
                          <a:effectLst/>
                          <a:latin typeface="+mn-lt"/>
                        </a:rPr>
                        <a:t>Project size: </a:t>
                      </a:r>
                      <a:r>
                        <a:rPr lang="en-US" sz="900" b="1" i="0" u="none" strike="noStrike">
                          <a:solidFill>
                            <a:schemeClr val="tx1"/>
                          </a:solidFill>
                          <a:effectLst/>
                          <a:latin typeface="+mn-lt"/>
                        </a:rPr>
                        <a:t>&gt;$250K–$500K/year</a:t>
                      </a:r>
                      <a:r>
                        <a:rPr lang="en-US" sz="900" b="0" i="0" u="none" strike="noStrike">
                          <a:solidFill>
                            <a:schemeClr val="tx1"/>
                          </a:solidFill>
                          <a:effectLst/>
                          <a:latin typeface="+mn-lt"/>
                        </a:rPr>
                        <a:t> </a:t>
                      </a:r>
                    </a:p>
                  </a:txBody>
                  <a:tcPr marL="45720" marR="9338" marT="9338"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algn="l" fontAlgn="ctr"/>
                      <a:r>
                        <a:rPr lang="en-US" sz="900" b="1" i="0" u="none" strike="noStrike">
                          <a:solidFill>
                            <a:schemeClr val="tx1"/>
                          </a:solidFill>
                          <a:effectLst/>
                          <a:latin typeface="+mn-lt"/>
                        </a:rPr>
                        <a:t>$40,000 / $50,000 </a:t>
                      </a:r>
                    </a:p>
                  </a:txBody>
                  <a:tcPr marL="45720" marR="9338" marT="9338"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lvl="0" algn="l">
                        <a:buNone/>
                      </a:pPr>
                      <a:r>
                        <a:rPr lang="en-US" sz="900" b="1" i="0" u="none" strike="noStrike" noProof="0">
                          <a:solidFill>
                            <a:schemeClr val="tx1"/>
                          </a:solidFill>
                          <a:effectLst/>
                          <a:latin typeface="Segoe UI"/>
                        </a:rPr>
                        <a:t>Post-sales</a:t>
                      </a:r>
                      <a:endParaRPr lang="en-US" sz="900">
                        <a:solidFill>
                          <a:schemeClr val="tx1"/>
                        </a:solidFill>
                      </a:endParaRPr>
                    </a:p>
                  </a:txBody>
                  <a:tcPr marL="45720" marR="9337" marT="9337"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29832255"/>
                  </a:ext>
                </a:extLst>
              </a:tr>
              <a:tr h="408153">
                <a:tc>
                  <a:txBody>
                    <a:bodyPr/>
                    <a:lstStyle/>
                    <a:p>
                      <a:pPr marL="0" marR="0" lvl="0" indent="0" algn="l" rtl="0" eaLnBrk="1" fontAlgn="auto" latinLnBrk="0" hangingPunct="1">
                        <a:lnSpc>
                          <a:spcPct val="100000"/>
                        </a:lnSpc>
                        <a:spcBef>
                          <a:spcPts val="0"/>
                        </a:spcBef>
                        <a:spcAft>
                          <a:spcPts val="0"/>
                        </a:spcAft>
                        <a:buClrTx/>
                        <a:buSzTx/>
                        <a:buFontTx/>
                        <a:buNone/>
                      </a:pPr>
                      <a:r>
                        <a:rPr lang="en-US" sz="900" b="0" i="0" kern="1200">
                          <a:solidFill>
                            <a:schemeClr val="tx1"/>
                          </a:solidFill>
                          <a:effectLst/>
                          <a:latin typeface="+mj-lt"/>
                          <a:ea typeface="+mn-ea"/>
                          <a:cs typeface="+mn-cs"/>
                        </a:rPr>
                        <a:t>Migrate &amp; Modernize XL </a:t>
                      </a:r>
                    </a:p>
                    <a:p>
                      <a:pPr marL="0" marR="0" lvl="0" indent="0" algn="l" defTabSz="951304" rtl="0" eaLnBrk="1" fontAlgn="auto" latinLnBrk="0" hangingPunct="1">
                        <a:lnSpc>
                          <a:spcPct val="100000"/>
                        </a:lnSpc>
                        <a:spcBef>
                          <a:spcPts val="0"/>
                        </a:spcBef>
                        <a:spcAft>
                          <a:spcPts val="0"/>
                        </a:spcAft>
                        <a:buClrTx/>
                        <a:buSzTx/>
                        <a:buFontTx/>
                        <a:buNone/>
                        <a:tabLst/>
                        <a:defRPr/>
                      </a:pPr>
                      <a:r>
                        <a:rPr lang="en-US" sz="900" b="0" i="0" kern="1200">
                          <a:solidFill>
                            <a:schemeClr val="tx1"/>
                          </a:solidFill>
                          <a:effectLst/>
                          <a:latin typeface="+mj-lt"/>
                          <a:ea typeface="+mn-ea"/>
                          <a:cs typeface="+mn-cs"/>
                        </a:rPr>
                        <a:t>(Infra/DB migration only)</a:t>
                      </a:r>
                    </a:p>
                  </a:txBody>
                  <a:tcPr marL="45720" marR="89642" marT="44821"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marL="0" marR="0" lvl="0" indent="0" algn="l" rtl="0" eaLnBrk="1" fontAlgn="ctr" latinLnBrk="0" hangingPunct="1">
                        <a:lnSpc>
                          <a:spcPct val="100000"/>
                        </a:lnSpc>
                        <a:spcBef>
                          <a:spcPts val="0"/>
                        </a:spcBef>
                        <a:spcAft>
                          <a:spcPts val="0"/>
                        </a:spcAft>
                        <a:buClrTx/>
                        <a:buSzTx/>
                        <a:buFontTx/>
                        <a:buNone/>
                      </a:pPr>
                      <a:r>
                        <a:rPr lang="en-US" sz="900" b="0" i="0" u="none" strike="noStrike">
                          <a:solidFill>
                            <a:schemeClr val="tx1"/>
                          </a:solidFill>
                          <a:effectLst/>
                          <a:latin typeface="+mn-lt"/>
                        </a:rPr>
                        <a:t>Project size: </a:t>
                      </a:r>
                      <a:r>
                        <a:rPr lang="en-US" sz="900" b="1" i="0" u="none" strike="noStrike">
                          <a:solidFill>
                            <a:schemeClr val="tx1"/>
                          </a:solidFill>
                          <a:effectLst/>
                          <a:latin typeface="+mn-lt"/>
                        </a:rPr>
                        <a:t>&gt;$500K–$750K/year</a:t>
                      </a:r>
                      <a:r>
                        <a:rPr lang="en-US" sz="900" b="0" i="0" u="none" strike="noStrike">
                          <a:solidFill>
                            <a:schemeClr val="tx1"/>
                          </a:solidFill>
                          <a:effectLst/>
                          <a:latin typeface="+mn-lt"/>
                        </a:rPr>
                        <a:t> </a:t>
                      </a:r>
                    </a:p>
                  </a:txBody>
                  <a:tcPr marL="45720" marR="9338" marT="9338"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algn="l" fontAlgn="ctr"/>
                      <a:r>
                        <a:rPr lang="en-US" sz="900" b="1" i="0" u="none" strike="noStrike">
                          <a:solidFill>
                            <a:schemeClr val="tx1"/>
                          </a:solidFill>
                          <a:effectLst/>
                          <a:latin typeface="+mn-lt"/>
                        </a:rPr>
                        <a:t>$60,000 / $75,000</a:t>
                      </a:r>
                    </a:p>
                  </a:txBody>
                  <a:tcPr marL="45720" marR="9338" marT="9338"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lvl="0" algn="l">
                        <a:buNone/>
                      </a:pPr>
                      <a:r>
                        <a:rPr lang="en-US" sz="900" b="1" i="0" u="none" strike="noStrike" noProof="0">
                          <a:solidFill>
                            <a:schemeClr val="tx1"/>
                          </a:solidFill>
                          <a:effectLst/>
                          <a:latin typeface="Segoe UI"/>
                        </a:rPr>
                        <a:t>Post-sales</a:t>
                      </a:r>
                      <a:endParaRPr lang="en-US" sz="900">
                        <a:solidFill>
                          <a:schemeClr val="tx1"/>
                        </a:solidFill>
                      </a:endParaRPr>
                    </a:p>
                  </a:txBody>
                  <a:tcPr marL="45720" marR="9337" marT="9337"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184159"/>
                  </a:ext>
                </a:extLst>
              </a:tr>
              <a:tr h="408153">
                <a:tc>
                  <a:txBody>
                    <a:bodyPr/>
                    <a:lstStyle/>
                    <a:p>
                      <a:pPr marL="0" marR="0" lvl="0" indent="0" algn="l" defTabSz="951304" rtl="0" eaLnBrk="1" fontAlgn="auto" latinLnBrk="0" hangingPunct="1">
                        <a:lnSpc>
                          <a:spcPct val="100000"/>
                        </a:lnSpc>
                        <a:spcBef>
                          <a:spcPts val="0"/>
                        </a:spcBef>
                        <a:spcAft>
                          <a:spcPts val="0"/>
                        </a:spcAft>
                        <a:buClrTx/>
                        <a:buSzTx/>
                        <a:buFontTx/>
                        <a:buNone/>
                        <a:tabLst/>
                        <a:defRPr/>
                      </a:pPr>
                      <a:r>
                        <a:rPr lang="en-US" sz="900" b="0" i="0" kern="1200">
                          <a:solidFill>
                            <a:schemeClr val="tx1"/>
                          </a:solidFill>
                          <a:effectLst/>
                          <a:latin typeface="+mj-lt"/>
                          <a:ea typeface="+mn-ea"/>
                          <a:cs typeface="+mn-cs"/>
                        </a:rPr>
                        <a:t>Migrate &amp; Modernize XXL (Infra/DB migration only)</a:t>
                      </a:r>
                    </a:p>
                  </a:txBody>
                  <a:tcPr marL="45720" marR="89642" marT="44821"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marL="0" marR="0" lvl="0" indent="0" algn="l" rtl="0" eaLnBrk="1" fontAlgn="ctr" latinLnBrk="0" hangingPunct="1">
                        <a:lnSpc>
                          <a:spcPct val="100000"/>
                        </a:lnSpc>
                        <a:spcBef>
                          <a:spcPts val="0"/>
                        </a:spcBef>
                        <a:spcAft>
                          <a:spcPts val="0"/>
                        </a:spcAft>
                        <a:buClrTx/>
                        <a:buSzTx/>
                        <a:buFontTx/>
                        <a:buNone/>
                      </a:pPr>
                      <a:r>
                        <a:rPr lang="en-US" sz="900" b="0" i="0" u="none" strike="noStrike">
                          <a:solidFill>
                            <a:schemeClr val="tx1"/>
                          </a:solidFill>
                          <a:effectLst/>
                          <a:latin typeface="+mn-lt"/>
                        </a:rPr>
                        <a:t>Project size: </a:t>
                      </a:r>
                      <a:r>
                        <a:rPr lang="en-US" sz="900" b="1" i="0" u="none" strike="noStrike">
                          <a:solidFill>
                            <a:schemeClr val="tx1"/>
                          </a:solidFill>
                          <a:effectLst/>
                          <a:latin typeface="+mn-lt"/>
                        </a:rPr>
                        <a:t>&gt;$750K–$1M/year</a:t>
                      </a:r>
                      <a:r>
                        <a:rPr lang="en-US" sz="900" b="0" i="0" u="none" strike="noStrike">
                          <a:solidFill>
                            <a:schemeClr val="tx1"/>
                          </a:solidFill>
                          <a:effectLst/>
                          <a:latin typeface="+mn-lt"/>
                        </a:rPr>
                        <a:t> </a:t>
                      </a:r>
                    </a:p>
                  </a:txBody>
                  <a:tcPr marL="45720" marR="9338" marT="9338"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algn="l" fontAlgn="ctr"/>
                      <a:r>
                        <a:rPr lang="en-US" sz="900" b="1" i="0" u="none" strike="noStrike">
                          <a:solidFill>
                            <a:schemeClr val="tx1"/>
                          </a:solidFill>
                          <a:effectLst/>
                          <a:latin typeface="+mn-lt"/>
                        </a:rPr>
                        <a:t>$80,000 / $100,000</a:t>
                      </a:r>
                    </a:p>
                  </a:txBody>
                  <a:tcPr marL="45720" marR="9338" marT="9338"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lvl="0" algn="l">
                        <a:buNone/>
                      </a:pPr>
                      <a:r>
                        <a:rPr lang="en-US" sz="900" b="1" i="0" u="none" strike="noStrike" noProof="0">
                          <a:solidFill>
                            <a:schemeClr val="tx1"/>
                          </a:solidFill>
                          <a:effectLst/>
                          <a:latin typeface="Segoe UI"/>
                        </a:rPr>
                        <a:t>Post-sales</a:t>
                      </a:r>
                      <a:endParaRPr lang="en-US" sz="900">
                        <a:solidFill>
                          <a:schemeClr val="tx1"/>
                        </a:solidFill>
                      </a:endParaRPr>
                    </a:p>
                  </a:txBody>
                  <a:tcPr marL="45720" marR="9337" marT="9337"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88943871"/>
                  </a:ext>
                </a:extLst>
              </a:tr>
              <a:tr h="377659">
                <a:tc gridSpan="3">
                  <a:txBody>
                    <a:bodyPr/>
                    <a:lstStyle/>
                    <a:p>
                      <a:pPr marL="0" marR="0" lvl="1" indent="0" algn="l" defTabSz="951304"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900" b="0" i="0" kern="1200">
                          <a:solidFill>
                            <a:schemeClr val="tx1"/>
                          </a:solidFill>
                          <a:effectLst/>
                          <a:latin typeface="+mj-lt"/>
                          <a:ea typeface="+mn-ea"/>
                          <a:cs typeface="+mn-cs"/>
                        </a:rPr>
                        <a:t>Customer Skilling &amp; FastTrack for Azure is optional for all offers ** </a:t>
                      </a:r>
                      <a:br>
                        <a:rPr lang="en-US" sz="900" b="0" i="0" kern="1200">
                          <a:solidFill>
                            <a:srgbClr val="000000"/>
                          </a:solidFill>
                          <a:effectLst/>
                          <a:latin typeface="+mj-lt"/>
                          <a:ea typeface="+mn-ea"/>
                          <a:cs typeface="+mn-cs"/>
                        </a:rPr>
                      </a:br>
                      <a:r>
                        <a:rPr lang="en-US" sz="900" b="0" i="0" kern="1200">
                          <a:solidFill>
                            <a:schemeClr val="tx1"/>
                          </a:solidFill>
                          <a:effectLst/>
                          <a:latin typeface="+mj-lt"/>
                          <a:ea typeface="+mn-ea"/>
                          <a:cs typeface="+mn-cs"/>
                        </a:rPr>
                        <a:t>No Azure credits available for these engagements</a:t>
                      </a:r>
                    </a:p>
                  </a:txBody>
                  <a:tcPr marL="45720" marR="89642" marT="44821"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lumMod val="95000"/>
                      </a:schemeClr>
                    </a:solidFill>
                  </a:tcPr>
                </a:tc>
                <a:tc hMerge="1">
                  <a:txBody>
                    <a:bodyPr/>
                    <a:lstStyle/>
                    <a:p>
                      <a:pPr algn="ctr" fontAlgn="ctr"/>
                      <a:endParaRPr lang="en-US" sz="1050" b="0" i="0" u="none" strike="noStrike">
                        <a:solidFill>
                          <a:schemeClr val="tx1"/>
                        </a:solidFill>
                        <a:effectLst/>
                        <a:latin typeface="+mn-lt"/>
                      </a:endParaRPr>
                    </a:p>
                  </a:txBody>
                  <a:tcPr marL="9338" marR="9338" marT="9338" marB="44821" anchor="ctr">
                    <a:solidFill>
                      <a:schemeClr val="accent2">
                        <a:lumMod val="75000"/>
                      </a:schemeClr>
                    </a:solidFill>
                  </a:tcPr>
                </a:tc>
                <a:tc hMerge="1">
                  <a:txBody>
                    <a:bodyPr/>
                    <a:lstStyle/>
                    <a:p>
                      <a:pPr algn="ctr" fontAlgn="ctr"/>
                      <a:endParaRPr lang="en-US" sz="1200" b="1" i="0" u="none" strike="noStrike">
                        <a:solidFill>
                          <a:schemeClr val="tx1"/>
                        </a:solidFill>
                        <a:effectLst/>
                        <a:latin typeface="+mn-lt"/>
                      </a:endParaRPr>
                    </a:p>
                  </a:txBody>
                  <a:tcPr marL="9338" marR="9338" marT="9338" marB="44821" anchor="ctr">
                    <a:solidFill>
                      <a:schemeClr val="accent2">
                        <a:lumMod val="75000"/>
                      </a:schemeClr>
                    </a:solidFill>
                  </a:tcPr>
                </a:tc>
                <a:tc>
                  <a:txBody>
                    <a:bodyPr/>
                    <a:lstStyle/>
                    <a:p>
                      <a:pPr marL="2172970" lvl="1" indent="0" algn="l" defTabSz="951304">
                        <a:lnSpc>
                          <a:spcPct val="100000"/>
                        </a:lnSpc>
                        <a:spcBef>
                          <a:spcPts val="0"/>
                        </a:spcBef>
                        <a:spcAft>
                          <a:spcPts val="0"/>
                        </a:spcAft>
                        <a:buNone/>
                        <a:tabLst/>
                        <a:defRPr/>
                      </a:pPr>
                      <a:endParaRPr lang="en-US" sz="900" b="0" i="0" kern="1200">
                        <a:solidFill>
                          <a:schemeClr val="tx1"/>
                        </a:solidFill>
                        <a:effectLst/>
                        <a:latin typeface="+mj-lt"/>
                        <a:ea typeface="+mn-ea"/>
                        <a:cs typeface="+mn-cs"/>
                      </a:endParaRPr>
                    </a:p>
                  </a:txBody>
                  <a:tcPr marL="45720" marR="89642" marT="44821" marB="4482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8531052"/>
                  </a:ext>
                </a:extLst>
              </a:tr>
            </a:tbl>
          </a:graphicData>
        </a:graphic>
      </p:graphicFrame>
      <p:sp>
        <p:nvSpPr>
          <p:cNvPr id="36" name="TextBox 35">
            <a:extLst>
              <a:ext uri="{FF2B5EF4-FFF2-40B4-BE49-F238E27FC236}">
                <a16:creationId xmlns:a16="http://schemas.microsoft.com/office/drawing/2014/main" id="{DB1251EA-89F5-37BF-9006-20200B6394AE}"/>
              </a:ext>
            </a:extLst>
          </p:cNvPr>
          <p:cNvSpPr txBox="1"/>
          <p:nvPr/>
        </p:nvSpPr>
        <p:spPr>
          <a:xfrm>
            <a:off x="4813300" y="5863301"/>
            <a:ext cx="6762750" cy="840743"/>
          </a:xfrm>
          <a:prstGeom prst="rect">
            <a:avLst/>
          </a:prstGeom>
          <a:noFill/>
        </p:spPr>
        <p:txBody>
          <a:bodyPr wrap="square" lIns="91440" tIns="45720" rIns="91440" bIns="45720" anchor="t">
            <a:spAutoFit/>
          </a:bodyPr>
          <a:lstStyle/>
          <a:p>
            <a:pPr marL="0" marR="0" lvl="0" indent="0" algn="l" defTabSz="457222" rtl="0" eaLnBrk="1" fontAlgn="auto" latinLnBrk="0" hangingPunct="1">
              <a:lnSpc>
                <a:spcPct val="90000"/>
              </a:lnSpc>
              <a:spcBef>
                <a:spcPts val="100"/>
              </a:spcBef>
              <a:spcAft>
                <a:spcPts val="453"/>
              </a:spcAft>
              <a:buClrTx/>
              <a:buSzTx/>
              <a:buFontTx/>
              <a:buNone/>
              <a:tabLst/>
              <a:defRPr/>
            </a:pPr>
            <a:r>
              <a:rPr kumimoji="0" lang="en-US" sz="700" b="1" i="0" u="none" strike="noStrike" kern="1200" cap="none" spc="0" normalizeH="0" baseline="0" noProof="0">
                <a:ln>
                  <a:noFill/>
                </a:ln>
                <a:solidFill>
                  <a:srgbClr val="000000"/>
                </a:solidFill>
                <a:effectLst/>
                <a:uLnTx/>
                <a:uFillTx/>
                <a:latin typeface="Segoe UI"/>
                <a:ea typeface="+mn-ea"/>
                <a:cs typeface="Segoe UI"/>
              </a:rPr>
              <a:t>Important: </a:t>
            </a:r>
            <a:r>
              <a:rPr kumimoji="0" lang="en-US" sz="700" b="0" i="0" u="none" strike="noStrike" kern="1200" cap="none" spc="0" normalizeH="0" baseline="0" noProof="0">
                <a:ln>
                  <a:noFill/>
                </a:ln>
                <a:solidFill>
                  <a:srgbClr val="000000"/>
                </a:solidFill>
                <a:effectLst/>
                <a:uLnTx/>
                <a:uFillTx/>
                <a:latin typeface="Segoe UI"/>
                <a:ea typeface="+mn-ea"/>
                <a:cs typeface="Segoe UI"/>
              </a:rPr>
              <a:t>To request Customer Skilling </a:t>
            </a:r>
            <a:r>
              <a:rPr kumimoji="0" lang="en-US" sz="700" b="0" i="0" u="sng" strike="noStrike" kern="1200" cap="none" spc="0" normalizeH="0" baseline="0" noProof="0">
                <a:ln>
                  <a:noFill/>
                </a:ln>
                <a:solidFill>
                  <a:srgbClr val="000000"/>
                </a:solidFill>
                <a:effectLst/>
                <a:uLnTx/>
                <a:uFillTx/>
                <a:latin typeface="Segoe UI"/>
                <a:ea typeface="+mn-ea"/>
                <a:cs typeface="Segoe UI"/>
              </a:rPr>
              <a:t>OR</a:t>
            </a:r>
            <a:r>
              <a:rPr kumimoji="0" lang="en-US" sz="700" b="0" i="0" u="none" strike="noStrike" kern="1200" cap="none" spc="0" normalizeH="0" baseline="0" noProof="0">
                <a:ln>
                  <a:noFill/>
                </a:ln>
                <a:solidFill>
                  <a:srgbClr val="000000"/>
                </a:solidFill>
                <a:effectLst/>
                <a:uLnTx/>
                <a:uFillTx/>
                <a:latin typeface="Segoe UI"/>
                <a:ea typeface="+mn-ea"/>
                <a:cs typeface="Segoe UI"/>
              </a:rPr>
              <a:t> FastTrack for Azure support. </a:t>
            </a:r>
            <a:br>
              <a:rPr kumimoji="0" lang="en-US" sz="7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br>
            <a:r>
              <a:rPr kumimoji="0" lang="en-US" sz="700" b="0" i="0" u="none" strike="noStrike" kern="1200" cap="none" spc="0" normalizeH="0" baseline="0" noProof="0">
                <a:ln>
                  <a:noFill/>
                </a:ln>
                <a:solidFill>
                  <a:srgbClr val="000000"/>
                </a:solidFill>
                <a:effectLst/>
                <a:uLnTx/>
                <a:uFillTx/>
                <a:latin typeface="Segoe UI"/>
                <a:ea typeface="+mn-ea"/>
                <a:cs typeface="Segoe UI"/>
              </a:rPr>
              <a:t>Please email </a:t>
            </a:r>
            <a:r>
              <a:rPr kumimoji="0" lang="en-US" sz="700" b="0" i="0" u="none" strike="noStrike" kern="1200" cap="none" spc="0" normalizeH="0" baseline="0" noProof="0">
                <a:ln>
                  <a:noFill/>
                </a:ln>
                <a:solidFill>
                  <a:srgbClr val="000000"/>
                </a:solidFill>
                <a:effectLst/>
                <a:uLnTx/>
                <a:uFillTx/>
                <a:latin typeface="Segoe UI"/>
                <a:ea typeface="+mn-ea"/>
                <a:cs typeface="Segoe UI"/>
                <a:hlinkClick r:id="rId3">
                  <a:extLst>
                    <a:ext uri="{A12FA001-AC4F-418D-AE19-62706E023703}">
                      <ahyp:hlinkClr xmlns:ahyp="http://schemas.microsoft.com/office/drawing/2018/hyperlinkcolor" val="tx"/>
                    </a:ext>
                  </a:extLst>
                </a:hlinkClick>
              </a:rPr>
              <a:t>AzurePartnerOffering@microsoft.com</a:t>
            </a:r>
            <a:r>
              <a:rPr kumimoji="0" lang="en-US" sz="700" b="0" i="0" u="none" strike="noStrike" kern="1200" cap="none" spc="0" normalizeH="0" baseline="0" noProof="0">
                <a:ln>
                  <a:noFill/>
                </a:ln>
                <a:solidFill>
                  <a:srgbClr val="000000"/>
                </a:solidFill>
                <a:effectLst/>
                <a:uLnTx/>
                <a:uFillTx/>
                <a:latin typeface="Segoe UI"/>
                <a:ea typeface="+mn-ea"/>
                <a:cs typeface="Segoe UI"/>
              </a:rPr>
              <a:t> with the Claim ID of the engagement </a:t>
            </a:r>
            <a:r>
              <a:rPr kumimoji="0" lang="en-US" sz="700" b="0" i="0" u="sng" strike="noStrike" kern="1200" cap="none" spc="0" normalizeH="0" baseline="0" noProof="0">
                <a:ln>
                  <a:noFill/>
                </a:ln>
                <a:solidFill>
                  <a:srgbClr val="000000"/>
                </a:solidFill>
                <a:effectLst/>
                <a:uLnTx/>
                <a:uFillTx/>
                <a:latin typeface="Segoe UI"/>
                <a:ea typeface="+mn-ea"/>
                <a:cs typeface="Segoe UI"/>
              </a:rPr>
              <a:t>after customer consent has been secured</a:t>
            </a:r>
            <a:r>
              <a:rPr kumimoji="0" lang="en-US" sz="700" b="0" i="0" u="none" strike="noStrike" kern="1200" cap="none" spc="0" normalizeH="0" baseline="0" noProof="0">
                <a:ln>
                  <a:noFill/>
                </a:ln>
                <a:solidFill>
                  <a:srgbClr val="000000"/>
                </a:solidFill>
                <a:effectLst/>
                <a:uLnTx/>
                <a:uFillTx/>
                <a:latin typeface="Segoe UI"/>
                <a:ea typeface="+mn-ea"/>
                <a:cs typeface="Segoe UI"/>
              </a:rPr>
              <a:t>.</a:t>
            </a:r>
          </a:p>
          <a:p>
            <a:pPr marL="0" marR="0" lvl="0" indent="0" algn="l" defTabSz="457222" rtl="0" eaLnBrk="1" fontAlgn="auto" latinLnBrk="0" hangingPunct="1">
              <a:lnSpc>
                <a:spcPct val="90000"/>
              </a:lnSpc>
              <a:spcBef>
                <a:spcPts val="100"/>
              </a:spcBef>
              <a:spcAft>
                <a:spcPts val="453"/>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a:ea typeface="+mn-ea"/>
                <a:cs typeface="Segoe UI"/>
              </a:rPr>
              <a:t>* See </a:t>
            </a:r>
            <a:r>
              <a:rPr kumimoji="0" lang="en-US" sz="700" b="0" i="0" u="none" strike="noStrike" kern="1200" cap="none" spc="0" normalizeH="0" baseline="0" noProof="0">
                <a:ln>
                  <a:noFill/>
                </a:ln>
                <a:solidFill>
                  <a:srgbClr val="000000"/>
                </a:solidFill>
                <a:effectLst/>
                <a:uLnTx/>
                <a:uFillTx/>
                <a:latin typeface="Segoe UI"/>
                <a:ea typeface="+mn-ea"/>
                <a:cs typeface="Segoe UI"/>
                <a:hlinkClick r:id="rId4">
                  <a:extLst>
                    <a:ext uri="{A12FA001-AC4F-418D-AE19-62706E023703}">
                      <ahyp:hlinkClr xmlns:ahyp="http://schemas.microsoft.com/office/drawing/2018/hyperlinkcolor" val="tx"/>
                    </a:ext>
                  </a:extLst>
                </a:hlinkClick>
              </a:rPr>
              <a:t>Microsoft Partner Commercial Incentives Guide</a:t>
            </a:r>
            <a:r>
              <a:rPr kumimoji="0" lang="en-US" sz="700" b="0" i="0" u="none" strike="noStrike" kern="1200" cap="none" spc="0" normalizeH="0" baseline="0" noProof="0">
                <a:ln>
                  <a:noFill/>
                </a:ln>
                <a:solidFill>
                  <a:srgbClr val="000000"/>
                </a:solidFill>
                <a:effectLst/>
                <a:uLnTx/>
                <a:uFillTx/>
                <a:latin typeface="Segoe UI"/>
                <a:ea typeface="+mn-ea"/>
                <a:cs typeface="Segoe UI"/>
              </a:rPr>
              <a:t> for offer full details and requirements. Above project sizes are the planned Azure consumption in year 1, measured from project completion.</a:t>
            </a:r>
            <a:r>
              <a:rPr kumimoji="0" lang="en-US" sz="700" b="0" i="0" u="none" strike="noStrike" kern="1200" cap="none" spc="0" normalizeH="0" baseline="0" noProof="0">
                <a:ln>
                  <a:noFill/>
                </a:ln>
                <a:solidFill>
                  <a:srgbClr val="000000"/>
                </a:solidFill>
                <a:effectLst/>
                <a:uLnTx/>
                <a:uFillTx/>
                <a:latin typeface="Segoe UI"/>
                <a:ea typeface="+mn-ea"/>
                <a:cs typeface="+mn-cs"/>
              </a:rPr>
              <a:t> </a:t>
            </a:r>
            <a:r>
              <a:rPr kumimoji="0" lang="en-US" sz="700" b="0" i="0" u="none" strike="noStrike" kern="1200" cap="none" spc="0" normalizeH="0" baseline="0" noProof="0">
                <a:ln>
                  <a:noFill/>
                </a:ln>
                <a:solidFill>
                  <a:srgbClr val="000000"/>
                </a:solidFill>
                <a:effectLst/>
                <a:uLnTx/>
                <a:uFillTx/>
                <a:latin typeface="Segoe UI"/>
                <a:ea typeface="+mn-ea"/>
                <a:cs typeface="Segoe UI"/>
              </a:rPr>
              <a:t>Partner payment amounts may differ by country/Market A, B</a:t>
            </a:r>
            <a:endParaRPr kumimoji="0" lang="en-US" sz="7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p>
            <a:pPr marL="0" marR="0" lvl="0" indent="0" algn="l" defTabSz="457222" rtl="0" eaLnBrk="1" fontAlgn="auto" latinLnBrk="0" hangingPunct="1">
              <a:lnSpc>
                <a:spcPct val="90000"/>
              </a:lnSpc>
              <a:spcBef>
                <a:spcPts val="10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a:ea typeface="+mn-ea"/>
                <a:cs typeface="Segoe UI"/>
              </a:rPr>
              <a:t> ** Customer self-directed skilling available in the Resources section of this presentation. Available for all offer sizes.</a:t>
            </a:r>
          </a:p>
          <a:p>
            <a:pPr marL="0" marR="0" lvl="0" indent="0" algn="l" defTabSz="457222" rtl="0" eaLnBrk="1" fontAlgn="auto" latinLnBrk="0" hangingPunct="1">
              <a:lnSpc>
                <a:spcPct val="90000"/>
              </a:lnSpc>
              <a:spcBef>
                <a:spcPts val="10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a:ea typeface="+mn-ea"/>
                <a:cs typeface="Segoe UI"/>
              </a:rPr>
              <a:t>Offer size Medium or larger qualifies for Enterprise Skills Initiative which includes an assigned Training Program Manager.</a:t>
            </a:r>
            <a:endParaRPr kumimoji="0" lang="en-US" sz="7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39" name="Oval 38">
            <a:extLst>
              <a:ext uri="{FF2B5EF4-FFF2-40B4-BE49-F238E27FC236}">
                <a16:creationId xmlns:a16="http://schemas.microsoft.com/office/drawing/2014/main" id="{82287CC5-C4B0-E2D9-58D9-367A5B4D73D7}"/>
              </a:ext>
              <a:ext uri="{C183D7F6-B498-43B3-948B-1728B52AA6E4}">
                <adec:decorative xmlns:adec="http://schemas.microsoft.com/office/drawing/2017/decorative" val="1"/>
              </a:ext>
            </a:extLst>
          </p:cNvPr>
          <p:cNvSpPr/>
          <p:nvPr/>
        </p:nvSpPr>
        <p:spPr bwMode="auto">
          <a:xfrm>
            <a:off x="675547" y="2525013"/>
            <a:ext cx="219586" cy="219586"/>
          </a:xfrm>
          <a:prstGeom prst="ellipse">
            <a:avLst/>
          </a:prstGeom>
          <a:gradFill>
            <a:gsLst>
              <a:gs pos="100000">
                <a:schemeClr val="accent1"/>
              </a:gs>
              <a:gs pos="0">
                <a:schemeClr val="accent3"/>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rPr>
              <a:t>1</a:t>
            </a:r>
          </a:p>
        </p:txBody>
      </p:sp>
      <p:sp>
        <p:nvSpPr>
          <p:cNvPr id="40" name="Oval 39">
            <a:extLst>
              <a:ext uri="{FF2B5EF4-FFF2-40B4-BE49-F238E27FC236}">
                <a16:creationId xmlns:a16="http://schemas.microsoft.com/office/drawing/2014/main" id="{E35FAD1A-29EB-6E91-C760-F1BF14DDE9B9}"/>
              </a:ext>
              <a:ext uri="{C183D7F6-B498-43B3-948B-1728B52AA6E4}">
                <adec:decorative xmlns:adec="http://schemas.microsoft.com/office/drawing/2017/decorative" val="1"/>
              </a:ext>
            </a:extLst>
          </p:cNvPr>
          <p:cNvSpPr/>
          <p:nvPr/>
        </p:nvSpPr>
        <p:spPr bwMode="auto">
          <a:xfrm>
            <a:off x="675547" y="2892376"/>
            <a:ext cx="219586" cy="219586"/>
          </a:xfrm>
          <a:prstGeom prst="ellipse">
            <a:avLst/>
          </a:prstGeom>
          <a:gradFill>
            <a:gsLst>
              <a:gs pos="100000">
                <a:schemeClr val="accent1"/>
              </a:gs>
              <a:gs pos="0">
                <a:schemeClr val="accent3"/>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rPr>
              <a:t>2</a:t>
            </a:r>
          </a:p>
        </p:txBody>
      </p:sp>
      <p:sp>
        <p:nvSpPr>
          <p:cNvPr id="41" name="Oval 40">
            <a:extLst>
              <a:ext uri="{FF2B5EF4-FFF2-40B4-BE49-F238E27FC236}">
                <a16:creationId xmlns:a16="http://schemas.microsoft.com/office/drawing/2014/main" id="{9D255722-FC63-AD77-1C03-3A9A9C1EA801}"/>
              </a:ext>
              <a:ext uri="{C183D7F6-B498-43B3-948B-1728B52AA6E4}">
                <adec:decorative xmlns:adec="http://schemas.microsoft.com/office/drawing/2017/decorative" val="1"/>
              </a:ext>
            </a:extLst>
          </p:cNvPr>
          <p:cNvSpPr/>
          <p:nvPr/>
        </p:nvSpPr>
        <p:spPr bwMode="auto">
          <a:xfrm>
            <a:off x="675547" y="3259739"/>
            <a:ext cx="219586" cy="219586"/>
          </a:xfrm>
          <a:prstGeom prst="ellipse">
            <a:avLst/>
          </a:prstGeom>
          <a:gradFill>
            <a:gsLst>
              <a:gs pos="100000">
                <a:schemeClr val="accent1"/>
              </a:gs>
              <a:gs pos="0">
                <a:schemeClr val="accent3"/>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rPr>
              <a:t>3</a:t>
            </a:r>
          </a:p>
        </p:txBody>
      </p:sp>
      <p:sp>
        <p:nvSpPr>
          <p:cNvPr id="42" name="Oval 41">
            <a:extLst>
              <a:ext uri="{FF2B5EF4-FFF2-40B4-BE49-F238E27FC236}">
                <a16:creationId xmlns:a16="http://schemas.microsoft.com/office/drawing/2014/main" id="{FEAE9BBF-3D1C-3D1D-90CA-6803D2AAB9BE}"/>
              </a:ext>
              <a:ext uri="{C183D7F6-B498-43B3-948B-1728B52AA6E4}">
                <adec:decorative xmlns:adec="http://schemas.microsoft.com/office/drawing/2017/decorative" val="1"/>
              </a:ext>
            </a:extLst>
          </p:cNvPr>
          <p:cNvSpPr/>
          <p:nvPr/>
        </p:nvSpPr>
        <p:spPr bwMode="auto">
          <a:xfrm>
            <a:off x="675547" y="3627102"/>
            <a:ext cx="219586" cy="219586"/>
          </a:xfrm>
          <a:prstGeom prst="ellipse">
            <a:avLst/>
          </a:prstGeom>
          <a:gradFill>
            <a:gsLst>
              <a:gs pos="100000">
                <a:schemeClr val="accent1"/>
              </a:gs>
              <a:gs pos="0">
                <a:schemeClr val="accent3"/>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rPr>
              <a:t>4</a:t>
            </a:r>
          </a:p>
        </p:txBody>
      </p:sp>
      <p:sp>
        <p:nvSpPr>
          <p:cNvPr id="43" name="Oval 42">
            <a:extLst>
              <a:ext uri="{FF2B5EF4-FFF2-40B4-BE49-F238E27FC236}">
                <a16:creationId xmlns:a16="http://schemas.microsoft.com/office/drawing/2014/main" id="{045A645B-5005-6DAF-B43F-1ADC5391044E}"/>
              </a:ext>
              <a:ext uri="{C183D7F6-B498-43B3-948B-1728B52AA6E4}">
                <adec:decorative xmlns:adec="http://schemas.microsoft.com/office/drawing/2017/decorative" val="1"/>
              </a:ext>
            </a:extLst>
          </p:cNvPr>
          <p:cNvSpPr/>
          <p:nvPr/>
        </p:nvSpPr>
        <p:spPr bwMode="auto">
          <a:xfrm>
            <a:off x="675547" y="3994465"/>
            <a:ext cx="219586" cy="219586"/>
          </a:xfrm>
          <a:prstGeom prst="ellipse">
            <a:avLst/>
          </a:prstGeom>
          <a:gradFill>
            <a:gsLst>
              <a:gs pos="100000">
                <a:schemeClr val="accent1"/>
              </a:gs>
              <a:gs pos="0">
                <a:schemeClr val="accent3"/>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rPr>
              <a:t>5</a:t>
            </a:r>
          </a:p>
        </p:txBody>
      </p:sp>
      <p:sp>
        <p:nvSpPr>
          <p:cNvPr id="44" name="Oval 43">
            <a:extLst>
              <a:ext uri="{FF2B5EF4-FFF2-40B4-BE49-F238E27FC236}">
                <a16:creationId xmlns:a16="http://schemas.microsoft.com/office/drawing/2014/main" id="{1C1C5AEE-9416-23AB-FD70-B135183BF4B4}"/>
              </a:ext>
              <a:ext uri="{C183D7F6-B498-43B3-948B-1728B52AA6E4}">
                <adec:decorative xmlns:adec="http://schemas.microsoft.com/office/drawing/2017/decorative" val="1"/>
              </a:ext>
            </a:extLst>
          </p:cNvPr>
          <p:cNvSpPr/>
          <p:nvPr/>
        </p:nvSpPr>
        <p:spPr bwMode="auto">
          <a:xfrm>
            <a:off x="675547" y="4361828"/>
            <a:ext cx="219586" cy="219586"/>
          </a:xfrm>
          <a:prstGeom prst="ellipse">
            <a:avLst/>
          </a:prstGeom>
          <a:gradFill>
            <a:gsLst>
              <a:gs pos="100000">
                <a:schemeClr val="accent1"/>
              </a:gs>
              <a:gs pos="0">
                <a:schemeClr val="accent3"/>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rPr>
              <a:t>6</a:t>
            </a:r>
          </a:p>
        </p:txBody>
      </p:sp>
      <p:sp>
        <p:nvSpPr>
          <p:cNvPr id="45" name="Oval 44">
            <a:extLst>
              <a:ext uri="{FF2B5EF4-FFF2-40B4-BE49-F238E27FC236}">
                <a16:creationId xmlns:a16="http://schemas.microsoft.com/office/drawing/2014/main" id="{7B5CDC2E-B868-6370-4452-5867C323CEC6}"/>
              </a:ext>
              <a:ext uri="{C183D7F6-B498-43B3-948B-1728B52AA6E4}">
                <adec:decorative xmlns:adec="http://schemas.microsoft.com/office/drawing/2017/decorative" val="1"/>
              </a:ext>
            </a:extLst>
          </p:cNvPr>
          <p:cNvSpPr/>
          <p:nvPr/>
        </p:nvSpPr>
        <p:spPr bwMode="auto">
          <a:xfrm>
            <a:off x="675547" y="4729192"/>
            <a:ext cx="219586" cy="219586"/>
          </a:xfrm>
          <a:prstGeom prst="ellipse">
            <a:avLst/>
          </a:prstGeom>
          <a:gradFill>
            <a:gsLst>
              <a:gs pos="100000">
                <a:schemeClr val="accent1"/>
              </a:gs>
              <a:gs pos="0">
                <a:schemeClr val="accent3"/>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rPr>
              <a:t>7</a:t>
            </a:r>
          </a:p>
        </p:txBody>
      </p:sp>
    </p:spTree>
    <p:extLst>
      <p:ext uri="{BB962C8B-B14F-4D97-AF65-F5344CB8AC3E}">
        <p14:creationId xmlns:p14="http://schemas.microsoft.com/office/powerpoint/2010/main" val="16751256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164" name="Elbow Connector 163">
            <a:extLst>
              <a:ext uri="{FF2B5EF4-FFF2-40B4-BE49-F238E27FC236}">
                <a16:creationId xmlns:a16="http://schemas.microsoft.com/office/drawing/2014/main" id="{84EAC0F5-0DC0-A757-1273-84BDB8596A23}"/>
              </a:ext>
            </a:extLst>
          </p:cNvPr>
          <p:cNvCxnSpPr>
            <a:cxnSpLocks/>
            <a:stCxn id="118" idx="1"/>
          </p:cNvCxnSpPr>
          <p:nvPr/>
        </p:nvCxnSpPr>
        <p:spPr>
          <a:xfrm flipH="1">
            <a:off x="2667596" y="4239839"/>
            <a:ext cx="2275708" cy="0"/>
          </a:xfrm>
          <a:prstGeom prst="straightConnector1">
            <a:avLst/>
          </a:prstGeom>
          <a:ln w="63500">
            <a:solidFill>
              <a:schemeClr val="accent1">
                <a:lumMod val="75000"/>
                <a:alpha val="68000"/>
              </a:schemeClr>
            </a:solidFill>
            <a:round/>
            <a:tailEnd type="triangle" w="sm"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5C590EF-2766-3820-D842-F5EA793A3643}"/>
              </a:ext>
            </a:extLst>
          </p:cNvPr>
          <p:cNvSpPr>
            <a:spLocks noGrp="1"/>
          </p:cNvSpPr>
          <p:nvPr>
            <p:ph type="title"/>
          </p:nvPr>
        </p:nvSpPr>
        <p:spPr>
          <a:xfrm>
            <a:off x="334496" y="268589"/>
            <a:ext cx="11495554" cy="498919"/>
          </a:xfrm>
        </p:spPr>
        <p:txBody>
          <a:bodyPr/>
          <a:lstStyle/>
          <a:p>
            <a:r>
              <a:rPr lang="en-GB"/>
              <a:t>Rapid Assessment Journey</a:t>
            </a:r>
          </a:p>
        </p:txBody>
      </p:sp>
      <p:sp>
        <p:nvSpPr>
          <p:cNvPr id="3" name="Slide Number Placeholder 2">
            <a:extLst>
              <a:ext uri="{FF2B5EF4-FFF2-40B4-BE49-F238E27FC236}">
                <a16:creationId xmlns:a16="http://schemas.microsoft.com/office/drawing/2014/main" id="{AE37E209-0161-5869-7BD1-5FD189F26C95}"/>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grpSp>
        <p:nvGrpSpPr>
          <p:cNvPr id="6" name="Group 5">
            <a:extLst>
              <a:ext uri="{FF2B5EF4-FFF2-40B4-BE49-F238E27FC236}">
                <a16:creationId xmlns:a16="http://schemas.microsoft.com/office/drawing/2014/main" id="{DE725E94-ECC1-1DC2-DE51-12B434EA66D0}"/>
              </a:ext>
            </a:extLst>
          </p:cNvPr>
          <p:cNvGrpSpPr/>
          <p:nvPr/>
        </p:nvGrpSpPr>
        <p:grpSpPr>
          <a:xfrm>
            <a:off x="277100" y="6254117"/>
            <a:ext cx="4374064" cy="479418"/>
            <a:chOff x="302152" y="6229065"/>
            <a:chExt cx="3876266" cy="424857"/>
          </a:xfrm>
        </p:grpSpPr>
        <p:pic>
          <p:nvPicPr>
            <p:cNvPr id="7" name="Graphic 6">
              <a:extLst>
                <a:ext uri="{FF2B5EF4-FFF2-40B4-BE49-F238E27FC236}">
                  <a16:creationId xmlns:a16="http://schemas.microsoft.com/office/drawing/2014/main" id="{3DCB3475-883E-0240-2B7D-9A83F83FC6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152" y="6229065"/>
              <a:ext cx="1378424" cy="424857"/>
            </a:xfrm>
            <a:prstGeom prst="rect">
              <a:avLst/>
            </a:prstGeom>
          </p:spPr>
        </p:pic>
        <p:sp>
          <p:nvSpPr>
            <p:cNvPr id="8" name="TextBox 7">
              <a:extLst>
                <a:ext uri="{FF2B5EF4-FFF2-40B4-BE49-F238E27FC236}">
                  <a16:creationId xmlns:a16="http://schemas.microsoft.com/office/drawing/2014/main" id="{A46B32CF-0F08-6BFF-D7E7-6A76794F302B}"/>
                </a:ext>
              </a:extLst>
            </p:cNvPr>
            <p:cNvSpPr txBox="1"/>
            <p:nvPr/>
          </p:nvSpPr>
          <p:spPr>
            <a:xfrm>
              <a:off x="1884033" y="6318745"/>
              <a:ext cx="229438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Fira Sans Hair" panose="020B0203050000020004" pitchFamily="34" charset="0"/>
                  <a:ea typeface="+mn-ea"/>
                  <a:cs typeface="+mn-cs"/>
                </a:rPr>
                <a:t>Migration Services</a:t>
              </a:r>
            </a:p>
          </p:txBody>
        </p:sp>
        <p:cxnSp>
          <p:nvCxnSpPr>
            <p:cNvPr id="9" name="Straight Connector 8">
              <a:extLst>
                <a:ext uri="{FF2B5EF4-FFF2-40B4-BE49-F238E27FC236}">
                  <a16:creationId xmlns:a16="http://schemas.microsoft.com/office/drawing/2014/main" id="{284C4420-BC8F-DBEF-1FB9-4FD0F48E8F1D}"/>
                </a:ext>
              </a:extLst>
            </p:cNvPr>
            <p:cNvCxnSpPr>
              <a:cxnSpLocks/>
            </p:cNvCxnSpPr>
            <p:nvPr/>
          </p:nvCxnSpPr>
          <p:spPr>
            <a:xfrm>
              <a:off x="1748847" y="6232000"/>
              <a:ext cx="0" cy="4219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DA26D636-4207-A581-AB8F-E3D2653D3755}"/>
                </a:ext>
              </a:extLst>
            </p:cNvPr>
            <p:cNvGrpSpPr>
              <a:grpSpLocks noChangeAspect="1"/>
            </p:cNvGrpSpPr>
            <p:nvPr/>
          </p:nvGrpSpPr>
          <p:grpSpPr>
            <a:xfrm>
              <a:off x="1842997" y="6294759"/>
              <a:ext cx="456928" cy="268640"/>
              <a:chOff x="6781800" y="5716588"/>
              <a:chExt cx="604838" cy="355600"/>
            </a:xfrm>
          </p:grpSpPr>
          <p:sp>
            <p:nvSpPr>
              <p:cNvPr id="11" name="Freeform 258">
                <a:extLst>
                  <a:ext uri="{FF2B5EF4-FFF2-40B4-BE49-F238E27FC236}">
                    <a16:creationId xmlns:a16="http://schemas.microsoft.com/office/drawing/2014/main" id="{F166921B-1788-4B44-DCBD-30422BB900DA}"/>
                  </a:ext>
                </a:extLst>
              </p:cNvPr>
              <p:cNvSpPr>
                <a:spLocks noChangeArrowheads="1"/>
              </p:cNvSpPr>
              <p:nvPr/>
            </p:nvSpPr>
            <p:spPr bwMode="auto">
              <a:xfrm>
                <a:off x="7205663" y="5718175"/>
                <a:ext cx="9525" cy="1588"/>
              </a:xfrm>
              <a:custGeom>
                <a:avLst/>
                <a:gdLst>
                  <a:gd name="T0" fmla="*/ 24 w 25"/>
                  <a:gd name="T1" fmla="*/ 0 h 1"/>
                  <a:gd name="T2" fmla="*/ 0 w 25"/>
                  <a:gd name="T3" fmla="*/ 0 h 1"/>
                </a:gdLst>
                <a:ahLst/>
                <a:cxnLst>
                  <a:cxn ang="0">
                    <a:pos x="T0" y="T1"/>
                  </a:cxn>
                  <a:cxn ang="0">
                    <a:pos x="T2" y="T3"/>
                  </a:cxn>
                </a:cxnLst>
                <a:rect l="0" t="0" r="r" b="b"/>
                <a:pathLst>
                  <a:path w="25" h="1">
                    <a:moveTo>
                      <a:pt x="24" y="0"/>
                    </a:moveTo>
                    <a:cubicBezTo>
                      <a:pt x="16" y="0"/>
                      <a:pt x="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259">
                <a:extLst>
                  <a:ext uri="{FF2B5EF4-FFF2-40B4-BE49-F238E27FC236}">
                    <a16:creationId xmlns:a16="http://schemas.microsoft.com/office/drawing/2014/main" id="{EACEB412-7274-F595-FED4-E9814FFE11D0}"/>
                  </a:ext>
                </a:extLst>
              </p:cNvPr>
              <p:cNvSpPr>
                <a:spLocks noChangeArrowheads="1"/>
              </p:cNvSpPr>
              <p:nvPr/>
            </p:nvSpPr>
            <p:spPr bwMode="auto">
              <a:xfrm>
                <a:off x="7205663" y="6070600"/>
                <a:ext cx="9525" cy="1588"/>
              </a:xfrm>
              <a:custGeom>
                <a:avLst/>
                <a:gdLst>
                  <a:gd name="T0" fmla="*/ 24 w 25"/>
                  <a:gd name="T1" fmla="*/ 0 h 1"/>
                  <a:gd name="T2" fmla="*/ 0 w 25"/>
                  <a:gd name="T3" fmla="*/ 0 h 1"/>
                </a:gdLst>
                <a:ahLst/>
                <a:cxnLst>
                  <a:cxn ang="0">
                    <a:pos x="T0" y="T1"/>
                  </a:cxn>
                  <a:cxn ang="0">
                    <a:pos x="T2" y="T3"/>
                  </a:cxn>
                </a:cxnLst>
                <a:rect l="0" t="0" r="r" b="b"/>
                <a:pathLst>
                  <a:path w="25" h="1">
                    <a:moveTo>
                      <a:pt x="24" y="0"/>
                    </a:moveTo>
                    <a:cubicBezTo>
                      <a:pt x="16" y="0"/>
                      <a:pt x="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Freeform 260">
                <a:extLst>
                  <a:ext uri="{FF2B5EF4-FFF2-40B4-BE49-F238E27FC236}">
                    <a16:creationId xmlns:a16="http://schemas.microsoft.com/office/drawing/2014/main" id="{7282DC08-582A-AD0B-3251-75A83DB9E373}"/>
                  </a:ext>
                </a:extLst>
              </p:cNvPr>
              <p:cNvSpPr>
                <a:spLocks noChangeArrowheads="1"/>
              </p:cNvSpPr>
              <p:nvPr/>
            </p:nvSpPr>
            <p:spPr bwMode="auto">
              <a:xfrm>
                <a:off x="7385050" y="5889625"/>
                <a:ext cx="1588" cy="11113"/>
              </a:xfrm>
              <a:custGeom>
                <a:avLst/>
                <a:gdLst>
                  <a:gd name="T0" fmla="*/ 0 w 1"/>
                  <a:gd name="T1" fmla="*/ 28 h 29"/>
                  <a:gd name="T2" fmla="*/ 0 w 1"/>
                  <a:gd name="T3" fmla="*/ 0 h 29"/>
                </a:gdLst>
                <a:ahLst/>
                <a:cxnLst>
                  <a:cxn ang="0">
                    <a:pos x="T0" y="T1"/>
                  </a:cxn>
                  <a:cxn ang="0">
                    <a:pos x="T2" y="T3"/>
                  </a:cxn>
                </a:cxnLst>
                <a:rect l="0" t="0" r="r" b="b"/>
                <a:pathLst>
                  <a:path w="1" h="29">
                    <a:moveTo>
                      <a:pt x="0" y="28"/>
                    </a:moveTo>
                    <a:cubicBezTo>
                      <a:pt x="0" y="19"/>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261">
                <a:extLst>
                  <a:ext uri="{FF2B5EF4-FFF2-40B4-BE49-F238E27FC236}">
                    <a16:creationId xmlns:a16="http://schemas.microsoft.com/office/drawing/2014/main" id="{79D7576C-CE29-CC2D-DB91-9EB376D8199B}"/>
                  </a:ext>
                </a:extLst>
              </p:cNvPr>
              <p:cNvSpPr>
                <a:spLocks noChangeArrowheads="1"/>
              </p:cNvSpPr>
              <p:nvPr/>
            </p:nvSpPr>
            <p:spPr bwMode="auto">
              <a:xfrm>
                <a:off x="7159625" y="5722938"/>
                <a:ext cx="9525" cy="3175"/>
              </a:xfrm>
              <a:custGeom>
                <a:avLst/>
                <a:gdLst>
                  <a:gd name="T0" fmla="*/ 24 w 25"/>
                  <a:gd name="T1" fmla="*/ 0 h 9"/>
                  <a:gd name="T2" fmla="*/ 0 w 25"/>
                  <a:gd name="T3" fmla="*/ 8 h 9"/>
                </a:gdLst>
                <a:ahLst/>
                <a:cxnLst>
                  <a:cxn ang="0">
                    <a:pos x="T0" y="T1"/>
                  </a:cxn>
                  <a:cxn ang="0">
                    <a:pos x="T2" y="T3"/>
                  </a:cxn>
                </a:cxnLst>
                <a:rect l="0" t="0" r="r" b="b"/>
                <a:pathLst>
                  <a:path w="25" h="9">
                    <a:moveTo>
                      <a:pt x="24" y="0"/>
                    </a:moveTo>
                    <a:cubicBezTo>
                      <a:pt x="16" y="3"/>
                      <a:pt x="8" y="5"/>
                      <a:pt x="0" y="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262">
                <a:extLst>
                  <a:ext uri="{FF2B5EF4-FFF2-40B4-BE49-F238E27FC236}">
                    <a16:creationId xmlns:a16="http://schemas.microsoft.com/office/drawing/2014/main" id="{D164D4C5-3530-298A-3973-6DDF2A8427A9}"/>
                  </a:ext>
                </a:extLst>
              </p:cNvPr>
              <p:cNvSpPr>
                <a:spLocks noChangeArrowheads="1"/>
              </p:cNvSpPr>
              <p:nvPr/>
            </p:nvSpPr>
            <p:spPr bwMode="auto">
              <a:xfrm>
                <a:off x="7250113" y="6062663"/>
                <a:ext cx="9525" cy="3175"/>
              </a:xfrm>
              <a:custGeom>
                <a:avLst/>
                <a:gdLst>
                  <a:gd name="T0" fmla="*/ 25 w 26"/>
                  <a:gd name="T1" fmla="*/ 0 h 8"/>
                  <a:gd name="T2" fmla="*/ 0 w 26"/>
                  <a:gd name="T3" fmla="*/ 7 h 8"/>
                </a:gdLst>
                <a:ahLst/>
                <a:cxnLst>
                  <a:cxn ang="0">
                    <a:pos x="T0" y="T1"/>
                  </a:cxn>
                  <a:cxn ang="0">
                    <a:pos x="T2" y="T3"/>
                  </a:cxn>
                </a:cxnLst>
                <a:rect l="0" t="0" r="r" b="b"/>
                <a:pathLst>
                  <a:path w="26" h="8">
                    <a:moveTo>
                      <a:pt x="25" y="0"/>
                    </a:moveTo>
                    <a:cubicBezTo>
                      <a:pt x="17" y="2"/>
                      <a:pt x="9" y="5"/>
                      <a:pt x="0" y="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263">
                <a:extLst>
                  <a:ext uri="{FF2B5EF4-FFF2-40B4-BE49-F238E27FC236}">
                    <a16:creationId xmlns:a16="http://schemas.microsoft.com/office/drawing/2014/main" id="{3CD1D721-F883-3901-3140-519694B3EE8E}"/>
                  </a:ext>
                </a:extLst>
              </p:cNvPr>
              <p:cNvSpPr>
                <a:spLocks noChangeArrowheads="1"/>
              </p:cNvSpPr>
              <p:nvPr/>
            </p:nvSpPr>
            <p:spPr bwMode="auto">
              <a:xfrm>
                <a:off x="7378700" y="5843588"/>
                <a:ext cx="3175" cy="11112"/>
              </a:xfrm>
              <a:custGeom>
                <a:avLst/>
                <a:gdLst>
                  <a:gd name="T0" fmla="*/ 7 w 8"/>
                  <a:gd name="T1" fmla="*/ 28 h 29"/>
                  <a:gd name="T2" fmla="*/ 0 w 8"/>
                  <a:gd name="T3" fmla="*/ 0 h 29"/>
                </a:gdLst>
                <a:ahLst/>
                <a:cxnLst>
                  <a:cxn ang="0">
                    <a:pos x="T0" y="T1"/>
                  </a:cxn>
                  <a:cxn ang="0">
                    <a:pos x="T2" y="T3"/>
                  </a:cxn>
                </a:cxnLst>
                <a:rect l="0" t="0" r="r" b="b"/>
                <a:pathLst>
                  <a:path w="8" h="29">
                    <a:moveTo>
                      <a:pt x="7" y="28"/>
                    </a:moveTo>
                    <a:cubicBezTo>
                      <a:pt x="5" y="19"/>
                      <a:pt x="3"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Freeform 264">
                <a:extLst>
                  <a:ext uri="{FF2B5EF4-FFF2-40B4-BE49-F238E27FC236}">
                    <a16:creationId xmlns:a16="http://schemas.microsoft.com/office/drawing/2014/main" id="{5DA24FB3-98BB-355F-B4E5-52AA08A740A9}"/>
                  </a:ext>
                </a:extLst>
              </p:cNvPr>
              <p:cNvSpPr>
                <a:spLocks noChangeArrowheads="1"/>
              </p:cNvSpPr>
              <p:nvPr/>
            </p:nvSpPr>
            <p:spPr bwMode="auto">
              <a:xfrm>
                <a:off x="7038975" y="5935663"/>
                <a:ext cx="1588" cy="11112"/>
              </a:xfrm>
              <a:custGeom>
                <a:avLst/>
                <a:gdLst>
                  <a:gd name="T0" fmla="*/ 4 w 5"/>
                  <a:gd name="T1" fmla="*/ 28 h 29"/>
                  <a:gd name="T2" fmla="*/ 0 w 5"/>
                  <a:gd name="T3" fmla="*/ 0 h 29"/>
                </a:gdLst>
                <a:ahLst/>
                <a:cxnLst>
                  <a:cxn ang="0">
                    <a:pos x="T0" y="T1"/>
                  </a:cxn>
                  <a:cxn ang="0">
                    <a:pos x="T2" y="T3"/>
                  </a:cxn>
                </a:cxnLst>
                <a:rect l="0" t="0" r="r" b="b"/>
                <a:pathLst>
                  <a:path w="5" h="29">
                    <a:moveTo>
                      <a:pt x="4" y="28"/>
                    </a:moveTo>
                    <a:cubicBezTo>
                      <a:pt x="3" y="19"/>
                      <a:pt x="2"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Freeform 265">
                <a:extLst>
                  <a:ext uri="{FF2B5EF4-FFF2-40B4-BE49-F238E27FC236}">
                    <a16:creationId xmlns:a16="http://schemas.microsoft.com/office/drawing/2014/main" id="{7AF637FB-8C7F-1FBE-E219-EC653E35EA31}"/>
                  </a:ext>
                </a:extLst>
              </p:cNvPr>
              <p:cNvSpPr>
                <a:spLocks noChangeArrowheads="1"/>
              </p:cNvSpPr>
              <p:nvPr/>
            </p:nvSpPr>
            <p:spPr bwMode="auto">
              <a:xfrm>
                <a:off x="7118350" y="5738813"/>
                <a:ext cx="7938" cy="4762"/>
              </a:xfrm>
              <a:custGeom>
                <a:avLst/>
                <a:gdLst>
                  <a:gd name="T0" fmla="*/ 21 w 22"/>
                  <a:gd name="T1" fmla="*/ 0 h 15"/>
                  <a:gd name="T2" fmla="*/ 0 w 22"/>
                  <a:gd name="T3" fmla="*/ 14 h 15"/>
                </a:gdLst>
                <a:ahLst/>
                <a:cxnLst>
                  <a:cxn ang="0">
                    <a:pos x="T0" y="T1"/>
                  </a:cxn>
                  <a:cxn ang="0">
                    <a:pos x="T2" y="T3"/>
                  </a:cxn>
                </a:cxnLst>
                <a:rect l="0" t="0" r="r" b="b"/>
                <a:pathLst>
                  <a:path w="22" h="15">
                    <a:moveTo>
                      <a:pt x="21" y="0"/>
                    </a:moveTo>
                    <a:cubicBezTo>
                      <a:pt x="14" y="5"/>
                      <a:pt x="7" y="9"/>
                      <a:pt x="0" y="1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Freeform 266">
                <a:extLst>
                  <a:ext uri="{FF2B5EF4-FFF2-40B4-BE49-F238E27FC236}">
                    <a16:creationId xmlns:a16="http://schemas.microsoft.com/office/drawing/2014/main" id="{5B95F181-95D4-CB2C-B47B-B49C9692F80F}"/>
                  </a:ext>
                </a:extLst>
              </p:cNvPr>
              <p:cNvSpPr>
                <a:spLocks noChangeArrowheads="1"/>
              </p:cNvSpPr>
              <p:nvPr/>
            </p:nvSpPr>
            <p:spPr bwMode="auto">
              <a:xfrm>
                <a:off x="7292975" y="6043613"/>
                <a:ext cx="7938" cy="4762"/>
              </a:xfrm>
              <a:custGeom>
                <a:avLst/>
                <a:gdLst>
                  <a:gd name="T0" fmla="*/ 21 w 22"/>
                  <a:gd name="T1" fmla="*/ 0 h 15"/>
                  <a:gd name="T2" fmla="*/ 0 w 22"/>
                  <a:gd name="T3" fmla="*/ 14 h 15"/>
                </a:gdLst>
                <a:ahLst/>
                <a:cxnLst>
                  <a:cxn ang="0">
                    <a:pos x="T0" y="T1"/>
                  </a:cxn>
                  <a:cxn ang="0">
                    <a:pos x="T2" y="T3"/>
                  </a:cxn>
                </a:cxnLst>
                <a:rect l="0" t="0" r="r" b="b"/>
                <a:pathLst>
                  <a:path w="22" h="15">
                    <a:moveTo>
                      <a:pt x="21" y="0"/>
                    </a:moveTo>
                    <a:cubicBezTo>
                      <a:pt x="14" y="5"/>
                      <a:pt x="7" y="9"/>
                      <a:pt x="0" y="1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267">
                <a:extLst>
                  <a:ext uri="{FF2B5EF4-FFF2-40B4-BE49-F238E27FC236}">
                    <a16:creationId xmlns:a16="http://schemas.microsoft.com/office/drawing/2014/main" id="{92BAA3C3-90BA-9036-BF00-9D7BFD2969FC}"/>
                  </a:ext>
                </a:extLst>
              </p:cNvPr>
              <p:cNvSpPr>
                <a:spLocks noChangeArrowheads="1"/>
              </p:cNvSpPr>
              <p:nvPr/>
            </p:nvSpPr>
            <p:spPr bwMode="auto">
              <a:xfrm>
                <a:off x="7359650" y="5802313"/>
                <a:ext cx="4763" cy="9525"/>
              </a:xfrm>
              <a:custGeom>
                <a:avLst/>
                <a:gdLst>
                  <a:gd name="T0" fmla="*/ 14 w 15"/>
                  <a:gd name="T1" fmla="*/ 24 h 25"/>
                  <a:gd name="T2" fmla="*/ 0 w 15"/>
                  <a:gd name="T3" fmla="*/ 0 h 25"/>
                </a:gdLst>
                <a:ahLst/>
                <a:cxnLst>
                  <a:cxn ang="0">
                    <a:pos x="T0" y="T1"/>
                  </a:cxn>
                  <a:cxn ang="0">
                    <a:pos x="T2" y="T3"/>
                  </a:cxn>
                </a:cxnLst>
                <a:rect l="0" t="0" r="r" b="b"/>
                <a:pathLst>
                  <a:path w="15" h="25">
                    <a:moveTo>
                      <a:pt x="14" y="24"/>
                    </a:moveTo>
                    <a:cubicBezTo>
                      <a:pt x="10" y="16"/>
                      <a:pt x="5"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Freeform 268">
                <a:extLst>
                  <a:ext uri="{FF2B5EF4-FFF2-40B4-BE49-F238E27FC236}">
                    <a16:creationId xmlns:a16="http://schemas.microsoft.com/office/drawing/2014/main" id="{86848784-492A-4651-0CE6-10D1A40F1355}"/>
                  </a:ext>
                </a:extLst>
              </p:cNvPr>
              <p:cNvSpPr>
                <a:spLocks noChangeArrowheads="1"/>
              </p:cNvSpPr>
              <p:nvPr/>
            </p:nvSpPr>
            <p:spPr bwMode="auto">
              <a:xfrm>
                <a:off x="7054850" y="5978525"/>
                <a:ext cx="4763" cy="9525"/>
              </a:xfrm>
              <a:custGeom>
                <a:avLst/>
                <a:gdLst>
                  <a:gd name="T0" fmla="*/ 11 w 12"/>
                  <a:gd name="T1" fmla="*/ 25 h 26"/>
                  <a:gd name="T2" fmla="*/ 0 w 12"/>
                  <a:gd name="T3" fmla="*/ 0 h 26"/>
                </a:gdLst>
                <a:ahLst/>
                <a:cxnLst>
                  <a:cxn ang="0">
                    <a:pos x="T0" y="T1"/>
                  </a:cxn>
                  <a:cxn ang="0">
                    <a:pos x="T2" y="T3"/>
                  </a:cxn>
                </a:cxnLst>
                <a:rect l="0" t="0" r="r" b="b"/>
                <a:pathLst>
                  <a:path w="12" h="26">
                    <a:moveTo>
                      <a:pt x="11" y="25"/>
                    </a:moveTo>
                    <a:cubicBezTo>
                      <a:pt x="8" y="17"/>
                      <a:pt x="4"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269">
                <a:extLst>
                  <a:ext uri="{FF2B5EF4-FFF2-40B4-BE49-F238E27FC236}">
                    <a16:creationId xmlns:a16="http://schemas.microsoft.com/office/drawing/2014/main" id="{A54B8230-5446-206F-8685-C6CF50D98D42}"/>
                  </a:ext>
                </a:extLst>
              </p:cNvPr>
              <p:cNvSpPr>
                <a:spLocks noChangeArrowheads="1"/>
              </p:cNvSpPr>
              <p:nvPr/>
            </p:nvSpPr>
            <p:spPr bwMode="auto">
              <a:xfrm>
                <a:off x="7331075" y="6015038"/>
                <a:ext cx="6350" cy="7937"/>
              </a:xfrm>
              <a:custGeom>
                <a:avLst/>
                <a:gdLst>
                  <a:gd name="T0" fmla="*/ 18 w 19"/>
                  <a:gd name="T1" fmla="*/ 0 h 22"/>
                  <a:gd name="T2" fmla="*/ 0 w 19"/>
                  <a:gd name="T3" fmla="*/ 21 h 22"/>
                </a:gdLst>
                <a:ahLst/>
                <a:cxnLst>
                  <a:cxn ang="0">
                    <a:pos x="T0" y="T1"/>
                  </a:cxn>
                  <a:cxn ang="0">
                    <a:pos x="T2" y="T3"/>
                  </a:cxn>
                </a:cxnLst>
                <a:rect l="0" t="0" r="r" b="b"/>
                <a:pathLst>
                  <a:path w="19" h="22">
                    <a:moveTo>
                      <a:pt x="18" y="0"/>
                    </a:moveTo>
                    <a:cubicBezTo>
                      <a:pt x="12" y="7"/>
                      <a:pt x="6" y="14"/>
                      <a:pt x="0" y="2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Freeform 270">
                <a:extLst>
                  <a:ext uri="{FF2B5EF4-FFF2-40B4-BE49-F238E27FC236}">
                    <a16:creationId xmlns:a16="http://schemas.microsoft.com/office/drawing/2014/main" id="{661B19D6-0820-C4D4-5676-285EA8813E05}"/>
                  </a:ext>
                </a:extLst>
              </p:cNvPr>
              <p:cNvSpPr>
                <a:spLocks noChangeArrowheads="1"/>
              </p:cNvSpPr>
              <p:nvPr/>
            </p:nvSpPr>
            <p:spPr bwMode="auto">
              <a:xfrm>
                <a:off x="7331075" y="5765800"/>
                <a:ext cx="6350" cy="7938"/>
              </a:xfrm>
              <a:custGeom>
                <a:avLst/>
                <a:gdLst>
                  <a:gd name="T0" fmla="*/ 18 w 19"/>
                  <a:gd name="T1" fmla="*/ 21 h 22"/>
                  <a:gd name="T2" fmla="*/ 0 w 19"/>
                  <a:gd name="T3" fmla="*/ 0 h 22"/>
                </a:gdLst>
                <a:ahLst/>
                <a:cxnLst>
                  <a:cxn ang="0">
                    <a:pos x="T0" y="T1"/>
                  </a:cxn>
                  <a:cxn ang="0">
                    <a:pos x="T2" y="T3"/>
                  </a:cxn>
                </a:cxnLst>
                <a:rect l="0" t="0" r="r" b="b"/>
                <a:pathLst>
                  <a:path w="19" h="22">
                    <a:moveTo>
                      <a:pt x="18" y="21"/>
                    </a:moveTo>
                    <a:cubicBezTo>
                      <a:pt x="12" y="14"/>
                      <a:pt x="6" y="7"/>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Freeform 271">
                <a:extLst>
                  <a:ext uri="{FF2B5EF4-FFF2-40B4-BE49-F238E27FC236}">
                    <a16:creationId xmlns:a16="http://schemas.microsoft.com/office/drawing/2014/main" id="{D5E89A13-27DD-2EA2-B36C-7EF22D3C3F9C}"/>
                  </a:ext>
                </a:extLst>
              </p:cNvPr>
              <p:cNvSpPr>
                <a:spLocks noChangeArrowheads="1"/>
              </p:cNvSpPr>
              <p:nvPr/>
            </p:nvSpPr>
            <p:spPr bwMode="auto">
              <a:xfrm>
                <a:off x="7054850" y="5802313"/>
                <a:ext cx="4763" cy="9525"/>
              </a:xfrm>
              <a:custGeom>
                <a:avLst/>
                <a:gdLst>
                  <a:gd name="T0" fmla="*/ 11 w 12"/>
                  <a:gd name="T1" fmla="*/ 0 h 25"/>
                  <a:gd name="T2" fmla="*/ 0 w 12"/>
                  <a:gd name="T3" fmla="*/ 24 h 25"/>
                </a:gdLst>
                <a:ahLst/>
                <a:cxnLst>
                  <a:cxn ang="0">
                    <a:pos x="T0" y="T1"/>
                  </a:cxn>
                  <a:cxn ang="0">
                    <a:pos x="T2" y="T3"/>
                  </a:cxn>
                </a:cxnLst>
                <a:rect l="0" t="0" r="r" b="b"/>
                <a:pathLst>
                  <a:path w="12" h="25">
                    <a:moveTo>
                      <a:pt x="11" y="0"/>
                    </a:moveTo>
                    <a:cubicBezTo>
                      <a:pt x="8" y="8"/>
                      <a:pt x="4" y="16"/>
                      <a:pt x="0" y="24"/>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Freeform 272">
                <a:extLst>
                  <a:ext uri="{FF2B5EF4-FFF2-40B4-BE49-F238E27FC236}">
                    <a16:creationId xmlns:a16="http://schemas.microsoft.com/office/drawing/2014/main" id="{8ED3FADD-BA23-4DAB-F6DF-A2C1BC37B736}"/>
                  </a:ext>
                </a:extLst>
              </p:cNvPr>
              <p:cNvSpPr>
                <a:spLocks noChangeArrowheads="1"/>
              </p:cNvSpPr>
              <p:nvPr/>
            </p:nvSpPr>
            <p:spPr bwMode="auto">
              <a:xfrm>
                <a:off x="7359650" y="5978525"/>
                <a:ext cx="4763" cy="952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10" y="8"/>
                      <a:pt x="5" y="17"/>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Freeform 273">
                <a:extLst>
                  <a:ext uri="{FF2B5EF4-FFF2-40B4-BE49-F238E27FC236}">
                    <a16:creationId xmlns:a16="http://schemas.microsoft.com/office/drawing/2014/main" id="{CE4EA15B-FC9D-6252-CDE7-B6E0D613C2C0}"/>
                  </a:ext>
                </a:extLst>
              </p:cNvPr>
              <p:cNvSpPr>
                <a:spLocks noChangeArrowheads="1"/>
              </p:cNvSpPr>
              <p:nvPr/>
            </p:nvSpPr>
            <p:spPr bwMode="auto">
              <a:xfrm>
                <a:off x="7292975" y="5738813"/>
                <a:ext cx="7938" cy="4762"/>
              </a:xfrm>
              <a:custGeom>
                <a:avLst/>
                <a:gdLst>
                  <a:gd name="T0" fmla="*/ 21 w 22"/>
                  <a:gd name="T1" fmla="*/ 14 h 15"/>
                  <a:gd name="T2" fmla="*/ 0 w 22"/>
                  <a:gd name="T3" fmla="*/ 0 h 15"/>
                </a:gdLst>
                <a:ahLst/>
                <a:cxnLst>
                  <a:cxn ang="0">
                    <a:pos x="T0" y="T1"/>
                  </a:cxn>
                  <a:cxn ang="0">
                    <a:pos x="T2" y="T3"/>
                  </a:cxn>
                </a:cxnLst>
                <a:rect l="0" t="0" r="r" b="b"/>
                <a:pathLst>
                  <a:path w="22" h="15">
                    <a:moveTo>
                      <a:pt x="21" y="14"/>
                    </a:moveTo>
                    <a:cubicBezTo>
                      <a:pt x="14" y="9"/>
                      <a:pt x="7"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Freeform 274">
                <a:extLst>
                  <a:ext uri="{FF2B5EF4-FFF2-40B4-BE49-F238E27FC236}">
                    <a16:creationId xmlns:a16="http://schemas.microsoft.com/office/drawing/2014/main" id="{27181CE8-5AD6-88A3-B6D6-3499C8B39D4F}"/>
                  </a:ext>
                </a:extLst>
              </p:cNvPr>
              <p:cNvSpPr>
                <a:spLocks noChangeArrowheads="1"/>
              </p:cNvSpPr>
              <p:nvPr/>
            </p:nvSpPr>
            <p:spPr bwMode="auto">
              <a:xfrm>
                <a:off x="7118350" y="6043613"/>
                <a:ext cx="7938" cy="4762"/>
              </a:xfrm>
              <a:custGeom>
                <a:avLst/>
                <a:gdLst>
                  <a:gd name="T0" fmla="*/ 21 w 22"/>
                  <a:gd name="T1" fmla="*/ 14 h 15"/>
                  <a:gd name="T2" fmla="*/ 0 w 22"/>
                  <a:gd name="T3" fmla="*/ 0 h 15"/>
                </a:gdLst>
                <a:ahLst/>
                <a:cxnLst>
                  <a:cxn ang="0">
                    <a:pos x="T0" y="T1"/>
                  </a:cxn>
                  <a:cxn ang="0">
                    <a:pos x="T2" y="T3"/>
                  </a:cxn>
                </a:cxnLst>
                <a:rect l="0" t="0" r="r" b="b"/>
                <a:pathLst>
                  <a:path w="22" h="15">
                    <a:moveTo>
                      <a:pt x="21" y="14"/>
                    </a:moveTo>
                    <a:cubicBezTo>
                      <a:pt x="14" y="9"/>
                      <a:pt x="7"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Freeform 275">
                <a:extLst>
                  <a:ext uri="{FF2B5EF4-FFF2-40B4-BE49-F238E27FC236}">
                    <a16:creationId xmlns:a16="http://schemas.microsoft.com/office/drawing/2014/main" id="{EA4C06C2-9540-5103-EEE6-A5AE0F9E5530}"/>
                  </a:ext>
                </a:extLst>
              </p:cNvPr>
              <p:cNvSpPr>
                <a:spLocks noChangeArrowheads="1"/>
              </p:cNvSpPr>
              <p:nvPr/>
            </p:nvSpPr>
            <p:spPr bwMode="auto">
              <a:xfrm>
                <a:off x="7038975" y="5843588"/>
                <a:ext cx="1588" cy="11112"/>
              </a:xfrm>
              <a:custGeom>
                <a:avLst/>
                <a:gdLst>
                  <a:gd name="T0" fmla="*/ 4 w 5"/>
                  <a:gd name="T1" fmla="*/ 0 h 29"/>
                  <a:gd name="T2" fmla="*/ 0 w 5"/>
                  <a:gd name="T3" fmla="*/ 28 h 29"/>
                </a:gdLst>
                <a:ahLst/>
                <a:cxnLst>
                  <a:cxn ang="0">
                    <a:pos x="T0" y="T1"/>
                  </a:cxn>
                  <a:cxn ang="0">
                    <a:pos x="T2" y="T3"/>
                  </a:cxn>
                </a:cxnLst>
                <a:rect l="0" t="0" r="r" b="b"/>
                <a:pathLst>
                  <a:path w="5" h="29">
                    <a:moveTo>
                      <a:pt x="4" y="0"/>
                    </a:moveTo>
                    <a:cubicBezTo>
                      <a:pt x="3" y="9"/>
                      <a:pt x="2" y="19"/>
                      <a:pt x="0" y="2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Freeform 276">
                <a:extLst>
                  <a:ext uri="{FF2B5EF4-FFF2-40B4-BE49-F238E27FC236}">
                    <a16:creationId xmlns:a16="http://schemas.microsoft.com/office/drawing/2014/main" id="{2E7CA5C9-4C12-03CA-BA19-9639198748D7}"/>
                  </a:ext>
                </a:extLst>
              </p:cNvPr>
              <p:cNvSpPr>
                <a:spLocks noChangeArrowheads="1"/>
              </p:cNvSpPr>
              <p:nvPr/>
            </p:nvSpPr>
            <p:spPr bwMode="auto">
              <a:xfrm>
                <a:off x="7378700" y="5935663"/>
                <a:ext cx="3175" cy="11112"/>
              </a:xfrm>
              <a:custGeom>
                <a:avLst/>
                <a:gdLst>
                  <a:gd name="T0" fmla="*/ 7 w 8"/>
                  <a:gd name="T1" fmla="*/ 0 h 29"/>
                  <a:gd name="T2" fmla="*/ 0 w 8"/>
                  <a:gd name="T3" fmla="*/ 28 h 29"/>
                </a:gdLst>
                <a:ahLst/>
                <a:cxnLst>
                  <a:cxn ang="0">
                    <a:pos x="T0" y="T1"/>
                  </a:cxn>
                  <a:cxn ang="0">
                    <a:pos x="T2" y="T3"/>
                  </a:cxn>
                </a:cxnLst>
                <a:rect l="0" t="0" r="r" b="b"/>
                <a:pathLst>
                  <a:path w="8" h="29">
                    <a:moveTo>
                      <a:pt x="7" y="0"/>
                    </a:moveTo>
                    <a:cubicBezTo>
                      <a:pt x="5" y="9"/>
                      <a:pt x="3" y="19"/>
                      <a:pt x="0" y="2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Freeform 277">
                <a:extLst>
                  <a:ext uri="{FF2B5EF4-FFF2-40B4-BE49-F238E27FC236}">
                    <a16:creationId xmlns:a16="http://schemas.microsoft.com/office/drawing/2014/main" id="{C2000D8B-0678-2398-C719-B5F58B88BAD8}"/>
                  </a:ext>
                </a:extLst>
              </p:cNvPr>
              <p:cNvSpPr>
                <a:spLocks noChangeArrowheads="1"/>
              </p:cNvSpPr>
              <p:nvPr/>
            </p:nvSpPr>
            <p:spPr bwMode="auto">
              <a:xfrm>
                <a:off x="7250113" y="5722938"/>
                <a:ext cx="9525" cy="3175"/>
              </a:xfrm>
              <a:custGeom>
                <a:avLst/>
                <a:gdLst>
                  <a:gd name="T0" fmla="*/ 25 w 26"/>
                  <a:gd name="T1" fmla="*/ 8 h 9"/>
                  <a:gd name="T2" fmla="*/ 0 w 26"/>
                  <a:gd name="T3" fmla="*/ 0 h 9"/>
                </a:gdLst>
                <a:ahLst/>
                <a:cxnLst>
                  <a:cxn ang="0">
                    <a:pos x="T0" y="T1"/>
                  </a:cxn>
                  <a:cxn ang="0">
                    <a:pos x="T2" y="T3"/>
                  </a:cxn>
                </a:cxnLst>
                <a:rect l="0" t="0" r="r" b="b"/>
                <a:pathLst>
                  <a:path w="26" h="9">
                    <a:moveTo>
                      <a:pt x="25" y="8"/>
                    </a:moveTo>
                    <a:cubicBezTo>
                      <a:pt x="17" y="5"/>
                      <a:pt x="9"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Freeform 278">
                <a:extLst>
                  <a:ext uri="{FF2B5EF4-FFF2-40B4-BE49-F238E27FC236}">
                    <a16:creationId xmlns:a16="http://schemas.microsoft.com/office/drawing/2014/main" id="{093106EC-5611-868D-2EC4-1D58D8EC18D0}"/>
                  </a:ext>
                </a:extLst>
              </p:cNvPr>
              <p:cNvSpPr>
                <a:spLocks noChangeArrowheads="1"/>
              </p:cNvSpPr>
              <p:nvPr/>
            </p:nvSpPr>
            <p:spPr bwMode="auto">
              <a:xfrm>
                <a:off x="7159625" y="6062663"/>
                <a:ext cx="9525" cy="3175"/>
              </a:xfrm>
              <a:custGeom>
                <a:avLst/>
                <a:gdLst>
                  <a:gd name="T0" fmla="*/ 24 w 25"/>
                  <a:gd name="T1" fmla="*/ 7 h 8"/>
                  <a:gd name="T2" fmla="*/ 0 w 25"/>
                  <a:gd name="T3" fmla="*/ 0 h 8"/>
                </a:gdLst>
                <a:ahLst/>
                <a:cxnLst>
                  <a:cxn ang="0">
                    <a:pos x="T0" y="T1"/>
                  </a:cxn>
                  <a:cxn ang="0">
                    <a:pos x="T2" y="T3"/>
                  </a:cxn>
                </a:cxnLst>
                <a:rect l="0" t="0" r="r" b="b"/>
                <a:pathLst>
                  <a:path w="25" h="8">
                    <a:moveTo>
                      <a:pt x="24" y="7"/>
                    </a:moveTo>
                    <a:cubicBezTo>
                      <a:pt x="16" y="5"/>
                      <a:pt x="8" y="2"/>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Freeform 279">
                <a:extLst>
                  <a:ext uri="{FF2B5EF4-FFF2-40B4-BE49-F238E27FC236}">
                    <a16:creationId xmlns:a16="http://schemas.microsoft.com/office/drawing/2014/main" id="{1445DA10-399A-A6B8-F598-BFFE427FA75B}"/>
                  </a:ext>
                </a:extLst>
              </p:cNvPr>
              <p:cNvSpPr>
                <a:spLocks noChangeArrowheads="1"/>
              </p:cNvSpPr>
              <p:nvPr/>
            </p:nvSpPr>
            <p:spPr bwMode="auto">
              <a:xfrm>
                <a:off x="6959600" y="5894388"/>
                <a:ext cx="298450" cy="1587"/>
              </a:xfrm>
              <a:custGeom>
                <a:avLst/>
                <a:gdLst>
                  <a:gd name="T0" fmla="*/ 827 w 828"/>
                  <a:gd name="T1" fmla="*/ 0 h 1"/>
                  <a:gd name="T2" fmla="*/ 0 w 828"/>
                  <a:gd name="T3" fmla="*/ 0 h 1"/>
                </a:gdLst>
                <a:ahLst/>
                <a:cxnLst>
                  <a:cxn ang="0">
                    <a:pos x="T0" y="T1"/>
                  </a:cxn>
                  <a:cxn ang="0">
                    <a:pos x="T2" y="T3"/>
                  </a:cxn>
                </a:cxnLst>
                <a:rect l="0" t="0" r="r" b="b"/>
                <a:pathLst>
                  <a:path w="828" h="1">
                    <a:moveTo>
                      <a:pt x="827" y="0"/>
                    </a:moveTo>
                    <a:cubicBezTo>
                      <a:pt x="552" y="0"/>
                      <a:pt x="276"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Freeform 280">
                <a:extLst>
                  <a:ext uri="{FF2B5EF4-FFF2-40B4-BE49-F238E27FC236}">
                    <a16:creationId xmlns:a16="http://schemas.microsoft.com/office/drawing/2014/main" id="{34C34B9E-803C-AAB1-43E8-E3C976F37337}"/>
                  </a:ext>
                </a:extLst>
              </p:cNvPr>
              <p:cNvSpPr>
                <a:spLocks noChangeArrowheads="1"/>
              </p:cNvSpPr>
              <p:nvPr/>
            </p:nvSpPr>
            <p:spPr bwMode="auto">
              <a:xfrm>
                <a:off x="7207250" y="5843588"/>
                <a:ext cx="49213" cy="101600"/>
              </a:xfrm>
              <a:custGeom>
                <a:avLst/>
                <a:gdLst>
                  <a:gd name="T0" fmla="*/ 0 w 138"/>
                  <a:gd name="T1" fmla="*/ 282 h 283"/>
                  <a:gd name="T2" fmla="*/ 133 w 138"/>
                  <a:gd name="T3" fmla="*/ 148 h 283"/>
                  <a:gd name="T4" fmla="*/ 133 w 138"/>
                  <a:gd name="T5" fmla="*/ 134 h 283"/>
                  <a:gd name="T6" fmla="*/ 0 w 138"/>
                  <a:gd name="T7" fmla="*/ 0 h 283"/>
                </a:gdLst>
                <a:ahLst/>
                <a:cxnLst>
                  <a:cxn ang="0">
                    <a:pos x="T0" y="T1"/>
                  </a:cxn>
                  <a:cxn ang="0">
                    <a:pos x="T2" y="T3"/>
                  </a:cxn>
                  <a:cxn ang="0">
                    <a:pos x="T4" y="T5"/>
                  </a:cxn>
                  <a:cxn ang="0">
                    <a:pos x="T6" y="T7"/>
                  </a:cxn>
                </a:cxnLst>
                <a:rect l="0" t="0" r="r" b="b"/>
                <a:pathLst>
                  <a:path w="138" h="283">
                    <a:moveTo>
                      <a:pt x="0" y="282"/>
                    </a:moveTo>
                    <a:cubicBezTo>
                      <a:pt x="45" y="237"/>
                      <a:pt x="89" y="193"/>
                      <a:pt x="133" y="148"/>
                    </a:cubicBezTo>
                    <a:cubicBezTo>
                      <a:pt x="137" y="144"/>
                      <a:pt x="137" y="137"/>
                      <a:pt x="133" y="134"/>
                    </a:cubicBezTo>
                    <a:cubicBezTo>
                      <a:pt x="89" y="89"/>
                      <a:pt x="45" y="4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Freeform 281">
                <a:extLst>
                  <a:ext uri="{FF2B5EF4-FFF2-40B4-BE49-F238E27FC236}">
                    <a16:creationId xmlns:a16="http://schemas.microsoft.com/office/drawing/2014/main" id="{3994B6BE-1E5E-2F54-B119-13E0EFFF5B0D}"/>
                  </a:ext>
                </a:extLst>
              </p:cNvPr>
              <p:cNvSpPr>
                <a:spLocks noChangeArrowheads="1"/>
              </p:cNvSpPr>
              <p:nvPr/>
            </p:nvSpPr>
            <p:spPr bwMode="auto">
              <a:xfrm>
                <a:off x="6781800" y="5716588"/>
                <a:ext cx="355600" cy="355600"/>
              </a:xfrm>
              <a:custGeom>
                <a:avLst/>
                <a:gdLst>
                  <a:gd name="T0" fmla="*/ 493 w 986"/>
                  <a:gd name="T1" fmla="*/ 986 h 987"/>
                  <a:gd name="T2" fmla="*/ 0 w 986"/>
                  <a:gd name="T3" fmla="*/ 493 h 987"/>
                  <a:gd name="T4" fmla="*/ 493 w 986"/>
                  <a:gd name="T5" fmla="*/ 0 h 987"/>
                  <a:gd name="T6" fmla="*/ 985 w 986"/>
                  <a:gd name="T7" fmla="*/ 493 h 987"/>
                  <a:gd name="T8" fmla="*/ 493 w 986"/>
                  <a:gd name="T9" fmla="*/ 986 h 987"/>
                </a:gdLst>
                <a:ahLst/>
                <a:cxnLst>
                  <a:cxn ang="0">
                    <a:pos x="T0" y="T1"/>
                  </a:cxn>
                  <a:cxn ang="0">
                    <a:pos x="T2" y="T3"/>
                  </a:cxn>
                  <a:cxn ang="0">
                    <a:pos x="T4" y="T5"/>
                  </a:cxn>
                  <a:cxn ang="0">
                    <a:pos x="T6" y="T7"/>
                  </a:cxn>
                  <a:cxn ang="0">
                    <a:pos x="T8" y="T9"/>
                  </a:cxn>
                </a:cxnLst>
                <a:rect l="0" t="0" r="r" b="b"/>
                <a:pathLst>
                  <a:path w="986" h="987">
                    <a:moveTo>
                      <a:pt x="493" y="986"/>
                    </a:moveTo>
                    <a:cubicBezTo>
                      <a:pt x="221" y="986"/>
                      <a:pt x="0" y="764"/>
                      <a:pt x="0" y="493"/>
                    </a:cubicBezTo>
                    <a:cubicBezTo>
                      <a:pt x="0" y="222"/>
                      <a:pt x="222" y="0"/>
                      <a:pt x="493" y="0"/>
                    </a:cubicBezTo>
                    <a:cubicBezTo>
                      <a:pt x="765" y="0"/>
                      <a:pt x="985" y="222"/>
                      <a:pt x="985" y="493"/>
                    </a:cubicBezTo>
                    <a:cubicBezTo>
                      <a:pt x="985" y="764"/>
                      <a:pt x="764" y="986"/>
                      <a:pt x="493" y="98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105" name="TextBox 104">
            <a:extLst>
              <a:ext uri="{FF2B5EF4-FFF2-40B4-BE49-F238E27FC236}">
                <a16:creationId xmlns:a16="http://schemas.microsoft.com/office/drawing/2014/main" id="{E09B67D1-596B-6B00-C498-04762DAABA02}"/>
              </a:ext>
            </a:extLst>
          </p:cNvPr>
          <p:cNvSpPr txBox="1"/>
          <p:nvPr/>
        </p:nvSpPr>
        <p:spPr>
          <a:xfrm>
            <a:off x="4361576" y="1811655"/>
            <a:ext cx="164981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lumMod val="75000"/>
                  </a:srgbClr>
                </a:solidFill>
                <a:effectLst/>
                <a:uLnTx/>
                <a:uFillTx/>
                <a:latin typeface="Fira Sans" panose="020B0503050000020004" pitchFamily="34" charset="0"/>
                <a:ea typeface="+mn-ea"/>
                <a:cs typeface="+mn-cs"/>
              </a:rPr>
              <a:t>Pre-workshop</a:t>
            </a:r>
          </a:p>
        </p:txBody>
      </p:sp>
      <p:grpSp>
        <p:nvGrpSpPr>
          <p:cNvPr id="4" name="Group 3">
            <a:extLst>
              <a:ext uri="{FF2B5EF4-FFF2-40B4-BE49-F238E27FC236}">
                <a16:creationId xmlns:a16="http://schemas.microsoft.com/office/drawing/2014/main" id="{A0BB8147-BA05-3BB4-6690-97ECC2249AEE}"/>
              </a:ext>
            </a:extLst>
          </p:cNvPr>
          <p:cNvGrpSpPr/>
          <p:nvPr/>
        </p:nvGrpSpPr>
        <p:grpSpPr>
          <a:xfrm>
            <a:off x="5974134" y="1362456"/>
            <a:ext cx="4686937" cy="1904032"/>
            <a:chOff x="1998223" y="1362456"/>
            <a:chExt cx="4686937" cy="1904032"/>
          </a:xfrm>
        </p:grpSpPr>
        <p:grpSp>
          <p:nvGrpSpPr>
            <p:cNvPr id="80" name="Group 79">
              <a:extLst>
                <a:ext uri="{FF2B5EF4-FFF2-40B4-BE49-F238E27FC236}">
                  <a16:creationId xmlns:a16="http://schemas.microsoft.com/office/drawing/2014/main" id="{2FA2BF7C-A847-D4A9-C917-1162F3EDEFBA}"/>
                </a:ext>
              </a:extLst>
            </p:cNvPr>
            <p:cNvGrpSpPr>
              <a:grpSpLocks noChangeAspect="1"/>
            </p:cNvGrpSpPr>
            <p:nvPr/>
          </p:nvGrpSpPr>
          <p:grpSpPr>
            <a:xfrm>
              <a:off x="2235058" y="1596196"/>
              <a:ext cx="786385" cy="786384"/>
              <a:chOff x="7775575" y="2201863"/>
              <a:chExt cx="630238" cy="630237"/>
            </a:xfrm>
          </p:grpSpPr>
          <p:sp>
            <p:nvSpPr>
              <p:cNvPr id="81" name="Freeform 200">
                <a:extLst>
                  <a:ext uri="{FF2B5EF4-FFF2-40B4-BE49-F238E27FC236}">
                    <a16:creationId xmlns:a16="http://schemas.microsoft.com/office/drawing/2014/main" id="{391212DE-B7F4-638F-9828-7D17062E7868}"/>
                  </a:ext>
                </a:extLst>
              </p:cNvPr>
              <p:cNvSpPr>
                <a:spLocks noChangeArrowheads="1"/>
              </p:cNvSpPr>
              <p:nvPr/>
            </p:nvSpPr>
            <p:spPr bwMode="auto">
              <a:xfrm>
                <a:off x="7775575" y="2201863"/>
                <a:ext cx="630238" cy="630237"/>
              </a:xfrm>
              <a:custGeom>
                <a:avLst/>
                <a:gdLst>
                  <a:gd name="T0" fmla="*/ 1468 w 1751"/>
                  <a:gd name="T1" fmla="*/ 1749 h 1750"/>
                  <a:gd name="T2" fmla="*/ 1750 w 1751"/>
                  <a:gd name="T3" fmla="*/ 1467 h 1750"/>
                  <a:gd name="T4" fmla="*/ 1750 w 1751"/>
                  <a:gd name="T5" fmla="*/ 282 h 1750"/>
                  <a:gd name="T6" fmla="*/ 1468 w 1751"/>
                  <a:gd name="T7" fmla="*/ 0 h 1750"/>
                  <a:gd name="T8" fmla="*/ 282 w 1751"/>
                  <a:gd name="T9" fmla="*/ 0 h 1750"/>
                  <a:gd name="T10" fmla="*/ 0 w 1751"/>
                  <a:gd name="T11" fmla="*/ 282 h 1750"/>
                  <a:gd name="T12" fmla="*/ 0 w 1751"/>
                  <a:gd name="T13" fmla="*/ 1467 h 1750"/>
                  <a:gd name="T14" fmla="*/ 282 w 1751"/>
                  <a:gd name="T15" fmla="*/ 1749 h 1750"/>
                  <a:gd name="T16" fmla="*/ 1468 w 1751"/>
                  <a:gd name="T17" fmla="*/ 1749 h 1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0">
                    <a:moveTo>
                      <a:pt x="1468" y="1749"/>
                    </a:moveTo>
                    <a:cubicBezTo>
                      <a:pt x="1623" y="1749"/>
                      <a:pt x="1750" y="1623"/>
                      <a:pt x="1750" y="1467"/>
                    </a:cubicBezTo>
                    <a:cubicBezTo>
                      <a:pt x="1750" y="1072"/>
                      <a:pt x="1750" y="677"/>
                      <a:pt x="1750" y="282"/>
                    </a:cubicBezTo>
                    <a:cubicBezTo>
                      <a:pt x="1750" y="127"/>
                      <a:pt x="1623" y="0"/>
                      <a:pt x="1468" y="0"/>
                    </a:cubicBezTo>
                    <a:cubicBezTo>
                      <a:pt x="1073" y="0"/>
                      <a:pt x="678" y="0"/>
                      <a:pt x="282" y="0"/>
                    </a:cubicBezTo>
                    <a:cubicBezTo>
                      <a:pt x="127" y="0"/>
                      <a:pt x="0" y="127"/>
                      <a:pt x="0" y="282"/>
                    </a:cubicBezTo>
                    <a:cubicBezTo>
                      <a:pt x="0" y="677"/>
                      <a:pt x="0" y="1072"/>
                      <a:pt x="0" y="1467"/>
                    </a:cubicBezTo>
                    <a:cubicBezTo>
                      <a:pt x="0" y="1623"/>
                      <a:pt x="127" y="1749"/>
                      <a:pt x="282" y="1749"/>
                    </a:cubicBezTo>
                    <a:cubicBezTo>
                      <a:pt x="678" y="1749"/>
                      <a:pt x="1073" y="1749"/>
                      <a:pt x="1468" y="174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82" name="Group 81">
                <a:extLst>
                  <a:ext uri="{FF2B5EF4-FFF2-40B4-BE49-F238E27FC236}">
                    <a16:creationId xmlns:a16="http://schemas.microsoft.com/office/drawing/2014/main" id="{80ED29D4-2E9C-E657-90AA-AEEF7DC022CD}"/>
                  </a:ext>
                </a:extLst>
              </p:cNvPr>
              <p:cNvGrpSpPr/>
              <p:nvPr/>
            </p:nvGrpSpPr>
            <p:grpSpPr>
              <a:xfrm>
                <a:off x="7947025" y="2292350"/>
                <a:ext cx="284163" cy="407988"/>
                <a:chOff x="7947025" y="2292350"/>
                <a:chExt cx="284163" cy="407988"/>
              </a:xfrm>
            </p:grpSpPr>
            <p:sp>
              <p:nvSpPr>
                <p:cNvPr id="83" name="Freeform 201">
                  <a:extLst>
                    <a:ext uri="{FF2B5EF4-FFF2-40B4-BE49-F238E27FC236}">
                      <a16:creationId xmlns:a16="http://schemas.microsoft.com/office/drawing/2014/main" id="{0999DF63-A2E5-3360-5DEA-4F1EAA03CCC5}"/>
                    </a:ext>
                  </a:extLst>
                </p:cNvPr>
                <p:cNvSpPr>
                  <a:spLocks noChangeArrowheads="1"/>
                </p:cNvSpPr>
                <p:nvPr/>
              </p:nvSpPr>
              <p:spPr bwMode="auto">
                <a:xfrm>
                  <a:off x="7947025" y="2333625"/>
                  <a:ext cx="284163" cy="366713"/>
                </a:xfrm>
                <a:custGeom>
                  <a:avLst/>
                  <a:gdLst>
                    <a:gd name="T0" fmla="*/ 564 w 791"/>
                    <a:gd name="T1" fmla="*/ 0 h 1017"/>
                    <a:gd name="T2" fmla="*/ 734 w 791"/>
                    <a:gd name="T3" fmla="*/ 0 h 1017"/>
                    <a:gd name="T4" fmla="*/ 790 w 791"/>
                    <a:gd name="T5" fmla="*/ 56 h 1017"/>
                    <a:gd name="T6" fmla="*/ 790 w 791"/>
                    <a:gd name="T7" fmla="*/ 959 h 1017"/>
                    <a:gd name="T8" fmla="*/ 734 w 791"/>
                    <a:gd name="T9" fmla="*/ 1016 h 1017"/>
                    <a:gd name="T10" fmla="*/ 56 w 791"/>
                    <a:gd name="T11" fmla="*/ 1016 h 1017"/>
                    <a:gd name="T12" fmla="*/ 0 w 791"/>
                    <a:gd name="T13" fmla="*/ 959 h 1017"/>
                    <a:gd name="T14" fmla="*/ 0 w 791"/>
                    <a:gd name="T15" fmla="*/ 56 h 1017"/>
                    <a:gd name="T16" fmla="*/ 56 w 791"/>
                    <a:gd name="T17" fmla="*/ 0 h 1017"/>
                    <a:gd name="T18" fmla="*/ 226 w 791"/>
                    <a:gd name="T19" fmla="*/ 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1" h="1017">
                      <a:moveTo>
                        <a:pt x="564" y="0"/>
                      </a:moveTo>
                      <a:cubicBezTo>
                        <a:pt x="621" y="0"/>
                        <a:pt x="678" y="0"/>
                        <a:pt x="734" y="0"/>
                      </a:cubicBezTo>
                      <a:cubicBezTo>
                        <a:pt x="765" y="0"/>
                        <a:pt x="790" y="25"/>
                        <a:pt x="790" y="56"/>
                      </a:cubicBezTo>
                      <a:cubicBezTo>
                        <a:pt x="790" y="357"/>
                        <a:pt x="790" y="658"/>
                        <a:pt x="790" y="959"/>
                      </a:cubicBezTo>
                      <a:cubicBezTo>
                        <a:pt x="790" y="990"/>
                        <a:pt x="765" y="1016"/>
                        <a:pt x="734" y="1016"/>
                      </a:cubicBezTo>
                      <a:cubicBezTo>
                        <a:pt x="508" y="1016"/>
                        <a:pt x="282" y="1016"/>
                        <a:pt x="56" y="1016"/>
                      </a:cubicBezTo>
                      <a:cubicBezTo>
                        <a:pt x="25" y="1016"/>
                        <a:pt x="0" y="990"/>
                        <a:pt x="0" y="959"/>
                      </a:cubicBezTo>
                      <a:cubicBezTo>
                        <a:pt x="0" y="658"/>
                        <a:pt x="0" y="357"/>
                        <a:pt x="0" y="56"/>
                      </a:cubicBezTo>
                      <a:cubicBezTo>
                        <a:pt x="0" y="25"/>
                        <a:pt x="25" y="0"/>
                        <a:pt x="56" y="0"/>
                      </a:cubicBezTo>
                      <a:cubicBezTo>
                        <a:pt x="113" y="0"/>
                        <a:pt x="170" y="0"/>
                        <a:pt x="226"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4" name="Freeform 202">
                  <a:extLst>
                    <a:ext uri="{FF2B5EF4-FFF2-40B4-BE49-F238E27FC236}">
                      <a16:creationId xmlns:a16="http://schemas.microsoft.com/office/drawing/2014/main" id="{DCDA9003-ABC0-E1DD-2E5D-DD27C25CA096}"/>
                    </a:ext>
                  </a:extLst>
                </p:cNvPr>
                <p:cNvSpPr>
                  <a:spLocks noChangeArrowheads="1"/>
                </p:cNvSpPr>
                <p:nvPr/>
              </p:nvSpPr>
              <p:spPr bwMode="auto">
                <a:xfrm>
                  <a:off x="7997825" y="2292350"/>
                  <a:ext cx="182563" cy="92075"/>
                </a:xfrm>
                <a:custGeom>
                  <a:avLst/>
                  <a:gdLst>
                    <a:gd name="T0" fmla="*/ 508 w 509"/>
                    <a:gd name="T1" fmla="*/ 197 h 255"/>
                    <a:gd name="T2" fmla="*/ 423 w 509"/>
                    <a:gd name="T3" fmla="*/ 113 h 255"/>
                    <a:gd name="T4" fmla="*/ 380 w 509"/>
                    <a:gd name="T5" fmla="*/ 113 h 255"/>
                    <a:gd name="T6" fmla="*/ 366 w 509"/>
                    <a:gd name="T7" fmla="*/ 100 h 255"/>
                    <a:gd name="T8" fmla="*/ 254 w 509"/>
                    <a:gd name="T9" fmla="*/ 0 h 255"/>
                    <a:gd name="T10" fmla="*/ 142 w 509"/>
                    <a:gd name="T11" fmla="*/ 100 h 255"/>
                    <a:gd name="T12" fmla="*/ 128 w 509"/>
                    <a:gd name="T13" fmla="*/ 113 h 255"/>
                    <a:gd name="T14" fmla="*/ 85 w 509"/>
                    <a:gd name="T15" fmla="*/ 113 h 255"/>
                    <a:gd name="T16" fmla="*/ 0 w 509"/>
                    <a:gd name="T17" fmla="*/ 197 h 255"/>
                    <a:gd name="T18" fmla="*/ 0 w 509"/>
                    <a:gd name="T19" fmla="*/ 226 h 255"/>
                    <a:gd name="T20" fmla="*/ 28 w 509"/>
                    <a:gd name="T21" fmla="*/ 254 h 255"/>
                    <a:gd name="T22" fmla="*/ 480 w 509"/>
                    <a:gd name="T23" fmla="*/ 254 h 255"/>
                    <a:gd name="T24" fmla="*/ 508 w 509"/>
                    <a:gd name="T25" fmla="*/ 226 h 255"/>
                    <a:gd name="T26" fmla="*/ 508 w 509"/>
                    <a:gd name="T27" fmla="*/ 19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9" h="255">
                      <a:moveTo>
                        <a:pt x="508" y="197"/>
                      </a:moveTo>
                      <a:cubicBezTo>
                        <a:pt x="508" y="151"/>
                        <a:pt x="470" y="113"/>
                        <a:pt x="423" y="113"/>
                      </a:cubicBezTo>
                      <a:cubicBezTo>
                        <a:pt x="409" y="113"/>
                        <a:pt x="395" y="113"/>
                        <a:pt x="380" y="113"/>
                      </a:cubicBezTo>
                      <a:cubicBezTo>
                        <a:pt x="373" y="113"/>
                        <a:pt x="367" y="107"/>
                        <a:pt x="366" y="100"/>
                      </a:cubicBezTo>
                      <a:cubicBezTo>
                        <a:pt x="359" y="44"/>
                        <a:pt x="308" y="0"/>
                        <a:pt x="254" y="0"/>
                      </a:cubicBezTo>
                      <a:cubicBezTo>
                        <a:pt x="200" y="0"/>
                        <a:pt x="149" y="44"/>
                        <a:pt x="142" y="100"/>
                      </a:cubicBezTo>
                      <a:cubicBezTo>
                        <a:pt x="141" y="107"/>
                        <a:pt x="135" y="113"/>
                        <a:pt x="128" y="113"/>
                      </a:cubicBezTo>
                      <a:cubicBezTo>
                        <a:pt x="114" y="113"/>
                        <a:pt x="100" y="113"/>
                        <a:pt x="85" y="113"/>
                      </a:cubicBezTo>
                      <a:cubicBezTo>
                        <a:pt x="38" y="113"/>
                        <a:pt x="0" y="151"/>
                        <a:pt x="0" y="197"/>
                      </a:cubicBezTo>
                      <a:cubicBezTo>
                        <a:pt x="0" y="206"/>
                        <a:pt x="0" y="216"/>
                        <a:pt x="0" y="226"/>
                      </a:cubicBezTo>
                      <a:cubicBezTo>
                        <a:pt x="0" y="241"/>
                        <a:pt x="13" y="254"/>
                        <a:pt x="28" y="254"/>
                      </a:cubicBezTo>
                      <a:cubicBezTo>
                        <a:pt x="179" y="254"/>
                        <a:pt x="330" y="254"/>
                        <a:pt x="480" y="254"/>
                      </a:cubicBezTo>
                      <a:cubicBezTo>
                        <a:pt x="495" y="254"/>
                        <a:pt x="508" y="241"/>
                        <a:pt x="508" y="226"/>
                      </a:cubicBezTo>
                      <a:cubicBezTo>
                        <a:pt x="508" y="216"/>
                        <a:pt x="508" y="206"/>
                        <a:pt x="508" y="197"/>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5" name="Freeform 203">
                  <a:extLst>
                    <a:ext uri="{FF2B5EF4-FFF2-40B4-BE49-F238E27FC236}">
                      <a16:creationId xmlns:a16="http://schemas.microsoft.com/office/drawing/2014/main" id="{0880B401-F705-497E-8B60-4E228EC25FA6}"/>
                    </a:ext>
                  </a:extLst>
                </p:cNvPr>
                <p:cNvSpPr>
                  <a:spLocks noChangeArrowheads="1"/>
                </p:cNvSpPr>
                <p:nvPr/>
              </p:nvSpPr>
              <p:spPr bwMode="auto">
                <a:xfrm>
                  <a:off x="8080375" y="2444750"/>
                  <a:ext cx="92075" cy="1588"/>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6" name="Freeform 204">
                  <a:extLst>
                    <a:ext uri="{FF2B5EF4-FFF2-40B4-BE49-F238E27FC236}">
                      <a16:creationId xmlns:a16="http://schemas.microsoft.com/office/drawing/2014/main" id="{983CA724-E2C8-8CD4-E41C-DF6FC2976D65}"/>
                    </a:ext>
                  </a:extLst>
                </p:cNvPr>
                <p:cNvSpPr>
                  <a:spLocks noChangeArrowheads="1"/>
                </p:cNvSpPr>
                <p:nvPr/>
              </p:nvSpPr>
              <p:spPr bwMode="auto">
                <a:xfrm>
                  <a:off x="8080375" y="2322513"/>
                  <a:ext cx="20638" cy="20637"/>
                </a:xfrm>
                <a:custGeom>
                  <a:avLst/>
                  <a:gdLst>
                    <a:gd name="T0" fmla="*/ 56 w 57"/>
                    <a:gd name="T1" fmla="*/ 29 h 58"/>
                    <a:gd name="T2" fmla="*/ 28 w 57"/>
                    <a:gd name="T3" fmla="*/ 57 h 58"/>
                    <a:gd name="T4" fmla="*/ 0 w 57"/>
                    <a:gd name="T5" fmla="*/ 29 h 58"/>
                    <a:gd name="T6" fmla="*/ 28 w 57"/>
                    <a:gd name="T7" fmla="*/ 0 h 58"/>
                    <a:gd name="T8" fmla="*/ 56 w 57"/>
                    <a:gd name="T9" fmla="*/ 29 h 58"/>
                  </a:gdLst>
                  <a:ahLst/>
                  <a:cxnLst>
                    <a:cxn ang="0">
                      <a:pos x="T0" y="T1"/>
                    </a:cxn>
                    <a:cxn ang="0">
                      <a:pos x="T2" y="T3"/>
                    </a:cxn>
                    <a:cxn ang="0">
                      <a:pos x="T4" y="T5"/>
                    </a:cxn>
                    <a:cxn ang="0">
                      <a:pos x="T6" y="T7"/>
                    </a:cxn>
                    <a:cxn ang="0">
                      <a:pos x="T8" y="T9"/>
                    </a:cxn>
                  </a:cxnLst>
                  <a:rect l="0" t="0" r="r" b="b"/>
                  <a:pathLst>
                    <a:path w="57" h="58">
                      <a:moveTo>
                        <a:pt x="56" y="29"/>
                      </a:moveTo>
                      <a:cubicBezTo>
                        <a:pt x="56" y="44"/>
                        <a:pt x="44" y="57"/>
                        <a:pt x="28" y="57"/>
                      </a:cubicBezTo>
                      <a:cubicBezTo>
                        <a:pt x="12" y="57"/>
                        <a:pt x="0" y="44"/>
                        <a:pt x="0" y="29"/>
                      </a:cubicBezTo>
                      <a:cubicBezTo>
                        <a:pt x="0" y="13"/>
                        <a:pt x="12" y="0"/>
                        <a:pt x="28" y="0"/>
                      </a:cubicBezTo>
                      <a:cubicBezTo>
                        <a:pt x="44" y="0"/>
                        <a:pt x="56" y="13"/>
                        <a:pt x="56" y="2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7" name="Freeform 205">
                  <a:extLst>
                    <a:ext uri="{FF2B5EF4-FFF2-40B4-BE49-F238E27FC236}">
                      <a16:creationId xmlns:a16="http://schemas.microsoft.com/office/drawing/2014/main" id="{50A71DFF-912E-416C-7493-2AA5ECAAFD60}"/>
                    </a:ext>
                  </a:extLst>
                </p:cNvPr>
                <p:cNvSpPr>
                  <a:spLocks noChangeArrowheads="1"/>
                </p:cNvSpPr>
                <p:nvPr/>
              </p:nvSpPr>
              <p:spPr bwMode="auto">
                <a:xfrm>
                  <a:off x="8008938" y="2430463"/>
                  <a:ext cx="31750" cy="30162"/>
                </a:xfrm>
                <a:custGeom>
                  <a:avLst/>
                  <a:gdLst>
                    <a:gd name="T0" fmla="*/ 85 w 86"/>
                    <a:gd name="T1" fmla="*/ 42 h 85"/>
                    <a:gd name="T2" fmla="*/ 43 w 86"/>
                    <a:gd name="T3" fmla="*/ 84 h 85"/>
                    <a:gd name="T4" fmla="*/ 0 w 86"/>
                    <a:gd name="T5" fmla="*/ 42 h 85"/>
                    <a:gd name="T6" fmla="*/ 43 w 86"/>
                    <a:gd name="T7" fmla="*/ 0 h 85"/>
                    <a:gd name="T8" fmla="*/ 85 w 86"/>
                    <a:gd name="T9" fmla="*/ 42 h 85"/>
                  </a:gdLst>
                  <a:ahLst/>
                  <a:cxnLst>
                    <a:cxn ang="0">
                      <a:pos x="T0" y="T1"/>
                    </a:cxn>
                    <a:cxn ang="0">
                      <a:pos x="T2" y="T3"/>
                    </a:cxn>
                    <a:cxn ang="0">
                      <a:pos x="T4" y="T5"/>
                    </a:cxn>
                    <a:cxn ang="0">
                      <a:pos x="T6" y="T7"/>
                    </a:cxn>
                    <a:cxn ang="0">
                      <a:pos x="T8" y="T9"/>
                    </a:cxn>
                  </a:cxnLst>
                  <a:rect l="0" t="0" r="r" b="b"/>
                  <a:pathLst>
                    <a:path w="86" h="85">
                      <a:moveTo>
                        <a:pt x="85" y="42"/>
                      </a:moveTo>
                      <a:cubicBezTo>
                        <a:pt x="85" y="66"/>
                        <a:pt x="66" y="84"/>
                        <a:pt x="43" y="84"/>
                      </a:cubicBezTo>
                      <a:cubicBezTo>
                        <a:pt x="19" y="84"/>
                        <a:pt x="0" y="66"/>
                        <a:pt x="0" y="42"/>
                      </a:cubicBezTo>
                      <a:cubicBezTo>
                        <a:pt x="0" y="19"/>
                        <a:pt x="19" y="0"/>
                        <a:pt x="43" y="0"/>
                      </a:cubicBezTo>
                      <a:cubicBezTo>
                        <a:pt x="66" y="0"/>
                        <a:pt x="85" y="19"/>
                        <a:pt x="85" y="42"/>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8" name="Freeform 206">
                  <a:extLst>
                    <a:ext uri="{FF2B5EF4-FFF2-40B4-BE49-F238E27FC236}">
                      <a16:creationId xmlns:a16="http://schemas.microsoft.com/office/drawing/2014/main" id="{3FD86E44-338D-C676-22EE-857609FA1F68}"/>
                    </a:ext>
                  </a:extLst>
                </p:cNvPr>
                <p:cNvSpPr>
                  <a:spLocks noChangeArrowheads="1"/>
                </p:cNvSpPr>
                <p:nvPr/>
              </p:nvSpPr>
              <p:spPr bwMode="auto">
                <a:xfrm>
                  <a:off x="8008938" y="2490788"/>
                  <a:ext cx="31750" cy="31750"/>
                </a:xfrm>
                <a:custGeom>
                  <a:avLst/>
                  <a:gdLst>
                    <a:gd name="T0" fmla="*/ 85 w 86"/>
                    <a:gd name="T1" fmla="*/ 42 h 86"/>
                    <a:gd name="T2" fmla="*/ 43 w 86"/>
                    <a:gd name="T3" fmla="*/ 85 h 86"/>
                    <a:gd name="T4" fmla="*/ 0 w 86"/>
                    <a:gd name="T5" fmla="*/ 42 h 86"/>
                    <a:gd name="T6" fmla="*/ 43 w 86"/>
                    <a:gd name="T7" fmla="*/ 0 h 86"/>
                    <a:gd name="T8" fmla="*/ 85 w 86"/>
                    <a:gd name="T9" fmla="*/ 42 h 86"/>
                  </a:gdLst>
                  <a:ahLst/>
                  <a:cxnLst>
                    <a:cxn ang="0">
                      <a:pos x="T0" y="T1"/>
                    </a:cxn>
                    <a:cxn ang="0">
                      <a:pos x="T2" y="T3"/>
                    </a:cxn>
                    <a:cxn ang="0">
                      <a:pos x="T4" y="T5"/>
                    </a:cxn>
                    <a:cxn ang="0">
                      <a:pos x="T6" y="T7"/>
                    </a:cxn>
                    <a:cxn ang="0">
                      <a:pos x="T8" y="T9"/>
                    </a:cxn>
                  </a:cxnLst>
                  <a:rect l="0" t="0" r="r" b="b"/>
                  <a:pathLst>
                    <a:path w="86" h="86">
                      <a:moveTo>
                        <a:pt x="85" y="42"/>
                      </a:moveTo>
                      <a:cubicBezTo>
                        <a:pt x="85" y="66"/>
                        <a:pt x="66" y="85"/>
                        <a:pt x="43" y="85"/>
                      </a:cubicBezTo>
                      <a:cubicBezTo>
                        <a:pt x="19" y="85"/>
                        <a:pt x="0" y="66"/>
                        <a:pt x="0" y="42"/>
                      </a:cubicBezTo>
                      <a:cubicBezTo>
                        <a:pt x="0" y="19"/>
                        <a:pt x="19" y="0"/>
                        <a:pt x="43" y="0"/>
                      </a:cubicBezTo>
                      <a:cubicBezTo>
                        <a:pt x="66" y="0"/>
                        <a:pt x="85" y="19"/>
                        <a:pt x="85" y="42"/>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9" name="Freeform 207">
                  <a:extLst>
                    <a:ext uri="{FF2B5EF4-FFF2-40B4-BE49-F238E27FC236}">
                      <a16:creationId xmlns:a16="http://schemas.microsoft.com/office/drawing/2014/main" id="{D2D0C247-F291-E612-6862-2512006DD144}"/>
                    </a:ext>
                  </a:extLst>
                </p:cNvPr>
                <p:cNvSpPr>
                  <a:spLocks noChangeArrowheads="1"/>
                </p:cNvSpPr>
                <p:nvPr/>
              </p:nvSpPr>
              <p:spPr bwMode="auto">
                <a:xfrm>
                  <a:off x="8008938" y="2551113"/>
                  <a:ext cx="31750" cy="31750"/>
                </a:xfrm>
                <a:custGeom>
                  <a:avLst/>
                  <a:gdLst>
                    <a:gd name="T0" fmla="*/ 85 w 86"/>
                    <a:gd name="T1" fmla="*/ 43 h 86"/>
                    <a:gd name="T2" fmla="*/ 43 w 86"/>
                    <a:gd name="T3" fmla="*/ 85 h 86"/>
                    <a:gd name="T4" fmla="*/ 0 w 86"/>
                    <a:gd name="T5" fmla="*/ 43 h 86"/>
                    <a:gd name="T6" fmla="*/ 43 w 86"/>
                    <a:gd name="T7" fmla="*/ 0 h 86"/>
                    <a:gd name="T8" fmla="*/ 85 w 86"/>
                    <a:gd name="T9" fmla="*/ 43 h 86"/>
                  </a:gdLst>
                  <a:ahLst/>
                  <a:cxnLst>
                    <a:cxn ang="0">
                      <a:pos x="T0" y="T1"/>
                    </a:cxn>
                    <a:cxn ang="0">
                      <a:pos x="T2" y="T3"/>
                    </a:cxn>
                    <a:cxn ang="0">
                      <a:pos x="T4" y="T5"/>
                    </a:cxn>
                    <a:cxn ang="0">
                      <a:pos x="T6" y="T7"/>
                    </a:cxn>
                    <a:cxn ang="0">
                      <a:pos x="T8" y="T9"/>
                    </a:cxn>
                  </a:cxnLst>
                  <a:rect l="0" t="0" r="r" b="b"/>
                  <a:pathLst>
                    <a:path w="86" h="86">
                      <a:moveTo>
                        <a:pt x="85" y="43"/>
                      </a:moveTo>
                      <a:cubicBezTo>
                        <a:pt x="85" y="66"/>
                        <a:pt x="66" y="85"/>
                        <a:pt x="43" y="85"/>
                      </a:cubicBezTo>
                      <a:cubicBezTo>
                        <a:pt x="19" y="85"/>
                        <a:pt x="0" y="66"/>
                        <a:pt x="0" y="43"/>
                      </a:cubicBezTo>
                      <a:cubicBezTo>
                        <a:pt x="0" y="19"/>
                        <a:pt x="19" y="0"/>
                        <a:pt x="43" y="0"/>
                      </a:cubicBezTo>
                      <a:cubicBezTo>
                        <a:pt x="66" y="0"/>
                        <a:pt x="85" y="19"/>
                        <a:pt x="85" y="4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0" name="Freeform 208">
                  <a:extLst>
                    <a:ext uri="{FF2B5EF4-FFF2-40B4-BE49-F238E27FC236}">
                      <a16:creationId xmlns:a16="http://schemas.microsoft.com/office/drawing/2014/main" id="{99C96682-07E9-5043-8C53-3F4AE977496B}"/>
                    </a:ext>
                  </a:extLst>
                </p:cNvPr>
                <p:cNvSpPr>
                  <a:spLocks noChangeArrowheads="1"/>
                </p:cNvSpPr>
                <p:nvPr/>
              </p:nvSpPr>
              <p:spPr bwMode="auto">
                <a:xfrm>
                  <a:off x="8008938" y="2613025"/>
                  <a:ext cx="31750" cy="30163"/>
                </a:xfrm>
                <a:custGeom>
                  <a:avLst/>
                  <a:gdLst>
                    <a:gd name="T0" fmla="*/ 85 w 86"/>
                    <a:gd name="T1" fmla="*/ 42 h 85"/>
                    <a:gd name="T2" fmla="*/ 43 w 86"/>
                    <a:gd name="T3" fmla="*/ 84 h 85"/>
                    <a:gd name="T4" fmla="*/ 0 w 86"/>
                    <a:gd name="T5" fmla="*/ 42 h 85"/>
                    <a:gd name="T6" fmla="*/ 43 w 86"/>
                    <a:gd name="T7" fmla="*/ 0 h 85"/>
                    <a:gd name="T8" fmla="*/ 85 w 86"/>
                    <a:gd name="T9" fmla="*/ 42 h 85"/>
                  </a:gdLst>
                  <a:ahLst/>
                  <a:cxnLst>
                    <a:cxn ang="0">
                      <a:pos x="T0" y="T1"/>
                    </a:cxn>
                    <a:cxn ang="0">
                      <a:pos x="T2" y="T3"/>
                    </a:cxn>
                    <a:cxn ang="0">
                      <a:pos x="T4" y="T5"/>
                    </a:cxn>
                    <a:cxn ang="0">
                      <a:pos x="T6" y="T7"/>
                    </a:cxn>
                    <a:cxn ang="0">
                      <a:pos x="T8" y="T9"/>
                    </a:cxn>
                  </a:cxnLst>
                  <a:rect l="0" t="0" r="r" b="b"/>
                  <a:pathLst>
                    <a:path w="86" h="85">
                      <a:moveTo>
                        <a:pt x="85" y="42"/>
                      </a:moveTo>
                      <a:cubicBezTo>
                        <a:pt x="85" y="65"/>
                        <a:pt x="66" y="84"/>
                        <a:pt x="43" y="84"/>
                      </a:cubicBezTo>
                      <a:cubicBezTo>
                        <a:pt x="19" y="84"/>
                        <a:pt x="0" y="65"/>
                        <a:pt x="0" y="42"/>
                      </a:cubicBezTo>
                      <a:cubicBezTo>
                        <a:pt x="0" y="19"/>
                        <a:pt x="19" y="0"/>
                        <a:pt x="43" y="0"/>
                      </a:cubicBezTo>
                      <a:cubicBezTo>
                        <a:pt x="66" y="0"/>
                        <a:pt x="85" y="19"/>
                        <a:pt x="85" y="42"/>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1" name="Freeform 209">
                  <a:extLst>
                    <a:ext uri="{FF2B5EF4-FFF2-40B4-BE49-F238E27FC236}">
                      <a16:creationId xmlns:a16="http://schemas.microsoft.com/office/drawing/2014/main" id="{279974E2-B764-FE8E-6858-8A1C91F0E3BC}"/>
                    </a:ext>
                  </a:extLst>
                </p:cNvPr>
                <p:cNvSpPr>
                  <a:spLocks noChangeArrowheads="1"/>
                </p:cNvSpPr>
                <p:nvPr/>
              </p:nvSpPr>
              <p:spPr bwMode="auto">
                <a:xfrm>
                  <a:off x="8080375" y="2506663"/>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2" name="Freeform 210">
                  <a:extLst>
                    <a:ext uri="{FF2B5EF4-FFF2-40B4-BE49-F238E27FC236}">
                      <a16:creationId xmlns:a16="http://schemas.microsoft.com/office/drawing/2014/main" id="{39CF4D25-498E-3EB9-77A1-DC47ADD716F9}"/>
                    </a:ext>
                  </a:extLst>
                </p:cNvPr>
                <p:cNvSpPr>
                  <a:spLocks noChangeArrowheads="1"/>
                </p:cNvSpPr>
                <p:nvPr/>
              </p:nvSpPr>
              <p:spPr bwMode="auto">
                <a:xfrm>
                  <a:off x="8080375" y="2566988"/>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3" name="Freeform 211">
                  <a:extLst>
                    <a:ext uri="{FF2B5EF4-FFF2-40B4-BE49-F238E27FC236}">
                      <a16:creationId xmlns:a16="http://schemas.microsoft.com/office/drawing/2014/main" id="{745084AB-8261-93B6-4C18-F3B69306F8E5}"/>
                    </a:ext>
                  </a:extLst>
                </p:cNvPr>
                <p:cNvSpPr>
                  <a:spLocks noChangeArrowheads="1"/>
                </p:cNvSpPr>
                <p:nvPr/>
              </p:nvSpPr>
              <p:spPr bwMode="auto">
                <a:xfrm>
                  <a:off x="8080375" y="2627313"/>
                  <a:ext cx="92075" cy="1587"/>
                </a:xfrm>
                <a:custGeom>
                  <a:avLst/>
                  <a:gdLst>
                    <a:gd name="T0" fmla="*/ 254 w 255"/>
                    <a:gd name="T1" fmla="*/ 0 h 1"/>
                    <a:gd name="T2" fmla="*/ 0 w 255"/>
                    <a:gd name="T3" fmla="*/ 0 h 1"/>
                  </a:gdLst>
                  <a:ahLst/>
                  <a:cxnLst>
                    <a:cxn ang="0">
                      <a:pos x="T0" y="T1"/>
                    </a:cxn>
                    <a:cxn ang="0">
                      <a:pos x="T2" y="T3"/>
                    </a:cxn>
                  </a:cxnLst>
                  <a:rect l="0" t="0" r="r" b="b"/>
                  <a:pathLst>
                    <a:path w="255" h="1">
                      <a:moveTo>
                        <a:pt x="254" y="0"/>
                      </a:moveTo>
                      <a:cubicBezTo>
                        <a:pt x="170" y="0"/>
                        <a:pt x="85"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94" name="Group 93">
              <a:extLst>
                <a:ext uri="{FF2B5EF4-FFF2-40B4-BE49-F238E27FC236}">
                  <a16:creationId xmlns:a16="http://schemas.microsoft.com/office/drawing/2014/main" id="{453FED63-49C8-529F-5137-9C2F5B2419FD}"/>
                </a:ext>
              </a:extLst>
            </p:cNvPr>
            <p:cNvGrpSpPr>
              <a:grpSpLocks noChangeAspect="1"/>
            </p:cNvGrpSpPr>
            <p:nvPr/>
          </p:nvGrpSpPr>
          <p:grpSpPr>
            <a:xfrm>
              <a:off x="4826739" y="1590580"/>
              <a:ext cx="788067" cy="788067"/>
              <a:chOff x="10655081" y="5459713"/>
              <a:chExt cx="788067" cy="788067"/>
            </a:xfrm>
          </p:grpSpPr>
          <p:sp>
            <p:nvSpPr>
              <p:cNvPr id="95" name="Freeform 292">
                <a:extLst>
                  <a:ext uri="{FF2B5EF4-FFF2-40B4-BE49-F238E27FC236}">
                    <a16:creationId xmlns:a16="http://schemas.microsoft.com/office/drawing/2014/main" id="{B4096BFC-5DDD-3F52-1F64-3CAE8AD7F7F2}"/>
                  </a:ext>
                </a:extLst>
              </p:cNvPr>
              <p:cNvSpPr>
                <a:spLocks noChangeArrowheads="1"/>
              </p:cNvSpPr>
              <p:nvPr/>
            </p:nvSpPr>
            <p:spPr bwMode="auto">
              <a:xfrm>
                <a:off x="10655081" y="5459713"/>
                <a:ext cx="788067" cy="788067"/>
              </a:xfrm>
              <a:custGeom>
                <a:avLst/>
                <a:gdLst>
                  <a:gd name="T0" fmla="*/ 1468 w 1751"/>
                  <a:gd name="T1" fmla="*/ 1750 h 1751"/>
                  <a:gd name="T2" fmla="*/ 1750 w 1751"/>
                  <a:gd name="T3" fmla="*/ 1468 h 1751"/>
                  <a:gd name="T4" fmla="*/ 1750 w 1751"/>
                  <a:gd name="T5" fmla="*/ 283 h 1751"/>
                  <a:gd name="T6" fmla="*/ 1468 w 1751"/>
                  <a:gd name="T7" fmla="*/ 0 h 1751"/>
                  <a:gd name="T8" fmla="*/ 282 w 1751"/>
                  <a:gd name="T9" fmla="*/ 0 h 1751"/>
                  <a:gd name="T10" fmla="*/ 0 w 1751"/>
                  <a:gd name="T11" fmla="*/ 283 h 1751"/>
                  <a:gd name="T12" fmla="*/ 0 w 1751"/>
                  <a:gd name="T13" fmla="*/ 1468 h 1751"/>
                  <a:gd name="T14" fmla="*/ 282 w 1751"/>
                  <a:gd name="T15" fmla="*/ 1750 h 1751"/>
                  <a:gd name="T16" fmla="*/ 1468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8" y="1750"/>
                    </a:moveTo>
                    <a:cubicBezTo>
                      <a:pt x="1623" y="1750"/>
                      <a:pt x="1750" y="1623"/>
                      <a:pt x="1750" y="1468"/>
                    </a:cubicBezTo>
                    <a:cubicBezTo>
                      <a:pt x="1750" y="1073"/>
                      <a:pt x="1750" y="678"/>
                      <a:pt x="1750" y="283"/>
                    </a:cubicBezTo>
                    <a:cubicBezTo>
                      <a:pt x="1750" y="127"/>
                      <a:pt x="1623" y="0"/>
                      <a:pt x="1468" y="0"/>
                    </a:cubicBezTo>
                    <a:cubicBezTo>
                      <a:pt x="1073" y="0"/>
                      <a:pt x="677" y="0"/>
                      <a:pt x="282" y="0"/>
                    </a:cubicBezTo>
                    <a:cubicBezTo>
                      <a:pt x="127" y="0"/>
                      <a:pt x="0" y="127"/>
                      <a:pt x="0" y="283"/>
                    </a:cubicBezTo>
                    <a:cubicBezTo>
                      <a:pt x="0" y="678"/>
                      <a:pt x="0" y="1073"/>
                      <a:pt x="0" y="1468"/>
                    </a:cubicBezTo>
                    <a:cubicBezTo>
                      <a:pt x="0" y="1623"/>
                      <a:pt x="127" y="1750"/>
                      <a:pt x="282" y="1750"/>
                    </a:cubicBezTo>
                    <a:cubicBezTo>
                      <a:pt x="677" y="1750"/>
                      <a:pt x="1073" y="1750"/>
                      <a:pt x="1468" y="175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96" name="Group 95">
                <a:extLst>
                  <a:ext uri="{FF2B5EF4-FFF2-40B4-BE49-F238E27FC236}">
                    <a16:creationId xmlns:a16="http://schemas.microsoft.com/office/drawing/2014/main" id="{3D82FFB7-0312-222E-1217-256F77C99DCA}"/>
                  </a:ext>
                </a:extLst>
              </p:cNvPr>
              <p:cNvGrpSpPr/>
              <p:nvPr/>
            </p:nvGrpSpPr>
            <p:grpSpPr>
              <a:xfrm>
                <a:off x="10823810" y="5630428"/>
                <a:ext cx="452594" cy="408922"/>
                <a:chOff x="10823810" y="5630428"/>
                <a:chExt cx="452594" cy="408922"/>
              </a:xfrm>
            </p:grpSpPr>
            <p:sp>
              <p:nvSpPr>
                <p:cNvPr id="97" name="Freeform 293">
                  <a:extLst>
                    <a:ext uri="{FF2B5EF4-FFF2-40B4-BE49-F238E27FC236}">
                      <a16:creationId xmlns:a16="http://schemas.microsoft.com/office/drawing/2014/main" id="{ECA4BCC4-80FD-A6F5-4994-11F7CD2EC3E2}"/>
                    </a:ext>
                  </a:extLst>
                </p:cNvPr>
                <p:cNvSpPr>
                  <a:spLocks noChangeArrowheads="1"/>
                </p:cNvSpPr>
                <p:nvPr/>
              </p:nvSpPr>
              <p:spPr bwMode="auto">
                <a:xfrm>
                  <a:off x="10998495" y="5630428"/>
                  <a:ext cx="101239" cy="101237"/>
                </a:xfrm>
                <a:custGeom>
                  <a:avLst/>
                  <a:gdLst>
                    <a:gd name="T0" fmla="*/ 226 w 227"/>
                    <a:gd name="T1" fmla="*/ 113 h 227"/>
                    <a:gd name="T2" fmla="*/ 211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2" y="152"/>
                        <a:pt x="211" y="170"/>
                      </a:cubicBezTo>
                      <a:cubicBezTo>
                        <a:pt x="201" y="188"/>
                        <a:pt x="187" y="201"/>
                        <a:pt x="169" y="211"/>
                      </a:cubicBezTo>
                      <a:cubicBezTo>
                        <a:pt x="151" y="221"/>
                        <a:pt x="134" y="226"/>
                        <a:pt x="113" y="226"/>
                      </a:cubicBezTo>
                      <a:cubicBezTo>
                        <a:pt x="92" y="226"/>
                        <a:pt x="74" y="221"/>
                        <a:pt x="56" y="211"/>
                      </a:cubicBezTo>
                      <a:cubicBezTo>
                        <a:pt x="39" y="201"/>
                        <a:pt x="26" y="188"/>
                        <a:pt x="15" y="170"/>
                      </a:cubicBezTo>
                      <a:cubicBezTo>
                        <a:pt x="5" y="152"/>
                        <a:pt x="0" y="134"/>
                        <a:pt x="0" y="113"/>
                      </a:cubicBezTo>
                      <a:cubicBezTo>
                        <a:pt x="0" y="93"/>
                        <a:pt x="5" y="75"/>
                        <a:pt x="15" y="57"/>
                      </a:cubicBezTo>
                      <a:cubicBezTo>
                        <a:pt x="26" y="39"/>
                        <a:pt x="39" y="27"/>
                        <a:pt x="56" y="16"/>
                      </a:cubicBezTo>
                      <a:cubicBezTo>
                        <a:pt x="74" y="6"/>
                        <a:pt x="92" y="0"/>
                        <a:pt x="113" y="0"/>
                      </a:cubicBezTo>
                      <a:cubicBezTo>
                        <a:pt x="134" y="0"/>
                        <a:pt x="151" y="6"/>
                        <a:pt x="169" y="16"/>
                      </a:cubicBezTo>
                      <a:cubicBezTo>
                        <a:pt x="187" y="27"/>
                        <a:pt x="201" y="39"/>
                        <a:pt x="211" y="57"/>
                      </a:cubicBezTo>
                      <a:cubicBezTo>
                        <a:pt x="222" y="75"/>
                        <a:pt x="226" y="93"/>
                        <a:pt x="226" y="11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8" name="Freeform 294">
                  <a:extLst>
                    <a:ext uri="{FF2B5EF4-FFF2-40B4-BE49-F238E27FC236}">
                      <a16:creationId xmlns:a16="http://schemas.microsoft.com/office/drawing/2014/main" id="{10893DB7-F640-7139-9CD5-CAA579C492AD}"/>
                    </a:ext>
                  </a:extLst>
                </p:cNvPr>
                <p:cNvSpPr>
                  <a:spLocks noChangeArrowheads="1"/>
                </p:cNvSpPr>
                <p:nvPr/>
              </p:nvSpPr>
              <p:spPr bwMode="auto">
                <a:xfrm>
                  <a:off x="10950854" y="5731666"/>
                  <a:ext cx="198506" cy="77418"/>
                </a:xfrm>
                <a:custGeom>
                  <a:avLst/>
                  <a:gdLst>
                    <a:gd name="T0" fmla="*/ 438 w 439"/>
                    <a:gd name="T1" fmla="*/ 170 h 171"/>
                    <a:gd name="T2" fmla="*/ 219 w 439"/>
                    <a:gd name="T3" fmla="*/ 0 h 171"/>
                    <a:gd name="T4" fmla="*/ 0 w 439"/>
                    <a:gd name="T5" fmla="*/ 170 h 171"/>
                  </a:gdLst>
                  <a:ahLst/>
                  <a:cxnLst>
                    <a:cxn ang="0">
                      <a:pos x="T0" y="T1"/>
                    </a:cxn>
                    <a:cxn ang="0">
                      <a:pos x="T2" y="T3"/>
                    </a:cxn>
                    <a:cxn ang="0">
                      <a:pos x="T4" y="T5"/>
                    </a:cxn>
                  </a:cxnLst>
                  <a:rect l="0" t="0" r="r" b="b"/>
                  <a:pathLst>
                    <a:path w="439" h="171">
                      <a:moveTo>
                        <a:pt x="438" y="170"/>
                      </a:moveTo>
                      <a:cubicBezTo>
                        <a:pt x="413" y="72"/>
                        <a:pt x="324" y="0"/>
                        <a:pt x="219" y="0"/>
                      </a:cubicBezTo>
                      <a:cubicBezTo>
                        <a:pt x="114" y="0"/>
                        <a:pt x="25" y="72"/>
                        <a:pt x="0" y="17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9" name="Freeform 295">
                  <a:extLst>
                    <a:ext uri="{FF2B5EF4-FFF2-40B4-BE49-F238E27FC236}">
                      <a16:creationId xmlns:a16="http://schemas.microsoft.com/office/drawing/2014/main" id="{08B28815-16CF-D611-3373-AA33198DC123}"/>
                    </a:ext>
                  </a:extLst>
                </p:cNvPr>
                <p:cNvSpPr>
                  <a:spLocks noChangeArrowheads="1"/>
                </p:cNvSpPr>
                <p:nvPr/>
              </p:nvSpPr>
              <p:spPr bwMode="auto">
                <a:xfrm>
                  <a:off x="11125539" y="5858709"/>
                  <a:ext cx="101239" cy="101239"/>
                </a:xfrm>
                <a:custGeom>
                  <a:avLst/>
                  <a:gdLst>
                    <a:gd name="T0" fmla="*/ 226 w 227"/>
                    <a:gd name="T1" fmla="*/ 113 h 227"/>
                    <a:gd name="T2" fmla="*/ 211 w 227"/>
                    <a:gd name="T3" fmla="*/ 170 h 227"/>
                    <a:gd name="T4" fmla="*/ 170 w 227"/>
                    <a:gd name="T5" fmla="*/ 211 h 227"/>
                    <a:gd name="T6" fmla="*/ 113 w 227"/>
                    <a:gd name="T7" fmla="*/ 226 h 227"/>
                    <a:gd name="T8" fmla="*/ 57 w 227"/>
                    <a:gd name="T9" fmla="*/ 211 h 227"/>
                    <a:gd name="T10" fmla="*/ 15 w 227"/>
                    <a:gd name="T11" fmla="*/ 170 h 227"/>
                    <a:gd name="T12" fmla="*/ 0 w 227"/>
                    <a:gd name="T13" fmla="*/ 113 h 227"/>
                    <a:gd name="T14" fmla="*/ 15 w 227"/>
                    <a:gd name="T15" fmla="*/ 57 h 227"/>
                    <a:gd name="T16" fmla="*/ 57 w 227"/>
                    <a:gd name="T17" fmla="*/ 16 h 227"/>
                    <a:gd name="T18" fmla="*/ 113 w 227"/>
                    <a:gd name="T19" fmla="*/ 0 h 227"/>
                    <a:gd name="T20" fmla="*/ 170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1" y="170"/>
                      </a:cubicBezTo>
                      <a:cubicBezTo>
                        <a:pt x="201" y="188"/>
                        <a:pt x="188" y="201"/>
                        <a:pt x="170" y="211"/>
                      </a:cubicBezTo>
                      <a:cubicBezTo>
                        <a:pt x="152" y="221"/>
                        <a:pt x="134" y="226"/>
                        <a:pt x="113" y="226"/>
                      </a:cubicBezTo>
                      <a:cubicBezTo>
                        <a:pt x="92" y="226"/>
                        <a:pt x="75" y="221"/>
                        <a:pt x="57" y="211"/>
                      </a:cubicBezTo>
                      <a:cubicBezTo>
                        <a:pt x="39" y="201"/>
                        <a:pt x="26" y="188"/>
                        <a:pt x="15" y="170"/>
                      </a:cubicBezTo>
                      <a:cubicBezTo>
                        <a:pt x="5" y="152"/>
                        <a:pt x="0" y="134"/>
                        <a:pt x="0" y="113"/>
                      </a:cubicBezTo>
                      <a:cubicBezTo>
                        <a:pt x="0" y="92"/>
                        <a:pt x="5" y="75"/>
                        <a:pt x="15" y="57"/>
                      </a:cubicBezTo>
                      <a:cubicBezTo>
                        <a:pt x="26" y="39"/>
                        <a:pt x="39" y="27"/>
                        <a:pt x="57" y="16"/>
                      </a:cubicBezTo>
                      <a:cubicBezTo>
                        <a:pt x="75" y="6"/>
                        <a:pt x="92" y="0"/>
                        <a:pt x="113" y="0"/>
                      </a:cubicBezTo>
                      <a:cubicBezTo>
                        <a:pt x="134" y="0"/>
                        <a:pt x="152" y="6"/>
                        <a:pt x="170" y="16"/>
                      </a:cubicBezTo>
                      <a:cubicBezTo>
                        <a:pt x="188" y="27"/>
                        <a:pt x="201" y="39"/>
                        <a:pt x="211" y="57"/>
                      </a:cubicBezTo>
                      <a:cubicBezTo>
                        <a:pt x="221" y="75"/>
                        <a:pt x="226" y="92"/>
                        <a:pt x="226" y="11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0" name="Freeform 296">
                  <a:extLst>
                    <a:ext uri="{FF2B5EF4-FFF2-40B4-BE49-F238E27FC236}">
                      <a16:creationId xmlns:a16="http://schemas.microsoft.com/office/drawing/2014/main" id="{F5654AB3-FC67-90BB-F0FA-3D690ACE16D2}"/>
                    </a:ext>
                  </a:extLst>
                </p:cNvPr>
                <p:cNvSpPr>
                  <a:spLocks noChangeArrowheads="1"/>
                </p:cNvSpPr>
                <p:nvPr/>
              </p:nvSpPr>
              <p:spPr bwMode="auto">
                <a:xfrm>
                  <a:off x="11077898" y="5961932"/>
                  <a:ext cx="198506" cy="77418"/>
                </a:xfrm>
                <a:custGeom>
                  <a:avLst/>
                  <a:gdLst>
                    <a:gd name="T0" fmla="*/ 438 w 439"/>
                    <a:gd name="T1" fmla="*/ 169 h 170"/>
                    <a:gd name="T2" fmla="*/ 219 w 439"/>
                    <a:gd name="T3" fmla="*/ 0 h 170"/>
                    <a:gd name="T4" fmla="*/ 0 w 439"/>
                    <a:gd name="T5" fmla="*/ 169 h 170"/>
                  </a:gdLst>
                  <a:ahLst/>
                  <a:cxnLst>
                    <a:cxn ang="0">
                      <a:pos x="T0" y="T1"/>
                    </a:cxn>
                    <a:cxn ang="0">
                      <a:pos x="T2" y="T3"/>
                    </a:cxn>
                    <a:cxn ang="0">
                      <a:pos x="T4" y="T5"/>
                    </a:cxn>
                  </a:cxnLst>
                  <a:rect l="0" t="0" r="r" b="b"/>
                  <a:pathLst>
                    <a:path w="439" h="170">
                      <a:moveTo>
                        <a:pt x="438" y="169"/>
                      </a:moveTo>
                      <a:cubicBezTo>
                        <a:pt x="413" y="72"/>
                        <a:pt x="324" y="0"/>
                        <a:pt x="219" y="0"/>
                      </a:cubicBezTo>
                      <a:cubicBezTo>
                        <a:pt x="114" y="0"/>
                        <a:pt x="26" y="72"/>
                        <a:pt x="0" y="16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1" name="Freeform 297">
                  <a:extLst>
                    <a:ext uri="{FF2B5EF4-FFF2-40B4-BE49-F238E27FC236}">
                      <a16:creationId xmlns:a16="http://schemas.microsoft.com/office/drawing/2014/main" id="{A83C64C3-2372-0BEF-E76F-8C3FF9B1283E}"/>
                    </a:ext>
                  </a:extLst>
                </p:cNvPr>
                <p:cNvSpPr>
                  <a:spLocks noChangeArrowheads="1"/>
                </p:cNvSpPr>
                <p:nvPr/>
              </p:nvSpPr>
              <p:spPr bwMode="auto">
                <a:xfrm>
                  <a:off x="10871452" y="5858709"/>
                  <a:ext cx="101239" cy="101239"/>
                </a:xfrm>
                <a:custGeom>
                  <a:avLst/>
                  <a:gdLst>
                    <a:gd name="T0" fmla="*/ 226 w 227"/>
                    <a:gd name="T1" fmla="*/ 113 h 227"/>
                    <a:gd name="T2" fmla="*/ 210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0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0" y="170"/>
                      </a:cubicBezTo>
                      <a:cubicBezTo>
                        <a:pt x="200" y="188"/>
                        <a:pt x="187" y="201"/>
                        <a:pt x="169" y="211"/>
                      </a:cubicBezTo>
                      <a:cubicBezTo>
                        <a:pt x="151" y="221"/>
                        <a:pt x="134" y="226"/>
                        <a:pt x="113" y="226"/>
                      </a:cubicBezTo>
                      <a:cubicBezTo>
                        <a:pt x="92" y="226"/>
                        <a:pt x="74" y="221"/>
                        <a:pt x="56" y="211"/>
                      </a:cubicBezTo>
                      <a:cubicBezTo>
                        <a:pt x="38" y="201"/>
                        <a:pt x="25" y="188"/>
                        <a:pt x="15" y="170"/>
                      </a:cubicBezTo>
                      <a:cubicBezTo>
                        <a:pt x="5" y="152"/>
                        <a:pt x="0" y="134"/>
                        <a:pt x="0" y="113"/>
                      </a:cubicBezTo>
                      <a:cubicBezTo>
                        <a:pt x="0" y="92"/>
                        <a:pt x="5" y="75"/>
                        <a:pt x="15" y="57"/>
                      </a:cubicBezTo>
                      <a:cubicBezTo>
                        <a:pt x="25" y="39"/>
                        <a:pt x="38" y="27"/>
                        <a:pt x="56" y="16"/>
                      </a:cubicBezTo>
                      <a:cubicBezTo>
                        <a:pt x="74" y="6"/>
                        <a:pt x="92" y="0"/>
                        <a:pt x="113" y="0"/>
                      </a:cubicBezTo>
                      <a:cubicBezTo>
                        <a:pt x="134" y="0"/>
                        <a:pt x="151" y="6"/>
                        <a:pt x="169" y="16"/>
                      </a:cubicBezTo>
                      <a:cubicBezTo>
                        <a:pt x="187" y="27"/>
                        <a:pt x="200" y="39"/>
                        <a:pt x="210" y="57"/>
                      </a:cubicBezTo>
                      <a:cubicBezTo>
                        <a:pt x="221" y="75"/>
                        <a:pt x="226" y="92"/>
                        <a:pt x="226" y="11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2" name="Freeform 298">
                  <a:extLst>
                    <a:ext uri="{FF2B5EF4-FFF2-40B4-BE49-F238E27FC236}">
                      <a16:creationId xmlns:a16="http://schemas.microsoft.com/office/drawing/2014/main" id="{4E1F0E3A-132F-46E1-0F7A-7BF559B4B2DC}"/>
                    </a:ext>
                  </a:extLst>
                </p:cNvPr>
                <p:cNvSpPr>
                  <a:spLocks noChangeArrowheads="1"/>
                </p:cNvSpPr>
                <p:nvPr/>
              </p:nvSpPr>
              <p:spPr bwMode="auto">
                <a:xfrm>
                  <a:off x="10823810" y="5961932"/>
                  <a:ext cx="196521" cy="77418"/>
                </a:xfrm>
                <a:custGeom>
                  <a:avLst/>
                  <a:gdLst>
                    <a:gd name="T0" fmla="*/ 437 w 438"/>
                    <a:gd name="T1" fmla="*/ 169 h 170"/>
                    <a:gd name="T2" fmla="*/ 219 w 438"/>
                    <a:gd name="T3" fmla="*/ 0 h 170"/>
                    <a:gd name="T4" fmla="*/ 0 w 438"/>
                    <a:gd name="T5" fmla="*/ 169 h 170"/>
                  </a:gdLst>
                  <a:ahLst/>
                  <a:cxnLst>
                    <a:cxn ang="0">
                      <a:pos x="T0" y="T1"/>
                    </a:cxn>
                    <a:cxn ang="0">
                      <a:pos x="T2" y="T3"/>
                    </a:cxn>
                    <a:cxn ang="0">
                      <a:pos x="T4" y="T5"/>
                    </a:cxn>
                  </a:cxnLst>
                  <a:rect l="0" t="0" r="r" b="b"/>
                  <a:pathLst>
                    <a:path w="438" h="170">
                      <a:moveTo>
                        <a:pt x="437" y="169"/>
                      </a:moveTo>
                      <a:cubicBezTo>
                        <a:pt x="412" y="72"/>
                        <a:pt x="324" y="0"/>
                        <a:pt x="219" y="0"/>
                      </a:cubicBezTo>
                      <a:cubicBezTo>
                        <a:pt x="114" y="0"/>
                        <a:pt x="25" y="72"/>
                        <a:pt x="0" y="16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sp>
          <p:nvSpPr>
            <p:cNvPr id="103" name="TextBox 102">
              <a:extLst>
                <a:ext uri="{FF2B5EF4-FFF2-40B4-BE49-F238E27FC236}">
                  <a16:creationId xmlns:a16="http://schemas.microsoft.com/office/drawing/2014/main" id="{11E2D5B4-D11C-EDBF-082F-BBBA20864B65}"/>
                </a:ext>
              </a:extLst>
            </p:cNvPr>
            <p:cNvSpPr txBox="1"/>
            <p:nvPr/>
          </p:nvSpPr>
          <p:spPr>
            <a:xfrm>
              <a:off x="3198188" y="1823989"/>
              <a:ext cx="14302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Preparation</a:t>
              </a:r>
            </a:p>
          </p:txBody>
        </p:sp>
        <p:sp>
          <p:nvSpPr>
            <p:cNvPr id="104" name="Rounded Rectangle 103">
              <a:extLst>
                <a:ext uri="{FF2B5EF4-FFF2-40B4-BE49-F238E27FC236}">
                  <a16:creationId xmlns:a16="http://schemas.microsoft.com/office/drawing/2014/main" id="{CA92BA04-1C64-85D7-3D7C-166713E55425}"/>
                </a:ext>
              </a:extLst>
            </p:cNvPr>
            <p:cNvSpPr/>
            <p:nvPr/>
          </p:nvSpPr>
          <p:spPr>
            <a:xfrm>
              <a:off x="2015823" y="1362456"/>
              <a:ext cx="3891201" cy="1271016"/>
            </a:xfrm>
            <a:prstGeom prst="roundRect">
              <a:avLst/>
            </a:prstGeom>
            <a:noFill/>
            <a:ln w="34925" cap="rnd" cmpd="dbl">
              <a:solidFill>
                <a:schemeClr val="accent5">
                  <a:lumMod val="50000"/>
                </a:schemeClr>
              </a:solidFill>
              <a:prstDash val="lgDashDotDot"/>
              <a:extLst>
                <a:ext uri="{C807C97D-BFC1-408E-A445-0C87EB9F89A2}">
                  <ask:lineSketchStyleProps xmlns:ask="http://schemas.microsoft.com/office/drawing/2018/sketchyshapes" sd="981765707">
                    <a:custGeom>
                      <a:avLst/>
                      <a:gdLst>
                        <a:gd name="connsiteX0" fmla="*/ 0 w 3891201"/>
                        <a:gd name="connsiteY0" fmla="*/ 211840 h 1271016"/>
                        <a:gd name="connsiteX1" fmla="*/ 211840 w 3891201"/>
                        <a:gd name="connsiteY1" fmla="*/ 0 h 1271016"/>
                        <a:gd name="connsiteX2" fmla="*/ 789760 w 3891201"/>
                        <a:gd name="connsiteY2" fmla="*/ 0 h 1271016"/>
                        <a:gd name="connsiteX3" fmla="*/ 1437031 w 3891201"/>
                        <a:gd name="connsiteY3" fmla="*/ 0 h 1271016"/>
                        <a:gd name="connsiteX4" fmla="*/ 2084301 w 3891201"/>
                        <a:gd name="connsiteY4" fmla="*/ 0 h 1271016"/>
                        <a:gd name="connsiteX5" fmla="*/ 2592871 w 3891201"/>
                        <a:gd name="connsiteY5" fmla="*/ 0 h 1271016"/>
                        <a:gd name="connsiteX6" fmla="*/ 3066766 w 3891201"/>
                        <a:gd name="connsiteY6" fmla="*/ 0 h 1271016"/>
                        <a:gd name="connsiteX7" fmla="*/ 3679361 w 3891201"/>
                        <a:gd name="connsiteY7" fmla="*/ 0 h 1271016"/>
                        <a:gd name="connsiteX8" fmla="*/ 3891201 w 3891201"/>
                        <a:gd name="connsiteY8" fmla="*/ 211840 h 1271016"/>
                        <a:gd name="connsiteX9" fmla="*/ 3891201 w 3891201"/>
                        <a:gd name="connsiteY9" fmla="*/ 627035 h 1271016"/>
                        <a:gd name="connsiteX10" fmla="*/ 3891201 w 3891201"/>
                        <a:gd name="connsiteY10" fmla="*/ 1059176 h 1271016"/>
                        <a:gd name="connsiteX11" fmla="*/ 3679361 w 3891201"/>
                        <a:gd name="connsiteY11" fmla="*/ 1271016 h 1271016"/>
                        <a:gd name="connsiteX12" fmla="*/ 3066766 w 3891201"/>
                        <a:gd name="connsiteY12" fmla="*/ 1271016 h 1271016"/>
                        <a:gd name="connsiteX13" fmla="*/ 2523521 w 3891201"/>
                        <a:gd name="connsiteY13" fmla="*/ 1271016 h 1271016"/>
                        <a:gd name="connsiteX14" fmla="*/ 1910925 w 3891201"/>
                        <a:gd name="connsiteY14" fmla="*/ 1271016 h 1271016"/>
                        <a:gd name="connsiteX15" fmla="*/ 1263655 w 3891201"/>
                        <a:gd name="connsiteY15" fmla="*/ 1271016 h 1271016"/>
                        <a:gd name="connsiteX16" fmla="*/ 211840 w 3891201"/>
                        <a:gd name="connsiteY16" fmla="*/ 1271016 h 1271016"/>
                        <a:gd name="connsiteX17" fmla="*/ 0 w 3891201"/>
                        <a:gd name="connsiteY17" fmla="*/ 1059176 h 1271016"/>
                        <a:gd name="connsiteX18" fmla="*/ 0 w 3891201"/>
                        <a:gd name="connsiteY18" fmla="*/ 652455 h 1271016"/>
                        <a:gd name="connsiteX19" fmla="*/ 0 w 3891201"/>
                        <a:gd name="connsiteY19" fmla="*/ 211840 h 127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91201" h="1271016" extrusionOk="0">
                          <a:moveTo>
                            <a:pt x="0" y="211840"/>
                          </a:moveTo>
                          <a:cubicBezTo>
                            <a:pt x="-1724" y="97869"/>
                            <a:pt x="85073" y="-4035"/>
                            <a:pt x="211840" y="0"/>
                          </a:cubicBezTo>
                          <a:cubicBezTo>
                            <a:pt x="352813" y="-66347"/>
                            <a:pt x="644289" y="64141"/>
                            <a:pt x="789760" y="0"/>
                          </a:cubicBezTo>
                          <a:cubicBezTo>
                            <a:pt x="935231" y="-64141"/>
                            <a:pt x="1135764" y="36819"/>
                            <a:pt x="1437031" y="0"/>
                          </a:cubicBezTo>
                          <a:cubicBezTo>
                            <a:pt x="1738298" y="-36819"/>
                            <a:pt x="1919312" y="25"/>
                            <a:pt x="2084301" y="0"/>
                          </a:cubicBezTo>
                          <a:cubicBezTo>
                            <a:pt x="2249290" y="-25"/>
                            <a:pt x="2412211" y="24788"/>
                            <a:pt x="2592871" y="0"/>
                          </a:cubicBezTo>
                          <a:cubicBezTo>
                            <a:pt x="2773531" y="-24788"/>
                            <a:pt x="2963621" y="44805"/>
                            <a:pt x="3066766" y="0"/>
                          </a:cubicBezTo>
                          <a:cubicBezTo>
                            <a:pt x="3169912" y="-44805"/>
                            <a:pt x="3497062" y="44876"/>
                            <a:pt x="3679361" y="0"/>
                          </a:cubicBezTo>
                          <a:cubicBezTo>
                            <a:pt x="3821363" y="3626"/>
                            <a:pt x="3878954" y="89255"/>
                            <a:pt x="3891201" y="211840"/>
                          </a:cubicBezTo>
                          <a:cubicBezTo>
                            <a:pt x="3920093" y="301511"/>
                            <a:pt x="3842349" y="475407"/>
                            <a:pt x="3891201" y="627035"/>
                          </a:cubicBezTo>
                          <a:cubicBezTo>
                            <a:pt x="3940053" y="778664"/>
                            <a:pt x="3863357" y="934958"/>
                            <a:pt x="3891201" y="1059176"/>
                          </a:cubicBezTo>
                          <a:cubicBezTo>
                            <a:pt x="3868850" y="1182099"/>
                            <a:pt x="3789568" y="1249049"/>
                            <a:pt x="3679361" y="1271016"/>
                          </a:cubicBezTo>
                          <a:cubicBezTo>
                            <a:pt x="3519371" y="1276183"/>
                            <a:pt x="3229389" y="1233492"/>
                            <a:pt x="3066766" y="1271016"/>
                          </a:cubicBezTo>
                          <a:cubicBezTo>
                            <a:pt x="2904143" y="1308540"/>
                            <a:pt x="2785129" y="1263928"/>
                            <a:pt x="2523521" y="1271016"/>
                          </a:cubicBezTo>
                          <a:cubicBezTo>
                            <a:pt x="2261914" y="1278104"/>
                            <a:pt x="2153174" y="1239646"/>
                            <a:pt x="1910925" y="1271016"/>
                          </a:cubicBezTo>
                          <a:cubicBezTo>
                            <a:pt x="1668676" y="1302386"/>
                            <a:pt x="1513616" y="1267310"/>
                            <a:pt x="1263655" y="1271016"/>
                          </a:cubicBezTo>
                          <a:cubicBezTo>
                            <a:pt x="1013694" y="1274722"/>
                            <a:pt x="608536" y="1219037"/>
                            <a:pt x="211840" y="1271016"/>
                          </a:cubicBezTo>
                          <a:cubicBezTo>
                            <a:pt x="77910" y="1284644"/>
                            <a:pt x="25439" y="1186323"/>
                            <a:pt x="0" y="1059176"/>
                          </a:cubicBezTo>
                          <a:cubicBezTo>
                            <a:pt x="-36452" y="957017"/>
                            <a:pt x="48746" y="797152"/>
                            <a:pt x="0" y="652455"/>
                          </a:cubicBezTo>
                          <a:cubicBezTo>
                            <a:pt x="-48746" y="507758"/>
                            <a:pt x="1772" y="362414"/>
                            <a:pt x="0" y="21184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pic>
          <p:nvPicPr>
            <p:cNvPr id="113" name="Graphic 112" descr="Magnifying glass outline">
              <a:extLst>
                <a:ext uri="{FF2B5EF4-FFF2-40B4-BE49-F238E27FC236}">
                  <a16:creationId xmlns:a16="http://schemas.microsoft.com/office/drawing/2014/main" id="{111E5DBC-D316-6798-BB2C-F9244B9BF31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19069" y="2781829"/>
              <a:ext cx="280238" cy="280238"/>
            </a:xfrm>
            <a:prstGeom prst="rect">
              <a:avLst/>
            </a:prstGeom>
          </p:spPr>
        </p:pic>
        <p:sp>
          <p:nvSpPr>
            <p:cNvPr id="114" name="TextBox 113">
              <a:extLst>
                <a:ext uri="{FF2B5EF4-FFF2-40B4-BE49-F238E27FC236}">
                  <a16:creationId xmlns:a16="http://schemas.microsoft.com/office/drawing/2014/main" id="{365DC03A-6F71-C1F6-4F63-935A0AC1EBE4}"/>
                </a:ext>
              </a:extLst>
            </p:cNvPr>
            <p:cNvSpPr txBox="1"/>
            <p:nvPr/>
          </p:nvSpPr>
          <p:spPr>
            <a:xfrm>
              <a:off x="4759633" y="2811618"/>
              <a:ext cx="1925527"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Identify key stakeholders / resources</a:t>
              </a:r>
            </a:p>
          </p:txBody>
        </p:sp>
        <p:sp>
          <p:nvSpPr>
            <p:cNvPr id="115" name="TextBox 114">
              <a:extLst>
                <a:ext uri="{FF2B5EF4-FFF2-40B4-BE49-F238E27FC236}">
                  <a16:creationId xmlns:a16="http://schemas.microsoft.com/office/drawing/2014/main" id="{1CC6076C-EBE6-B8A9-8135-9394F4967B0D}"/>
                </a:ext>
              </a:extLst>
            </p:cNvPr>
            <p:cNvSpPr txBox="1"/>
            <p:nvPr/>
          </p:nvSpPr>
          <p:spPr>
            <a:xfrm>
              <a:off x="2167392" y="2804823"/>
              <a:ext cx="193193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Pre-workshop data gathering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Via tooling or customer catalogue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Decide initial assessment scope</a:t>
              </a:r>
            </a:p>
          </p:txBody>
        </p:sp>
        <p:pic>
          <p:nvPicPr>
            <p:cNvPr id="117" name="Graphic 116" descr="Pencil outline">
              <a:extLst>
                <a:ext uri="{FF2B5EF4-FFF2-40B4-BE49-F238E27FC236}">
                  <a16:creationId xmlns:a16="http://schemas.microsoft.com/office/drawing/2014/main" id="{4B2F9B5A-4E78-FCB8-F897-902F5A3713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98223" y="2790227"/>
              <a:ext cx="236835" cy="236835"/>
            </a:xfrm>
            <a:prstGeom prst="rect">
              <a:avLst/>
            </a:prstGeom>
          </p:spPr>
        </p:pic>
      </p:grpSp>
      <p:sp>
        <p:nvSpPr>
          <p:cNvPr id="118" name="Rounded Rectangle 117">
            <a:extLst>
              <a:ext uri="{FF2B5EF4-FFF2-40B4-BE49-F238E27FC236}">
                <a16:creationId xmlns:a16="http://schemas.microsoft.com/office/drawing/2014/main" id="{5EE35F6C-DC57-50D5-3B85-710579C4CDB3}"/>
              </a:ext>
            </a:extLst>
          </p:cNvPr>
          <p:cNvSpPr/>
          <p:nvPr/>
        </p:nvSpPr>
        <p:spPr>
          <a:xfrm>
            <a:off x="4943304" y="3604331"/>
            <a:ext cx="3891201" cy="1271016"/>
          </a:xfrm>
          <a:prstGeom prst="roundRect">
            <a:avLst/>
          </a:prstGeom>
          <a:noFill/>
          <a:ln w="34925" cap="rnd" cmpd="dbl">
            <a:solidFill>
              <a:srgbClr val="C00000"/>
            </a:solidFill>
            <a:prstDash val="lgDashDotDot"/>
            <a:extLst>
              <a:ext uri="{C807C97D-BFC1-408E-A445-0C87EB9F89A2}">
                <ask:lineSketchStyleProps xmlns:ask="http://schemas.microsoft.com/office/drawing/2018/sketchyshapes" sd="981765707">
                  <a:custGeom>
                    <a:avLst/>
                    <a:gdLst>
                      <a:gd name="connsiteX0" fmla="*/ 0 w 3891201"/>
                      <a:gd name="connsiteY0" fmla="*/ 211840 h 1271016"/>
                      <a:gd name="connsiteX1" fmla="*/ 211840 w 3891201"/>
                      <a:gd name="connsiteY1" fmla="*/ 0 h 1271016"/>
                      <a:gd name="connsiteX2" fmla="*/ 789760 w 3891201"/>
                      <a:gd name="connsiteY2" fmla="*/ 0 h 1271016"/>
                      <a:gd name="connsiteX3" fmla="*/ 1437031 w 3891201"/>
                      <a:gd name="connsiteY3" fmla="*/ 0 h 1271016"/>
                      <a:gd name="connsiteX4" fmla="*/ 2084301 w 3891201"/>
                      <a:gd name="connsiteY4" fmla="*/ 0 h 1271016"/>
                      <a:gd name="connsiteX5" fmla="*/ 2592871 w 3891201"/>
                      <a:gd name="connsiteY5" fmla="*/ 0 h 1271016"/>
                      <a:gd name="connsiteX6" fmla="*/ 3066766 w 3891201"/>
                      <a:gd name="connsiteY6" fmla="*/ 0 h 1271016"/>
                      <a:gd name="connsiteX7" fmla="*/ 3679361 w 3891201"/>
                      <a:gd name="connsiteY7" fmla="*/ 0 h 1271016"/>
                      <a:gd name="connsiteX8" fmla="*/ 3891201 w 3891201"/>
                      <a:gd name="connsiteY8" fmla="*/ 211840 h 1271016"/>
                      <a:gd name="connsiteX9" fmla="*/ 3891201 w 3891201"/>
                      <a:gd name="connsiteY9" fmla="*/ 627035 h 1271016"/>
                      <a:gd name="connsiteX10" fmla="*/ 3891201 w 3891201"/>
                      <a:gd name="connsiteY10" fmla="*/ 1059176 h 1271016"/>
                      <a:gd name="connsiteX11" fmla="*/ 3679361 w 3891201"/>
                      <a:gd name="connsiteY11" fmla="*/ 1271016 h 1271016"/>
                      <a:gd name="connsiteX12" fmla="*/ 3066766 w 3891201"/>
                      <a:gd name="connsiteY12" fmla="*/ 1271016 h 1271016"/>
                      <a:gd name="connsiteX13" fmla="*/ 2523521 w 3891201"/>
                      <a:gd name="connsiteY13" fmla="*/ 1271016 h 1271016"/>
                      <a:gd name="connsiteX14" fmla="*/ 1910925 w 3891201"/>
                      <a:gd name="connsiteY14" fmla="*/ 1271016 h 1271016"/>
                      <a:gd name="connsiteX15" fmla="*/ 1263655 w 3891201"/>
                      <a:gd name="connsiteY15" fmla="*/ 1271016 h 1271016"/>
                      <a:gd name="connsiteX16" fmla="*/ 211840 w 3891201"/>
                      <a:gd name="connsiteY16" fmla="*/ 1271016 h 1271016"/>
                      <a:gd name="connsiteX17" fmla="*/ 0 w 3891201"/>
                      <a:gd name="connsiteY17" fmla="*/ 1059176 h 1271016"/>
                      <a:gd name="connsiteX18" fmla="*/ 0 w 3891201"/>
                      <a:gd name="connsiteY18" fmla="*/ 652455 h 1271016"/>
                      <a:gd name="connsiteX19" fmla="*/ 0 w 3891201"/>
                      <a:gd name="connsiteY19" fmla="*/ 211840 h 127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91201" h="1271016" extrusionOk="0">
                        <a:moveTo>
                          <a:pt x="0" y="211840"/>
                        </a:moveTo>
                        <a:cubicBezTo>
                          <a:pt x="-1724" y="97869"/>
                          <a:pt x="85073" y="-4035"/>
                          <a:pt x="211840" y="0"/>
                        </a:cubicBezTo>
                        <a:cubicBezTo>
                          <a:pt x="352813" y="-66347"/>
                          <a:pt x="644289" y="64141"/>
                          <a:pt x="789760" y="0"/>
                        </a:cubicBezTo>
                        <a:cubicBezTo>
                          <a:pt x="935231" y="-64141"/>
                          <a:pt x="1135764" y="36819"/>
                          <a:pt x="1437031" y="0"/>
                        </a:cubicBezTo>
                        <a:cubicBezTo>
                          <a:pt x="1738298" y="-36819"/>
                          <a:pt x="1919312" y="25"/>
                          <a:pt x="2084301" y="0"/>
                        </a:cubicBezTo>
                        <a:cubicBezTo>
                          <a:pt x="2249290" y="-25"/>
                          <a:pt x="2412211" y="24788"/>
                          <a:pt x="2592871" y="0"/>
                        </a:cubicBezTo>
                        <a:cubicBezTo>
                          <a:pt x="2773531" y="-24788"/>
                          <a:pt x="2963621" y="44805"/>
                          <a:pt x="3066766" y="0"/>
                        </a:cubicBezTo>
                        <a:cubicBezTo>
                          <a:pt x="3169912" y="-44805"/>
                          <a:pt x="3497062" y="44876"/>
                          <a:pt x="3679361" y="0"/>
                        </a:cubicBezTo>
                        <a:cubicBezTo>
                          <a:pt x="3821363" y="3626"/>
                          <a:pt x="3878954" y="89255"/>
                          <a:pt x="3891201" y="211840"/>
                        </a:cubicBezTo>
                        <a:cubicBezTo>
                          <a:pt x="3920093" y="301511"/>
                          <a:pt x="3842349" y="475407"/>
                          <a:pt x="3891201" y="627035"/>
                        </a:cubicBezTo>
                        <a:cubicBezTo>
                          <a:pt x="3940053" y="778664"/>
                          <a:pt x="3863357" y="934958"/>
                          <a:pt x="3891201" y="1059176"/>
                        </a:cubicBezTo>
                        <a:cubicBezTo>
                          <a:pt x="3868850" y="1182099"/>
                          <a:pt x="3789568" y="1249049"/>
                          <a:pt x="3679361" y="1271016"/>
                        </a:cubicBezTo>
                        <a:cubicBezTo>
                          <a:pt x="3519371" y="1276183"/>
                          <a:pt x="3229389" y="1233492"/>
                          <a:pt x="3066766" y="1271016"/>
                        </a:cubicBezTo>
                        <a:cubicBezTo>
                          <a:pt x="2904143" y="1308540"/>
                          <a:pt x="2785129" y="1263928"/>
                          <a:pt x="2523521" y="1271016"/>
                        </a:cubicBezTo>
                        <a:cubicBezTo>
                          <a:pt x="2261914" y="1278104"/>
                          <a:pt x="2153174" y="1239646"/>
                          <a:pt x="1910925" y="1271016"/>
                        </a:cubicBezTo>
                        <a:cubicBezTo>
                          <a:pt x="1668676" y="1302386"/>
                          <a:pt x="1513616" y="1267310"/>
                          <a:pt x="1263655" y="1271016"/>
                        </a:cubicBezTo>
                        <a:cubicBezTo>
                          <a:pt x="1013694" y="1274722"/>
                          <a:pt x="608536" y="1219037"/>
                          <a:pt x="211840" y="1271016"/>
                        </a:cubicBezTo>
                        <a:cubicBezTo>
                          <a:pt x="77910" y="1284644"/>
                          <a:pt x="25439" y="1186323"/>
                          <a:pt x="0" y="1059176"/>
                        </a:cubicBezTo>
                        <a:cubicBezTo>
                          <a:pt x="-36452" y="957017"/>
                          <a:pt x="48746" y="797152"/>
                          <a:pt x="0" y="652455"/>
                        </a:cubicBezTo>
                        <a:cubicBezTo>
                          <a:pt x="-48746" y="507758"/>
                          <a:pt x="1772" y="362414"/>
                          <a:pt x="0" y="21184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grpSp>
        <p:nvGrpSpPr>
          <p:cNvPr id="119" name="Group 118">
            <a:extLst>
              <a:ext uri="{FF2B5EF4-FFF2-40B4-BE49-F238E27FC236}">
                <a16:creationId xmlns:a16="http://schemas.microsoft.com/office/drawing/2014/main" id="{9D7BB10A-51B0-3A76-17EC-564302F3E8A6}"/>
              </a:ext>
            </a:extLst>
          </p:cNvPr>
          <p:cNvGrpSpPr>
            <a:grpSpLocks noChangeAspect="1"/>
          </p:cNvGrpSpPr>
          <p:nvPr/>
        </p:nvGrpSpPr>
        <p:grpSpPr>
          <a:xfrm>
            <a:off x="5224072" y="3846181"/>
            <a:ext cx="787315" cy="787316"/>
            <a:chOff x="1015206" y="5351463"/>
            <a:chExt cx="747712" cy="747713"/>
          </a:xfrm>
        </p:grpSpPr>
        <p:sp>
          <p:nvSpPr>
            <p:cNvPr id="120" name="Freeform 236">
              <a:extLst>
                <a:ext uri="{FF2B5EF4-FFF2-40B4-BE49-F238E27FC236}">
                  <a16:creationId xmlns:a16="http://schemas.microsoft.com/office/drawing/2014/main" id="{B0627616-4DD4-FFD1-8B40-F31A0E375428}"/>
                </a:ext>
              </a:extLst>
            </p:cNvPr>
            <p:cNvSpPr>
              <a:spLocks noChangeArrowheads="1"/>
            </p:cNvSpPr>
            <p:nvPr/>
          </p:nvSpPr>
          <p:spPr bwMode="auto">
            <a:xfrm>
              <a:off x="1015206" y="5351463"/>
              <a:ext cx="747712" cy="747713"/>
            </a:xfrm>
            <a:custGeom>
              <a:avLst/>
              <a:gdLst>
                <a:gd name="T0" fmla="*/ 1743 w 2079"/>
                <a:gd name="T1" fmla="*/ 2078 h 2079"/>
                <a:gd name="T2" fmla="*/ 2078 w 2079"/>
                <a:gd name="T3" fmla="*/ 1743 h 2079"/>
                <a:gd name="T4" fmla="*/ 2078 w 2079"/>
                <a:gd name="T5" fmla="*/ 335 h 2079"/>
                <a:gd name="T6" fmla="*/ 1743 w 2079"/>
                <a:gd name="T7" fmla="*/ 0 h 2079"/>
                <a:gd name="T8" fmla="*/ 335 w 2079"/>
                <a:gd name="T9" fmla="*/ 0 h 2079"/>
                <a:gd name="T10" fmla="*/ 0 w 2079"/>
                <a:gd name="T11" fmla="*/ 335 h 2079"/>
                <a:gd name="T12" fmla="*/ 0 w 2079"/>
                <a:gd name="T13" fmla="*/ 1743 h 2079"/>
                <a:gd name="T14" fmla="*/ 335 w 2079"/>
                <a:gd name="T15" fmla="*/ 2078 h 2079"/>
                <a:gd name="T16" fmla="*/ 1743 w 2079"/>
                <a:gd name="T17" fmla="*/ 2078 h 20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79" h="2079">
                  <a:moveTo>
                    <a:pt x="1743" y="2078"/>
                  </a:moveTo>
                  <a:cubicBezTo>
                    <a:pt x="1927" y="2078"/>
                    <a:pt x="2078" y="1928"/>
                    <a:pt x="2078" y="1743"/>
                  </a:cubicBezTo>
                  <a:cubicBezTo>
                    <a:pt x="2078" y="1274"/>
                    <a:pt x="2078" y="804"/>
                    <a:pt x="2078" y="335"/>
                  </a:cubicBezTo>
                  <a:cubicBezTo>
                    <a:pt x="2078" y="151"/>
                    <a:pt x="1927" y="0"/>
                    <a:pt x="1743" y="0"/>
                  </a:cubicBezTo>
                  <a:cubicBezTo>
                    <a:pt x="1274" y="0"/>
                    <a:pt x="804" y="0"/>
                    <a:pt x="335" y="0"/>
                  </a:cubicBezTo>
                  <a:cubicBezTo>
                    <a:pt x="151" y="0"/>
                    <a:pt x="0" y="151"/>
                    <a:pt x="0" y="335"/>
                  </a:cubicBezTo>
                  <a:cubicBezTo>
                    <a:pt x="0" y="804"/>
                    <a:pt x="0" y="1274"/>
                    <a:pt x="0" y="1743"/>
                  </a:cubicBezTo>
                  <a:cubicBezTo>
                    <a:pt x="0" y="1928"/>
                    <a:pt x="151" y="2078"/>
                    <a:pt x="335" y="2078"/>
                  </a:cubicBezTo>
                  <a:cubicBezTo>
                    <a:pt x="804" y="2078"/>
                    <a:pt x="1274" y="2078"/>
                    <a:pt x="1743" y="207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21" name="Group 120">
              <a:extLst>
                <a:ext uri="{FF2B5EF4-FFF2-40B4-BE49-F238E27FC236}">
                  <a16:creationId xmlns:a16="http://schemas.microsoft.com/office/drawing/2014/main" id="{90A49EAC-8FF0-9C54-4472-8EE9169B1525}"/>
                </a:ext>
              </a:extLst>
            </p:cNvPr>
            <p:cNvGrpSpPr/>
            <p:nvPr/>
          </p:nvGrpSpPr>
          <p:grpSpPr>
            <a:xfrm>
              <a:off x="1124743" y="5461001"/>
              <a:ext cx="619125" cy="619125"/>
              <a:chOff x="1124743" y="5461001"/>
              <a:chExt cx="619125" cy="619125"/>
            </a:xfrm>
          </p:grpSpPr>
          <p:sp>
            <p:nvSpPr>
              <p:cNvPr id="122" name="Freeform 234">
                <a:extLst>
                  <a:ext uri="{FF2B5EF4-FFF2-40B4-BE49-F238E27FC236}">
                    <a16:creationId xmlns:a16="http://schemas.microsoft.com/office/drawing/2014/main" id="{C03DA7F0-7C01-4CD3-FFE2-EA31DBB50C2A}"/>
                  </a:ext>
                </a:extLst>
              </p:cNvPr>
              <p:cNvSpPr>
                <a:spLocks noChangeArrowheads="1"/>
              </p:cNvSpPr>
              <p:nvPr/>
            </p:nvSpPr>
            <p:spPr bwMode="auto">
              <a:xfrm>
                <a:off x="1256506" y="5592763"/>
                <a:ext cx="266700" cy="266700"/>
              </a:xfrm>
              <a:custGeom>
                <a:avLst/>
                <a:gdLst>
                  <a:gd name="T0" fmla="*/ 273 w 739"/>
                  <a:gd name="T1" fmla="*/ 138 h 739"/>
                  <a:gd name="T2" fmla="*/ 310 w 739"/>
                  <a:gd name="T3" fmla="*/ 82 h 739"/>
                  <a:gd name="T4" fmla="*/ 310 w 739"/>
                  <a:gd name="T5" fmla="*/ 60 h 739"/>
                  <a:gd name="T6" fmla="*/ 369 w 739"/>
                  <a:gd name="T7" fmla="*/ 0 h 739"/>
                  <a:gd name="T8" fmla="*/ 428 w 739"/>
                  <a:gd name="T9" fmla="*/ 60 h 739"/>
                  <a:gd name="T10" fmla="*/ 428 w 739"/>
                  <a:gd name="T11" fmla="*/ 82 h 739"/>
                  <a:gd name="T12" fmla="*/ 465 w 739"/>
                  <a:gd name="T13" fmla="*/ 138 h 739"/>
                  <a:gd name="T14" fmla="*/ 530 w 739"/>
                  <a:gd name="T15" fmla="*/ 125 h 739"/>
                  <a:gd name="T16" fmla="*/ 546 w 739"/>
                  <a:gd name="T17" fmla="*/ 109 h 739"/>
                  <a:gd name="T18" fmla="*/ 630 w 739"/>
                  <a:gd name="T19" fmla="*/ 108 h 739"/>
                  <a:gd name="T20" fmla="*/ 630 w 739"/>
                  <a:gd name="T21" fmla="*/ 192 h 739"/>
                  <a:gd name="T22" fmla="*/ 614 w 739"/>
                  <a:gd name="T23" fmla="*/ 208 h 739"/>
                  <a:gd name="T24" fmla="*/ 601 w 739"/>
                  <a:gd name="T25" fmla="*/ 273 h 739"/>
                  <a:gd name="T26" fmla="*/ 656 w 739"/>
                  <a:gd name="T27" fmla="*/ 310 h 739"/>
                  <a:gd name="T28" fmla="*/ 679 w 739"/>
                  <a:gd name="T29" fmla="*/ 310 h 739"/>
                  <a:gd name="T30" fmla="*/ 738 w 739"/>
                  <a:gd name="T31" fmla="*/ 369 h 739"/>
                  <a:gd name="T32" fmla="*/ 679 w 739"/>
                  <a:gd name="T33" fmla="*/ 428 h 739"/>
                  <a:gd name="T34" fmla="*/ 656 w 739"/>
                  <a:gd name="T35" fmla="*/ 428 h 739"/>
                  <a:gd name="T36" fmla="*/ 601 w 739"/>
                  <a:gd name="T37" fmla="*/ 465 h 739"/>
                  <a:gd name="T38" fmla="*/ 614 w 739"/>
                  <a:gd name="T39" fmla="*/ 530 h 739"/>
                  <a:gd name="T40" fmla="*/ 630 w 739"/>
                  <a:gd name="T41" fmla="*/ 547 h 739"/>
                  <a:gd name="T42" fmla="*/ 630 w 739"/>
                  <a:gd name="T43" fmla="*/ 630 h 739"/>
                  <a:gd name="T44" fmla="*/ 546 w 739"/>
                  <a:gd name="T45" fmla="*/ 630 h 739"/>
                  <a:gd name="T46" fmla="*/ 530 w 739"/>
                  <a:gd name="T47" fmla="*/ 614 h 739"/>
                  <a:gd name="T48" fmla="*/ 465 w 739"/>
                  <a:gd name="T49" fmla="*/ 601 h 739"/>
                  <a:gd name="T50" fmla="*/ 428 w 739"/>
                  <a:gd name="T51" fmla="*/ 656 h 739"/>
                  <a:gd name="T52" fmla="*/ 428 w 739"/>
                  <a:gd name="T53" fmla="*/ 679 h 739"/>
                  <a:gd name="T54" fmla="*/ 369 w 739"/>
                  <a:gd name="T55" fmla="*/ 738 h 739"/>
                  <a:gd name="T56" fmla="*/ 310 w 739"/>
                  <a:gd name="T57" fmla="*/ 679 h 739"/>
                  <a:gd name="T58" fmla="*/ 310 w 739"/>
                  <a:gd name="T59" fmla="*/ 656 h 739"/>
                  <a:gd name="T60" fmla="*/ 273 w 739"/>
                  <a:gd name="T61" fmla="*/ 601 h 739"/>
                  <a:gd name="T62" fmla="*/ 208 w 739"/>
                  <a:gd name="T63" fmla="*/ 614 h 739"/>
                  <a:gd name="T64" fmla="*/ 192 w 739"/>
                  <a:gd name="T65" fmla="*/ 630 h 739"/>
                  <a:gd name="T66" fmla="*/ 108 w 739"/>
                  <a:gd name="T67" fmla="*/ 630 h 739"/>
                  <a:gd name="T68" fmla="*/ 108 w 739"/>
                  <a:gd name="T69" fmla="*/ 547 h 739"/>
                  <a:gd name="T70" fmla="*/ 124 w 739"/>
                  <a:gd name="T71" fmla="*/ 530 h 739"/>
                  <a:gd name="T72" fmla="*/ 137 w 739"/>
                  <a:gd name="T73" fmla="*/ 465 h 739"/>
                  <a:gd name="T74" fmla="*/ 82 w 739"/>
                  <a:gd name="T75" fmla="*/ 428 h 739"/>
                  <a:gd name="T76" fmla="*/ 59 w 739"/>
                  <a:gd name="T77" fmla="*/ 428 h 739"/>
                  <a:gd name="T78" fmla="*/ 0 w 739"/>
                  <a:gd name="T79" fmla="*/ 369 h 739"/>
                  <a:gd name="T80" fmla="*/ 59 w 739"/>
                  <a:gd name="T81" fmla="*/ 310 h 739"/>
                  <a:gd name="T82" fmla="*/ 82 w 739"/>
                  <a:gd name="T83" fmla="*/ 310 h 739"/>
                  <a:gd name="T84" fmla="*/ 137 w 739"/>
                  <a:gd name="T85" fmla="*/ 273 h 739"/>
                  <a:gd name="T86" fmla="*/ 124 w 739"/>
                  <a:gd name="T87" fmla="*/ 208 h 739"/>
                  <a:gd name="T88" fmla="*/ 108 w 739"/>
                  <a:gd name="T89" fmla="*/ 192 h 739"/>
                  <a:gd name="T90" fmla="*/ 108 w 739"/>
                  <a:gd name="T91" fmla="*/ 108 h 739"/>
                  <a:gd name="T92" fmla="*/ 192 w 739"/>
                  <a:gd name="T93" fmla="*/ 109 h 739"/>
                  <a:gd name="T94" fmla="*/ 208 w 739"/>
                  <a:gd name="T95" fmla="*/ 125 h 739"/>
                  <a:gd name="T96" fmla="*/ 273 w 739"/>
                  <a:gd name="T97" fmla="*/ 138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39" h="739">
                    <a:moveTo>
                      <a:pt x="273" y="138"/>
                    </a:moveTo>
                    <a:cubicBezTo>
                      <a:pt x="295" y="128"/>
                      <a:pt x="310" y="106"/>
                      <a:pt x="310" y="82"/>
                    </a:cubicBezTo>
                    <a:cubicBezTo>
                      <a:pt x="310" y="75"/>
                      <a:pt x="310" y="67"/>
                      <a:pt x="310" y="60"/>
                    </a:cubicBezTo>
                    <a:cubicBezTo>
                      <a:pt x="310" y="27"/>
                      <a:pt x="336" y="0"/>
                      <a:pt x="369" y="0"/>
                    </a:cubicBezTo>
                    <a:cubicBezTo>
                      <a:pt x="402" y="0"/>
                      <a:pt x="428" y="27"/>
                      <a:pt x="428" y="60"/>
                    </a:cubicBezTo>
                    <a:cubicBezTo>
                      <a:pt x="428" y="67"/>
                      <a:pt x="428" y="75"/>
                      <a:pt x="428" y="82"/>
                    </a:cubicBezTo>
                    <a:cubicBezTo>
                      <a:pt x="428" y="106"/>
                      <a:pt x="443" y="128"/>
                      <a:pt x="465" y="138"/>
                    </a:cubicBezTo>
                    <a:cubicBezTo>
                      <a:pt x="487" y="147"/>
                      <a:pt x="513" y="142"/>
                      <a:pt x="530" y="125"/>
                    </a:cubicBezTo>
                    <a:cubicBezTo>
                      <a:pt x="535" y="120"/>
                      <a:pt x="541" y="114"/>
                      <a:pt x="546" y="109"/>
                    </a:cubicBezTo>
                    <a:cubicBezTo>
                      <a:pt x="569" y="85"/>
                      <a:pt x="607" y="85"/>
                      <a:pt x="630" y="108"/>
                    </a:cubicBezTo>
                    <a:cubicBezTo>
                      <a:pt x="653" y="132"/>
                      <a:pt x="653" y="169"/>
                      <a:pt x="630" y="192"/>
                    </a:cubicBezTo>
                    <a:cubicBezTo>
                      <a:pt x="625" y="197"/>
                      <a:pt x="619" y="203"/>
                      <a:pt x="614" y="208"/>
                    </a:cubicBezTo>
                    <a:cubicBezTo>
                      <a:pt x="596" y="225"/>
                      <a:pt x="591" y="251"/>
                      <a:pt x="601" y="273"/>
                    </a:cubicBezTo>
                    <a:cubicBezTo>
                      <a:pt x="610" y="296"/>
                      <a:pt x="632" y="310"/>
                      <a:pt x="656" y="310"/>
                    </a:cubicBezTo>
                    <a:cubicBezTo>
                      <a:pt x="664" y="310"/>
                      <a:pt x="671" y="310"/>
                      <a:pt x="679" y="310"/>
                    </a:cubicBezTo>
                    <a:cubicBezTo>
                      <a:pt x="711" y="310"/>
                      <a:pt x="738" y="337"/>
                      <a:pt x="738" y="369"/>
                    </a:cubicBezTo>
                    <a:cubicBezTo>
                      <a:pt x="738" y="402"/>
                      <a:pt x="711" y="428"/>
                      <a:pt x="679" y="428"/>
                    </a:cubicBezTo>
                    <a:cubicBezTo>
                      <a:pt x="671" y="428"/>
                      <a:pt x="664" y="428"/>
                      <a:pt x="656" y="428"/>
                    </a:cubicBezTo>
                    <a:cubicBezTo>
                      <a:pt x="632" y="428"/>
                      <a:pt x="610" y="443"/>
                      <a:pt x="601" y="465"/>
                    </a:cubicBezTo>
                    <a:cubicBezTo>
                      <a:pt x="591" y="488"/>
                      <a:pt x="596" y="513"/>
                      <a:pt x="614" y="530"/>
                    </a:cubicBezTo>
                    <a:cubicBezTo>
                      <a:pt x="619" y="536"/>
                      <a:pt x="625" y="541"/>
                      <a:pt x="630" y="547"/>
                    </a:cubicBezTo>
                    <a:cubicBezTo>
                      <a:pt x="653" y="570"/>
                      <a:pt x="653" y="607"/>
                      <a:pt x="630" y="630"/>
                    </a:cubicBezTo>
                    <a:cubicBezTo>
                      <a:pt x="607" y="653"/>
                      <a:pt x="569" y="653"/>
                      <a:pt x="546" y="630"/>
                    </a:cubicBezTo>
                    <a:cubicBezTo>
                      <a:pt x="541" y="625"/>
                      <a:pt x="535" y="619"/>
                      <a:pt x="530" y="614"/>
                    </a:cubicBezTo>
                    <a:cubicBezTo>
                      <a:pt x="513" y="597"/>
                      <a:pt x="487" y="592"/>
                      <a:pt x="465" y="601"/>
                    </a:cubicBezTo>
                    <a:cubicBezTo>
                      <a:pt x="443" y="610"/>
                      <a:pt x="428" y="632"/>
                      <a:pt x="428" y="656"/>
                    </a:cubicBezTo>
                    <a:cubicBezTo>
                      <a:pt x="428" y="664"/>
                      <a:pt x="428" y="671"/>
                      <a:pt x="428" y="679"/>
                    </a:cubicBezTo>
                    <a:cubicBezTo>
                      <a:pt x="428" y="712"/>
                      <a:pt x="402" y="738"/>
                      <a:pt x="369" y="738"/>
                    </a:cubicBezTo>
                    <a:cubicBezTo>
                      <a:pt x="336" y="738"/>
                      <a:pt x="310" y="712"/>
                      <a:pt x="310" y="679"/>
                    </a:cubicBezTo>
                    <a:cubicBezTo>
                      <a:pt x="310" y="671"/>
                      <a:pt x="310" y="664"/>
                      <a:pt x="310" y="656"/>
                    </a:cubicBezTo>
                    <a:cubicBezTo>
                      <a:pt x="310" y="632"/>
                      <a:pt x="295" y="610"/>
                      <a:pt x="273" y="601"/>
                    </a:cubicBezTo>
                    <a:cubicBezTo>
                      <a:pt x="251" y="592"/>
                      <a:pt x="225" y="597"/>
                      <a:pt x="208" y="614"/>
                    </a:cubicBezTo>
                    <a:cubicBezTo>
                      <a:pt x="203" y="619"/>
                      <a:pt x="197" y="625"/>
                      <a:pt x="192" y="630"/>
                    </a:cubicBezTo>
                    <a:cubicBezTo>
                      <a:pt x="169" y="653"/>
                      <a:pt x="131" y="653"/>
                      <a:pt x="108" y="630"/>
                    </a:cubicBezTo>
                    <a:cubicBezTo>
                      <a:pt x="85" y="607"/>
                      <a:pt x="85" y="570"/>
                      <a:pt x="108" y="547"/>
                    </a:cubicBezTo>
                    <a:cubicBezTo>
                      <a:pt x="113" y="541"/>
                      <a:pt x="119" y="536"/>
                      <a:pt x="124" y="530"/>
                    </a:cubicBezTo>
                    <a:cubicBezTo>
                      <a:pt x="142" y="513"/>
                      <a:pt x="147" y="488"/>
                      <a:pt x="137" y="465"/>
                    </a:cubicBezTo>
                    <a:cubicBezTo>
                      <a:pt x="128" y="443"/>
                      <a:pt x="106" y="428"/>
                      <a:pt x="82" y="428"/>
                    </a:cubicBezTo>
                    <a:cubicBezTo>
                      <a:pt x="74" y="428"/>
                      <a:pt x="67" y="428"/>
                      <a:pt x="59" y="428"/>
                    </a:cubicBezTo>
                    <a:cubicBezTo>
                      <a:pt x="27" y="428"/>
                      <a:pt x="0" y="402"/>
                      <a:pt x="0" y="369"/>
                    </a:cubicBezTo>
                    <a:cubicBezTo>
                      <a:pt x="0" y="337"/>
                      <a:pt x="27" y="310"/>
                      <a:pt x="59" y="310"/>
                    </a:cubicBezTo>
                    <a:cubicBezTo>
                      <a:pt x="67" y="310"/>
                      <a:pt x="74" y="310"/>
                      <a:pt x="82" y="310"/>
                    </a:cubicBezTo>
                    <a:cubicBezTo>
                      <a:pt x="106" y="310"/>
                      <a:pt x="128" y="296"/>
                      <a:pt x="137" y="273"/>
                    </a:cubicBezTo>
                    <a:cubicBezTo>
                      <a:pt x="147" y="251"/>
                      <a:pt x="142" y="225"/>
                      <a:pt x="124" y="208"/>
                    </a:cubicBezTo>
                    <a:cubicBezTo>
                      <a:pt x="119" y="203"/>
                      <a:pt x="113" y="197"/>
                      <a:pt x="108" y="192"/>
                    </a:cubicBezTo>
                    <a:cubicBezTo>
                      <a:pt x="85" y="169"/>
                      <a:pt x="85" y="132"/>
                      <a:pt x="108" y="108"/>
                    </a:cubicBezTo>
                    <a:cubicBezTo>
                      <a:pt x="131" y="85"/>
                      <a:pt x="169" y="85"/>
                      <a:pt x="192" y="109"/>
                    </a:cubicBezTo>
                    <a:cubicBezTo>
                      <a:pt x="197" y="114"/>
                      <a:pt x="203" y="120"/>
                      <a:pt x="208" y="125"/>
                    </a:cubicBezTo>
                    <a:cubicBezTo>
                      <a:pt x="225" y="142"/>
                      <a:pt x="251" y="147"/>
                      <a:pt x="273" y="13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3" name="Freeform 235">
                <a:extLst>
                  <a:ext uri="{FF2B5EF4-FFF2-40B4-BE49-F238E27FC236}">
                    <a16:creationId xmlns:a16="http://schemas.microsoft.com/office/drawing/2014/main" id="{E5C73904-25D6-53D8-95B6-8F54CAC0CD4A}"/>
                  </a:ext>
                </a:extLst>
              </p:cNvPr>
              <p:cNvSpPr>
                <a:spLocks noChangeArrowheads="1"/>
              </p:cNvSpPr>
              <p:nvPr/>
            </p:nvSpPr>
            <p:spPr bwMode="auto">
              <a:xfrm>
                <a:off x="1353343" y="5689601"/>
                <a:ext cx="73025" cy="73025"/>
              </a:xfrm>
              <a:custGeom>
                <a:avLst/>
                <a:gdLst>
                  <a:gd name="T0" fmla="*/ 202 w 203"/>
                  <a:gd name="T1" fmla="*/ 100 h 202"/>
                  <a:gd name="T2" fmla="*/ 188 w 203"/>
                  <a:gd name="T3" fmla="*/ 151 h 202"/>
                  <a:gd name="T4" fmla="*/ 151 w 203"/>
                  <a:gd name="T5" fmla="*/ 187 h 202"/>
                  <a:gd name="T6" fmla="*/ 101 w 203"/>
                  <a:gd name="T7" fmla="*/ 201 h 202"/>
                  <a:gd name="T8" fmla="*/ 51 w 203"/>
                  <a:gd name="T9" fmla="*/ 187 h 202"/>
                  <a:gd name="T10" fmla="*/ 14 w 203"/>
                  <a:gd name="T11" fmla="*/ 151 h 202"/>
                  <a:gd name="T12" fmla="*/ 0 w 203"/>
                  <a:gd name="T13" fmla="*/ 100 h 202"/>
                  <a:gd name="T14" fmla="*/ 14 w 203"/>
                  <a:gd name="T15" fmla="*/ 50 h 202"/>
                  <a:gd name="T16" fmla="*/ 51 w 203"/>
                  <a:gd name="T17" fmla="*/ 13 h 202"/>
                  <a:gd name="T18" fmla="*/ 101 w 203"/>
                  <a:gd name="T19" fmla="*/ 0 h 202"/>
                  <a:gd name="T20" fmla="*/ 151 w 203"/>
                  <a:gd name="T21" fmla="*/ 13 h 202"/>
                  <a:gd name="T22" fmla="*/ 188 w 203"/>
                  <a:gd name="T23" fmla="*/ 50 h 202"/>
                  <a:gd name="T24" fmla="*/ 202 w 203"/>
                  <a:gd name="T25" fmla="*/ 10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3" h="202">
                    <a:moveTo>
                      <a:pt x="202" y="100"/>
                    </a:moveTo>
                    <a:cubicBezTo>
                      <a:pt x="202" y="119"/>
                      <a:pt x="197" y="135"/>
                      <a:pt x="188" y="151"/>
                    </a:cubicBezTo>
                    <a:cubicBezTo>
                      <a:pt x="179" y="168"/>
                      <a:pt x="167" y="178"/>
                      <a:pt x="151" y="187"/>
                    </a:cubicBezTo>
                    <a:cubicBezTo>
                      <a:pt x="135" y="197"/>
                      <a:pt x="119" y="201"/>
                      <a:pt x="101" y="201"/>
                    </a:cubicBezTo>
                    <a:cubicBezTo>
                      <a:pt x="82" y="201"/>
                      <a:pt x="67" y="197"/>
                      <a:pt x="51" y="187"/>
                    </a:cubicBezTo>
                    <a:cubicBezTo>
                      <a:pt x="35" y="178"/>
                      <a:pt x="23" y="168"/>
                      <a:pt x="14" y="151"/>
                    </a:cubicBezTo>
                    <a:cubicBezTo>
                      <a:pt x="5" y="135"/>
                      <a:pt x="0" y="119"/>
                      <a:pt x="0" y="100"/>
                    </a:cubicBezTo>
                    <a:cubicBezTo>
                      <a:pt x="0" y="82"/>
                      <a:pt x="5" y="66"/>
                      <a:pt x="14" y="50"/>
                    </a:cubicBezTo>
                    <a:cubicBezTo>
                      <a:pt x="23" y="34"/>
                      <a:pt x="35" y="22"/>
                      <a:pt x="51" y="13"/>
                    </a:cubicBezTo>
                    <a:cubicBezTo>
                      <a:pt x="67" y="4"/>
                      <a:pt x="83" y="0"/>
                      <a:pt x="101" y="0"/>
                    </a:cubicBezTo>
                    <a:cubicBezTo>
                      <a:pt x="120" y="0"/>
                      <a:pt x="135" y="4"/>
                      <a:pt x="151" y="13"/>
                    </a:cubicBezTo>
                    <a:cubicBezTo>
                      <a:pt x="167" y="22"/>
                      <a:pt x="179" y="34"/>
                      <a:pt x="188" y="50"/>
                    </a:cubicBezTo>
                    <a:cubicBezTo>
                      <a:pt x="197" y="66"/>
                      <a:pt x="202" y="82"/>
                      <a:pt x="202" y="10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4" name="Freeform 237">
                <a:extLst>
                  <a:ext uri="{FF2B5EF4-FFF2-40B4-BE49-F238E27FC236}">
                    <a16:creationId xmlns:a16="http://schemas.microsoft.com/office/drawing/2014/main" id="{AED8484C-DADF-D5DC-82E5-4F8634A93CBD}"/>
                  </a:ext>
                </a:extLst>
              </p:cNvPr>
              <p:cNvSpPr>
                <a:spLocks noChangeArrowheads="1"/>
              </p:cNvSpPr>
              <p:nvPr/>
            </p:nvSpPr>
            <p:spPr bwMode="auto">
              <a:xfrm>
                <a:off x="1189831" y="5526088"/>
                <a:ext cx="398462" cy="398463"/>
              </a:xfrm>
              <a:custGeom>
                <a:avLst/>
                <a:gdLst>
                  <a:gd name="T0" fmla="*/ 1106 w 1107"/>
                  <a:gd name="T1" fmla="*/ 553 h 1107"/>
                  <a:gd name="T2" fmla="*/ 1032 w 1107"/>
                  <a:gd name="T3" fmla="*/ 830 h 1107"/>
                  <a:gd name="T4" fmla="*/ 830 w 1107"/>
                  <a:gd name="T5" fmla="*/ 1032 h 1107"/>
                  <a:gd name="T6" fmla="*/ 553 w 1107"/>
                  <a:gd name="T7" fmla="*/ 1106 h 1107"/>
                  <a:gd name="T8" fmla="*/ 277 w 1107"/>
                  <a:gd name="T9" fmla="*/ 1032 h 1107"/>
                  <a:gd name="T10" fmla="*/ 74 w 1107"/>
                  <a:gd name="T11" fmla="*/ 830 h 1107"/>
                  <a:gd name="T12" fmla="*/ 0 w 1107"/>
                  <a:gd name="T13" fmla="*/ 553 h 1107"/>
                  <a:gd name="T14" fmla="*/ 74 w 1107"/>
                  <a:gd name="T15" fmla="*/ 277 h 1107"/>
                  <a:gd name="T16" fmla="*/ 277 w 1107"/>
                  <a:gd name="T17" fmla="*/ 74 h 1107"/>
                  <a:gd name="T18" fmla="*/ 553 w 1107"/>
                  <a:gd name="T19" fmla="*/ 0 h 1107"/>
                  <a:gd name="T20" fmla="*/ 830 w 1107"/>
                  <a:gd name="T21" fmla="*/ 74 h 1107"/>
                  <a:gd name="T22" fmla="*/ 1032 w 1107"/>
                  <a:gd name="T23" fmla="*/ 277 h 1107"/>
                  <a:gd name="T24" fmla="*/ 1106 w 1107"/>
                  <a:gd name="T25" fmla="*/ 553 h 1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7" h="1107">
                    <a:moveTo>
                      <a:pt x="1106" y="553"/>
                    </a:moveTo>
                    <a:cubicBezTo>
                      <a:pt x="1106" y="655"/>
                      <a:pt x="1083" y="742"/>
                      <a:pt x="1032" y="830"/>
                    </a:cubicBezTo>
                    <a:cubicBezTo>
                      <a:pt x="981" y="918"/>
                      <a:pt x="918" y="981"/>
                      <a:pt x="830" y="1032"/>
                    </a:cubicBezTo>
                    <a:cubicBezTo>
                      <a:pt x="741" y="1083"/>
                      <a:pt x="655" y="1106"/>
                      <a:pt x="553" y="1106"/>
                    </a:cubicBezTo>
                    <a:cubicBezTo>
                      <a:pt x="451" y="1106"/>
                      <a:pt x="365" y="1083"/>
                      <a:pt x="277" y="1032"/>
                    </a:cubicBezTo>
                    <a:cubicBezTo>
                      <a:pt x="188" y="981"/>
                      <a:pt x="125" y="918"/>
                      <a:pt x="74" y="830"/>
                    </a:cubicBezTo>
                    <a:cubicBezTo>
                      <a:pt x="23" y="742"/>
                      <a:pt x="0" y="655"/>
                      <a:pt x="0" y="553"/>
                    </a:cubicBezTo>
                    <a:cubicBezTo>
                      <a:pt x="0" y="451"/>
                      <a:pt x="23" y="366"/>
                      <a:pt x="74" y="277"/>
                    </a:cubicBezTo>
                    <a:cubicBezTo>
                      <a:pt x="125" y="189"/>
                      <a:pt x="188" y="125"/>
                      <a:pt x="277" y="74"/>
                    </a:cubicBezTo>
                    <a:cubicBezTo>
                      <a:pt x="365" y="23"/>
                      <a:pt x="451" y="0"/>
                      <a:pt x="553" y="0"/>
                    </a:cubicBezTo>
                    <a:cubicBezTo>
                      <a:pt x="655" y="0"/>
                      <a:pt x="741" y="23"/>
                      <a:pt x="830" y="74"/>
                    </a:cubicBezTo>
                    <a:cubicBezTo>
                      <a:pt x="918" y="125"/>
                      <a:pt x="981" y="189"/>
                      <a:pt x="1032" y="277"/>
                    </a:cubicBezTo>
                    <a:cubicBezTo>
                      <a:pt x="1083" y="366"/>
                      <a:pt x="1106" y="451"/>
                      <a:pt x="1106" y="55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5" name="Freeform 238">
                <a:extLst>
                  <a:ext uri="{FF2B5EF4-FFF2-40B4-BE49-F238E27FC236}">
                    <a16:creationId xmlns:a16="http://schemas.microsoft.com/office/drawing/2014/main" id="{6C4C6EC5-EAE9-7CA1-899D-037E6EC06060}"/>
                  </a:ext>
                </a:extLst>
              </p:cNvPr>
              <p:cNvSpPr>
                <a:spLocks noChangeArrowheads="1"/>
              </p:cNvSpPr>
              <p:nvPr/>
            </p:nvSpPr>
            <p:spPr bwMode="auto">
              <a:xfrm>
                <a:off x="1124743" y="5461001"/>
                <a:ext cx="619125" cy="619125"/>
              </a:xfrm>
              <a:custGeom>
                <a:avLst/>
                <a:gdLst>
                  <a:gd name="T0" fmla="*/ 1718 w 1719"/>
                  <a:gd name="T1" fmla="*/ 1624 h 1720"/>
                  <a:gd name="T2" fmla="*/ 1275 w 1719"/>
                  <a:gd name="T3" fmla="*/ 1181 h 1720"/>
                  <a:gd name="T4" fmla="*/ 1272 w 1719"/>
                  <a:gd name="T5" fmla="*/ 1137 h 1720"/>
                  <a:gd name="T6" fmla="*/ 1209 w 1719"/>
                  <a:gd name="T7" fmla="*/ 261 h 1720"/>
                  <a:gd name="T8" fmla="*/ 261 w 1719"/>
                  <a:gd name="T9" fmla="*/ 261 h 1720"/>
                  <a:gd name="T10" fmla="*/ 261 w 1719"/>
                  <a:gd name="T11" fmla="*/ 1209 h 1720"/>
                  <a:gd name="T12" fmla="*/ 1136 w 1719"/>
                  <a:gd name="T13" fmla="*/ 1272 h 1720"/>
                  <a:gd name="T14" fmla="*/ 1180 w 1719"/>
                  <a:gd name="T15" fmla="*/ 1275 h 1720"/>
                  <a:gd name="T16" fmla="*/ 1623 w 1719"/>
                  <a:gd name="T17" fmla="*/ 1719 h 1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19" h="1720">
                    <a:moveTo>
                      <a:pt x="1718" y="1624"/>
                    </a:moveTo>
                    <a:cubicBezTo>
                      <a:pt x="1570" y="1476"/>
                      <a:pt x="1423" y="1329"/>
                      <a:pt x="1275" y="1181"/>
                    </a:cubicBezTo>
                    <a:cubicBezTo>
                      <a:pt x="1263" y="1169"/>
                      <a:pt x="1262" y="1150"/>
                      <a:pt x="1272" y="1137"/>
                    </a:cubicBezTo>
                    <a:cubicBezTo>
                      <a:pt x="1468" y="874"/>
                      <a:pt x="1447" y="500"/>
                      <a:pt x="1209" y="261"/>
                    </a:cubicBezTo>
                    <a:cubicBezTo>
                      <a:pt x="948" y="0"/>
                      <a:pt x="522" y="0"/>
                      <a:pt x="261" y="261"/>
                    </a:cubicBezTo>
                    <a:cubicBezTo>
                      <a:pt x="0" y="523"/>
                      <a:pt x="0" y="948"/>
                      <a:pt x="261" y="1209"/>
                    </a:cubicBezTo>
                    <a:cubicBezTo>
                      <a:pt x="499" y="1448"/>
                      <a:pt x="874" y="1469"/>
                      <a:pt x="1136" y="1272"/>
                    </a:cubicBezTo>
                    <a:cubicBezTo>
                      <a:pt x="1150" y="1262"/>
                      <a:pt x="1168" y="1264"/>
                      <a:pt x="1180" y="1275"/>
                    </a:cubicBezTo>
                    <a:cubicBezTo>
                      <a:pt x="1328" y="1423"/>
                      <a:pt x="1475" y="1571"/>
                      <a:pt x="1623" y="171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126" name="Group 125">
            <a:extLst>
              <a:ext uri="{FF2B5EF4-FFF2-40B4-BE49-F238E27FC236}">
                <a16:creationId xmlns:a16="http://schemas.microsoft.com/office/drawing/2014/main" id="{5BAEA570-CC1E-3E0A-50B8-562EDAFE249A}"/>
              </a:ext>
            </a:extLst>
          </p:cNvPr>
          <p:cNvGrpSpPr>
            <a:grpSpLocks noChangeAspect="1"/>
          </p:cNvGrpSpPr>
          <p:nvPr/>
        </p:nvGrpSpPr>
        <p:grpSpPr>
          <a:xfrm>
            <a:off x="7734312" y="3846181"/>
            <a:ext cx="788067" cy="788067"/>
            <a:chOff x="10619395" y="5435946"/>
            <a:chExt cx="781901" cy="781901"/>
          </a:xfrm>
        </p:grpSpPr>
        <p:sp>
          <p:nvSpPr>
            <p:cNvPr id="127" name="Freeform 261">
              <a:extLst>
                <a:ext uri="{FF2B5EF4-FFF2-40B4-BE49-F238E27FC236}">
                  <a16:creationId xmlns:a16="http://schemas.microsoft.com/office/drawing/2014/main" id="{4795B505-C8D9-894E-4F3C-3D57336E6AD1}"/>
                </a:ext>
              </a:extLst>
            </p:cNvPr>
            <p:cNvSpPr>
              <a:spLocks noChangeArrowheads="1"/>
            </p:cNvSpPr>
            <p:nvPr/>
          </p:nvSpPr>
          <p:spPr bwMode="auto">
            <a:xfrm>
              <a:off x="10619395" y="5435946"/>
              <a:ext cx="781901" cy="781901"/>
            </a:xfrm>
            <a:custGeom>
              <a:avLst/>
              <a:gdLst>
                <a:gd name="T0" fmla="*/ 1468 w 1751"/>
                <a:gd name="T1" fmla="*/ 1750 h 1751"/>
                <a:gd name="T2" fmla="*/ 1750 w 1751"/>
                <a:gd name="T3" fmla="*/ 1468 h 1751"/>
                <a:gd name="T4" fmla="*/ 1750 w 1751"/>
                <a:gd name="T5" fmla="*/ 283 h 1751"/>
                <a:gd name="T6" fmla="*/ 1468 w 1751"/>
                <a:gd name="T7" fmla="*/ 0 h 1751"/>
                <a:gd name="T8" fmla="*/ 282 w 1751"/>
                <a:gd name="T9" fmla="*/ 0 h 1751"/>
                <a:gd name="T10" fmla="*/ 0 w 1751"/>
                <a:gd name="T11" fmla="*/ 283 h 1751"/>
                <a:gd name="T12" fmla="*/ 0 w 1751"/>
                <a:gd name="T13" fmla="*/ 1468 h 1751"/>
                <a:gd name="T14" fmla="*/ 282 w 1751"/>
                <a:gd name="T15" fmla="*/ 1750 h 1751"/>
                <a:gd name="T16" fmla="*/ 1468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8" y="1750"/>
                  </a:moveTo>
                  <a:cubicBezTo>
                    <a:pt x="1623" y="1750"/>
                    <a:pt x="1750" y="1623"/>
                    <a:pt x="1750" y="1468"/>
                  </a:cubicBezTo>
                  <a:cubicBezTo>
                    <a:pt x="1750" y="1073"/>
                    <a:pt x="1750" y="678"/>
                    <a:pt x="1750" y="283"/>
                  </a:cubicBezTo>
                  <a:cubicBezTo>
                    <a:pt x="1750" y="127"/>
                    <a:pt x="1623" y="0"/>
                    <a:pt x="1468" y="0"/>
                  </a:cubicBezTo>
                  <a:cubicBezTo>
                    <a:pt x="1073" y="0"/>
                    <a:pt x="677" y="0"/>
                    <a:pt x="282" y="0"/>
                  </a:cubicBezTo>
                  <a:cubicBezTo>
                    <a:pt x="127" y="0"/>
                    <a:pt x="0" y="127"/>
                    <a:pt x="0" y="283"/>
                  </a:cubicBezTo>
                  <a:cubicBezTo>
                    <a:pt x="0" y="678"/>
                    <a:pt x="0" y="1073"/>
                    <a:pt x="0" y="1468"/>
                  </a:cubicBezTo>
                  <a:cubicBezTo>
                    <a:pt x="0" y="1623"/>
                    <a:pt x="127" y="1750"/>
                    <a:pt x="282" y="1750"/>
                  </a:cubicBezTo>
                  <a:cubicBezTo>
                    <a:pt x="677" y="1750"/>
                    <a:pt x="1073" y="1750"/>
                    <a:pt x="1468" y="175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28" name="Group 127">
              <a:extLst>
                <a:ext uri="{FF2B5EF4-FFF2-40B4-BE49-F238E27FC236}">
                  <a16:creationId xmlns:a16="http://schemas.microsoft.com/office/drawing/2014/main" id="{BC8D9551-7EFB-43A9-42C5-F389DC953421}"/>
                </a:ext>
              </a:extLst>
            </p:cNvPr>
            <p:cNvGrpSpPr/>
            <p:nvPr/>
          </p:nvGrpSpPr>
          <p:grpSpPr>
            <a:xfrm>
              <a:off x="10743475" y="5579721"/>
              <a:ext cx="533741" cy="466777"/>
              <a:chOff x="10743475" y="5579721"/>
              <a:chExt cx="533741" cy="466777"/>
            </a:xfrm>
          </p:grpSpPr>
          <p:sp>
            <p:nvSpPr>
              <p:cNvPr id="129" name="Freeform 262">
                <a:extLst>
                  <a:ext uri="{FF2B5EF4-FFF2-40B4-BE49-F238E27FC236}">
                    <a16:creationId xmlns:a16="http://schemas.microsoft.com/office/drawing/2014/main" id="{86244543-66AC-5EE8-9E85-458AAF3B5369}"/>
                  </a:ext>
                </a:extLst>
              </p:cNvPr>
              <p:cNvSpPr>
                <a:spLocks noChangeArrowheads="1"/>
              </p:cNvSpPr>
              <p:nvPr/>
            </p:nvSpPr>
            <p:spPr bwMode="auto">
              <a:xfrm>
                <a:off x="10804530" y="5660472"/>
                <a:ext cx="126050" cy="96506"/>
              </a:xfrm>
              <a:custGeom>
                <a:avLst/>
                <a:gdLst>
                  <a:gd name="T0" fmla="*/ 0 w 281"/>
                  <a:gd name="T1" fmla="*/ 0 h 216"/>
                  <a:gd name="T2" fmla="*/ 55 w 281"/>
                  <a:gd name="T3" fmla="*/ 202 h 216"/>
                  <a:gd name="T4" fmla="*/ 71 w 281"/>
                  <a:gd name="T5" fmla="*/ 215 h 216"/>
                  <a:gd name="T6" fmla="*/ 280 w 281"/>
                  <a:gd name="T7" fmla="*/ 215 h 216"/>
                </a:gdLst>
                <a:ahLst/>
                <a:cxnLst>
                  <a:cxn ang="0">
                    <a:pos x="T0" y="T1"/>
                  </a:cxn>
                  <a:cxn ang="0">
                    <a:pos x="T2" y="T3"/>
                  </a:cxn>
                  <a:cxn ang="0">
                    <a:pos x="T4" y="T5"/>
                  </a:cxn>
                  <a:cxn ang="0">
                    <a:pos x="T6" y="T7"/>
                  </a:cxn>
                </a:cxnLst>
                <a:rect l="0" t="0" r="r" b="b"/>
                <a:pathLst>
                  <a:path w="281" h="216">
                    <a:moveTo>
                      <a:pt x="0" y="0"/>
                    </a:moveTo>
                    <a:cubicBezTo>
                      <a:pt x="18" y="67"/>
                      <a:pt x="37" y="135"/>
                      <a:pt x="55" y="202"/>
                    </a:cubicBezTo>
                    <a:cubicBezTo>
                      <a:pt x="57" y="210"/>
                      <a:pt x="63" y="215"/>
                      <a:pt x="71" y="215"/>
                    </a:cubicBezTo>
                    <a:cubicBezTo>
                      <a:pt x="141" y="215"/>
                      <a:pt x="210" y="215"/>
                      <a:pt x="280" y="2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0" name="Freeform 263">
                <a:extLst>
                  <a:ext uri="{FF2B5EF4-FFF2-40B4-BE49-F238E27FC236}">
                    <a16:creationId xmlns:a16="http://schemas.microsoft.com/office/drawing/2014/main" id="{351FC999-B97B-78E9-8A09-1F87C7858931}"/>
                  </a:ext>
                </a:extLst>
              </p:cNvPr>
              <p:cNvSpPr>
                <a:spLocks noChangeArrowheads="1"/>
              </p:cNvSpPr>
              <p:nvPr/>
            </p:nvSpPr>
            <p:spPr bwMode="auto">
              <a:xfrm>
                <a:off x="10790743" y="5944083"/>
                <a:ext cx="173318" cy="1969"/>
              </a:xfrm>
              <a:custGeom>
                <a:avLst/>
                <a:gdLst>
                  <a:gd name="T0" fmla="*/ 0 w 386"/>
                  <a:gd name="T1" fmla="*/ 0 h 1"/>
                  <a:gd name="T2" fmla="*/ 385 w 386"/>
                  <a:gd name="T3" fmla="*/ 0 h 1"/>
                </a:gdLst>
                <a:ahLst/>
                <a:cxnLst>
                  <a:cxn ang="0">
                    <a:pos x="T0" y="T1"/>
                  </a:cxn>
                  <a:cxn ang="0">
                    <a:pos x="T2" y="T3"/>
                  </a:cxn>
                </a:cxnLst>
                <a:rect l="0" t="0" r="r" b="b"/>
                <a:pathLst>
                  <a:path w="386" h="1">
                    <a:moveTo>
                      <a:pt x="0" y="0"/>
                    </a:moveTo>
                    <a:cubicBezTo>
                      <a:pt x="128" y="0"/>
                      <a:pt x="257" y="0"/>
                      <a:pt x="38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1" name="Freeform 264">
                <a:extLst>
                  <a:ext uri="{FF2B5EF4-FFF2-40B4-BE49-F238E27FC236}">
                    <a16:creationId xmlns:a16="http://schemas.microsoft.com/office/drawing/2014/main" id="{F3658A2C-28E4-F931-563A-9E82ABF7E317}"/>
                  </a:ext>
                </a:extLst>
              </p:cNvPr>
              <p:cNvSpPr>
                <a:spLocks noChangeArrowheads="1"/>
              </p:cNvSpPr>
              <p:nvPr/>
            </p:nvSpPr>
            <p:spPr bwMode="auto">
              <a:xfrm>
                <a:off x="10743475" y="5800307"/>
                <a:ext cx="265886" cy="1970"/>
              </a:xfrm>
              <a:custGeom>
                <a:avLst/>
                <a:gdLst>
                  <a:gd name="T0" fmla="*/ 0 w 596"/>
                  <a:gd name="T1" fmla="*/ 0 h 1"/>
                  <a:gd name="T2" fmla="*/ 595 w 596"/>
                  <a:gd name="T3" fmla="*/ 0 h 1"/>
                </a:gdLst>
                <a:ahLst/>
                <a:cxnLst>
                  <a:cxn ang="0">
                    <a:pos x="T0" y="T1"/>
                  </a:cxn>
                  <a:cxn ang="0">
                    <a:pos x="T2" y="T3"/>
                  </a:cxn>
                </a:cxnLst>
                <a:rect l="0" t="0" r="r" b="b"/>
                <a:pathLst>
                  <a:path w="596" h="1">
                    <a:moveTo>
                      <a:pt x="0" y="0"/>
                    </a:moveTo>
                    <a:cubicBezTo>
                      <a:pt x="198" y="0"/>
                      <a:pt x="397" y="0"/>
                      <a:pt x="59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2" name="Freeform 265">
                <a:extLst>
                  <a:ext uri="{FF2B5EF4-FFF2-40B4-BE49-F238E27FC236}">
                    <a16:creationId xmlns:a16="http://schemas.microsoft.com/office/drawing/2014/main" id="{99C3DFED-AEA5-268B-0DD2-58B5A7EB08BE}"/>
                  </a:ext>
                </a:extLst>
              </p:cNvPr>
              <p:cNvSpPr>
                <a:spLocks noChangeArrowheads="1"/>
              </p:cNvSpPr>
              <p:nvPr/>
            </p:nvSpPr>
            <p:spPr bwMode="auto">
              <a:xfrm>
                <a:off x="10790743" y="5800307"/>
                <a:ext cx="1970" cy="246191"/>
              </a:xfrm>
              <a:custGeom>
                <a:avLst/>
                <a:gdLst>
                  <a:gd name="T0" fmla="*/ 0 w 1"/>
                  <a:gd name="T1" fmla="*/ 0 h 551"/>
                  <a:gd name="T2" fmla="*/ 0 w 1"/>
                  <a:gd name="T3" fmla="*/ 550 h 551"/>
                </a:gdLst>
                <a:ahLst/>
                <a:cxnLst>
                  <a:cxn ang="0">
                    <a:pos x="T0" y="T1"/>
                  </a:cxn>
                  <a:cxn ang="0">
                    <a:pos x="T2" y="T3"/>
                  </a:cxn>
                </a:cxnLst>
                <a:rect l="0" t="0" r="r" b="b"/>
                <a:pathLst>
                  <a:path w="1" h="551">
                    <a:moveTo>
                      <a:pt x="0" y="0"/>
                    </a:moveTo>
                    <a:cubicBezTo>
                      <a:pt x="0" y="183"/>
                      <a:pt x="0" y="367"/>
                      <a:pt x="0" y="55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3" name="Freeform 266">
                <a:extLst>
                  <a:ext uri="{FF2B5EF4-FFF2-40B4-BE49-F238E27FC236}">
                    <a16:creationId xmlns:a16="http://schemas.microsoft.com/office/drawing/2014/main" id="{EAE99268-5851-28E9-4AEC-4BB3992370AA}"/>
                  </a:ext>
                </a:extLst>
              </p:cNvPr>
              <p:cNvSpPr>
                <a:spLocks noChangeArrowheads="1"/>
              </p:cNvSpPr>
              <p:nvPr/>
            </p:nvSpPr>
            <p:spPr bwMode="auto">
              <a:xfrm>
                <a:off x="10962092" y="5800307"/>
                <a:ext cx="1969" cy="246191"/>
              </a:xfrm>
              <a:custGeom>
                <a:avLst/>
                <a:gdLst>
                  <a:gd name="T0" fmla="*/ 0 w 1"/>
                  <a:gd name="T1" fmla="*/ 0 h 551"/>
                  <a:gd name="T2" fmla="*/ 0 w 1"/>
                  <a:gd name="T3" fmla="*/ 550 h 551"/>
                </a:gdLst>
                <a:ahLst/>
                <a:cxnLst>
                  <a:cxn ang="0">
                    <a:pos x="T0" y="T1"/>
                  </a:cxn>
                  <a:cxn ang="0">
                    <a:pos x="T2" y="T3"/>
                  </a:cxn>
                </a:cxnLst>
                <a:rect l="0" t="0" r="r" b="b"/>
                <a:pathLst>
                  <a:path w="1" h="551">
                    <a:moveTo>
                      <a:pt x="0" y="0"/>
                    </a:moveTo>
                    <a:cubicBezTo>
                      <a:pt x="0" y="183"/>
                      <a:pt x="0" y="367"/>
                      <a:pt x="0" y="55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4" name="Freeform 267">
                <a:extLst>
                  <a:ext uri="{FF2B5EF4-FFF2-40B4-BE49-F238E27FC236}">
                    <a16:creationId xmlns:a16="http://schemas.microsoft.com/office/drawing/2014/main" id="{CA1E88E1-7699-7AAC-91FB-65A058A7E635}"/>
                  </a:ext>
                </a:extLst>
              </p:cNvPr>
              <p:cNvSpPr>
                <a:spLocks noChangeArrowheads="1"/>
              </p:cNvSpPr>
              <p:nvPr/>
            </p:nvSpPr>
            <p:spPr bwMode="auto">
              <a:xfrm>
                <a:off x="11038903" y="5579721"/>
                <a:ext cx="88629" cy="88629"/>
              </a:xfrm>
              <a:custGeom>
                <a:avLst/>
                <a:gdLst>
                  <a:gd name="T0" fmla="*/ 198 w 199"/>
                  <a:gd name="T1" fmla="*/ 99 h 199"/>
                  <a:gd name="T2" fmla="*/ 184 w 199"/>
                  <a:gd name="T3" fmla="*/ 149 h 199"/>
                  <a:gd name="T4" fmla="*/ 148 w 199"/>
                  <a:gd name="T5" fmla="*/ 185 h 199"/>
                  <a:gd name="T6" fmla="*/ 99 w 199"/>
                  <a:gd name="T7" fmla="*/ 198 h 199"/>
                  <a:gd name="T8" fmla="*/ 50 w 199"/>
                  <a:gd name="T9" fmla="*/ 185 h 199"/>
                  <a:gd name="T10" fmla="*/ 13 w 199"/>
                  <a:gd name="T11" fmla="*/ 149 h 199"/>
                  <a:gd name="T12" fmla="*/ 0 w 199"/>
                  <a:gd name="T13" fmla="*/ 99 h 199"/>
                  <a:gd name="T14" fmla="*/ 13 w 199"/>
                  <a:gd name="T15" fmla="*/ 50 h 199"/>
                  <a:gd name="T16" fmla="*/ 50 w 199"/>
                  <a:gd name="T17" fmla="*/ 14 h 199"/>
                  <a:gd name="T18" fmla="*/ 99 w 199"/>
                  <a:gd name="T19" fmla="*/ 0 h 199"/>
                  <a:gd name="T20" fmla="*/ 148 w 199"/>
                  <a:gd name="T21" fmla="*/ 14 h 199"/>
                  <a:gd name="T22" fmla="*/ 184 w 199"/>
                  <a:gd name="T23" fmla="*/ 50 h 199"/>
                  <a:gd name="T24" fmla="*/ 198 w 199"/>
                  <a:gd name="T25" fmla="*/ 9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9" h="199">
                    <a:moveTo>
                      <a:pt x="198" y="99"/>
                    </a:moveTo>
                    <a:cubicBezTo>
                      <a:pt x="198" y="117"/>
                      <a:pt x="194" y="134"/>
                      <a:pt x="184" y="149"/>
                    </a:cubicBezTo>
                    <a:cubicBezTo>
                      <a:pt x="175" y="165"/>
                      <a:pt x="164" y="176"/>
                      <a:pt x="148" y="185"/>
                    </a:cubicBezTo>
                    <a:cubicBezTo>
                      <a:pt x="133" y="194"/>
                      <a:pt x="117" y="198"/>
                      <a:pt x="99" y="198"/>
                    </a:cubicBezTo>
                    <a:cubicBezTo>
                      <a:pt x="81" y="198"/>
                      <a:pt x="66" y="194"/>
                      <a:pt x="50" y="185"/>
                    </a:cubicBezTo>
                    <a:cubicBezTo>
                      <a:pt x="35" y="176"/>
                      <a:pt x="22" y="165"/>
                      <a:pt x="13" y="149"/>
                    </a:cubicBezTo>
                    <a:cubicBezTo>
                      <a:pt x="4" y="134"/>
                      <a:pt x="0" y="117"/>
                      <a:pt x="0" y="99"/>
                    </a:cubicBezTo>
                    <a:cubicBezTo>
                      <a:pt x="0" y="81"/>
                      <a:pt x="4" y="66"/>
                      <a:pt x="13" y="50"/>
                    </a:cubicBezTo>
                    <a:cubicBezTo>
                      <a:pt x="22" y="34"/>
                      <a:pt x="35" y="23"/>
                      <a:pt x="50" y="14"/>
                    </a:cubicBezTo>
                    <a:cubicBezTo>
                      <a:pt x="66" y="5"/>
                      <a:pt x="81" y="0"/>
                      <a:pt x="99" y="0"/>
                    </a:cubicBezTo>
                    <a:cubicBezTo>
                      <a:pt x="117" y="0"/>
                      <a:pt x="133" y="5"/>
                      <a:pt x="148" y="14"/>
                    </a:cubicBezTo>
                    <a:cubicBezTo>
                      <a:pt x="164" y="23"/>
                      <a:pt x="175" y="34"/>
                      <a:pt x="184" y="50"/>
                    </a:cubicBezTo>
                    <a:cubicBezTo>
                      <a:pt x="194" y="66"/>
                      <a:pt x="198" y="81"/>
                      <a:pt x="198" y="9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5" name="Freeform 268">
                <a:extLst>
                  <a:ext uri="{FF2B5EF4-FFF2-40B4-BE49-F238E27FC236}">
                    <a16:creationId xmlns:a16="http://schemas.microsoft.com/office/drawing/2014/main" id="{4DB5D3C7-83C8-E674-29F3-CAB755DF903D}"/>
                  </a:ext>
                </a:extLst>
              </p:cNvPr>
              <p:cNvSpPr>
                <a:spLocks noChangeArrowheads="1"/>
              </p:cNvSpPr>
              <p:nvPr/>
            </p:nvSpPr>
            <p:spPr bwMode="auto">
              <a:xfrm>
                <a:off x="10940427" y="5680167"/>
                <a:ext cx="285582" cy="364361"/>
              </a:xfrm>
              <a:custGeom>
                <a:avLst/>
                <a:gdLst>
                  <a:gd name="T0" fmla="*/ 603 w 639"/>
                  <a:gd name="T1" fmla="*/ 173 h 818"/>
                  <a:gd name="T2" fmla="*/ 554 w 639"/>
                  <a:gd name="T3" fmla="*/ 64 h 818"/>
                  <a:gd name="T4" fmla="*/ 428 w 639"/>
                  <a:gd name="T5" fmla="*/ 30 h 818"/>
                  <a:gd name="T6" fmla="*/ 84 w 639"/>
                  <a:gd name="T7" fmla="*/ 16 h 818"/>
                  <a:gd name="T8" fmla="*/ 15 w 639"/>
                  <a:gd name="T9" fmla="*/ 28 h 818"/>
                  <a:gd name="T10" fmla="*/ 28 w 639"/>
                  <a:gd name="T11" fmla="*/ 97 h 818"/>
                  <a:gd name="T12" fmla="*/ 386 w 639"/>
                  <a:gd name="T13" fmla="*/ 154 h 818"/>
                  <a:gd name="T14" fmla="*/ 394 w 639"/>
                  <a:gd name="T15" fmla="*/ 157 h 818"/>
                  <a:gd name="T16" fmla="*/ 427 w 639"/>
                  <a:gd name="T17" fmla="*/ 232 h 818"/>
                  <a:gd name="T18" fmla="*/ 450 w 639"/>
                  <a:gd name="T19" fmla="*/ 389 h 818"/>
                  <a:gd name="T20" fmla="*/ 442 w 639"/>
                  <a:gd name="T21" fmla="*/ 397 h 818"/>
                  <a:gd name="T22" fmla="*/ 271 w 639"/>
                  <a:gd name="T23" fmla="*/ 397 h 818"/>
                  <a:gd name="T24" fmla="*/ 172 w 639"/>
                  <a:gd name="T25" fmla="*/ 496 h 818"/>
                  <a:gd name="T26" fmla="*/ 172 w 639"/>
                  <a:gd name="T27" fmla="*/ 767 h 818"/>
                  <a:gd name="T28" fmla="*/ 221 w 639"/>
                  <a:gd name="T29" fmla="*/ 817 h 818"/>
                  <a:gd name="T30" fmla="*/ 271 w 639"/>
                  <a:gd name="T31" fmla="*/ 767 h 818"/>
                  <a:gd name="T32" fmla="*/ 271 w 639"/>
                  <a:gd name="T33" fmla="*/ 512 h 818"/>
                  <a:gd name="T34" fmla="*/ 287 w 639"/>
                  <a:gd name="T35" fmla="*/ 496 h 818"/>
                  <a:gd name="T36" fmla="*/ 537 w 639"/>
                  <a:gd name="T37" fmla="*/ 496 h 818"/>
                  <a:gd name="T38" fmla="*/ 635 w 639"/>
                  <a:gd name="T39" fmla="*/ 401 h 818"/>
                  <a:gd name="T40" fmla="*/ 603 w 639"/>
                  <a:gd name="T41" fmla="*/ 173 h 8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39" h="818">
                    <a:moveTo>
                      <a:pt x="603" y="173"/>
                    </a:moveTo>
                    <a:cubicBezTo>
                      <a:pt x="590" y="135"/>
                      <a:pt x="574" y="99"/>
                      <a:pt x="554" y="64"/>
                    </a:cubicBezTo>
                    <a:cubicBezTo>
                      <a:pt x="529" y="20"/>
                      <a:pt x="473" y="4"/>
                      <a:pt x="428" y="30"/>
                    </a:cubicBezTo>
                    <a:cubicBezTo>
                      <a:pt x="323" y="90"/>
                      <a:pt x="189" y="89"/>
                      <a:pt x="84" y="16"/>
                    </a:cubicBezTo>
                    <a:cubicBezTo>
                      <a:pt x="62" y="0"/>
                      <a:pt x="31" y="6"/>
                      <a:pt x="15" y="28"/>
                    </a:cubicBezTo>
                    <a:cubicBezTo>
                      <a:pt x="0" y="51"/>
                      <a:pt x="6" y="81"/>
                      <a:pt x="28" y="97"/>
                    </a:cubicBezTo>
                    <a:cubicBezTo>
                      <a:pt x="137" y="172"/>
                      <a:pt x="269" y="189"/>
                      <a:pt x="386" y="154"/>
                    </a:cubicBezTo>
                    <a:cubicBezTo>
                      <a:pt x="389" y="153"/>
                      <a:pt x="392" y="154"/>
                      <a:pt x="394" y="157"/>
                    </a:cubicBezTo>
                    <a:cubicBezTo>
                      <a:pt x="407" y="181"/>
                      <a:pt x="419" y="206"/>
                      <a:pt x="427" y="232"/>
                    </a:cubicBezTo>
                    <a:cubicBezTo>
                      <a:pt x="445" y="283"/>
                      <a:pt x="452" y="336"/>
                      <a:pt x="450" y="389"/>
                    </a:cubicBezTo>
                    <a:cubicBezTo>
                      <a:pt x="450" y="393"/>
                      <a:pt x="447" y="397"/>
                      <a:pt x="442" y="397"/>
                    </a:cubicBezTo>
                    <a:cubicBezTo>
                      <a:pt x="385" y="397"/>
                      <a:pt x="328" y="397"/>
                      <a:pt x="271" y="397"/>
                    </a:cubicBezTo>
                    <a:cubicBezTo>
                      <a:pt x="216" y="397"/>
                      <a:pt x="172" y="441"/>
                      <a:pt x="172" y="496"/>
                    </a:cubicBezTo>
                    <a:cubicBezTo>
                      <a:pt x="172" y="586"/>
                      <a:pt x="172" y="677"/>
                      <a:pt x="172" y="767"/>
                    </a:cubicBezTo>
                    <a:cubicBezTo>
                      <a:pt x="172" y="794"/>
                      <a:pt x="194" y="817"/>
                      <a:pt x="221" y="817"/>
                    </a:cubicBezTo>
                    <a:cubicBezTo>
                      <a:pt x="249" y="817"/>
                      <a:pt x="271" y="794"/>
                      <a:pt x="271" y="767"/>
                    </a:cubicBezTo>
                    <a:cubicBezTo>
                      <a:pt x="271" y="682"/>
                      <a:pt x="271" y="597"/>
                      <a:pt x="271" y="512"/>
                    </a:cubicBezTo>
                    <a:cubicBezTo>
                      <a:pt x="271" y="503"/>
                      <a:pt x="278" y="496"/>
                      <a:pt x="287" y="496"/>
                    </a:cubicBezTo>
                    <a:cubicBezTo>
                      <a:pt x="370" y="496"/>
                      <a:pt x="454" y="496"/>
                      <a:pt x="537" y="496"/>
                    </a:cubicBezTo>
                    <a:cubicBezTo>
                      <a:pt x="589" y="496"/>
                      <a:pt x="633" y="454"/>
                      <a:pt x="635" y="401"/>
                    </a:cubicBezTo>
                    <a:cubicBezTo>
                      <a:pt x="638" y="339"/>
                      <a:pt x="632" y="260"/>
                      <a:pt x="603" y="17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6" name="Freeform 269">
                <a:extLst>
                  <a:ext uri="{FF2B5EF4-FFF2-40B4-BE49-F238E27FC236}">
                    <a16:creationId xmlns:a16="http://schemas.microsoft.com/office/drawing/2014/main" id="{8A41A8E8-00A5-6161-56F3-CAB5FB8C28DA}"/>
                  </a:ext>
                </a:extLst>
              </p:cNvPr>
              <p:cNvSpPr>
                <a:spLocks noChangeArrowheads="1"/>
              </p:cNvSpPr>
              <p:nvPr/>
            </p:nvSpPr>
            <p:spPr bwMode="auto">
              <a:xfrm>
                <a:off x="11115715" y="5733344"/>
                <a:ext cx="33481" cy="13787"/>
              </a:xfrm>
              <a:custGeom>
                <a:avLst/>
                <a:gdLst>
                  <a:gd name="T0" fmla="*/ 0 w 76"/>
                  <a:gd name="T1" fmla="*/ 31 h 32"/>
                  <a:gd name="T2" fmla="*/ 75 w 76"/>
                  <a:gd name="T3" fmla="*/ 0 h 32"/>
                </a:gdLst>
                <a:ahLst/>
                <a:cxnLst>
                  <a:cxn ang="0">
                    <a:pos x="T0" y="T1"/>
                  </a:cxn>
                  <a:cxn ang="0">
                    <a:pos x="T2" y="T3"/>
                  </a:cxn>
                </a:cxnLst>
                <a:rect l="0" t="0" r="r" b="b"/>
                <a:pathLst>
                  <a:path w="76" h="32">
                    <a:moveTo>
                      <a:pt x="0" y="31"/>
                    </a:moveTo>
                    <a:cubicBezTo>
                      <a:pt x="26" y="23"/>
                      <a:pt x="51" y="12"/>
                      <a:pt x="7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7" name="Freeform 270">
                <a:extLst>
                  <a:ext uri="{FF2B5EF4-FFF2-40B4-BE49-F238E27FC236}">
                    <a16:creationId xmlns:a16="http://schemas.microsoft.com/office/drawing/2014/main" id="{F94603A9-1475-CDEC-8A97-A430D3D975C7}"/>
                  </a:ext>
                </a:extLst>
              </p:cNvPr>
              <p:cNvSpPr>
                <a:spLocks noChangeArrowheads="1"/>
              </p:cNvSpPr>
              <p:nvPr/>
            </p:nvSpPr>
            <p:spPr bwMode="auto">
              <a:xfrm>
                <a:off x="11117684" y="5944083"/>
                <a:ext cx="7878" cy="102415"/>
              </a:xfrm>
              <a:custGeom>
                <a:avLst/>
                <a:gdLst>
                  <a:gd name="T0" fmla="*/ 16 w 17"/>
                  <a:gd name="T1" fmla="*/ 0 h 230"/>
                  <a:gd name="T2" fmla="*/ 0 w 17"/>
                  <a:gd name="T3" fmla="*/ 229 h 230"/>
                </a:gdLst>
                <a:ahLst/>
                <a:cxnLst>
                  <a:cxn ang="0">
                    <a:pos x="T0" y="T1"/>
                  </a:cxn>
                  <a:cxn ang="0">
                    <a:pos x="T2" y="T3"/>
                  </a:cxn>
                </a:cxnLst>
                <a:rect l="0" t="0" r="r" b="b"/>
                <a:pathLst>
                  <a:path w="17" h="230">
                    <a:moveTo>
                      <a:pt x="16" y="0"/>
                    </a:moveTo>
                    <a:cubicBezTo>
                      <a:pt x="11" y="76"/>
                      <a:pt x="5" y="153"/>
                      <a:pt x="0" y="22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8" name="Freeform 271">
                <a:extLst>
                  <a:ext uri="{FF2B5EF4-FFF2-40B4-BE49-F238E27FC236}">
                    <a16:creationId xmlns:a16="http://schemas.microsoft.com/office/drawing/2014/main" id="{572C6B2B-088A-EDE2-C999-04C54A3F66F5}"/>
                  </a:ext>
                </a:extLst>
              </p:cNvPr>
              <p:cNvSpPr>
                <a:spLocks noChangeArrowheads="1"/>
              </p:cNvSpPr>
              <p:nvPr/>
            </p:nvSpPr>
            <p:spPr bwMode="auto">
              <a:xfrm>
                <a:off x="11227978" y="5944083"/>
                <a:ext cx="15756" cy="102415"/>
              </a:xfrm>
              <a:custGeom>
                <a:avLst/>
                <a:gdLst>
                  <a:gd name="T0" fmla="*/ 0 w 34"/>
                  <a:gd name="T1" fmla="*/ 0 h 230"/>
                  <a:gd name="T2" fmla="*/ 33 w 34"/>
                  <a:gd name="T3" fmla="*/ 229 h 230"/>
                </a:gdLst>
                <a:ahLst/>
                <a:cxnLst>
                  <a:cxn ang="0">
                    <a:pos x="T0" y="T1"/>
                  </a:cxn>
                  <a:cxn ang="0">
                    <a:pos x="T2" y="T3"/>
                  </a:cxn>
                </a:cxnLst>
                <a:rect l="0" t="0" r="r" b="b"/>
                <a:pathLst>
                  <a:path w="34" h="230">
                    <a:moveTo>
                      <a:pt x="0" y="0"/>
                    </a:moveTo>
                    <a:cubicBezTo>
                      <a:pt x="11" y="76"/>
                      <a:pt x="22" y="153"/>
                      <a:pt x="33" y="22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9" name="Freeform 272">
                <a:extLst>
                  <a:ext uri="{FF2B5EF4-FFF2-40B4-BE49-F238E27FC236}">
                    <a16:creationId xmlns:a16="http://schemas.microsoft.com/office/drawing/2014/main" id="{633887A5-DEB5-D0B7-970D-4B0DC8409763}"/>
                  </a:ext>
                </a:extLst>
              </p:cNvPr>
              <p:cNvSpPr>
                <a:spLocks noChangeArrowheads="1"/>
              </p:cNvSpPr>
              <p:nvPr/>
            </p:nvSpPr>
            <p:spPr bwMode="auto">
              <a:xfrm>
                <a:off x="11121623" y="5999230"/>
                <a:ext cx="116203" cy="1969"/>
              </a:xfrm>
              <a:custGeom>
                <a:avLst/>
                <a:gdLst>
                  <a:gd name="T0" fmla="*/ 257 w 258"/>
                  <a:gd name="T1" fmla="*/ 0 h 1"/>
                  <a:gd name="T2" fmla="*/ 0 w 258"/>
                  <a:gd name="T3" fmla="*/ 0 h 1"/>
                </a:gdLst>
                <a:ahLst/>
                <a:cxnLst>
                  <a:cxn ang="0">
                    <a:pos x="T0" y="T1"/>
                  </a:cxn>
                  <a:cxn ang="0">
                    <a:pos x="T2" y="T3"/>
                  </a:cxn>
                </a:cxnLst>
                <a:rect l="0" t="0" r="r" b="b"/>
                <a:pathLst>
                  <a:path w="258" h="1">
                    <a:moveTo>
                      <a:pt x="257" y="0"/>
                    </a:moveTo>
                    <a:cubicBezTo>
                      <a:pt x="171" y="0"/>
                      <a:pt x="86"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0" name="Freeform 273">
                <a:extLst>
                  <a:ext uri="{FF2B5EF4-FFF2-40B4-BE49-F238E27FC236}">
                    <a16:creationId xmlns:a16="http://schemas.microsoft.com/office/drawing/2014/main" id="{22D9CF87-8E10-E06B-DFE2-3BEDF7D9D58F}"/>
                  </a:ext>
                </a:extLst>
              </p:cNvPr>
              <p:cNvSpPr>
                <a:spLocks noChangeArrowheads="1"/>
              </p:cNvSpPr>
              <p:nvPr/>
            </p:nvSpPr>
            <p:spPr bwMode="auto">
              <a:xfrm>
                <a:off x="11103898" y="5713648"/>
                <a:ext cx="173318" cy="232404"/>
              </a:xfrm>
              <a:custGeom>
                <a:avLst/>
                <a:gdLst>
                  <a:gd name="T0" fmla="*/ 0 w 389"/>
                  <a:gd name="T1" fmla="*/ 519 h 520"/>
                  <a:gd name="T2" fmla="*/ 321 w 389"/>
                  <a:gd name="T3" fmla="*/ 519 h 520"/>
                  <a:gd name="T4" fmla="*/ 354 w 389"/>
                  <a:gd name="T5" fmla="*/ 489 h 520"/>
                  <a:gd name="T6" fmla="*/ 388 w 389"/>
                  <a:gd name="T7" fmla="*/ 0 h 520"/>
                </a:gdLst>
                <a:ahLst/>
                <a:cxnLst>
                  <a:cxn ang="0">
                    <a:pos x="T0" y="T1"/>
                  </a:cxn>
                  <a:cxn ang="0">
                    <a:pos x="T2" y="T3"/>
                  </a:cxn>
                  <a:cxn ang="0">
                    <a:pos x="T4" y="T5"/>
                  </a:cxn>
                  <a:cxn ang="0">
                    <a:pos x="T6" y="T7"/>
                  </a:cxn>
                </a:cxnLst>
                <a:rect l="0" t="0" r="r" b="b"/>
                <a:pathLst>
                  <a:path w="389" h="520">
                    <a:moveTo>
                      <a:pt x="0" y="519"/>
                    </a:moveTo>
                    <a:cubicBezTo>
                      <a:pt x="107" y="519"/>
                      <a:pt x="214" y="519"/>
                      <a:pt x="321" y="519"/>
                    </a:cubicBezTo>
                    <a:cubicBezTo>
                      <a:pt x="339" y="519"/>
                      <a:pt x="353" y="506"/>
                      <a:pt x="354" y="489"/>
                    </a:cubicBezTo>
                    <a:cubicBezTo>
                      <a:pt x="365" y="326"/>
                      <a:pt x="377" y="163"/>
                      <a:pt x="388"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sp>
        <p:nvSpPr>
          <p:cNvPr id="150" name="TextBox 149">
            <a:extLst>
              <a:ext uri="{FF2B5EF4-FFF2-40B4-BE49-F238E27FC236}">
                <a16:creationId xmlns:a16="http://schemas.microsoft.com/office/drawing/2014/main" id="{E6C9657F-1F05-9710-5120-51FDD019D62D}"/>
              </a:ext>
            </a:extLst>
          </p:cNvPr>
          <p:cNvSpPr txBox="1"/>
          <p:nvPr/>
        </p:nvSpPr>
        <p:spPr>
          <a:xfrm>
            <a:off x="6144232" y="3972542"/>
            <a:ext cx="141256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Assessment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Focus</a:t>
            </a:r>
          </a:p>
        </p:txBody>
      </p:sp>
      <p:pic>
        <p:nvPicPr>
          <p:cNvPr id="156" name="Graphic 155" descr="Microscope outline">
            <a:extLst>
              <a:ext uri="{FF2B5EF4-FFF2-40B4-BE49-F238E27FC236}">
                <a16:creationId xmlns:a16="http://schemas.microsoft.com/office/drawing/2014/main" id="{D8F860A8-B550-D0F1-8240-B40C4E5EA5D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37187" y="4965630"/>
            <a:ext cx="303134" cy="303134"/>
          </a:xfrm>
          <a:prstGeom prst="rect">
            <a:avLst/>
          </a:prstGeom>
        </p:spPr>
      </p:pic>
      <p:sp>
        <p:nvSpPr>
          <p:cNvPr id="157" name="TextBox 156">
            <a:extLst>
              <a:ext uri="{FF2B5EF4-FFF2-40B4-BE49-F238E27FC236}">
                <a16:creationId xmlns:a16="http://schemas.microsoft.com/office/drawing/2014/main" id="{697A263C-1E37-BDDD-E9CC-911C93155B0D}"/>
              </a:ext>
            </a:extLst>
          </p:cNvPr>
          <p:cNvSpPr txBox="1"/>
          <p:nvPr/>
        </p:nvSpPr>
        <p:spPr>
          <a:xfrm>
            <a:off x="5393493" y="5007040"/>
            <a:ext cx="2016899" cy="10772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Bespoke or COTS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Number of application components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Number of Interfaces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Number of application Tiers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Number of Databases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p:txBody>
      </p:sp>
      <p:sp>
        <p:nvSpPr>
          <p:cNvPr id="158" name="TextBox 157">
            <a:extLst>
              <a:ext uri="{FF2B5EF4-FFF2-40B4-BE49-F238E27FC236}">
                <a16:creationId xmlns:a16="http://schemas.microsoft.com/office/drawing/2014/main" id="{D2AD64F4-7E27-2BCD-2FCE-773AC86D78B6}"/>
              </a:ext>
            </a:extLst>
          </p:cNvPr>
          <p:cNvSpPr txBox="1"/>
          <p:nvPr/>
        </p:nvSpPr>
        <p:spPr>
          <a:xfrm>
            <a:off x="7323108" y="5250954"/>
            <a:ext cx="1241045" cy="984885"/>
          </a:xfrm>
          <a:prstGeom prst="rect">
            <a:avLst/>
          </a:prstGeom>
          <a:noFill/>
        </p:spPr>
        <p:txBody>
          <a:bodyPr wrap="none" rtlCol="0">
            <a:spAutoFit/>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Business Criticality</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Compliance Level</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Knowledge Level</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Server Count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Operating System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000000"/>
              </a:solidFill>
              <a:effectLst/>
              <a:uLnTx/>
              <a:uFillTx/>
              <a:latin typeface="Arial"/>
              <a:ea typeface="+mn-ea"/>
              <a:cs typeface="+mn-cs"/>
            </a:endParaRPr>
          </a:p>
        </p:txBody>
      </p:sp>
      <p:sp>
        <p:nvSpPr>
          <p:cNvPr id="160" name="TextBox 159">
            <a:extLst>
              <a:ext uri="{FF2B5EF4-FFF2-40B4-BE49-F238E27FC236}">
                <a16:creationId xmlns:a16="http://schemas.microsoft.com/office/drawing/2014/main" id="{C3041130-A1CF-3FBD-8594-D71A03170DAA}"/>
              </a:ext>
            </a:extLst>
          </p:cNvPr>
          <p:cNvSpPr txBox="1"/>
          <p:nvPr/>
        </p:nvSpPr>
        <p:spPr>
          <a:xfrm>
            <a:off x="5384349" y="4984638"/>
            <a:ext cx="1847088" cy="2308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Key Data Points for Assessment</a:t>
            </a:r>
          </a:p>
        </p:txBody>
      </p:sp>
      <p:cxnSp>
        <p:nvCxnSpPr>
          <p:cNvPr id="162" name="Straight Connector 161">
            <a:extLst>
              <a:ext uri="{FF2B5EF4-FFF2-40B4-BE49-F238E27FC236}">
                <a16:creationId xmlns:a16="http://schemas.microsoft.com/office/drawing/2014/main" id="{4737E14D-E6CE-16B6-7326-470BF51602A1}"/>
              </a:ext>
            </a:extLst>
          </p:cNvPr>
          <p:cNvCxnSpPr>
            <a:cxnSpLocks/>
          </p:cNvCxnSpPr>
          <p:nvPr/>
        </p:nvCxnSpPr>
        <p:spPr>
          <a:xfrm>
            <a:off x="5479714" y="5188038"/>
            <a:ext cx="3102727" cy="0"/>
          </a:xfrm>
          <a:prstGeom prst="line">
            <a:avLst/>
          </a:prstGeom>
          <a:ln w="12700">
            <a:solidFill>
              <a:schemeClr val="bg1">
                <a:alpha val="80000"/>
              </a:schemeClr>
            </a:solidFill>
            <a:tailEnd type="none" w="sm" len="sm"/>
          </a:ln>
        </p:spPr>
        <p:style>
          <a:lnRef idx="1">
            <a:schemeClr val="accent1"/>
          </a:lnRef>
          <a:fillRef idx="0">
            <a:schemeClr val="accent1"/>
          </a:fillRef>
          <a:effectRef idx="0">
            <a:schemeClr val="accent1"/>
          </a:effectRef>
          <a:fontRef idx="minor">
            <a:schemeClr val="tx1"/>
          </a:fontRef>
        </p:style>
      </p:cxnSp>
      <p:grpSp>
        <p:nvGrpSpPr>
          <p:cNvPr id="209" name="Group 208">
            <a:extLst>
              <a:ext uri="{FF2B5EF4-FFF2-40B4-BE49-F238E27FC236}">
                <a16:creationId xmlns:a16="http://schemas.microsoft.com/office/drawing/2014/main" id="{01A4CC2D-3870-C310-C271-CACB638DE933}"/>
              </a:ext>
            </a:extLst>
          </p:cNvPr>
          <p:cNvGrpSpPr/>
          <p:nvPr/>
        </p:nvGrpSpPr>
        <p:grpSpPr>
          <a:xfrm>
            <a:off x="1877232" y="3870015"/>
            <a:ext cx="786385" cy="786384"/>
            <a:chOff x="9956942" y="1647003"/>
            <a:chExt cx="786385" cy="786384"/>
          </a:xfrm>
        </p:grpSpPr>
        <p:grpSp>
          <p:nvGrpSpPr>
            <p:cNvPr id="170" name="Group 169">
              <a:extLst>
                <a:ext uri="{FF2B5EF4-FFF2-40B4-BE49-F238E27FC236}">
                  <a16:creationId xmlns:a16="http://schemas.microsoft.com/office/drawing/2014/main" id="{797BE3FA-E814-3480-7F07-BAB4023469AC}"/>
                </a:ext>
              </a:extLst>
            </p:cNvPr>
            <p:cNvGrpSpPr/>
            <p:nvPr/>
          </p:nvGrpSpPr>
          <p:grpSpPr>
            <a:xfrm rot="17874967">
              <a:off x="10163592" y="1962460"/>
              <a:ext cx="362049" cy="212971"/>
              <a:chOff x="9382125" y="3295650"/>
              <a:chExt cx="485775" cy="285750"/>
            </a:xfrm>
          </p:grpSpPr>
          <p:sp>
            <p:nvSpPr>
              <p:cNvPr id="171" name="Freeform 152">
                <a:extLst>
                  <a:ext uri="{FF2B5EF4-FFF2-40B4-BE49-F238E27FC236}">
                    <a16:creationId xmlns:a16="http://schemas.microsoft.com/office/drawing/2014/main" id="{C9440C58-7244-5917-37D3-B23E5B2D4B10}"/>
                  </a:ext>
                </a:extLst>
              </p:cNvPr>
              <p:cNvSpPr>
                <a:spLocks noChangeArrowheads="1"/>
              </p:cNvSpPr>
              <p:nvPr/>
            </p:nvSpPr>
            <p:spPr bwMode="auto">
              <a:xfrm>
                <a:off x="9721850" y="3297238"/>
                <a:ext cx="7938" cy="1587"/>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2" name="Freeform 153">
                <a:extLst>
                  <a:ext uri="{FF2B5EF4-FFF2-40B4-BE49-F238E27FC236}">
                    <a16:creationId xmlns:a16="http://schemas.microsoft.com/office/drawing/2014/main" id="{4BAE666F-7C0D-A7E2-4E1F-6D687C40B949}"/>
                  </a:ext>
                </a:extLst>
              </p:cNvPr>
              <p:cNvSpPr>
                <a:spLocks noChangeArrowheads="1"/>
              </p:cNvSpPr>
              <p:nvPr/>
            </p:nvSpPr>
            <p:spPr bwMode="auto">
              <a:xfrm>
                <a:off x="9721850" y="3579813"/>
                <a:ext cx="7938" cy="1587"/>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3" name="Freeform 154">
                <a:extLst>
                  <a:ext uri="{FF2B5EF4-FFF2-40B4-BE49-F238E27FC236}">
                    <a16:creationId xmlns:a16="http://schemas.microsoft.com/office/drawing/2014/main" id="{0C2D1F55-6203-C2E1-7310-EB1F7B5BA40C}"/>
                  </a:ext>
                </a:extLst>
              </p:cNvPr>
              <p:cNvSpPr>
                <a:spLocks noChangeArrowheads="1"/>
              </p:cNvSpPr>
              <p:nvPr/>
            </p:nvSpPr>
            <p:spPr bwMode="auto">
              <a:xfrm>
                <a:off x="9866313" y="3435350"/>
                <a:ext cx="1587" cy="7938"/>
              </a:xfrm>
              <a:custGeom>
                <a:avLst/>
                <a:gdLst>
                  <a:gd name="T0" fmla="*/ 0 w 1"/>
                  <a:gd name="T1" fmla="*/ 21 h 22"/>
                  <a:gd name="T2" fmla="*/ 0 w 1"/>
                  <a:gd name="T3" fmla="*/ 0 h 22"/>
                </a:gdLst>
                <a:ahLst/>
                <a:cxnLst>
                  <a:cxn ang="0">
                    <a:pos x="T0" y="T1"/>
                  </a:cxn>
                  <a:cxn ang="0">
                    <a:pos x="T2" y="T3"/>
                  </a:cxn>
                </a:cxnLst>
                <a:rect l="0" t="0" r="r" b="b"/>
                <a:pathLst>
                  <a:path w="1" h="22">
                    <a:moveTo>
                      <a:pt x="0" y="21"/>
                    </a:moveTo>
                    <a:cubicBezTo>
                      <a:pt x="0" y="14"/>
                      <a:pt x="0" y="7"/>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4" name="Freeform 155">
                <a:extLst>
                  <a:ext uri="{FF2B5EF4-FFF2-40B4-BE49-F238E27FC236}">
                    <a16:creationId xmlns:a16="http://schemas.microsoft.com/office/drawing/2014/main" id="{053C702E-2DAE-0136-0E78-3BC4367F81A0}"/>
                  </a:ext>
                </a:extLst>
              </p:cNvPr>
              <p:cNvSpPr>
                <a:spLocks noChangeArrowheads="1"/>
              </p:cNvSpPr>
              <p:nvPr/>
            </p:nvSpPr>
            <p:spPr bwMode="auto">
              <a:xfrm>
                <a:off x="9685338" y="3300413"/>
                <a:ext cx="7937" cy="3175"/>
              </a:xfrm>
              <a:custGeom>
                <a:avLst/>
                <a:gdLst>
                  <a:gd name="T0" fmla="*/ 21 w 22"/>
                  <a:gd name="T1" fmla="*/ 0 h 7"/>
                  <a:gd name="T2" fmla="*/ 0 w 22"/>
                  <a:gd name="T3" fmla="*/ 6 h 7"/>
                </a:gdLst>
                <a:ahLst/>
                <a:cxnLst>
                  <a:cxn ang="0">
                    <a:pos x="T0" y="T1"/>
                  </a:cxn>
                  <a:cxn ang="0">
                    <a:pos x="T2" y="T3"/>
                  </a:cxn>
                </a:cxnLst>
                <a:rect l="0" t="0" r="r" b="b"/>
                <a:pathLst>
                  <a:path w="22" h="7">
                    <a:moveTo>
                      <a:pt x="21" y="0"/>
                    </a:moveTo>
                    <a:cubicBezTo>
                      <a:pt x="14" y="2"/>
                      <a:pt x="7" y="4"/>
                      <a:pt x="0" y="6"/>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5" name="Freeform 156">
                <a:extLst>
                  <a:ext uri="{FF2B5EF4-FFF2-40B4-BE49-F238E27FC236}">
                    <a16:creationId xmlns:a16="http://schemas.microsoft.com/office/drawing/2014/main" id="{21045619-F9A7-9E69-175E-A104875D44F1}"/>
                  </a:ext>
                </a:extLst>
              </p:cNvPr>
              <p:cNvSpPr>
                <a:spLocks noChangeArrowheads="1"/>
              </p:cNvSpPr>
              <p:nvPr/>
            </p:nvSpPr>
            <p:spPr bwMode="auto">
              <a:xfrm>
                <a:off x="9758363" y="3573463"/>
                <a:ext cx="7937" cy="1587"/>
              </a:xfrm>
              <a:custGeom>
                <a:avLst/>
                <a:gdLst>
                  <a:gd name="T0" fmla="*/ 20 w 21"/>
                  <a:gd name="T1" fmla="*/ 0 h 6"/>
                  <a:gd name="T2" fmla="*/ 0 w 21"/>
                  <a:gd name="T3" fmla="*/ 5 h 6"/>
                </a:gdLst>
                <a:ahLst/>
                <a:cxnLst>
                  <a:cxn ang="0">
                    <a:pos x="T0" y="T1"/>
                  </a:cxn>
                  <a:cxn ang="0">
                    <a:pos x="T2" y="T3"/>
                  </a:cxn>
                </a:cxnLst>
                <a:rect l="0" t="0" r="r" b="b"/>
                <a:pathLst>
                  <a:path w="21" h="6">
                    <a:moveTo>
                      <a:pt x="20" y="0"/>
                    </a:moveTo>
                    <a:cubicBezTo>
                      <a:pt x="13" y="2"/>
                      <a:pt x="7" y="4"/>
                      <a:pt x="0" y="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6" name="Freeform 157">
                <a:extLst>
                  <a:ext uri="{FF2B5EF4-FFF2-40B4-BE49-F238E27FC236}">
                    <a16:creationId xmlns:a16="http://schemas.microsoft.com/office/drawing/2014/main" id="{4E11BA55-35FC-3A29-6339-0770A9198EBE}"/>
                  </a:ext>
                </a:extLst>
              </p:cNvPr>
              <p:cNvSpPr>
                <a:spLocks noChangeArrowheads="1"/>
              </p:cNvSpPr>
              <p:nvPr/>
            </p:nvSpPr>
            <p:spPr bwMode="auto">
              <a:xfrm>
                <a:off x="9861550" y="3398838"/>
                <a:ext cx="3175" cy="7937"/>
              </a:xfrm>
              <a:custGeom>
                <a:avLst/>
                <a:gdLst>
                  <a:gd name="T0" fmla="*/ 6 w 7"/>
                  <a:gd name="T1" fmla="*/ 20 h 21"/>
                  <a:gd name="T2" fmla="*/ 0 w 7"/>
                  <a:gd name="T3" fmla="*/ 0 h 21"/>
                </a:gdLst>
                <a:ahLst/>
                <a:cxnLst>
                  <a:cxn ang="0">
                    <a:pos x="T0" y="T1"/>
                  </a:cxn>
                  <a:cxn ang="0">
                    <a:pos x="T2" y="T3"/>
                  </a:cxn>
                </a:cxnLst>
                <a:rect l="0" t="0" r="r" b="b"/>
                <a:pathLst>
                  <a:path w="7" h="21">
                    <a:moveTo>
                      <a:pt x="6" y="20"/>
                    </a:moveTo>
                    <a:cubicBezTo>
                      <a:pt x="4" y="13"/>
                      <a:pt x="2" y="6"/>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7" name="Freeform 158">
                <a:extLst>
                  <a:ext uri="{FF2B5EF4-FFF2-40B4-BE49-F238E27FC236}">
                    <a16:creationId xmlns:a16="http://schemas.microsoft.com/office/drawing/2014/main" id="{59C9F54C-61B3-8E40-DB5C-C394DD6EA506}"/>
                  </a:ext>
                </a:extLst>
              </p:cNvPr>
              <p:cNvSpPr>
                <a:spLocks noChangeArrowheads="1"/>
              </p:cNvSpPr>
              <p:nvPr/>
            </p:nvSpPr>
            <p:spPr bwMode="auto">
              <a:xfrm>
                <a:off x="9588500" y="3470275"/>
                <a:ext cx="1588" cy="7938"/>
              </a:xfrm>
              <a:custGeom>
                <a:avLst/>
                <a:gdLst>
                  <a:gd name="T0" fmla="*/ 5 w 6"/>
                  <a:gd name="T1" fmla="*/ 21 h 22"/>
                  <a:gd name="T2" fmla="*/ 0 w 6"/>
                  <a:gd name="T3" fmla="*/ 0 h 22"/>
                </a:gdLst>
                <a:ahLst/>
                <a:cxnLst>
                  <a:cxn ang="0">
                    <a:pos x="T0" y="T1"/>
                  </a:cxn>
                  <a:cxn ang="0">
                    <a:pos x="T2" y="T3"/>
                  </a:cxn>
                </a:cxnLst>
                <a:rect l="0" t="0" r="r" b="b"/>
                <a:pathLst>
                  <a:path w="6" h="22">
                    <a:moveTo>
                      <a:pt x="5" y="21"/>
                    </a:moveTo>
                    <a:cubicBezTo>
                      <a:pt x="3" y="14"/>
                      <a:pt x="2" y="7"/>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8" name="Freeform 159">
                <a:extLst>
                  <a:ext uri="{FF2B5EF4-FFF2-40B4-BE49-F238E27FC236}">
                    <a16:creationId xmlns:a16="http://schemas.microsoft.com/office/drawing/2014/main" id="{9621F6BC-1E9E-B177-69D7-A134728EF80C}"/>
                  </a:ext>
                </a:extLst>
              </p:cNvPr>
              <p:cNvSpPr>
                <a:spLocks noChangeArrowheads="1"/>
              </p:cNvSpPr>
              <p:nvPr/>
            </p:nvSpPr>
            <p:spPr bwMode="auto">
              <a:xfrm>
                <a:off x="9652000" y="3314700"/>
                <a:ext cx="6350" cy="4763"/>
              </a:xfrm>
              <a:custGeom>
                <a:avLst/>
                <a:gdLst>
                  <a:gd name="T0" fmla="*/ 18 w 19"/>
                  <a:gd name="T1" fmla="*/ 0 h 12"/>
                  <a:gd name="T2" fmla="*/ 0 w 19"/>
                  <a:gd name="T3" fmla="*/ 11 h 12"/>
                </a:gdLst>
                <a:ahLst/>
                <a:cxnLst>
                  <a:cxn ang="0">
                    <a:pos x="T0" y="T1"/>
                  </a:cxn>
                  <a:cxn ang="0">
                    <a:pos x="T2" y="T3"/>
                  </a:cxn>
                </a:cxnLst>
                <a:rect l="0" t="0" r="r" b="b"/>
                <a:pathLst>
                  <a:path w="19" h="12">
                    <a:moveTo>
                      <a:pt x="18" y="0"/>
                    </a:moveTo>
                    <a:cubicBezTo>
                      <a:pt x="12" y="3"/>
                      <a:pt x="6" y="7"/>
                      <a:pt x="0" y="1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9" name="Freeform 160">
                <a:extLst>
                  <a:ext uri="{FF2B5EF4-FFF2-40B4-BE49-F238E27FC236}">
                    <a16:creationId xmlns:a16="http://schemas.microsoft.com/office/drawing/2014/main" id="{DC03DA9C-6356-805D-C052-F4D36E0C10C2}"/>
                  </a:ext>
                </a:extLst>
              </p:cNvPr>
              <p:cNvSpPr>
                <a:spLocks noChangeArrowheads="1"/>
              </p:cNvSpPr>
              <p:nvPr/>
            </p:nvSpPr>
            <p:spPr bwMode="auto">
              <a:xfrm>
                <a:off x="9793288" y="3557588"/>
                <a:ext cx="6350" cy="4762"/>
              </a:xfrm>
              <a:custGeom>
                <a:avLst/>
                <a:gdLst>
                  <a:gd name="T0" fmla="*/ 18 w 19"/>
                  <a:gd name="T1" fmla="*/ 0 h 12"/>
                  <a:gd name="T2" fmla="*/ 0 w 19"/>
                  <a:gd name="T3" fmla="*/ 11 h 12"/>
                </a:gdLst>
                <a:ahLst/>
                <a:cxnLst>
                  <a:cxn ang="0">
                    <a:pos x="T0" y="T1"/>
                  </a:cxn>
                  <a:cxn ang="0">
                    <a:pos x="T2" y="T3"/>
                  </a:cxn>
                </a:cxnLst>
                <a:rect l="0" t="0" r="r" b="b"/>
                <a:pathLst>
                  <a:path w="19" h="12">
                    <a:moveTo>
                      <a:pt x="18" y="0"/>
                    </a:moveTo>
                    <a:cubicBezTo>
                      <a:pt x="12" y="4"/>
                      <a:pt x="6" y="8"/>
                      <a:pt x="0" y="1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0" name="Freeform 161">
                <a:extLst>
                  <a:ext uri="{FF2B5EF4-FFF2-40B4-BE49-F238E27FC236}">
                    <a16:creationId xmlns:a16="http://schemas.microsoft.com/office/drawing/2014/main" id="{32C6337B-E0E3-CBE4-5FD5-7C3375280117}"/>
                  </a:ext>
                </a:extLst>
              </p:cNvPr>
              <p:cNvSpPr>
                <a:spLocks noChangeArrowheads="1"/>
              </p:cNvSpPr>
              <p:nvPr/>
            </p:nvSpPr>
            <p:spPr bwMode="auto">
              <a:xfrm>
                <a:off x="9845675" y="3363913"/>
                <a:ext cx="3175" cy="7937"/>
              </a:xfrm>
              <a:custGeom>
                <a:avLst/>
                <a:gdLst>
                  <a:gd name="T0" fmla="*/ 10 w 11"/>
                  <a:gd name="T1" fmla="*/ 19 h 20"/>
                  <a:gd name="T2" fmla="*/ 0 w 11"/>
                  <a:gd name="T3" fmla="*/ 0 h 20"/>
                </a:gdLst>
                <a:ahLst/>
                <a:cxnLst>
                  <a:cxn ang="0">
                    <a:pos x="T0" y="T1"/>
                  </a:cxn>
                  <a:cxn ang="0">
                    <a:pos x="T2" y="T3"/>
                  </a:cxn>
                </a:cxnLst>
                <a:rect l="0" t="0" r="r" b="b"/>
                <a:pathLst>
                  <a:path w="11" h="20">
                    <a:moveTo>
                      <a:pt x="10" y="19"/>
                    </a:moveTo>
                    <a:cubicBezTo>
                      <a:pt x="7" y="12"/>
                      <a:pt x="3" y="6"/>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1" name="Freeform 162">
                <a:extLst>
                  <a:ext uri="{FF2B5EF4-FFF2-40B4-BE49-F238E27FC236}">
                    <a16:creationId xmlns:a16="http://schemas.microsoft.com/office/drawing/2014/main" id="{F12B25D7-F98B-F025-F419-CC78C4E31442}"/>
                  </a:ext>
                </a:extLst>
              </p:cNvPr>
              <p:cNvSpPr>
                <a:spLocks noChangeArrowheads="1"/>
              </p:cNvSpPr>
              <p:nvPr/>
            </p:nvSpPr>
            <p:spPr bwMode="auto">
              <a:xfrm>
                <a:off x="9601200" y="3505200"/>
                <a:ext cx="3175" cy="6350"/>
              </a:xfrm>
              <a:custGeom>
                <a:avLst/>
                <a:gdLst>
                  <a:gd name="T0" fmla="*/ 10 w 11"/>
                  <a:gd name="T1" fmla="*/ 18 h 19"/>
                  <a:gd name="T2" fmla="*/ 0 w 11"/>
                  <a:gd name="T3" fmla="*/ 0 h 19"/>
                </a:gdLst>
                <a:ahLst/>
                <a:cxnLst>
                  <a:cxn ang="0">
                    <a:pos x="T0" y="T1"/>
                  </a:cxn>
                  <a:cxn ang="0">
                    <a:pos x="T2" y="T3"/>
                  </a:cxn>
                </a:cxnLst>
                <a:rect l="0" t="0" r="r" b="b"/>
                <a:pathLst>
                  <a:path w="11" h="19">
                    <a:moveTo>
                      <a:pt x="10" y="18"/>
                    </a:moveTo>
                    <a:cubicBezTo>
                      <a:pt x="7" y="12"/>
                      <a:pt x="3" y="6"/>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2" name="Freeform 163">
                <a:extLst>
                  <a:ext uri="{FF2B5EF4-FFF2-40B4-BE49-F238E27FC236}">
                    <a16:creationId xmlns:a16="http://schemas.microsoft.com/office/drawing/2014/main" id="{94ED6D97-C150-1FDC-6CB7-4F6F632A9193}"/>
                  </a:ext>
                </a:extLst>
              </p:cNvPr>
              <p:cNvSpPr>
                <a:spLocks noChangeArrowheads="1"/>
              </p:cNvSpPr>
              <p:nvPr/>
            </p:nvSpPr>
            <p:spPr bwMode="auto">
              <a:xfrm>
                <a:off x="9821863" y="3535363"/>
                <a:ext cx="6350" cy="6350"/>
              </a:xfrm>
              <a:custGeom>
                <a:avLst/>
                <a:gdLst>
                  <a:gd name="T0" fmla="*/ 15 w 16"/>
                  <a:gd name="T1" fmla="*/ 0 h 16"/>
                  <a:gd name="T2" fmla="*/ 0 w 16"/>
                  <a:gd name="T3" fmla="*/ 15 h 16"/>
                </a:gdLst>
                <a:ahLst/>
                <a:cxnLst>
                  <a:cxn ang="0">
                    <a:pos x="T0" y="T1"/>
                  </a:cxn>
                  <a:cxn ang="0">
                    <a:pos x="T2" y="T3"/>
                  </a:cxn>
                </a:cxnLst>
                <a:rect l="0" t="0" r="r" b="b"/>
                <a:pathLst>
                  <a:path w="16" h="16">
                    <a:moveTo>
                      <a:pt x="15" y="0"/>
                    </a:moveTo>
                    <a:cubicBezTo>
                      <a:pt x="10" y="5"/>
                      <a:pt x="5" y="10"/>
                      <a:pt x="0"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3" name="Freeform 164">
                <a:extLst>
                  <a:ext uri="{FF2B5EF4-FFF2-40B4-BE49-F238E27FC236}">
                    <a16:creationId xmlns:a16="http://schemas.microsoft.com/office/drawing/2014/main" id="{31AA24F9-7DF5-6CFE-DFCB-FAA71A988A88}"/>
                  </a:ext>
                </a:extLst>
              </p:cNvPr>
              <p:cNvSpPr>
                <a:spLocks noChangeArrowheads="1"/>
              </p:cNvSpPr>
              <p:nvPr/>
            </p:nvSpPr>
            <p:spPr bwMode="auto">
              <a:xfrm>
                <a:off x="9821863" y="3335338"/>
                <a:ext cx="6350" cy="6350"/>
              </a:xfrm>
              <a:custGeom>
                <a:avLst/>
                <a:gdLst>
                  <a:gd name="T0" fmla="*/ 15 w 16"/>
                  <a:gd name="T1" fmla="*/ 15 h 16"/>
                  <a:gd name="T2" fmla="*/ 0 w 16"/>
                  <a:gd name="T3" fmla="*/ 0 h 16"/>
                </a:gdLst>
                <a:ahLst/>
                <a:cxnLst>
                  <a:cxn ang="0">
                    <a:pos x="T0" y="T1"/>
                  </a:cxn>
                  <a:cxn ang="0">
                    <a:pos x="T2" y="T3"/>
                  </a:cxn>
                </a:cxnLst>
                <a:rect l="0" t="0" r="r" b="b"/>
                <a:pathLst>
                  <a:path w="16" h="16">
                    <a:moveTo>
                      <a:pt x="15" y="15"/>
                    </a:moveTo>
                    <a:cubicBezTo>
                      <a:pt x="10" y="10"/>
                      <a:pt x="5"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4" name="Freeform 165">
                <a:extLst>
                  <a:ext uri="{FF2B5EF4-FFF2-40B4-BE49-F238E27FC236}">
                    <a16:creationId xmlns:a16="http://schemas.microsoft.com/office/drawing/2014/main" id="{AB63B821-C884-663D-CEEB-0BEE2959398F}"/>
                  </a:ext>
                </a:extLst>
              </p:cNvPr>
              <p:cNvSpPr>
                <a:spLocks noChangeArrowheads="1"/>
              </p:cNvSpPr>
              <p:nvPr/>
            </p:nvSpPr>
            <p:spPr bwMode="auto">
              <a:xfrm>
                <a:off x="9601200" y="3363913"/>
                <a:ext cx="3175" cy="7937"/>
              </a:xfrm>
              <a:custGeom>
                <a:avLst/>
                <a:gdLst>
                  <a:gd name="T0" fmla="*/ 10 w 11"/>
                  <a:gd name="T1" fmla="*/ 0 h 20"/>
                  <a:gd name="T2" fmla="*/ 0 w 11"/>
                  <a:gd name="T3" fmla="*/ 19 h 20"/>
                </a:gdLst>
                <a:ahLst/>
                <a:cxnLst>
                  <a:cxn ang="0">
                    <a:pos x="T0" y="T1"/>
                  </a:cxn>
                  <a:cxn ang="0">
                    <a:pos x="T2" y="T3"/>
                  </a:cxn>
                </a:cxnLst>
                <a:rect l="0" t="0" r="r" b="b"/>
                <a:pathLst>
                  <a:path w="11" h="20">
                    <a:moveTo>
                      <a:pt x="10" y="0"/>
                    </a:moveTo>
                    <a:cubicBezTo>
                      <a:pt x="7" y="6"/>
                      <a:pt x="3" y="12"/>
                      <a:pt x="0" y="1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5" name="Freeform 166">
                <a:extLst>
                  <a:ext uri="{FF2B5EF4-FFF2-40B4-BE49-F238E27FC236}">
                    <a16:creationId xmlns:a16="http://schemas.microsoft.com/office/drawing/2014/main" id="{37B61F17-6998-CA55-88C4-D2E024482578}"/>
                  </a:ext>
                </a:extLst>
              </p:cNvPr>
              <p:cNvSpPr>
                <a:spLocks noChangeArrowheads="1"/>
              </p:cNvSpPr>
              <p:nvPr/>
            </p:nvSpPr>
            <p:spPr bwMode="auto">
              <a:xfrm>
                <a:off x="9845675" y="3505200"/>
                <a:ext cx="3175" cy="6350"/>
              </a:xfrm>
              <a:custGeom>
                <a:avLst/>
                <a:gdLst>
                  <a:gd name="T0" fmla="*/ 10 w 11"/>
                  <a:gd name="T1" fmla="*/ 0 h 19"/>
                  <a:gd name="T2" fmla="*/ 0 w 11"/>
                  <a:gd name="T3" fmla="*/ 18 h 19"/>
                </a:gdLst>
                <a:ahLst/>
                <a:cxnLst>
                  <a:cxn ang="0">
                    <a:pos x="T0" y="T1"/>
                  </a:cxn>
                  <a:cxn ang="0">
                    <a:pos x="T2" y="T3"/>
                  </a:cxn>
                </a:cxnLst>
                <a:rect l="0" t="0" r="r" b="b"/>
                <a:pathLst>
                  <a:path w="11" h="19">
                    <a:moveTo>
                      <a:pt x="10" y="0"/>
                    </a:moveTo>
                    <a:cubicBezTo>
                      <a:pt x="7" y="6"/>
                      <a:pt x="3" y="12"/>
                      <a:pt x="0" y="1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6" name="Freeform 167">
                <a:extLst>
                  <a:ext uri="{FF2B5EF4-FFF2-40B4-BE49-F238E27FC236}">
                    <a16:creationId xmlns:a16="http://schemas.microsoft.com/office/drawing/2014/main" id="{2547131E-1CAC-F19F-0435-8B74F2060283}"/>
                  </a:ext>
                </a:extLst>
              </p:cNvPr>
              <p:cNvSpPr>
                <a:spLocks noChangeArrowheads="1"/>
              </p:cNvSpPr>
              <p:nvPr/>
            </p:nvSpPr>
            <p:spPr bwMode="auto">
              <a:xfrm>
                <a:off x="9793288" y="3314700"/>
                <a:ext cx="6350" cy="4763"/>
              </a:xfrm>
              <a:custGeom>
                <a:avLst/>
                <a:gdLst>
                  <a:gd name="T0" fmla="*/ 18 w 19"/>
                  <a:gd name="T1" fmla="*/ 11 h 12"/>
                  <a:gd name="T2" fmla="*/ 0 w 19"/>
                  <a:gd name="T3" fmla="*/ 0 h 12"/>
                </a:gdLst>
                <a:ahLst/>
                <a:cxnLst>
                  <a:cxn ang="0">
                    <a:pos x="T0" y="T1"/>
                  </a:cxn>
                  <a:cxn ang="0">
                    <a:pos x="T2" y="T3"/>
                  </a:cxn>
                </a:cxnLst>
                <a:rect l="0" t="0" r="r" b="b"/>
                <a:pathLst>
                  <a:path w="19" h="12">
                    <a:moveTo>
                      <a:pt x="18" y="11"/>
                    </a:moveTo>
                    <a:cubicBezTo>
                      <a:pt x="12" y="7"/>
                      <a:pt x="6"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7" name="Freeform 168">
                <a:extLst>
                  <a:ext uri="{FF2B5EF4-FFF2-40B4-BE49-F238E27FC236}">
                    <a16:creationId xmlns:a16="http://schemas.microsoft.com/office/drawing/2014/main" id="{1B87E9A7-C54E-11D7-15BE-DE59058F4BDC}"/>
                  </a:ext>
                </a:extLst>
              </p:cNvPr>
              <p:cNvSpPr>
                <a:spLocks noChangeArrowheads="1"/>
              </p:cNvSpPr>
              <p:nvPr/>
            </p:nvSpPr>
            <p:spPr bwMode="auto">
              <a:xfrm>
                <a:off x="9652000" y="3557588"/>
                <a:ext cx="6350" cy="4762"/>
              </a:xfrm>
              <a:custGeom>
                <a:avLst/>
                <a:gdLst>
                  <a:gd name="T0" fmla="*/ 18 w 19"/>
                  <a:gd name="T1" fmla="*/ 11 h 12"/>
                  <a:gd name="T2" fmla="*/ 0 w 19"/>
                  <a:gd name="T3" fmla="*/ 0 h 12"/>
                </a:gdLst>
                <a:ahLst/>
                <a:cxnLst>
                  <a:cxn ang="0">
                    <a:pos x="T0" y="T1"/>
                  </a:cxn>
                  <a:cxn ang="0">
                    <a:pos x="T2" y="T3"/>
                  </a:cxn>
                </a:cxnLst>
                <a:rect l="0" t="0" r="r" b="b"/>
                <a:pathLst>
                  <a:path w="19" h="12">
                    <a:moveTo>
                      <a:pt x="18" y="11"/>
                    </a:moveTo>
                    <a:cubicBezTo>
                      <a:pt x="12" y="8"/>
                      <a:pt x="6" y="4"/>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8" name="Freeform 169">
                <a:extLst>
                  <a:ext uri="{FF2B5EF4-FFF2-40B4-BE49-F238E27FC236}">
                    <a16:creationId xmlns:a16="http://schemas.microsoft.com/office/drawing/2014/main" id="{A7637447-7288-4E22-FA86-609724643A2A}"/>
                  </a:ext>
                </a:extLst>
              </p:cNvPr>
              <p:cNvSpPr>
                <a:spLocks noChangeArrowheads="1"/>
              </p:cNvSpPr>
              <p:nvPr/>
            </p:nvSpPr>
            <p:spPr bwMode="auto">
              <a:xfrm>
                <a:off x="9588500" y="3398838"/>
                <a:ext cx="1588" cy="7937"/>
              </a:xfrm>
              <a:custGeom>
                <a:avLst/>
                <a:gdLst>
                  <a:gd name="T0" fmla="*/ 5 w 6"/>
                  <a:gd name="T1" fmla="*/ 0 h 21"/>
                  <a:gd name="T2" fmla="*/ 0 w 6"/>
                  <a:gd name="T3" fmla="*/ 20 h 21"/>
                </a:gdLst>
                <a:ahLst/>
                <a:cxnLst>
                  <a:cxn ang="0">
                    <a:pos x="T0" y="T1"/>
                  </a:cxn>
                  <a:cxn ang="0">
                    <a:pos x="T2" y="T3"/>
                  </a:cxn>
                </a:cxnLst>
                <a:rect l="0" t="0" r="r" b="b"/>
                <a:pathLst>
                  <a:path w="6" h="21">
                    <a:moveTo>
                      <a:pt x="5" y="0"/>
                    </a:moveTo>
                    <a:cubicBezTo>
                      <a:pt x="3" y="6"/>
                      <a:pt x="2" y="13"/>
                      <a:pt x="0" y="2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9" name="Freeform 170">
                <a:extLst>
                  <a:ext uri="{FF2B5EF4-FFF2-40B4-BE49-F238E27FC236}">
                    <a16:creationId xmlns:a16="http://schemas.microsoft.com/office/drawing/2014/main" id="{0EB91B28-94D7-0D4D-AF3E-93B949CED183}"/>
                  </a:ext>
                </a:extLst>
              </p:cNvPr>
              <p:cNvSpPr>
                <a:spLocks noChangeArrowheads="1"/>
              </p:cNvSpPr>
              <p:nvPr/>
            </p:nvSpPr>
            <p:spPr bwMode="auto">
              <a:xfrm>
                <a:off x="9861550" y="3470275"/>
                <a:ext cx="3175" cy="7938"/>
              </a:xfrm>
              <a:custGeom>
                <a:avLst/>
                <a:gdLst>
                  <a:gd name="T0" fmla="*/ 6 w 7"/>
                  <a:gd name="T1" fmla="*/ 0 h 22"/>
                  <a:gd name="T2" fmla="*/ 0 w 7"/>
                  <a:gd name="T3" fmla="*/ 21 h 22"/>
                </a:gdLst>
                <a:ahLst/>
                <a:cxnLst>
                  <a:cxn ang="0">
                    <a:pos x="T0" y="T1"/>
                  </a:cxn>
                  <a:cxn ang="0">
                    <a:pos x="T2" y="T3"/>
                  </a:cxn>
                </a:cxnLst>
                <a:rect l="0" t="0" r="r" b="b"/>
                <a:pathLst>
                  <a:path w="7" h="22">
                    <a:moveTo>
                      <a:pt x="6" y="0"/>
                    </a:moveTo>
                    <a:cubicBezTo>
                      <a:pt x="4" y="7"/>
                      <a:pt x="2" y="14"/>
                      <a:pt x="0" y="2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0" name="Freeform 171">
                <a:extLst>
                  <a:ext uri="{FF2B5EF4-FFF2-40B4-BE49-F238E27FC236}">
                    <a16:creationId xmlns:a16="http://schemas.microsoft.com/office/drawing/2014/main" id="{CD7C4B6A-2DC6-89C0-65D0-12D2E4E740A1}"/>
                  </a:ext>
                </a:extLst>
              </p:cNvPr>
              <p:cNvSpPr>
                <a:spLocks noChangeArrowheads="1"/>
              </p:cNvSpPr>
              <p:nvPr/>
            </p:nvSpPr>
            <p:spPr bwMode="auto">
              <a:xfrm>
                <a:off x="9758363" y="3300413"/>
                <a:ext cx="7937" cy="3175"/>
              </a:xfrm>
              <a:custGeom>
                <a:avLst/>
                <a:gdLst>
                  <a:gd name="T0" fmla="*/ 20 w 21"/>
                  <a:gd name="T1" fmla="*/ 6 h 7"/>
                  <a:gd name="T2" fmla="*/ 0 w 21"/>
                  <a:gd name="T3" fmla="*/ 0 h 7"/>
                </a:gdLst>
                <a:ahLst/>
                <a:cxnLst>
                  <a:cxn ang="0">
                    <a:pos x="T0" y="T1"/>
                  </a:cxn>
                  <a:cxn ang="0">
                    <a:pos x="T2" y="T3"/>
                  </a:cxn>
                </a:cxnLst>
                <a:rect l="0" t="0" r="r" b="b"/>
                <a:pathLst>
                  <a:path w="21" h="7">
                    <a:moveTo>
                      <a:pt x="20" y="6"/>
                    </a:moveTo>
                    <a:cubicBezTo>
                      <a:pt x="13" y="4"/>
                      <a:pt x="7" y="2"/>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1" name="Freeform 172">
                <a:extLst>
                  <a:ext uri="{FF2B5EF4-FFF2-40B4-BE49-F238E27FC236}">
                    <a16:creationId xmlns:a16="http://schemas.microsoft.com/office/drawing/2014/main" id="{077C555B-9E3C-9AB1-0060-8E7C03C0F023}"/>
                  </a:ext>
                </a:extLst>
              </p:cNvPr>
              <p:cNvSpPr>
                <a:spLocks noChangeArrowheads="1"/>
              </p:cNvSpPr>
              <p:nvPr/>
            </p:nvSpPr>
            <p:spPr bwMode="auto">
              <a:xfrm>
                <a:off x="9685338" y="3573463"/>
                <a:ext cx="7937" cy="1587"/>
              </a:xfrm>
              <a:custGeom>
                <a:avLst/>
                <a:gdLst>
                  <a:gd name="T0" fmla="*/ 21 w 22"/>
                  <a:gd name="T1" fmla="*/ 5 h 6"/>
                  <a:gd name="T2" fmla="*/ 0 w 22"/>
                  <a:gd name="T3" fmla="*/ 0 h 6"/>
                </a:gdLst>
                <a:ahLst/>
                <a:cxnLst>
                  <a:cxn ang="0">
                    <a:pos x="T0" y="T1"/>
                  </a:cxn>
                  <a:cxn ang="0">
                    <a:pos x="T2" y="T3"/>
                  </a:cxn>
                </a:cxnLst>
                <a:rect l="0" t="0" r="r" b="b"/>
                <a:pathLst>
                  <a:path w="22" h="6">
                    <a:moveTo>
                      <a:pt x="21" y="5"/>
                    </a:moveTo>
                    <a:cubicBezTo>
                      <a:pt x="14" y="4"/>
                      <a:pt x="7" y="2"/>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2" name="Freeform 173">
                <a:extLst>
                  <a:ext uri="{FF2B5EF4-FFF2-40B4-BE49-F238E27FC236}">
                    <a16:creationId xmlns:a16="http://schemas.microsoft.com/office/drawing/2014/main" id="{1E81B63B-4241-2FC8-9D81-1E6B6E84381C}"/>
                  </a:ext>
                </a:extLst>
              </p:cNvPr>
              <p:cNvSpPr>
                <a:spLocks noChangeArrowheads="1"/>
              </p:cNvSpPr>
              <p:nvPr/>
            </p:nvSpPr>
            <p:spPr bwMode="auto">
              <a:xfrm>
                <a:off x="9525000" y="3438525"/>
                <a:ext cx="239713" cy="1588"/>
              </a:xfrm>
              <a:custGeom>
                <a:avLst/>
                <a:gdLst>
                  <a:gd name="T0" fmla="*/ 664 w 665"/>
                  <a:gd name="T1" fmla="*/ 0 h 1"/>
                  <a:gd name="T2" fmla="*/ 0 w 665"/>
                  <a:gd name="T3" fmla="*/ 0 h 1"/>
                </a:gdLst>
                <a:ahLst/>
                <a:cxnLst>
                  <a:cxn ang="0">
                    <a:pos x="T0" y="T1"/>
                  </a:cxn>
                  <a:cxn ang="0">
                    <a:pos x="T2" y="T3"/>
                  </a:cxn>
                </a:cxnLst>
                <a:rect l="0" t="0" r="r" b="b"/>
                <a:pathLst>
                  <a:path w="665" h="1">
                    <a:moveTo>
                      <a:pt x="664" y="0"/>
                    </a:moveTo>
                    <a:cubicBezTo>
                      <a:pt x="443" y="0"/>
                      <a:pt x="221"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3" name="Freeform 174">
                <a:extLst>
                  <a:ext uri="{FF2B5EF4-FFF2-40B4-BE49-F238E27FC236}">
                    <a16:creationId xmlns:a16="http://schemas.microsoft.com/office/drawing/2014/main" id="{65330CEB-D619-7091-3850-2E2886CC8C2D}"/>
                  </a:ext>
                </a:extLst>
              </p:cNvPr>
              <p:cNvSpPr>
                <a:spLocks noChangeArrowheads="1"/>
              </p:cNvSpPr>
              <p:nvPr/>
            </p:nvSpPr>
            <p:spPr bwMode="auto">
              <a:xfrm>
                <a:off x="9725025" y="3397250"/>
                <a:ext cx="39688" cy="80963"/>
              </a:xfrm>
              <a:custGeom>
                <a:avLst/>
                <a:gdLst>
                  <a:gd name="T0" fmla="*/ 0 w 112"/>
                  <a:gd name="T1" fmla="*/ 225 h 226"/>
                  <a:gd name="T2" fmla="*/ 108 w 112"/>
                  <a:gd name="T3" fmla="*/ 118 h 226"/>
                  <a:gd name="T4" fmla="*/ 108 w 112"/>
                  <a:gd name="T5" fmla="*/ 108 h 226"/>
                  <a:gd name="T6" fmla="*/ 0 w 112"/>
                  <a:gd name="T7" fmla="*/ 0 h 226"/>
                </a:gdLst>
                <a:ahLst/>
                <a:cxnLst>
                  <a:cxn ang="0">
                    <a:pos x="T0" y="T1"/>
                  </a:cxn>
                  <a:cxn ang="0">
                    <a:pos x="T2" y="T3"/>
                  </a:cxn>
                  <a:cxn ang="0">
                    <a:pos x="T4" y="T5"/>
                  </a:cxn>
                  <a:cxn ang="0">
                    <a:pos x="T6" y="T7"/>
                  </a:cxn>
                </a:cxnLst>
                <a:rect l="0" t="0" r="r" b="b"/>
                <a:pathLst>
                  <a:path w="112" h="226">
                    <a:moveTo>
                      <a:pt x="0" y="225"/>
                    </a:moveTo>
                    <a:cubicBezTo>
                      <a:pt x="36" y="189"/>
                      <a:pt x="72" y="154"/>
                      <a:pt x="108" y="118"/>
                    </a:cubicBezTo>
                    <a:cubicBezTo>
                      <a:pt x="111" y="116"/>
                      <a:pt x="111" y="111"/>
                      <a:pt x="108" y="108"/>
                    </a:cubicBezTo>
                    <a:cubicBezTo>
                      <a:pt x="72" y="72"/>
                      <a:pt x="36" y="36"/>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4" name="Freeform 175">
                <a:extLst>
                  <a:ext uri="{FF2B5EF4-FFF2-40B4-BE49-F238E27FC236}">
                    <a16:creationId xmlns:a16="http://schemas.microsoft.com/office/drawing/2014/main" id="{E5F44C0A-3E06-3C1E-9397-E5AA72D28BD8}"/>
                  </a:ext>
                </a:extLst>
              </p:cNvPr>
              <p:cNvSpPr>
                <a:spLocks noChangeArrowheads="1"/>
              </p:cNvSpPr>
              <p:nvPr/>
            </p:nvSpPr>
            <p:spPr bwMode="auto">
              <a:xfrm>
                <a:off x="9382125" y="3295650"/>
                <a:ext cx="284163" cy="284163"/>
              </a:xfrm>
              <a:custGeom>
                <a:avLst/>
                <a:gdLst>
                  <a:gd name="T0" fmla="*/ 395 w 791"/>
                  <a:gd name="T1" fmla="*/ 789 h 790"/>
                  <a:gd name="T2" fmla="*/ 0 w 791"/>
                  <a:gd name="T3" fmla="*/ 395 h 790"/>
                  <a:gd name="T4" fmla="*/ 395 w 791"/>
                  <a:gd name="T5" fmla="*/ 0 h 790"/>
                  <a:gd name="T6" fmla="*/ 790 w 791"/>
                  <a:gd name="T7" fmla="*/ 395 h 790"/>
                  <a:gd name="T8" fmla="*/ 395 w 791"/>
                  <a:gd name="T9" fmla="*/ 789 h 790"/>
                </a:gdLst>
                <a:ahLst/>
                <a:cxnLst>
                  <a:cxn ang="0">
                    <a:pos x="T0" y="T1"/>
                  </a:cxn>
                  <a:cxn ang="0">
                    <a:pos x="T2" y="T3"/>
                  </a:cxn>
                  <a:cxn ang="0">
                    <a:pos x="T4" y="T5"/>
                  </a:cxn>
                  <a:cxn ang="0">
                    <a:pos x="T6" y="T7"/>
                  </a:cxn>
                  <a:cxn ang="0">
                    <a:pos x="T8" y="T9"/>
                  </a:cxn>
                </a:cxnLst>
                <a:rect l="0" t="0" r="r" b="b"/>
                <a:pathLst>
                  <a:path w="791" h="790">
                    <a:moveTo>
                      <a:pt x="395" y="789"/>
                    </a:moveTo>
                    <a:cubicBezTo>
                      <a:pt x="177" y="789"/>
                      <a:pt x="0" y="612"/>
                      <a:pt x="0" y="395"/>
                    </a:cubicBezTo>
                    <a:cubicBezTo>
                      <a:pt x="0" y="178"/>
                      <a:pt x="178" y="0"/>
                      <a:pt x="395" y="0"/>
                    </a:cubicBezTo>
                    <a:cubicBezTo>
                      <a:pt x="613" y="0"/>
                      <a:pt x="790" y="178"/>
                      <a:pt x="790" y="395"/>
                    </a:cubicBezTo>
                    <a:cubicBezTo>
                      <a:pt x="790" y="612"/>
                      <a:pt x="612" y="789"/>
                      <a:pt x="395" y="78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95" name="Group 194">
              <a:extLst>
                <a:ext uri="{FF2B5EF4-FFF2-40B4-BE49-F238E27FC236}">
                  <a16:creationId xmlns:a16="http://schemas.microsoft.com/office/drawing/2014/main" id="{10C234ED-96E9-6684-44C0-C4D9A80D31F8}"/>
                </a:ext>
              </a:extLst>
            </p:cNvPr>
            <p:cNvGrpSpPr>
              <a:grpSpLocks noChangeAspect="1"/>
            </p:cNvGrpSpPr>
            <p:nvPr/>
          </p:nvGrpSpPr>
          <p:grpSpPr>
            <a:xfrm>
              <a:off x="9956942" y="1647003"/>
              <a:ext cx="786385" cy="786384"/>
              <a:chOff x="7775575" y="2201863"/>
              <a:chExt cx="630238" cy="630237"/>
            </a:xfrm>
          </p:grpSpPr>
          <p:sp>
            <p:nvSpPr>
              <p:cNvPr id="196" name="Freeform 200">
                <a:extLst>
                  <a:ext uri="{FF2B5EF4-FFF2-40B4-BE49-F238E27FC236}">
                    <a16:creationId xmlns:a16="http://schemas.microsoft.com/office/drawing/2014/main" id="{F301FF2F-5C26-4F30-477D-5A37F878A2E7}"/>
                  </a:ext>
                </a:extLst>
              </p:cNvPr>
              <p:cNvSpPr>
                <a:spLocks noChangeArrowheads="1"/>
              </p:cNvSpPr>
              <p:nvPr/>
            </p:nvSpPr>
            <p:spPr bwMode="auto">
              <a:xfrm>
                <a:off x="7775575" y="2201863"/>
                <a:ext cx="630238" cy="630237"/>
              </a:xfrm>
              <a:custGeom>
                <a:avLst/>
                <a:gdLst>
                  <a:gd name="T0" fmla="*/ 1468 w 1751"/>
                  <a:gd name="T1" fmla="*/ 1749 h 1750"/>
                  <a:gd name="T2" fmla="*/ 1750 w 1751"/>
                  <a:gd name="T3" fmla="*/ 1467 h 1750"/>
                  <a:gd name="T4" fmla="*/ 1750 w 1751"/>
                  <a:gd name="T5" fmla="*/ 282 h 1750"/>
                  <a:gd name="T6" fmla="*/ 1468 w 1751"/>
                  <a:gd name="T7" fmla="*/ 0 h 1750"/>
                  <a:gd name="T8" fmla="*/ 282 w 1751"/>
                  <a:gd name="T9" fmla="*/ 0 h 1750"/>
                  <a:gd name="T10" fmla="*/ 0 w 1751"/>
                  <a:gd name="T11" fmla="*/ 282 h 1750"/>
                  <a:gd name="T12" fmla="*/ 0 w 1751"/>
                  <a:gd name="T13" fmla="*/ 1467 h 1750"/>
                  <a:gd name="T14" fmla="*/ 282 w 1751"/>
                  <a:gd name="T15" fmla="*/ 1749 h 1750"/>
                  <a:gd name="T16" fmla="*/ 1468 w 1751"/>
                  <a:gd name="T17" fmla="*/ 1749 h 1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0">
                    <a:moveTo>
                      <a:pt x="1468" y="1749"/>
                    </a:moveTo>
                    <a:cubicBezTo>
                      <a:pt x="1623" y="1749"/>
                      <a:pt x="1750" y="1623"/>
                      <a:pt x="1750" y="1467"/>
                    </a:cubicBezTo>
                    <a:cubicBezTo>
                      <a:pt x="1750" y="1072"/>
                      <a:pt x="1750" y="677"/>
                      <a:pt x="1750" y="282"/>
                    </a:cubicBezTo>
                    <a:cubicBezTo>
                      <a:pt x="1750" y="127"/>
                      <a:pt x="1623" y="0"/>
                      <a:pt x="1468" y="0"/>
                    </a:cubicBezTo>
                    <a:cubicBezTo>
                      <a:pt x="1073" y="0"/>
                      <a:pt x="678" y="0"/>
                      <a:pt x="282" y="0"/>
                    </a:cubicBezTo>
                    <a:cubicBezTo>
                      <a:pt x="127" y="0"/>
                      <a:pt x="0" y="127"/>
                      <a:pt x="0" y="282"/>
                    </a:cubicBezTo>
                    <a:cubicBezTo>
                      <a:pt x="0" y="677"/>
                      <a:pt x="0" y="1072"/>
                      <a:pt x="0" y="1467"/>
                    </a:cubicBezTo>
                    <a:cubicBezTo>
                      <a:pt x="0" y="1623"/>
                      <a:pt x="127" y="1749"/>
                      <a:pt x="282" y="1749"/>
                    </a:cubicBezTo>
                    <a:cubicBezTo>
                      <a:pt x="678" y="1749"/>
                      <a:pt x="1073" y="1749"/>
                      <a:pt x="1468" y="174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97" name="Group 196">
                <a:extLst>
                  <a:ext uri="{FF2B5EF4-FFF2-40B4-BE49-F238E27FC236}">
                    <a16:creationId xmlns:a16="http://schemas.microsoft.com/office/drawing/2014/main" id="{D7D80EEE-82E8-A3AF-2E76-81E35730BD01}"/>
                  </a:ext>
                </a:extLst>
              </p:cNvPr>
              <p:cNvGrpSpPr/>
              <p:nvPr/>
            </p:nvGrpSpPr>
            <p:grpSpPr>
              <a:xfrm>
                <a:off x="7947025" y="2292350"/>
                <a:ext cx="284163" cy="407988"/>
                <a:chOff x="7947025" y="2292350"/>
                <a:chExt cx="284163" cy="407988"/>
              </a:xfrm>
            </p:grpSpPr>
            <p:sp>
              <p:nvSpPr>
                <p:cNvPr id="198" name="Freeform 201">
                  <a:extLst>
                    <a:ext uri="{FF2B5EF4-FFF2-40B4-BE49-F238E27FC236}">
                      <a16:creationId xmlns:a16="http://schemas.microsoft.com/office/drawing/2014/main" id="{77D303E3-1D0C-5967-A35B-86B5091D131C}"/>
                    </a:ext>
                  </a:extLst>
                </p:cNvPr>
                <p:cNvSpPr>
                  <a:spLocks noChangeArrowheads="1"/>
                </p:cNvSpPr>
                <p:nvPr/>
              </p:nvSpPr>
              <p:spPr bwMode="auto">
                <a:xfrm>
                  <a:off x="7947025" y="2333625"/>
                  <a:ext cx="284163" cy="366713"/>
                </a:xfrm>
                <a:custGeom>
                  <a:avLst/>
                  <a:gdLst>
                    <a:gd name="T0" fmla="*/ 564 w 791"/>
                    <a:gd name="T1" fmla="*/ 0 h 1017"/>
                    <a:gd name="T2" fmla="*/ 734 w 791"/>
                    <a:gd name="T3" fmla="*/ 0 h 1017"/>
                    <a:gd name="T4" fmla="*/ 790 w 791"/>
                    <a:gd name="T5" fmla="*/ 56 h 1017"/>
                    <a:gd name="T6" fmla="*/ 790 w 791"/>
                    <a:gd name="T7" fmla="*/ 959 h 1017"/>
                    <a:gd name="T8" fmla="*/ 734 w 791"/>
                    <a:gd name="T9" fmla="*/ 1016 h 1017"/>
                    <a:gd name="T10" fmla="*/ 56 w 791"/>
                    <a:gd name="T11" fmla="*/ 1016 h 1017"/>
                    <a:gd name="T12" fmla="*/ 0 w 791"/>
                    <a:gd name="T13" fmla="*/ 959 h 1017"/>
                    <a:gd name="T14" fmla="*/ 0 w 791"/>
                    <a:gd name="T15" fmla="*/ 56 h 1017"/>
                    <a:gd name="T16" fmla="*/ 56 w 791"/>
                    <a:gd name="T17" fmla="*/ 0 h 1017"/>
                    <a:gd name="T18" fmla="*/ 226 w 791"/>
                    <a:gd name="T19" fmla="*/ 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1" h="1017">
                      <a:moveTo>
                        <a:pt x="564" y="0"/>
                      </a:moveTo>
                      <a:cubicBezTo>
                        <a:pt x="621" y="0"/>
                        <a:pt x="678" y="0"/>
                        <a:pt x="734" y="0"/>
                      </a:cubicBezTo>
                      <a:cubicBezTo>
                        <a:pt x="765" y="0"/>
                        <a:pt x="790" y="25"/>
                        <a:pt x="790" y="56"/>
                      </a:cubicBezTo>
                      <a:cubicBezTo>
                        <a:pt x="790" y="357"/>
                        <a:pt x="790" y="658"/>
                        <a:pt x="790" y="959"/>
                      </a:cubicBezTo>
                      <a:cubicBezTo>
                        <a:pt x="790" y="990"/>
                        <a:pt x="765" y="1016"/>
                        <a:pt x="734" y="1016"/>
                      </a:cubicBezTo>
                      <a:cubicBezTo>
                        <a:pt x="508" y="1016"/>
                        <a:pt x="282" y="1016"/>
                        <a:pt x="56" y="1016"/>
                      </a:cubicBezTo>
                      <a:cubicBezTo>
                        <a:pt x="25" y="1016"/>
                        <a:pt x="0" y="990"/>
                        <a:pt x="0" y="959"/>
                      </a:cubicBezTo>
                      <a:cubicBezTo>
                        <a:pt x="0" y="658"/>
                        <a:pt x="0" y="357"/>
                        <a:pt x="0" y="56"/>
                      </a:cubicBezTo>
                      <a:cubicBezTo>
                        <a:pt x="0" y="25"/>
                        <a:pt x="25" y="0"/>
                        <a:pt x="56" y="0"/>
                      </a:cubicBezTo>
                      <a:cubicBezTo>
                        <a:pt x="113" y="0"/>
                        <a:pt x="170" y="0"/>
                        <a:pt x="226"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9" name="Freeform 202">
                  <a:extLst>
                    <a:ext uri="{FF2B5EF4-FFF2-40B4-BE49-F238E27FC236}">
                      <a16:creationId xmlns:a16="http://schemas.microsoft.com/office/drawing/2014/main" id="{86BEC23B-B28A-5326-6E85-DADF93C19338}"/>
                    </a:ext>
                  </a:extLst>
                </p:cNvPr>
                <p:cNvSpPr>
                  <a:spLocks noChangeArrowheads="1"/>
                </p:cNvSpPr>
                <p:nvPr/>
              </p:nvSpPr>
              <p:spPr bwMode="auto">
                <a:xfrm>
                  <a:off x="7997825" y="2292350"/>
                  <a:ext cx="182563" cy="92075"/>
                </a:xfrm>
                <a:custGeom>
                  <a:avLst/>
                  <a:gdLst>
                    <a:gd name="T0" fmla="*/ 508 w 509"/>
                    <a:gd name="T1" fmla="*/ 197 h 255"/>
                    <a:gd name="T2" fmla="*/ 423 w 509"/>
                    <a:gd name="T3" fmla="*/ 113 h 255"/>
                    <a:gd name="T4" fmla="*/ 380 w 509"/>
                    <a:gd name="T5" fmla="*/ 113 h 255"/>
                    <a:gd name="T6" fmla="*/ 366 w 509"/>
                    <a:gd name="T7" fmla="*/ 100 h 255"/>
                    <a:gd name="T8" fmla="*/ 254 w 509"/>
                    <a:gd name="T9" fmla="*/ 0 h 255"/>
                    <a:gd name="T10" fmla="*/ 142 w 509"/>
                    <a:gd name="T11" fmla="*/ 100 h 255"/>
                    <a:gd name="T12" fmla="*/ 128 w 509"/>
                    <a:gd name="T13" fmla="*/ 113 h 255"/>
                    <a:gd name="T14" fmla="*/ 85 w 509"/>
                    <a:gd name="T15" fmla="*/ 113 h 255"/>
                    <a:gd name="T16" fmla="*/ 0 w 509"/>
                    <a:gd name="T17" fmla="*/ 197 h 255"/>
                    <a:gd name="T18" fmla="*/ 0 w 509"/>
                    <a:gd name="T19" fmla="*/ 226 h 255"/>
                    <a:gd name="T20" fmla="*/ 28 w 509"/>
                    <a:gd name="T21" fmla="*/ 254 h 255"/>
                    <a:gd name="T22" fmla="*/ 480 w 509"/>
                    <a:gd name="T23" fmla="*/ 254 h 255"/>
                    <a:gd name="T24" fmla="*/ 508 w 509"/>
                    <a:gd name="T25" fmla="*/ 226 h 255"/>
                    <a:gd name="T26" fmla="*/ 508 w 509"/>
                    <a:gd name="T27" fmla="*/ 19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9" h="255">
                      <a:moveTo>
                        <a:pt x="508" y="197"/>
                      </a:moveTo>
                      <a:cubicBezTo>
                        <a:pt x="508" y="151"/>
                        <a:pt x="470" y="113"/>
                        <a:pt x="423" y="113"/>
                      </a:cubicBezTo>
                      <a:cubicBezTo>
                        <a:pt x="409" y="113"/>
                        <a:pt x="395" y="113"/>
                        <a:pt x="380" y="113"/>
                      </a:cubicBezTo>
                      <a:cubicBezTo>
                        <a:pt x="373" y="113"/>
                        <a:pt x="367" y="107"/>
                        <a:pt x="366" y="100"/>
                      </a:cubicBezTo>
                      <a:cubicBezTo>
                        <a:pt x="359" y="44"/>
                        <a:pt x="308" y="0"/>
                        <a:pt x="254" y="0"/>
                      </a:cubicBezTo>
                      <a:cubicBezTo>
                        <a:pt x="200" y="0"/>
                        <a:pt x="149" y="44"/>
                        <a:pt x="142" y="100"/>
                      </a:cubicBezTo>
                      <a:cubicBezTo>
                        <a:pt x="141" y="107"/>
                        <a:pt x="135" y="113"/>
                        <a:pt x="128" y="113"/>
                      </a:cubicBezTo>
                      <a:cubicBezTo>
                        <a:pt x="114" y="113"/>
                        <a:pt x="100" y="113"/>
                        <a:pt x="85" y="113"/>
                      </a:cubicBezTo>
                      <a:cubicBezTo>
                        <a:pt x="38" y="113"/>
                        <a:pt x="0" y="151"/>
                        <a:pt x="0" y="197"/>
                      </a:cubicBezTo>
                      <a:cubicBezTo>
                        <a:pt x="0" y="206"/>
                        <a:pt x="0" y="216"/>
                        <a:pt x="0" y="226"/>
                      </a:cubicBezTo>
                      <a:cubicBezTo>
                        <a:pt x="0" y="241"/>
                        <a:pt x="13" y="254"/>
                        <a:pt x="28" y="254"/>
                      </a:cubicBezTo>
                      <a:cubicBezTo>
                        <a:pt x="179" y="254"/>
                        <a:pt x="330" y="254"/>
                        <a:pt x="480" y="254"/>
                      </a:cubicBezTo>
                      <a:cubicBezTo>
                        <a:pt x="495" y="254"/>
                        <a:pt x="508" y="241"/>
                        <a:pt x="508" y="226"/>
                      </a:cubicBezTo>
                      <a:cubicBezTo>
                        <a:pt x="508" y="216"/>
                        <a:pt x="508" y="206"/>
                        <a:pt x="508" y="197"/>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01" name="Freeform 204">
                  <a:extLst>
                    <a:ext uri="{FF2B5EF4-FFF2-40B4-BE49-F238E27FC236}">
                      <a16:creationId xmlns:a16="http://schemas.microsoft.com/office/drawing/2014/main" id="{8A350C05-002F-79E6-0FFF-763AB0E602F2}"/>
                    </a:ext>
                  </a:extLst>
                </p:cNvPr>
                <p:cNvSpPr>
                  <a:spLocks noChangeArrowheads="1"/>
                </p:cNvSpPr>
                <p:nvPr/>
              </p:nvSpPr>
              <p:spPr bwMode="auto">
                <a:xfrm>
                  <a:off x="8080375" y="2322513"/>
                  <a:ext cx="20638" cy="20637"/>
                </a:xfrm>
                <a:custGeom>
                  <a:avLst/>
                  <a:gdLst>
                    <a:gd name="T0" fmla="*/ 56 w 57"/>
                    <a:gd name="T1" fmla="*/ 29 h 58"/>
                    <a:gd name="T2" fmla="*/ 28 w 57"/>
                    <a:gd name="T3" fmla="*/ 57 h 58"/>
                    <a:gd name="T4" fmla="*/ 0 w 57"/>
                    <a:gd name="T5" fmla="*/ 29 h 58"/>
                    <a:gd name="T6" fmla="*/ 28 w 57"/>
                    <a:gd name="T7" fmla="*/ 0 h 58"/>
                    <a:gd name="T8" fmla="*/ 56 w 57"/>
                    <a:gd name="T9" fmla="*/ 29 h 58"/>
                  </a:gdLst>
                  <a:ahLst/>
                  <a:cxnLst>
                    <a:cxn ang="0">
                      <a:pos x="T0" y="T1"/>
                    </a:cxn>
                    <a:cxn ang="0">
                      <a:pos x="T2" y="T3"/>
                    </a:cxn>
                    <a:cxn ang="0">
                      <a:pos x="T4" y="T5"/>
                    </a:cxn>
                    <a:cxn ang="0">
                      <a:pos x="T6" y="T7"/>
                    </a:cxn>
                    <a:cxn ang="0">
                      <a:pos x="T8" y="T9"/>
                    </a:cxn>
                  </a:cxnLst>
                  <a:rect l="0" t="0" r="r" b="b"/>
                  <a:pathLst>
                    <a:path w="57" h="58">
                      <a:moveTo>
                        <a:pt x="56" y="29"/>
                      </a:moveTo>
                      <a:cubicBezTo>
                        <a:pt x="56" y="44"/>
                        <a:pt x="44" y="57"/>
                        <a:pt x="28" y="57"/>
                      </a:cubicBezTo>
                      <a:cubicBezTo>
                        <a:pt x="12" y="57"/>
                        <a:pt x="0" y="44"/>
                        <a:pt x="0" y="29"/>
                      </a:cubicBezTo>
                      <a:cubicBezTo>
                        <a:pt x="0" y="13"/>
                        <a:pt x="12" y="0"/>
                        <a:pt x="28" y="0"/>
                      </a:cubicBezTo>
                      <a:cubicBezTo>
                        <a:pt x="44" y="0"/>
                        <a:pt x="56" y="13"/>
                        <a:pt x="56" y="2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grpSp>
      <p:pic>
        <p:nvPicPr>
          <p:cNvPr id="211" name="Graphic 210" descr="Document outline">
            <a:extLst>
              <a:ext uri="{FF2B5EF4-FFF2-40B4-BE49-F238E27FC236}">
                <a16:creationId xmlns:a16="http://schemas.microsoft.com/office/drawing/2014/main" id="{DEE260F2-026F-3E47-BC9F-306F57B25D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00350" y="4802784"/>
            <a:ext cx="276084" cy="276084"/>
          </a:xfrm>
          <a:prstGeom prst="rect">
            <a:avLst/>
          </a:prstGeom>
        </p:spPr>
      </p:pic>
      <p:sp>
        <p:nvSpPr>
          <p:cNvPr id="242" name="TextBox 241">
            <a:extLst>
              <a:ext uri="{FF2B5EF4-FFF2-40B4-BE49-F238E27FC236}">
                <a16:creationId xmlns:a16="http://schemas.microsoft.com/office/drawing/2014/main" id="{D5730D5A-D1A5-FD08-63C0-A2DB4E565B0D}"/>
              </a:ext>
            </a:extLst>
          </p:cNvPr>
          <p:cNvSpPr txBox="1"/>
          <p:nvPr/>
        </p:nvSpPr>
        <p:spPr>
          <a:xfrm>
            <a:off x="1231002" y="4814869"/>
            <a:ext cx="1847088" cy="2308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Results</a:t>
            </a:r>
          </a:p>
        </p:txBody>
      </p:sp>
      <p:cxnSp>
        <p:nvCxnSpPr>
          <p:cNvPr id="243" name="Straight Connector 242">
            <a:extLst>
              <a:ext uri="{FF2B5EF4-FFF2-40B4-BE49-F238E27FC236}">
                <a16:creationId xmlns:a16="http://schemas.microsoft.com/office/drawing/2014/main" id="{41346BB6-6482-0C03-AF2F-2208C8FC4570}"/>
              </a:ext>
            </a:extLst>
          </p:cNvPr>
          <p:cNvCxnSpPr>
            <a:cxnSpLocks/>
          </p:cNvCxnSpPr>
          <p:nvPr/>
        </p:nvCxnSpPr>
        <p:spPr>
          <a:xfrm>
            <a:off x="1885578" y="5021381"/>
            <a:ext cx="2084413" cy="0"/>
          </a:xfrm>
          <a:prstGeom prst="line">
            <a:avLst/>
          </a:prstGeom>
          <a:ln w="12700">
            <a:solidFill>
              <a:schemeClr val="bg1">
                <a:alpha val="80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247" name="TextBox 246">
            <a:extLst>
              <a:ext uri="{FF2B5EF4-FFF2-40B4-BE49-F238E27FC236}">
                <a16:creationId xmlns:a16="http://schemas.microsoft.com/office/drawing/2014/main" id="{B6032344-D205-8A29-5CE2-D03F2E31D489}"/>
              </a:ext>
            </a:extLst>
          </p:cNvPr>
          <p:cNvSpPr txBox="1"/>
          <p:nvPr/>
        </p:nvSpPr>
        <p:spPr>
          <a:xfrm>
            <a:off x="1806267" y="4811353"/>
            <a:ext cx="2498369"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Defined Migration Scope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Application Complexity assessment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Application to Server Mapping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Indicative Migration Strategy per application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High Level Release Plan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High Level Design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rPr>
              <a:t>Estimated Cost of Migration and Operation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kumimoji="0" lang="en-GB" sz="800" b="0" i="0" u="none" strike="noStrike" kern="1200" cap="none" spc="0" normalizeH="0" baseline="0" noProof="0">
              <a:ln>
                <a:noFill/>
              </a:ln>
              <a:solidFill>
                <a:srgbClr val="FFFFFF"/>
              </a:solidFill>
              <a:effectLst/>
              <a:uLnTx/>
              <a:uFillTx/>
              <a:latin typeface="Fira Sans" panose="020B0503050000020004" pitchFamily="34" charset="0"/>
              <a:ea typeface="+mn-ea"/>
              <a:cs typeface="+mn-cs"/>
            </a:endParaRPr>
          </a:p>
        </p:txBody>
      </p:sp>
      <p:cxnSp>
        <p:nvCxnSpPr>
          <p:cNvPr id="250" name="Elbow Connector 163">
            <a:extLst>
              <a:ext uri="{FF2B5EF4-FFF2-40B4-BE49-F238E27FC236}">
                <a16:creationId xmlns:a16="http://schemas.microsoft.com/office/drawing/2014/main" id="{D664F85E-F3BA-8E86-5D35-17E95EA04344}"/>
              </a:ext>
            </a:extLst>
          </p:cNvPr>
          <p:cNvCxnSpPr>
            <a:cxnSpLocks/>
            <a:stCxn id="105" idx="1"/>
          </p:cNvCxnSpPr>
          <p:nvPr/>
        </p:nvCxnSpPr>
        <p:spPr>
          <a:xfrm flipH="1">
            <a:off x="0" y="1996321"/>
            <a:ext cx="4361576" cy="0"/>
          </a:xfrm>
          <a:prstGeom prst="straightConnector1">
            <a:avLst/>
          </a:prstGeom>
          <a:ln w="63500">
            <a:solidFill>
              <a:schemeClr val="accent1">
                <a:lumMod val="75000"/>
                <a:alpha val="68000"/>
              </a:schemeClr>
            </a:solidFill>
            <a:round/>
            <a:headEnd type="triangle" w="sm" len="med"/>
            <a:tailEnd type="none" w="sm" len="med"/>
          </a:ln>
        </p:spPr>
        <p:style>
          <a:lnRef idx="1">
            <a:schemeClr val="accent1"/>
          </a:lnRef>
          <a:fillRef idx="0">
            <a:schemeClr val="accent1"/>
          </a:fillRef>
          <a:effectRef idx="0">
            <a:schemeClr val="accent1"/>
          </a:effectRef>
          <a:fontRef idx="minor">
            <a:schemeClr val="tx1"/>
          </a:fontRef>
        </p:style>
      </p:cxnSp>
      <p:cxnSp>
        <p:nvCxnSpPr>
          <p:cNvPr id="42" name="Elbow Connector 163">
            <a:extLst>
              <a:ext uri="{FF2B5EF4-FFF2-40B4-BE49-F238E27FC236}">
                <a16:creationId xmlns:a16="http://schemas.microsoft.com/office/drawing/2014/main" id="{756E7140-F69E-DAB3-97BA-1BE06E9630A4}"/>
              </a:ext>
            </a:extLst>
          </p:cNvPr>
          <p:cNvCxnSpPr>
            <a:cxnSpLocks/>
            <a:stCxn id="118" idx="3"/>
            <a:endCxn id="104" idx="3"/>
          </p:cNvCxnSpPr>
          <p:nvPr/>
        </p:nvCxnSpPr>
        <p:spPr>
          <a:xfrm flipV="1">
            <a:off x="8834505" y="1997964"/>
            <a:ext cx="1048430" cy="2241875"/>
          </a:xfrm>
          <a:prstGeom prst="bentConnector3">
            <a:avLst>
              <a:gd name="adj1" fmla="val 234568"/>
            </a:avLst>
          </a:prstGeom>
          <a:ln w="63500">
            <a:solidFill>
              <a:schemeClr val="accent1">
                <a:lumMod val="75000"/>
                <a:alpha val="68000"/>
              </a:schemeClr>
            </a:solidFill>
            <a:round/>
            <a:headEnd type="triangle" w="sm" len="med"/>
            <a:tailEnd type="none" w="sm"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0385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 - Migration Services (1)" id="{048D29A1-8BD2-D848-A930-76F14D34FCDE}" vid="{5061A055-FB56-FA49-A85B-F15A28A3B8DA}"/>
    </a:ext>
  </a:extLst>
</a:theme>
</file>

<file path=ppt/theme/theme2.xml><?xml version="1.0" encoding="utf-8"?>
<a:theme xmlns:a="http://schemas.openxmlformats.org/drawingml/2006/main" name="1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 - Migration Services (1)" id="{048D29A1-8BD2-D848-A930-76F14D34FCDE}" vid="{47E0E0A6-F9B8-664F-BBDE-B941737C3CA0}"/>
    </a:ext>
  </a:extLst>
</a:theme>
</file>

<file path=ppt/theme/theme3.xml><?xml version="1.0" encoding="utf-8"?>
<a:theme xmlns:a="http://schemas.openxmlformats.org/drawingml/2006/main" name="1_Titles and Breakers">
  <a:themeElements>
    <a:clrScheme name="RACKSPACE COLORS">
      <a:dk1>
        <a:sysClr val="windowText" lastClr="000000"/>
      </a:dk1>
      <a:lt1>
        <a:sysClr val="window" lastClr="FFFFFF"/>
      </a:lt1>
      <a:dk2>
        <a:srgbClr val="EB0000"/>
      </a:dk2>
      <a:lt2>
        <a:srgbClr val="EB0000"/>
      </a:lt2>
      <a:accent1>
        <a:srgbClr val="E6E6E6"/>
      </a:accent1>
      <a:accent2>
        <a:srgbClr val="95008A"/>
      </a:accent2>
      <a:accent3>
        <a:srgbClr val="F6D7F4"/>
      </a:accent3>
      <a:accent4>
        <a:srgbClr val="3300FC"/>
      </a:accent4>
      <a:accent5>
        <a:srgbClr val="E8F2FD"/>
      </a:accent5>
      <a:accent6>
        <a:srgbClr val="00C8BC"/>
      </a:accent6>
      <a:hlink>
        <a:srgbClr val="EB0000"/>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 - Migration Services (1)" id="{048D29A1-8BD2-D848-A930-76F14D34FCDE}" vid="{C32F4402-BC09-A142-9B9D-D5F06454E12F}"/>
    </a:ext>
  </a:extLst>
</a:theme>
</file>

<file path=ppt/theme/theme4.xml><?xml version="1.0" encoding="utf-8"?>
<a:theme xmlns:a="http://schemas.openxmlformats.org/drawingml/2006/main" name="3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63500">
          <a:solidFill>
            <a:schemeClr val="bg1">
              <a:lumMod val="65000"/>
              <a:alpha val="80000"/>
            </a:schemeClr>
          </a:solidFill>
          <a:tailEnd type="triangle" w="sm" len="sm"/>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 - Migration Services (1)" id="{048D29A1-8BD2-D848-A930-76F14D34FCDE}" vid="{5061A055-FB56-FA49-A85B-F15A28A3B8DA}"/>
    </a:ext>
  </a:extLst>
</a:theme>
</file>

<file path=ppt/theme/theme5.xml><?xml version="1.0" encoding="utf-8"?>
<a:theme xmlns:a="http://schemas.openxmlformats.org/drawingml/2006/main" name="2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6.xml><?xml version="1.0" encoding="utf-8"?>
<a:theme xmlns:a="http://schemas.openxmlformats.org/drawingml/2006/main" name="4_Content Slides">
  <a:themeElements>
    <a:clrScheme name="RACKSPACE COLORS">
      <a:dk1>
        <a:sysClr val="windowText" lastClr="000000"/>
      </a:dk1>
      <a:lt1>
        <a:sysClr val="window" lastClr="FFFFFF"/>
      </a:lt1>
      <a:dk2>
        <a:srgbClr val="EB0000"/>
      </a:dk2>
      <a:lt2>
        <a:srgbClr val="EB0000"/>
      </a:lt2>
      <a:accent1>
        <a:srgbClr val="E6E6E6"/>
      </a:accent1>
      <a:accent2>
        <a:srgbClr val="95008A"/>
      </a:accent2>
      <a:accent3>
        <a:srgbClr val="F6D7F4"/>
      </a:accent3>
      <a:accent4>
        <a:srgbClr val="3300FC"/>
      </a:accent4>
      <a:accent5>
        <a:srgbClr val="E8F2FD"/>
      </a:accent5>
      <a:accent6>
        <a:srgbClr val="00C8BC"/>
      </a:accent6>
      <a:hlink>
        <a:srgbClr val="EB0000"/>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Welcome to the Rackspace template_JUNE 2020" id="{EF59A951-D114-485C-B221-46971E47D026}" vid="{88877B47-C550-4BEA-9A47-880E67A8779B}"/>
    </a:ext>
  </a:extLst>
</a:theme>
</file>

<file path=ppt/theme/theme7.xml><?xml version="1.0" encoding="utf-8"?>
<a:theme xmlns:a="http://schemas.openxmlformats.org/drawingml/2006/main" name="Light Gray Template">
  <a:themeElements>
    <a:clrScheme name="TS_20_Blue on Lt Gray">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69BA"/>
      </a:hlink>
      <a:folHlink>
        <a:srgbClr val="0069BA"/>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Template starter blue_Feb_2021.potx" id="{7E4FBD1E-96B2-4ADF-B4EB-9742DE36B692}" vid="{D79F6222-71A7-46DD-B83D-C95DA3D7E57A}"/>
    </a:ext>
  </a:extLst>
</a:theme>
</file>

<file path=ppt/theme/theme8.xml><?xml version="1.0" encoding="utf-8"?>
<a:theme xmlns:a="http://schemas.openxmlformats.org/drawingml/2006/main" name="5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Welcome to the Rackspace template_JUNE 2020" id="{EF59A951-D114-485C-B221-46971E47D026}" vid="{88877B47-C550-4BEA-9A47-880E67A8779B}"/>
    </a:ext>
  </a:extLst>
</a:theme>
</file>

<file path=ppt/theme/theme9.xml><?xml version="1.0" encoding="utf-8"?>
<a:theme xmlns:a="http://schemas.openxmlformats.org/drawingml/2006/main" name="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 - Migration Services (1)" id="{048D29A1-8BD2-D848-A930-76F14D34FCDE}" vid="{5061A055-FB56-FA49-A85B-F15A28A3B8D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8EDB08-C564-D545-8C74-F0B6A2375E3B}">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9BBD6F5A6045E4BA2A3D2BA2CBCB4CB" ma:contentTypeVersion="7" ma:contentTypeDescription="Create a new document." ma:contentTypeScope="" ma:versionID="16a73d07cfcc9e68b1d22d5600e286fc">
  <xsd:schema xmlns:xsd="http://www.w3.org/2001/XMLSchema" xmlns:xs="http://www.w3.org/2001/XMLSchema" xmlns:p="http://schemas.microsoft.com/office/2006/metadata/properties" xmlns:ns2="3774ab55-21fb-447a-8628-8ece8241cb15" targetNamespace="http://schemas.microsoft.com/office/2006/metadata/properties" ma:root="true" ma:fieldsID="9b95a9554d6ef0e962ffe58fd823c788" ns2:_="">
    <xsd:import namespace="3774ab55-21fb-447a-8628-8ece8241cb1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DocumentType" minOccurs="0"/>
                <xsd:element ref="ns2:DocInfo" minOccurs="0"/>
                <xsd:element ref="ns2:Methodology_x002f_Offering"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74ab55-21fb-447a-8628-8ece8241cb1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DocumentType" ma:index="12" nillable="true" ma:displayName="Document Type" ma:format="Dropdown" ma:internalName="DocumentType">
      <xsd:simpleType>
        <xsd:restriction base="dms:Choice">
          <xsd:enumeration value="Delivery Guide"/>
          <xsd:enumeration value="Delivery Artefact"/>
          <xsd:enumeration value="Method"/>
          <xsd:enumeration value="Template"/>
          <xsd:enumeration value="Deployment Guide"/>
          <xsd:enumeration value="Agenda"/>
        </xsd:restriction>
      </xsd:simpleType>
    </xsd:element>
    <xsd:element name="DocInfo" ma:index="13" nillable="true" ma:displayName="Document Info" ma:description="Useful details about the document purpose and usage " ma:format="Dropdown" ma:internalName="DocInfo">
      <xsd:simpleType>
        <xsd:restriction base="dms:Text">
          <xsd:maxLength value="255"/>
        </xsd:restriction>
      </xsd:simpleType>
    </xsd:element>
    <xsd:element name="Methodology_x002f_Offering" ma:index="14" nillable="true" ma:displayName="Methodology / Offering" ma:format="Dropdown" ma:internalName="Methodology_x002f_Offering">
      <xsd:complexType>
        <xsd:complexContent>
          <xsd:extension base="dms:MultiChoiceFillIn">
            <xsd:sequence>
              <xsd:element name="Value" maxOccurs="unbounded" minOccurs="0" nillable="true">
                <xsd:simpleType>
                  <xsd:union memberTypes="dms:Text">
                    <xsd:simpleType>
                      <xsd:restriction base="dms:Choice">
                        <xsd:enumeration value="Pre-Migration Assessment"/>
                        <xsd:enumeration value="Accelerated Migrations"/>
                        <xsd:enumeration value="Migrate and Modernise"/>
                      </xsd:restriction>
                    </xsd:simpleType>
                  </xsd:union>
                </xsd:simple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ocInfo xmlns="3774ab55-21fb-447a-8628-8ece8241cb15" xsi:nil="true"/>
    <DocumentType xmlns="3774ab55-21fb-447a-8628-8ece8241cb15">Delivery Guide</DocumentType>
    <Methodology_x002f_Offering xmlns="3774ab55-21fb-447a-8628-8ece8241cb15">
      <Value>Pre-Migration Assessment</Value>
    </Methodology_x002f_Offering>
  </documentManagement>
</p:properties>
</file>

<file path=customXml/itemProps1.xml><?xml version="1.0" encoding="utf-8"?>
<ds:datastoreItem xmlns:ds="http://schemas.openxmlformats.org/officeDocument/2006/customXml" ds:itemID="{29A99AE8-4A0B-455B-B130-A2D1E222E0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74ab55-21fb-447a-8628-8ece8241cb1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FAAEEFA-AAF2-4C9B-A431-2549B0747BF4}">
  <ds:schemaRefs>
    <ds:schemaRef ds:uri="http://schemas.microsoft.com/sharepoint/v3/contenttype/forms"/>
  </ds:schemaRefs>
</ds:datastoreItem>
</file>

<file path=customXml/itemProps3.xml><?xml version="1.0" encoding="utf-8"?>
<ds:datastoreItem xmlns:ds="http://schemas.openxmlformats.org/officeDocument/2006/customXml" ds:itemID="{B89F961D-86E7-463C-B09D-E3314B2C6EB5}">
  <ds:schemaRefs>
    <ds:schemaRef ds:uri="http://schemas.microsoft.com/office/infopath/2007/PartnerControls"/>
    <ds:schemaRef ds:uri="http://schemas.microsoft.com/office/2006/documentManagement/types"/>
    <ds:schemaRef ds:uri="http://purl.org/dc/elements/1.1/"/>
    <ds:schemaRef ds:uri="http://schemas.openxmlformats.org/package/2006/metadata/core-properties"/>
    <ds:schemaRef ds:uri="http://schemas.microsoft.com/office/2006/metadata/properties"/>
    <ds:schemaRef ds:uri="http://www.w3.org/XML/1998/namespace"/>
    <ds:schemaRef ds:uri="3774ab55-21fb-447a-8628-8ece8241cb15"/>
    <ds:schemaRef ds:uri="http://purl.org/dc/dcmitype/"/>
    <ds:schemaRef ds:uri="http://purl.org/dc/terms/"/>
  </ds:schemaRefs>
</ds:datastoreItem>
</file>

<file path=docMetadata/LabelInfo.xml><?xml version="1.0" encoding="utf-8"?>
<clbl:labelList xmlns:clbl="http://schemas.microsoft.com/office/2020/mipLabelMetadata">
  <clbl:label id="{e7f09a8f-df31-4464-b100-d09a5dbff5c8}" enabled="1" method="Privileged" siteId="{570057f4-73ef-41c8-bcbb-08db2fc15c2b}" removed="0"/>
</clbl:labelList>
</file>

<file path=docProps/app.xml><?xml version="1.0" encoding="utf-8"?>
<Properties xmlns="http://schemas.openxmlformats.org/officeDocument/2006/extended-properties" xmlns:vt="http://schemas.openxmlformats.org/officeDocument/2006/docPropsVTypes">
  <Template>Content Slides</Template>
  <TotalTime>41</TotalTime>
  <Words>7479</Words>
  <Application>Microsoft Office PowerPoint</Application>
  <PresentationFormat>Widescreen</PresentationFormat>
  <Paragraphs>999</Paragraphs>
  <Slides>43</Slides>
  <Notes>11</Notes>
  <HiddenSlides>0</HiddenSlides>
  <MMClips>0</MMClips>
  <ScaleCrop>false</ScaleCrop>
  <HeadingPairs>
    <vt:vector size="4" baseType="variant">
      <vt:variant>
        <vt:lpstr>Theme</vt:lpstr>
      </vt:variant>
      <vt:variant>
        <vt:i4>9</vt:i4>
      </vt:variant>
      <vt:variant>
        <vt:lpstr>Slide Titles</vt:lpstr>
      </vt:variant>
      <vt:variant>
        <vt:i4>43</vt:i4>
      </vt:variant>
    </vt:vector>
  </HeadingPairs>
  <TitlesOfParts>
    <vt:vector size="52" baseType="lpstr">
      <vt:lpstr>Content Slides</vt:lpstr>
      <vt:lpstr>1_Content Slides</vt:lpstr>
      <vt:lpstr>1_Titles and Breakers</vt:lpstr>
      <vt:lpstr>3_Content Slides</vt:lpstr>
      <vt:lpstr>2_Content Slides</vt:lpstr>
      <vt:lpstr>4_Content Slides</vt:lpstr>
      <vt:lpstr>Light Gray Template</vt:lpstr>
      <vt:lpstr>5_Content Slides</vt:lpstr>
      <vt:lpstr>Content Slides</vt:lpstr>
      <vt:lpstr>Azure Migrate and Modernize Delivery Guide (Azure)  RXT Delivery Team</vt:lpstr>
      <vt:lpstr>Doc Control</vt:lpstr>
      <vt:lpstr>Azure Migrate and Modernise Partner Lead - Assess</vt:lpstr>
      <vt:lpstr>Azure AMM Assess</vt:lpstr>
      <vt:lpstr>Welcome to Azure Migrate and Modernize </vt:lpstr>
      <vt:lpstr>Assessment Routes </vt:lpstr>
      <vt:lpstr>Migration method at-a-glance</vt:lpstr>
      <vt:lpstr>Assess Phase</vt:lpstr>
      <vt:lpstr>Azure AMM Assess Journey</vt:lpstr>
      <vt:lpstr>SMART Assessments</vt:lpstr>
      <vt:lpstr>SMART Assessment Results</vt:lpstr>
      <vt:lpstr>Tasks Timeline</vt:lpstr>
      <vt:lpstr>Pre-Engage / Pre-Kick Off</vt:lpstr>
      <vt:lpstr>Preparation</vt:lpstr>
      <vt:lpstr>Workshops</vt:lpstr>
      <vt:lpstr>MRA Assessment</vt:lpstr>
      <vt:lpstr>SMART Assessments</vt:lpstr>
      <vt:lpstr>SMART Assessment Results</vt:lpstr>
      <vt:lpstr>PA  Portfolio Assessment</vt:lpstr>
      <vt:lpstr>Discovery Tooling  </vt:lpstr>
      <vt:lpstr>Discovery Tooling – Dr. Migrate </vt:lpstr>
      <vt:lpstr>Business Case</vt:lpstr>
      <vt:lpstr>Business Case</vt:lpstr>
      <vt:lpstr>Business Case</vt:lpstr>
      <vt:lpstr>Types of business cases </vt:lpstr>
      <vt:lpstr>Playback Prep </vt:lpstr>
      <vt:lpstr>Playback Prep - With Dr. Migrate</vt:lpstr>
      <vt:lpstr>Dr. Migrate Example Reports</vt:lpstr>
      <vt:lpstr>Playback </vt:lpstr>
      <vt:lpstr>RACI for AMM Assess</vt:lpstr>
      <vt:lpstr>RACI for MAP Assess – MRA Assessment</vt:lpstr>
      <vt:lpstr>RACI for MAP Assess – Tool Deployment</vt:lpstr>
      <vt:lpstr>RACI for AMM Assess - PA</vt:lpstr>
      <vt:lpstr>RACI for AMM Assess – Business Case / TCO / Playback</vt:lpstr>
      <vt:lpstr>RACI for AMM - Solutions Assessment - TBC</vt:lpstr>
      <vt:lpstr>SOW Example</vt:lpstr>
      <vt:lpstr>Azure Solutions Assessment Journey</vt:lpstr>
      <vt:lpstr>Important Links (Azure)</vt:lpstr>
      <vt:lpstr>Introducing Azure Offerings: Partner-led</vt:lpstr>
      <vt:lpstr>Breakdown of journey (repeatable for assess and migrate) </vt:lpstr>
      <vt:lpstr>PowerPoint Presentation</vt:lpstr>
      <vt:lpstr>Azure Migrate and Modernize Partner-led offers</vt:lpstr>
      <vt:lpstr>Rapid Assessment Journey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AMM - Delivery Guide</dc:title>
  <dc:subject/>
  <dc:creator>Max Hurn</dc:creator>
  <cp:keywords/>
  <dc:description/>
  <cp:lastModifiedBy>Max Hurn</cp:lastModifiedBy>
  <cp:revision>7</cp:revision>
  <dcterms:created xsi:type="dcterms:W3CDTF">2023-06-29T17:23:58Z</dcterms:created>
  <dcterms:modified xsi:type="dcterms:W3CDTF">2026-04-26T18:01:57Z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0x01010089BBD6F5A6045E4BA2A3D2BA2CBCB4CB</vt:lpwstr>
  </property>
</Properties>
</file>